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72" r:id="rId2"/>
    <p:sldId id="573" r:id="rId3"/>
    <p:sldId id="578" r:id="rId4"/>
    <p:sldId id="808" r:id="rId5"/>
    <p:sldId id="558" r:id="rId6"/>
    <p:sldId id="441" r:id="rId7"/>
    <p:sldId id="442" r:id="rId8"/>
    <p:sldId id="443" r:id="rId9"/>
    <p:sldId id="807" r:id="rId10"/>
    <p:sldId id="574" r:id="rId11"/>
    <p:sldId id="548" r:id="rId12"/>
    <p:sldId id="432" r:id="rId13"/>
    <p:sldId id="547" r:id="rId14"/>
    <p:sldId id="554" r:id="rId15"/>
    <p:sldId id="806" r:id="rId16"/>
    <p:sldId id="561" r:id="rId17"/>
    <p:sldId id="562" r:id="rId18"/>
    <p:sldId id="568" r:id="rId19"/>
    <p:sldId id="809" r:id="rId20"/>
    <p:sldId id="569" r:id="rId21"/>
    <p:sldId id="563" r:id="rId22"/>
    <p:sldId id="570" r:id="rId23"/>
    <p:sldId id="571" r:id="rId24"/>
    <p:sldId id="564" r:id="rId25"/>
    <p:sldId id="565" r:id="rId26"/>
    <p:sldId id="572" r:id="rId27"/>
    <p:sldId id="566" r:id="rId28"/>
    <p:sldId id="567" r:id="rId29"/>
    <p:sldId id="579" r:id="rId30"/>
    <p:sldId id="580" r:id="rId31"/>
    <p:sldId id="582" r:id="rId32"/>
    <p:sldId id="583" r:id="rId33"/>
    <p:sldId id="581" r:id="rId34"/>
    <p:sldId id="586" r:id="rId35"/>
    <p:sldId id="584" r:id="rId36"/>
    <p:sldId id="585" r:id="rId37"/>
    <p:sldId id="587" r:id="rId38"/>
    <p:sldId id="257" r:id="rId39"/>
    <p:sldId id="805" r:id="rId40"/>
    <p:sldId id="260" r:id="rId41"/>
    <p:sldId id="258" r:id="rId42"/>
    <p:sldId id="399" r:id="rId43"/>
    <p:sldId id="588" r:id="rId44"/>
    <p:sldId id="802" r:id="rId45"/>
    <p:sldId id="270" r:id="rId46"/>
    <p:sldId id="801" r:id="rId47"/>
    <p:sldId id="803" r:id="rId48"/>
    <p:sldId id="557" r:id="rId49"/>
    <p:sldId id="559" r:id="rId50"/>
    <p:sldId id="560"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8B1C"/>
    <a:srgbClr val="BE0260"/>
    <a:srgbClr val="D0005E"/>
    <a:srgbClr val="018ACF"/>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8DF3A9-0CC3-4303-845C-ED696A1DD765}" v="83" dt="2026-10-12T17:36:19.5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352" autoAdjust="0"/>
    <p:restoredTop sz="93721" autoAdjust="0"/>
  </p:normalViewPr>
  <p:slideViewPr>
    <p:cSldViewPr snapToGrid="0">
      <p:cViewPr varScale="1">
        <p:scale>
          <a:sx n="104" d="100"/>
          <a:sy n="104" d="100"/>
        </p:scale>
        <p:origin x="1194" y="96"/>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sey Zimin" userId="7f2637d0bc515791" providerId="LiveId" clId="{5F359FD6-B8E9-41DA-90EC-0BA4FD0F3073}"/>
    <pc:docChg chg="undo custSel addSld delSld modSld sldOrd">
      <pc:chgData name="Aleksey Zimin" userId="7f2637d0bc515791" providerId="LiveId" clId="{5F359FD6-B8E9-41DA-90EC-0BA4FD0F3073}" dt="2026-10-12T17:45:06.805" v="1102" actId="14100"/>
      <pc:docMkLst>
        <pc:docMk/>
      </pc:docMkLst>
      <pc:sldChg chg="add del">
        <pc:chgData name="Aleksey Zimin" userId="7f2637d0bc515791" providerId="LiveId" clId="{5F359FD6-B8E9-41DA-90EC-0BA4FD0F3073}" dt="2026-10-12T16:36:08.050" v="548" actId="2696"/>
        <pc:sldMkLst>
          <pc:docMk/>
          <pc:sldMk cId="807348765" sldId="407"/>
        </pc:sldMkLst>
      </pc:sldChg>
      <pc:sldChg chg="add del">
        <pc:chgData name="Aleksey Zimin" userId="7f2637d0bc515791" providerId="LiveId" clId="{5F359FD6-B8E9-41DA-90EC-0BA4FD0F3073}" dt="2026-10-12T16:36:08.050" v="548" actId="2696"/>
        <pc:sldMkLst>
          <pc:docMk/>
          <pc:sldMk cId="1902230169" sldId="421"/>
        </pc:sldMkLst>
      </pc:sldChg>
      <pc:sldChg chg="add del">
        <pc:chgData name="Aleksey Zimin" userId="7f2637d0bc515791" providerId="LiveId" clId="{5F359FD6-B8E9-41DA-90EC-0BA4FD0F3073}" dt="2026-10-12T16:36:08.050" v="548" actId="2696"/>
        <pc:sldMkLst>
          <pc:docMk/>
          <pc:sldMk cId="3130437174" sldId="423"/>
        </pc:sldMkLst>
      </pc:sldChg>
      <pc:sldChg chg="add del">
        <pc:chgData name="Aleksey Zimin" userId="7f2637d0bc515791" providerId="LiveId" clId="{5F359FD6-B8E9-41DA-90EC-0BA4FD0F3073}" dt="2026-10-12T16:36:08.050" v="548" actId="2696"/>
        <pc:sldMkLst>
          <pc:docMk/>
          <pc:sldMk cId="3847069808" sldId="425"/>
        </pc:sldMkLst>
      </pc:sldChg>
      <pc:sldChg chg="add del">
        <pc:chgData name="Aleksey Zimin" userId="7f2637d0bc515791" providerId="LiveId" clId="{5F359FD6-B8E9-41DA-90EC-0BA4FD0F3073}" dt="2026-10-12T16:36:08.050" v="548" actId="2696"/>
        <pc:sldMkLst>
          <pc:docMk/>
          <pc:sldMk cId="3393879525" sldId="426"/>
        </pc:sldMkLst>
      </pc:sldChg>
      <pc:sldChg chg="add del">
        <pc:chgData name="Aleksey Zimin" userId="7f2637d0bc515791" providerId="LiveId" clId="{5F359FD6-B8E9-41DA-90EC-0BA4FD0F3073}" dt="2026-10-12T16:36:08.050" v="548" actId="2696"/>
        <pc:sldMkLst>
          <pc:docMk/>
          <pc:sldMk cId="1091641964" sldId="427"/>
        </pc:sldMkLst>
      </pc:sldChg>
      <pc:sldChg chg="add del">
        <pc:chgData name="Aleksey Zimin" userId="7f2637d0bc515791" providerId="LiveId" clId="{5F359FD6-B8E9-41DA-90EC-0BA4FD0F3073}" dt="2026-10-12T16:36:08.050" v="548" actId="2696"/>
        <pc:sldMkLst>
          <pc:docMk/>
          <pc:sldMk cId="3229099649" sldId="428"/>
        </pc:sldMkLst>
      </pc:sldChg>
      <pc:sldChg chg="add del">
        <pc:chgData name="Aleksey Zimin" userId="7f2637d0bc515791" providerId="LiveId" clId="{5F359FD6-B8E9-41DA-90EC-0BA4FD0F3073}" dt="2026-10-12T16:36:08.050" v="548" actId="2696"/>
        <pc:sldMkLst>
          <pc:docMk/>
          <pc:sldMk cId="2255719114" sldId="429"/>
        </pc:sldMkLst>
      </pc:sldChg>
      <pc:sldChg chg="add del">
        <pc:chgData name="Aleksey Zimin" userId="7f2637d0bc515791" providerId="LiveId" clId="{5F359FD6-B8E9-41DA-90EC-0BA4FD0F3073}" dt="2026-10-12T16:36:08.050" v="548" actId="2696"/>
        <pc:sldMkLst>
          <pc:docMk/>
          <pc:sldMk cId="1201566736" sldId="431"/>
        </pc:sldMkLst>
      </pc:sldChg>
      <pc:sldChg chg="add del">
        <pc:chgData name="Aleksey Zimin" userId="7f2637d0bc515791" providerId="LiveId" clId="{5F359FD6-B8E9-41DA-90EC-0BA4FD0F3073}" dt="2026-10-12T16:36:08.050" v="548" actId="2696"/>
        <pc:sldMkLst>
          <pc:docMk/>
          <pc:sldMk cId="2261212866" sldId="433"/>
        </pc:sldMkLst>
      </pc:sldChg>
      <pc:sldChg chg="del">
        <pc:chgData name="Aleksey Zimin" userId="7f2637d0bc515791" providerId="LiveId" clId="{5F359FD6-B8E9-41DA-90EC-0BA4FD0F3073}" dt="2026-10-12T16:36:08.050" v="548" actId="2696"/>
        <pc:sldMkLst>
          <pc:docMk/>
          <pc:sldMk cId="2841383390" sldId="434"/>
        </pc:sldMkLst>
      </pc:sldChg>
      <pc:sldChg chg="del">
        <pc:chgData name="Aleksey Zimin" userId="7f2637d0bc515791" providerId="LiveId" clId="{5F359FD6-B8E9-41DA-90EC-0BA4FD0F3073}" dt="2026-10-12T16:36:08.050" v="548" actId="2696"/>
        <pc:sldMkLst>
          <pc:docMk/>
          <pc:sldMk cId="2387758340" sldId="435"/>
        </pc:sldMkLst>
      </pc:sldChg>
      <pc:sldChg chg="del">
        <pc:chgData name="Aleksey Zimin" userId="7f2637d0bc515791" providerId="LiveId" clId="{5F359FD6-B8E9-41DA-90EC-0BA4FD0F3073}" dt="2026-10-12T16:36:08.050" v="548" actId="2696"/>
        <pc:sldMkLst>
          <pc:docMk/>
          <pc:sldMk cId="737597283" sldId="436"/>
        </pc:sldMkLst>
      </pc:sldChg>
      <pc:sldChg chg="add">
        <pc:chgData name="Aleksey Zimin" userId="7f2637d0bc515791" providerId="LiveId" clId="{5F359FD6-B8E9-41DA-90EC-0BA4FD0F3073}" dt="2026-10-12T14:49:11.447" v="56"/>
        <pc:sldMkLst>
          <pc:docMk/>
          <pc:sldMk cId="4268804242" sldId="441"/>
        </pc:sldMkLst>
      </pc:sldChg>
      <pc:sldChg chg="add">
        <pc:chgData name="Aleksey Zimin" userId="7f2637d0bc515791" providerId="LiveId" clId="{5F359FD6-B8E9-41DA-90EC-0BA4FD0F3073}" dt="2026-10-12T14:49:11.447" v="56"/>
        <pc:sldMkLst>
          <pc:docMk/>
          <pc:sldMk cId="3290336111" sldId="442"/>
        </pc:sldMkLst>
      </pc:sldChg>
      <pc:sldChg chg="add">
        <pc:chgData name="Aleksey Zimin" userId="7f2637d0bc515791" providerId="LiveId" clId="{5F359FD6-B8E9-41DA-90EC-0BA4FD0F3073}" dt="2026-10-12T14:49:11.447" v="56"/>
        <pc:sldMkLst>
          <pc:docMk/>
          <pc:sldMk cId="1196692292" sldId="443"/>
        </pc:sldMkLst>
      </pc:sldChg>
      <pc:sldChg chg="add del">
        <pc:chgData name="Aleksey Zimin" userId="7f2637d0bc515791" providerId="LiveId" clId="{5F359FD6-B8E9-41DA-90EC-0BA4FD0F3073}" dt="2026-10-12T16:36:08.050" v="548" actId="2696"/>
        <pc:sldMkLst>
          <pc:docMk/>
          <pc:sldMk cId="712329811" sldId="445"/>
        </pc:sldMkLst>
      </pc:sldChg>
      <pc:sldChg chg="add del">
        <pc:chgData name="Aleksey Zimin" userId="7f2637d0bc515791" providerId="LiveId" clId="{5F359FD6-B8E9-41DA-90EC-0BA4FD0F3073}" dt="2026-10-12T16:36:08.050" v="548" actId="2696"/>
        <pc:sldMkLst>
          <pc:docMk/>
          <pc:sldMk cId="1978762931" sldId="446"/>
        </pc:sldMkLst>
      </pc:sldChg>
      <pc:sldChg chg="add del">
        <pc:chgData name="Aleksey Zimin" userId="7f2637d0bc515791" providerId="LiveId" clId="{5F359FD6-B8E9-41DA-90EC-0BA4FD0F3073}" dt="2026-10-12T16:36:08.050" v="548" actId="2696"/>
        <pc:sldMkLst>
          <pc:docMk/>
          <pc:sldMk cId="1210766213" sldId="448"/>
        </pc:sldMkLst>
      </pc:sldChg>
      <pc:sldChg chg="modSp">
        <pc:chgData name="Aleksey Zimin" userId="7f2637d0bc515791" providerId="LiveId" clId="{5F359FD6-B8E9-41DA-90EC-0BA4FD0F3073}" dt="2026-10-12T16:30:03.931" v="542" actId="20577"/>
        <pc:sldMkLst>
          <pc:docMk/>
          <pc:sldMk cId="2770593422" sldId="547"/>
        </pc:sldMkLst>
        <pc:spChg chg="mod">
          <ac:chgData name="Aleksey Zimin" userId="7f2637d0bc515791" providerId="LiveId" clId="{5F359FD6-B8E9-41DA-90EC-0BA4FD0F3073}" dt="2026-10-12T16:30:03.931" v="542" actId="20577"/>
          <ac:spMkLst>
            <pc:docMk/>
            <pc:sldMk cId="2770593422" sldId="547"/>
            <ac:spMk id="3" creationId="{C411C768-DA8E-3001-5BAE-07FE359BD566}"/>
          </ac:spMkLst>
        </pc:spChg>
      </pc:sldChg>
      <pc:sldChg chg="modSp add del mod">
        <pc:chgData name="Aleksey Zimin" userId="7f2637d0bc515791" providerId="LiveId" clId="{5F359FD6-B8E9-41DA-90EC-0BA4FD0F3073}" dt="2026-10-12T16:36:08.050" v="548" actId="2696"/>
        <pc:sldMkLst>
          <pc:docMk/>
          <pc:sldMk cId="3858549421" sldId="549"/>
        </pc:sldMkLst>
      </pc:sldChg>
      <pc:sldChg chg="del">
        <pc:chgData name="Aleksey Zimin" userId="7f2637d0bc515791" providerId="LiveId" clId="{5F359FD6-B8E9-41DA-90EC-0BA4FD0F3073}" dt="2026-10-12T16:36:08.050" v="548" actId="2696"/>
        <pc:sldMkLst>
          <pc:docMk/>
          <pc:sldMk cId="1522385249" sldId="556"/>
        </pc:sldMkLst>
      </pc:sldChg>
      <pc:sldChg chg="add">
        <pc:chgData name="Aleksey Zimin" userId="7f2637d0bc515791" providerId="LiveId" clId="{5F359FD6-B8E9-41DA-90EC-0BA4FD0F3073}" dt="2026-10-12T14:49:11.447" v="56"/>
        <pc:sldMkLst>
          <pc:docMk/>
          <pc:sldMk cId="1092133853" sldId="558"/>
        </pc:sldMkLst>
      </pc:sldChg>
      <pc:sldChg chg="mod modShow">
        <pc:chgData name="Aleksey Zimin" userId="7f2637d0bc515791" providerId="LiveId" clId="{5F359FD6-B8E9-41DA-90EC-0BA4FD0F3073}" dt="2026-10-09T15:34:45.106" v="49" actId="34476"/>
        <pc:sldMkLst>
          <pc:docMk/>
          <pc:sldMk cId="2675647168" sldId="567"/>
        </pc:sldMkLst>
      </pc:sldChg>
      <pc:sldChg chg="modSp mod ord">
        <pc:chgData name="Aleksey Zimin" userId="7f2637d0bc515791" providerId="LiveId" clId="{5F359FD6-B8E9-41DA-90EC-0BA4FD0F3073}" dt="2026-10-12T17:34:26.217" v="550" actId="20577"/>
        <pc:sldMkLst>
          <pc:docMk/>
          <pc:sldMk cId="3375321927" sldId="573"/>
        </pc:sldMkLst>
        <pc:spChg chg="mod">
          <ac:chgData name="Aleksey Zimin" userId="7f2637d0bc515791" providerId="LiveId" clId="{5F359FD6-B8E9-41DA-90EC-0BA4FD0F3073}" dt="2026-10-12T17:34:26.217" v="550" actId="20577"/>
          <ac:spMkLst>
            <pc:docMk/>
            <pc:sldMk cId="3375321927" sldId="573"/>
            <ac:spMk id="3" creationId="{F22765F7-8C53-F1D8-4FD1-B1279982E17F}"/>
          </ac:spMkLst>
        </pc:spChg>
      </pc:sldChg>
      <pc:sldChg chg="ord">
        <pc:chgData name="Aleksey Zimin" userId="7f2637d0bc515791" providerId="LiveId" clId="{5F359FD6-B8E9-41DA-90EC-0BA4FD0F3073}" dt="2026-10-12T14:47:55.483" v="53"/>
        <pc:sldMkLst>
          <pc:docMk/>
          <pc:sldMk cId="3708846390" sldId="574"/>
        </pc:sldMkLst>
      </pc:sldChg>
      <pc:sldChg chg="del ord">
        <pc:chgData name="Aleksey Zimin" userId="7f2637d0bc515791" providerId="LiveId" clId="{5F359FD6-B8E9-41DA-90EC-0BA4FD0F3073}" dt="2026-10-12T14:48:19.694" v="54" actId="47"/>
        <pc:sldMkLst>
          <pc:docMk/>
          <pc:sldMk cId="1447929306" sldId="576"/>
        </pc:sldMkLst>
      </pc:sldChg>
      <pc:sldChg chg="del ord">
        <pc:chgData name="Aleksey Zimin" userId="7f2637d0bc515791" providerId="LiveId" clId="{5F359FD6-B8E9-41DA-90EC-0BA4FD0F3073}" dt="2026-10-12T14:48:20.585" v="55" actId="47"/>
        <pc:sldMkLst>
          <pc:docMk/>
          <pc:sldMk cId="2203048637" sldId="577"/>
        </pc:sldMkLst>
      </pc:sldChg>
      <pc:sldChg chg="modSp mod ord">
        <pc:chgData name="Aleksey Zimin" userId="7f2637d0bc515791" providerId="LiveId" clId="{5F359FD6-B8E9-41DA-90EC-0BA4FD0F3073}" dt="2026-10-12T17:36:57.270" v="614" actId="20577"/>
        <pc:sldMkLst>
          <pc:docMk/>
          <pc:sldMk cId="1172945794" sldId="578"/>
        </pc:sldMkLst>
        <pc:spChg chg="mod">
          <ac:chgData name="Aleksey Zimin" userId="7f2637d0bc515791" providerId="LiveId" clId="{5F359FD6-B8E9-41DA-90EC-0BA4FD0F3073}" dt="2026-10-12T17:36:57.270" v="614" actId="20577"/>
          <ac:spMkLst>
            <pc:docMk/>
            <pc:sldMk cId="1172945794" sldId="578"/>
            <ac:spMk id="3" creationId="{C7F3DDAB-4893-CF5C-98EF-F172D1CF7467}"/>
          </ac:spMkLst>
        </pc:spChg>
      </pc:sldChg>
      <pc:sldChg chg="modSp add del mod modShow">
        <pc:chgData name="Aleksey Zimin" userId="7f2637d0bc515791" providerId="LiveId" clId="{5F359FD6-B8E9-41DA-90EC-0BA4FD0F3073}" dt="2026-10-12T16:35:49.044" v="547" actId="2696"/>
        <pc:sldMkLst>
          <pc:docMk/>
          <pc:sldMk cId="2356961426" sldId="806"/>
        </pc:sldMkLst>
        <pc:spChg chg="mod">
          <ac:chgData name="Aleksey Zimin" userId="7f2637d0bc515791" providerId="LiveId" clId="{5F359FD6-B8E9-41DA-90EC-0BA4FD0F3073}" dt="2026-09-29T16:47:41.885" v="18" actId="20577"/>
          <ac:spMkLst>
            <pc:docMk/>
            <pc:sldMk cId="2356961426" sldId="806"/>
            <ac:spMk id="2" creationId="{22196CFB-AA69-39DB-3059-D72E8D3EB5F5}"/>
          </ac:spMkLst>
        </pc:spChg>
      </pc:sldChg>
      <pc:sldChg chg="add">
        <pc:chgData name="Aleksey Zimin" userId="7f2637d0bc515791" providerId="LiveId" clId="{5F359FD6-B8E9-41DA-90EC-0BA4FD0F3073}" dt="2026-10-12T14:49:11.447" v="56"/>
        <pc:sldMkLst>
          <pc:docMk/>
          <pc:sldMk cId="557418132" sldId="807"/>
        </pc:sldMkLst>
      </pc:sldChg>
      <pc:sldChg chg="modSp new mod">
        <pc:chgData name="Aleksey Zimin" userId="7f2637d0bc515791" providerId="LiveId" clId="{5F359FD6-B8E9-41DA-90EC-0BA4FD0F3073}" dt="2026-10-12T15:20:20.642" v="459" actId="20577"/>
        <pc:sldMkLst>
          <pc:docMk/>
          <pc:sldMk cId="2750010033" sldId="808"/>
        </pc:sldMkLst>
        <pc:spChg chg="mod">
          <ac:chgData name="Aleksey Zimin" userId="7f2637d0bc515791" providerId="LiveId" clId="{5F359FD6-B8E9-41DA-90EC-0BA4FD0F3073}" dt="2026-10-12T15:20:20.642" v="459" actId="20577"/>
          <ac:spMkLst>
            <pc:docMk/>
            <pc:sldMk cId="2750010033" sldId="808"/>
            <ac:spMk id="2" creationId="{43D67DA1-5296-2AD2-ABE1-CB999E7F3A06}"/>
          </ac:spMkLst>
        </pc:spChg>
        <pc:spChg chg="mod">
          <ac:chgData name="Aleksey Zimin" userId="7f2637d0bc515791" providerId="LiveId" clId="{5F359FD6-B8E9-41DA-90EC-0BA4FD0F3073}" dt="2026-10-12T14:53:16.036" v="458" actId="20577"/>
          <ac:spMkLst>
            <pc:docMk/>
            <pc:sldMk cId="2750010033" sldId="808"/>
            <ac:spMk id="3" creationId="{9F8B8BCB-B44E-AABE-7E8D-479E8D1B43B6}"/>
          </ac:spMkLst>
        </pc:spChg>
      </pc:sldChg>
      <pc:sldChg chg="modSp new mod">
        <pc:chgData name="Aleksey Zimin" userId="7f2637d0bc515791" providerId="LiveId" clId="{5F359FD6-B8E9-41DA-90EC-0BA4FD0F3073}" dt="2026-10-12T17:45:06.805" v="1102" actId="14100"/>
        <pc:sldMkLst>
          <pc:docMk/>
          <pc:sldMk cId="3946655775" sldId="809"/>
        </pc:sldMkLst>
        <pc:spChg chg="mod">
          <ac:chgData name="Aleksey Zimin" userId="7f2637d0bc515791" providerId="LiveId" clId="{5F359FD6-B8E9-41DA-90EC-0BA4FD0F3073}" dt="2026-10-12T17:40:32.111" v="629" actId="20577"/>
          <ac:spMkLst>
            <pc:docMk/>
            <pc:sldMk cId="3946655775" sldId="809"/>
            <ac:spMk id="2" creationId="{977562F4-7365-D09F-E958-9CCF6B466144}"/>
          </ac:spMkLst>
        </pc:spChg>
        <pc:spChg chg="mod">
          <ac:chgData name="Aleksey Zimin" userId="7f2637d0bc515791" providerId="LiveId" clId="{5F359FD6-B8E9-41DA-90EC-0BA4FD0F3073}" dt="2026-10-12T17:45:06.805" v="1102" actId="14100"/>
          <ac:spMkLst>
            <pc:docMk/>
            <pc:sldMk cId="3946655775" sldId="809"/>
            <ac:spMk id="3" creationId="{72B974B8-17E5-9A3E-C107-7CE21997203D}"/>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5:44.114"/>
    </inkml:context>
    <inkml:brush xml:id="br0">
      <inkml:brushProperty name="width" value="0.035" units="cm"/>
      <inkml:brushProperty name="height" value="0.035" units="cm"/>
    </inkml:brush>
  </inkml:definitions>
  <inkml:trace contextRef="#ctx0" brushRef="#br0">0 0 21389,'5747'0'0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5:49.758"/>
    </inkml:context>
    <inkml:brush xml:id="br0">
      <inkml:brushProperty name="width" value="0.035" units="cm"/>
      <inkml:brushProperty name="height" value="0.035" units="cm"/>
    </inkml:brush>
  </inkml:definitions>
  <inkml:trace contextRef="#ctx0" brushRef="#br0">1 162 24575,'417'-14'0,"111"1"0,-111 7 0,276-55 0,276-7 0,3032 70-1365,-3982-2-5461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5:53.133"/>
    </inkml:context>
    <inkml:brush xml:id="br0">
      <inkml:brushProperty name="width" value="0.035" units="cm"/>
      <inkml:brushProperty name="height" value="0.035" units="cm"/>
    </inkml:brush>
  </inkml:definitions>
  <inkml:trace contextRef="#ctx0" brushRef="#br0">1 251 24575,'285'2'0,"694"-22"0,-412-18 0,591-51 0,-755 66 0,-209 16 0,363-36 0,53 29 0,-375 17 0,1613-3 0,-1827-1 41,0-1-1,26-6 1,9-1-1528,-36 7-5339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6:17.750"/>
    </inkml:context>
    <inkml:brush xml:id="br0">
      <inkml:brushProperty name="width" value="0.035" units="cm"/>
      <inkml:brushProperty name="height" value="0.035" units="cm"/>
    </inkml:brush>
  </inkml:definitions>
  <inkml:trace contextRef="#ctx0" brushRef="#br0">7096 25 24575,'1809'0'0,"-1787"-1"0,-1-1 0,28-6 0,-28 4 0,1 0 0,26 0 0,74 2 0,213 6 0,-295 0 0,0 2 0,0 2 0,45 15 0,111 48 0,-185-66 0,98 33 0,-70-26 0,-1 1 0,0 3 0,61 33 0,-32-8 0,-39-27 0,0 3 0,-2 0 0,0 1 0,-1 2 0,-1 0 0,39 45 0,63 108 0,-111-149 0,-1 1 0,-2 1 0,0 1 0,-2-1 0,11 43 0,6 39 0,-6-29 0,-4 0 0,14 153 0,-20-84 0,1 32 0,-10-52 0,-9 210 0,-6-260 0,-3-1 0,-26 76 0,17-67 0,12-44 0,-2 0 0,-2 0 0,-1-2 0,-2 0 0,-2-1 0,-2-1 0,-1-2 0,-2 0 0,-1-1 0,-2-2 0,-1-1 0,-67 52 0,85-74 0,-91 73 0,-2-4 0,-156 85 0,232-148 0,-335 165 0,-22-35 0,309-126 0,0-4 0,-126 10 0,114-16 0,-590 34 0,-4-45 0,284-2 0,-7 6 0,-438-6 0,532-20 0,-46-1 0,110 12 0,89 3 0,-566-45 0,282 16 0,355 32 0,-415-50 0,319 24 0,74 15 0,-113-34 0,-291-81 0,148 64 0,263 45 0,-13-3 0,-184-65 0,173 47 0,67 25 0,-59-29 0,110 43 0,-134-69 0,124 61 0,1 0 0,0-1 0,1-1 0,-30-33 0,10 3 0,2-2 0,2-1 0,3-2 0,1-1 0,3-1 0,2-2 0,-31-99 0,38 82 0,3-1 0,3 0 0,4-1 0,2 0 0,6-80 0,-2 1 0,4-140 0,3 261 0,1 1 0,1 0 0,2 0 0,14-33 0,4-17 0,-10 28 0,1 2 0,4 0 0,1 1 0,58-90 0,-60 110 0,0 1 0,2 0 0,1 2 0,1 1 0,51-40 0,-8 15 0,3 3 0,145-72 0,172-36 0,-332 135 0,-15 4 0,2 2 0,0 1 0,0 2 0,1 2 0,71-5 0,95-7 0,-75 23 0,72-4 0,19-22 0,-130 15 0,86-4 0,-76 15 0,150-4 0,-165-9 0,-50 5 0,47-1 0,47 10 0,106-5 0,-204-3 0,43-12 0,-46 9 0,53-6 0,79 10 0,-95 4 0,84-11 0,-81 4-56,120 4-1,-111 4-1195,-69-1-5574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02.269"/>
    </inkml:context>
    <inkml:brush xml:id="br0">
      <inkml:brushProperty name="width" value="0.035" units="cm"/>
      <inkml:brushProperty name="height" value="0.035" units="cm"/>
      <inkml:brushProperty name="color" value="#5B2D90"/>
    </inkml:brush>
  </inkml:definitions>
  <inkml:trace contextRef="#ctx0" brushRef="#br0">0 1 24575,'0'505'0,"1"-478"0,10 49 0,-6-48 0,1 47 0,-6 565 0,1-620 45,1 0-1,6 29 1,3 22-1544,-9-52-5327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04.590"/>
    </inkml:context>
    <inkml:brush xml:id="br0">
      <inkml:brushProperty name="width" value="0.035" units="cm"/>
      <inkml:brushProperty name="height" value="0.035" units="cm"/>
      <inkml:brushProperty name="color" value="#5B2D90"/>
    </inkml:brush>
  </inkml:definitions>
  <inkml:trace contextRef="#ctx0" brushRef="#br0">1 1 24575,'0'1900'-1365,"0"-1881"-5461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07.692"/>
    </inkml:context>
    <inkml:brush xml:id="br0">
      <inkml:brushProperty name="width" value="0.035" units="cm"/>
      <inkml:brushProperty name="height" value="0.035" units="cm"/>
      <inkml:brushProperty name="color" value="#5B2D90"/>
    </inkml:brush>
  </inkml:definitions>
  <inkml:trace contextRef="#ctx0" brushRef="#br0">0 1 24575,'0'941'0,"15"-735"0,-6-122 0,1-4 0,-4-44 0,1 51 0,-8 82-1365,1-150-5461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7T12:17:11.101"/>
    </inkml:context>
    <inkml:brush xml:id="br0">
      <inkml:brushProperty name="width" value="0.035" units="cm"/>
      <inkml:brushProperty name="height" value="0.035" units="cm"/>
      <inkml:brushProperty name="color" value="#5B2D90"/>
    </inkml:brush>
  </inkml:definitions>
  <inkml:trace contextRef="#ctx0" brushRef="#br0">53 1 24575,'0'986'0,"-2"-960"0,0-1 0,-6 26 0,3-24 0,-3 50 0,8-33 0,1-13 0,-1-1 0,-2 0 0,-9 50 0,4-41 0,3 0 0,1 1 0,2-1 0,4 45 0,0 9 0,-3-12-1365,0-57-5461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61B90-1233-4265-A8E1-4CB85DE126FB}"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313FD6-7C7B-4426-BFC4-490AC0CFBE05}" type="slidenum">
              <a:rPr lang="en-US" smtClean="0"/>
              <a:t>‹#›</a:t>
            </a:fld>
            <a:endParaRPr lang="en-US"/>
          </a:p>
        </p:txBody>
      </p:sp>
    </p:spTree>
    <p:extLst>
      <p:ext uri="{BB962C8B-B14F-4D97-AF65-F5344CB8AC3E}">
        <p14:creationId xmlns:p14="http://schemas.microsoft.com/office/powerpoint/2010/main" val="156397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B1B1B"/>
                </a:solidFill>
                <a:effectLst/>
                <a:latin typeface="Poppins" panose="020B0502040204020203" pitchFamily="2" charset="0"/>
              </a:rPr>
              <a:t>Transcription and translation are processes a cell uses to make all proteins the body needs to function from information stored in the sequence of bases in DNA. The four bases (C, A, T/U, and G in the figure) are the building blocks of DNA and RNA. During transcription, a piece of DNA that codes for a specific gene is copied into messenger RNA (mRNA) in the nucleus of the cell. The mRNA then carries the genetic information from the DNA to the cytoplasm, where translation occurs. During translation, proteins are made using the information stored in the mRNA sequence. The mRNA attaches to a structure called a ribosome that can read the genetic information. As the mRNA passes through the ribosome, another type of RNA called transfer RNA (tRNA) carries a protein building block called an amino acid to the ribosome. The tRNA carrying the amino acid binds to a matching sequence in the mRNA. As each tRNA binds to the mRNA strand, the amino acid it carried joins with the other amino acids to form a chain of amino acids. Once all of the amino acids coded for in the piece of mRNA have been linked, the completed protein is released from the ribosome.</a:t>
            </a:r>
            <a:endParaRPr lang="en-US" dirty="0"/>
          </a:p>
        </p:txBody>
      </p:sp>
      <p:sp>
        <p:nvSpPr>
          <p:cNvPr id="4" name="Slide Number Placeholder 3"/>
          <p:cNvSpPr>
            <a:spLocks noGrp="1"/>
          </p:cNvSpPr>
          <p:nvPr>
            <p:ph type="sldNum" sz="quarter" idx="5"/>
          </p:nvPr>
        </p:nvSpPr>
        <p:spPr/>
        <p:txBody>
          <a:bodyPr/>
          <a:lstStyle/>
          <a:p>
            <a:fld id="{56C17E1D-5FD8-4E87-B4B9-0D86153B9F38}" type="slidenum">
              <a:rPr lang="en-US" smtClean="0"/>
              <a:t>38</a:t>
            </a:fld>
            <a:endParaRPr lang="en-US"/>
          </a:p>
        </p:txBody>
      </p:sp>
    </p:spTree>
    <p:extLst>
      <p:ext uri="{BB962C8B-B14F-4D97-AF65-F5344CB8AC3E}">
        <p14:creationId xmlns:p14="http://schemas.microsoft.com/office/powerpoint/2010/main" val="397169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8620" y="1138426"/>
            <a:ext cx="10363200" cy="1374345"/>
          </a:xfrm>
          <a:effectLst>
            <a:outerShdw blurRad="50800" dist="38100" dir="2700000" algn="tl" rotWithShape="0">
              <a:prstClr val="black">
                <a:alpha val="40000"/>
              </a:prstClr>
            </a:outerShdw>
          </a:effectLst>
        </p:spPr>
        <p:txBody>
          <a:bodyPr>
            <a:normAutofit/>
          </a:bodyPr>
          <a:lstStyle>
            <a:lvl1pPr algn="l">
              <a:defRPr sz="3600">
                <a:solidFill>
                  <a:schemeClr val="bg1"/>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2838293" y="4650641"/>
            <a:ext cx="8534400" cy="1374345"/>
          </a:xfrm>
        </p:spPr>
        <p:txBody>
          <a:bodyPr>
            <a:normAutofit/>
          </a:bodyPr>
          <a:lstStyle>
            <a:lvl1pPr marL="0" indent="0" algn="r">
              <a:buNone/>
              <a:defRPr sz="2600">
                <a:solidFill>
                  <a:schemeClr val="tx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E2773EFF-6084-460D-96FA-2FA787A98816}"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680310"/>
            <a:ext cx="10972800" cy="458115"/>
          </a:xfrm>
        </p:spPr>
        <p:txBody>
          <a:bodyPr>
            <a:normAutofit/>
          </a:bodyPr>
          <a:lstStyle>
            <a:lvl1pPr algn="l">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3FF86A1-0F17-41D8-9FFA-9520AF33BFC6}"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1" y="527605"/>
            <a:ext cx="9354927" cy="610820"/>
          </a:xfrm>
        </p:spPr>
        <p:txBody>
          <a:bodyPr>
            <a:normAutofit/>
          </a:bodyPr>
          <a:lstStyle>
            <a:lvl1pPr algn="l">
              <a:defRPr sz="3600">
                <a:solidFill>
                  <a:srgbClr val="D0005E"/>
                </a:solidFill>
              </a:defRPr>
            </a:lvl1pPr>
          </a:lstStyle>
          <a:p>
            <a:r>
              <a:rPr lang="en-US" dirty="0"/>
              <a:t>Click to edit Master title style</a:t>
            </a:r>
          </a:p>
        </p:txBody>
      </p:sp>
      <p:sp>
        <p:nvSpPr>
          <p:cNvPr id="3" name="Content Placeholder 2"/>
          <p:cNvSpPr>
            <a:spLocks noGrp="1"/>
          </p:cNvSpPr>
          <p:nvPr>
            <p:ph idx="1"/>
          </p:nvPr>
        </p:nvSpPr>
        <p:spPr>
          <a:xfrm>
            <a:off x="2431082" y="1138425"/>
            <a:ext cx="9354927" cy="4275740"/>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tx2">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41692F4-087A-4F4C-9829-F340F0646973}"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E80BFE-E826-4B70-BF6B-3710B05194AF}"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5182DA-5425-42F9-BDB8-0DBDA15B981E}"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98620" y="527605"/>
            <a:ext cx="10972800" cy="610820"/>
          </a:xfrm>
        </p:spPr>
        <p:txBody>
          <a:bodyPr>
            <a:normAutofit/>
          </a:bodyPr>
          <a:lstStyle>
            <a:lvl1pPr algn="l">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598620" y="1596539"/>
            <a:ext cx="5386917"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98620" y="2226402"/>
            <a:ext cx="5386917"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82388" y="1596539"/>
            <a:ext cx="5389033" cy="639762"/>
          </a:xfrm>
        </p:spPr>
        <p:txBody>
          <a:bodyPr anchor="b"/>
          <a:lstStyle>
            <a:lvl1pPr marL="0" indent="0">
              <a:buNone/>
              <a:defRPr sz="2400" b="1">
                <a:solidFill>
                  <a:srgbClr val="D0005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82388" y="2226402"/>
            <a:ext cx="5389033" cy="3035058"/>
          </a:xfrm>
        </p:spPr>
        <p:txBody>
          <a:bodyPr/>
          <a:lstStyle>
            <a:lvl1pPr>
              <a:defRPr sz="2400">
                <a:solidFill>
                  <a:schemeClr val="tx2">
                    <a:lumMod val="50000"/>
                  </a:schemeClr>
                </a:solidFill>
              </a:defRPr>
            </a:lvl1pPr>
            <a:lvl2pPr>
              <a:defRPr sz="2000">
                <a:solidFill>
                  <a:schemeClr val="tx2">
                    <a:lumMod val="50000"/>
                  </a:schemeClr>
                </a:solidFill>
              </a:defRPr>
            </a:lvl2pPr>
            <a:lvl3pPr>
              <a:defRPr sz="1800">
                <a:solidFill>
                  <a:schemeClr val="tx2">
                    <a:lumMod val="50000"/>
                  </a:schemeClr>
                </a:solidFill>
              </a:defRPr>
            </a:lvl3pPr>
            <a:lvl4pPr>
              <a:defRPr sz="1600">
                <a:solidFill>
                  <a:schemeClr val="tx2">
                    <a:lumMod val="50000"/>
                  </a:schemeClr>
                </a:solidFill>
              </a:defRPr>
            </a:lvl4pPr>
            <a:lvl5pPr>
              <a:defRPr sz="1600">
                <a:solidFill>
                  <a:schemeClr val="tx2">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131B7164-C7F7-495E-9D5F-43BBDEBECF81}" type="datetime1">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D6C5AB8-78AA-4DA3-952F-F5057D2DAAA5}" type="datetime1">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CB869-D2D8-4282-A525-D63712C1B900}" type="datetime1">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A8CF58-29B0-4D31-BE55-D9C1F05848B7}"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692F8-B2BD-4E07-9A92-E5080B238DFA}" type="datetime1">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88673-6F42-4090-A040-176AF0E6DEAE}"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715288-B7FB-4510-97B0-C840A6671DDD}" type="datetime1">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6584950" y="1574800"/>
            <a:ext cx="4762500" cy="4648200"/>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844550" y="1574800"/>
            <a:ext cx="5111750" cy="4648200"/>
          </a:xfrm>
          <a:prstGeom prst="rect">
            <a:avLst/>
          </a:prstGeom>
        </p:spPr>
        <p:txBody>
          <a:bodyPr/>
          <a:lstStyle>
            <a:lvl1pPr marL="279400" indent="-279400">
              <a:spcBef>
                <a:spcPts val="2250"/>
              </a:spcBef>
              <a:defRPr sz="1900"/>
            </a:lvl1pPr>
            <a:lvl2pPr marL="558800" indent="-279400">
              <a:spcBef>
                <a:spcPts val="2250"/>
              </a:spcBef>
              <a:defRPr sz="1900"/>
            </a:lvl2pPr>
            <a:lvl3pPr marL="838200" indent="-279400">
              <a:spcBef>
                <a:spcPts val="2250"/>
              </a:spcBef>
              <a:defRPr sz="1900"/>
            </a:lvl3pPr>
            <a:lvl4pPr marL="1117600" indent="-279400">
              <a:spcBef>
                <a:spcPts val="2250"/>
              </a:spcBef>
              <a:defRPr sz="1900"/>
            </a:lvl4pPr>
            <a:lvl5pPr marL="1397000" indent="-279400">
              <a:spcBef>
                <a:spcPts val="2250"/>
              </a:spcBef>
              <a:defRPr sz="19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8939126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0607208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844550" y="889000"/>
            <a:ext cx="10502900" cy="5080000"/>
          </a:xfrm>
          <a:prstGeom prst="rect">
            <a:avLst/>
          </a:prstGeom>
        </p:spPr>
        <p:txBody>
          <a:bodyPr/>
          <a:lstStyle>
            <a:lvl1pPr>
              <a:defRPr sz="2400">
                <a:latin typeface="Trebuchet MS"/>
                <a:ea typeface="Trebuchet MS"/>
                <a:cs typeface="Trebuchet MS"/>
                <a:sym typeface="Trebuchet MS"/>
              </a:defRPr>
            </a:lvl1pPr>
            <a:lvl2pPr>
              <a:defRPr sz="2400">
                <a:latin typeface="Trebuchet MS"/>
                <a:ea typeface="Trebuchet MS"/>
                <a:cs typeface="Trebuchet MS"/>
                <a:sym typeface="Trebuchet MS"/>
              </a:defRPr>
            </a:lvl2pPr>
            <a:lvl3pPr>
              <a:defRPr sz="2400">
                <a:latin typeface="Trebuchet MS"/>
                <a:ea typeface="Trebuchet MS"/>
                <a:cs typeface="Trebuchet MS"/>
                <a:sym typeface="Trebuchet MS"/>
              </a:defRPr>
            </a:lvl3pPr>
            <a:lvl4pPr>
              <a:defRPr sz="2400">
                <a:latin typeface="Trebuchet MS"/>
                <a:ea typeface="Trebuchet MS"/>
                <a:cs typeface="Trebuchet MS"/>
                <a:sym typeface="Trebuchet MS"/>
              </a:defRPr>
            </a:lvl4pPr>
            <a:lvl5pPr>
              <a:defRPr sz="2400">
                <a:latin typeface="Trebuchet MS"/>
                <a:ea typeface="Trebuchet MS"/>
                <a:cs typeface="Trebuchet MS"/>
                <a:sym typeface="Trebuchet MS"/>
              </a:defRPr>
            </a:lvl5p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1394271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8395F-151A-4402-98B5-C84E535B9AEF}" type="datetime1">
              <a:rPr lang="en-US" smtClean="0"/>
              <a:t>10/12/2026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5" r:id="rId13"/>
    <p:sldLayoutId id="2147483666" r:id="rId14"/>
    <p:sldLayoutId id="2147483667" r:id="rId1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alekseyzimin/BME-Algorithms-for-Analysis-of-Genomic-Data/raw/refs/heads/main/read1.fq"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customXml" Target="../ink/ink6.xml"/><Relationship Id="rId17" Type="http://schemas.openxmlformats.org/officeDocument/2006/relationships/image" Target="../media/image12.png"/><Relationship Id="rId2" Type="http://schemas.openxmlformats.org/officeDocument/2006/relationships/customXml" Target="../ink/ink1.xml"/><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9.png"/><Relationship Id="rId5" Type="http://schemas.openxmlformats.org/officeDocument/2006/relationships/image" Target="../media/image6.png"/><Relationship Id="rId15" Type="http://schemas.openxmlformats.org/officeDocument/2006/relationships/image" Target="../media/image11.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8.png"/><Relationship Id="rId14" Type="http://schemas.openxmlformats.org/officeDocument/2006/relationships/customXml" Target="../ink/ink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github.com/The-Sequence-Ontology/Specifications/blob/master/gff3.md" TargetMode="External"/><Relationship Id="rId2" Type="http://schemas.openxmlformats.org/officeDocument/2006/relationships/hyperlink" Target="https://mblab.wustl.edu/GTF2.html" TargetMode="External"/><Relationship Id="rId1" Type="http://schemas.openxmlformats.org/officeDocument/2006/relationships/slideLayout" Target="../slideLayouts/slideLayout8.xml"/><Relationship Id="rId4" Type="http://schemas.openxmlformats.org/officeDocument/2006/relationships/image" Target="../media/image39.jpeg"/></Relationships>
</file>

<file path=ppt/slides/_rels/slide4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B027074-6C76-4B66-80C9-856F75BD8054}"/>
              </a:ext>
            </a:extLst>
          </p:cNvPr>
          <p:cNvSpPr>
            <a:spLocks noGrp="1"/>
          </p:cNvSpPr>
          <p:nvPr>
            <p:ph type="sldNum" sz="quarter" idx="12"/>
          </p:nvPr>
        </p:nvSpPr>
        <p:spPr/>
        <p:txBody>
          <a:bodyPr/>
          <a:lstStyle/>
          <a:p>
            <a:fld id="{B82CCC60-E8CD-4174-8B1A-7DF615B22EEF}" type="slidenum">
              <a:rPr lang="en-US" smtClean="0"/>
              <a:pPr/>
              <a:t>1</a:t>
            </a:fld>
            <a:endParaRPr lang="en-US"/>
          </a:p>
        </p:txBody>
      </p:sp>
      <p:sp>
        <p:nvSpPr>
          <p:cNvPr id="6" name="TextBox 5">
            <a:extLst>
              <a:ext uri="{FF2B5EF4-FFF2-40B4-BE49-F238E27FC236}">
                <a16:creationId xmlns:a16="http://schemas.microsoft.com/office/drawing/2014/main" id="{3DF0520F-6299-4676-8176-653C51F4D7A4}"/>
              </a:ext>
            </a:extLst>
          </p:cNvPr>
          <p:cNvSpPr txBox="1"/>
          <p:nvPr/>
        </p:nvSpPr>
        <p:spPr>
          <a:xfrm>
            <a:off x="1308659" y="2437886"/>
            <a:ext cx="9677025" cy="769441"/>
          </a:xfrm>
          <a:prstGeom prst="rect">
            <a:avLst/>
          </a:prstGeom>
          <a:noFill/>
        </p:spPr>
        <p:txBody>
          <a:bodyPr wrap="square">
            <a:spAutoFit/>
          </a:bodyPr>
          <a:lstStyle/>
          <a:p>
            <a:r>
              <a:rPr lang="en-US" sz="4400" b="1" i="1" dirty="0">
                <a:solidFill>
                  <a:srgbClr val="BE0260"/>
                </a:solidFill>
              </a:rPr>
              <a:t>Week 7</a:t>
            </a:r>
            <a:endParaRPr lang="en-US" sz="3200" b="1" dirty="0">
              <a:solidFill>
                <a:srgbClr val="BE0260"/>
              </a:solidFill>
            </a:endParaRPr>
          </a:p>
        </p:txBody>
      </p:sp>
      <p:sp>
        <p:nvSpPr>
          <p:cNvPr id="2" name="TextBox 1">
            <a:extLst>
              <a:ext uri="{FF2B5EF4-FFF2-40B4-BE49-F238E27FC236}">
                <a16:creationId xmlns:a16="http://schemas.microsoft.com/office/drawing/2014/main" id="{5C89679F-F038-40F8-96EA-47D38F6DFC66}"/>
              </a:ext>
            </a:extLst>
          </p:cNvPr>
          <p:cNvSpPr txBox="1"/>
          <p:nvPr/>
        </p:nvSpPr>
        <p:spPr>
          <a:xfrm>
            <a:off x="1308659" y="4376878"/>
            <a:ext cx="9574682" cy="1200329"/>
          </a:xfrm>
          <a:prstGeom prst="rect">
            <a:avLst/>
          </a:prstGeom>
          <a:noFill/>
        </p:spPr>
        <p:txBody>
          <a:bodyPr wrap="square" rtlCol="0">
            <a:spAutoFit/>
          </a:bodyPr>
          <a:lstStyle/>
          <a:p>
            <a:r>
              <a:rPr lang="en-US" sz="2400" dirty="0"/>
              <a:t>Alexey V. Zimin</a:t>
            </a:r>
            <a:br>
              <a:rPr lang="en-US" sz="2400" dirty="0"/>
            </a:br>
            <a:r>
              <a:rPr lang="en-US" sz="2400" dirty="0"/>
              <a:t> </a:t>
            </a:r>
          </a:p>
          <a:p>
            <a:pPr algn="just"/>
            <a:r>
              <a:rPr lang="en-US" sz="2400" dirty="0"/>
              <a:t>JHU </a:t>
            </a:r>
            <a:r>
              <a:rPr lang="en-US" sz="2400"/>
              <a:t>BME 580.417/707</a:t>
            </a:r>
            <a:endParaRPr lang="en-US" sz="2400" dirty="0"/>
          </a:p>
        </p:txBody>
      </p:sp>
    </p:spTree>
    <p:extLst>
      <p:ext uri="{BB962C8B-B14F-4D97-AF65-F5344CB8AC3E}">
        <p14:creationId xmlns:p14="http://schemas.microsoft.com/office/powerpoint/2010/main" val="1052403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C582-59F8-8CCD-1823-9771E44A3056}"/>
              </a:ext>
            </a:extLst>
          </p:cNvPr>
          <p:cNvSpPr>
            <a:spLocks noGrp="1"/>
          </p:cNvSpPr>
          <p:nvPr>
            <p:ph type="title"/>
          </p:nvPr>
        </p:nvSpPr>
        <p:spPr/>
        <p:txBody>
          <a:bodyPr>
            <a:normAutofit fontScale="90000"/>
          </a:bodyPr>
          <a:lstStyle/>
          <a:p>
            <a:r>
              <a:rPr lang="en-US" dirty="0"/>
              <a:t>Lab #4: Build K-unitigs from K-</a:t>
            </a:r>
            <a:r>
              <a:rPr lang="en-US" dirty="0" err="1"/>
              <a:t>mers</a:t>
            </a:r>
            <a:endParaRPr lang="en-US" dirty="0"/>
          </a:p>
        </p:txBody>
      </p:sp>
      <p:sp>
        <p:nvSpPr>
          <p:cNvPr id="3" name="Content Placeholder 2">
            <a:extLst>
              <a:ext uri="{FF2B5EF4-FFF2-40B4-BE49-F238E27FC236}">
                <a16:creationId xmlns:a16="http://schemas.microsoft.com/office/drawing/2014/main" id="{F22765F7-8C53-F1D8-4FD1-B1279982E17F}"/>
              </a:ext>
            </a:extLst>
          </p:cNvPr>
          <p:cNvSpPr>
            <a:spLocks noGrp="1"/>
          </p:cNvSpPr>
          <p:nvPr>
            <p:ph idx="1"/>
          </p:nvPr>
        </p:nvSpPr>
        <p:spPr>
          <a:xfrm>
            <a:off x="598620" y="1596540"/>
            <a:ext cx="10972800" cy="5124936"/>
          </a:xfrm>
        </p:spPr>
        <p:txBody>
          <a:bodyPr>
            <a:normAutofit lnSpcReduction="10000"/>
          </a:bodyPr>
          <a:lstStyle/>
          <a:p>
            <a:r>
              <a:rPr lang="en-US" sz="1800" dirty="0"/>
              <a:t>Lab #4: </a:t>
            </a:r>
            <a:r>
              <a:rPr lang="en-US" sz="1800" dirty="0">
                <a:solidFill>
                  <a:srgbClr val="FF0000"/>
                </a:solidFill>
              </a:rPr>
              <a:t>Due Friday October 30.</a:t>
            </a:r>
            <a:r>
              <a:rPr lang="en-US" sz="1800" dirty="0"/>
              <a:t> The goal for Lab #4 is to write code that parses reads in fastq file, counts canonical K-</a:t>
            </a:r>
            <a:r>
              <a:rPr lang="en-US" sz="1800" dirty="0" err="1"/>
              <a:t>mers</a:t>
            </a:r>
            <a:r>
              <a:rPr lang="en-US" sz="1800" dirty="0"/>
              <a:t> for a given K, and then builds K-unitigs – unique non branching paths of K-</a:t>
            </a:r>
            <a:r>
              <a:rPr lang="en-US" sz="1800" dirty="0" err="1"/>
              <a:t>mers</a:t>
            </a:r>
            <a:r>
              <a:rPr lang="en-US" sz="1800" dirty="0"/>
              <a:t> in a K-mer graph.  K-unitigs are genomic sequences. All K-</a:t>
            </a:r>
            <a:r>
              <a:rPr lang="en-US" sz="1800" dirty="0" err="1"/>
              <a:t>mers</a:t>
            </a:r>
            <a:r>
              <a:rPr lang="en-US" sz="1800" dirty="0"/>
              <a:t> in the reads must be present in K-unitigs.  Each K-mer of size K must be in only one K-</a:t>
            </a:r>
            <a:r>
              <a:rPr lang="en-US" sz="1800" dirty="0" err="1"/>
              <a:t>unitig</a:t>
            </a:r>
            <a:r>
              <a:rPr lang="en-US" sz="1800" dirty="0"/>
              <a:t>.</a:t>
            </a:r>
          </a:p>
          <a:p>
            <a:r>
              <a:rPr lang="en-US" sz="1800" dirty="0"/>
              <a:t>Reads are provided in </a:t>
            </a:r>
            <a:r>
              <a:rPr lang="en-US" sz="1800" dirty="0" err="1"/>
              <a:t>autograder</a:t>
            </a:r>
            <a:r>
              <a:rPr lang="en-US" sz="1800" dirty="0"/>
              <a:t> as “read1.fq”.  You can assume that this file is in your current directory. Reads are also available on github for testing: </a:t>
            </a:r>
            <a:r>
              <a:rPr lang="en-US" sz="1800" dirty="0">
                <a:hlinkClick r:id="rId2"/>
              </a:rPr>
              <a:t>https://github.com/alekseyzimin/BME-Algorithms-for-Analysis-of-Genomic-Data/raw/refs/heads/main/read1.fq</a:t>
            </a:r>
            <a:r>
              <a:rPr lang="en-US" sz="1800" dirty="0"/>
              <a:t> </a:t>
            </a:r>
          </a:p>
          <a:p>
            <a:r>
              <a:rPr lang="en-US" sz="1800" dirty="0"/>
              <a:t>Write the following functions in python:</a:t>
            </a:r>
          </a:p>
          <a:p>
            <a:pPr lvl="1"/>
            <a:r>
              <a:rPr lang="en-US" sz="1800" dirty="0"/>
              <a:t>(g:10/u:10) </a:t>
            </a:r>
            <a:r>
              <a:rPr lang="en-US" sz="1800" i="1" dirty="0" err="1"/>
              <a:t>reverse_complement</a:t>
            </a:r>
            <a:r>
              <a:rPr lang="en-US" sz="1800" i="1" dirty="0"/>
              <a:t>(seq) </a:t>
            </a:r>
            <a:r>
              <a:rPr lang="en-US" sz="1800" dirty="0"/>
              <a:t>– returns reverse complement of sequence </a:t>
            </a:r>
            <a:r>
              <a:rPr lang="en-US" sz="1800" i="1" dirty="0"/>
              <a:t>seq</a:t>
            </a:r>
          </a:p>
          <a:p>
            <a:pPr lvl="1"/>
            <a:r>
              <a:rPr lang="en-US" sz="1800" dirty="0"/>
              <a:t>(g:10/u:10) </a:t>
            </a:r>
            <a:r>
              <a:rPr lang="en-US" sz="1800" i="1" dirty="0" err="1"/>
              <a:t>canonical_kmer</a:t>
            </a:r>
            <a:r>
              <a:rPr lang="en-US" sz="1800" i="1" dirty="0"/>
              <a:t>(</a:t>
            </a:r>
            <a:r>
              <a:rPr lang="en-US" sz="1800" i="1" dirty="0" err="1"/>
              <a:t>kmer</a:t>
            </a:r>
            <a:r>
              <a:rPr lang="en-US" sz="1800" i="1" dirty="0"/>
              <a:t>) </a:t>
            </a:r>
            <a:r>
              <a:rPr lang="en-US" sz="1800" dirty="0"/>
              <a:t>– returns canonical  version of the k-mer </a:t>
            </a:r>
            <a:r>
              <a:rPr lang="en-US" sz="1800" i="1" dirty="0" err="1"/>
              <a:t>kmer</a:t>
            </a:r>
            <a:r>
              <a:rPr lang="en-US" sz="1800" dirty="0"/>
              <a:t> using </a:t>
            </a:r>
            <a:r>
              <a:rPr lang="en-US" sz="1800" u="sng" dirty="0"/>
              <a:t>lexicographic</a:t>
            </a:r>
            <a:r>
              <a:rPr lang="en-US" sz="1800" dirty="0"/>
              <a:t> order </a:t>
            </a:r>
          </a:p>
          <a:p>
            <a:pPr lvl="1"/>
            <a:r>
              <a:rPr lang="en-US" sz="1800" dirty="0"/>
              <a:t>(g:10/u:20) </a:t>
            </a:r>
            <a:r>
              <a:rPr lang="en-US" sz="1800" i="1" dirty="0" err="1"/>
              <a:t>count_canonical_kmers</a:t>
            </a:r>
            <a:r>
              <a:rPr lang="en-US" sz="1800" i="1" dirty="0"/>
              <a:t>(</a:t>
            </a:r>
            <a:r>
              <a:rPr lang="en-US" sz="1800" i="1" dirty="0" err="1"/>
              <a:t>file.fastq,k</a:t>
            </a:r>
            <a:r>
              <a:rPr lang="en-US" sz="1800" i="1" dirty="0"/>
              <a:t>) </a:t>
            </a:r>
            <a:r>
              <a:rPr lang="en-US" sz="1800" dirty="0"/>
              <a:t>– reads genome sequences from </a:t>
            </a:r>
            <a:r>
              <a:rPr lang="en-US" sz="1800" i="1" dirty="0" err="1"/>
              <a:t>file.fastq</a:t>
            </a:r>
            <a:r>
              <a:rPr lang="en-US" sz="1800" dirty="0"/>
              <a:t>, returns dictionary </a:t>
            </a:r>
            <a:r>
              <a:rPr lang="en-US" sz="1800" dirty="0" err="1"/>
              <a:t>kmer_counts</a:t>
            </a:r>
            <a:r>
              <a:rPr lang="en-US" sz="1800" dirty="0"/>
              <a:t>[</a:t>
            </a:r>
            <a:r>
              <a:rPr lang="en-US" sz="1800" dirty="0" err="1"/>
              <a:t>kmer</a:t>
            </a:r>
            <a:r>
              <a:rPr lang="en-US" sz="1800" dirty="0"/>
              <a:t>]=count for K-mer size </a:t>
            </a:r>
            <a:r>
              <a:rPr lang="en-US" sz="1800" i="1" dirty="0"/>
              <a:t>k</a:t>
            </a:r>
          </a:p>
          <a:p>
            <a:pPr lvl="1"/>
            <a:r>
              <a:rPr lang="en-US" sz="1800" dirty="0"/>
              <a:t>(g:10/u:20) </a:t>
            </a:r>
            <a:r>
              <a:rPr lang="en-US" sz="1800" i="1" dirty="0"/>
              <a:t>compute_n50(sequences) -- </a:t>
            </a:r>
            <a:r>
              <a:rPr lang="en-US" sz="1800" dirty="0"/>
              <a:t>returns N50 of sequences in the input array </a:t>
            </a:r>
            <a:r>
              <a:rPr lang="en-US" sz="1800" i="1" dirty="0"/>
              <a:t>sequences</a:t>
            </a:r>
            <a:r>
              <a:rPr lang="en-US" sz="1800" dirty="0"/>
              <a:t> </a:t>
            </a:r>
          </a:p>
          <a:p>
            <a:pPr lvl="1"/>
            <a:r>
              <a:rPr lang="en-US" sz="1800" dirty="0"/>
              <a:t>(g:40/u:40) </a:t>
            </a:r>
            <a:r>
              <a:rPr lang="en-US" sz="1800" i="1" dirty="0" err="1"/>
              <a:t>build_unitigs</a:t>
            </a:r>
            <a:r>
              <a:rPr lang="en-US" sz="1800" i="1" dirty="0"/>
              <a:t>(</a:t>
            </a:r>
            <a:r>
              <a:rPr lang="en-US" sz="1800" i="1" dirty="0" err="1"/>
              <a:t>kmer_counts</a:t>
            </a:r>
            <a:r>
              <a:rPr lang="en-US" sz="1800" i="1" dirty="0"/>
              <a:t>) </a:t>
            </a:r>
            <a:r>
              <a:rPr lang="en-US" sz="1800" dirty="0"/>
              <a:t>– returns array of k-</a:t>
            </a:r>
            <a:r>
              <a:rPr lang="en-US" sz="1800" dirty="0" err="1"/>
              <a:t>unitig</a:t>
            </a:r>
            <a:r>
              <a:rPr lang="en-US" sz="1800" dirty="0"/>
              <a:t> sequences, argument is dictionary </a:t>
            </a:r>
            <a:r>
              <a:rPr lang="en-US" sz="1800" dirty="0" err="1"/>
              <a:t>kmer_counts</a:t>
            </a:r>
            <a:r>
              <a:rPr lang="en-US" sz="1800" dirty="0"/>
              <a:t> produced by </a:t>
            </a:r>
            <a:r>
              <a:rPr lang="en-US" sz="1800" i="1" dirty="0" err="1"/>
              <a:t>count_canonical_kmers</a:t>
            </a:r>
            <a:endParaRPr lang="en-US" sz="1800" dirty="0"/>
          </a:p>
          <a:p>
            <a:r>
              <a:rPr lang="en-US" sz="1800" dirty="0"/>
              <a:t>Graduate section only(g:20):  run </a:t>
            </a:r>
            <a:r>
              <a:rPr lang="en-US" sz="1800" i="1" dirty="0"/>
              <a:t>compute_n50(</a:t>
            </a:r>
            <a:r>
              <a:rPr lang="en-US" sz="1800" i="1" dirty="0" err="1"/>
              <a:t>build_unitigs</a:t>
            </a:r>
            <a:r>
              <a:rPr lang="en-US" sz="1800" i="1" dirty="0"/>
              <a:t>(</a:t>
            </a:r>
            <a:r>
              <a:rPr lang="en-US" sz="1800" i="1" dirty="0" err="1"/>
              <a:t>count_canonical_kmers</a:t>
            </a:r>
            <a:r>
              <a:rPr lang="en-US" sz="1800" i="1" dirty="0"/>
              <a:t>(</a:t>
            </a:r>
            <a:r>
              <a:rPr lang="en-US" sz="1800" i="1" dirty="0" err="1"/>
              <a:t>fastq_path,k</a:t>
            </a:r>
            <a:r>
              <a:rPr lang="en-US" sz="1800" i="1" dirty="0"/>
              <a:t>))) </a:t>
            </a:r>
            <a:r>
              <a:rPr lang="en-US" sz="1800" dirty="0"/>
              <a:t>code varying K-mer size between 15 and 90, and submit a plot of how K-unitigs N50 varies with K.  At which K value the N50(K) is the largest?  Add the value in a text box to the plot.</a:t>
            </a:r>
          </a:p>
        </p:txBody>
      </p:sp>
      <p:sp>
        <p:nvSpPr>
          <p:cNvPr id="4" name="Slide Number Placeholder 3">
            <a:extLst>
              <a:ext uri="{FF2B5EF4-FFF2-40B4-BE49-F238E27FC236}">
                <a16:creationId xmlns:a16="http://schemas.microsoft.com/office/drawing/2014/main" id="{DEA392B8-A9E4-6BF5-620C-98C3C46365DD}"/>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3375321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40EF0-5913-D081-346D-D16D63755BA2}"/>
              </a:ext>
            </a:extLst>
          </p:cNvPr>
          <p:cNvSpPr>
            <a:spLocks noGrp="1"/>
          </p:cNvSpPr>
          <p:nvPr>
            <p:ph type="title"/>
          </p:nvPr>
        </p:nvSpPr>
        <p:spPr/>
        <p:txBody>
          <a:bodyPr>
            <a:normAutofit fontScale="90000"/>
          </a:bodyPr>
          <a:lstStyle/>
          <a:p>
            <a:r>
              <a:rPr lang="en-US" dirty="0"/>
              <a:t>K-unitigs</a:t>
            </a:r>
          </a:p>
        </p:txBody>
      </p:sp>
      <p:sp>
        <p:nvSpPr>
          <p:cNvPr id="3" name="Content Placeholder 2">
            <a:extLst>
              <a:ext uri="{FF2B5EF4-FFF2-40B4-BE49-F238E27FC236}">
                <a16:creationId xmlns:a16="http://schemas.microsoft.com/office/drawing/2014/main" id="{C7F3DDAB-4893-CF5C-98EF-F172D1CF7467}"/>
              </a:ext>
            </a:extLst>
          </p:cNvPr>
          <p:cNvSpPr>
            <a:spLocks noGrp="1"/>
          </p:cNvSpPr>
          <p:nvPr>
            <p:ph idx="1"/>
          </p:nvPr>
        </p:nvSpPr>
        <p:spPr/>
        <p:txBody>
          <a:bodyPr/>
          <a:lstStyle/>
          <a:p>
            <a:r>
              <a:rPr lang="en-US" dirty="0"/>
              <a:t>K-unitigs are uniquely assemble-able paths of K-</a:t>
            </a:r>
            <a:r>
              <a:rPr lang="en-US" dirty="0" err="1"/>
              <a:t>mers</a:t>
            </a:r>
            <a:r>
              <a:rPr lang="en-US" dirty="0"/>
              <a:t> connected with K-1 exact overlaps</a:t>
            </a:r>
          </a:p>
          <a:p>
            <a:r>
              <a:rPr lang="en-US" dirty="0"/>
              <a:t>Paths must not contain any branches in forward or reverse direction</a:t>
            </a:r>
          </a:p>
          <a:p>
            <a:r>
              <a:rPr lang="en-US" dirty="0"/>
              <a:t>Pick a canonical K-mer, extend uniquely forward and backward checking for branches</a:t>
            </a:r>
          </a:p>
          <a:p>
            <a:pPr lvl="1"/>
            <a:r>
              <a:rPr lang="en-US" dirty="0"/>
              <a:t>Do you need to check if K-</a:t>
            </a:r>
            <a:r>
              <a:rPr lang="en-US" dirty="0" err="1"/>
              <a:t>mer</a:t>
            </a:r>
            <a:r>
              <a:rPr lang="en-US" dirty="0"/>
              <a:t> has been used in a path before? </a:t>
            </a:r>
          </a:p>
          <a:p>
            <a:r>
              <a:rPr lang="en-US" dirty="0"/>
              <a:t>Stop extension and save the sequence if a forward or backward branch detected</a:t>
            </a:r>
          </a:p>
          <a:p>
            <a:endParaRPr lang="en-US" dirty="0"/>
          </a:p>
        </p:txBody>
      </p:sp>
      <p:sp>
        <p:nvSpPr>
          <p:cNvPr id="4" name="Slide Number Placeholder 3">
            <a:extLst>
              <a:ext uri="{FF2B5EF4-FFF2-40B4-BE49-F238E27FC236}">
                <a16:creationId xmlns:a16="http://schemas.microsoft.com/office/drawing/2014/main" id="{92D6FC87-C108-0A82-FD97-928713653782}"/>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1172945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67DA1-5296-2AD2-ABE1-CB999E7F3A06}"/>
              </a:ext>
            </a:extLst>
          </p:cNvPr>
          <p:cNvSpPr>
            <a:spLocks noGrp="1"/>
          </p:cNvSpPr>
          <p:nvPr>
            <p:ph type="title"/>
          </p:nvPr>
        </p:nvSpPr>
        <p:spPr/>
        <p:txBody>
          <a:bodyPr>
            <a:normAutofit fontScale="90000"/>
          </a:bodyPr>
          <a:lstStyle/>
          <a:p>
            <a:r>
              <a:rPr lang="en-US" dirty="0"/>
              <a:t>Why choose an odd value </a:t>
            </a:r>
            <a:r>
              <a:rPr lang="en-US"/>
              <a:t>of K?</a:t>
            </a:r>
            <a:endParaRPr lang="en-US" dirty="0"/>
          </a:p>
        </p:txBody>
      </p:sp>
      <p:sp>
        <p:nvSpPr>
          <p:cNvPr id="3" name="Content Placeholder 2">
            <a:extLst>
              <a:ext uri="{FF2B5EF4-FFF2-40B4-BE49-F238E27FC236}">
                <a16:creationId xmlns:a16="http://schemas.microsoft.com/office/drawing/2014/main" id="{9F8B8BCB-B44E-AABE-7E8D-479E8D1B43B6}"/>
              </a:ext>
            </a:extLst>
          </p:cNvPr>
          <p:cNvSpPr>
            <a:spLocks noGrp="1"/>
          </p:cNvSpPr>
          <p:nvPr>
            <p:ph idx="1"/>
          </p:nvPr>
        </p:nvSpPr>
        <p:spPr/>
        <p:txBody>
          <a:bodyPr>
            <a:normAutofit lnSpcReduction="10000"/>
          </a:bodyPr>
          <a:lstStyle/>
          <a:p>
            <a:r>
              <a:rPr lang="en-US" dirty="0"/>
              <a:t>We usually choose an off value of K for k-</a:t>
            </a:r>
            <a:r>
              <a:rPr lang="en-US" dirty="0" err="1"/>
              <a:t>mer</a:t>
            </a:r>
            <a:r>
              <a:rPr lang="en-US" dirty="0"/>
              <a:t> graph</a:t>
            </a:r>
          </a:p>
          <a:p>
            <a:endParaRPr lang="en-US" dirty="0"/>
          </a:p>
          <a:p>
            <a:r>
              <a:rPr lang="en-US" dirty="0"/>
              <a:t>The reason is that we want to avoid scenario when k-</a:t>
            </a:r>
            <a:r>
              <a:rPr lang="en-US" dirty="0" err="1"/>
              <a:t>mer</a:t>
            </a:r>
            <a:r>
              <a:rPr lang="en-US" dirty="0"/>
              <a:t> == its reverse complement, because in this case graph walk can potentially jump strands</a:t>
            </a:r>
          </a:p>
          <a:p>
            <a:endParaRPr lang="en-US" dirty="0"/>
          </a:p>
          <a:p>
            <a:r>
              <a:rPr lang="en-US" dirty="0"/>
              <a:t>Example:</a:t>
            </a:r>
            <a:br>
              <a:rPr lang="en-US" dirty="0"/>
            </a:br>
            <a:r>
              <a:rPr lang="en-US" dirty="0" err="1">
                <a:latin typeface="Courier New" panose="02070309020205020404" pitchFamily="49" charset="0"/>
                <a:cs typeface="Courier New" panose="02070309020205020404" pitchFamily="49" charset="0"/>
              </a:rPr>
              <a:t>rc</a:t>
            </a:r>
            <a:r>
              <a:rPr lang="en-US" dirty="0">
                <a:latin typeface="Courier New" panose="02070309020205020404" pitchFamily="49" charset="0"/>
                <a:cs typeface="Courier New" panose="02070309020205020404" pitchFamily="49" charset="0"/>
              </a:rPr>
              <a:t>(ATATAT) is ATATAT</a:t>
            </a:r>
            <a:br>
              <a:rPr lang="en-US" dirty="0">
                <a:latin typeface="Courier New" panose="02070309020205020404" pitchFamily="49" charset="0"/>
                <a:cs typeface="Courier New" panose="02070309020205020404" pitchFamily="49" charset="0"/>
              </a:rPr>
            </a:br>
            <a:r>
              <a:rPr lang="en-US" dirty="0" err="1">
                <a:latin typeface="Courier New" panose="02070309020205020404" pitchFamily="49" charset="0"/>
                <a:cs typeface="Courier New" panose="02070309020205020404" pitchFamily="49" charset="0"/>
              </a:rPr>
              <a:t>rc</a:t>
            </a:r>
            <a:r>
              <a:rPr lang="en-US" dirty="0">
                <a:latin typeface="Courier New" panose="02070309020205020404" pitchFamily="49" charset="0"/>
                <a:cs typeface="Courier New" panose="02070309020205020404" pitchFamily="49" charset="0"/>
              </a:rPr>
              <a:t>(ATATA)  is TATAT</a:t>
            </a:r>
          </a:p>
        </p:txBody>
      </p:sp>
      <p:sp>
        <p:nvSpPr>
          <p:cNvPr id="4" name="Slide Number Placeholder 3">
            <a:extLst>
              <a:ext uri="{FF2B5EF4-FFF2-40B4-BE49-F238E27FC236}">
                <a16:creationId xmlns:a16="http://schemas.microsoft.com/office/drawing/2014/main" id="{0CA297CC-41DD-C839-9541-EEF153BEC0D8}"/>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2750010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44584-7158-5767-A669-B9816F74B4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1BFC2D-CC9A-E88F-6B4A-A22A4960CE76}"/>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FC50F03A-F6C0-72E9-4068-58A17868CE18}"/>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r>
              <a:rPr lang="en-US" b="1" dirty="0">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 -none</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err="1">
                <a:solidFill>
                  <a:schemeClr val="bg1"/>
                </a:solidFill>
                <a:latin typeface="Courier New" panose="02070309020205020404" pitchFamily="49" charset="0"/>
                <a:cs typeface="Courier New" panose="02070309020205020404" pitchFamily="49" charset="0"/>
              </a:rPr>
              <a:t>none</a:t>
            </a:r>
            <a:r>
              <a:rPr lang="en-US" b="1" dirty="0">
                <a:solidFill>
                  <a:schemeClr val="bg1"/>
                </a:solidFill>
                <a:latin typeface="Courier New" panose="02070309020205020404" pitchFamily="49" charset="0"/>
                <a:cs typeface="Courier New" panose="02070309020205020404" pitchFamily="49" charset="0"/>
              </a:rPr>
              <a:t> C</a:t>
            </a:r>
            <a:r>
              <a:rPr lang="en-US" b="1" dirty="0">
                <a:latin typeface="Courier New" panose="02070309020205020404" pitchFamily="49" charset="0"/>
                <a:cs typeface="Courier New" panose="02070309020205020404" pitchFamily="49" charset="0"/>
              </a:rPr>
              <a:t>     </a:t>
            </a:r>
            <a:r>
              <a:rPr lang="en-US" b="1" dirty="0" err="1">
                <a:solidFill>
                  <a:srgbClr val="00B050"/>
                </a:solidFill>
                <a:latin typeface="Courier New" panose="02070309020205020404" pitchFamily="49" charset="0"/>
                <a:cs typeface="Courier New" panose="02070309020205020404" pitchFamily="49" charset="0"/>
              </a:rPr>
              <a:t>C</a:t>
            </a:r>
            <a:r>
              <a:rPr lang="en-US" b="1" dirty="0">
                <a:latin typeface="Courier New" panose="02070309020205020404" pitchFamily="49" charset="0"/>
                <a:cs typeface="Courier New" panose="02070309020205020404" pitchFamily="49" charset="0"/>
              </a:rPr>
              <a:t> 5</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G     </a:t>
            </a:r>
            <a:r>
              <a:rPr lang="en-US" b="1" dirty="0" err="1">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10</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15 T</a:t>
            </a:r>
            <a:r>
              <a:rPr lang="en-US" b="1" dirty="0">
                <a:latin typeface="Courier New" panose="02070309020205020404" pitchFamily="49" charset="0"/>
                <a:cs typeface="Courier New" panose="02070309020205020404" pitchFamily="49" charset="0"/>
              </a:rPr>
              <a:t>     </a:t>
            </a:r>
            <a:r>
              <a:rPr lang="en-US" b="1" dirty="0" err="1">
                <a:solidFill>
                  <a:srgbClr val="00B05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 -none</a:t>
            </a:r>
          </a:p>
          <a:p>
            <a:endParaRPr lang="en-US" dirty="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4A57329B-D38B-9C37-6373-B408CE97A194}"/>
              </a:ext>
            </a:extLst>
          </p:cNvPr>
          <p:cNvSpPr>
            <a:spLocks noGrp="1"/>
          </p:cNvSpPr>
          <p:nvPr>
            <p:ph type="sldNum" sz="quarter" idx="12"/>
          </p:nvPr>
        </p:nvSpPr>
        <p:spPr/>
        <p:txBody>
          <a:bodyPr/>
          <a:lstStyle/>
          <a:p>
            <a:fld id="{B82CCC60-E8CD-4174-8B1A-7DF615B22EEF}" type="slidenum">
              <a:rPr lang="en-US" smtClean="0"/>
              <a:pPr/>
              <a:t>5</a:t>
            </a:fld>
            <a:endParaRPr lang="en-US"/>
          </a:p>
        </p:txBody>
      </p:sp>
      <p:sp>
        <p:nvSpPr>
          <p:cNvPr id="8" name="Rectangle 7">
            <a:extLst>
              <a:ext uri="{FF2B5EF4-FFF2-40B4-BE49-F238E27FC236}">
                <a16:creationId xmlns:a16="http://schemas.microsoft.com/office/drawing/2014/main" id="{10F6AFA5-D6BD-F8FF-1060-EF9EA547282B}"/>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2133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11F1F-55A4-2922-C733-FCA004FE2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74C55B-E271-79DB-2624-AF209A48FA6D}"/>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91B4E86E-FFB3-6D98-728D-52FD2EEFDA8F}"/>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GACA</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a:t>
            </a:r>
            <a:r>
              <a:rPr lang="en-US" b="1" dirty="0">
                <a:solidFill>
                  <a:srgbClr val="FF0000"/>
                </a:solidFill>
                <a:latin typeface="Courier New" panose="02070309020205020404" pitchFamily="49" charset="0"/>
                <a:cs typeface="Courier New" panose="02070309020205020404" pitchFamily="49" charset="0"/>
              </a:rPr>
              <a:t>GACA</a:t>
            </a:r>
            <a:br>
              <a:rPr lang="en-US" b="1" dirty="0">
                <a:solidFill>
                  <a:srgbClr val="FF0000"/>
                </a:solidFill>
                <a:latin typeface="Courier New" panose="02070309020205020404" pitchFamily="49" charset="0"/>
                <a:cs typeface="Courier New" panose="02070309020205020404" pitchFamily="49" charset="0"/>
              </a:rPr>
            </a:br>
            <a:r>
              <a:rPr lang="en-US" b="1" dirty="0">
                <a:solidFill>
                  <a:srgbClr val="FF0000"/>
                </a:solidFill>
                <a:latin typeface="Courier New" panose="02070309020205020404" pitchFamily="49" charset="0"/>
                <a:cs typeface="Courier New" panose="02070309020205020404" pitchFamily="49" charset="0"/>
              </a:rPr>
              <a:t>                            GACA</a:t>
            </a:r>
            <a:r>
              <a:rPr lang="en-US" b="1" dirty="0">
                <a:solidFill>
                  <a:srgbClr val="00B050"/>
                </a:solidFill>
                <a:latin typeface="Courier New" panose="02070309020205020404" pitchFamily="49" charset="0"/>
                <a:cs typeface="Courier New" panose="02070309020205020404" pitchFamily="49" charset="0"/>
              </a:rPr>
              <a:t>G</a:t>
            </a: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This is a forward “branch”. Stop extending </a:t>
            </a:r>
            <a:r>
              <a:rPr lang="en-US" b="1" dirty="0">
                <a:latin typeface="Courier New" panose="02070309020205020404" pitchFamily="49" charset="0"/>
                <a:cs typeface="Courier New" panose="02070309020205020404" pitchFamily="49" charset="0"/>
              </a:rPr>
              <a:t>AGACA</a:t>
            </a:r>
            <a:r>
              <a:rPr lang="en-US" dirty="0">
                <a:cs typeface="Courier New" panose="02070309020205020404" pitchFamily="49" charset="0"/>
              </a:rPr>
              <a:t> forward and go backward.</a:t>
            </a: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C91350D6-9B46-641C-AA34-295F877B9A3F}"/>
              </a:ext>
            </a:extLst>
          </p:cNvPr>
          <p:cNvSpPr>
            <a:spLocks noGrp="1"/>
          </p:cNvSpPr>
          <p:nvPr>
            <p:ph type="sldNum" sz="quarter" idx="12"/>
          </p:nvPr>
        </p:nvSpPr>
        <p:spPr/>
        <p:txBody>
          <a:bodyPr/>
          <a:lstStyle/>
          <a:p>
            <a:fld id="{B82CCC60-E8CD-4174-8B1A-7DF615B22EEF}" type="slidenum">
              <a:rPr lang="en-US" smtClean="0"/>
              <a:pPr/>
              <a:t>6</a:t>
            </a:fld>
            <a:endParaRPr lang="en-US"/>
          </a:p>
        </p:txBody>
      </p:sp>
      <p:sp>
        <p:nvSpPr>
          <p:cNvPr id="8" name="Rectangle 7">
            <a:extLst>
              <a:ext uri="{FF2B5EF4-FFF2-40B4-BE49-F238E27FC236}">
                <a16:creationId xmlns:a16="http://schemas.microsoft.com/office/drawing/2014/main" id="{83CFE40A-C156-BD9D-9E9F-E5A7E8B31491}"/>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BB922313-FE72-539C-A196-FBBC3C57F084}"/>
              </a:ext>
            </a:extLst>
          </p:cNvPr>
          <p:cNvCxnSpPr/>
          <p:nvPr/>
        </p:nvCxnSpPr>
        <p:spPr>
          <a:xfrm flipV="1">
            <a:off x="6248705" y="342900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8AD8978-1D40-786D-2803-F9BDC491C34B}"/>
              </a:ext>
            </a:extLst>
          </p:cNvPr>
          <p:cNvCxnSpPr>
            <a:cxnSpLocks/>
          </p:cNvCxnSpPr>
          <p:nvPr/>
        </p:nvCxnSpPr>
        <p:spPr>
          <a:xfrm>
            <a:off x="6248705"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804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5B961-0E49-69BD-B55F-405C43168D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4002CB-75F6-0791-2719-2E3B82AE5AC9}"/>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9A9A7CB8-7845-D670-3A75-C8D5266CD882}"/>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A</a:t>
            </a:r>
            <a:r>
              <a:rPr lang="en-US" b="1" dirty="0">
                <a:latin typeface="Courier New" panose="02070309020205020404" pitchFamily="49" charset="0"/>
                <a:cs typeface="Courier New" panose="02070309020205020404" pitchFamily="49" charset="0"/>
              </a:rPr>
              <a:t>         GACAG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C</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15 </a:t>
            </a:r>
            <a:r>
              <a:rPr lang="en-US" b="1" dirty="0">
                <a:solidFill>
                  <a:srgbClr val="00B050"/>
                </a:solidFill>
                <a:latin typeface="Courier New" panose="02070309020205020404" pitchFamily="49" charset="0"/>
                <a:cs typeface="Courier New" panose="02070309020205020404" pitchFamily="49" charset="0"/>
              </a:rPr>
              <a:t>T</a:t>
            </a:r>
            <a:r>
              <a:rPr lang="en-US" b="1" dirty="0">
                <a:latin typeface="Courier New" panose="02070309020205020404" pitchFamily="49" charset="0"/>
                <a:cs typeface="Courier New" panose="02070309020205020404" pitchFamily="49" charset="0"/>
              </a:rPr>
              <a:t> </a:t>
            </a:r>
            <a:r>
              <a:rPr lang="en-US" b="1" dirty="0">
                <a:solidFill>
                  <a:schemeClr val="bg1"/>
                </a:solidFill>
                <a:latin typeface="Courier New" panose="02070309020205020404" pitchFamily="49" charset="0"/>
                <a:cs typeface="Courier New" panose="02070309020205020404" pitchFamily="49" charset="0"/>
              </a:rPr>
              <a:t>none A</a:t>
            </a:r>
            <a:endParaRPr lang="en-US" b="1" dirty="0">
              <a:latin typeface="Courier New" panose="02070309020205020404" pitchFamily="49" charset="0"/>
              <a:cs typeface="Courier New" panose="02070309020205020404" pitchFamily="49" charset="0"/>
            </a:endParaRPr>
          </a:p>
          <a:p>
            <a:pPr marL="0" indent="0">
              <a:buNone/>
            </a:pPr>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522D713C-A3B4-8EDE-D04B-D078C5820225}"/>
              </a:ext>
            </a:extLst>
          </p:cNvPr>
          <p:cNvSpPr>
            <a:spLocks noGrp="1"/>
          </p:cNvSpPr>
          <p:nvPr>
            <p:ph type="sldNum" sz="quarter" idx="12"/>
          </p:nvPr>
        </p:nvSpPr>
        <p:spPr/>
        <p:txBody>
          <a:bodyPr/>
          <a:lstStyle/>
          <a:p>
            <a:fld id="{B82CCC60-E8CD-4174-8B1A-7DF615B22EEF}" type="slidenum">
              <a:rPr lang="en-US" smtClean="0"/>
              <a:pPr/>
              <a:t>7</a:t>
            </a:fld>
            <a:endParaRPr lang="en-US"/>
          </a:p>
        </p:txBody>
      </p:sp>
      <p:sp>
        <p:nvSpPr>
          <p:cNvPr id="8" name="Rectangle 7">
            <a:extLst>
              <a:ext uri="{FF2B5EF4-FFF2-40B4-BE49-F238E27FC236}">
                <a16:creationId xmlns:a16="http://schemas.microsoft.com/office/drawing/2014/main" id="{A7BD51C9-FC86-2C2F-B8DD-BE70A249F183}"/>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932D26F9-6987-B9D1-9FDE-48F837756241}"/>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0E3BA5A-BE33-42AC-5AE6-308EF3008D2B}"/>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336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C0EA3-3246-3BCD-E7F0-A18DD18746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A14460-8AF6-DCCA-F327-079A70A82293}"/>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B416C881-2F85-4121-2E4F-080F9FEA57AC}"/>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T</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  </a:t>
            </a:r>
            <a:r>
              <a:rPr lang="en-US" dirty="0">
                <a:solidFill>
                  <a:schemeClr val="bg1"/>
                </a:solidFill>
                <a:cs typeface="Courier New" panose="02070309020205020404" pitchFamily="49" charset="0"/>
              </a:rPr>
              <a:t>we can collapse the unique edge</a:t>
            </a:r>
            <a:r>
              <a:rPr lang="en-US" dirty="0">
                <a:solidFill>
                  <a:schemeClr val="bg1"/>
                </a:solidFill>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GACAG</a:t>
            </a:r>
            <a:br>
              <a:rPr lang="en-US" b="1" dirty="0">
                <a:latin typeface="Courier New" panose="02070309020205020404" pitchFamily="49" charset="0"/>
                <a:cs typeface="Courier New" panose="02070309020205020404" pitchFamily="49" charset="0"/>
              </a:rPr>
            </a:br>
            <a:r>
              <a:rPr lang="en-US" b="1" dirty="0">
                <a:solidFill>
                  <a:schemeClr val="bg1"/>
                </a:solidFill>
                <a:latin typeface="Courier New" panose="02070309020205020404" pitchFamily="49" charset="0"/>
                <a:cs typeface="Courier New" panose="02070309020205020404" pitchFamily="49" charset="0"/>
              </a:rPr>
              <a:t>none </a:t>
            </a:r>
            <a:r>
              <a:rPr lang="en-US" b="1" dirty="0" err="1">
                <a:solidFill>
                  <a:schemeClr val="bg1"/>
                </a:solidFill>
                <a:latin typeface="Courier New" panose="02070309020205020404" pitchFamily="49" charset="0"/>
                <a:cs typeface="Courier New" panose="02070309020205020404" pitchFamily="49" charset="0"/>
              </a:rPr>
              <a:t>Acolla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C63DE90E-4C53-0541-F51F-0624DABBB6A2}"/>
              </a:ext>
            </a:extLst>
          </p:cNvPr>
          <p:cNvSpPr>
            <a:spLocks noGrp="1"/>
          </p:cNvSpPr>
          <p:nvPr>
            <p:ph type="sldNum" sz="quarter" idx="12"/>
          </p:nvPr>
        </p:nvSpPr>
        <p:spPr/>
        <p:txBody>
          <a:bodyPr/>
          <a:lstStyle/>
          <a:p>
            <a:fld id="{B82CCC60-E8CD-4174-8B1A-7DF615B22EEF}" type="slidenum">
              <a:rPr lang="en-US" smtClean="0"/>
              <a:pPr/>
              <a:t>8</a:t>
            </a:fld>
            <a:endParaRPr lang="en-US"/>
          </a:p>
        </p:txBody>
      </p:sp>
      <p:sp>
        <p:nvSpPr>
          <p:cNvPr id="8" name="Rectangle 7">
            <a:extLst>
              <a:ext uri="{FF2B5EF4-FFF2-40B4-BE49-F238E27FC236}">
                <a16:creationId xmlns:a16="http://schemas.microsoft.com/office/drawing/2014/main" id="{CD4C1F54-F6EE-25E7-D4E3-9C3A3943FA5C}"/>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09659B81-0923-BB9E-922E-BDA747B76E0A}"/>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50715F69-82B7-C0EF-9DE4-A45C4E85F357}"/>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187A064B-0EEC-FD29-63AE-62D9DC418F40}"/>
              </a:ext>
            </a:extLst>
          </p:cNvPr>
          <p:cNvCxnSpPr>
            <a:cxnSpLocks/>
          </p:cNvCxnSpPr>
          <p:nvPr/>
        </p:nvCxnSpPr>
        <p:spPr>
          <a:xfrm flipH="1" flipV="1">
            <a:off x="4305103" y="3734410"/>
            <a:ext cx="458115" cy="3629"/>
          </a:xfrm>
          <a:prstGeom prst="straightConnector1">
            <a:avLst/>
          </a:prstGeom>
          <a:ln>
            <a:headEnd type="non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A39866E-5C4A-65F7-ABE4-B6C5966DB4DE}"/>
              </a:ext>
            </a:extLst>
          </p:cNvPr>
          <p:cNvSpPr txBox="1"/>
          <p:nvPr/>
        </p:nvSpPr>
        <p:spPr>
          <a:xfrm>
            <a:off x="1108036" y="5854134"/>
            <a:ext cx="9792027" cy="1231106"/>
          </a:xfrm>
          <a:prstGeom prst="rect">
            <a:avLst/>
          </a:prstGeom>
          <a:noFill/>
        </p:spPr>
        <p:txBody>
          <a:bodyPr wrap="square" rtlCol="0">
            <a:spAutoFit/>
          </a:bodyPr>
          <a:lstStyle/>
          <a:p>
            <a:r>
              <a:rPr lang="en-US" sz="2800" dirty="0">
                <a:cs typeface="Courier New" panose="02070309020205020404" pitchFamily="49" charset="0"/>
              </a:rPr>
              <a:t>Possibly unique continuation?  Check backward edges of the next k-</a:t>
            </a:r>
            <a:r>
              <a:rPr lang="en-US" sz="2800" dirty="0" err="1">
                <a:cs typeface="Courier New" panose="02070309020205020404" pitchFamily="49" charset="0"/>
              </a:rPr>
              <a:t>mer</a:t>
            </a:r>
            <a:r>
              <a:rPr lang="en-US" sz="2800" dirty="0">
                <a:cs typeface="Courier New" panose="02070309020205020404" pitchFamily="49" charset="0"/>
              </a:rPr>
              <a:t> (</a:t>
            </a:r>
            <a:r>
              <a:rPr lang="en-US" sz="2800" b="1" dirty="0">
                <a:latin typeface="Courier New" panose="02070309020205020404" pitchFamily="49" charset="0"/>
                <a:cs typeface="Courier New" panose="02070309020205020404" pitchFamily="49" charset="0"/>
              </a:rPr>
              <a:t>T</a:t>
            </a:r>
            <a:r>
              <a:rPr lang="en-US" sz="2800" b="1" dirty="0">
                <a:solidFill>
                  <a:srgbClr val="FF0000"/>
                </a:solidFill>
                <a:latin typeface="Courier New" panose="02070309020205020404" pitchFamily="49" charset="0"/>
                <a:cs typeface="Courier New" panose="02070309020205020404" pitchFamily="49" charset="0"/>
              </a:rPr>
              <a:t>AGAC</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2800" dirty="0">
                <a:cs typeface="Courier New" panose="02070309020205020404" pitchFamily="49" charset="0"/>
              </a:rPr>
              <a:t>for possible backward branch</a:t>
            </a:r>
          </a:p>
          <a:p>
            <a:endParaRPr lang="en-US" dirty="0"/>
          </a:p>
        </p:txBody>
      </p:sp>
    </p:spTree>
    <p:extLst>
      <p:ext uri="{BB962C8B-B14F-4D97-AF65-F5344CB8AC3E}">
        <p14:creationId xmlns:p14="http://schemas.microsoft.com/office/powerpoint/2010/main" val="11966922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979DD-BB3A-A32E-EE20-1B761BFDD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125ED-E5E4-A7F0-3D19-57684A568AEE}"/>
              </a:ext>
            </a:extLst>
          </p:cNvPr>
          <p:cNvSpPr>
            <a:spLocks noGrp="1"/>
          </p:cNvSpPr>
          <p:nvPr>
            <p:ph type="title"/>
          </p:nvPr>
        </p:nvSpPr>
        <p:spPr/>
        <p:txBody>
          <a:bodyPr>
            <a:normAutofit fontScale="90000"/>
          </a:bodyPr>
          <a:lstStyle/>
          <a:p>
            <a:r>
              <a:rPr lang="en-US" dirty="0"/>
              <a:t>K-mer graph</a:t>
            </a:r>
          </a:p>
        </p:txBody>
      </p:sp>
      <p:sp>
        <p:nvSpPr>
          <p:cNvPr id="3" name="Content Placeholder 2">
            <a:extLst>
              <a:ext uri="{FF2B5EF4-FFF2-40B4-BE49-F238E27FC236}">
                <a16:creationId xmlns:a16="http://schemas.microsoft.com/office/drawing/2014/main" id="{01F0E3FA-85E7-10C2-05C3-F251A38B346C}"/>
              </a:ext>
            </a:extLst>
          </p:cNvPr>
          <p:cNvSpPr>
            <a:spLocks noGrp="1"/>
          </p:cNvSpPr>
          <p:nvPr>
            <p:ph idx="1"/>
          </p:nvPr>
        </p:nvSpPr>
        <p:spPr>
          <a:xfrm>
            <a:off x="598620" y="1787986"/>
            <a:ext cx="10972800" cy="4389704"/>
          </a:xfrm>
        </p:spPr>
        <p:txBody>
          <a:bodyPr>
            <a:normAutofit/>
          </a:bodyPr>
          <a:lstStyle/>
          <a:p>
            <a:r>
              <a:rPr lang="en-US" dirty="0">
                <a:cs typeface="Courier New" panose="02070309020205020404" pitchFamily="49" charset="0"/>
              </a:rPr>
              <a:t>Let’s build 5-mer graph, 5-mers are nodes and 6-mers are edges. Start with </a:t>
            </a:r>
            <a:r>
              <a:rPr lang="en-US" b="1" dirty="0" err="1">
                <a:latin typeface="Courier New" panose="02070309020205020404" pitchFamily="49" charset="0"/>
                <a:cs typeface="Courier New" panose="02070309020205020404" pitchFamily="49" charset="0"/>
              </a:rPr>
              <a:t>AGACA,</a:t>
            </a:r>
            <a:r>
              <a:rPr lang="en-US" dirty="0" err="1">
                <a:cs typeface="Courier New" panose="02070309020205020404" pitchFamily="49" charset="0"/>
              </a:rPr>
              <a:t>check</a:t>
            </a:r>
            <a:r>
              <a:rPr lang="en-US" dirty="0">
                <a:cs typeface="Courier New" panose="02070309020205020404" pitchFamily="49" charset="0"/>
              </a:rPr>
              <a:t> continuations in both directions</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a:t>
            </a:r>
            <a:r>
              <a:rPr lang="en-US" b="1" dirty="0">
                <a:solidFill>
                  <a:schemeClr val="tx1"/>
                </a:solidFill>
                <a:latin typeface="Courier New" panose="02070309020205020404" pitchFamily="49" charset="0"/>
                <a:cs typeface="Courier New" panose="02070309020205020404" pitchFamily="49" charset="0"/>
              </a:rPr>
              <a:t>GACAC</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T</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AGAC</a:t>
            </a:r>
            <a:r>
              <a:rPr lang="en-US" b="1" dirty="0">
                <a:solidFill>
                  <a:schemeClr val="tx1"/>
                </a:solidFill>
                <a:latin typeface="Courier New" panose="02070309020205020404" pitchFamily="49" charset="0"/>
                <a:cs typeface="Courier New" panose="02070309020205020404" pitchFamily="49" charset="0"/>
              </a:rPr>
              <a:t>A</a:t>
            </a:r>
            <a:br>
              <a:rPr lang="en-US" b="1" dirty="0">
                <a:solidFill>
                  <a:schemeClr val="tx1"/>
                </a:solidFill>
                <a:latin typeface="Courier New" panose="02070309020205020404" pitchFamily="49" charset="0"/>
                <a:cs typeface="Courier New" panose="02070309020205020404" pitchFamily="49" charset="0"/>
              </a:rPr>
            </a:br>
            <a:r>
              <a:rPr lang="en-US" b="1" dirty="0">
                <a:solidFill>
                  <a:schemeClr val="tx1"/>
                </a:solidFill>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  </a:t>
            </a:r>
            <a:r>
              <a:rPr lang="en-US" dirty="0">
                <a:solidFill>
                  <a:schemeClr val="bg1"/>
                </a:solidFill>
                <a:cs typeface="Courier New" panose="02070309020205020404" pitchFamily="49" charset="0"/>
              </a:rPr>
              <a:t>we can </a:t>
            </a:r>
            <a:r>
              <a:rPr lang="en-US" dirty="0" err="1">
                <a:solidFill>
                  <a:schemeClr val="bg1"/>
                </a:solidFill>
                <a:cs typeface="Courier New" panose="02070309020205020404" pitchFamily="49" charset="0"/>
              </a:rPr>
              <a:t>col</a:t>
            </a:r>
            <a:r>
              <a:rPr lang="en-US" b="1" dirty="0" err="1">
                <a:latin typeface="Courier New" panose="02070309020205020404" pitchFamily="49" charset="0"/>
                <a:cs typeface="Courier New" panose="02070309020205020404" pitchFamily="49" charset="0"/>
              </a:rPr>
              <a:t>none</a:t>
            </a:r>
            <a:r>
              <a:rPr lang="en-US" b="1" dirty="0">
                <a:latin typeface="Courier New" panose="02070309020205020404" pitchFamily="49" charset="0"/>
                <a:cs typeface="Courier New" panose="02070309020205020404" pitchFamily="49" charset="0"/>
              </a:rPr>
              <a:t> </a:t>
            </a:r>
            <a:r>
              <a:rPr lang="en-US" b="1" dirty="0">
                <a:solidFill>
                  <a:srgbClr val="00B050"/>
                </a:solidFill>
                <a:latin typeface="Courier New" panose="02070309020205020404" pitchFamily="49" charset="0"/>
                <a:cs typeface="Courier New" panose="02070309020205020404" pitchFamily="49" charset="0"/>
              </a:rPr>
              <a:t>C</a:t>
            </a:r>
            <a:r>
              <a:rPr lang="en-US" b="1" dirty="0">
                <a:latin typeface="Courier New" panose="02070309020205020404" pitchFamily="49" charset="0"/>
                <a:cs typeface="Courier New" panose="02070309020205020404" pitchFamily="49" charset="0"/>
              </a:rPr>
              <a:t>           GACAG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G</a:t>
            </a:r>
            <a:br>
              <a:rPr lang="en-US" b="1" dirty="0">
                <a:latin typeface="Courier New" panose="02070309020205020404" pitchFamily="49" charset="0"/>
                <a:cs typeface="Courier New" panose="02070309020205020404" pitchFamily="49" charset="0"/>
              </a:rPr>
            </a:br>
            <a:r>
              <a:rPr lang="en-US" b="1" dirty="0">
                <a:latin typeface="Courier New" panose="02070309020205020404" pitchFamily="49" charset="0"/>
                <a:cs typeface="Courier New" panose="02070309020205020404" pitchFamily="49" charset="0"/>
              </a:rPr>
              <a:t>          none </a:t>
            </a:r>
            <a:r>
              <a:rPr lang="en-US" b="1" dirty="0">
                <a:solidFill>
                  <a:srgbClr val="00B050"/>
                </a:solidFill>
                <a:latin typeface="Courier New" panose="02070309020205020404" pitchFamily="49" charset="0"/>
                <a:cs typeface="Courier New" panose="02070309020205020404" pitchFamily="49" charset="0"/>
              </a:rPr>
              <a:t>T</a:t>
            </a:r>
            <a:br>
              <a:rPr lang="en-US" b="1" dirty="0">
                <a:latin typeface="Courier New" panose="02070309020205020404" pitchFamily="49" charset="0"/>
                <a:cs typeface="Courier New" panose="02070309020205020404" pitchFamily="49" charset="0"/>
              </a:rPr>
            </a:br>
            <a:r>
              <a:rPr lang="en-US" b="1" dirty="0">
                <a:solidFill>
                  <a:schemeClr val="bg1"/>
                </a:solidFill>
                <a:latin typeface="Courier New" panose="02070309020205020404" pitchFamily="49" charset="0"/>
                <a:cs typeface="Courier New" panose="02070309020205020404" pitchFamily="49" charset="0"/>
              </a:rPr>
              <a:t>none </a:t>
            </a:r>
            <a:r>
              <a:rPr lang="en-US" b="1" dirty="0" err="1">
                <a:solidFill>
                  <a:schemeClr val="bg1"/>
                </a:solidFill>
                <a:latin typeface="Courier New" panose="02070309020205020404" pitchFamily="49" charset="0"/>
                <a:cs typeface="Courier New" panose="02070309020205020404" pitchFamily="49" charset="0"/>
              </a:rPr>
              <a:t>Acolla</a:t>
            </a:r>
            <a:endParaRPr lang="en-US" b="1"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pPr marL="457200" lvl="1" indent="0">
              <a:buNone/>
            </a:pPr>
            <a:endParaRPr lang="en-US" dirty="0"/>
          </a:p>
        </p:txBody>
      </p:sp>
      <p:sp>
        <p:nvSpPr>
          <p:cNvPr id="4" name="Slide Number Placeholder 3">
            <a:extLst>
              <a:ext uri="{FF2B5EF4-FFF2-40B4-BE49-F238E27FC236}">
                <a16:creationId xmlns:a16="http://schemas.microsoft.com/office/drawing/2014/main" id="{E3193D4F-FEF8-3A26-08E9-CC4EA75BC259}"/>
              </a:ext>
            </a:extLst>
          </p:cNvPr>
          <p:cNvSpPr>
            <a:spLocks noGrp="1"/>
          </p:cNvSpPr>
          <p:nvPr>
            <p:ph type="sldNum" sz="quarter" idx="12"/>
          </p:nvPr>
        </p:nvSpPr>
        <p:spPr/>
        <p:txBody>
          <a:bodyPr/>
          <a:lstStyle/>
          <a:p>
            <a:fld id="{B82CCC60-E8CD-4174-8B1A-7DF615B22EEF}" type="slidenum">
              <a:rPr lang="en-US" smtClean="0"/>
              <a:pPr/>
              <a:t>9</a:t>
            </a:fld>
            <a:endParaRPr lang="en-US"/>
          </a:p>
        </p:txBody>
      </p:sp>
      <p:sp>
        <p:nvSpPr>
          <p:cNvPr id="8" name="Rectangle 7">
            <a:extLst>
              <a:ext uri="{FF2B5EF4-FFF2-40B4-BE49-F238E27FC236}">
                <a16:creationId xmlns:a16="http://schemas.microsoft.com/office/drawing/2014/main" id="{3F4487EA-343C-1749-48DF-8ADAFA82F165}"/>
              </a:ext>
            </a:extLst>
          </p:cNvPr>
          <p:cNvSpPr/>
          <p:nvPr/>
        </p:nvSpPr>
        <p:spPr>
          <a:xfrm>
            <a:off x="904100" y="6602350"/>
            <a:ext cx="1221570" cy="3054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857F49CF-7F3C-9080-2499-A28BB2875C69}"/>
              </a:ext>
            </a:extLst>
          </p:cNvPr>
          <p:cNvCxnSpPr/>
          <p:nvPr/>
        </p:nvCxnSpPr>
        <p:spPr>
          <a:xfrm flipV="1">
            <a:off x="6096000" y="3432629"/>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0BAB6B4-650C-95B0-9A43-1F94F48A503F}"/>
              </a:ext>
            </a:extLst>
          </p:cNvPr>
          <p:cNvCxnSpPr>
            <a:cxnSpLocks/>
          </p:cNvCxnSpPr>
          <p:nvPr/>
        </p:nvCxnSpPr>
        <p:spPr>
          <a:xfrm>
            <a:off x="6085020" y="3734410"/>
            <a:ext cx="610820" cy="305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70C25079-28FD-AFEC-8333-09D44E67DF6B}"/>
              </a:ext>
            </a:extLst>
          </p:cNvPr>
          <p:cNvCxnSpPr>
            <a:cxnSpLocks/>
          </p:cNvCxnSpPr>
          <p:nvPr/>
        </p:nvCxnSpPr>
        <p:spPr>
          <a:xfrm flipH="1" flipV="1">
            <a:off x="4305103" y="3734410"/>
            <a:ext cx="458115" cy="3629"/>
          </a:xfrm>
          <a:prstGeom prst="straightConnector1">
            <a:avLst/>
          </a:prstGeom>
          <a:ln>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32DEDC0-0F61-D813-D651-ED99DD2B426B}"/>
              </a:ext>
            </a:extLst>
          </p:cNvPr>
          <p:cNvSpPr txBox="1"/>
          <p:nvPr/>
        </p:nvSpPr>
        <p:spPr>
          <a:xfrm>
            <a:off x="1108036" y="5854134"/>
            <a:ext cx="9792027" cy="1231106"/>
          </a:xfrm>
          <a:prstGeom prst="rect">
            <a:avLst/>
          </a:prstGeom>
          <a:noFill/>
        </p:spPr>
        <p:txBody>
          <a:bodyPr wrap="square" rtlCol="0">
            <a:spAutoFit/>
          </a:bodyPr>
          <a:lstStyle/>
          <a:p>
            <a:r>
              <a:rPr lang="en-US" sz="2800" dirty="0">
                <a:cs typeface="Courier New" panose="02070309020205020404" pitchFamily="49" charset="0"/>
              </a:rPr>
              <a:t>Possibly unique continuation?  Check backward edges of the next k-</a:t>
            </a:r>
            <a:r>
              <a:rPr lang="en-US" sz="2800" dirty="0" err="1">
                <a:cs typeface="Courier New" panose="02070309020205020404" pitchFamily="49" charset="0"/>
              </a:rPr>
              <a:t>mer</a:t>
            </a:r>
            <a:r>
              <a:rPr lang="en-US" sz="2800" dirty="0">
                <a:cs typeface="Courier New" panose="02070309020205020404" pitchFamily="49" charset="0"/>
              </a:rPr>
              <a:t> (</a:t>
            </a:r>
            <a:r>
              <a:rPr lang="en-US" sz="2800" b="1" dirty="0">
                <a:latin typeface="Courier New" panose="02070309020205020404" pitchFamily="49" charset="0"/>
                <a:cs typeface="Courier New" panose="02070309020205020404" pitchFamily="49" charset="0"/>
              </a:rPr>
              <a:t>T</a:t>
            </a:r>
            <a:r>
              <a:rPr lang="en-US" sz="2800" b="1" dirty="0">
                <a:solidFill>
                  <a:srgbClr val="FF0000"/>
                </a:solidFill>
                <a:latin typeface="Courier New" panose="02070309020205020404" pitchFamily="49" charset="0"/>
                <a:cs typeface="Courier New" panose="02070309020205020404" pitchFamily="49" charset="0"/>
              </a:rPr>
              <a:t>AGAC</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 </a:t>
            </a:r>
            <a:r>
              <a:rPr lang="en-US" sz="2800" dirty="0">
                <a:cs typeface="Courier New" panose="02070309020205020404" pitchFamily="49" charset="0"/>
              </a:rPr>
              <a:t>for possible backward branch</a:t>
            </a:r>
          </a:p>
          <a:p>
            <a:endParaRPr lang="en-US" dirty="0"/>
          </a:p>
        </p:txBody>
      </p:sp>
    </p:spTree>
    <p:extLst>
      <p:ext uri="{BB962C8B-B14F-4D97-AF65-F5344CB8AC3E}">
        <p14:creationId xmlns:p14="http://schemas.microsoft.com/office/powerpoint/2010/main" val="557418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77AF-7491-CCC3-A556-A3C64E58FFEF}"/>
              </a:ext>
            </a:extLst>
          </p:cNvPr>
          <p:cNvSpPr>
            <a:spLocks noGrp="1"/>
          </p:cNvSpPr>
          <p:nvPr>
            <p:ph type="title"/>
          </p:nvPr>
        </p:nvSpPr>
        <p:spPr/>
        <p:txBody>
          <a:bodyPr>
            <a:normAutofit fontScale="90000"/>
          </a:bodyPr>
          <a:lstStyle/>
          <a:p>
            <a:r>
              <a:rPr lang="en-US" dirty="0"/>
              <a:t>K-unitigs</a:t>
            </a:r>
          </a:p>
        </p:txBody>
      </p:sp>
      <p:sp>
        <p:nvSpPr>
          <p:cNvPr id="4" name="Slide Number Placeholder 3">
            <a:extLst>
              <a:ext uri="{FF2B5EF4-FFF2-40B4-BE49-F238E27FC236}">
                <a16:creationId xmlns:a16="http://schemas.microsoft.com/office/drawing/2014/main" id="{C567C1F4-CA83-F1A0-E3C7-EDBB2BDE1A38}"/>
              </a:ext>
            </a:extLst>
          </p:cNvPr>
          <p:cNvSpPr>
            <a:spLocks noGrp="1"/>
          </p:cNvSpPr>
          <p:nvPr>
            <p:ph type="sldNum" sz="quarter" idx="12"/>
          </p:nvPr>
        </p:nvSpPr>
        <p:spPr/>
        <p:txBody>
          <a:bodyPr/>
          <a:lstStyle/>
          <a:p>
            <a:fld id="{B82CCC60-E8CD-4174-8B1A-7DF615B22EEF}" type="slidenum">
              <a:rPr lang="en-US" smtClean="0"/>
              <a:pPr/>
              <a:t>10</a:t>
            </a:fld>
            <a:endParaRPr lang="en-US"/>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B5195F40-5685-99D2-B68F-860601FB31DF}"/>
                  </a:ext>
                </a:extLst>
              </p14:cNvPr>
              <p14:cNvContentPartPr/>
              <p14:nvPr/>
            </p14:nvContentPartPr>
            <p14:xfrm>
              <a:off x="3686305" y="3946055"/>
              <a:ext cx="2069280" cy="360"/>
            </p14:xfrm>
          </p:contentPart>
        </mc:Choice>
        <mc:Fallback xmlns="">
          <p:pic>
            <p:nvPicPr>
              <p:cNvPr id="6" name="Ink 5">
                <a:extLst>
                  <a:ext uri="{FF2B5EF4-FFF2-40B4-BE49-F238E27FC236}">
                    <a16:creationId xmlns:a16="http://schemas.microsoft.com/office/drawing/2014/main" id="{B5195F40-5685-99D2-B68F-860601FB31DF}"/>
                  </a:ext>
                </a:extLst>
              </p:cNvPr>
              <p:cNvPicPr/>
              <p:nvPr/>
            </p:nvPicPr>
            <p:blipFill>
              <a:blip r:embed="rId3"/>
              <a:stretch>
                <a:fillRect/>
              </a:stretch>
            </p:blipFill>
            <p:spPr>
              <a:xfrm>
                <a:off x="3680185" y="3939935"/>
                <a:ext cx="20815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5E90ED99-AAF6-A9B6-A1EB-E5A19F8101EC}"/>
                  </a:ext>
                </a:extLst>
              </p14:cNvPr>
              <p14:cNvContentPartPr/>
              <p14:nvPr/>
            </p14:nvContentPartPr>
            <p14:xfrm>
              <a:off x="1754374" y="3772077"/>
              <a:ext cx="2536560" cy="58320"/>
            </p14:xfrm>
          </p:contentPart>
        </mc:Choice>
        <mc:Fallback xmlns="">
          <p:pic>
            <p:nvPicPr>
              <p:cNvPr id="7" name="Ink 6">
                <a:extLst>
                  <a:ext uri="{FF2B5EF4-FFF2-40B4-BE49-F238E27FC236}">
                    <a16:creationId xmlns:a16="http://schemas.microsoft.com/office/drawing/2014/main" id="{5E90ED99-AAF6-A9B6-A1EB-E5A19F8101EC}"/>
                  </a:ext>
                </a:extLst>
              </p:cNvPr>
              <p:cNvPicPr/>
              <p:nvPr/>
            </p:nvPicPr>
            <p:blipFill>
              <a:blip r:embed="rId5"/>
              <a:stretch>
                <a:fillRect/>
              </a:stretch>
            </p:blipFill>
            <p:spPr>
              <a:xfrm>
                <a:off x="1748254" y="3765957"/>
                <a:ext cx="25488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D02BF099-2A0D-FC3B-9C79-AF0A91272ECF}"/>
                  </a:ext>
                </a:extLst>
              </p14:cNvPr>
              <p14:cNvContentPartPr/>
              <p14:nvPr/>
            </p14:nvContentPartPr>
            <p14:xfrm>
              <a:off x="5148094" y="3657597"/>
              <a:ext cx="2520720" cy="91440"/>
            </p14:xfrm>
          </p:contentPart>
        </mc:Choice>
        <mc:Fallback xmlns="">
          <p:pic>
            <p:nvPicPr>
              <p:cNvPr id="8" name="Ink 7">
                <a:extLst>
                  <a:ext uri="{FF2B5EF4-FFF2-40B4-BE49-F238E27FC236}">
                    <a16:creationId xmlns:a16="http://schemas.microsoft.com/office/drawing/2014/main" id="{D02BF099-2A0D-FC3B-9C79-AF0A91272ECF}"/>
                  </a:ext>
                </a:extLst>
              </p:cNvPr>
              <p:cNvPicPr/>
              <p:nvPr/>
            </p:nvPicPr>
            <p:blipFill>
              <a:blip r:embed="rId7"/>
              <a:stretch>
                <a:fillRect/>
              </a:stretch>
            </p:blipFill>
            <p:spPr>
              <a:xfrm>
                <a:off x="5141974" y="3651477"/>
                <a:ext cx="25329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CE7B721D-9BE7-2EFC-6C27-14E403FD38F7}"/>
                  </a:ext>
                </a:extLst>
              </p14:cNvPr>
              <p14:cNvContentPartPr/>
              <p14:nvPr/>
            </p14:nvContentPartPr>
            <p14:xfrm>
              <a:off x="2626654" y="4125957"/>
              <a:ext cx="3923280" cy="1386360"/>
            </p14:xfrm>
          </p:contentPart>
        </mc:Choice>
        <mc:Fallback xmlns="">
          <p:pic>
            <p:nvPicPr>
              <p:cNvPr id="10" name="Ink 9">
                <a:extLst>
                  <a:ext uri="{FF2B5EF4-FFF2-40B4-BE49-F238E27FC236}">
                    <a16:creationId xmlns:a16="http://schemas.microsoft.com/office/drawing/2014/main" id="{CE7B721D-9BE7-2EFC-6C27-14E403FD38F7}"/>
                  </a:ext>
                </a:extLst>
              </p:cNvPr>
              <p:cNvPicPr/>
              <p:nvPr/>
            </p:nvPicPr>
            <p:blipFill>
              <a:blip r:embed="rId9"/>
              <a:stretch>
                <a:fillRect/>
              </a:stretch>
            </p:blipFill>
            <p:spPr>
              <a:xfrm>
                <a:off x="2620534" y="4119837"/>
                <a:ext cx="3935520" cy="1398600"/>
              </a:xfrm>
              <a:prstGeom prst="rect">
                <a:avLst/>
              </a:prstGeom>
            </p:spPr>
          </p:pic>
        </mc:Fallback>
      </mc:AlternateContent>
      <p:sp>
        <p:nvSpPr>
          <p:cNvPr id="11" name="TextBox 10">
            <a:extLst>
              <a:ext uri="{FF2B5EF4-FFF2-40B4-BE49-F238E27FC236}">
                <a16:creationId xmlns:a16="http://schemas.microsoft.com/office/drawing/2014/main" id="{9D1C302C-CB14-9C56-48C1-0F53AD853063}"/>
              </a:ext>
            </a:extLst>
          </p:cNvPr>
          <p:cNvSpPr txBox="1"/>
          <p:nvPr/>
        </p:nvSpPr>
        <p:spPr>
          <a:xfrm>
            <a:off x="3339298" y="3287087"/>
            <a:ext cx="1248996" cy="369332"/>
          </a:xfrm>
          <a:prstGeom prst="rect">
            <a:avLst/>
          </a:prstGeom>
          <a:noFill/>
        </p:spPr>
        <p:txBody>
          <a:bodyPr wrap="none" rtlCol="0">
            <a:spAutoFit/>
          </a:bodyPr>
          <a:lstStyle/>
          <a:p>
            <a:r>
              <a:rPr lang="en-US" dirty="0"/>
              <a:t>K-1 overlap</a:t>
            </a:r>
          </a:p>
        </p:txBody>
      </p:sp>
      <p:sp>
        <p:nvSpPr>
          <p:cNvPr id="12" name="TextBox 11">
            <a:extLst>
              <a:ext uri="{FF2B5EF4-FFF2-40B4-BE49-F238E27FC236}">
                <a16:creationId xmlns:a16="http://schemas.microsoft.com/office/drawing/2014/main" id="{3E78053D-605E-FC74-AFB2-6AF6DC614B6D}"/>
              </a:ext>
            </a:extLst>
          </p:cNvPr>
          <p:cNvSpPr txBox="1"/>
          <p:nvPr/>
        </p:nvSpPr>
        <p:spPr>
          <a:xfrm>
            <a:off x="4847004" y="4147027"/>
            <a:ext cx="1248996" cy="369332"/>
          </a:xfrm>
          <a:prstGeom prst="rect">
            <a:avLst/>
          </a:prstGeom>
          <a:noFill/>
        </p:spPr>
        <p:txBody>
          <a:bodyPr wrap="none" rtlCol="0">
            <a:spAutoFit/>
          </a:bodyPr>
          <a:lstStyle/>
          <a:p>
            <a:r>
              <a:rPr lang="en-US" dirty="0"/>
              <a:t>K-1 overlap</a:t>
            </a:r>
          </a:p>
        </p:txBody>
      </p:sp>
      <p:grpSp>
        <p:nvGrpSpPr>
          <p:cNvPr id="17" name="Group 16">
            <a:extLst>
              <a:ext uri="{FF2B5EF4-FFF2-40B4-BE49-F238E27FC236}">
                <a16:creationId xmlns:a16="http://schemas.microsoft.com/office/drawing/2014/main" id="{8C6B0EA2-E685-111E-D781-493E8CCDDEB1}"/>
              </a:ext>
            </a:extLst>
          </p:cNvPr>
          <p:cNvGrpSpPr/>
          <p:nvPr/>
        </p:nvGrpSpPr>
        <p:grpSpPr>
          <a:xfrm>
            <a:off x="3682174" y="3632397"/>
            <a:ext cx="1491840" cy="691560"/>
            <a:chOff x="3682174" y="3632397"/>
            <a:chExt cx="1491840" cy="691560"/>
          </a:xfrm>
        </p:grpSpPr>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257C59E1-AEA5-01C3-E486-F0AC20EA06D8}"/>
                    </a:ext>
                  </a:extLst>
                </p14:cNvPr>
                <p14:cNvContentPartPr/>
                <p14:nvPr/>
              </p14:nvContentPartPr>
              <p14:xfrm>
                <a:off x="3682174" y="3714837"/>
                <a:ext cx="16920" cy="551520"/>
              </p14:xfrm>
            </p:contentPart>
          </mc:Choice>
          <mc:Fallback xmlns="">
            <p:pic>
              <p:nvPicPr>
                <p:cNvPr id="13" name="Ink 12">
                  <a:extLst>
                    <a:ext uri="{FF2B5EF4-FFF2-40B4-BE49-F238E27FC236}">
                      <a16:creationId xmlns:a16="http://schemas.microsoft.com/office/drawing/2014/main" id="{257C59E1-AEA5-01C3-E486-F0AC20EA06D8}"/>
                    </a:ext>
                  </a:extLst>
                </p:cNvPr>
                <p:cNvPicPr/>
                <p:nvPr/>
              </p:nvPicPr>
              <p:blipFill>
                <a:blip r:embed="rId11"/>
                <a:stretch>
                  <a:fillRect/>
                </a:stretch>
              </p:blipFill>
              <p:spPr>
                <a:xfrm>
                  <a:off x="3676054" y="3708717"/>
                  <a:ext cx="29160" cy="563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1F025D57-8D6A-3B95-D3EA-4E7C6C524904}"/>
                    </a:ext>
                  </a:extLst>
                </p14:cNvPr>
                <p14:cNvContentPartPr/>
                <p14:nvPr/>
              </p14:nvContentPartPr>
              <p14:xfrm>
                <a:off x="4275094" y="3632397"/>
                <a:ext cx="360" cy="691560"/>
              </p14:xfrm>
            </p:contentPart>
          </mc:Choice>
          <mc:Fallback xmlns="">
            <p:pic>
              <p:nvPicPr>
                <p:cNvPr id="14" name="Ink 13">
                  <a:extLst>
                    <a:ext uri="{FF2B5EF4-FFF2-40B4-BE49-F238E27FC236}">
                      <a16:creationId xmlns:a16="http://schemas.microsoft.com/office/drawing/2014/main" id="{1F025D57-8D6A-3B95-D3EA-4E7C6C524904}"/>
                    </a:ext>
                  </a:extLst>
                </p:cNvPr>
                <p:cNvPicPr/>
                <p:nvPr/>
              </p:nvPicPr>
              <p:blipFill>
                <a:blip r:embed="rId13"/>
                <a:stretch>
                  <a:fillRect/>
                </a:stretch>
              </p:blipFill>
              <p:spPr>
                <a:xfrm>
                  <a:off x="4268974" y="3626277"/>
                  <a:ext cx="12600" cy="703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B02F59DF-E64B-54AD-4F0C-7387CB0A2D6B}"/>
                    </a:ext>
                  </a:extLst>
                </p14:cNvPr>
                <p14:cNvContentPartPr/>
                <p14:nvPr/>
              </p14:nvContentPartPr>
              <p14:xfrm>
                <a:off x="5156734" y="3632397"/>
                <a:ext cx="17280" cy="584640"/>
              </p14:xfrm>
            </p:contentPart>
          </mc:Choice>
          <mc:Fallback xmlns="">
            <p:pic>
              <p:nvPicPr>
                <p:cNvPr id="16" name="Ink 15">
                  <a:extLst>
                    <a:ext uri="{FF2B5EF4-FFF2-40B4-BE49-F238E27FC236}">
                      <a16:creationId xmlns:a16="http://schemas.microsoft.com/office/drawing/2014/main" id="{B02F59DF-E64B-54AD-4F0C-7387CB0A2D6B}"/>
                    </a:ext>
                  </a:extLst>
                </p:cNvPr>
                <p:cNvPicPr/>
                <p:nvPr/>
              </p:nvPicPr>
              <p:blipFill>
                <a:blip r:embed="rId15"/>
                <a:stretch>
                  <a:fillRect/>
                </a:stretch>
              </p:blipFill>
              <p:spPr>
                <a:xfrm>
                  <a:off x="5150614" y="3626277"/>
                  <a:ext cx="29520" cy="596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CB240EB3-4BA6-3A2A-7E5C-AFA55658A8B3}"/>
                  </a:ext>
                </a:extLst>
              </p14:cNvPr>
              <p14:cNvContentPartPr/>
              <p14:nvPr/>
            </p14:nvContentPartPr>
            <p14:xfrm>
              <a:off x="5747494" y="3574797"/>
              <a:ext cx="19080" cy="664920"/>
            </p14:xfrm>
          </p:contentPart>
        </mc:Choice>
        <mc:Fallback xmlns="">
          <p:pic>
            <p:nvPicPr>
              <p:cNvPr id="18" name="Ink 17">
                <a:extLst>
                  <a:ext uri="{FF2B5EF4-FFF2-40B4-BE49-F238E27FC236}">
                    <a16:creationId xmlns:a16="http://schemas.microsoft.com/office/drawing/2014/main" id="{CB240EB3-4BA6-3A2A-7E5C-AFA55658A8B3}"/>
                  </a:ext>
                </a:extLst>
              </p:cNvPr>
              <p:cNvPicPr/>
              <p:nvPr/>
            </p:nvPicPr>
            <p:blipFill>
              <a:blip r:embed="rId17"/>
              <a:stretch>
                <a:fillRect/>
              </a:stretch>
            </p:blipFill>
            <p:spPr>
              <a:xfrm>
                <a:off x="5741374" y="3568677"/>
                <a:ext cx="31320" cy="677160"/>
              </a:xfrm>
              <a:prstGeom prst="rect">
                <a:avLst/>
              </a:prstGeom>
            </p:spPr>
          </p:pic>
        </mc:Fallback>
      </mc:AlternateContent>
      <p:sp>
        <p:nvSpPr>
          <p:cNvPr id="19" name="TextBox 18">
            <a:extLst>
              <a:ext uri="{FF2B5EF4-FFF2-40B4-BE49-F238E27FC236}">
                <a16:creationId xmlns:a16="http://schemas.microsoft.com/office/drawing/2014/main" id="{71B6902E-925E-6DEB-0EE9-079BC1A79AAC}"/>
              </a:ext>
            </a:extLst>
          </p:cNvPr>
          <p:cNvSpPr txBox="1"/>
          <p:nvPr/>
        </p:nvSpPr>
        <p:spPr>
          <a:xfrm>
            <a:off x="2158314" y="2224216"/>
            <a:ext cx="4421980" cy="369332"/>
          </a:xfrm>
          <a:prstGeom prst="rect">
            <a:avLst/>
          </a:prstGeom>
          <a:noFill/>
        </p:spPr>
        <p:txBody>
          <a:bodyPr wrap="none" rtlCol="0">
            <a:spAutoFit/>
          </a:bodyPr>
          <a:lstStyle/>
          <a:p>
            <a:r>
              <a:rPr lang="en-US" dirty="0"/>
              <a:t>This graph contains five K-unitigs (black lines)</a:t>
            </a:r>
          </a:p>
        </p:txBody>
      </p:sp>
    </p:spTree>
    <p:extLst>
      <p:ext uri="{BB962C8B-B14F-4D97-AF65-F5344CB8AC3E}">
        <p14:creationId xmlns:p14="http://schemas.microsoft.com/office/powerpoint/2010/main" val="3708846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0E696-3194-8687-498E-95AFC5828AB7}"/>
              </a:ext>
            </a:extLst>
          </p:cNvPr>
          <p:cNvSpPr>
            <a:spLocks noGrp="1"/>
          </p:cNvSpPr>
          <p:nvPr>
            <p:ph type="title"/>
          </p:nvPr>
        </p:nvSpPr>
        <p:spPr/>
        <p:txBody>
          <a:bodyPr>
            <a:normAutofit fontScale="90000"/>
          </a:bodyPr>
          <a:lstStyle/>
          <a:p>
            <a:r>
              <a:rPr lang="en-US" dirty="0"/>
              <a:t>Evaluating genome assemblies: size</a:t>
            </a:r>
          </a:p>
        </p:txBody>
      </p:sp>
      <p:sp>
        <p:nvSpPr>
          <p:cNvPr id="3" name="Content Placeholder 2">
            <a:extLst>
              <a:ext uri="{FF2B5EF4-FFF2-40B4-BE49-F238E27FC236}">
                <a16:creationId xmlns:a16="http://schemas.microsoft.com/office/drawing/2014/main" id="{61A3053A-036F-9647-F1E1-0BBB7F3C06C8}"/>
              </a:ext>
            </a:extLst>
          </p:cNvPr>
          <p:cNvSpPr>
            <a:spLocks noGrp="1"/>
          </p:cNvSpPr>
          <p:nvPr>
            <p:ph idx="1"/>
          </p:nvPr>
        </p:nvSpPr>
        <p:spPr>
          <a:xfrm>
            <a:off x="598620" y="1596540"/>
            <a:ext cx="10972800" cy="4993730"/>
          </a:xfrm>
        </p:spPr>
        <p:txBody>
          <a:bodyPr>
            <a:normAutofit fontScale="92500" lnSpcReduction="10000"/>
          </a:bodyPr>
          <a:lstStyle/>
          <a:p>
            <a:r>
              <a:rPr lang="en-US" dirty="0"/>
              <a:t>Most eukaryotic genomes are diploid or polyploid:</a:t>
            </a:r>
          </a:p>
          <a:p>
            <a:pPr lvl="1"/>
            <a:r>
              <a:rPr lang="en-US" dirty="0"/>
              <a:t>One chromosome from each parent</a:t>
            </a:r>
          </a:p>
          <a:p>
            <a:r>
              <a:rPr lang="en-US" dirty="0"/>
              <a:t>Estimated genome size is typically counting each chromosome ONCE</a:t>
            </a:r>
          </a:p>
          <a:p>
            <a:pPr lvl="1"/>
            <a:r>
              <a:rPr lang="en-US" dirty="0"/>
              <a:t>Human genome size is ~3.2G bp</a:t>
            </a:r>
          </a:p>
          <a:p>
            <a:r>
              <a:rPr lang="en-US" dirty="0"/>
              <a:t>Traditional pseudo-haploid genome assembly is a mosaic of two haplotypes</a:t>
            </a:r>
          </a:p>
          <a:p>
            <a:r>
              <a:rPr lang="en-US" dirty="0"/>
              <a:t>Total sequence in the assembly:</a:t>
            </a:r>
          </a:p>
          <a:p>
            <a:pPr lvl="1"/>
            <a:r>
              <a:rPr lang="en-US" dirty="0"/>
              <a:t>&lt;&lt; Estimated genome size: incomplete assembly, possibly due to insufficient sequencing depth, collapsed repeats, elimination of short contigs</a:t>
            </a:r>
          </a:p>
          <a:p>
            <a:pPr lvl="1"/>
            <a:r>
              <a:rPr lang="en-US" dirty="0"/>
              <a:t>&gt;&gt;Estimated genome size: redundant assembly, possibly due to extra haplotype variants for heterozygous diploid/polyploid genomes</a:t>
            </a:r>
          </a:p>
        </p:txBody>
      </p:sp>
      <p:sp>
        <p:nvSpPr>
          <p:cNvPr id="4" name="Slide Number Placeholder 3">
            <a:extLst>
              <a:ext uri="{FF2B5EF4-FFF2-40B4-BE49-F238E27FC236}">
                <a16:creationId xmlns:a16="http://schemas.microsoft.com/office/drawing/2014/main" id="{CCB6465A-F05A-3196-410B-4DF67A470B85}"/>
              </a:ext>
            </a:extLst>
          </p:cNvPr>
          <p:cNvSpPr>
            <a:spLocks noGrp="1"/>
          </p:cNvSpPr>
          <p:nvPr>
            <p:ph type="sldNum" sz="quarter" idx="12"/>
          </p:nvPr>
        </p:nvSpPr>
        <p:spPr/>
        <p:txBody>
          <a:bodyPr/>
          <a:lstStyle/>
          <a:p>
            <a:fld id="{B82CCC60-E8CD-4174-8B1A-7DF615B22EEF}" type="slidenum">
              <a:rPr lang="en-US" smtClean="0"/>
              <a:pPr/>
              <a:t>11</a:t>
            </a:fld>
            <a:endParaRPr lang="en-US"/>
          </a:p>
        </p:txBody>
      </p:sp>
    </p:spTree>
    <p:extLst>
      <p:ext uri="{BB962C8B-B14F-4D97-AF65-F5344CB8AC3E}">
        <p14:creationId xmlns:p14="http://schemas.microsoft.com/office/powerpoint/2010/main" val="1667543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A9D65-5E74-4096-FCCE-0AFE90FEADB0}"/>
              </a:ext>
            </a:extLst>
          </p:cNvPr>
          <p:cNvSpPr>
            <a:spLocks noGrp="1"/>
          </p:cNvSpPr>
          <p:nvPr>
            <p:ph type="title"/>
          </p:nvPr>
        </p:nvSpPr>
        <p:spPr/>
        <p:txBody>
          <a:bodyPr>
            <a:normAutofit fontScale="90000"/>
          </a:bodyPr>
          <a:lstStyle/>
          <a:p>
            <a:r>
              <a:rPr lang="en-US" dirty="0"/>
              <a:t>Evaluating genome assemblies: N50</a:t>
            </a:r>
          </a:p>
        </p:txBody>
      </p:sp>
      <p:sp>
        <p:nvSpPr>
          <p:cNvPr id="3" name="Content Placeholder 2">
            <a:extLst>
              <a:ext uri="{FF2B5EF4-FFF2-40B4-BE49-F238E27FC236}">
                <a16:creationId xmlns:a16="http://schemas.microsoft.com/office/drawing/2014/main" id="{41AFC0A8-DB69-4617-0196-751896668947}"/>
              </a:ext>
            </a:extLst>
          </p:cNvPr>
          <p:cNvSpPr>
            <a:spLocks noGrp="1"/>
          </p:cNvSpPr>
          <p:nvPr>
            <p:ph idx="1"/>
          </p:nvPr>
        </p:nvSpPr>
        <p:spPr>
          <a:xfrm>
            <a:off x="598620" y="1596540"/>
            <a:ext cx="10983780" cy="4886560"/>
          </a:xfrm>
        </p:spPr>
        <p:txBody>
          <a:bodyPr>
            <a:normAutofit/>
          </a:bodyPr>
          <a:lstStyle/>
          <a:p>
            <a:r>
              <a:rPr lang="en-US" dirty="0"/>
              <a:t>N50 metric: the length of the shortest contig (scaffold) for which longer or equal length contigs (scaffolds) contain at least 50% of the total assembly</a:t>
            </a:r>
            <a:br>
              <a:rPr lang="en-US" dirty="0"/>
            </a:br>
            <a:endParaRPr lang="en-US" dirty="0"/>
          </a:p>
          <a:p>
            <a:endParaRPr lang="en-US" dirty="0"/>
          </a:p>
          <a:p>
            <a:endParaRPr lang="en-US" dirty="0"/>
          </a:p>
          <a:p>
            <a:endParaRPr lang="en-US" dirty="0"/>
          </a:p>
          <a:p>
            <a:r>
              <a:rPr lang="en-US" dirty="0"/>
              <a:t>NG50 -- N50 that uses estimated genome size instead of assembly size</a:t>
            </a:r>
          </a:p>
          <a:p>
            <a:pPr marL="0" indent="0">
              <a:buNone/>
            </a:pPr>
            <a:endParaRPr lang="en-US" dirty="0"/>
          </a:p>
        </p:txBody>
      </p:sp>
      <p:sp>
        <p:nvSpPr>
          <p:cNvPr id="4" name="Slide Number Placeholder 3">
            <a:extLst>
              <a:ext uri="{FF2B5EF4-FFF2-40B4-BE49-F238E27FC236}">
                <a16:creationId xmlns:a16="http://schemas.microsoft.com/office/drawing/2014/main" id="{99C79175-30EF-A9B8-46AF-E24F821CFBC5}"/>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6" name="Picture 5">
            <a:extLst>
              <a:ext uri="{FF2B5EF4-FFF2-40B4-BE49-F238E27FC236}">
                <a16:creationId xmlns:a16="http://schemas.microsoft.com/office/drawing/2014/main" id="{0861BEC8-5D46-B6BF-022A-2933302C0F72}"/>
              </a:ext>
            </a:extLst>
          </p:cNvPr>
          <p:cNvPicPr>
            <a:picLocks noChangeAspect="1"/>
          </p:cNvPicPr>
          <p:nvPr/>
        </p:nvPicPr>
        <p:blipFill>
          <a:blip r:embed="rId2"/>
          <a:stretch>
            <a:fillRect/>
          </a:stretch>
        </p:blipFill>
        <p:spPr>
          <a:xfrm>
            <a:off x="1056734" y="2979036"/>
            <a:ext cx="6163535" cy="1905266"/>
          </a:xfrm>
          <a:prstGeom prst="rect">
            <a:avLst/>
          </a:prstGeom>
        </p:spPr>
      </p:pic>
      <p:sp>
        <p:nvSpPr>
          <p:cNvPr id="7" name="TextBox 6">
            <a:extLst>
              <a:ext uri="{FF2B5EF4-FFF2-40B4-BE49-F238E27FC236}">
                <a16:creationId xmlns:a16="http://schemas.microsoft.com/office/drawing/2014/main" id="{EB10CDC3-E268-801B-8E36-C2BCDE635662}"/>
              </a:ext>
            </a:extLst>
          </p:cNvPr>
          <p:cNvSpPr txBox="1"/>
          <p:nvPr/>
        </p:nvSpPr>
        <p:spPr>
          <a:xfrm>
            <a:off x="7552078" y="3747003"/>
            <a:ext cx="3698513" cy="369332"/>
          </a:xfrm>
          <a:prstGeom prst="rect">
            <a:avLst/>
          </a:prstGeom>
          <a:noFill/>
        </p:spPr>
        <p:txBody>
          <a:bodyPr wrap="none" rtlCol="0">
            <a:spAutoFit/>
          </a:bodyPr>
          <a:lstStyle/>
          <a:p>
            <a:r>
              <a:rPr lang="en-US" dirty="0"/>
              <a:t>Image credit: molecularecologist.com</a:t>
            </a:r>
          </a:p>
        </p:txBody>
      </p:sp>
    </p:spTree>
    <p:extLst>
      <p:ext uri="{BB962C8B-B14F-4D97-AF65-F5344CB8AC3E}">
        <p14:creationId xmlns:p14="http://schemas.microsoft.com/office/powerpoint/2010/main" val="224006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A742E-0489-0D25-ACAF-8E1AA45AD934}"/>
              </a:ext>
            </a:extLst>
          </p:cNvPr>
          <p:cNvSpPr>
            <a:spLocks noGrp="1"/>
          </p:cNvSpPr>
          <p:nvPr>
            <p:ph type="title"/>
          </p:nvPr>
        </p:nvSpPr>
        <p:spPr/>
        <p:txBody>
          <a:bodyPr>
            <a:normAutofit fontScale="90000"/>
          </a:bodyPr>
          <a:lstStyle/>
          <a:p>
            <a:r>
              <a:rPr lang="en-US" dirty="0"/>
              <a:t>Note about N50</a:t>
            </a:r>
          </a:p>
        </p:txBody>
      </p:sp>
      <p:sp>
        <p:nvSpPr>
          <p:cNvPr id="3" name="Content Placeholder 2">
            <a:extLst>
              <a:ext uri="{FF2B5EF4-FFF2-40B4-BE49-F238E27FC236}">
                <a16:creationId xmlns:a16="http://schemas.microsoft.com/office/drawing/2014/main" id="{C411C768-DA8E-3001-5BAE-07FE359BD566}"/>
              </a:ext>
            </a:extLst>
          </p:cNvPr>
          <p:cNvSpPr>
            <a:spLocks noGrp="1"/>
          </p:cNvSpPr>
          <p:nvPr>
            <p:ph idx="1"/>
          </p:nvPr>
        </p:nvSpPr>
        <p:spPr>
          <a:xfrm>
            <a:off x="598620" y="1596540"/>
            <a:ext cx="10972800" cy="5059633"/>
          </a:xfrm>
        </p:spPr>
        <p:txBody>
          <a:bodyPr>
            <a:normAutofit lnSpcReduction="10000"/>
          </a:bodyPr>
          <a:lstStyle/>
          <a:p>
            <a:r>
              <a:rPr lang="en-US" dirty="0"/>
              <a:t>N50 may be unstable when there are only few big contigs in the assembly.  For example, for 100Kb genome: </a:t>
            </a:r>
          </a:p>
          <a:p>
            <a:pPr lvl="1"/>
            <a:r>
              <a:rPr lang="en-US" dirty="0"/>
              <a:t>55,25,20 yields N50 of 55</a:t>
            </a:r>
          </a:p>
          <a:p>
            <a:pPr lvl="1"/>
            <a:r>
              <a:rPr lang="en-US" dirty="0"/>
              <a:t>40,35,25 yields N50 of 35</a:t>
            </a:r>
          </a:p>
          <a:p>
            <a:r>
              <a:rPr lang="en-US" dirty="0"/>
              <a:t>When comparing two assemblies’ N50s, one must use the same assembly size.  Using smaller assembly size boosts N50:</a:t>
            </a:r>
          </a:p>
          <a:p>
            <a:pPr lvl="1"/>
            <a:r>
              <a:rPr lang="en-US" dirty="0"/>
              <a:t>Contigs:</a:t>
            </a:r>
            <a:br>
              <a:rPr lang="en-US" dirty="0"/>
            </a:br>
            <a:r>
              <a:rPr lang="en-US" dirty="0"/>
              <a:t>70, 60, 50, 30, 20, 10, 10,10, 5, 5, 5, 5 sum=280</a:t>
            </a:r>
          </a:p>
          <a:p>
            <a:pPr lvl="1"/>
            <a:r>
              <a:rPr lang="en-US" dirty="0"/>
              <a:t>N50(G=280)=50, N50(G=260)=60</a:t>
            </a:r>
          </a:p>
          <a:p>
            <a:r>
              <a:rPr lang="en-US" dirty="0"/>
              <a:t>Use NG50 – N50 with a fixed G (genome size). NG50 is fair when comparing two assemblies of the same organism</a:t>
            </a:r>
          </a:p>
        </p:txBody>
      </p:sp>
      <p:sp>
        <p:nvSpPr>
          <p:cNvPr id="4" name="Slide Number Placeholder 3">
            <a:extLst>
              <a:ext uri="{FF2B5EF4-FFF2-40B4-BE49-F238E27FC236}">
                <a16:creationId xmlns:a16="http://schemas.microsoft.com/office/drawing/2014/main" id="{85A78874-5C2F-714E-A4F0-D6801BDC8D54}"/>
              </a:ext>
            </a:extLst>
          </p:cNvPr>
          <p:cNvSpPr>
            <a:spLocks noGrp="1"/>
          </p:cNvSpPr>
          <p:nvPr>
            <p:ph type="sldNum" sz="quarter" idx="12"/>
          </p:nvPr>
        </p:nvSpPr>
        <p:spPr/>
        <p:txBody>
          <a:bodyPr/>
          <a:lstStyle/>
          <a:p>
            <a:fld id="{B82CCC60-E8CD-4174-8B1A-7DF615B22EEF}" type="slidenum">
              <a:rPr lang="en-US" smtClean="0"/>
              <a:pPr/>
              <a:t>13</a:t>
            </a:fld>
            <a:endParaRPr lang="en-US"/>
          </a:p>
        </p:txBody>
      </p:sp>
    </p:spTree>
    <p:extLst>
      <p:ext uri="{BB962C8B-B14F-4D97-AF65-F5344CB8AC3E}">
        <p14:creationId xmlns:p14="http://schemas.microsoft.com/office/powerpoint/2010/main" val="277059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11395-0710-2617-0310-43CF7DC6F974}"/>
              </a:ext>
            </a:extLst>
          </p:cNvPr>
          <p:cNvSpPr>
            <a:spLocks noGrp="1"/>
          </p:cNvSpPr>
          <p:nvPr>
            <p:ph type="title"/>
          </p:nvPr>
        </p:nvSpPr>
        <p:spPr/>
        <p:txBody>
          <a:bodyPr>
            <a:normAutofit fontScale="90000"/>
          </a:bodyPr>
          <a:lstStyle/>
          <a:p>
            <a:r>
              <a:rPr lang="en-US" dirty="0"/>
              <a:t>Evaluating genome assemblies: error rate</a:t>
            </a:r>
          </a:p>
        </p:txBody>
      </p:sp>
      <p:sp>
        <p:nvSpPr>
          <p:cNvPr id="3" name="Content Placeholder 2">
            <a:extLst>
              <a:ext uri="{FF2B5EF4-FFF2-40B4-BE49-F238E27FC236}">
                <a16:creationId xmlns:a16="http://schemas.microsoft.com/office/drawing/2014/main" id="{E21DC175-1CBB-2D6E-EAA8-F29A03663CAE}"/>
              </a:ext>
            </a:extLst>
          </p:cNvPr>
          <p:cNvSpPr>
            <a:spLocks noGrp="1"/>
          </p:cNvSpPr>
          <p:nvPr>
            <p:ph idx="1"/>
          </p:nvPr>
        </p:nvSpPr>
        <p:spPr/>
        <p:txBody>
          <a:bodyPr/>
          <a:lstStyle/>
          <a:p>
            <a:r>
              <a:rPr lang="en-US" dirty="0"/>
              <a:t>Consensus error rate can be estimated by aligning accurate reads from the same organism to the assembly</a:t>
            </a:r>
          </a:p>
          <a:p>
            <a:r>
              <a:rPr lang="en-US" dirty="0"/>
              <a:t>Can use the original reads</a:t>
            </a:r>
          </a:p>
          <a:p>
            <a:r>
              <a:rPr lang="en-US" dirty="0"/>
              <a:t>Suitable reads: Illumina and PacBio HiFi</a:t>
            </a:r>
          </a:p>
          <a:p>
            <a:r>
              <a:rPr lang="en-US" dirty="0"/>
              <a:t>Can use alignment-based approach (POLCA) or k-mer based approach (Merqury)</a:t>
            </a:r>
          </a:p>
        </p:txBody>
      </p:sp>
      <p:sp>
        <p:nvSpPr>
          <p:cNvPr id="4" name="Slide Number Placeholder 3">
            <a:extLst>
              <a:ext uri="{FF2B5EF4-FFF2-40B4-BE49-F238E27FC236}">
                <a16:creationId xmlns:a16="http://schemas.microsoft.com/office/drawing/2014/main" id="{DCCD2041-FF80-2312-CD6C-2E1BF3F2BC5D}"/>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6" name="Picture 5">
            <a:extLst>
              <a:ext uri="{FF2B5EF4-FFF2-40B4-BE49-F238E27FC236}">
                <a16:creationId xmlns:a16="http://schemas.microsoft.com/office/drawing/2014/main" id="{F95CFA57-E95B-39DB-BA19-0B88C4272A87}"/>
              </a:ext>
            </a:extLst>
          </p:cNvPr>
          <p:cNvPicPr>
            <a:picLocks noChangeAspect="1"/>
          </p:cNvPicPr>
          <p:nvPr/>
        </p:nvPicPr>
        <p:blipFill>
          <a:blip r:embed="rId2"/>
          <a:stretch>
            <a:fillRect/>
          </a:stretch>
        </p:blipFill>
        <p:spPr>
          <a:xfrm>
            <a:off x="620580" y="4543104"/>
            <a:ext cx="4365056" cy="2314896"/>
          </a:xfrm>
          <a:prstGeom prst="rect">
            <a:avLst/>
          </a:prstGeom>
        </p:spPr>
      </p:pic>
      <p:pic>
        <p:nvPicPr>
          <p:cNvPr id="8" name="Picture 7">
            <a:extLst>
              <a:ext uri="{FF2B5EF4-FFF2-40B4-BE49-F238E27FC236}">
                <a16:creationId xmlns:a16="http://schemas.microsoft.com/office/drawing/2014/main" id="{2C24CF6B-F282-6E61-5677-F4F529FB879C}"/>
              </a:ext>
            </a:extLst>
          </p:cNvPr>
          <p:cNvPicPr>
            <a:picLocks noChangeAspect="1"/>
          </p:cNvPicPr>
          <p:nvPr/>
        </p:nvPicPr>
        <p:blipFill>
          <a:blip r:embed="rId3"/>
          <a:stretch>
            <a:fillRect/>
          </a:stretch>
        </p:blipFill>
        <p:spPr>
          <a:xfrm>
            <a:off x="5624138" y="4543104"/>
            <a:ext cx="5323551" cy="2314896"/>
          </a:xfrm>
          <a:prstGeom prst="rect">
            <a:avLst/>
          </a:prstGeom>
        </p:spPr>
      </p:pic>
    </p:spTree>
    <p:extLst>
      <p:ext uri="{BB962C8B-B14F-4D97-AF65-F5344CB8AC3E}">
        <p14:creationId xmlns:p14="http://schemas.microsoft.com/office/powerpoint/2010/main" val="3005206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96CFB-AA69-39DB-3059-D72E8D3EB5F5}"/>
              </a:ext>
            </a:extLst>
          </p:cNvPr>
          <p:cNvSpPr>
            <a:spLocks noGrp="1"/>
          </p:cNvSpPr>
          <p:nvPr>
            <p:ph type="title"/>
          </p:nvPr>
        </p:nvSpPr>
        <p:spPr/>
        <p:txBody>
          <a:bodyPr>
            <a:normAutofit fontScale="90000"/>
          </a:bodyPr>
          <a:lstStyle/>
          <a:p>
            <a:r>
              <a:rPr lang="en-US" dirty="0"/>
              <a:t>K-</a:t>
            </a:r>
            <a:r>
              <a:rPr lang="en-US" dirty="0" err="1"/>
              <a:t>unitig</a:t>
            </a:r>
            <a:r>
              <a:rPr lang="en-US" dirty="0"/>
              <a:t> algorithm</a:t>
            </a:r>
          </a:p>
        </p:txBody>
      </p:sp>
      <p:sp>
        <p:nvSpPr>
          <p:cNvPr id="3" name="Content Placeholder 2">
            <a:extLst>
              <a:ext uri="{FF2B5EF4-FFF2-40B4-BE49-F238E27FC236}">
                <a16:creationId xmlns:a16="http://schemas.microsoft.com/office/drawing/2014/main" id="{95EA561C-7246-B688-8D53-ABDEA0A555F5}"/>
              </a:ext>
            </a:extLst>
          </p:cNvPr>
          <p:cNvSpPr>
            <a:spLocks noGrp="1"/>
          </p:cNvSpPr>
          <p:nvPr>
            <p:ph idx="1"/>
          </p:nvPr>
        </p:nvSpPr>
        <p:spPr/>
        <p:txBody>
          <a:bodyPr>
            <a:normAutofit fontScale="85000" lnSpcReduction="20000"/>
          </a:bodyPr>
          <a:lstStyle/>
          <a:p>
            <a:r>
              <a:rPr lang="en-US" dirty="0"/>
              <a:t>ATG 1</a:t>
            </a:r>
          </a:p>
          <a:p>
            <a:r>
              <a:rPr lang="en-US" dirty="0"/>
              <a:t>TGA  TCA 1</a:t>
            </a:r>
          </a:p>
          <a:p>
            <a:r>
              <a:rPr lang="en-US" dirty="0"/>
              <a:t>ATC 1</a:t>
            </a:r>
          </a:p>
          <a:p>
            <a:r>
              <a:rPr lang="en-US" dirty="0"/>
              <a:t>(</a:t>
            </a:r>
            <a:r>
              <a:rPr lang="en-US" dirty="0">
                <a:solidFill>
                  <a:srgbClr val="00B050"/>
                </a:solidFill>
              </a:rPr>
              <a:t>a</a:t>
            </a:r>
            <a:r>
              <a:rPr lang="en-US" dirty="0"/>
              <a:t>,,,)TG(</a:t>
            </a:r>
            <a:r>
              <a:rPr lang="en-US" dirty="0">
                <a:solidFill>
                  <a:srgbClr val="00B050"/>
                </a:solidFill>
              </a:rPr>
              <a:t>a</a:t>
            </a:r>
            <a:r>
              <a:rPr lang="en-US" dirty="0"/>
              <a:t>,,,) -&gt; ATGA(</a:t>
            </a:r>
            <a:r>
              <a:rPr lang="en-US" dirty="0" err="1"/>
              <a:t>a,c,g,t</a:t>
            </a:r>
            <a:r>
              <a:rPr lang="en-US" dirty="0"/>
              <a:t>)</a:t>
            </a:r>
          </a:p>
          <a:p>
            <a:r>
              <a:rPr lang="en-US" dirty="0"/>
              <a:t>(</a:t>
            </a:r>
            <a:r>
              <a:rPr lang="en-US" dirty="0" err="1"/>
              <a:t>a,c,g,t</a:t>
            </a:r>
            <a:r>
              <a:rPr lang="en-US" dirty="0"/>
              <a:t>)ATG</a:t>
            </a:r>
          </a:p>
          <a:p>
            <a:r>
              <a:rPr lang="en-US" dirty="0"/>
              <a:t>ATC</a:t>
            </a:r>
          </a:p>
          <a:p>
            <a:r>
              <a:rPr lang="en-US" dirty="0"/>
              <a:t>For b in [ACGT]:</a:t>
            </a:r>
          </a:p>
          <a:p>
            <a:pPr marL="457200" lvl="1" indent="0">
              <a:buNone/>
            </a:pPr>
            <a:r>
              <a:rPr lang="en-US" dirty="0" err="1"/>
              <a:t>Continuation_f</a:t>
            </a:r>
            <a:r>
              <a:rPr lang="en-US" dirty="0"/>
              <a:t>=</a:t>
            </a:r>
            <a:r>
              <a:rPr lang="en-US" dirty="0" err="1"/>
              <a:t>suffix+b</a:t>
            </a:r>
            <a:endParaRPr lang="en-US" dirty="0"/>
          </a:p>
          <a:p>
            <a:pPr marL="457200" lvl="1" indent="0">
              <a:buNone/>
            </a:pPr>
            <a:r>
              <a:rPr lang="en-US" dirty="0" err="1"/>
              <a:t>Continuation_b</a:t>
            </a:r>
            <a:r>
              <a:rPr lang="en-US" dirty="0"/>
              <a:t>=</a:t>
            </a:r>
            <a:r>
              <a:rPr lang="en-US" dirty="0" err="1"/>
              <a:t>b+suffix</a:t>
            </a:r>
            <a:endParaRPr lang="en-US" dirty="0"/>
          </a:p>
          <a:p>
            <a:pPr marL="457200" lvl="1" indent="0">
              <a:buNone/>
            </a:pPr>
            <a:r>
              <a:rPr lang="en-US" dirty="0"/>
              <a:t>If(</a:t>
            </a:r>
            <a:r>
              <a:rPr lang="en-US" dirty="0" err="1"/>
              <a:t>canonical_kmer</a:t>
            </a:r>
            <a:r>
              <a:rPr lang="en-US" dirty="0"/>
              <a:t>(</a:t>
            </a:r>
          </a:p>
          <a:p>
            <a:pPr marL="457200" lvl="1" indent="0">
              <a:buNone/>
            </a:pPr>
            <a:endParaRPr lang="en-US" dirty="0"/>
          </a:p>
        </p:txBody>
      </p:sp>
      <p:sp>
        <p:nvSpPr>
          <p:cNvPr id="4" name="Slide Number Placeholder 3">
            <a:extLst>
              <a:ext uri="{FF2B5EF4-FFF2-40B4-BE49-F238E27FC236}">
                <a16:creationId xmlns:a16="http://schemas.microsoft.com/office/drawing/2014/main" id="{6B2B0DEF-ACC1-3F18-856A-A85E36A95D87}"/>
              </a:ext>
            </a:extLst>
          </p:cNvPr>
          <p:cNvSpPr>
            <a:spLocks noGrp="1"/>
          </p:cNvSpPr>
          <p:nvPr>
            <p:ph type="sldNum" sz="quarter" idx="12"/>
          </p:nvPr>
        </p:nvSpPr>
        <p:spPr/>
        <p:txBody>
          <a:bodyPr/>
          <a:lstStyle/>
          <a:p>
            <a:fld id="{B82CCC60-E8CD-4174-8B1A-7DF615B22EEF}" type="slidenum">
              <a:rPr lang="en-US" smtClean="0"/>
              <a:pPr/>
              <a:t>15</a:t>
            </a:fld>
            <a:endParaRPr lang="en-US"/>
          </a:p>
        </p:txBody>
      </p:sp>
    </p:spTree>
    <p:extLst>
      <p:ext uri="{BB962C8B-B14F-4D97-AF65-F5344CB8AC3E}">
        <p14:creationId xmlns:p14="http://schemas.microsoft.com/office/powerpoint/2010/main" val="2356961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BCC89-BC7A-B174-5467-B7F7052C2041}"/>
              </a:ext>
            </a:extLst>
          </p:cNvPr>
          <p:cNvSpPr>
            <a:spLocks noGrp="1"/>
          </p:cNvSpPr>
          <p:nvPr>
            <p:ph type="title"/>
          </p:nvPr>
        </p:nvSpPr>
        <p:spPr/>
        <p:txBody>
          <a:bodyPr>
            <a:normAutofit fontScale="90000"/>
          </a:bodyPr>
          <a:lstStyle/>
          <a:p>
            <a:r>
              <a:rPr lang="en-US" dirty="0"/>
              <a:t>Similarity of genomes</a:t>
            </a:r>
          </a:p>
        </p:txBody>
      </p:sp>
      <p:sp>
        <p:nvSpPr>
          <p:cNvPr id="3" name="Content Placeholder 2">
            <a:extLst>
              <a:ext uri="{FF2B5EF4-FFF2-40B4-BE49-F238E27FC236}">
                <a16:creationId xmlns:a16="http://schemas.microsoft.com/office/drawing/2014/main" id="{2154FDAE-C3E2-77BC-306D-166F680FB4C6}"/>
              </a:ext>
            </a:extLst>
          </p:cNvPr>
          <p:cNvSpPr>
            <a:spLocks noGrp="1"/>
          </p:cNvSpPr>
          <p:nvPr>
            <p:ph idx="1"/>
          </p:nvPr>
        </p:nvSpPr>
        <p:spPr>
          <a:xfrm>
            <a:off x="598620" y="1596540"/>
            <a:ext cx="5787666" cy="4114831"/>
          </a:xfrm>
        </p:spPr>
        <p:txBody>
          <a:bodyPr>
            <a:normAutofit fontScale="92500" lnSpcReduction="20000"/>
          </a:bodyPr>
          <a:lstStyle/>
          <a:p>
            <a:r>
              <a:rPr lang="en-US" dirty="0"/>
              <a:t>There are many assembled genomes available</a:t>
            </a:r>
          </a:p>
          <a:p>
            <a:endParaRPr lang="en-US" dirty="0"/>
          </a:p>
          <a:p>
            <a:r>
              <a:rPr lang="en-US" dirty="0"/>
              <a:t>Can we figure out how similar two genomes are? </a:t>
            </a:r>
          </a:p>
          <a:p>
            <a:endParaRPr lang="en-US" dirty="0"/>
          </a:p>
          <a:p>
            <a:r>
              <a:rPr lang="en-US" dirty="0"/>
              <a:t>Can use alignment, but what if we have 1000’s of genomes?</a:t>
            </a:r>
          </a:p>
          <a:p>
            <a:endParaRPr lang="en-US" dirty="0"/>
          </a:p>
          <a:p>
            <a:r>
              <a:rPr lang="en-US" dirty="0"/>
              <a:t>Can use Jaccard similarity index!</a:t>
            </a:r>
          </a:p>
        </p:txBody>
      </p:sp>
      <p:sp>
        <p:nvSpPr>
          <p:cNvPr id="4" name="Slide Number Placeholder 3">
            <a:extLst>
              <a:ext uri="{FF2B5EF4-FFF2-40B4-BE49-F238E27FC236}">
                <a16:creationId xmlns:a16="http://schemas.microsoft.com/office/drawing/2014/main" id="{6988B7B7-E1BD-61B2-8190-212234494B39}"/>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6" name="Picture 5">
            <a:extLst>
              <a:ext uri="{FF2B5EF4-FFF2-40B4-BE49-F238E27FC236}">
                <a16:creationId xmlns:a16="http://schemas.microsoft.com/office/drawing/2014/main" id="{6D2643AE-CE44-ACE8-1562-01FA089C87E9}"/>
              </a:ext>
            </a:extLst>
          </p:cNvPr>
          <p:cNvPicPr>
            <a:picLocks noChangeAspect="1"/>
          </p:cNvPicPr>
          <p:nvPr/>
        </p:nvPicPr>
        <p:blipFill>
          <a:blip r:embed="rId2"/>
          <a:stretch>
            <a:fillRect/>
          </a:stretch>
        </p:blipFill>
        <p:spPr>
          <a:xfrm>
            <a:off x="6948361" y="3124390"/>
            <a:ext cx="4253093" cy="3155319"/>
          </a:xfrm>
          <a:prstGeom prst="rect">
            <a:avLst/>
          </a:prstGeom>
        </p:spPr>
      </p:pic>
      <p:pic>
        <p:nvPicPr>
          <p:cNvPr id="7" name="Picture 6">
            <a:extLst>
              <a:ext uri="{FF2B5EF4-FFF2-40B4-BE49-F238E27FC236}">
                <a16:creationId xmlns:a16="http://schemas.microsoft.com/office/drawing/2014/main" id="{2134A81D-45F3-AC4F-286E-5B230E75957E}"/>
              </a:ext>
            </a:extLst>
          </p:cNvPr>
          <p:cNvPicPr>
            <a:picLocks noChangeAspect="1"/>
          </p:cNvPicPr>
          <p:nvPr/>
        </p:nvPicPr>
        <p:blipFill>
          <a:blip r:embed="rId3"/>
          <a:stretch>
            <a:fillRect/>
          </a:stretch>
        </p:blipFill>
        <p:spPr>
          <a:xfrm>
            <a:off x="7427344" y="1322550"/>
            <a:ext cx="3774110" cy="1470176"/>
          </a:xfrm>
          <a:prstGeom prst="rect">
            <a:avLst/>
          </a:prstGeom>
        </p:spPr>
      </p:pic>
    </p:spTree>
    <p:extLst>
      <p:ext uri="{BB962C8B-B14F-4D97-AF65-F5344CB8AC3E}">
        <p14:creationId xmlns:p14="http://schemas.microsoft.com/office/powerpoint/2010/main" val="15806658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44511-86AA-4597-F97D-AB869099CB1C}"/>
              </a:ext>
            </a:extLst>
          </p:cNvPr>
          <p:cNvSpPr>
            <a:spLocks noGrp="1"/>
          </p:cNvSpPr>
          <p:nvPr>
            <p:ph type="title"/>
          </p:nvPr>
        </p:nvSpPr>
        <p:spPr/>
        <p:txBody>
          <a:bodyPr>
            <a:normAutofit fontScale="90000"/>
          </a:bodyPr>
          <a:lstStyle/>
          <a:p>
            <a:r>
              <a:rPr lang="en-US" dirty="0"/>
              <a:t>Jaccard similarity index</a:t>
            </a:r>
          </a:p>
        </p:txBody>
      </p:sp>
      <p:sp>
        <p:nvSpPr>
          <p:cNvPr id="3" name="Content Placeholder 2">
            <a:extLst>
              <a:ext uri="{FF2B5EF4-FFF2-40B4-BE49-F238E27FC236}">
                <a16:creationId xmlns:a16="http://schemas.microsoft.com/office/drawing/2014/main" id="{1BA670E5-F885-3A55-A970-58253E89294F}"/>
              </a:ext>
            </a:extLst>
          </p:cNvPr>
          <p:cNvSpPr>
            <a:spLocks noGrp="1"/>
          </p:cNvSpPr>
          <p:nvPr>
            <p:ph idx="1"/>
          </p:nvPr>
        </p:nvSpPr>
        <p:spPr>
          <a:xfrm>
            <a:off x="598620" y="1596540"/>
            <a:ext cx="7623097" cy="4504715"/>
          </a:xfrm>
        </p:spPr>
        <p:txBody>
          <a:bodyPr>
            <a:normAutofit fontScale="85000" lnSpcReduction="20000"/>
          </a:bodyPr>
          <a:lstStyle/>
          <a:p>
            <a:r>
              <a:rPr lang="en-US" dirty="0"/>
              <a:t>The Jaccard index is a statistic used for gauging the similarity and diversity of sample sets. It is defined in general taking the ratio of two sizes (areas or volumes), the intersection size divided by the union size, also called intersection over union (</a:t>
            </a:r>
            <a:r>
              <a:rPr lang="en-US" dirty="0" err="1"/>
              <a:t>IoU</a:t>
            </a:r>
            <a:r>
              <a:rPr lang="en-US" dirty="0"/>
              <a:t>).</a:t>
            </a:r>
          </a:p>
          <a:p>
            <a:endParaRPr lang="en-US" dirty="0"/>
          </a:p>
          <a:p>
            <a:r>
              <a:rPr lang="en-US" dirty="0"/>
              <a:t>It was developed by Grove Karl Gilbert in 1884 as his ratio of verification and now is often called the </a:t>
            </a:r>
            <a:r>
              <a:rPr lang="en-US" i="1" dirty="0"/>
              <a:t>critical success index </a:t>
            </a:r>
            <a:r>
              <a:rPr lang="en-US" dirty="0"/>
              <a:t>in meteorology.</a:t>
            </a:r>
          </a:p>
          <a:p>
            <a:endParaRPr lang="en-US" dirty="0"/>
          </a:p>
          <a:p>
            <a:r>
              <a:rPr lang="en-US" dirty="0"/>
              <a:t>It was later developed independently by Paul Jaccard, originally giving the French name </a:t>
            </a:r>
            <a:r>
              <a:rPr lang="en-US" i="1" dirty="0"/>
              <a:t>coefficient de </a:t>
            </a:r>
            <a:r>
              <a:rPr lang="en-US" i="1" dirty="0" err="1"/>
              <a:t>communauté</a:t>
            </a:r>
            <a:r>
              <a:rPr lang="en-US" i="1" dirty="0"/>
              <a:t> (coefficient of community)</a:t>
            </a:r>
          </a:p>
        </p:txBody>
      </p:sp>
      <p:sp>
        <p:nvSpPr>
          <p:cNvPr id="4" name="Slide Number Placeholder 3">
            <a:extLst>
              <a:ext uri="{FF2B5EF4-FFF2-40B4-BE49-F238E27FC236}">
                <a16:creationId xmlns:a16="http://schemas.microsoft.com/office/drawing/2014/main" id="{55F9CF9C-125F-50AB-E076-742160811AFB}"/>
              </a:ext>
            </a:extLst>
          </p:cNvPr>
          <p:cNvSpPr>
            <a:spLocks noGrp="1"/>
          </p:cNvSpPr>
          <p:nvPr>
            <p:ph type="sldNum" sz="quarter" idx="12"/>
          </p:nvPr>
        </p:nvSpPr>
        <p:spPr/>
        <p:txBody>
          <a:bodyPr/>
          <a:lstStyle/>
          <a:p>
            <a:fld id="{B82CCC60-E8CD-4174-8B1A-7DF615B22EEF}" type="slidenum">
              <a:rPr lang="en-US" smtClean="0"/>
              <a:pPr/>
              <a:t>17</a:t>
            </a:fld>
            <a:endParaRPr lang="en-US"/>
          </a:p>
        </p:txBody>
      </p:sp>
      <p:pic>
        <p:nvPicPr>
          <p:cNvPr id="6" name="Picture 5">
            <a:extLst>
              <a:ext uri="{FF2B5EF4-FFF2-40B4-BE49-F238E27FC236}">
                <a16:creationId xmlns:a16="http://schemas.microsoft.com/office/drawing/2014/main" id="{FD8191B9-2AD1-194A-AFD3-188F5823F12E}"/>
              </a:ext>
            </a:extLst>
          </p:cNvPr>
          <p:cNvPicPr>
            <a:picLocks noChangeAspect="1"/>
          </p:cNvPicPr>
          <p:nvPr/>
        </p:nvPicPr>
        <p:blipFill>
          <a:blip r:embed="rId2"/>
          <a:stretch>
            <a:fillRect/>
          </a:stretch>
        </p:blipFill>
        <p:spPr>
          <a:xfrm>
            <a:off x="8645868" y="1345185"/>
            <a:ext cx="1994743" cy="2603178"/>
          </a:xfrm>
          <a:prstGeom prst="rect">
            <a:avLst/>
          </a:prstGeom>
        </p:spPr>
      </p:pic>
      <p:pic>
        <p:nvPicPr>
          <p:cNvPr id="8" name="Picture 7">
            <a:extLst>
              <a:ext uri="{FF2B5EF4-FFF2-40B4-BE49-F238E27FC236}">
                <a16:creationId xmlns:a16="http://schemas.microsoft.com/office/drawing/2014/main" id="{BE54FE5A-2D87-BC3E-26A4-B327CA98D96F}"/>
              </a:ext>
            </a:extLst>
          </p:cNvPr>
          <p:cNvPicPr>
            <a:picLocks noChangeAspect="1"/>
          </p:cNvPicPr>
          <p:nvPr/>
        </p:nvPicPr>
        <p:blipFill>
          <a:blip r:embed="rId3"/>
          <a:stretch>
            <a:fillRect/>
          </a:stretch>
        </p:blipFill>
        <p:spPr>
          <a:xfrm>
            <a:off x="8904950" y="4143553"/>
            <a:ext cx="1476581" cy="2295845"/>
          </a:xfrm>
          <a:prstGeom prst="rect">
            <a:avLst/>
          </a:prstGeom>
        </p:spPr>
      </p:pic>
      <p:sp>
        <p:nvSpPr>
          <p:cNvPr id="9" name="TextBox 8">
            <a:extLst>
              <a:ext uri="{FF2B5EF4-FFF2-40B4-BE49-F238E27FC236}">
                <a16:creationId xmlns:a16="http://schemas.microsoft.com/office/drawing/2014/main" id="{527AB3FB-3E06-8E9A-4302-A3D8F3085506}"/>
              </a:ext>
            </a:extLst>
          </p:cNvPr>
          <p:cNvSpPr txBox="1"/>
          <p:nvPr/>
        </p:nvSpPr>
        <p:spPr>
          <a:xfrm>
            <a:off x="8459325" y="6449922"/>
            <a:ext cx="2457596" cy="369332"/>
          </a:xfrm>
          <a:prstGeom prst="rect">
            <a:avLst/>
          </a:prstGeom>
          <a:noFill/>
        </p:spPr>
        <p:txBody>
          <a:bodyPr wrap="none" rtlCol="0">
            <a:spAutoFit/>
          </a:bodyPr>
          <a:lstStyle/>
          <a:p>
            <a:r>
              <a:rPr lang="en-US" dirty="0"/>
              <a:t>Images credit: </a:t>
            </a:r>
            <a:r>
              <a:rPr lang="en-US" dirty="0" err="1"/>
              <a:t>wikipedia</a:t>
            </a:r>
            <a:endParaRPr lang="en-US" dirty="0"/>
          </a:p>
        </p:txBody>
      </p:sp>
    </p:spTree>
    <p:extLst>
      <p:ext uri="{BB962C8B-B14F-4D97-AF65-F5344CB8AC3E}">
        <p14:creationId xmlns:p14="http://schemas.microsoft.com/office/powerpoint/2010/main" val="635747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C12B-C8B3-6465-FA34-9DFB28BF051B}"/>
              </a:ext>
            </a:extLst>
          </p:cNvPr>
          <p:cNvSpPr>
            <a:spLocks noGrp="1"/>
          </p:cNvSpPr>
          <p:nvPr>
            <p:ph type="title"/>
          </p:nvPr>
        </p:nvSpPr>
        <p:spPr/>
        <p:txBody>
          <a:bodyPr>
            <a:normAutofit fontScale="90000"/>
          </a:bodyPr>
          <a:lstStyle/>
          <a:p>
            <a:r>
              <a:rPr lang="en-US" dirty="0"/>
              <a:t>Sets</a:t>
            </a:r>
          </a:p>
        </p:txBody>
      </p:sp>
      <p:sp>
        <p:nvSpPr>
          <p:cNvPr id="4" name="Slide Number Placeholder 3">
            <a:extLst>
              <a:ext uri="{FF2B5EF4-FFF2-40B4-BE49-F238E27FC236}">
                <a16:creationId xmlns:a16="http://schemas.microsoft.com/office/drawing/2014/main" id="{B7ACD3E6-7DFE-EA84-D727-2BA9BF1F0F89}"/>
              </a:ext>
            </a:extLst>
          </p:cNvPr>
          <p:cNvSpPr>
            <a:spLocks noGrp="1"/>
          </p:cNvSpPr>
          <p:nvPr>
            <p:ph type="sldNum" sz="quarter" idx="12"/>
          </p:nvPr>
        </p:nvSpPr>
        <p:spPr/>
        <p:txBody>
          <a:bodyPr/>
          <a:lstStyle/>
          <a:p>
            <a:fld id="{B82CCC60-E8CD-4174-8B1A-7DF615B22EEF}" type="slidenum">
              <a:rPr lang="en-US" smtClean="0"/>
              <a:pPr/>
              <a:t>18</a:t>
            </a:fld>
            <a:endParaRPr lang="en-US"/>
          </a:p>
        </p:txBody>
      </p:sp>
      <p:pic>
        <p:nvPicPr>
          <p:cNvPr id="6" name="Picture 5">
            <a:extLst>
              <a:ext uri="{FF2B5EF4-FFF2-40B4-BE49-F238E27FC236}">
                <a16:creationId xmlns:a16="http://schemas.microsoft.com/office/drawing/2014/main" id="{E1BA5E11-9872-081F-B875-B5DC93EFBD96}"/>
              </a:ext>
            </a:extLst>
          </p:cNvPr>
          <p:cNvPicPr>
            <a:picLocks noChangeAspect="1"/>
          </p:cNvPicPr>
          <p:nvPr/>
        </p:nvPicPr>
        <p:blipFill>
          <a:blip r:embed="rId2"/>
          <a:srcRect l="-154" t="19366"/>
          <a:stretch>
            <a:fillRect/>
          </a:stretch>
        </p:blipFill>
        <p:spPr>
          <a:xfrm>
            <a:off x="820058" y="2153104"/>
            <a:ext cx="9411748" cy="3246563"/>
          </a:xfrm>
          <a:prstGeom prst="rect">
            <a:avLst/>
          </a:prstGeom>
        </p:spPr>
      </p:pic>
      <p:sp>
        <p:nvSpPr>
          <p:cNvPr id="7" name="TextBox 6">
            <a:extLst>
              <a:ext uri="{FF2B5EF4-FFF2-40B4-BE49-F238E27FC236}">
                <a16:creationId xmlns:a16="http://schemas.microsoft.com/office/drawing/2014/main" id="{98F57AD9-2049-E51A-8D4A-AD1102B67C64}"/>
              </a:ext>
            </a:extLst>
          </p:cNvPr>
          <p:cNvSpPr txBox="1"/>
          <p:nvPr/>
        </p:nvSpPr>
        <p:spPr>
          <a:xfrm>
            <a:off x="1153887" y="5768015"/>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spTree>
    <p:extLst>
      <p:ext uri="{BB962C8B-B14F-4D97-AF65-F5344CB8AC3E}">
        <p14:creationId xmlns:p14="http://schemas.microsoft.com/office/powerpoint/2010/main" val="893219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62F4-7365-D09F-E958-9CCF6B466144}"/>
              </a:ext>
            </a:extLst>
          </p:cNvPr>
          <p:cNvSpPr>
            <a:spLocks noGrp="1"/>
          </p:cNvSpPr>
          <p:nvPr>
            <p:ph type="title"/>
          </p:nvPr>
        </p:nvSpPr>
        <p:spPr/>
        <p:txBody>
          <a:bodyPr>
            <a:normAutofit fontScale="90000"/>
          </a:bodyPr>
          <a:lstStyle/>
          <a:p>
            <a:r>
              <a:rPr lang="en-US" dirty="0"/>
              <a:t>Cardinality</a:t>
            </a:r>
          </a:p>
        </p:txBody>
      </p:sp>
      <p:sp>
        <p:nvSpPr>
          <p:cNvPr id="3" name="Content Placeholder 2">
            <a:extLst>
              <a:ext uri="{FF2B5EF4-FFF2-40B4-BE49-F238E27FC236}">
                <a16:creationId xmlns:a16="http://schemas.microsoft.com/office/drawing/2014/main" id="{72B974B8-17E5-9A3E-C107-7CE21997203D}"/>
              </a:ext>
            </a:extLst>
          </p:cNvPr>
          <p:cNvSpPr>
            <a:spLocks noGrp="1"/>
          </p:cNvSpPr>
          <p:nvPr>
            <p:ph idx="1"/>
          </p:nvPr>
        </p:nvSpPr>
        <p:spPr>
          <a:xfrm>
            <a:off x="598620" y="1596540"/>
            <a:ext cx="10972800" cy="4499460"/>
          </a:xfrm>
        </p:spPr>
        <p:txBody>
          <a:bodyPr/>
          <a:lstStyle/>
          <a:p>
            <a:r>
              <a:rPr lang="en-US" i="1" dirty="0"/>
              <a:t>Cardinality</a:t>
            </a:r>
            <a:r>
              <a:rPr lang="en-US" dirty="0"/>
              <a:t> if a set A = {1,2,3,5} or |A| is the number of </a:t>
            </a:r>
            <a:r>
              <a:rPr lang="en-US" i="1" dirty="0"/>
              <a:t>distinct</a:t>
            </a:r>
            <a:r>
              <a:rPr lang="en-US" dirty="0"/>
              <a:t> elements in the set</a:t>
            </a:r>
          </a:p>
          <a:p>
            <a:r>
              <a:rPr lang="en-US" dirty="0"/>
              <a:t>|{1,1,2,3,3}|=3</a:t>
            </a:r>
          </a:p>
          <a:p>
            <a:r>
              <a:rPr lang="en-US" dirty="0"/>
              <a:t>If a set is treated as </a:t>
            </a:r>
            <a:r>
              <a:rPr lang="en-US" i="1" dirty="0"/>
              <a:t>multiset</a:t>
            </a:r>
            <a:r>
              <a:rPr lang="en-US" dirty="0"/>
              <a:t>, then cardinality is simply the number of elements:</a:t>
            </a:r>
          </a:p>
          <a:p>
            <a:pPr lvl="1"/>
            <a:r>
              <a:rPr lang="en-US" dirty="0"/>
              <a:t>For multiset {1,1,2,2,3,3} cardinality is 6</a:t>
            </a:r>
          </a:p>
          <a:p>
            <a:r>
              <a:rPr lang="en-US" dirty="0"/>
              <a:t>We will </a:t>
            </a:r>
            <a:r>
              <a:rPr lang="en-US" u="sng" dirty="0"/>
              <a:t>not</a:t>
            </a:r>
            <a:r>
              <a:rPr lang="en-US" dirty="0"/>
              <a:t> be using multisets</a:t>
            </a:r>
          </a:p>
        </p:txBody>
      </p:sp>
      <p:sp>
        <p:nvSpPr>
          <p:cNvPr id="4" name="Slide Number Placeholder 3">
            <a:extLst>
              <a:ext uri="{FF2B5EF4-FFF2-40B4-BE49-F238E27FC236}">
                <a16:creationId xmlns:a16="http://schemas.microsoft.com/office/drawing/2014/main" id="{4E96AD7F-2204-42B9-FE93-C1A02F426744}"/>
              </a:ext>
            </a:extLst>
          </p:cNvPr>
          <p:cNvSpPr>
            <a:spLocks noGrp="1"/>
          </p:cNvSpPr>
          <p:nvPr>
            <p:ph type="sldNum" sz="quarter" idx="12"/>
          </p:nvPr>
        </p:nvSpPr>
        <p:spPr/>
        <p:txBody>
          <a:bodyPr/>
          <a:lstStyle/>
          <a:p>
            <a:fld id="{B82CCC60-E8CD-4174-8B1A-7DF615B22EEF}" type="slidenum">
              <a:rPr lang="en-US" smtClean="0"/>
              <a:pPr/>
              <a:t>19</a:t>
            </a:fld>
            <a:endParaRPr lang="en-US"/>
          </a:p>
        </p:txBody>
      </p:sp>
    </p:spTree>
    <p:extLst>
      <p:ext uri="{BB962C8B-B14F-4D97-AF65-F5344CB8AC3E}">
        <p14:creationId xmlns:p14="http://schemas.microsoft.com/office/powerpoint/2010/main" val="3946655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38F7A-912B-FD81-4C20-CFC15C9789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0CC07-1165-DFE8-057D-1FB18D7F8056}"/>
              </a:ext>
            </a:extLst>
          </p:cNvPr>
          <p:cNvSpPr>
            <a:spLocks noGrp="1"/>
          </p:cNvSpPr>
          <p:nvPr>
            <p:ph type="title"/>
          </p:nvPr>
        </p:nvSpPr>
        <p:spPr/>
        <p:txBody>
          <a:bodyPr>
            <a:normAutofit fontScale="90000"/>
          </a:bodyPr>
          <a:lstStyle/>
          <a:p>
            <a:r>
              <a:rPr lang="en-US" dirty="0"/>
              <a:t>Sets</a:t>
            </a:r>
          </a:p>
        </p:txBody>
      </p:sp>
      <p:sp>
        <p:nvSpPr>
          <p:cNvPr id="4" name="Slide Number Placeholder 3">
            <a:extLst>
              <a:ext uri="{FF2B5EF4-FFF2-40B4-BE49-F238E27FC236}">
                <a16:creationId xmlns:a16="http://schemas.microsoft.com/office/drawing/2014/main" id="{FDF5A323-A859-725E-32CA-8E87BB10A674}"/>
              </a:ext>
            </a:extLst>
          </p:cNvPr>
          <p:cNvSpPr>
            <a:spLocks noGrp="1"/>
          </p:cNvSpPr>
          <p:nvPr>
            <p:ph type="sldNum" sz="quarter" idx="12"/>
          </p:nvPr>
        </p:nvSpPr>
        <p:spPr/>
        <p:txBody>
          <a:bodyPr/>
          <a:lstStyle/>
          <a:p>
            <a:fld id="{B82CCC60-E8CD-4174-8B1A-7DF615B22EEF}" type="slidenum">
              <a:rPr lang="en-US" smtClean="0"/>
              <a:pPr/>
              <a:t>20</a:t>
            </a:fld>
            <a:endParaRPr lang="en-US"/>
          </a:p>
        </p:txBody>
      </p:sp>
      <p:sp>
        <p:nvSpPr>
          <p:cNvPr id="7" name="TextBox 6">
            <a:extLst>
              <a:ext uri="{FF2B5EF4-FFF2-40B4-BE49-F238E27FC236}">
                <a16:creationId xmlns:a16="http://schemas.microsoft.com/office/drawing/2014/main" id="{8B7C2B29-A2EA-B6A3-0694-FDC219036244}"/>
              </a:ext>
            </a:extLst>
          </p:cNvPr>
          <p:cNvSpPr txBox="1"/>
          <p:nvPr/>
        </p:nvSpPr>
        <p:spPr>
          <a:xfrm>
            <a:off x="1153887" y="5768015"/>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pic>
        <p:nvPicPr>
          <p:cNvPr id="5" name="Picture 4">
            <a:extLst>
              <a:ext uri="{FF2B5EF4-FFF2-40B4-BE49-F238E27FC236}">
                <a16:creationId xmlns:a16="http://schemas.microsoft.com/office/drawing/2014/main" id="{7E6757E6-4C88-154F-4DAA-CAEB560784FB}"/>
              </a:ext>
            </a:extLst>
          </p:cNvPr>
          <p:cNvPicPr>
            <a:picLocks noChangeAspect="1"/>
          </p:cNvPicPr>
          <p:nvPr/>
        </p:nvPicPr>
        <p:blipFill>
          <a:blip r:embed="rId2"/>
          <a:stretch>
            <a:fillRect/>
          </a:stretch>
        </p:blipFill>
        <p:spPr>
          <a:xfrm>
            <a:off x="2431142" y="1922225"/>
            <a:ext cx="5972629" cy="3845790"/>
          </a:xfrm>
          <a:prstGeom prst="rect">
            <a:avLst/>
          </a:prstGeom>
        </p:spPr>
      </p:pic>
    </p:spTree>
    <p:extLst>
      <p:ext uri="{BB962C8B-B14F-4D97-AF65-F5344CB8AC3E}">
        <p14:creationId xmlns:p14="http://schemas.microsoft.com/office/powerpoint/2010/main" val="24584040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C2BBC-94F9-843B-7C5C-7CEBA6147D25}"/>
              </a:ext>
            </a:extLst>
          </p:cNvPr>
          <p:cNvSpPr>
            <a:spLocks noGrp="1"/>
          </p:cNvSpPr>
          <p:nvPr>
            <p:ph type="title"/>
          </p:nvPr>
        </p:nvSpPr>
        <p:spPr/>
        <p:txBody>
          <a:bodyPr>
            <a:normAutofit fontScale="90000"/>
          </a:bodyPr>
          <a:lstStyle/>
          <a:p>
            <a:r>
              <a:rPr lang="en-US" dirty="0"/>
              <a:t>Jaccard index (or coefficient)</a:t>
            </a:r>
          </a:p>
        </p:txBody>
      </p:sp>
      <p:sp>
        <p:nvSpPr>
          <p:cNvPr id="3" name="Content Placeholder 2">
            <a:extLst>
              <a:ext uri="{FF2B5EF4-FFF2-40B4-BE49-F238E27FC236}">
                <a16:creationId xmlns:a16="http://schemas.microsoft.com/office/drawing/2014/main" id="{274ADE7D-2B5E-4CCB-4673-DD4E9EBDE7A8}"/>
              </a:ext>
            </a:extLst>
          </p:cNvPr>
          <p:cNvSpPr>
            <a:spLocks noGrp="1"/>
          </p:cNvSpPr>
          <p:nvPr>
            <p:ph idx="1"/>
          </p:nvPr>
        </p:nvSpPr>
        <p:spPr>
          <a:xfrm>
            <a:off x="598620" y="1596540"/>
            <a:ext cx="8138980" cy="4173639"/>
          </a:xfrm>
        </p:spPr>
        <p:txBody>
          <a:bodyPr/>
          <a:lstStyle/>
          <a:p>
            <a:r>
              <a:rPr lang="en-US" dirty="0"/>
              <a:t>The Jaccard index is a statistic used for gauging the similarity and diversity of sample sets. It is defined as the intersection size divided by the union size, also called intersection over union (</a:t>
            </a:r>
            <a:r>
              <a:rPr lang="en-US" dirty="0" err="1"/>
              <a:t>IoU</a:t>
            </a:r>
            <a:r>
              <a:rPr lang="en-US" dirty="0"/>
              <a:t>):</a:t>
            </a:r>
          </a:p>
          <a:p>
            <a:endParaRPr lang="en-US" dirty="0"/>
          </a:p>
        </p:txBody>
      </p:sp>
      <p:sp>
        <p:nvSpPr>
          <p:cNvPr id="4" name="Slide Number Placeholder 3">
            <a:extLst>
              <a:ext uri="{FF2B5EF4-FFF2-40B4-BE49-F238E27FC236}">
                <a16:creationId xmlns:a16="http://schemas.microsoft.com/office/drawing/2014/main" id="{6DE9B8E9-594C-0488-6F6D-528D70D58C0F}"/>
              </a:ext>
            </a:extLst>
          </p:cNvPr>
          <p:cNvSpPr>
            <a:spLocks noGrp="1"/>
          </p:cNvSpPr>
          <p:nvPr>
            <p:ph type="sldNum" sz="quarter" idx="12"/>
          </p:nvPr>
        </p:nvSpPr>
        <p:spPr/>
        <p:txBody>
          <a:bodyPr/>
          <a:lstStyle/>
          <a:p>
            <a:fld id="{B82CCC60-E8CD-4174-8B1A-7DF615B22EEF}" type="slidenum">
              <a:rPr lang="en-US" smtClean="0"/>
              <a:pPr/>
              <a:t>21</a:t>
            </a:fld>
            <a:endParaRPr lang="en-US"/>
          </a:p>
        </p:txBody>
      </p:sp>
      <p:pic>
        <p:nvPicPr>
          <p:cNvPr id="6" name="Picture 5">
            <a:extLst>
              <a:ext uri="{FF2B5EF4-FFF2-40B4-BE49-F238E27FC236}">
                <a16:creationId xmlns:a16="http://schemas.microsoft.com/office/drawing/2014/main" id="{9A9F43E2-2A5F-DAE7-E4A9-384120F0C72F}"/>
              </a:ext>
            </a:extLst>
          </p:cNvPr>
          <p:cNvPicPr>
            <a:picLocks noChangeAspect="1"/>
          </p:cNvPicPr>
          <p:nvPr/>
        </p:nvPicPr>
        <p:blipFill>
          <a:blip r:embed="rId2"/>
          <a:stretch>
            <a:fillRect/>
          </a:stretch>
        </p:blipFill>
        <p:spPr>
          <a:xfrm>
            <a:off x="8841711" y="1288620"/>
            <a:ext cx="2903599" cy="5067731"/>
          </a:xfrm>
          <a:prstGeom prst="rect">
            <a:avLst/>
          </a:prstGeom>
        </p:spPr>
      </p:pic>
      <p:pic>
        <p:nvPicPr>
          <p:cNvPr id="10" name="Picture 9">
            <a:extLst>
              <a:ext uri="{FF2B5EF4-FFF2-40B4-BE49-F238E27FC236}">
                <a16:creationId xmlns:a16="http://schemas.microsoft.com/office/drawing/2014/main" id="{E2DE1869-9C38-3E85-62A0-87B27C32BF39}"/>
              </a:ext>
            </a:extLst>
          </p:cNvPr>
          <p:cNvPicPr>
            <a:picLocks noChangeAspect="1"/>
          </p:cNvPicPr>
          <p:nvPr/>
        </p:nvPicPr>
        <p:blipFill>
          <a:blip r:embed="rId3"/>
          <a:stretch>
            <a:fillRect/>
          </a:stretch>
        </p:blipFill>
        <p:spPr>
          <a:xfrm>
            <a:off x="2835168" y="5980004"/>
            <a:ext cx="2667372" cy="47631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BA69EFF-7E07-6B71-7679-A707D1F5861F}"/>
                  </a:ext>
                </a:extLst>
              </p:cNvPr>
              <p:cNvSpPr txBox="1"/>
              <p:nvPr/>
            </p:nvSpPr>
            <p:spPr>
              <a:xfrm>
                <a:off x="862789" y="3927408"/>
                <a:ext cx="7393262" cy="1161921"/>
              </a:xfrm>
              <a:prstGeom prst="rect">
                <a:avLst/>
              </a:prstGeom>
              <a:noFill/>
            </p:spPr>
            <p:txBody>
              <a:bodyPr wrap="square" lIns="0" tIns="0" rIns="0" bIns="0" rtlCol="0">
                <a:spAutoFit/>
              </a:bodyPr>
              <a:lstStyle/>
              <a:p>
                <a:pPr/>
                <a14:m>
                  <m:oMathPara xmlns:m="http://schemas.openxmlformats.org/officeDocument/2006/math">
                    <m:oMath>
                      <m:r>
                        <a:rPr lang="en-US" sz="3600" b="0" i="1" smtClean="0">
                          <a:latin typeface="Cambria Math" panose="02040503050406030204" pitchFamily="18" charset="0"/>
                        </a:rPr>
                        <m:t>𝐽</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𝐴</m:t>
                          </m:r>
                          <m:r>
                            <a:rPr lang="en-US" sz="3600" b="0" i="1" smtClean="0">
                              <a:latin typeface="Cambria Math" panose="02040503050406030204" pitchFamily="18" charset="0"/>
                            </a:rPr>
                            <m:t>,</m:t>
                          </m:r>
                          <m:r>
                            <a:rPr lang="en-US" sz="3600" b="0" i="1" smtClean="0">
                              <a:latin typeface="Cambria Math" panose="02040503050406030204" pitchFamily="18" charset="0"/>
                            </a:rPr>
                            <m:t>𝐵</m:t>
                          </m:r>
                        </m:e>
                      </m:d>
                      <m:r>
                        <a:rPr lang="en-US" sz="3600" i="1" smtClean="0">
                          <a:latin typeface="Cambria Math" panose="02040503050406030204" pitchFamily="18" charset="0"/>
                        </a:rPr>
                        <m:t>=</m:t>
                      </m:r>
                      <m:f>
                        <m:fPr>
                          <m:ctrlPr>
                            <a:rPr lang="en-US" sz="3600" b="0" i="1" smtClean="0">
                              <a:latin typeface="Cambria Math" panose="02040503050406030204" pitchFamily="18" charset="0"/>
                            </a:rPr>
                          </m:ctrlPr>
                        </m:fPr>
                        <m:num>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𝐴</m:t>
                              </m:r>
                              <m:nary>
                                <m:naryPr>
                                  <m:chr m:val="⋂"/>
                                  <m:subHide m:val="on"/>
                                  <m:supHide m:val="on"/>
                                  <m:ctrlPr>
                                    <a:rPr lang="en-US" sz="3600" i="1" smtClean="0">
                                      <a:latin typeface="Cambria Math" panose="02040503050406030204" pitchFamily="18" charset="0"/>
                                    </a:rPr>
                                  </m:ctrlPr>
                                </m:naryPr>
                                <m:sub/>
                                <m:sup/>
                                <m:e>
                                  <m:r>
                                    <a:rPr lang="en-US" sz="3600" b="0" i="1" smtClean="0">
                                      <a:latin typeface="Cambria Math" panose="02040503050406030204" pitchFamily="18" charset="0"/>
                                    </a:rPr>
                                    <m:t>𝐵</m:t>
                                  </m:r>
                                </m:e>
                              </m:nary>
                              <m:r>
                                <a:rPr lang="en-US" sz="3600" i="1" smtClean="0">
                                  <a:latin typeface="Cambria Math" panose="02040503050406030204" pitchFamily="18" charset="0"/>
                                </a:rPr>
                                <m:t> </m:t>
                              </m:r>
                            </m:e>
                          </m:d>
                        </m:num>
                        <m:den>
                          <m:d>
                            <m:dPr>
                              <m:begChr m:val="|"/>
                              <m:endChr m:val="|"/>
                              <m:ctrlPr>
                                <a:rPr lang="en-US" sz="3600" i="1">
                                  <a:latin typeface="Cambria Math" panose="02040503050406030204" pitchFamily="18" charset="0"/>
                                </a:rPr>
                              </m:ctrlPr>
                            </m:dPr>
                            <m:e>
                              <m:r>
                                <a:rPr lang="en-US" sz="3600" i="1">
                                  <a:latin typeface="Cambria Math" panose="02040503050406030204" pitchFamily="18" charset="0"/>
                                </a:rPr>
                                <m:t>𝐴</m:t>
                              </m:r>
                              <m:nary>
                                <m:naryPr>
                                  <m:chr m:val="⋃"/>
                                  <m:subHide m:val="on"/>
                                  <m:supHide m:val="on"/>
                                  <m:ctrlPr>
                                    <a:rPr lang="en-US" sz="3600" i="1" smtClean="0">
                                      <a:latin typeface="Cambria Math" panose="02040503050406030204" pitchFamily="18" charset="0"/>
                                    </a:rPr>
                                  </m:ctrlPr>
                                </m:naryPr>
                                <m:sub/>
                                <m:sup/>
                                <m:e>
                                  <m:r>
                                    <a:rPr lang="en-US" sz="3600" b="0" i="1" smtClean="0">
                                      <a:latin typeface="Cambria Math" panose="02040503050406030204" pitchFamily="18" charset="0"/>
                                    </a:rPr>
                                    <m:t>𝐵</m:t>
                                  </m:r>
                                </m:e>
                              </m:nary>
                              <m:r>
                                <a:rPr lang="en-US" sz="3600" i="1" smtClean="0">
                                  <a:latin typeface="Cambria Math" panose="02040503050406030204" pitchFamily="18" charset="0"/>
                                </a:rPr>
                                <m:t> </m:t>
                              </m:r>
                            </m:e>
                          </m:d>
                        </m:den>
                      </m:f>
                    </m:oMath>
                  </m:oMathPara>
                </a14:m>
                <a:endParaRPr lang="en-US" sz="3600" dirty="0"/>
              </a:p>
            </p:txBody>
          </p:sp>
        </mc:Choice>
        <mc:Fallback xmlns="">
          <p:sp>
            <p:nvSpPr>
              <p:cNvPr id="11" name="TextBox 10">
                <a:extLst>
                  <a:ext uri="{FF2B5EF4-FFF2-40B4-BE49-F238E27FC236}">
                    <a16:creationId xmlns:a16="http://schemas.microsoft.com/office/drawing/2014/main" id="{8BA69EFF-7E07-6B71-7679-A707D1F5861F}"/>
                  </a:ext>
                </a:extLst>
              </p:cNvPr>
              <p:cNvSpPr txBox="1">
                <a:spLocks noRot="1" noChangeAspect="1" noMove="1" noResize="1" noEditPoints="1" noAdjustHandles="1" noChangeArrowheads="1" noChangeShapeType="1" noTextEdit="1"/>
              </p:cNvSpPr>
              <p:nvPr/>
            </p:nvSpPr>
            <p:spPr>
              <a:xfrm>
                <a:off x="862789" y="3927408"/>
                <a:ext cx="7393262" cy="116192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3854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DDCAE-BA36-52AC-7DD0-2E9856F0F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8D238-3913-0442-953E-C5CD3C0F3108}"/>
              </a:ext>
            </a:extLst>
          </p:cNvPr>
          <p:cNvSpPr>
            <a:spLocks noGrp="1"/>
          </p:cNvSpPr>
          <p:nvPr>
            <p:ph type="title"/>
          </p:nvPr>
        </p:nvSpPr>
        <p:spPr/>
        <p:txBody>
          <a:bodyPr>
            <a:normAutofit fontScale="90000"/>
          </a:bodyPr>
          <a:lstStyle/>
          <a:p>
            <a:r>
              <a:rPr lang="en-US" dirty="0"/>
              <a:t>Jaccard coefficient</a:t>
            </a:r>
          </a:p>
        </p:txBody>
      </p:sp>
      <p:sp>
        <p:nvSpPr>
          <p:cNvPr id="4" name="Slide Number Placeholder 3">
            <a:extLst>
              <a:ext uri="{FF2B5EF4-FFF2-40B4-BE49-F238E27FC236}">
                <a16:creationId xmlns:a16="http://schemas.microsoft.com/office/drawing/2014/main" id="{06AEE10E-0827-FA9C-2D8A-36734793346C}"/>
              </a:ext>
            </a:extLst>
          </p:cNvPr>
          <p:cNvSpPr>
            <a:spLocks noGrp="1"/>
          </p:cNvSpPr>
          <p:nvPr>
            <p:ph type="sldNum" sz="quarter" idx="12"/>
          </p:nvPr>
        </p:nvSpPr>
        <p:spPr/>
        <p:txBody>
          <a:bodyPr/>
          <a:lstStyle/>
          <a:p>
            <a:fld id="{B82CCC60-E8CD-4174-8B1A-7DF615B22EEF}" type="slidenum">
              <a:rPr lang="en-US" smtClean="0"/>
              <a:pPr/>
              <a:t>22</a:t>
            </a:fld>
            <a:endParaRPr lang="en-US"/>
          </a:p>
        </p:txBody>
      </p:sp>
      <p:sp>
        <p:nvSpPr>
          <p:cNvPr id="7" name="TextBox 6">
            <a:extLst>
              <a:ext uri="{FF2B5EF4-FFF2-40B4-BE49-F238E27FC236}">
                <a16:creationId xmlns:a16="http://schemas.microsoft.com/office/drawing/2014/main" id="{3E159F25-16D5-B2A8-1C31-6DC7885D8D4D}"/>
              </a:ext>
            </a:extLst>
          </p:cNvPr>
          <p:cNvSpPr txBox="1"/>
          <p:nvPr/>
        </p:nvSpPr>
        <p:spPr>
          <a:xfrm>
            <a:off x="1153887" y="5967167"/>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pic>
        <p:nvPicPr>
          <p:cNvPr id="9" name="Picture 8">
            <a:extLst>
              <a:ext uri="{FF2B5EF4-FFF2-40B4-BE49-F238E27FC236}">
                <a16:creationId xmlns:a16="http://schemas.microsoft.com/office/drawing/2014/main" id="{06C90158-F50D-053C-FC44-27D76FE2F1F8}"/>
              </a:ext>
            </a:extLst>
          </p:cNvPr>
          <p:cNvPicPr>
            <a:picLocks noChangeAspect="1"/>
          </p:cNvPicPr>
          <p:nvPr/>
        </p:nvPicPr>
        <p:blipFill>
          <a:blip r:embed="rId2"/>
          <a:stretch>
            <a:fillRect/>
          </a:stretch>
        </p:blipFill>
        <p:spPr>
          <a:xfrm>
            <a:off x="2823028" y="1737159"/>
            <a:ext cx="5375118" cy="4238171"/>
          </a:xfrm>
          <a:prstGeom prst="rect">
            <a:avLst/>
          </a:prstGeom>
        </p:spPr>
      </p:pic>
    </p:spTree>
    <p:extLst>
      <p:ext uri="{BB962C8B-B14F-4D97-AF65-F5344CB8AC3E}">
        <p14:creationId xmlns:p14="http://schemas.microsoft.com/office/powerpoint/2010/main" val="2737787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70E4-3657-A923-294B-AE45D9A4D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F4905C-F0AC-2EDD-FA7C-F024D66C1807}"/>
              </a:ext>
            </a:extLst>
          </p:cNvPr>
          <p:cNvSpPr>
            <a:spLocks noGrp="1"/>
          </p:cNvSpPr>
          <p:nvPr>
            <p:ph type="title"/>
          </p:nvPr>
        </p:nvSpPr>
        <p:spPr/>
        <p:txBody>
          <a:bodyPr>
            <a:normAutofit fontScale="90000"/>
          </a:bodyPr>
          <a:lstStyle/>
          <a:p>
            <a:r>
              <a:rPr lang="en-US" dirty="0"/>
              <a:t>Jaccard coefficient</a:t>
            </a:r>
          </a:p>
        </p:txBody>
      </p:sp>
      <p:sp>
        <p:nvSpPr>
          <p:cNvPr id="4" name="Slide Number Placeholder 3">
            <a:extLst>
              <a:ext uri="{FF2B5EF4-FFF2-40B4-BE49-F238E27FC236}">
                <a16:creationId xmlns:a16="http://schemas.microsoft.com/office/drawing/2014/main" id="{F27286D7-E4A0-D2D6-18BC-DA344BBCB041}"/>
              </a:ext>
            </a:extLst>
          </p:cNvPr>
          <p:cNvSpPr>
            <a:spLocks noGrp="1"/>
          </p:cNvSpPr>
          <p:nvPr>
            <p:ph type="sldNum" sz="quarter" idx="12"/>
          </p:nvPr>
        </p:nvSpPr>
        <p:spPr/>
        <p:txBody>
          <a:bodyPr/>
          <a:lstStyle/>
          <a:p>
            <a:fld id="{B82CCC60-E8CD-4174-8B1A-7DF615B22EEF}" type="slidenum">
              <a:rPr lang="en-US" smtClean="0"/>
              <a:pPr/>
              <a:t>23</a:t>
            </a:fld>
            <a:endParaRPr lang="en-US"/>
          </a:p>
        </p:txBody>
      </p:sp>
      <p:sp>
        <p:nvSpPr>
          <p:cNvPr id="7" name="TextBox 6">
            <a:extLst>
              <a:ext uri="{FF2B5EF4-FFF2-40B4-BE49-F238E27FC236}">
                <a16:creationId xmlns:a16="http://schemas.microsoft.com/office/drawing/2014/main" id="{9B2CEB90-89B1-3D5C-954F-B864711F9033}"/>
              </a:ext>
            </a:extLst>
          </p:cNvPr>
          <p:cNvSpPr txBox="1"/>
          <p:nvPr/>
        </p:nvSpPr>
        <p:spPr>
          <a:xfrm>
            <a:off x="1153887" y="5768015"/>
            <a:ext cx="8215085" cy="646331"/>
          </a:xfrm>
          <a:prstGeom prst="rect">
            <a:avLst/>
          </a:prstGeom>
          <a:noFill/>
        </p:spPr>
        <p:txBody>
          <a:bodyPr wrap="square" rtlCol="0">
            <a:spAutoFit/>
          </a:bodyPr>
          <a:lstStyle/>
          <a:p>
            <a:r>
              <a:rPr lang="en-US" dirty="0"/>
              <a:t>Adapted from Ben Langmead https://www.cs.jhu.edu/~langmea/resources/lecture_notes/140_similarity_pub.pdf </a:t>
            </a:r>
          </a:p>
        </p:txBody>
      </p:sp>
      <p:pic>
        <p:nvPicPr>
          <p:cNvPr id="6" name="Picture 5">
            <a:extLst>
              <a:ext uri="{FF2B5EF4-FFF2-40B4-BE49-F238E27FC236}">
                <a16:creationId xmlns:a16="http://schemas.microsoft.com/office/drawing/2014/main" id="{B30A8931-F0A6-71F1-2AB2-2059AE69FE21}"/>
              </a:ext>
            </a:extLst>
          </p:cNvPr>
          <p:cNvPicPr>
            <a:picLocks noChangeAspect="1"/>
          </p:cNvPicPr>
          <p:nvPr/>
        </p:nvPicPr>
        <p:blipFill>
          <a:blip r:embed="rId2"/>
          <a:stretch>
            <a:fillRect/>
          </a:stretch>
        </p:blipFill>
        <p:spPr>
          <a:xfrm>
            <a:off x="1743422" y="2406205"/>
            <a:ext cx="8215085" cy="2858904"/>
          </a:xfrm>
          <a:prstGeom prst="rect">
            <a:avLst/>
          </a:prstGeom>
        </p:spPr>
      </p:pic>
    </p:spTree>
    <p:extLst>
      <p:ext uri="{BB962C8B-B14F-4D97-AF65-F5344CB8AC3E}">
        <p14:creationId xmlns:p14="http://schemas.microsoft.com/office/powerpoint/2010/main" val="3154056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CE42-CC5F-2703-C9CE-BCBDE34882EC}"/>
              </a:ext>
            </a:extLst>
          </p:cNvPr>
          <p:cNvSpPr>
            <a:spLocks noGrp="1"/>
          </p:cNvSpPr>
          <p:nvPr>
            <p:ph type="title"/>
          </p:nvPr>
        </p:nvSpPr>
        <p:spPr>
          <a:xfrm>
            <a:off x="598620" y="488864"/>
            <a:ext cx="10972800" cy="458115"/>
          </a:xfrm>
        </p:spPr>
        <p:txBody>
          <a:bodyPr>
            <a:normAutofit fontScale="90000"/>
          </a:bodyPr>
          <a:lstStyle/>
          <a:p>
            <a:r>
              <a:rPr lang="en-US" dirty="0"/>
              <a:t>Jaccard index for genome </a:t>
            </a:r>
            <a:br>
              <a:rPr lang="en-US" dirty="0"/>
            </a:br>
            <a:r>
              <a:rPr lang="en-US" dirty="0"/>
              <a:t>similarity/alignment</a:t>
            </a:r>
          </a:p>
        </p:txBody>
      </p:sp>
      <p:sp>
        <p:nvSpPr>
          <p:cNvPr id="3" name="Content Placeholder 2">
            <a:extLst>
              <a:ext uri="{FF2B5EF4-FFF2-40B4-BE49-F238E27FC236}">
                <a16:creationId xmlns:a16="http://schemas.microsoft.com/office/drawing/2014/main" id="{C65C0077-0E10-BA05-1FB1-F1B24A9EDEF2}"/>
              </a:ext>
            </a:extLst>
          </p:cNvPr>
          <p:cNvSpPr>
            <a:spLocks noGrp="1"/>
          </p:cNvSpPr>
          <p:nvPr>
            <p:ph idx="1"/>
          </p:nvPr>
        </p:nvSpPr>
        <p:spPr>
          <a:xfrm>
            <a:off x="598620" y="1596540"/>
            <a:ext cx="10983780" cy="4890970"/>
          </a:xfrm>
        </p:spPr>
        <p:txBody>
          <a:bodyPr/>
          <a:lstStyle/>
          <a:p>
            <a:r>
              <a:rPr lang="en-US" dirty="0"/>
              <a:t>Have genomes A and B</a:t>
            </a:r>
          </a:p>
          <a:p>
            <a:r>
              <a:rPr lang="en-US" dirty="0"/>
              <a:t>Get all canonical K-</a:t>
            </a:r>
            <a:r>
              <a:rPr lang="en-US" dirty="0" err="1"/>
              <a:t>mers</a:t>
            </a:r>
            <a:r>
              <a:rPr lang="en-US" dirty="0"/>
              <a:t> from A and B</a:t>
            </a:r>
          </a:p>
          <a:p>
            <a:r>
              <a:rPr lang="en-US" dirty="0"/>
              <a:t>Jaccard similarity can be computed from distinct K-mer sets in A and B</a:t>
            </a:r>
          </a:p>
          <a:p>
            <a:r>
              <a:rPr lang="en-US" dirty="0"/>
              <a:t>Hash each K-mer to an integer </a:t>
            </a:r>
            <a:r>
              <a:rPr lang="en-US" i="1" dirty="0"/>
              <a:t>h(k)</a:t>
            </a:r>
          </a:p>
          <a:p>
            <a:r>
              <a:rPr lang="en-US" dirty="0"/>
              <a:t>K-mer sets could be large</a:t>
            </a:r>
          </a:p>
          <a:p>
            <a:r>
              <a:rPr lang="en-US" dirty="0"/>
              <a:t>Can use sets of </a:t>
            </a:r>
            <a:r>
              <a:rPr lang="en-US" i="1" dirty="0"/>
              <a:t>distinct</a:t>
            </a:r>
            <a:r>
              <a:rPr lang="en-US" dirty="0"/>
              <a:t> </a:t>
            </a:r>
            <a:r>
              <a:rPr lang="en-US" i="1" dirty="0"/>
              <a:t>minimizers M(A) and M(B):</a:t>
            </a:r>
          </a:p>
          <a:p>
            <a:endParaRPr lang="en-US" i="1" dirty="0"/>
          </a:p>
          <a:p>
            <a:endParaRPr lang="en-US" i="1" dirty="0"/>
          </a:p>
        </p:txBody>
      </p:sp>
      <p:sp>
        <p:nvSpPr>
          <p:cNvPr id="4" name="Slide Number Placeholder 3">
            <a:extLst>
              <a:ext uri="{FF2B5EF4-FFF2-40B4-BE49-F238E27FC236}">
                <a16:creationId xmlns:a16="http://schemas.microsoft.com/office/drawing/2014/main" id="{73CC0DB1-C7D4-F4CC-F0E8-45D2E6362065}"/>
              </a:ext>
            </a:extLst>
          </p:cNvPr>
          <p:cNvSpPr>
            <a:spLocks noGrp="1"/>
          </p:cNvSpPr>
          <p:nvPr>
            <p:ph type="sldNum" sz="quarter" idx="12"/>
          </p:nvPr>
        </p:nvSpPr>
        <p:spPr/>
        <p:txBody>
          <a:bodyPr/>
          <a:lstStyle/>
          <a:p>
            <a:fld id="{B82CCC60-E8CD-4174-8B1A-7DF615B22EEF}" type="slidenum">
              <a:rPr lang="en-US" smtClean="0"/>
              <a:pPr/>
              <a:t>24</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5E64E6E-6586-2B31-427F-AFDFD6B86FE6}"/>
                  </a:ext>
                </a:extLst>
              </p:cNvPr>
              <p:cNvSpPr txBox="1"/>
              <p:nvPr/>
            </p:nvSpPr>
            <p:spPr>
              <a:xfrm>
                <a:off x="1855264" y="5051606"/>
                <a:ext cx="7069519" cy="923073"/>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𝑀</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r>
                                <a:rPr lang="en-US" sz="2800" i="1" smtClean="0">
                                  <a:latin typeface="Cambria Math" panose="02040503050406030204" pitchFamily="18" charset="0"/>
                                </a:rPr>
                                <m:t> </m:t>
                              </m:r>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𝑀</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𝑀</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r>
                                <a:rPr lang="en-US" sz="2800" i="1" smtClean="0">
                                  <a:latin typeface="Cambria Math" panose="02040503050406030204" pitchFamily="18" charset="0"/>
                                </a:rPr>
                                <m:t> </m:t>
                              </m:r>
                            </m:e>
                          </m:d>
                        </m:den>
                      </m:f>
                    </m:oMath>
                  </m:oMathPara>
                </a14:m>
                <a:endParaRPr lang="en-US" sz="2800" dirty="0"/>
              </a:p>
            </p:txBody>
          </p:sp>
        </mc:Choice>
        <mc:Fallback xmlns="">
          <p:sp>
            <p:nvSpPr>
              <p:cNvPr id="8" name="TextBox 7">
                <a:extLst>
                  <a:ext uri="{FF2B5EF4-FFF2-40B4-BE49-F238E27FC236}">
                    <a16:creationId xmlns:a16="http://schemas.microsoft.com/office/drawing/2014/main" id="{D5E64E6E-6586-2B31-427F-AFDFD6B86FE6}"/>
                  </a:ext>
                </a:extLst>
              </p:cNvPr>
              <p:cNvSpPr txBox="1">
                <a:spLocks noRot="1" noChangeAspect="1" noMove="1" noResize="1" noEditPoints="1" noAdjustHandles="1" noChangeArrowheads="1" noChangeShapeType="1" noTextEdit="1"/>
              </p:cNvSpPr>
              <p:nvPr/>
            </p:nvSpPr>
            <p:spPr>
              <a:xfrm>
                <a:off x="1855264" y="5051606"/>
                <a:ext cx="7069519" cy="923073"/>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6667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C5087-4DC3-EAE1-B511-53C9F8CD1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C689E-3E24-CFC7-9311-560DDFAAEA3F}"/>
              </a:ext>
            </a:extLst>
          </p:cNvPr>
          <p:cNvSpPr>
            <a:spLocks noGrp="1"/>
          </p:cNvSpPr>
          <p:nvPr>
            <p:ph type="title"/>
          </p:nvPr>
        </p:nvSpPr>
        <p:spPr>
          <a:xfrm>
            <a:off x="598620" y="488864"/>
            <a:ext cx="10972800" cy="458115"/>
          </a:xfrm>
        </p:spPr>
        <p:txBody>
          <a:bodyPr>
            <a:normAutofit fontScale="90000"/>
          </a:bodyPr>
          <a:lstStyle/>
          <a:p>
            <a:r>
              <a:rPr lang="en-US" dirty="0"/>
              <a:t>Jaccard index for genome </a:t>
            </a:r>
            <a:br>
              <a:rPr lang="en-US" dirty="0"/>
            </a:br>
            <a:r>
              <a:rPr lang="en-US" dirty="0"/>
              <a:t>similarity/alignment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815A1B-820D-494A-497A-A4D35EEB17B5}"/>
                  </a:ext>
                </a:extLst>
              </p:cNvPr>
              <p:cNvSpPr>
                <a:spLocks noGrp="1"/>
              </p:cNvSpPr>
              <p:nvPr>
                <p:ph idx="1"/>
              </p:nvPr>
            </p:nvSpPr>
            <p:spPr>
              <a:xfrm>
                <a:off x="598620" y="1596540"/>
                <a:ext cx="7724984" cy="4890970"/>
              </a:xfrm>
            </p:spPr>
            <p:txBody>
              <a:bodyPr/>
              <a:lstStyle/>
              <a:p>
                <a:r>
                  <a:rPr lang="en-US" dirty="0"/>
                  <a:t>What </a:t>
                </a:r>
                <a:r>
                  <a:rPr lang="en-US"/>
                  <a:t>if comparing sets of </a:t>
                </a:r>
                <a:r>
                  <a:rPr lang="en-US" dirty="0"/>
                  <a:t>minimizers is still too expensive?</a:t>
                </a:r>
              </a:p>
              <a:p>
                <a:r>
                  <a:rPr lang="en-US" dirty="0"/>
                  <a:t>Idea: instead of sliding windows take </a:t>
                </a:r>
                <a:r>
                  <a:rPr lang="en-US" i="1" dirty="0"/>
                  <a:t>s</a:t>
                </a:r>
                <a:r>
                  <a:rPr lang="en-US" dirty="0"/>
                  <a:t> lowest hash values </a:t>
                </a:r>
                <a:r>
                  <a:rPr lang="en-US" i="1" dirty="0"/>
                  <a:t>h(k)</a:t>
                </a:r>
                <a:r>
                  <a:rPr lang="en-US" dirty="0"/>
                  <a:t> for each </a:t>
                </a:r>
                <a:r>
                  <a:rPr lang="en-US" i="1" dirty="0"/>
                  <a:t>genome</a:t>
                </a:r>
                <a:endParaRPr lang="en-US" dirty="0"/>
              </a:p>
              <a:p>
                <a:r>
                  <a:rPr lang="en-US" dirty="0"/>
                  <a:t>This makes a </a:t>
                </a:r>
                <a:r>
                  <a:rPr lang="en-US" i="1" dirty="0"/>
                  <a:t>sketch S(A) </a:t>
                </a:r>
                <a:r>
                  <a:rPr lang="en-US" dirty="0"/>
                  <a:t>or</a:t>
                </a:r>
                <a:r>
                  <a:rPr lang="en-US" i="1" dirty="0"/>
                  <a:t> S(B)</a:t>
                </a:r>
              </a:p>
              <a:p>
                <a:r>
                  <a:rPr lang="en-US" dirty="0"/>
                  <a:t>Number of elements in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r>
                          <a:rPr lang="en-US" i="1">
                            <a:latin typeface="Cambria Math" panose="02040503050406030204" pitchFamily="18" charset="0"/>
                          </a:rPr>
                          <m:t>) </m:t>
                        </m:r>
                      </m:e>
                    </m:d>
                    <m:r>
                      <a:rPr lang="en-US" b="0" i="1" smtClean="0">
                        <a:latin typeface="Cambria Math" panose="02040503050406030204" pitchFamily="18" charset="0"/>
                      </a:rPr>
                      <m:t>=</m:t>
                    </m:r>
                    <m:r>
                      <a:rPr lang="en-US" b="0" i="1" smtClean="0">
                        <a:latin typeface="Cambria Math" panose="02040503050406030204" pitchFamily="18" charset="0"/>
                      </a:rPr>
                      <m:t>𝑠</m:t>
                    </m:r>
                  </m:oMath>
                </a14:m>
                <a:endParaRPr lang="en-US" i="1" dirty="0"/>
              </a:p>
              <a:p>
                <a:endParaRPr lang="en-US" i="1" dirty="0"/>
              </a:p>
              <a:p>
                <a:endParaRPr lang="en-US" dirty="0"/>
              </a:p>
            </p:txBody>
          </p:sp>
        </mc:Choice>
        <mc:Fallback xmlns="">
          <p:sp>
            <p:nvSpPr>
              <p:cNvPr id="3" name="Content Placeholder 2">
                <a:extLst>
                  <a:ext uri="{FF2B5EF4-FFF2-40B4-BE49-F238E27FC236}">
                    <a16:creationId xmlns:a16="http://schemas.microsoft.com/office/drawing/2014/main" id="{41815A1B-820D-494A-497A-A4D35EEB17B5}"/>
                  </a:ext>
                </a:extLst>
              </p:cNvPr>
              <p:cNvSpPr>
                <a:spLocks noGrp="1" noRot="1" noChangeAspect="1" noMove="1" noResize="1" noEditPoints="1" noAdjustHandles="1" noChangeArrowheads="1" noChangeShapeType="1" noTextEdit="1"/>
              </p:cNvSpPr>
              <p:nvPr>
                <p:ph idx="1"/>
              </p:nvPr>
            </p:nvSpPr>
            <p:spPr>
              <a:xfrm>
                <a:off x="598620" y="1596540"/>
                <a:ext cx="7724984" cy="4890970"/>
              </a:xfrm>
              <a:blipFill>
                <a:blip r:embed="rId2"/>
                <a:stretch>
                  <a:fillRect l="-1421" t="-124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CCC8B3B-DCE6-956F-9F35-CDD0B283A45E}"/>
              </a:ext>
            </a:extLst>
          </p:cNvPr>
          <p:cNvSpPr>
            <a:spLocks noGrp="1"/>
          </p:cNvSpPr>
          <p:nvPr>
            <p:ph type="sldNum" sz="quarter" idx="12"/>
          </p:nvPr>
        </p:nvSpPr>
        <p:spPr/>
        <p:txBody>
          <a:bodyPr/>
          <a:lstStyle/>
          <a:p>
            <a:fld id="{B82CCC60-E8CD-4174-8B1A-7DF615B22EEF}" type="slidenum">
              <a:rPr lang="en-US" smtClean="0"/>
              <a:pPr/>
              <a:t>25</a:t>
            </a:fld>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609A27-231A-EE36-774E-DE0C4EF094B0}"/>
                  </a:ext>
                </a:extLst>
              </p:cNvPr>
              <p:cNvSpPr txBox="1"/>
              <p:nvPr/>
            </p:nvSpPr>
            <p:spPr>
              <a:xfrm>
                <a:off x="-425991" y="5046044"/>
                <a:ext cx="9523464" cy="923073"/>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a:latin typeface="Cambria Math" panose="02040503050406030204" pitchFamily="18" charset="0"/>
                                    </a:rPr>
                                  </m:ctrlPr>
                                </m:naryPr>
                                <m:sub/>
                                <m:sup/>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𝐵</m:t>
                                  </m:r>
                                  <m:r>
                                    <a:rPr lang="en-US" sz="2800" i="1">
                                      <a:latin typeface="Cambria Math" panose="02040503050406030204" pitchFamily="18" charset="0"/>
                                    </a:rPr>
                                    <m:t>)</m:t>
                                  </m:r>
                                </m:e>
                              </m:nary>
                            </m:e>
                          </m:d>
                        </m:num>
                        <m:den>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i="1">
                                  <a:latin typeface="Cambria Math" panose="02040503050406030204" pitchFamily="18" charset="0"/>
                                </a:rPr>
                                <m:t>)</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r>
                                <a:rPr lang="en-US" sz="2800" i="1" smtClean="0">
                                  <a:latin typeface="Cambria Math" panose="02040503050406030204" pitchFamily="18" charset="0"/>
                                </a:rPr>
                                <m:t> </m:t>
                              </m:r>
                            </m:e>
                          </m:d>
                        </m:den>
                      </m:f>
                      <m:r>
                        <a:rPr lang="en-US" sz="2800" i="1" smtClean="0">
                          <a:latin typeface="Cambria Math" panose="02040503050406030204" pitchFamily="18" charset="0"/>
                          <a:ea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e>
                              </m:nary>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BB609A27-231A-EE36-774E-DE0C4EF094B0}"/>
                  </a:ext>
                </a:extLst>
              </p:cNvPr>
              <p:cNvSpPr txBox="1">
                <a:spLocks noRot="1" noChangeAspect="1" noMove="1" noResize="1" noEditPoints="1" noAdjustHandles="1" noChangeArrowheads="1" noChangeShapeType="1" noTextEdit="1"/>
              </p:cNvSpPr>
              <p:nvPr/>
            </p:nvSpPr>
            <p:spPr>
              <a:xfrm>
                <a:off x="-425991" y="5046044"/>
                <a:ext cx="9523464" cy="923073"/>
              </a:xfrm>
              <a:prstGeom prst="rect">
                <a:avLst/>
              </a:prstGeom>
              <a:blipFill>
                <a:blip r:embed="rId3"/>
                <a:stretch>
                  <a:fillRect/>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902E1D2A-04C0-A053-8FAD-A94E5CC9ED4B}"/>
              </a:ext>
            </a:extLst>
          </p:cNvPr>
          <p:cNvPicPr>
            <a:picLocks noChangeAspect="1"/>
          </p:cNvPicPr>
          <p:nvPr/>
        </p:nvPicPr>
        <p:blipFill>
          <a:blip r:embed="rId4"/>
          <a:stretch>
            <a:fillRect/>
          </a:stretch>
        </p:blipFill>
        <p:spPr>
          <a:xfrm>
            <a:off x="8841711" y="1288620"/>
            <a:ext cx="2903599" cy="5067731"/>
          </a:xfrm>
          <a:prstGeom prst="rect">
            <a:avLst/>
          </a:prstGeom>
        </p:spPr>
      </p:pic>
    </p:spTree>
    <p:extLst>
      <p:ext uri="{BB962C8B-B14F-4D97-AF65-F5344CB8AC3E}">
        <p14:creationId xmlns:p14="http://schemas.microsoft.com/office/powerpoint/2010/main" val="380835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94263-242C-6CC7-B01C-AFEB51159959}"/>
              </a:ext>
            </a:extLst>
          </p:cNvPr>
          <p:cNvSpPr>
            <a:spLocks noGrp="1"/>
          </p:cNvSpPr>
          <p:nvPr>
            <p:ph type="title"/>
          </p:nvPr>
        </p:nvSpPr>
        <p:spPr/>
        <p:txBody>
          <a:bodyPr>
            <a:normAutofit fontScale="90000"/>
          </a:bodyPr>
          <a:lstStyle/>
          <a:p>
            <a:r>
              <a:rPr lang="en-US" dirty="0"/>
              <a:t>Another example</a:t>
            </a:r>
          </a:p>
        </p:txBody>
      </p:sp>
      <p:sp>
        <p:nvSpPr>
          <p:cNvPr id="4" name="Slide Number Placeholder 3">
            <a:extLst>
              <a:ext uri="{FF2B5EF4-FFF2-40B4-BE49-F238E27FC236}">
                <a16:creationId xmlns:a16="http://schemas.microsoft.com/office/drawing/2014/main" id="{DF16F097-DD93-03E1-4C18-E74BAA43F5DD}"/>
              </a:ext>
            </a:extLst>
          </p:cNvPr>
          <p:cNvSpPr>
            <a:spLocks noGrp="1"/>
          </p:cNvSpPr>
          <p:nvPr>
            <p:ph type="sldNum" sz="quarter" idx="12"/>
          </p:nvPr>
        </p:nvSpPr>
        <p:spPr/>
        <p:txBody>
          <a:bodyPr/>
          <a:lstStyle/>
          <a:p>
            <a:fld id="{B82CCC60-E8CD-4174-8B1A-7DF615B22EEF}" type="slidenum">
              <a:rPr lang="en-US" smtClean="0"/>
              <a:pPr/>
              <a:t>26</a:t>
            </a:fld>
            <a:endParaRPr lang="en-US"/>
          </a:p>
        </p:txBody>
      </p:sp>
      <p:pic>
        <p:nvPicPr>
          <p:cNvPr id="6" name="Picture 5">
            <a:extLst>
              <a:ext uri="{FF2B5EF4-FFF2-40B4-BE49-F238E27FC236}">
                <a16:creationId xmlns:a16="http://schemas.microsoft.com/office/drawing/2014/main" id="{7DF11E5F-D808-C7A6-A6C8-ABC8D0FF5E7F}"/>
              </a:ext>
            </a:extLst>
          </p:cNvPr>
          <p:cNvPicPr>
            <a:picLocks noChangeAspect="1"/>
          </p:cNvPicPr>
          <p:nvPr/>
        </p:nvPicPr>
        <p:blipFill>
          <a:blip r:embed="rId2"/>
          <a:stretch>
            <a:fillRect/>
          </a:stretch>
        </p:blipFill>
        <p:spPr>
          <a:xfrm>
            <a:off x="950685" y="2356839"/>
            <a:ext cx="7586294" cy="450116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09F9420-DCE3-AB8F-F68E-52DDC1D0B528}"/>
                  </a:ext>
                </a:extLst>
              </p:cNvPr>
              <p:cNvSpPr txBox="1"/>
              <p:nvPr/>
            </p:nvSpPr>
            <p:spPr>
              <a:xfrm>
                <a:off x="4743832" y="5074047"/>
                <a:ext cx="5783943" cy="909480"/>
              </a:xfrm>
              <a:prstGeom prst="rect">
                <a:avLst/>
              </a:prstGeom>
              <a:noFill/>
            </p:spPr>
            <p:txBody>
              <a:bodyPr wrap="square" lIns="0" tIns="0" rIns="0" bIns="0" rtlCol="0">
                <a:spAutoFit/>
              </a:bodyPr>
              <a:lstStyle/>
              <a:p>
                <a:pPr/>
                <a14:m>
                  <m:oMathPara xmlns:m="http://schemas.openxmlformats.org/officeDocument/2006/math">
                    <m:oMath>
                      <m:r>
                        <a:rPr lang="en-US" sz="2800" b="0" i="1" smtClean="0">
                          <a:latin typeface="Cambria Math" panose="02040503050406030204" pitchFamily="18" charset="0"/>
                        </a:rPr>
                        <m:t>𝐽</m:t>
                      </m:r>
                      <m:r>
                        <a:rPr lang="en-US" sz="2800" b="0" i="1" smtClean="0">
                          <a:latin typeface="Cambria Math" panose="02040503050406030204" pitchFamily="18" charset="0"/>
                        </a:rPr>
                        <m:t>(</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f>
                        <m:fPr>
                          <m:ctrlPr>
                            <a:rPr lang="en-US" sz="2800" i="1">
                              <a:latin typeface="Cambria Math" panose="02040503050406030204" pitchFamily="18" charset="0"/>
                            </a:rPr>
                          </m:ctrlPr>
                        </m:fPr>
                        <m:num>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smtClean="0">
                                      <a:latin typeface="Cambria Math" panose="02040503050406030204" pitchFamily="18" charset="0"/>
                                    </a:rPr>
                                  </m:ctrlPr>
                                </m:naryPr>
                                <m:sub/>
                                <m:sup/>
                                <m:e>
                                  <m:r>
                                    <a:rPr lang="en-US" sz="2800" b="0" i="1" smtClean="0">
                                      <a:latin typeface="Cambria Math" panose="02040503050406030204" pitchFamily="18" charset="0"/>
                                    </a:rPr>
                                    <m:t>𝐵</m:t>
                                  </m:r>
                                  <m:r>
                                    <a:rPr lang="en-US" sz="2800" b="0" i="1" smtClean="0">
                                      <a:latin typeface="Cambria Math" panose="02040503050406030204" pitchFamily="18" charset="0"/>
                                    </a:rPr>
                                    <m:t>)</m:t>
                                  </m:r>
                                  <m:nary>
                                    <m:naryPr>
                                      <m:chr m:val="⋂"/>
                                      <m:subHide m:val="on"/>
                                      <m:supHide m:val="on"/>
                                      <m:ctrlPr>
                                        <a:rPr lang="en-US" sz="2800" b="0" i="1" smtClean="0">
                                          <a:latin typeface="Cambria Math" panose="02040503050406030204" pitchFamily="18" charset="0"/>
                                        </a:rPr>
                                      </m:ctrlPr>
                                    </m:naryPr>
                                    <m:sub/>
                                    <m:sup/>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r>
                                        <a:rPr lang="en-US" sz="2800" b="0" i="1" smtClean="0">
                                          <a:latin typeface="Cambria Math" panose="02040503050406030204" pitchFamily="18" charset="0"/>
                                        </a:rPr>
                                        <m:t>)</m:t>
                                      </m:r>
                                    </m:e>
                                  </m:nary>
                                  <m:nary>
                                    <m:naryPr>
                                      <m:chr m:val="⋂"/>
                                      <m:subHide m:val="on"/>
                                      <m:supHide m:val="on"/>
                                      <m:ctrlPr>
                                        <a:rPr lang="en-US" sz="2800" b="0" i="1" smtClean="0">
                                          <a:latin typeface="Cambria Math" panose="02040503050406030204" pitchFamily="18" charset="0"/>
                                        </a:rPr>
                                      </m:ctrlPr>
                                    </m:naryPr>
                                    <m:sub/>
                                    <m:sup/>
                                    <m:e>
                                      <m:r>
                                        <a:rPr lang="en-US" sz="2800" b="0" i="1" smtClean="0">
                                          <a:latin typeface="Cambria Math" panose="02040503050406030204" pitchFamily="18" charset="0"/>
                                        </a:rPr>
                                        <m:t>𝑆</m:t>
                                      </m:r>
                                      <m:r>
                                        <a:rPr lang="en-US" sz="2800" b="0" i="1" smtClean="0">
                                          <a:latin typeface="Cambria Math" panose="02040503050406030204" pitchFamily="18" charset="0"/>
                                        </a:rPr>
                                        <m:t>(</m:t>
                                      </m:r>
                                      <m:r>
                                        <a:rPr lang="en-US" sz="2800" b="0" i="1" smtClean="0">
                                          <a:latin typeface="Cambria Math" panose="02040503050406030204" pitchFamily="18" charset="0"/>
                                        </a:rPr>
                                        <m:t>𝐵</m:t>
                                      </m:r>
                                      <m:r>
                                        <a:rPr lang="en-US" sz="2800" b="0" i="1" smtClean="0">
                                          <a:latin typeface="Cambria Math" panose="02040503050406030204" pitchFamily="18" charset="0"/>
                                        </a:rPr>
                                        <m:t>)</m:t>
                                      </m:r>
                                    </m:e>
                                  </m:nary>
                                </m:e>
                              </m:nary>
                            </m:e>
                          </m:d>
                        </m:num>
                        <m:den>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𝑆</m:t>
                              </m:r>
                              <m:r>
                                <a:rPr lang="en-US" sz="2800" i="1">
                                  <a:latin typeface="Cambria Math" panose="02040503050406030204" pitchFamily="18" charset="0"/>
                                </a:rPr>
                                <m:t>(</m:t>
                              </m:r>
                              <m:r>
                                <a:rPr lang="en-US" sz="2800" i="1">
                                  <a:latin typeface="Cambria Math" panose="02040503050406030204" pitchFamily="18" charset="0"/>
                                </a:rPr>
                                <m:t>𝐴</m:t>
                              </m:r>
                              <m:nary>
                                <m:naryPr>
                                  <m:chr m:val="⋃"/>
                                  <m:subHide m:val="on"/>
                                  <m:supHide m:val="on"/>
                                  <m:ctrlPr>
                                    <a:rPr lang="en-US" sz="2800" i="1">
                                      <a:latin typeface="Cambria Math" panose="02040503050406030204" pitchFamily="18" charset="0"/>
                                    </a:rPr>
                                  </m:ctrlPr>
                                </m:naryPr>
                                <m:sub/>
                                <m:sup/>
                                <m:e>
                                  <m:r>
                                    <a:rPr lang="en-US" sz="2800" i="1">
                                      <a:latin typeface="Cambria Math" panose="02040503050406030204" pitchFamily="18" charset="0"/>
                                    </a:rPr>
                                    <m:t>𝐵</m:t>
                                  </m:r>
                                  <m:r>
                                    <a:rPr lang="en-US" sz="2800" i="1">
                                      <a:latin typeface="Cambria Math" panose="02040503050406030204" pitchFamily="18" charset="0"/>
                                    </a:rPr>
                                    <m:t>) </m:t>
                                  </m:r>
                                </m:e>
                              </m:nary>
                            </m:e>
                          </m:d>
                        </m:den>
                      </m:f>
                    </m:oMath>
                  </m:oMathPara>
                </a14:m>
                <a:endParaRPr lang="en-US" sz="2800" dirty="0"/>
              </a:p>
            </p:txBody>
          </p:sp>
        </mc:Choice>
        <mc:Fallback xmlns="">
          <p:sp>
            <p:nvSpPr>
              <p:cNvPr id="7" name="TextBox 6">
                <a:extLst>
                  <a:ext uri="{FF2B5EF4-FFF2-40B4-BE49-F238E27FC236}">
                    <a16:creationId xmlns:a16="http://schemas.microsoft.com/office/drawing/2014/main" id="{509F9420-DCE3-AB8F-F68E-52DDC1D0B528}"/>
                  </a:ext>
                </a:extLst>
              </p:cNvPr>
              <p:cNvSpPr txBox="1">
                <a:spLocks noRot="1" noChangeAspect="1" noMove="1" noResize="1" noEditPoints="1" noAdjustHandles="1" noChangeArrowheads="1" noChangeShapeType="1" noTextEdit="1"/>
              </p:cNvSpPr>
              <p:nvPr/>
            </p:nvSpPr>
            <p:spPr>
              <a:xfrm>
                <a:off x="4743832" y="5074047"/>
                <a:ext cx="5783943" cy="909480"/>
              </a:xfrm>
              <a:prstGeom prst="rect">
                <a:avLst/>
              </a:prstGeom>
              <a:blipFill>
                <a:blip r:embed="rId3"/>
                <a:stretch>
                  <a:fillRect/>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7BF95251-9893-30FB-7630-A9AFBA80724F}"/>
              </a:ext>
            </a:extLst>
          </p:cNvPr>
          <p:cNvPicPr>
            <a:picLocks noChangeAspect="1"/>
          </p:cNvPicPr>
          <p:nvPr/>
        </p:nvPicPr>
        <p:blipFill>
          <a:blip r:embed="rId4"/>
          <a:stretch>
            <a:fillRect/>
          </a:stretch>
        </p:blipFill>
        <p:spPr>
          <a:xfrm>
            <a:off x="3077028" y="1329213"/>
            <a:ext cx="7679346" cy="98021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C8472F7-10E2-DEB7-8AAB-3E44B78188C9}"/>
                  </a:ext>
                </a:extLst>
              </p:cNvPr>
              <p:cNvSpPr txBox="1"/>
              <p:nvPr/>
            </p:nvSpPr>
            <p:spPr>
              <a:xfrm>
                <a:off x="1531256" y="2309428"/>
                <a:ext cx="805543" cy="523220"/>
              </a:xfrm>
              <a:prstGeom prst="rect">
                <a:avLst/>
              </a:prstGeom>
              <a:solidFill>
                <a:schemeClr val="bg1"/>
              </a:solidFill>
            </p:spPr>
            <p:txBody>
              <a:bodyPr wrap="square">
                <a:spAutoFit/>
              </a:bodyPr>
              <a:lstStyle/>
              <a:p>
                <a:pPr/>
                <a14:m>
                  <m:oMathPara xmlns:m="http://schemas.openxmlformats.org/officeDocument/2006/math">
                    <m:o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i="1" smtClean="0">
                          <a:latin typeface="Cambria Math" panose="02040503050406030204" pitchFamily="18" charset="0"/>
                        </a:rPr>
                        <m:t>𝐴</m:t>
                      </m:r>
                      <m:r>
                        <a:rPr lang="en-US" sz="2800" i="1" smtClean="0">
                          <a:latin typeface="Cambria Math" panose="02040503050406030204" pitchFamily="18" charset="0"/>
                        </a:rPr>
                        <m:t>) </m:t>
                      </m:r>
                    </m:oMath>
                  </m:oMathPara>
                </a14:m>
                <a:endParaRPr lang="en-US" sz="2800" dirty="0"/>
              </a:p>
            </p:txBody>
          </p:sp>
        </mc:Choice>
        <mc:Fallback xmlns="">
          <p:sp>
            <p:nvSpPr>
              <p:cNvPr id="11" name="TextBox 10">
                <a:extLst>
                  <a:ext uri="{FF2B5EF4-FFF2-40B4-BE49-F238E27FC236}">
                    <a16:creationId xmlns:a16="http://schemas.microsoft.com/office/drawing/2014/main" id="{DC8472F7-10E2-DEB7-8AAB-3E44B78188C9}"/>
                  </a:ext>
                </a:extLst>
              </p:cNvPr>
              <p:cNvSpPr txBox="1">
                <a:spLocks noRot="1" noChangeAspect="1" noMove="1" noResize="1" noEditPoints="1" noAdjustHandles="1" noChangeArrowheads="1" noChangeShapeType="1" noTextEdit="1"/>
              </p:cNvSpPr>
              <p:nvPr/>
            </p:nvSpPr>
            <p:spPr>
              <a:xfrm>
                <a:off x="1531256" y="2309428"/>
                <a:ext cx="805543"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C831720-D3D5-94BD-3BF6-78A0FD0F4890}"/>
                  </a:ext>
                </a:extLst>
              </p:cNvPr>
              <p:cNvSpPr txBox="1"/>
              <p:nvPr/>
            </p:nvSpPr>
            <p:spPr>
              <a:xfrm>
                <a:off x="1465942" y="4468998"/>
                <a:ext cx="805543" cy="523220"/>
              </a:xfrm>
              <a:prstGeom prst="rect">
                <a:avLst/>
              </a:prstGeom>
              <a:solidFill>
                <a:schemeClr val="bg1"/>
              </a:solidFill>
            </p:spPr>
            <p:txBody>
              <a:bodyPr wrap="square">
                <a:spAutoFit/>
              </a:bodyPr>
              <a:lstStyle/>
              <a:p>
                <a:pPr/>
                <a14:m>
                  <m:oMathPara xmlns:m="http://schemas.openxmlformats.org/officeDocument/2006/math">
                    <m:oMath>
                      <m:r>
                        <a:rPr lang="en-US" sz="2800" i="1" smtClean="0">
                          <a:latin typeface="Cambria Math" panose="02040503050406030204" pitchFamily="18" charset="0"/>
                        </a:rPr>
                        <m:t>𝑆</m:t>
                      </m:r>
                      <m:r>
                        <a:rPr lang="en-US" sz="2800" i="1" smtClean="0">
                          <a:latin typeface="Cambria Math" panose="02040503050406030204" pitchFamily="18" charset="0"/>
                        </a:rPr>
                        <m:t>(</m:t>
                      </m:r>
                      <m:r>
                        <a:rPr lang="en-US" sz="2800" b="0" i="1" smtClean="0">
                          <a:latin typeface="Cambria Math" panose="02040503050406030204" pitchFamily="18" charset="0"/>
                        </a:rPr>
                        <m:t>𝐵</m:t>
                      </m:r>
                      <m:r>
                        <a:rPr lang="en-US" sz="2800" i="1" smtClean="0">
                          <a:latin typeface="Cambria Math" panose="02040503050406030204" pitchFamily="18" charset="0"/>
                        </a:rPr>
                        <m:t>) </m:t>
                      </m:r>
                    </m:oMath>
                  </m:oMathPara>
                </a14:m>
                <a:endParaRPr lang="en-US" sz="2800" dirty="0"/>
              </a:p>
            </p:txBody>
          </p:sp>
        </mc:Choice>
        <mc:Fallback xmlns="">
          <p:sp>
            <p:nvSpPr>
              <p:cNvPr id="12" name="TextBox 11">
                <a:extLst>
                  <a:ext uri="{FF2B5EF4-FFF2-40B4-BE49-F238E27FC236}">
                    <a16:creationId xmlns:a16="http://schemas.microsoft.com/office/drawing/2014/main" id="{6C831720-D3D5-94BD-3BF6-78A0FD0F4890}"/>
                  </a:ext>
                </a:extLst>
              </p:cNvPr>
              <p:cNvSpPr txBox="1">
                <a:spLocks noRot="1" noChangeAspect="1" noMove="1" noResize="1" noEditPoints="1" noAdjustHandles="1" noChangeArrowheads="1" noChangeShapeType="1" noTextEdit="1"/>
              </p:cNvSpPr>
              <p:nvPr/>
            </p:nvSpPr>
            <p:spPr>
              <a:xfrm>
                <a:off x="1465942" y="4468998"/>
                <a:ext cx="805543"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AA15ABC-03D7-7630-6A8D-D6CDE5B828B6}"/>
                  </a:ext>
                </a:extLst>
              </p:cNvPr>
              <p:cNvSpPr txBox="1"/>
              <p:nvPr/>
            </p:nvSpPr>
            <p:spPr>
              <a:xfrm>
                <a:off x="2518228" y="2932742"/>
                <a:ext cx="1465944" cy="992516"/>
              </a:xfrm>
              <a:prstGeom prst="rect">
                <a:avLst/>
              </a:prstGeom>
              <a:solidFill>
                <a:schemeClr val="bg1"/>
              </a:solidFill>
            </p:spPr>
            <p:txBody>
              <a:bodyPr wrap="square">
                <a:spAutoFit/>
              </a:bodyPr>
              <a:lstStyle/>
              <a:p>
                <a:pPr/>
                <a14:m>
                  <m:oMathPara xmlns:m="http://schemas.openxmlformats.org/officeDocument/2006/math">
                    <m:oMath>
                      <m:r>
                        <a:rPr lang="en-US" sz="2400" i="1" smtClean="0">
                          <a:latin typeface="Cambria Math" panose="02040503050406030204" pitchFamily="18" charset="0"/>
                        </a:rPr>
                        <m:t>𝑆</m:t>
                      </m:r>
                      <m:r>
                        <a:rPr lang="en-US" sz="2400" i="1" smtClean="0">
                          <a:latin typeface="Cambria Math" panose="02040503050406030204" pitchFamily="18" charset="0"/>
                        </a:rPr>
                        <m:t>(</m:t>
                      </m:r>
                      <m:r>
                        <a:rPr lang="en-US" sz="2400" i="1" smtClean="0">
                          <a:latin typeface="Cambria Math" panose="02040503050406030204" pitchFamily="18" charset="0"/>
                        </a:rPr>
                        <m:t>𝐴</m:t>
                      </m:r>
                      <m:nary>
                        <m:naryPr>
                          <m:chr m:val="⋃"/>
                          <m:subHide m:val="on"/>
                          <m:supHide m:val="on"/>
                          <m:ctrlPr>
                            <a:rPr lang="en-US" sz="2400" i="1" smtClean="0">
                              <a:latin typeface="Cambria Math" panose="02040503050406030204" pitchFamily="18" charset="0"/>
                            </a:rPr>
                          </m:ctrlPr>
                        </m:naryPr>
                        <m:sub/>
                        <m:sup/>
                        <m:e>
                          <m:r>
                            <a:rPr lang="en-US" sz="2400" b="0" i="1" smtClean="0">
                              <a:latin typeface="Cambria Math" panose="02040503050406030204" pitchFamily="18" charset="0"/>
                            </a:rPr>
                            <m:t>𝐵</m:t>
                          </m:r>
                          <m:r>
                            <a:rPr lang="en-US" sz="2400" b="0" i="1" smtClean="0">
                              <a:latin typeface="Cambria Math" panose="02040503050406030204" pitchFamily="18" charset="0"/>
                            </a:rPr>
                            <m:t>)</m:t>
                          </m:r>
                        </m:e>
                      </m:nary>
                    </m:oMath>
                  </m:oMathPara>
                </a14:m>
                <a:endParaRPr lang="en-US" sz="2400" dirty="0"/>
              </a:p>
            </p:txBody>
          </p:sp>
        </mc:Choice>
        <mc:Fallback xmlns="">
          <p:sp>
            <p:nvSpPr>
              <p:cNvPr id="13" name="TextBox 12">
                <a:extLst>
                  <a:ext uri="{FF2B5EF4-FFF2-40B4-BE49-F238E27FC236}">
                    <a16:creationId xmlns:a16="http://schemas.microsoft.com/office/drawing/2014/main" id="{7AA15ABC-03D7-7630-6A8D-D6CDE5B828B6}"/>
                  </a:ext>
                </a:extLst>
              </p:cNvPr>
              <p:cNvSpPr txBox="1">
                <a:spLocks noRot="1" noChangeAspect="1" noMove="1" noResize="1" noEditPoints="1" noAdjustHandles="1" noChangeArrowheads="1" noChangeShapeType="1" noTextEdit="1"/>
              </p:cNvSpPr>
              <p:nvPr/>
            </p:nvSpPr>
            <p:spPr>
              <a:xfrm>
                <a:off x="2518228" y="2932742"/>
                <a:ext cx="1465944" cy="99251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44876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84AC-77F2-F282-2AD1-A31B60DD9C40}"/>
              </a:ext>
            </a:extLst>
          </p:cNvPr>
          <p:cNvSpPr>
            <a:spLocks noGrp="1"/>
          </p:cNvSpPr>
          <p:nvPr>
            <p:ph type="title"/>
          </p:nvPr>
        </p:nvSpPr>
        <p:spPr>
          <a:xfrm>
            <a:off x="154239" y="272591"/>
            <a:ext cx="10972800" cy="458115"/>
          </a:xfrm>
        </p:spPr>
        <p:txBody>
          <a:bodyPr>
            <a:normAutofit fontScale="90000"/>
          </a:bodyPr>
          <a:lstStyle/>
          <a:p>
            <a:r>
              <a:rPr lang="en-US" dirty="0"/>
              <a:t>Genome distance estimation using </a:t>
            </a:r>
            <a:r>
              <a:rPr lang="en-US" dirty="0" err="1"/>
              <a:t>MinHash</a:t>
            </a:r>
            <a:endParaRPr lang="en-US" dirty="0"/>
          </a:p>
        </p:txBody>
      </p:sp>
      <p:sp>
        <p:nvSpPr>
          <p:cNvPr id="4" name="Slide Number Placeholder 3">
            <a:extLst>
              <a:ext uri="{FF2B5EF4-FFF2-40B4-BE49-F238E27FC236}">
                <a16:creationId xmlns:a16="http://schemas.microsoft.com/office/drawing/2014/main" id="{2565EFEA-F079-2E51-13D7-7F5BD1CA3FF3}"/>
              </a:ext>
            </a:extLst>
          </p:cNvPr>
          <p:cNvSpPr>
            <a:spLocks noGrp="1"/>
          </p:cNvSpPr>
          <p:nvPr>
            <p:ph type="sldNum" sz="quarter" idx="12"/>
          </p:nvPr>
        </p:nvSpPr>
        <p:spPr/>
        <p:txBody>
          <a:bodyPr/>
          <a:lstStyle/>
          <a:p>
            <a:fld id="{B82CCC60-E8CD-4174-8B1A-7DF615B22EEF}" type="slidenum">
              <a:rPr lang="en-US" smtClean="0"/>
              <a:pPr/>
              <a:t>27</a:t>
            </a:fld>
            <a:endParaRPr lang="en-US"/>
          </a:p>
        </p:txBody>
      </p:sp>
      <p:pic>
        <p:nvPicPr>
          <p:cNvPr id="6" name="Picture 5">
            <a:extLst>
              <a:ext uri="{FF2B5EF4-FFF2-40B4-BE49-F238E27FC236}">
                <a16:creationId xmlns:a16="http://schemas.microsoft.com/office/drawing/2014/main" id="{CA47EEC7-ADB1-BF48-09CE-E09B639B87A9}"/>
              </a:ext>
            </a:extLst>
          </p:cNvPr>
          <p:cNvPicPr>
            <a:picLocks noChangeAspect="1"/>
          </p:cNvPicPr>
          <p:nvPr/>
        </p:nvPicPr>
        <p:blipFill>
          <a:blip r:embed="rId2"/>
          <a:stretch>
            <a:fillRect/>
          </a:stretch>
        </p:blipFill>
        <p:spPr>
          <a:xfrm>
            <a:off x="364411" y="1701307"/>
            <a:ext cx="6256416" cy="2437140"/>
          </a:xfrm>
          <a:prstGeom prst="rect">
            <a:avLst/>
          </a:prstGeom>
        </p:spPr>
      </p:pic>
      <p:pic>
        <p:nvPicPr>
          <p:cNvPr id="7" name="Content Placeholder 6">
            <a:extLst>
              <a:ext uri="{FF2B5EF4-FFF2-40B4-BE49-F238E27FC236}">
                <a16:creationId xmlns:a16="http://schemas.microsoft.com/office/drawing/2014/main" id="{C1D9709E-48CC-04E1-494A-DF12F2365024}"/>
              </a:ext>
            </a:extLst>
          </p:cNvPr>
          <p:cNvPicPr>
            <a:picLocks noGrp="1" noChangeAspect="1"/>
          </p:cNvPicPr>
          <p:nvPr>
            <p:ph idx="1"/>
          </p:nvPr>
        </p:nvPicPr>
        <p:blipFill>
          <a:blip r:embed="rId3"/>
          <a:srcRect b="12790"/>
          <a:stretch>
            <a:fillRect/>
          </a:stretch>
        </p:blipFill>
        <p:spPr>
          <a:xfrm>
            <a:off x="7961674" y="1287435"/>
            <a:ext cx="3165365" cy="491266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F0D95FF-D888-5908-0057-60A683AC4EAA}"/>
                  </a:ext>
                </a:extLst>
              </p:cNvPr>
              <p:cNvSpPr txBox="1"/>
              <p:nvPr/>
            </p:nvSpPr>
            <p:spPr>
              <a:xfrm>
                <a:off x="6523740" y="6200095"/>
                <a:ext cx="5832030" cy="584647"/>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𝐵</m:t>
                                  </m:r>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r>
                                        <a:rPr lang="en-US" b="0" i="1" smtClean="0">
                                          <a:latin typeface="Cambria Math" panose="02040503050406030204" pitchFamily="18" charset="0"/>
                                        </a:rPr>
                                        <m:t>)</m:t>
                                      </m:r>
                                    </m:e>
                                  </m:nary>
                                  <m:nary>
                                    <m:naryPr>
                                      <m:chr m:val="⋂"/>
                                      <m:subHide m:val="on"/>
                                      <m:supHide m:val="on"/>
                                      <m:ctrlPr>
                                        <a:rPr lang="en-US" b="0" i="1" smtClean="0">
                                          <a:latin typeface="Cambria Math" panose="02040503050406030204" pitchFamily="18" charset="0"/>
                                        </a:rPr>
                                      </m:ctrlPr>
                                    </m:naryPr>
                                    <m:sub/>
                                    <m:sup/>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𝐵</m:t>
                                      </m:r>
                                      <m:r>
                                        <a:rPr lang="en-US" b="0" i="1" smtClean="0">
                                          <a:latin typeface="Cambria Math" panose="02040503050406030204" pitchFamily="18" charset="0"/>
                                        </a:rPr>
                                        <m:t>)</m:t>
                                      </m:r>
                                    </m:e>
                                  </m:nary>
                                </m:e>
                              </m:nary>
                            </m:e>
                          </m:d>
                        </m:num>
                        <m:den>
                          <m:d>
                            <m:dPr>
                              <m:begChr m:val="|"/>
                              <m:endChr m:val="|"/>
                              <m:ctrlPr>
                                <a:rPr lang="en-US" i="1">
                                  <a:latin typeface="Cambria Math" panose="02040503050406030204" pitchFamily="18" charset="0"/>
                                </a:rPr>
                              </m:ctrlPr>
                            </m:dPr>
                            <m:e>
                              <m:r>
                                <a:rPr lang="en-US" i="1">
                                  <a:latin typeface="Cambria Math" panose="02040503050406030204" pitchFamily="18" charset="0"/>
                                </a:rPr>
                                <m:t>𝑆</m:t>
                              </m:r>
                              <m:r>
                                <a:rPr lang="en-US" i="1">
                                  <a:latin typeface="Cambria Math" panose="02040503050406030204" pitchFamily="18" charset="0"/>
                                </a:rPr>
                                <m:t>(</m:t>
                              </m:r>
                              <m:r>
                                <a:rPr lang="en-US" i="1">
                                  <a:latin typeface="Cambria Math" panose="02040503050406030204" pitchFamily="18" charset="0"/>
                                </a:rPr>
                                <m:t>𝐴</m:t>
                              </m:r>
                              <m:nary>
                                <m:naryPr>
                                  <m:chr m:val="⋃"/>
                                  <m:subHide m:val="on"/>
                                  <m:supHide m:val="on"/>
                                  <m:ctrlPr>
                                    <a:rPr lang="en-US" i="1">
                                      <a:latin typeface="Cambria Math" panose="02040503050406030204" pitchFamily="18" charset="0"/>
                                    </a:rPr>
                                  </m:ctrlPr>
                                </m:naryPr>
                                <m:sub/>
                                <m:sup/>
                                <m:e>
                                  <m:r>
                                    <a:rPr lang="en-US" i="1">
                                      <a:latin typeface="Cambria Math" panose="02040503050406030204" pitchFamily="18" charset="0"/>
                                    </a:rPr>
                                    <m:t>𝐵</m:t>
                                  </m:r>
                                  <m:r>
                                    <a:rPr lang="en-US" i="1">
                                      <a:latin typeface="Cambria Math" panose="02040503050406030204" pitchFamily="18" charset="0"/>
                                    </a:rPr>
                                    <m:t>) </m:t>
                                  </m:r>
                                </m:e>
                              </m:nary>
                            </m:e>
                          </m:d>
                        </m:den>
                      </m:f>
                    </m:oMath>
                  </m:oMathPara>
                </a14:m>
                <a:endParaRPr lang="en-US" dirty="0"/>
              </a:p>
            </p:txBody>
          </p:sp>
        </mc:Choice>
        <mc:Fallback xmlns="">
          <p:sp>
            <p:nvSpPr>
              <p:cNvPr id="8" name="TextBox 7">
                <a:extLst>
                  <a:ext uri="{FF2B5EF4-FFF2-40B4-BE49-F238E27FC236}">
                    <a16:creationId xmlns:a16="http://schemas.microsoft.com/office/drawing/2014/main" id="{5F0D95FF-D888-5908-0057-60A683AC4EAA}"/>
                  </a:ext>
                </a:extLst>
              </p:cNvPr>
              <p:cNvSpPr txBox="1">
                <a:spLocks noRot="1" noChangeAspect="1" noMove="1" noResize="1" noEditPoints="1" noAdjustHandles="1" noChangeArrowheads="1" noChangeShapeType="1" noTextEdit="1"/>
              </p:cNvSpPr>
              <p:nvPr/>
            </p:nvSpPr>
            <p:spPr>
              <a:xfrm>
                <a:off x="6523740" y="6200095"/>
                <a:ext cx="5832030" cy="584647"/>
              </a:xfrm>
              <a:prstGeom prst="rect">
                <a:avLst/>
              </a:prstGeom>
              <a:blipFill>
                <a:blip r:embed="rId4"/>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2BFE77BE-7493-58BE-0496-51F2443D7741}"/>
              </a:ext>
            </a:extLst>
          </p:cNvPr>
          <p:cNvSpPr txBox="1"/>
          <p:nvPr/>
        </p:nvSpPr>
        <p:spPr>
          <a:xfrm>
            <a:off x="400879" y="4556528"/>
            <a:ext cx="6183480"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Reduce each genome to a </a:t>
            </a:r>
            <a:r>
              <a:rPr lang="en-US" sz="2400" i="1" dirty="0" err="1"/>
              <a:t>MinHash</a:t>
            </a:r>
            <a:r>
              <a:rPr lang="en-US" sz="2400" i="1" dirty="0"/>
              <a:t>(G)</a:t>
            </a:r>
            <a:r>
              <a:rPr lang="en-US" sz="2400" dirty="0"/>
              <a:t>, a set of </a:t>
            </a:r>
            <a:r>
              <a:rPr lang="en-US" sz="2400" i="1" dirty="0"/>
              <a:t>s</a:t>
            </a:r>
            <a:r>
              <a:rPr lang="en-US" sz="2400" dirty="0"/>
              <a:t> integers (typically 500-10000)</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Compare </a:t>
            </a:r>
            <a:r>
              <a:rPr lang="en-US" sz="2400" i="1" dirty="0" err="1"/>
              <a:t>MinHashes</a:t>
            </a:r>
            <a:r>
              <a:rPr lang="en-US" sz="2400" dirty="0"/>
              <a:t> (sort)</a:t>
            </a:r>
          </a:p>
        </p:txBody>
      </p:sp>
    </p:spTree>
    <p:extLst>
      <p:ext uri="{BB962C8B-B14F-4D97-AF65-F5344CB8AC3E}">
        <p14:creationId xmlns:p14="http://schemas.microsoft.com/office/powerpoint/2010/main" val="3118770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790CC-D0D3-47A3-9C2C-71022A095DC2}"/>
              </a:ext>
            </a:extLst>
          </p:cNvPr>
          <p:cNvSpPr>
            <a:spLocks noGrp="1"/>
          </p:cNvSpPr>
          <p:nvPr>
            <p:ph type="title"/>
          </p:nvPr>
        </p:nvSpPr>
        <p:spPr>
          <a:xfrm>
            <a:off x="497020" y="360996"/>
            <a:ext cx="6143266" cy="596947"/>
          </a:xfrm>
        </p:spPr>
        <p:txBody>
          <a:bodyPr>
            <a:normAutofit fontScale="90000"/>
          </a:bodyPr>
          <a:lstStyle/>
          <a:p>
            <a:r>
              <a:rPr lang="en-US" dirty="0"/>
              <a:t>Computing approximate alignments with </a:t>
            </a:r>
            <a:r>
              <a:rPr lang="en-US" dirty="0" err="1"/>
              <a:t>MinHash</a:t>
            </a:r>
            <a:endParaRPr lang="en-US" dirty="0"/>
          </a:p>
        </p:txBody>
      </p:sp>
      <p:sp>
        <p:nvSpPr>
          <p:cNvPr id="3" name="Content Placeholder 2">
            <a:extLst>
              <a:ext uri="{FF2B5EF4-FFF2-40B4-BE49-F238E27FC236}">
                <a16:creationId xmlns:a16="http://schemas.microsoft.com/office/drawing/2014/main" id="{A6FC8AD9-9F75-ED84-646C-FE42BABF68CB}"/>
              </a:ext>
            </a:extLst>
          </p:cNvPr>
          <p:cNvSpPr>
            <a:spLocks noGrp="1"/>
          </p:cNvSpPr>
          <p:nvPr>
            <p:ph idx="1"/>
          </p:nvPr>
        </p:nvSpPr>
        <p:spPr>
          <a:xfrm>
            <a:off x="598619" y="1596540"/>
            <a:ext cx="6331951" cy="2982717"/>
          </a:xfrm>
        </p:spPr>
        <p:txBody>
          <a:bodyPr>
            <a:normAutofit/>
          </a:bodyPr>
          <a:lstStyle/>
          <a:p>
            <a:r>
              <a:rPr lang="en-US" dirty="0"/>
              <a:t>Can store genome positions of k-</a:t>
            </a:r>
            <a:r>
              <a:rPr lang="en-US" dirty="0" err="1"/>
              <a:t>mers</a:t>
            </a:r>
            <a:r>
              <a:rPr lang="en-US" dirty="0"/>
              <a:t> in the </a:t>
            </a:r>
            <a:r>
              <a:rPr lang="en-US" dirty="0" err="1"/>
              <a:t>MinHash</a:t>
            </a:r>
            <a:endParaRPr lang="en-US" dirty="0"/>
          </a:p>
          <a:p>
            <a:r>
              <a:rPr lang="en-US" dirty="0"/>
              <a:t>Compute approximate alignments as clusters of shared k-</a:t>
            </a:r>
            <a:r>
              <a:rPr lang="en-US" dirty="0" err="1"/>
              <a:t>mers</a:t>
            </a:r>
            <a:endParaRPr lang="en-US" dirty="0"/>
          </a:p>
          <a:p>
            <a:r>
              <a:rPr lang="en-US" dirty="0"/>
              <a:t>Requires bigger </a:t>
            </a:r>
            <a:r>
              <a:rPr lang="en-US" dirty="0" err="1"/>
              <a:t>MinHash</a:t>
            </a:r>
            <a:r>
              <a:rPr lang="en-US" dirty="0"/>
              <a:t> size </a:t>
            </a:r>
            <a:r>
              <a:rPr lang="en-US" i="1" dirty="0"/>
              <a:t>s</a:t>
            </a:r>
          </a:p>
          <a:p>
            <a:r>
              <a:rPr lang="en-US" dirty="0"/>
              <a:t>Implemented in </a:t>
            </a:r>
            <a:r>
              <a:rPr lang="en-US" dirty="0" err="1"/>
              <a:t>MashMap</a:t>
            </a:r>
            <a:r>
              <a:rPr lang="en-US" dirty="0"/>
              <a:t> software</a:t>
            </a:r>
          </a:p>
        </p:txBody>
      </p:sp>
      <p:sp>
        <p:nvSpPr>
          <p:cNvPr id="4" name="Slide Number Placeholder 3">
            <a:extLst>
              <a:ext uri="{FF2B5EF4-FFF2-40B4-BE49-F238E27FC236}">
                <a16:creationId xmlns:a16="http://schemas.microsoft.com/office/drawing/2014/main" id="{B862BB3F-F0A8-64BF-A1C8-5B57B4E6B27E}"/>
              </a:ext>
            </a:extLst>
          </p:cNvPr>
          <p:cNvSpPr>
            <a:spLocks noGrp="1"/>
          </p:cNvSpPr>
          <p:nvPr>
            <p:ph type="sldNum" sz="quarter" idx="12"/>
          </p:nvPr>
        </p:nvSpPr>
        <p:spPr/>
        <p:txBody>
          <a:bodyPr/>
          <a:lstStyle/>
          <a:p>
            <a:fld id="{B82CCC60-E8CD-4174-8B1A-7DF615B22EEF}" type="slidenum">
              <a:rPr lang="en-US" smtClean="0"/>
              <a:pPr/>
              <a:t>28</a:t>
            </a:fld>
            <a:endParaRPr lang="en-US"/>
          </a:p>
        </p:txBody>
      </p:sp>
      <p:pic>
        <p:nvPicPr>
          <p:cNvPr id="6" name="Picture 5">
            <a:extLst>
              <a:ext uri="{FF2B5EF4-FFF2-40B4-BE49-F238E27FC236}">
                <a16:creationId xmlns:a16="http://schemas.microsoft.com/office/drawing/2014/main" id="{F2B1D910-4575-D694-532E-85D13F07EBBB}"/>
              </a:ext>
            </a:extLst>
          </p:cNvPr>
          <p:cNvPicPr>
            <a:picLocks noChangeAspect="1"/>
          </p:cNvPicPr>
          <p:nvPr/>
        </p:nvPicPr>
        <p:blipFill>
          <a:blip r:embed="rId2"/>
          <a:stretch>
            <a:fillRect/>
          </a:stretch>
        </p:blipFill>
        <p:spPr>
          <a:xfrm>
            <a:off x="7174599" y="1365607"/>
            <a:ext cx="4604211" cy="4126786"/>
          </a:xfrm>
          <a:prstGeom prst="rect">
            <a:avLst/>
          </a:prstGeom>
        </p:spPr>
      </p:pic>
      <p:pic>
        <p:nvPicPr>
          <p:cNvPr id="8" name="Picture 7">
            <a:extLst>
              <a:ext uri="{FF2B5EF4-FFF2-40B4-BE49-F238E27FC236}">
                <a16:creationId xmlns:a16="http://schemas.microsoft.com/office/drawing/2014/main" id="{5FB915CD-91D5-7E5E-7FFB-3DEB8FF85619}"/>
              </a:ext>
            </a:extLst>
          </p:cNvPr>
          <p:cNvPicPr>
            <a:picLocks noChangeAspect="1"/>
          </p:cNvPicPr>
          <p:nvPr/>
        </p:nvPicPr>
        <p:blipFill>
          <a:blip r:embed="rId3"/>
          <a:stretch>
            <a:fillRect/>
          </a:stretch>
        </p:blipFill>
        <p:spPr>
          <a:xfrm>
            <a:off x="1608617" y="4579257"/>
            <a:ext cx="3260927" cy="2022281"/>
          </a:xfrm>
          <a:prstGeom prst="rect">
            <a:avLst/>
          </a:prstGeom>
        </p:spPr>
      </p:pic>
    </p:spTree>
    <p:extLst>
      <p:ext uri="{BB962C8B-B14F-4D97-AF65-F5344CB8AC3E}">
        <p14:creationId xmlns:p14="http://schemas.microsoft.com/office/powerpoint/2010/main" val="2675647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FF8B-7ECA-C64D-FA2B-BCFEEFCCEB32}"/>
              </a:ext>
            </a:extLst>
          </p:cNvPr>
          <p:cNvSpPr>
            <a:spLocks noGrp="1"/>
          </p:cNvSpPr>
          <p:nvPr>
            <p:ph type="title"/>
          </p:nvPr>
        </p:nvSpPr>
        <p:spPr/>
        <p:txBody>
          <a:bodyPr>
            <a:normAutofit fontScale="90000"/>
          </a:bodyPr>
          <a:lstStyle/>
          <a:p>
            <a:r>
              <a:rPr lang="en-US" dirty="0"/>
              <a:t>Metagenomic data analysis</a:t>
            </a:r>
          </a:p>
        </p:txBody>
      </p:sp>
      <p:pic>
        <p:nvPicPr>
          <p:cNvPr id="6" name="Content Placeholder 5">
            <a:extLst>
              <a:ext uri="{FF2B5EF4-FFF2-40B4-BE49-F238E27FC236}">
                <a16:creationId xmlns:a16="http://schemas.microsoft.com/office/drawing/2014/main" id="{D7E92C7B-504D-6DC3-4C68-C647A150FBAE}"/>
              </a:ext>
            </a:extLst>
          </p:cNvPr>
          <p:cNvPicPr>
            <a:picLocks noGrp="1" noChangeAspect="1"/>
          </p:cNvPicPr>
          <p:nvPr>
            <p:ph idx="1"/>
          </p:nvPr>
        </p:nvPicPr>
        <p:blipFill>
          <a:blip r:embed="rId2"/>
          <a:stretch>
            <a:fillRect/>
          </a:stretch>
        </p:blipFill>
        <p:spPr>
          <a:xfrm>
            <a:off x="7610015" y="1138425"/>
            <a:ext cx="4192756" cy="3917950"/>
          </a:xfrm>
          <a:prstGeom prst="rect">
            <a:avLst/>
          </a:prstGeom>
        </p:spPr>
      </p:pic>
      <p:sp>
        <p:nvSpPr>
          <p:cNvPr id="4" name="Slide Number Placeholder 3">
            <a:extLst>
              <a:ext uri="{FF2B5EF4-FFF2-40B4-BE49-F238E27FC236}">
                <a16:creationId xmlns:a16="http://schemas.microsoft.com/office/drawing/2014/main" id="{77DAF027-A525-628B-576F-4462F3A7A9DB}"/>
              </a:ext>
            </a:extLst>
          </p:cNvPr>
          <p:cNvSpPr>
            <a:spLocks noGrp="1"/>
          </p:cNvSpPr>
          <p:nvPr>
            <p:ph type="sldNum" sz="quarter" idx="12"/>
          </p:nvPr>
        </p:nvSpPr>
        <p:spPr/>
        <p:txBody>
          <a:bodyPr/>
          <a:lstStyle/>
          <a:p>
            <a:fld id="{B82CCC60-E8CD-4174-8B1A-7DF615B22EEF}" type="slidenum">
              <a:rPr lang="en-US" smtClean="0"/>
              <a:pPr/>
              <a:t>29</a:t>
            </a:fld>
            <a:endParaRPr lang="en-US"/>
          </a:p>
        </p:txBody>
      </p:sp>
      <p:pic>
        <p:nvPicPr>
          <p:cNvPr id="8" name="Picture 7">
            <a:extLst>
              <a:ext uri="{FF2B5EF4-FFF2-40B4-BE49-F238E27FC236}">
                <a16:creationId xmlns:a16="http://schemas.microsoft.com/office/drawing/2014/main" id="{AC51F317-6076-60E8-6ECF-526A018BD1B7}"/>
              </a:ext>
            </a:extLst>
          </p:cNvPr>
          <p:cNvPicPr>
            <a:picLocks noChangeAspect="1"/>
          </p:cNvPicPr>
          <p:nvPr/>
        </p:nvPicPr>
        <p:blipFill>
          <a:blip r:embed="rId3"/>
          <a:stretch>
            <a:fillRect/>
          </a:stretch>
        </p:blipFill>
        <p:spPr>
          <a:xfrm>
            <a:off x="7728736" y="5162543"/>
            <a:ext cx="4192757" cy="703894"/>
          </a:xfrm>
          <a:prstGeom prst="rect">
            <a:avLst/>
          </a:prstGeom>
        </p:spPr>
      </p:pic>
      <p:sp>
        <p:nvSpPr>
          <p:cNvPr id="9" name="Content Placeholder 2">
            <a:extLst>
              <a:ext uri="{FF2B5EF4-FFF2-40B4-BE49-F238E27FC236}">
                <a16:creationId xmlns:a16="http://schemas.microsoft.com/office/drawing/2014/main" id="{708743D7-D6BE-901B-CFEA-3F0240C13E25}"/>
              </a:ext>
            </a:extLst>
          </p:cNvPr>
          <p:cNvSpPr txBox="1">
            <a:spLocks/>
          </p:cNvSpPr>
          <p:nvPr/>
        </p:nvSpPr>
        <p:spPr>
          <a:xfrm>
            <a:off x="598619" y="1596540"/>
            <a:ext cx="6909086" cy="458115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2">
                    <a:lumMod val="50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2">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2">
                    <a:lumMod val="50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In a typical genome project you want to sequence DNA from a single organism</a:t>
            </a:r>
          </a:p>
          <a:p>
            <a:r>
              <a:rPr lang="en-US" dirty="0"/>
              <a:t>Metagenomic data is sequenced from a sample intentionally containing many species (many of them unknown)</a:t>
            </a:r>
          </a:p>
          <a:p>
            <a:r>
              <a:rPr lang="en-US" dirty="0"/>
              <a:t>Important for studying composition of microorganisms (bacteria of fungus), diagnostics of diseases</a:t>
            </a:r>
          </a:p>
          <a:p>
            <a:endParaRPr lang="en-US" dirty="0"/>
          </a:p>
        </p:txBody>
      </p:sp>
    </p:spTree>
    <p:extLst>
      <p:ext uri="{BB962C8B-B14F-4D97-AF65-F5344CB8AC3E}">
        <p14:creationId xmlns:p14="http://schemas.microsoft.com/office/powerpoint/2010/main" val="586871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92CFA-9895-FE23-736B-0ADCCDC9F354}"/>
              </a:ext>
            </a:extLst>
          </p:cNvPr>
          <p:cNvSpPr>
            <a:spLocks noGrp="1"/>
          </p:cNvSpPr>
          <p:nvPr>
            <p:ph type="title"/>
          </p:nvPr>
        </p:nvSpPr>
        <p:spPr/>
        <p:txBody>
          <a:bodyPr>
            <a:normAutofit fontScale="90000"/>
          </a:bodyPr>
          <a:lstStyle/>
          <a:p>
            <a:r>
              <a:rPr lang="en-US" dirty="0"/>
              <a:t>Characteristics of metagenomic data</a:t>
            </a:r>
          </a:p>
        </p:txBody>
      </p:sp>
      <p:sp>
        <p:nvSpPr>
          <p:cNvPr id="3" name="Content Placeholder 2">
            <a:extLst>
              <a:ext uri="{FF2B5EF4-FFF2-40B4-BE49-F238E27FC236}">
                <a16:creationId xmlns:a16="http://schemas.microsoft.com/office/drawing/2014/main" id="{B4F0B9E3-A9AD-BAD1-0027-F0D5944E8293}"/>
              </a:ext>
            </a:extLst>
          </p:cNvPr>
          <p:cNvSpPr>
            <a:spLocks noGrp="1"/>
          </p:cNvSpPr>
          <p:nvPr>
            <p:ph idx="1"/>
          </p:nvPr>
        </p:nvSpPr>
        <p:spPr/>
        <p:txBody>
          <a:bodyPr/>
          <a:lstStyle/>
          <a:p>
            <a:r>
              <a:rPr lang="en-US" dirty="0"/>
              <a:t>Typically short reads (Illumina)</a:t>
            </a:r>
          </a:p>
          <a:p>
            <a:r>
              <a:rPr lang="en-US" dirty="0"/>
              <a:t>Number of species: unknown</a:t>
            </a:r>
          </a:p>
          <a:p>
            <a:r>
              <a:rPr lang="en-US" dirty="0"/>
              <a:t>Coverage of each species: unknown</a:t>
            </a:r>
          </a:p>
          <a:p>
            <a:r>
              <a:rPr lang="en-US" dirty="0"/>
              <a:t>Assembly possible? Maybe, but similar species can assemble together forming chimeric contigs</a:t>
            </a:r>
          </a:p>
          <a:p>
            <a:r>
              <a:rPr lang="en-US" dirty="0"/>
              <a:t>Preferred mode of analysis: K-</a:t>
            </a:r>
            <a:r>
              <a:rPr lang="en-US" dirty="0" err="1"/>
              <a:t>mers</a:t>
            </a:r>
            <a:endParaRPr lang="en-US" dirty="0"/>
          </a:p>
        </p:txBody>
      </p:sp>
      <p:sp>
        <p:nvSpPr>
          <p:cNvPr id="4" name="Slide Number Placeholder 3">
            <a:extLst>
              <a:ext uri="{FF2B5EF4-FFF2-40B4-BE49-F238E27FC236}">
                <a16:creationId xmlns:a16="http://schemas.microsoft.com/office/drawing/2014/main" id="{9C11AC7E-93BD-3248-0387-86D1E1B0BA2B}"/>
              </a:ext>
            </a:extLst>
          </p:cNvPr>
          <p:cNvSpPr>
            <a:spLocks noGrp="1"/>
          </p:cNvSpPr>
          <p:nvPr>
            <p:ph type="sldNum" sz="quarter" idx="12"/>
          </p:nvPr>
        </p:nvSpPr>
        <p:spPr/>
        <p:txBody>
          <a:bodyPr/>
          <a:lstStyle/>
          <a:p>
            <a:fld id="{B82CCC60-E8CD-4174-8B1A-7DF615B22EEF}" type="slidenum">
              <a:rPr lang="en-US" smtClean="0"/>
              <a:pPr/>
              <a:t>30</a:t>
            </a:fld>
            <a:endParaRPr lang="en-US"/>
          </a:p>
        </p:txBody>
      </p:sp>
    </p:spTree>
    <p:extLst>
      <p:ext uri="{BB962C8B-B14F-4D97-AF65-F5344CB8AC3E}">
        <p14:creationId xmlns:p14="http://schemas.microsoft.com/office/powerpoint/2010/main" val="191581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CFA9E-52CD-A9B3-646D-3A27FD4536F0}"/>
              </a:ext>
            </a:extLst>
          </p:cNvPr>
          <p:cNvSpPr>
            <a:spLocks noGrp="1"/>
          </p:cNvSpPr>
          <p:nvPr>
            <p:ph type="title"/>
          </p:nvPr>
        </p:nvSpPr>
        <p:spPr/>
        <p:txBody>
          <a:bodyPr>
            <a:normAutofit fontScale="90000"/>
          </a:bodyPr>
          <a:lstStyle/>
          <a:p>
            <a:r>
              <a:rPr lang="en-US" dirty="0"/>
              <a:t>NCBI Taxonomy</a:t>
            </a:r>
          </a:p>
        </p:txBody>
      </p:sp>
      <p:sp>
        <p:nvSpPr>
          <p:cNvPr id="3" name="Content Placeholder 2">
            <a:extLst>
              <a:ext uri="{FF2B5EF4-FFF2-40B4-BE49-F238E27FC236}">
                <a16:creationId xmlns:a16="http://schemas.microsoft.com/office/drawing/2014/main" id="{D79EF711-9CE8-F047-1D7A-D8E212100B1E}"/>
              </a:ext>
            </a:extLst>
          </p:cNvPr>
          <p:cNvSpPr>
            <a:spLocks noGrp="1"/>
          </p:cNvSpPr>
          <p:nvPr>
            <p:ph idx="1"/>
          </p:nvPr>
        </p:nvSpPr>
        <p:spPr>
          <a:xfrm>
            <a:off x="598620" y="1596540"/>
            <a:ext cx="6562576" cy="5124936"/>
          </a:xfrm>
        </p:spPr>
        <p:txBody>
          <a:bodyPr>
            <a:normAutofit/>
          </a:bodyPr>
          <a:lstStyle/>
          <a:p>
            <a:r>
              <a:rPr lang="en-US" dirty="0"/>
              <a:t>The Taxonomy Database is a curated classification and nomenclature for all  organisms in the public sequence databases. </a:t>
            </a:r>
          </a:p>
          <a:p>
            <a:r>
              <a:rPr lang="en-US" dirty="0"/>
              <a:t>This currently represents about 10% of the described species of life on the planet.</a:t>
            </a:r>
          </a:p>
          <a:p>
            <a:r>
              <a:rPr lang="en-US" dirty="0"/>
              <a:t>All known species are part of NCBI Taxonomy tree.  Each node on the tree has a numerical ID</a:t>
            </a:r>
          </a:p>
        </p:txBody>
      </p:sp>
      <p:sp>
        <p:nvSpPr>
          <p:cNvPr id="4" name="Slide Number Placeholder 3">
            <a:extLst>
              <a:ext uri="{FF2B5EF4-FFF2-40B4-BE49-F238E27FC236}">
                <a16:creationId xmlns:a16="http://schemas.microsoft.com/office/drawing/2014/main" id="{FB440318-2B73-4E92-84B2-305EBCA6D8AC}"/>
              </a:ext>
            </a:extLst>
          </p:cNvPr>
          <p:cNvSpPr>
            <a:spLocks noGrp="1"/>
          </p:cNvSpPr>
          <p:nvPr>
            <p:ph type="sldNum" sz="quarter" idx="12"/>
          </p:nvPr>
        </p:nvSpPr>
        <p:spPr/>
        <p:txBody>
          <a:bodyPr/>
          <a:lstStyle/>
          <a:p>
            <a:fld id="{B82CCC60-E8CD-4174-8B1A-7DF615B22EEF}" type="slidenum">
              <a:rPr lang="en-US" smtClean="0"/>
              <a:pPr/>
              <a:t>31</a:t>
            </a:fld>
            <a:endParaRPr lang="en-US"/>
          </a:p>
        </p:txBody>
      </p:sp>
      <p:pic>
        <p:nvPicPr>
          <p:cNvPr id="6" name="Picture 5">
            <a:extLst>
              <a:ext uri="{FF2B5EF4-FFF2-40B4-BE49-F238E27FC236}">
                <a16:creationId xmlns:a16="http://schemas.microsoft.com/office/drawing/2014/main" id="{E663A6EE-ADB5-83B0-A0BA-2B2DE1B85AEF}"/>
              </a:ext>
            </a:extLst>
          </p:cNvPr>
          <p:cNvPicPr>
            <a:picLocks noChangeAspect="1"/>
          </p:cNvPicPr>
          <p:nvPr/>
        </p:nvPicPr>
        <p:blipFill>
          <a:blip r:embed="rId2"/>
          <a:stretch>
            <a:fillRect/>
          </a:stretch>
        </p:blipFill>
        <p:spPr>
          <a:xfrm>
            <a:off x="7007355" y="1596540"/>
            <a:ext cx="5098171" cy="3492818"/>
          </a:xfrm>
          <a:prstGeom prst="rect">
            <a:avLst/>
          </a:prstGeom>
        </p:spPr>
      </p:pic>
    </p:spTree>
    <p:extLst>
      <p:ext uri="{BB962C8B-B14F-4D97-AF65-F5344CB8AC3E}">
        <p14:creationId xmlns:p14="http://schemas.microsoft.com/office/powerpoint/2010/main" val="27112714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9E514-AD74-45CB-0C67-6F2F6F320367}"/>
              </a:ext>
            </a:extLst>
          </p:cNvPr>
          <p:cNvSpPr>
            <a:spLocks noGrp="1"/>
          </p:cNvSpPr>
          <p:nvPr>
            <p:ph type="title"/>
          </p:nvPr>
        </p:nvSpPr>
        <p:spPr/>
        <p:txBody>
          <a:bodyPr>
            <a:normAutofit fontScale="90000"/>
          </a:bodyPr>
          <a:lstStyle/>
          <a:p>
            <a:r>
              <a:rPr lang="en-US" dirty="0"/>
              <a:t>NCBI Taxonomy Browser</a:t>
            </a:r>
          </a:p>
        </p:txBody>
      </p:sp>
      <p:sp>
        <p:nvSpPr>
          <p:cNvPr id="3" name="Content Placeholder 2">
            <a:extLst>
              <a:ext uri="{FF2B5EF4-FFF2-40B4-BE49-F238E27FC236}">
                <a16:creationId xmlns:a16="http://schemas.microsoft.com/office/drawing/2014/main" id="{DC8826C5-D8D9-0630-D918-315B04F48924}"/>
              </a:ext>
            </a:extLst>
          </p:cNvPr>
          <p:cNvSpPr>
            <a:spLocks noGrp="1"/>
          </p:cNvSpPr>
          <p:nvPr>
            <p:ph idx="1"/>
          </p:nvPr>
        </p:nvSpPr>
        <p:spPr>
          <a:xfrm>
            <a:off x="598620" y="1596540"/>
            <a:ext cx="5272791" cy="3918803"/>
          </a:xfrm>
        </p:spPr>
        <p:txBody>
          <a:bodyPr/>
          <a:lstStyle/>
          <a:p>
            <a:r>
              <a:rPr lang="en-US" dirty="0"/>
              <a:t>By browsing the taxonomy tree one can find all known species, their ID and known evolutionary relationships</a:t>
            </a:r>
          </a:p>
          <a:p>
            <a:endParaRPr lang="en-US" dirty="0"/>
          </a:p>
          <a:p>
            <a:r>
              <a:rPr lang="en-US" dirty="0"/>
              <a:t>DEMO</a:t>
            </a:r>
          </a:p>
        </p:txBody>
      </p:sp>
      <p:sp>
        <p:nvSpPr>
          <p:cNvPr id="4" name="Slide Number Placeholder 3">
            <a:extLst>
              <a:ext uri="{FF2B5EF4-FFF2-40B4-BE49-F238E27FC236}">
                <a16:creationId xmlns:a16="http://schemas.microsoft.com/office/drawing/2014/main" id="{299EDE4F-6DEF-4722-E3E4-7D04A9366C69}"/>
              </a:ext>
            </a:extLst>
          </p:cNvPr>
          <p:cNvSpPr>
            <a:spLocks noGrp="1"/>
          </p:cNvSpPr>
          <p:nvPr>
            <p:ph type="sldNum" sz="quarter" idx="12"/>
          </p:nvPr>
        </p:nvSpPr>
        <p:spPr/>
        <p:txBody>
          <a:bodyPr/>
          <a:lstStyle/>
          <a:p>
            <a:fld id="{B82CCC60-E8CD-4174-8B1A-7DF615B22EEF}" type="slidenum">
              <a:rPr lang="en-US" smtClean="0"/>
              <a:pPr/>
              <a:t>32</a:t>
            </a:fld>
            <a:endParaRPr lang="en-US"/>
          </a:p>
        </p:txBody>
      </p:sp>
      <p:pic>
        <p:nvPicPr>
          <p:cNvPr id="6" name="Picture 5">
            <a:extLst>
              <a:ext uri="{FF2B5EF4-FFF2-40B4-BE49-F238E27FC236}">
                <a16:creationId xmlns:a16="http://schemas.microsoft.com/office/drawing/2014/main" id="{3F70E1E7-A65C-E2DC-30E9-8E509C1991B3}"/>
              </a:ext>
            </a:extLst>
          </p:cNvPr>
          <p:cNvPicPr>
            <a:picLocks noChangeAspect="1"/>
          </p:cNvPicPr>
          <p:nvPr/>
        </p:nvPicPr>
        <p:blipFill>
          <a:blip r:embed="rId2"/>
          <a:stretch>
            <a:fillRect/>
          </a:stretch>
        </p:blipFill>
        <p:spPr>
          <a:xfrm>
            <a:off x="6046764" y="1596540"/>
            <a:ext cx="6145236" cy="4581150"/>
          </a:xfrm>
          <a:prstGeom prst="rect">
            <a:avLst/>
          </a:prstGeom>
        </p:spPr>
      </p:pic>
    </p:spTree>
    <p:extLst>
      <p:ext uri="{BB962C8B-B14F-4D97-AF65-F5344CB8AC3E}">
        <p14:creationId xmlns:p14="http://schemas.microsoft.com/office/powerpoint/2010/main" val="41987901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57B61-F8AB-A062-29F0-CF1A276D03FF}"/>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8A99AE2F-3CF7-74FC-3A8B-478629B967F2}"/>
              </a:ext>
            </a:extLst>
          </p:cNvPr>
          <p:cNvSpPr>
            <a:spLocks noGrp="1"/>
          </p:cNvSpPr>
          <p:nvPr>
            <p:ph idx="1"/>
          </p:nvPr>
        </p:nvSpPr>
        <p:spPr>
          <a:xfrm>
            <a:off x="157069" y="1596540"/>
            <a:ext cx="6115001" cy="5124936"/>
          </a:xfrm>
        </p:spPr>
        <p:txBody>
          <a:bodyPr/>
          <a:lstStyle/>
          <a:p>
            <a:r>
              <a:rPr lang="en-US" dirty="0"/>
              <a:t>High resolution: </a:t>
            </a:r>
            <a:r>
              <a:rPr lang="en-US" dirty="0" err="1"/>
              <a:t>KrakenUniq</a:t>
            </a:r>
            <a:r>
              <a:rPr lang="en-US" dirty="0"/>
              <a:t>:</a:t>
            </a:r>
          </a:p>
          <a:p>
            <a:pPr lvl="1"/>
            <a:r>
              <a:rPr lang="en-US" dirty="0"/>
              <a:t>Build database of all k-</a:t>
            </a:r>
            <a:r>
              <a:rPr lang="en-US" dirty="0" err="1"/>
              <a:t>mers</a:t>
            </a:r>
            <a:r>
              <a:rPr lang="en-US" dirty="0"/>
              <a:t> in a set of species to be classified</a:t>
            </a:r>
          </a:p>
          <a:p>
            <a:pPr lvl="1"/>
            <a:r>
              <a:rPr lang="en-US" dirty="0"/>
              <a:t>Attach Taxonomic ID to each K-mer</a:t>
            </a:r>
          </a:p>
          <a:p>
            <a:pPr lvl="2"/>
            <a:r>
              <a:rPr lang="en-US" dirty="0"/>
              <a:t>Use the lowest common ancestor’s ID</a:t>
            </a:r>
          </a:p>
          <a:p>
            <a:pPr lvl="1"/>
            <a:r>
              <a:rPr lang="en-US" dirty="0"/>
              <a:t>Examine all k-</a:t>
            </a:r>
            <a:r>
              <a:rPr lang="en-US" dirty="0" err="1"/>
              <a:t>mers</a:t>
            </a:r>
            <a:r>
              <a:rPr lang="en-US" dirty="0"/>
              <a:t> in reads from metagenomic sample</a:t>
            </a:r>
          </a:p>
          <a:p>
            <a:pPr lvl="1"/>
            <a:r>
              <a:rPr lang="en-US" dirty="0"/>
              <a:t>Determine what Tax IDs are present</a:t>
            </a:r>
          </a:p>
          <a:p>
            <a:r>
              <a:rPr lang="en-US" dirty="0"/>
              <a:t>Databases are BIG!</a:t>
            </a:r>
          </a:p>
          <a:p>
            <a:pPr lvl="2"/>
            <a:endParaRPr lang="en-US" dirty="0"/>
          </a:p>
        </p:txBody>
      </p:sp>
      <p:sp>
        <p:nvSpPr>
          <p:cNvPr id="4" name="Slide Number Placeholder 3">
            <a:extLst>
              <a:ext uri="{FF2B5EF4-FFF2-40B4-BE49-F238E27FC236}">
                <a16:creationId xmlns:a16="http://schemas.microsoft.com/office/drawing/2014/main" id="{BE28B1E6-CC2B-C02C-779C-A8585EC60F9E}"/>
              </a:ext>
            </a:extLst>
          </p:cNvPr>
          <p:cNvSpPr>
            <a:spLocks noGrp="1"/>
          </p:cNvSpPr>
          <p:nvPr>
            <p:ph type="sldNum" sz="quarter" idx="12"/>
          </p:nvPr>
        </p:nvSpPr>
        <p:spPr/>
        <p:txBody>
          <a:bodyPr/>
          <a:lstStyle/>
          <a:p>
            <a:fld id="{B82CCC60-E8CD-4174-8B1A-7DF615B22EEF}" type="slidenum">
              <a:rPr lang="en-US" smtClean="0"/>
              <a:pPr/>
              <a:t>33</a:t>
            </a:fld>
            <a:endParaRPr lang="en-US"/>
          </a:p>
        </p:txBody>
      </p:sp>
      <p:sp>
        <p:nvSpPr>
          <p:cNvPr id="7" name="Oval 6">
            <a:extLst>
              <a:ext uri="{FF2B5EF4-FFF2-40B4-BE49-F238E27FC236}">
                <a16:creationId xmlns:a16="http://schemas.microsoft.com/office/drawing/2014/main" id="{A63B60D6-6328-2514-CC94-05026CF64D3F}"/>
              </a:ext>
            </a:extLst>
          </p:cNvPr>
          <p:cNvSpPr/>
          <p:nvPr/>
        </p:nvSpPr>
        <p:spPr>
          <a:xfrm>
            <a:off x="7555832" y="2009274"/>
            <a:ext cx="336884" cy="34891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95706D2-B99B-EB2C-DD1A-5D7F1E726BBE}"/>
              </a:ext>
            </a:extLst>
          </p:cNvPr>
          <p:cNvSpPr/>
          <p:nvPr/>
        </p:nvSpPr>
        <p:spPr>
          <a:xfrm>
            <a:off x="8229601" y="2018617"/>
            <a:ext cx="336884" cy="348915"/>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DDA7B58-FAA1-F362-6A51-1ED812893526}"/>
              </a:ext>
            </a:extLst>
          </p:cNvPr>
          <p:cNvSpPr/>
          <p:nvPr/>
        </p:nvSpPr>
        <p:spPr>
          <a:xfrm>
            <a:off x="8903370" y="2004533"/>
            <a:ext cx="336884" cy="348915"/>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BEE3CB4-D6E8-F6CA-BCFC-7D91E5377D66}"/>
              </a:ext>
            </a:extLst>
          </p:cNvPr>
          <p:cNvSpPr/>
          <p:nvPr/>
        </p:nvSpPr>
        <p:spPr>
          <a:xfrm>
            <a:off x="9586762" y="2771274"/>
            <a:ext cx="336884" cy="348915"/>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D7F004E-04F0-C6CD-077B-AD99FE477246}"/>
              </a:ext>
            </a:extLst>
          </p:cNvPr>
          <p:cNvSpPr/>
          <p:nvPr/>
        </p:nvSpPr>
        <p:spPr>
          <a:xfrm>
            <a:off x="7904748" y="2771274"/>
            <a:ext cx="336884" cy="348915"/>
          </a:xfrm>
          <a:prstGeom prst="ellips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64D15C6-573B-B89A-CBA2-F84A689ED567}"/>
              </a:ext>
            </a:extLst>
          </p:cNvPr>
          <p:cNvSpPr/>
          <p:nvPr/>
        </p:nvSpPr>
        <p:spPr>
          <a:xfrm>
            <a:off x="10035945" y="3381315"/>
            <a:ext cx="336884" cy="348915"/>
          </a:xfrm>
          <a:prstGeom prst="ellipse">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27F90DD-EF2D-7172-13E0-EB72770F916A}"/>
              </a:ext>
            </a:extLst>
          </p:cNvPr>
          <p:cNvSpPr/>
          <p:nvPr/>
        </p:nvSpPr>
        <p:spPr>
          <a:xfrm>
            <a:off x="9084111" y="4078692"/>
            <a:ext cx="336884" cy="348915"/>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008D9AD-11BD-D81D-0522-67D6B8457105}"/>
              </a:ext>
            </a:extLst>
          </p:cNvPr>
          <p:cNvSpPr/>
          <p:nvPr/>
        </p:nvSpPr>
        <p:spPr>
          <a:xfrm>
            <a:off x="8241632" y="3452262"/>
            <a:ext cx="336884" cy="348915"/>
          </a:xfrm>
          <a:prstGeom prst="ellipse">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2E8079E-B514-0401-13B7-7C30F586117B}"/>
              </a:ext>
            </a:extLst>
          </p:cNvPr>
          <p:cNvSpPr/>
          <p:nvPr/>
        </p:nvSpPr>
        <p:spPr>
          <a:xfrm>
            <a:off x="8529182" y="2759253"/>
            <a:ext cx="336884" cy="348915"/>
          </a:xfrm>
          <a:prstGeom prst="ellipse">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3A583B0F-778F-0091-89CA-50714AC8E9D7}"/>
              </a:ext>
            </a:extLst>
          </p:cNvPr>
          <p:cNvCxnSpPr>
            <a:stCxn id="13" idx="1"/>
            <a:endCxn id="14" idx="5"/>
          </p:cNvCxnSpPr>
          <p:nvPr/>
        </p:nvCxnSpPr>
        <p:spPr>
          <a:xfrm flipH="1" flipV="1">
            <a:off x="8529180" y="3750080"/>
            <a:ext cx="604267" cy="3797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A86C908-B026-F853-47C2-E24174F77745}"/>
              </a:ext>
            </a:extLst>
          </p:cNvPr>
          <p:cNvCxnSpPr>
            <a:cxnSpLocks/>
            <a:stCxn id="13" idx="7"/>
            <a:endCxn id="12" idx="3"/>
          </p:cNvCxnSpPr>
          <p:nvPr/>
        </p:nvCxnSpPr>
        <p:spPr>
          <a:xfrm flipV="1">
            <a:off x="9371659" y="3679133"/>
            <a:ext cx="713622" cy="450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785D585-3609-6EE2-F9B7-4FFDB510680C}"/>
              </a:ext>
            </a:extLst>
          </p:cNvPr>
          <p:cNvCxnSpPr>
            <a:cxnSpLocks/>
            <a:stCxn id="14" idx="1"/>
            <a:endCxn id="11" idx="4"/>
          </p:cNvCxnSpPr>
          <p:nvPr/>
        </p:nvCxnSpPr>
        <p:spPr>
          <a:xfrm flipH="1" flipV="1">
            <a:off x="8073190" y="3120189"/>
            <a:ext cx="217778" cy="3831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9C832D16-CC81-3682-BC26-7E1B11275DFE}"/>
              </a:ext>
            </a:extLst>
          </p:cNvPr>
          <p:cNvCxnSpPr>
            <a:cxnSpLocks/>
            <a:stCxn id="11" idx="1"/>
          </p:cNvCxnSpPr>
          <p:nvPr/>
        </p:nvCxnSpPr>
        <p:spPr>
          <a:xfrm flipH="1" flipV="1">
            <a:off x="7783827" y="2354298"/>
            <a:ext cx="170257" cy="468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DD194F66-8DFB-FBF1-ED82-B21CD5BF8FF4}"/>
              </a:ext>
            </a:extLst>
          </p:cNvPr>
          <p:cNvCxnSpPr>
            <a:cxnSpLocks/>
            <a:stCxn id="11" idx="0"/>
            <a:endCxn id="8" idx="3"/>
          </p:cNvCxnSpPr>
          <p:nvPr/>
        </p:nvCxnSpPr>
        <p:spPr>
          <a:xfrm flipV="1">
            <a:off x="8073190" y="2316435"/>
            <a:ext cx="205747" cy="4548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97E9B26C-E1E5-3664-8E20-67693EA9AABB}"/>
              </a:ext>
            </a:extLst>
          </p:cNvPr>
          <p:cNvCxnSpPr>
            <a:cxnSpLocks/>
            <a:stCxn id="11" idx="7"/>
            <a:endCxn id="9" idx="3"/>
          </p:cNvCxnSpPr>
          <p:nvPr/>
        </p:nvCxnSpPr>
        <p:spPr>
          <a:xfrm flipV="1">
            <a:off x="8192296" y="2302351"/>
            <a:ext cx="760410" cy="5200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471E71D-9544-6C51-E98F-A4FADBC7B714}"/>
              </a:ext>
            </a:extLst>
          </p:cNvPr>
          <p:cNvCxnSpPr>
            <a:cxnSpLocks/>
            <a:stCxn id="14" idx="7"/>
            <a:endCxn id="15" idx="4"/>
          </p:cNvCxnSpPr>
          <p:nvPr/>
        </p:nvCxnSpPr>
        <p:spPr>
          <a:xfrm flipV="1">
            <a:off x="8529180" y="3108168"/>
            <a:ext cx="168444" cy="3951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A5630235-2C8E-2C54-BD04-B37C1BE83EC6}"/>
              </a:ext>
            </a:extLst>
          </p:cNvPr>
          <p:cNvCxnSpPr>
            <a:cxnSpLocks/>
            <a:stCxn id="12" idx="1"/>
            <a:endCxn id="10" idx="5"/>
          </p:cNvCxnSpPr>
          <p:nvPr/>
        </p:nvCxnSpPr>
        <p:spPr>
          <a:xfrm flipH="1" flipV="1">
            <a:off x="9874310" y="3069092"/>
            <a:ext cx="210971" cy="363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038184CA-550F-DF94-F9CB-4A1046BB0D4E}"/>
              </a:ext>
            </a:extLst>
          </p:cNvPr>
          <p:cNvSpPr/>
          <p:nvPr/>
        </p:nvSpPr>
        <p:spPr>
          <a:xfrm>
            <a:off x="10422961" y="2751632"/>
            <a:ext cx="336884" cy="348915"/>
          </a:xfrm>
          <a:prstGeom prst="ellipse">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C6631E49-9531-05F2-603D-80F87CE12556}"/>
              </a:ext>
            </a:extLst>
          </p:cNvPr>
          <p:cNvCxnSpPr>
            <a:cxnSpLocks/>
            <a:stCxn id="12" idx="7"/>
            <a:endCxn id="53" idx="3"/>
          </p:cNvCxnSpPr>
          <p:nvPr/>
        </p:nvCxnSpPr>
        <p:spPr>
          <a:xfrm flipV="1">
            <a:off x="10323493" y="3049450"/>
            <a:ext cx="148804" cy="382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9958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358F3-7159-275B-0939-8E6931E35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D4855-2703-B0BB-38A7-160F10DC8640}"/>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AB9BFE13-CB34-F0C3-363D-E640E7457CC4}"/>
              </a:ext>
            </a:extLst>
          </p:cNvPr>
          <p:cNvSpPr>
            <a:spLocks noGrp="1"/>
          </p:cNvSpPr>
          <p:nvPr>
            <p:ph idx="1"/>
          </p:nvPr>
        </p:nvSpPr>
        <p:spPr>
          <a:xfrm>
            <a:off x="157069" y="1596540"/>
            <a:ext cx="6115001" cy="5124936"/>
          </a:xfrm>
        </p:spPr>
        <p:txBody>
          <a:bodyPr/>
          <a:lstStyle/>
          <a:p>
            <a:r>
              <a:rPr lang="en-US" dirty="0"/>
              <a:t>High resolution: </a:t>
            </a:r>
            <a:r>
              <a:rPr lang="en-US" dirty="0" err="1"/>
              <a:t>KrakenUniq</a:t>
            </a:r>
            <a:r>
              <a:rPr lang="en-US" dirty="0"/>
              <a:t>:</a:t>
            </a:r>
          </a:p>
          <a:p>
            <a:pPr lvl="1"/>
            <a:r>
              <a:rPr lang="en-US" dirty="0"/>
              <a:t>Build database of all k-</a:t>
            </a:r>
            <a:r>
              <a:rPr lang="en-US" dirty="0" err="1"/>
              <a:t>mers</a:t>
            </a:r>
            <a:r>
              <a:rPr lang="en-US" dirty="0"/>
              <a:t> in a set of species to be classified</a:t>
            </a:r>
          </a:p>
          <a:p>
            <a:pPr lvl="1"/>
            <a:r>
              <a:rPr lang="en-US" dirty="0"/>
              <a:t>Attach Taxonomic ID to each K-mer</a:t>
            </a:r>
          </a:p>
          <a:p>
            <a:pPr lvl="2"/>
            <a:r>
              <a:rPr lang="en-US" dirty="0"/>
              <a:t>Use the lowest common ancestor’s ID</a:t>
            </a:r>
          </a:p>
          <a:p>
            <a:pPr lvl="1"/>
            <a:r>
              <a:rPr lang="en-US" dirty="0"/>
              <a:t>Examine all k-</a:t>
            </a:r>
            <a:r>
              <a:rPr lang="en-US" dirty="0" err="1"/>
              <a:t>mers</a:t>
            </a:r>
            <a:r>
              <a:rPr lang="en-US" dirty="0"/>
              <a:t> in reads from metagenomic sample</a:t>
            </a:r>
          </a:p>
          <a:p>
            <a:pPr lvl="1"/>
            <a:r>
              <a:rPr lang="en-US" dirty="0"/>
              <a:t>Determine what Tax IDs are present</a:t>
            </a:r>
          </a:p>
          <a:p>
            <a:r>
              <a:rPr lang="en-US" dirty="0"/>
              <a:t>Databases are BIG!</a:t>
            </a:r>
          </a:p>
          <a:p>
            <a:pPr lvl="2"/>
            <a:endParaRPr lang="en-US" dirty="0"/>
          </a:p>
        </p:txBody>
      </p:sp>
      <p:sp>
        <p:nvSpPr>
          <p:cNvPr id="4" name="Slide Number Placeholder 3">
            <a:extLst>
              <a:ext uri="{FF2B5EF4-FFF2-40B4-BE49-F238E27FC236}">
                <a16:creationId xmlns:a16="http://schemas.microsoft.com/office/drawing/2014/main" id="{93C7DC64-079A-37B5-8907-FB76A3FB956C}"/>
              </a:ext>
            </a:extLst>
          </p:cNvPr>
          <p:cNvSpPr>
            <a:spLocks noGrp="1"/>
          </p:cNvSpPr>
          <p:nvPr>
            <p:ph type="sldNum" sz="quarter" idx="12"/>
          </p:nvPr>
        </p:nvSpPr>
        <p:spPr/>
        <p:txBody>
          <a:bodyPr/>
          <a:lstStyle/>
          <a:p>
            <a:fld id="{B82CCC60-E8CD-4174-8B1A-7DF615B22EEF}" type="slidenum">
              <a:rPr lang="en-US" smtClean="0"/>
              <a:pPr/>
              <a:t>34</a:t>
            </a:fld>
            <a:endParaRPr lang="en-US"/>
          </a:p>
        </p:txBody>
      </p:sp>
      <p:pic>
        <p:nvPicPr>
          <p:cNvPr id="6" name="Picture 5">
            <a:extLst>
              <a:ext uri="{FF2B5EF4-FFF2-40B4-BE49-F238E27FC236}">
                <a16:creationId xmlns:a16="http://schemas.microsoft.com/office/drawing/2014/main" id="{F38BC043-165D-78F1-4497-E1915FBD7944}"/>
              </a:ext>
            </a:extLst>
          </p:cNvPr>
          <p:cNvPicPr>
            <a:picLocks noChangeAspect="1"/>
          </p:cNvPicPr>
          <p:nvPr/>
        </p:nvPicPr>
        <p:blipFill>
          <a:blip r:embed="rId2"/>
          <a:stretch>
            <a:fillRect/>
          </a:stretch>
        </p:blipFill>
        <p:spPr>
          <a:xfrm>
            <a:off x="6416448" y="1596540"/>
            <a:ext cx="5639587" cy="3477110"/>
          </a:xfrm>
          <a:prstGeom prst="rect">
            <a:avLst/>
          </a:prstGeom>
        </p:spPr>
      </p:pic>
    </p:spTree>
    <p:extLst>
      <p:ext uri="{BB962C8B-B14F-4D97-AF65-F5344CB8AC3E}">
        <p14:creationId xmlns:p14="http://schemas.microsoft.com/office/powerpoint/2010/main" val="33820680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D0C8-7423-0921-33B1-1A65892CB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EC0EA-C0EE-9BA9-2A59-F7E32D973E87}"/>
              </a:ext>
            </a:extLst>
          </p:cNvPr>
          <p:cNvSpPr>
            <a:spLocks noGrp="1"/>
          </p:cNvSpPr>
          <p:nvPr>
            <p:ph type="title"/>
          </p:nvPr>
        </p:nvSpPr>
        <p:spPr/>
        <p:txBody>
          <a:bodyPr>
            <a:normAutofit fontScale="90000"/>
          </a:bodyPr>
          <a:lstStyle/>
          <a:p>
            <a:r>
              <a:rPr lang="en-US" dirty="0"/>
              <a:t>Analysis of metagenomic data</a:t>
            </a:r>
          </a:p>
        </p:txBody>
      </p:sp>
      <p:sp>
        <p:nvSpPr>
          <p:cNvPr id="3" name="Content Placeholder 2">
            <a:extLst>
              <a:ext uri="{FF2B5EF4-FFF2-40B4-BE49-F238E27FC236}">
                <a16:creationId xmlns:a16="http://schemas.microsoft.com/office/drawing/2014/main" id="{7B264D54-BA8D-456A-8DF7-3527C0DB17AF}"/>
              </a:ext>
            </a:extLst>
          </p:cNvPr>
          <p:cNvSpPr>
            <a:spLocks noGrp="1"/>
          </p:cNvSpPr>
          <p:nvPr>
            <p:ph idx="1"/>
          </p:nvPr>
        </p:nvSpPr>
        <p:spPr>
          <a:xfrm>
            <a:off x="598620" y="1596540"/>
            <a:ext cx="10972800" cy="5124936"/>
          </a:xfrm>
        </p:spPr>
        <p:txBody>
          <a:bodyPr/>
          <a:lstStyle/>
          <a:p>
            <a:r>
              <a:rPr lang="en-US" dirty="0"/>
              <a:t>WARNING!  Contamination!</a:t>
            </a:r>
          </a:p>
          <a:p>
            <a:pPr lvl="1"/>
            <a:r>
              <a:rPr lang="en-US" dirty="0"/>
              <a:t>Species detected != It is in the sample</a:t>
            </a:r>
          </a:p>
          <a:p>
            <a:pPr lvl="2"/>
            <a:r>
              <a:rPr lang="en-US" dirty="0"/>
              <a:t>Lab contamination</a:t>
            </a:r>
          </a:p>
          <a:p>
            <a:pPr lvl="2"/>
            <a:r>
              <a:rPr lang="en-US" dirty="0"/>
              <a:t>Illumina sequencing chemicals have contaminants in them</a:t>
            </a:r>
          </a:p>
          <a:p>
            <a:pPr lvl="2"/>
            <a:r>
              <a:rPr lang="en-US" dirty="0"/>
              <a:t>Sample collection contamination</a:t>
            </a:r>
          </a:p>
          <a:p>
            <a:pPr lvl="1"/>
            <a:r>
              <a:rPr lang="en-US" dirty="0"/>
              <a:t>Can run control sample to eliminate contamination</a:t>
            </a:r>
          </a:p>
          <a:p>
            <a:pPr lvl="2"/>
            <a:endParaRPr lang="en-US" dirty="0"/>
          </a:p>
        </p:txBody>
      </p:sp>
      <p:sp>
        <p:nvSpPr>
          <p:cNvPr id="4" name="Slide Number Placeholder 3">
            <a:extLst>
              <a:ext uri="{FF2B5EF4-FFF2-40B4-BE49-F238E27FC236}">
                <a16:creationId xmlns:a16="http://schemas.microsoft.com/office/drawing/2014/main" id="{88770BC6-C7E7-68F8-07FB-7AAFB51FA596}"/>
              </a:ext>
            </a:extLst>
          </p:cNvPr>
          <p:cNvSpPr>
            <a:spLocks noGrp="1"/>
          </p:cNvSpPr>
          <p:nvPr>
            <p:ph type="sldNum" sz="quarter" idx="12"/>
          </p:nvPr>
        </p:nvSpPr>
        <p:spPr/>
        <p:txBody>
          <a:bodyPr/>
          <a:lstStyle/>
          <a:p>
            <a:fld id="{B82CCC60-E8CD-4174-8B1A-7DF615B22EEF}" type="slidenum">
              <a:rPr lang="en-US" smtClean="0"/>
              <a:pPr/>
              <a:t>35</a:t>
            </a:fld>
            <a:endParaRPr lang="en-US"/>
          </a:p>
        </p:txBody>
      </p:sp>
    </p:spTree>
    <p:extLst>
      <p:ext uri="{BB962C8B-B14F-4D97-AF65-F5344CB8AC3E}">
        <p14:creationId xmlns:p14="http://schemas.microsoft.com/office/powerpoint/2010/main" val="42360148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E00B6-32B5-6192-8B80-2530E3D7A84C}"/>
              </a:ext>
            </a:extLst>
          </p:cNvPr>
          <p:cNvSpPr>
            <a:spLocks noGrp="1"/>
          </p:cNvSpPr>
          <p:nvPr>
            <p:ph type="title"/>
          </p:nvPr>
        </p:nvSpPr>
        <p:spPr/>
        <p:txBody>
          <a:bodyPr>
            <a:normAutofit fontScale="90000"/>
          </a:bodyPr>
          <a:lstStyle/>
          <a:p>
            <a:r>
              <a:rPr lang="en-US" dirty="0"/>
              <a:t>Long-read metagenomics</a:t>
            </a:r>
          </a:p>
        </p:txBody>
      </p:sp>
      <p:sp>
        <p:nvSpPr>
          <p:cNvPr id="3" name="Content Placeholder 2">
            <a:extLst>
              <a:ext uri="{FF2B5EF4-FFF2-40B4-BE49-F238E27FC236}">
                <a16:creationId xmlns:a16="http://schemas.microsoft.com/office/drawing/2014/main" id="{ACCA6921-BB05-1912-4608-5CC9E7E78CF6}"/>
              </a:ext>
            </a:extLst>
          </p:cNvPr>
          <p:cNvSpPr>
            <a:spLocks noGrp="1"/>
          </p:cNvSpPr>
          <p:nvPr>
            <p:ph idx="1"/>
          </p:nvPr>
        </p:nvSpPr>
        <p:spPr>
          <a:xfrm>
            <a:off x="598620" y="1596540"/>
            <a:ext cx="10972800" cy="5008797"/>
          </a:xfrm>
        </p:spPr>
        <p:txBody>
          <a:bodyPr/>
          <a:lstStyle/>
          <a:p>
            <a:r>
              <a:rPr lang="en-US" dirty="0"/>
              <a:t>Long read sequencing is getting cheaper -&gt; can use them for metagenomic samples</a:t>
            </a:r>
          </a:p>
          <a:p>
            <a:r>
              <a:rPr lang="en-US" dirty="0"/>
              <a:t>ONT MinION is portable – can take it into the field</a:t>
            </a:r>
          </a:p>
          <a:p>
            <a:r>
              <a:rPr lang="en-US" dirty="0"/>
              <a:t>Each read yields more K-</a:t>
            </a:r>
            <a:r>
              <a:rPr lang="en-US" dirty="0" err="1"/>
              <a:t>mers</a:t>
            </a:r>
            <a:endParaRPr lang="en-US" dirty="0"/>
          </a:p>
          <a:p>
            <a:r>
              <a:rPr lang="en-US" dirty="0"/>
              <a:t>Create database of sketches or minimizers in genomes</a:t>
            </a:r>
          </a:p>
          <a:p>
            <a:pPr lvl="1"/>
            <a:r>
              <a:rPr lang="en-US" dirty="0"/>
              <a:t>Use minimizers with large window size – number or minimizers proportional to each genome size, or</a:t>
            </a:r>
          </a:p>
          <a:p>
            <a:pPr lvl="1"/>
            <a:r>
              <a:rPr lang="en-US" dirty="0"/>
              <a:t>Use fixed size sketches</a:t>
            </a:r>
          </a:p>
          <a:p>
            <a:r>
              <a:rPr lang="en-US" dirty="0"/>
              <a:t>Assign the Tax ID of the lowest common ancestor to each K-mer</a:t>
            </a:r>
          </a:p>
        </p:txBody>
      </p:sp>
      <p:sp>
        <p:nvSpPr>
          <p:cNvPr id="4" name="Slide Number Placeholder 3">
            <a:extLst>
              <a:ext uri="{FF2B5EF4-FFF2-40B4-BE49-F238E27FC236}">
                <a16:creationId xmlns:a16="http://schemas.microsoft.com/office/drawing/2014/main" id="{6A8525EC-A8F4-5C74-96A2-841EE47E8E7A}"/>
              </a:ext>
            </a:extLst>
          </p:cNvPr>
          <p:cNvSpPr>
            <a:spLocks noGrp="1"/>
          </p:cNvSpPr>
          <p:nvPr>
            <p:ph type="sldNum" sz="quarter" idx="12"/>
          </p:nvPr>
        </p:nvSpPr>
        <p:spPr/>
        <p:txBody>
          <a:bodyPr/>
          <a:lstStyle/>
          <a:p>
            <a:fld id="{B82CCC60-E8CD-4174-8B1A-7DF615B22EEF}" type="slidenum">
              <a:rPr lang="en-US" smtClean="0"/>
              <a:pPr/>
              <a:t>36</a:t>
            </a:fld>
            <a:endParaRPr lang="en-US"/>
          </a:p>
        </p:txBody>
      </p:sp>
      <p:pic>
        <p:nvPicPr>
          <p:cNvPr id="5" name="Picture 4">
            <a:extLst>
              <a:ext uri="{FF2B5EF4-FFF2-40B4-BE49-F238E27FC236}">
                <a16:creationId xmlns:a16="http://schemas.microsoft.com/office/drawing/2014/main" id="{A64DBAE8-6AC2-456B-C4AF-8AA16BFF8C94}"/>
              </a:ext>
            </a:extLst>
          </p:cNvPr>
          <p:cNvPicPr>
            <a:picLocks noChangeAspect="1"/>
          </p:cNvPicPr>
          <p:nvPr/>
        </p:nvPicPr>
        <p:blipFill>
          <a:blip r:embed="rId2"/>
          <a:stretch>
            <a:fillRect/>
          </a:stretch>
        </p:blipFill>
        <p:spPr>
          <a:xfrm>
            <a:off x="8533569" y="2138950"/>
            <a:ext cx="2047479" cy="892701"/>
          </a:xfrm>
          <a:prstGeom prst="rect">
            <a:avLst/>
          </a:prstGeom>
        </p:spPr>
      </p:pic>
    </p:spTree>
    <p:extLst>
      <p:ext uri="{BB962C8B-B14F-4D97-AF65-F5344CB8AC3E}">
        <p14:creationId xmlns:p14="http://schemas.microsoft.com/office/powerpoint/2010/main" val="462681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432BC-F28F-CB44-3A6A-24FD3E899FE7}"/>
              </a:ext>
            </a:extLst>
          </p:cNvPr>
          <p:cNvSpPr>
            <a:spLocks noGrp="1"/>
          </p:cNvSpPr>
          <p:nvPr>
            <p:ph type="title"/>
          </p:nvPr>
        </p:nvSpPr>
        <p:spPr/>
        <p:txBody>
          <a:bodyPr>
            <a:normAutofit fontScale="90000"/>
          </a:bodyPr>
          <a:lstStyle/>
          <a:p>
            <a:r>
              <a:rPr lang="en-US" dirty="0"/>
              <a:t>Making sense of genomic sequence</a:t>
            </a:r>
          </a:p>
        </p:txBody>
      </p:sp>
      <p:sp>
        <p:nvSpPr>
          <p:cNvPr id="3" name="Content Placeholder 2">
            <a:extLst>
              <a:ext uri="{FF2B5EF4-FFF2-40B4-BE49-F238E27FC236}">
                <a16:creationId xmlns:a16="http://schemas.microsoft.com/office/drawing/2014/main" id="{3FAB2AAB-32CD-6C80-DBE6-A5E636746884}"/>
              </a:ext>
            </a:extLst>
          </p:cNvPr>
          <p:cNvSpPr>
            <a:spLocks noGrp="1"/>
          </p:cNvSpPr>
          <p:nvPr>
            <p:ph idx="1"/>
          </p:nvPr>
        </p:nvSpPr>
        <p:spPr>
          <a:xfrm>
            <a:off x="598620" y="1596540"/>
            <a:ext cx="10972800" cy="4759811"/>
          </a:xfrm>
        </p:spPr>
        <p:txBody>
          <a:bodyPr>
            <a:normAutofit/>
          </a:bodyPr>
          <a:lstStyle/>
          <a:p>
            <a:r>
              <a:rPr lang="en-US" dirty="0"/>
              <a:t>We assembled the genome – what is next?</a:t>
            </a:r>
          </a:p>
          <a:p>
            <a:r>
              <a:rPr lang="en-US" dirty="0"/>
              <a:t>We can identify functionally important elements (subsequences):</a:t>
            </a:r>
          </a:p>
          <a:p>
            <a:pPr lvl="1"/>
            <a:r>
              <a:rPr lang="en-US" dirty="0"/>
              <a:t>Genes</a:t>
            </a:r>
          </a:p>
          <a:p>
            <a:pPr lvl="1"/>
            <a:r>
              <a:rPr lang="en-US" dirty="0"/>
              <a:t>Protein coding regions</a:t>
            </a:r>
          </a:p>
          <a:p>
            <a:pPr lvl="1"/>
            <a:r>
              <a:rPr lang="en-US" dirty="0"/>
              <a:t>Regulatory elements</a:t>
            </a:r>
          </a:p>
          <a:p>
            <a:pPr lvl="1"/>
            <a:r>
              <a:rPr lang="en-US" dirty="0"/>
              <a:t>This is called </a:t>
            </a:r>
            <a:r>
              <a:rPr lang="en-US" i="1" dirty="0"/>
              <a:t>genome annotation</a:t>
            </a:r>
          </a:p>
          <a:p>
            <a:r>
              <a:rPr lang="en-US" i="1" dirty="0"/>
              <a:t>Genome annotation </a:t>
            </a:r>
            <a:r>
              <a:rPr lang="en-US" dirty="0"/>
              <a:t>provides coordinates (start, stop and strand) and identifies function of functional elements in the genomic sequence</a:t>
            </a:r>
            <a:endParaRPr lang="en-US" i="1" dirty="0"/>
          </a:p>
        </p:txBody>
      </p:sp>
      <p:sp>
        <p:nvSpPr>
          <p:cNvPr id="4" name="Slide Number Placeholder 3">
            <a:extLst>
              <a:ext uri="{FF2B5EF4-FFF2-40B4-BE49-F238E27FC236}">
                <a16:creationId xmlns:a16="http://schemas.microsoft.com/office/drawing/2014/main" id="{2B709678-CD1E-EF3C-E7B0-557C6BD58873}"/>
              </a:ext>
            </a:extLst>
          </p:cNvPr>
          <p:cNvSpPr>
            <a:spLocks noGrp="1"/>
          </p:cNvSpPr>
          <p:nvPr>
            <p:ph type="sldNum" sz="quarter" idx="12"/>
          </p:nvPr>
        </p:nvSpPr>
        <p:spPr/>
        <p:txBody>
          <a:bodyPr/>
          <a:lstStyle/>
          <a:p>
            <a:fld id="{B82CCC60-E8CD-4174-8B1A-7DF615B22EEF}" type="slidenum">
              <a:rPr lang="en-US" smtClean="0"/>
              <a:pPr/>
              <a:t>37</a:t>
            </a:fld>
            <a:endParaRPr lang="en-US"/>
          </a:p>
        </p:txBody>
      </p:sp>
    </p:spTree>
    <p:extLst>
      <p:ext uri="{BB962C8B-B14F-4D97-AF65-F5344CB8AC3E}">
        <p14:creationId xmlns:p14="http://schemas.microsoft.com/office/powerpoint/2010/main" val="26970711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CB229-F05B-9C72-C7AC-C9C4E770B563}"/>
              </a:ext>
            </a:extLst>
          </p:cNvPr>
          <p:cNvSpPr>
            <a:spLocks noGrp="1"/>
          </p:cNvSpPr>
          <p:nvPr>
            <p:ph type="title"/>
          </p:nvPr>
        </p:nvSpPr>
        <p:spPr/>
        <p:txBody>
          <a:bodyPr>
            <a:normAutofit fontScale="90000"/>
          </a:bodyPr>
          <a:lstStyle/>
          <a:p>
            <a:r>
              <a:rPr lang="en-US" dirty="0"/>
              <a:t>How transcription + translation works?</a:t>
            </a:r>
          </a:p>
        </p:txBody>
      </p:sp>
      <p:pic>
        <p:nvPicPr>
          <p:cNvPr id="5" name="Picture 4">
            <a:extLst>
              <a:ext uri="{FF2B5EF4-FFF2-40B4-BE49-F238E27FC236}">
                <a16:creationId xmlns:a16="http://schemas.microsoft.com/office/drawing/2014/main" id="{4F2E8170-E86A-1FC5-986A-6762D834E690}"/>
              </a:ext>
            </a:extLst>
          </p:cNvPr>
          <p:cNvPicPr>
            <a:picLocks noChangeAspect="1"/>
          </p:cNvPicPr>
          <p:nvPr/>
        </p:nvPicPr>
        <p:blipFill>
          <a:blip r:embed="rId3"/>
          <a:stretch>
            <a:fillRect/>
          </a:stretch>
        </p:blipFill>
        <p:spPr>
          <a:xfrm>
            <a:off x="271921" y="1457739"/>
            <a:ext cx="6770056" cy="5400261"/>
          </a:xfrm>
          <a:prstGeom prst="rect">
            <a:avLst/>
          </a:prstGeom>
        </p:spPr>
      </p:pic>
      <p:sp>
        <p:nvSpPr>
          <p:cNvPr id="6" name="Content Placeholder 2">
            <a:extLst>
              <a:ext uri="{FF2B5EF4-FFF2-40B4-BE49-F238E27FC236}">
                <a16:creationId xmlns:a16="http://schemas.microsoft.com/office/drawing/2014/main" id="{FA4D5DA9-CA09-D0F9-E6B9-42615BC1B89C}"/>
              </a:ext>
            </a:extLst>
          </p:cNvPr>
          <p:cNvSpPr>
            <a:spLocks noGrp="1"/>
          </p:cNvSpPr>
          <p:nvPr>
            <p:ph idx="1"/>
          </p:nvPr>
        </p:nvSpPr>
        <p:spPr>
          <a:xfrm>
            <a:off x="7276563" y="1457738"/>
            <a:ext cx="4915437" cy="5400261"/>
          </a:xfrm>
        </p:spPr>
        <p:txBody>
          <a:bodyPr/>
          <a:lstStyle/>
          <a:p>
            <a:r>
              <a:rPr lang="en-US" b="0" i="0" dirty="0">
                <a:solidFill>
                  <a:srgbClr val="1B1B1B"/>
                </a:solidFill>
                <a:effectLst/>
              </a:rPr>
              <a:t>Transcription and translation are processes a cell uses to make all proteins the organism needs to function from information stored in the sequence of bases in DNA</a:t>
            </a:r>
          </a:p>
          <a:p>
            <a:r>
              <a:rPr lang="en-US" dirty="0">
                <a:solidFill>
                  <a:srgbClr val="1B1B1B"/>
                </a:solidFill>
              </a:rPr>
              <a:t>Pre-mRNA has introns</a:t>
            </a:r>
          </a:p>
          <a:p>
            <a:r>
              <a:rPr lang="en-US" b="0" i="0" dirty="0">
                <a:solidFill>
                  <a:srgbClr val="1B1B1B"/>
                </a:solidFill>
                <a:effectLst/>
              </a:rPr>
              <a:t>mRNA has introns spliced out</a:t>
            </a:r>
          </a:p>
          <a:p>
            <a:r>
              <a:rPr lang="en-US" dirty="0">
                <a:solidFill>
                  <a:srgbClr val="1B1B1B"/>
                </a:solidFill>
              </a:rPr>
              <a:t>Transcript is mRNA with U’s replaced by T’s</a:t>
            </a:r>
            <a:endParaRPr lang="en-US" b="0" i="0" dirty="0">
              <a:solidFill>
                <a:srgbClr val="1B1B1B"/>
              </a:solidFill>
              <a:effectLst/>
            </a:endParaRPr>
          </a:p>
          <a:p>
            <a:endParaRPr lang="en-US" dirty="0"/>
          </a:p>
        </p:txBody>
      </p:sp>
    </p:spTree>
    <p:extLst>
      <p:ext uri="{BB962C8B-B14F-4D97-AF65-F5344CB8AC3E}">
        <p14:creationId xmlns:p14="http://schemas.microsoft.com/office/powerpoint/2010/main" val="25373937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28ED-23E7-0DD9-698A-54638488F9BA}"/>
              </a:ext>
            </a:extLst>
          </p:cNvPr>
          <p:cNvSpPr>
            <a:spLocks noGrp="1"/>
          </p:cNvSpPr>
          <p:nvPr>
            <p:ph type="title"/>
          </p:nvPr>
        </p:nvSpPr>
        <p:spPr/>
        <p:txBody>
          <a:bodyPr>
            <a:normAutofit fontScale="90000"/>
          </a:bodyPr>
          <a:lstStyle/>
          <a:p>
            <a:r>
              <a:rPr lang="en-US" dirty="0"/>
              <a:t>Splicing</a:t>
            </a:r>
          </a:p>
        </p:txBody>
      </p:sp>
      <p:sp>
        <p:nvSpPr>
          <p:cNvPr id="3" name="Content Placeholder 2">
            <a:extLst>
              <a:ext uri="{FF2B5EF4-FFF2-40B4-BE49-F238E27FC236}">
                <a16:creationId xmlns:a16="http://schemas.microsoft.com/office/drawing/2014/main" id="{F16D4F4A-7104-01C8-D998-62D6074CEEB9}"/>
              </a:ext>
            </a:extLst>
          </p:cNvPr>
          <p:cNvSpPr>
            <a:spLocks noGrp="1"/>
          </p:cNvSpPr>
          <p:nvPr>
            <p:ph idx="1"/>
          </p:nvPr>
        </p:nvSpPr>
        <p:spPr>
          <a:xfrm>
            <a:off x="598620" y="1596540"/>
            <a:ext cx="5908058" cy="5124936"/>
          </a:xfrm>
        </p:spPr>
        <p:txBody>
          <a:bodyPr>
            <a:normAutofit fontScale="92500" lnSpcReduction="10000"/>
          </a:bodyPr>
          <a:lstStyle/>
          <a:p>
            <a:r>
              <a:rPr lang="en-US" dirty="0"/>
              <a:t>Spliceosome includes five so-called ‘small nuclear ribonucleoproteins’ (snRNPs, often pronounced ‘snurps’) and numerous associated proteins. </a:t>
            </a:r>
          </a:p>
          <a:p>
            <a:r>
              <a:rPr lang="en-US" dirty="0"/>
              <a:t>The snRNPs contain RNA that is rich in Uracil, the RNA base that replaces DNA’s Thymine, and they are named – perhaps unimaginatively – U1, U2, U4, U5 and U6</a:t>
            </a:r>
          </a:p>
          <a:p>
            <a:r>
              <a:rPr lang="en-US" dirty="0"/>
              <a:t>Spliceosome determines the start and end of an intron by detecting DNA patterns around donor (typically GT) and acceptor (typically AG) sites</a:t>
            </a:r>
          </a:p>
        </p:txBody>
      </p:sp>
      <p:sp>
        <p:nvSpPr>
          <p:cNvPr id="4" name="Slide Number Placeholder 3">
            <a:extLst>
              <a:ext uri="{FF2B5EF4-FFF2-40B4-BE49-F238E27FC236}">
                <a16:creationId xmlns:a16="http://schemas.microsoft.com/office/drawing/2014/main" id="{89578F2D-FE73-DD43-722C-B83D9DA54F59}"/>
              </a:ext>
            </a:extLst>
          </p:cNvPr>
          <p:cNvSpPr>
            <a:spLocks noGrp="1"/>
          </p:cNvSpPr>
          <p:nvPr>
            <p:ph type="sldNum" sz="quarter" idx="12"/>
          </p:nvPr>
        </p:nvSpPr>
        <p:spPr/>
        <p:txBody>
          <a:bodyPr/>
          <a:lstStyle/>
          <a:p>
            <a:fld id="{B82CCC60-E8CD-4174-8B1A-7DF615B22EEF}" type="slidenum">
              <a:rPr lang="en-US" smtClean="0"/>
              <a:pPr/>
              <a:t>39</a:t>
            </a:fld>
            <a:endParaRPr lang="en-US"/>
          </a:p>
        </p:txBody>
      </p:sp>
      <p:pic>
        <p:nvPicPr>
          <p:cNvPr id="6" name="Picture 5">
            <a:extLst>
              <a:ext uri="{FF2B5EF4-FFF2-40B4-BE49-F238E27FC236}">
                <a16:creationId xmlns:a16="http://schemas.microsoft.com/office/drawing/2014/main" id="{F445E3C6-EDDB-976B-129A-CF96D9008568}"/>
              </a:ext>
            </a:extLst>
          </p:cNvPr>
          <p:cNvPicPr>
            <a:picLocks noChangeAspect="1"/>
          </p:cNvPicPr>
          <p:nvPr/>
        </p:nvPicPr>
        <p:blipFill>
          <a:blip r:embed="rId2"/>
          <a:stretch>
            <a:fillRect/>
          </a:stretch>
        </p:blipFill>
        <p:spPr>
          <a:xfrm>
            <a:off x="6883861" y="1138425"/>
            <a:ext cx="5308139" cy="5426242"/>
          </a:xfrm>
          <a:prstGeom prst="rect">
            <a:avLst/>
          </a:prstGeom>
        </p:spPr>
      </p:pic>
    </p:spTree>
    <p:extLst>
      <p:ext uri="{BB962C8B-B14F-4D97-AF65-F5344CB8AC3E}">
        <p14:creationId xmlns:p14="http://schemas.microsoft.com/office/powerpoint/2010/main" val="17229231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0FA3-F17D-8199-C237-6A2CF51777EA}"/>
              </a:ext>
            </a:extLst>
          </p:cNvPr>
          <p:cNvSpPr>
            <a:spLocks noGrp="1"/>
          </p:cNvSpPr>
          <p:nvPr>
            <p:ph type="title"/>
          </p:nvPr>
        </p:nvSpPr>
        <p:spPr/>
        <p:txBody>
          <a:bodyPr>
            <a:normAutofit fontScale="90000"/>
          </a:bodyPr>
          <a:lstStyle/>
          <a:p>
            <a:r>
              <a:rPr lang="en-US" dirty="0"/>
              <a:t>Poly-A tail</a:t>
            </a:r>
          </a:p>
        </p:txBody>
      </p:sp>
      <p:sp>
        <p:nvSpPr>
          <p:cNvPr id="3" name="Content Placeholder 2">
            <a:extLst>
              <a:ext uri="{FF2B5EF4-FFF2-40B4-BE49-F238E27FC236}">
                <a16:creationId xmlns:a16="http://schemas.microsoft.com/office/drawing/2014/main" id="{1346F293-779C-02FF-E46E-9CF199A76A37}"/>
              </a:ext>
            </a:extLst>
          </p:cNvPr>
          <p:cNvSpPr>
            <a:spLocks noGrp="1"/>
          </p:cNvSpPr>
          <p:nvPr>
            <p:ph idx="1"/>
          </p:nvPr>
        </p:nvSpPr>
        <p:spPr>
          <a:xfrm>
            <a:off x="838200" y="1825624"/>
            <a:ext cx="10515600" cy="4585933"/>
          </a:xfrm>
        </p:spPr>
        <p:txBody>
          <a:bodyPr/>
          <a:lstStyle/>
          <a:p>
            <a:r>
              <a:rPr lang="en-US" dirty="0"/>
              <a:t>The poly-A tail is a long chain of Adenine nucleotides that is added to a messenger RNA (mRNA) molecule during RNA processing to increase the stability of the molecule</a:t>
            </a:r>
          </a:p>
          <a:p>
            <a:r>
              <a:rPr lang="en-US" dirty="0"/>
              <a:t>Processing of the 3' end adds a poly-A tail to the RNA molecule that is between 100 and 250 A’a long</a:t>
            </a:r>
          </a:p>
          <a:p>
            <a:r>
              <a:rPr lang="en-US" dirty="0"/>
              <a:t>Poly-A tail allows the mature messenger RNA molecule to be exported from the nucleus and translated into a protein by ribosomes in the cytoplasm</a:t>
            </a:r>
          </a:p>
        </p:txBody>
      </p:sp>
    </p:spTree>
    <p:extLst>
      <p:ext uri="{BB962C8B-B14F-4D97-AF65-F5344CB8AC3E}">
        <p14:creationId xmlns:p14="http://schemas.microsoft.com/office/powerpoint/2010/main" val="1529027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B1D4-055D-57FF-35F8-0EA592F3F1F8}"/>
              </a:ext>
            </a:extLst>
          </p:cNvPr>
          <p:cNvSpPr>
            <a:spLocks noGrp="1"/>
          </p:cNvSpPr>
          <p:nvPr>
            <p:ph type="title"/>
          </p:nvPr>
        </p:nvSpPr>
        <p:spPr/>
        <p:txBody>
          <a:bodyPr>
            <a:normAutofit fontScale="90000"/>
          </a:bodyPr>
          <a:lstStyle/>
          <a:p>
            <a:r>
              <a:rPr lang="en-US" dirty="0"/>
              <a:t>How transcripts are obtained</a:t>
            </a:r>
          </a:p>
        </p:txBody>
      </p:sp>
      <p:sp>
        <p:nvSpPr>
          <p:cNvPr id="3" name="Content Placeholder 2">
            <a:extLst>
              <a:ext uri="{FF2B5EF4-FFF2-40B4-BE49-F238E27FC236}">
                <a16:creationId xmlns:a16="http://schemas.microsoft.com/office/drawing/2014/main" id="{9B2E4D15-E297-1A1E-B9ED-FD9A0E742E9B}"/>
              </a:ext>
            </a:extLst>
          </p:cNvPr>
          <p:cNvSpPr>
            <a:spLocks noGrp="1"/>
          </p:cNvSpPr>
          <p:nvPr>
            <p:ph idx="1"/>
          </p:nvPr>
        </p:nvSpPr>
        <p:spPr>
          <a:xfrm>
            <a:off x="838200" y="1825625"/>
            <a:ext cx="10515600" cy="4667250"/>
          </a:xfrm>
        </p:spPr>
        <p:txBody>
          <a:bodyPr>
            <a:normAutofit fontScale="85000" lnSpcReduction="20000"/>
          </a:bodyPr>
          <a:lstStyle/>
          <a:p>
            <a:r>
              <a:rPr lang="en-US" dirty="0"/>
              <a:t>Two methods</a:t>
            </a:r>
          </a:p>
          <a:p>
            <a:pPr lvl="1"/>
            <a:r>
              <a:rPr lang="en-US" dirty="0"/>
              <a:t>Ribosome depletion (</a:t>
            </a:r>
            <a:r>
              <a:rPr lang="en-US" dirty="0" err="1"/>
              <a:t>ribo</a:t>
            </a:r>
            <a:r>
              <a:rPr lang="en-US" dirty="0"/>
              <a:t>-zero)</a:t>
            </a:r>
          </a:p>
          <a:p>
            <a:pPr lvl="1"/>
            <a:r>
              <a:rPr lang="en-US" dirty="0"/>
              <a:t>Poly-A capture</a:t>
            </a:r>
          </a:p>
          <a:p>
            <a:pPr lvl="1"/>
            <a:endParaRPr lang="en-US" dirty="0"/>
          </a:p>
          <a:p>
            <a:r>
              <a:rPr lang="en-US" dirty="0"/>
              <a:t>Dominant method is Poly-A capture (EST, RNA-Seq, Iso-</a:t>
            </a:r>
            <a:r>
              <a:rPr lang="en-US" dirty="0" err="1"/>
              <a:t>Seq,ONT</a:t>
            </a:r>
            <a:r>
              <a:rPr lang="en-US" dirty="0"/>
              <a:t> sequencing)</a:t>
            </a:r>
          </a:p>
          <a:p>
            <a:pPr lvl="1"/>
            <a:r>
              <a:rPr lang="en-US" dirty="0"/>
              <a:t>Reads mature transcripts with introns spliced out</a:t>
            </a:r>
          </a:p>
          <a:p>
            <a:pPr lvl="1"/>
            <a:r>
              <a:rPr lang="en-US" dirty="0"/>
              <a:t>Requires fresh good quality RNA</a:t>
            </a:r>
          </a:p>
          <a:p>
            <a:pPr lvl="1"/>
            <a:r>
              <a:rPr lang="en-US" dirty="0"/>
              <a:t>Good for transcriptome assembly</a:t>
            </a:r>
          </a:p>
          <a:p>
            <a:pPr lvl="1"/>
            <a:endParaRPr lang="en-US" dirty="0"/>
          </a:p>
          <a:p>
            <a:r>
              <a:rPr lang="en-US" dirty="0" err="1"/>
              <a:t>Ribo</a:t>
            </a:r>
            <a:r>
              <a:rPr lang="en-US" dirty="0"/>
              <a:t>-zero can be used for degraded RNA</a:t>
            </a:r>
          </a:p>
          <a:p>
            <a:pPr lvl="1"/>
            <a:r>
              <a:rPr lang="en-US" dirty="0"/>
              <a:t>OK for quantification</a:t>
            </a:r>
          </a:p>
          <a:p>
            <a:pPr lvl="1"/>
            <a:r>
              <a:rPr lang="en-US" dirty="0"/>
              <a:t>Bad for transcriptome assembly</a:t>
            </a:r>
          </a:p>
        </p:txBody>
      </p:sp>
    </p:spTree>
    <p:extLst>
      <p:ext uri="{BB962C8B-B14F-4D97-AF65-F5344CB8AC3E}">
        <p14:creationId xmlns:p14="http://schemas.microsoft.com/office/powerpoint/2010/main" val="2089864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23DDAED0-8501-493D-AF69-64959C122D74}"/>
              </a:ext>
            </a:extLst>
          </p:cNvPr>
          <p:cNvPicPr>
            <a:picLocks noChangeAspect="1"/>
          </p:cNvPicPr>
          <p:nvPr/>
        </p:nvPicPr>
        <p:blipFill>
          <a:blip r:embed="rId2"/>
          <a:stretch>
            <a:fillRect/>
          </a:stretch>
        </p:blipFill>
        <p:spPr>
          <a:xfrm>
            <a:off x="8183116" y="952070"/>
            <a:ext cx="4004553" cy="5905930"/>
          </a:xfrm>
          <a:prstGeom prst="rect">
            <a:avLst/>
          </a:prstGeom>
        </p:spPr>
      </p:pic>
      <p:sp>
        <p:nvSpPr>
          <p:cNvPr id="3" name="Slide Number Placeholder 2">
            <a:extLst>
              <a:ext uri="{FF2B5EF4-FFF2-40B4-BE49-F238E27FC236}">
                <a16:creationId xmlns:a16="http://schemas.microsoft.com/office/drawing/2014/main" id="{75DBE408-4F08-4410-888C-35B18B87489B}"/>
              </a:ext>
            </a:extLst>
          </p:cNvPr>
          <p:cNvSpPr>
            <a:spLocks noGrp="1"/>
          </p:cNvSpPr>
          <p:nvPr>
            <p:ph type="sldNum" sz="quarter" idx="12"/>
          </p:nvPr>
        </p:nvSpPr>
        <p:spPr/>
        <p:txBody>
          <a:bodyPr/>
          <a:lstStyle/>
          <a:p>
            <a:fld id="{B731AFB5-CD11-684F-BCC6-06E220628C5A}" type="slidenum">
              <a:rPr lang="en-US" smtClean="0"/>
              <a:t>42</a:t>
            </a:fld>
            <a:endParaRPr lang="en-US"/>
          </a:p>
        </p:txBody>
      </p:sp>
      <p:pic>
        <p:nvPicPr>
          <p:cNvPr id="5" name="Picture 4" descr="A picture containing chart&#10;&#10;Description automatically generated">
            <a:extLst>
              <a:ext uri="{FF2B5EF4-FFF2-40B4-BE49-F238E27FC236}">
                <a16:creationId xmlns:a16="http://schemas.microsoft.com/office/drawing/2014/main" id="{1BA0638B-F30B-4432-95FE-A31529CF2267}"/>
              </a:ext>
            </a:extLst>
          </p:cNvPr>
          <p:cNvPicPr>
            <a:picLocks noChangeAspect="1"/>
          </p:cNvPicPr>
          <p:nvPr/>
        </p:nvPicPr>
        <p:blipFill>
          <a:blip r:embed="rId3"/>
          <a:stretch>
            <a:fillRect/>
          </a:stretch>
        </p:blipFill>
        <p:spPr>
          <a:xfrm>
            <a:off x="-1" y="980452"/>
            <a:ext cx="8183117" cy="5849166"/>
          </a:xfrm>
          <a:prstGeom prst="rect">
            <a:avLst/>
          </a:prstGeom>
        </p:spPr>
      </p:pic>
      <p:sp>
        <p:nvSpPr>
          <p:cNvPr id="2" name="Title 1">
            <a:extLst>
              <a:ext uri="{FF2B5EF4-FFF2-40B4-BE49-F238E27FC236}">
                <a16:creationId xmlns:a16="http://schemas.microsoft.com/office/drawing/2014/main" id="{2885B2A9-BE68-4E8C-95C8-688C23930456}"/>
              </a:ext>
            </a:extLst>
          </p:cNvPr>
          <p:cNvSpPr>
            <a:spLocks noGrp="1"/>
          </p:cNvSpPr>
          <p:nvPr>
            <p:ph type="title"/>
          </p:nvPr>
        </p:nvSpPr>
        <p:spPr>
          <a:xfrm>
            <a:off x="838200" y="60325"/>
            <a:ext cx="7344916" cy="920127"/>
          </a:xfrm>
        </p:spPr>
        <p:txBody>
          <a:bodyPr/>
          <a:lstStyle/>
          <a:p>
            <a:r>
              <a:rPr lang="en-US" dirty="0">
                <a:latin typeface="Helvetica" panose="020B0604020202020204" pitchFamily="34" charset="0"/>
                <a:cs typeface="Helvetica" panose="020B0604020202020204" pitchFamily="34" charset="0"/>
              </a:rPr>
              <a:t>Short read Illumina RNA-seq</a:t>
            </a:r>
          </a:p>
        </p:txBody>
      </p:sp>
      <p:sp>
        <p:nvSpPr>
          <p:cNvPr id="7" name="TextBox 6">
            <a:extLst>
              <a:ext uri="{FF2B5EF4-FFF2-40B4-BE49-F238E27FC236}">
                <a16:creationId xmlns:a16="http://schemas.microsoft.com/office/drawing/2014/main" id="{BAAD3350-B517-4C89-B083-7A035F477302}"/>
              </a:ext>
            </a:extLst>
          </p:cNvPr>
          <p:cNvSpPr txBox="1"/>
          <p:nvPr/>
        </p:nvSpPr>
        <p:spPr>
          <a:xfrm>
            <a:off x="533696" y="6356350"/>
            <a:ext cx="7115722" cy="523220"/>
          </a:xfrm>
          <a:prstGeom prst="rect">
            <a:avLst/>
          </a:prstGeom>
          <a:noFill/>
        </p:spPr>
        <p:txBody>
          <a:bodyPr wrap="square" rtlCol="0">
            <a:spAutoFit/>
          </a:bodyPr>
          <a:lstStyle/>
          <a:p>
            <a:r>
              <a:rPr lang="en-US" sz="1400" dirty="0"/>
              <a:t>and Logsdon GA, </a:t>
            </a:r>
            <a:r>
              <a:rPr lang="en-US" sz="1400" dirty="0" err="1"/>
              <a:t>Vollger</a:t>
            </a:r>
            <a:r>
              <a:rPr lang="en-US" sz="1400" dirty="0"/>
              <a:t> MR, Eichler EE. Long-read human genome sequencing and its applications. Nature Reviews Genetics. 2020 Oct;21(10):597-614.</a:t>
            </a:r>
          </a:p>
        </p:txBody>
      </p:sp>
    </p:spTree>
    <p:extLst>
      <p:ext uri="{BB962C8B-B14F-4D97-AF65-F5344CB8AC3E}">
        <p14:creationId xmlns:p14="http://schemas.microsoft.com/office/powerpoint/2010/main" val="2852727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672995B-4320-43AF-3DB5-9B70D4398B1C}"/>
              </a:ext>
            </a:extLst>
          </p:cNvPr>
          <p:cNvSpPr/>
          <p:nvPr/>
        </p:nvSpPr>
        <p:spPr>
          <a:xfrm>
            <a:off x="2623087" y="4006386"/>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00BFE1-98C9-C0EF-A1F9-99C03FE9B5AB}"/>
              </a:ext>
            </a:extLst>
          </p:cNvPr>
          <p:cNvSpPr>
            <a:spLocks noGrp="1"/>
          </p:cNvSpPr>
          <p:nvPr>
            <p:ph type="title"/>
          </p:nvPr>
        </p:nvSpPr>
        <p:spPr/>
        <p:txBody>
          <a:bodyPr>
            <a:normAutofit fontScale="90000"/>
          </a:bodyPr>
          <a:lstStyle/>
          <a:p>
            <a:r>
              <a:rPr lang="en-US" dirty="0"/>
              <a:t>Transcript</a:t>
            </a:r>
          </a:p>
        </p:txBody>
      </p:sp>
      <p:sp>
        <p:nvSpPr>
          <p:cNvPr id="3" name="Content Placeholder 2">
            <a:extLst>
              <a:ext uri="{FF2B5EF4-FFF2-40B4-BE49-F238E27FC236}">
                <a16:creationId xmlns:a16="http://schemas.microsoft.com/office/drawing/2014/main" id="{408A931E-3F3A-E6D9-8B63-643D1877CAE4}"/>
              </a:ext>
            </a:extLst>
          </p:cNvPr>
          <p:cNvSpPr>
            <a:spLocks noGrp="1"/>
          </p:cNvSpPr>
          <p:nvPr>
            <p:ph idx="1"/>
          </p:nvPr>
        </p:nvSpPr>
        <p:spPr>
          <a:xfrm>
            <a:off x="598620" y="1596540"/>
            <a:ext cx="10972800" cy="5124936"/>
          </a:xfrm>
        </p:spPr>
        <p:txBody>
          <a:bodyPr>
            <a:normAutofit lnSpcReduction="10000"/>
          </a:bodyPr>
          <a:lstStyle/>
          <a:p>
            <a:r>
              <a:rPr lang="en-US" dirty="0"/>
              <a:t>Transcripts are sequences of exons after the introns are </a:t>
            </a:r>
            <a:r>
              <a:rPr lang="en-US" i="1" dirty="0"/>
              <a:t>spliced out:</a:t>
            </a:r>
            <a:br>
              <a:rPr lang="en-US" i="1" dirty="0"/>
            </a:br>
            <a:r>
              <a:rPr lang="en-US" i="1" dirty="0"/>
              <a:t>                                          </a:t>
            </a:r>
            <a:r>
              <a:rPr lang="en-US" dirty="0"/>
              <a:t>genome</a:t>
            </a:r>
            <a:br>
              <a:rPr lang="en-US" i="1" dirty="0"/>
            </a:br>
            <a:br>
              <a:rPr lang="en-US" i="1" dirty="0"/>
            </a:br>
            <a:r>
              <a:rPr lang="en-US" dirty="0"/>
              <a:t>                      exon1                        exon2        exon3</a:t>
            </a:r>
            <a:br>
              <a:rPr lang="en-US" dirty="0"/>
            </a:br>
            <a:r>
              <a:rPr lang="en-US" dirty="0"/>
              <a:t>                                         transcript</a:t>
            </a:r>
            <a:br>
              <a:rPr lang="en-US" dirty="0"/>
            </a:br>
            <a:br>
              <a:rPr lang="en-US" dirty="0"/>
            </a:br>
            <a:br>
              <a:rPr lang="en-US" dirty="0"/>
            </a:br>
            <a:r>
              <a:rPr lang="en-US" dirty="0"/>
              <a:t>                           exon1            exon2   exon3</a:t>
            </a:r>
          </a:p>
          <a:p>
            <a:r>
              <a:rPr lang="en-US" i="1" dirty="0"/>
              <a:t>UTRs </a:t>
            </a:r>
            <a:r>
              <a:rPr lang="en-US" dirty="0"/>
              <a:t>are </a:t>
            </a:r>
            <a:r>
              <a:rPr lang="en-US" dirty="0" err="1"/>
              <a:t>UnTRanslated</a:t>
            </a:r>
            <a:r>
              <a:rPr lang="en-US" dirty="0"/>
              <a:t> sequences before and after the </a:t>
            </a:r>
            <a:r>
              <a:rPr lang="en-US" i="1" dirty="0"/>
              <a:t>protein coding region</a:t>
            </a:r>
          </a:p>
          <a:p>
            <a:r>
              <a:rPr lang="en-US" dirty="0"/>
              <a:t>Protein </a:t>
            </a:r>
            <a:r>
              <a:rPr lang="en-US" dirty="0" err="1"/>
              <a:t>CoDing</a:t>
            </a:r>
            <a:r>
              <a:rPr lang="en-US" dirty="0"/>
              <a:t> Sequence (CDS) starts with a start codon (ATG) and ends with a stop (TAG, TAA, or TGA) for eukaryotic genomes</a:t>
            </a:r>
          </a:p>
        </p:txBody>
      </p:sp>
      <p:sp>
        <p:nvSpPr>
          <p:cNvPr id="4" name="Slide Number Placeholder 3">
            <a:extLst>
              <a:ext uri="{FF2B5EF4-FFF2-40B4-BE49-F238E27FC236}">
                <a16:creationId xmlns:a16="http://schemas.microsoft.com/office/drawing/2014/main" id="{592EE634-7018-6907-7FC6-1759CF015601}"/>
              </a:ext>
            </a:extLst>
          </p:cNvPr>
          <p:cNvSpPr>
            <a:spLocks noGrp="1"/>
          </p:cNvSpPr>
          <p:nvPr>
            <p:ph type="sldNum" sz="quarter" idx="12"/>
          </p:nvPr>
        </p:nvSpPr>
        <p:spPr/>
        <p:txBody>
          <a:bodyPr/>
          <a:lstStyle/>
          <a:p>
            <a:fld id="{B82CCC60-E8CD-4174-8B1A-7DF615B22EEF}" type="slidenum">
              <a:rPr lang="en-US" smtClean="0"/>
              <a:pPr/>
              <a:t>43</a:t>
            </a:fld>
            <a:endParaRPr lang="en-US"/>
          </a:p>
        </p:txBody>
      </p:sp>
      <p:sp>
        <p:nvSpPr>
          <p:cNvPr id="5" name="Rectangle 4">
            <a:extLst>
              <a:ext uri="{FF2B5EF4-FFF2-40B4-BE49-F238E27FC236}">
                <a16:creationId xmlns:a16="http://schemas.microsoft.com/office/drawing/2014/main" id="{7EA3AEA9-0D11-BDD0-0CEA-0C975E6AA3B2}"/>
              </a:ext>
            </a:extLst>
          </p:cNvPr>
          <p:cNvSpPr/>
          <p:nvPr/>
        </p:nvSpPr>
        <p:spPr>
          <a:xfrm>
            <a:off x="1997842" y="2524981"/>
            <a:ext cx="6739758" cy="197069"/>
          </a:xfrm>
          <a:prstGeom prst="rect">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2F08E98A-85C2-5F08-85DA-F58133609335}"/>
              </a:ext>
            </a:extLst>
          </p:cNvPr>
          <p:cNvSpPr/>
          <p:nvPr/>
        </p:nvSpPr>
        <p:spPr>
          <a:xfrm>
            <a:off x="2423509" y="2524981"/>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9A67893-9E07-2182-D438-6D9F091C65A9}"/>
              </a:ext>
            </a:extLst>
          </p:cNvPr>
          <p:cNvSpPr/>
          <p:nvPr/>
        </p:nvSpPr>
        <p:spPr>
          <a:xfrm>
            <a:off x="5129924" y="2524980"/>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390BDE4-42B5-42A5-6F41-4040F4C3FF9C}"/>
              </a:ext>
            </a:extLst>
          </p:cNvPr>
          <p:cNvSpPr/>
          <p:nvPr/>
        </p:nvSpPr>
        <p:spPr>
          <a:xfrm>
            <a:off x="7239000" y="2524979"/>
            <a:ext cx="597340"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592C141B-9640-9021-525E-B5BB7309DF96}"/>
              </a:ext>
            </a:extLst>
          </p:cNvPr>
          <p:cNvGrpSpPr/>
          <p:nvPr/>
        </p:nvGrpSpPr>
        <p:grpSpPr>
          <a:xfrm>
            <a:off x="3128160" y="2454236"/>
            <a:ext cx="1197722" cy="338554"/>
            <a:chOff x="3128160" y="2647615"/>
            <a:chExt cx="1197722" cy="338554"/>
          </a:xfrm>
        </p:grpSpPr>
        <p:sp>
          <p:nvSpPr>
            <p:cNvPr id="8" name="Rectangle 7">
              <a:extLst>
                <a:ext uri="{FF2B5EF4-FFF2-40B4-BE49-F238E27FC236}">
                  <a16:creationId xmlns:a16="http://schemas.microsoft.com/office/drawing/2014/main" id="{3D96EA1D-0343-9789-0127-985F2C43418B}"/>
                </a:ext>
              </a:extLst>
            </p:cNvPr>
            <p:cNvSpPr/>
            <p:nvPr/>
          </p:nvSpPr>
          <p:spPr>
            <a:xfrm>
              <a:off x="3161862" y="2718358"/>
              <a:ext cx="1164020" cy="197069"/>
            </a:xfrm>
            <a:prstGeom prst="rect">
              <a:avLst/>
            </a:prstGeom>
            <a:solidFill>
              <a:schemeClr val="accent6">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4E5D04C0-D82A-5EAE-17E9-6226229A2587}"/>
                </a:ext>
              </a:extLst>
            </p:cNvPr>
            <p:cNvSpPr txBox="1"/>
            <p:nvPr/>
          </p:nvSpPr>
          <p:spPr>
            <a:xfrm>
              <a:off x="3128160" y="2647615"/>
              <a:ext cx="651653" cy="338554"/>
            </a:xfrm>
            <a:prstGeom prst="rect">
              <a:avLst/>
            </a:prstGeom>
            <a:noFill/>
          </p:spPr>
          <p:txBody>
            <a:bodyPr wrap="none" rtlCol="0">
              <a:spAutoFit/>
            </a:bodyPr>
            <a:lstStyle/>
            <a:p>
              <a:r>
                <a:rPr lang="en-US" sz="1600" dirty="0"/>
                <a:t>ATG…</a:t>
              </a:r>
            </a:p>
          </p:txBody>
        </p:sp>
      </p:grpSp>
      <p:grpSp>
        <p:nvGrpSpPr>
          <p:cNvPr id="19" name="Group 18">
            <a:extLst>
              <a:ext uri="{FF2B5EF4-FFF2-40B4-BE49-F238E27FC236}">
                <a16:creationId xmlns:a16="http://schemas.microsoft.com/office/drawing/2014/main" id="{A09C6338-EF7E-A116-4FC3-C3F16F0962D5}"/>
              </a:ext>
            </a:extLst>
          </p:cNvPr>
          <p:cNvGrpSpPr/>
          <p:nvPr/>
        </p:nvGrpSpPr>
        <p:grpSpPr>
          <a:xfrm>
            <a:off x="5129924" y="2454236"/>
            <a:ext cx="1223098" cy="338554"/>
            <a:chOff x="5129924" y="2647615"/>
            <a:chExt cx="1223098" cy="338554"/>
          </a:xfrm>
        </p:grpSpPr>
        <p:sp>
          <p:nvSpPr>
            <p:cNvPr id="9" name="Rectangle 8">
              <a:extLst>
                <a:ext uri="{FF2B5EF4-FFF2-40B4-BE49-F238E27FC236}">
                  <a16:creationId xmlns:a16="http://schemas.microsoft.com/office/drawing/2014/main" id="{7C5BB529-416D-94BA-C9D4-069CEBECD7FF}"/>
                </a:ext>
              </a:extLst>
            </p:cNvPr>
            <p:cNvSpPr/>
            <p:nvPr/>
          </p:nvSpPr>
          <p:spPr>
            <a:xfrm>
              <a:off x="5129924" y="2718358"/>
              <a:ext cx="1164020" cy="197069"/>
            </a:xfrm>
            <a:prstGeom prst="rect">
              <a:avLst/>
            </a:prstGeom>
            <a:solidFill>
              <a:schemeClr val="accent6">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7CCDAF76-5233-937D-C62C-3066F02893C9}"/>
                </a:ext>
              </a:extLst>
            </p:cNvPr>
            <p:cNvSpPr txBox="1"/>
            <p:nvPr/>
          </p:nvSpPr>
          <p:spPr>
            <a:xfrm>
              <a:off x="5706691" y="2647615"/>
              <a:ext cx="646331" cy="338554"/>
            </a:xfrm>
            <a:prstGeom prst="rect">
              <a:avLst/>
            </a:prstGeom>
            <a:noFill/>
          </p:spPr>
          <p:txBody>
            <a:bodyPr wrap="none" rtlCol="0">
              <a:spAutoFit/>
            </a:bodyPr>
            <a:lstStyle/>
            <a:p>
              <a:r>
                <a:rPr lang="en-US" sz="1600" dirty="0"/>
                <a:t>…TAA</a:t>
              </a:r>
            </a:p>
          </p:txBody>
        </p:sp>
      </p:grpSp>
      <p:sp>
        <p:nvSpPr>
          <p:cNvPr id="13" name="TextBox 12">
            <a:extLst>
              <a:ext uri="{FF2B5EF4-FFF2-40B4-BE49-F238E27FC236}">
                <a16:creationId xmlns:a16="http://schemas.microsoft.com/office/drawing/2014/main" id="{9D8FDF01-BA62-58DA-1E5C-4BA25040CB69}"/>
              </a:ext>
            </a:extLst>
          </p:cNvPr>
          <p:cNvSpPr txBox="1"/>
          <p:nvPr/>
        </p:nvSpPr>
        <p:spPr>
          <a:xfrm>
            <a:off x="2630833" y="3939533"/>
            <a:ext cx="729687" cy="338554"/>
          </a:xfrm>
          <a:prstGeom prst="rect">
            <a:avLst/>
          </a:prstGeom>
          <a:noFill/>
        </p:spPr>
        <p:txBody>
          <a:bodyPr wrap="none" rtlCol="0">
            <a:spAutoFit/>
          </a:bodyPr>
          <a:lstStyle/>
          <a:p>
            <a:r>
              <a:rPr lang="en-US" sz="1600" dirty="0"/>
              <a:t>5’ UTR</a:t>
            </a:r>
          </a:p>
        </p:txBody>
      </p:sp>
      <p:sp>
        <p:nvSpPr>
          <p:cNvPr id="14" name="TextBox 13">
            <a:extLst>
              <a:ext uri="{FF2B5EF4-FFF2-40B4-BE49-F238E27FC236}">
                <a16:creationId xmlns:a16="http://schemas.microsoft.com/office/drawing/2014/main" id="{2064A231-9B4E-DC09-B996-EFEFC6942B50}"/>
              </a:ext>
            </a:extLst>
          </p:cNvPr>
          <p:cNvSpPr txBox="1"/>
          <p:nvPr/>
        </p:nvSpPr>
        <p:spPr>
          <a:xfrm>
            <a:off x="6356048" y="2454236"/>
            <a:ext cx="729687" cy="338554"/>
          </a:xfrm>
          <a:prstGeom prst="rect">
            <a:avLst/>
          </a:prstGeom>
          <a:noFill/>
        </p:spPr>
        <p:txBody>
          <a:bodyPr wrap="none" rtlCol="0">
            <a:spAutoFit/>
          </a:bodyPr>
          <a:lstStyle/>
          <a:p>
            <a:r>
              <a:rPr lang="en-US" sz="1600" dirty="0"/>
              <a:t>3’ UTR</a:t>
            </a:r>
          </a:p>
        </p:txBody>
      </p:sp>
      <p:sp>
        <p:nvSpPr>
          <p:cNvPr id="15" name="TextBox 14">
            <a:extLst>
              <a:ext uri="{FF2B5EF4-FFF2-40B4-BE49-F238E27FC236}">
                <a16:creationId xmlns:a16="http://schemas.microsoft.com/office/drawing/2014/main" id="{C3FCC16D-AE72-176C-E68D-F4A908B5A4A5}"/>
              </a:ext>
            </a:extLst>
          </p:cNvPr>
          <p:cNvSpPr txBox="1"/>
          <p:nvPr/>
        </p:nvSpPr>
        <p:spPr>
          <a:xfrm>
            <a:off x="7181981" y="2454236"/>
            <a:ext cx="729687" cy="338554"/>
          </a:xfrm>
          <a:prstGeom prst="rect">
            <a:avLst/>
          </a:prstGeom>
          <a:noFill/>
        </p:spPr>
        <p:txBody>
          <a:bodyPr wrap="none" rtlCol="0">
            <a:spAutoFit/>
          </a:bodyPr>
          <a:lstStyle/>
          <a:p>
            <a:r>
              <a:rPr lang="en-US" sz="1600" dirty="0"/>
              <a:t>3’ UTR</a:t>
            </a:r>
          </a:p>
        </p:txBody>
      </p:sp>
      <p:sp>
        <p:nvSpPr>
          <p:cNvPr id="16" name="Rectangle 15">
            <a:extLst>
              <a:ext uri="{FF2B5EF4-FFF2-40B4-BE49-F238E27FC236}">
                <a16:creationId xmlns:a16="http://schemas.microsoft.com/office/drawing/2014/main" id="{85CA6243-1E31-1459-5D6C-998843BC7DCD}"/>
              </a:ext>
            </a:extLst>
          </p:cNvPr>
          <p:cNvSpPr/>
          <p:nvPr/>
        </p:nvSpPr>
        <p:spPr>
          <a:xfrm>
            <a:off x="3360520" y="3820594"/>
            <a:ext cx="2344891" cy="526231"/>
          </a:xfrm>
          <a:prstGeom prst="rect">
            <a:avLst/>
          </a:prstGeom>
          <a:solidFill>
            <a:schemeClr val="accent1">
              <a:alpha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70E4B6BA-A9BA-6D45-5BE1-3DDE439AEAF5}"/>
              </a:ext>
            </a:extLst>
          </p:cNvPr>
          <p:cNvGrpSpPr/>
          <p:nvPr/>
        </p:nvGrpSpPr>
        <p:grpSpPr>
          <a:xfrm>
            <a:off x="3343669" y="3939535"/>
            <a:ext cx="1197722" cy="338554"/>
            <a:chOff x="3128160" y="2647615"/>
            <a:chExt cx="1197722" cy="338554"/>
          </a:xfrm>
        </p:grpSpPr>
        <p:sp>
          <p:nvSpPr>
            <p:cNvPr id="21" name="Rectangle 20">
              <a:extLst>
                <a:ext uri="{FF2B5EF4-FFF2-40B4-BE49-F238E27FC236}">
                  <a16:creationId xmlns:a16="http://schemas.microsoft.com/office/drawing/2014/main" id="{BA6205F9-6BE5-0A46-1D66-C86D7D310F84}"/>
                </a:ext>
              </a:extLst>
            </p:cNvPr>
            <p:cNvSpPr/>
            <p:nvPr/>
          </p:nvSpPr>
          <p:spPr>
            <a:xfrm>
              <a:off x="3161862" y="2718358"/>
              <a:ext cx="1164020" cy="197069"/>
            </a:xfrm>
            <a:prstGeom prst="rect">
              <a:avLst/>
            </a:prstGeom>
            <a:solidFill>
              <a:schemeClr val="accent6">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8CA7537C-419C-A181-9401-396BF1908F97}"/>
                </a:ext>
              </a:extLst>
            </p:cNvPr>
            <p:cNvSpPr txBox="1"/>
            <p:nvPr/>
          </p:nvSpPr>
          <p:spPr>
            <a:xfrm>
              <a:off x="3128160" y="2647615"/>
              <a:ext cx="651653" cy="338554"/>
            </a:xfrm>
            <a:prstGeom prst="rect">
              <a:avLst/>
            </a:prstGeom>
            <a:noFill/>
          </p:spPr>
          <p:txBody>
            <a:bodyPr wrap="none" rtlCol="0">
              <a:spAutoFit/>
            </a:bodyPr>
            <a:lstStyle/>
            <a:p>
              <a:r>
                <a:rPr lang="en-US" sz="1600" dirty="0"/>
                <a:t>ATG…</a:t>
              </a:r>
            </a:p>
          </p:txBody>
        </p:sp>
      </p:grpSp>
      <p:grpSp>
        <p:nvGrpSpPr>
          <p:cNvPr id="23" name="Group 22">
            <a:extLst>
              <a:ext uri="{FF2B5EF4-FFF2-40B4-BE49-F238E27FC236}">
                <a16:creationId xmlns:a16="http://schemas.microsoft.com/office/drawing/2014/main" id="{B7A53705-28E8-06B3-BB2C-89DDC10DB2C6}"/>
              </a:ext>
            </a:extLst>
          </p:cNvPr>
          <p:cNvGrpSpPr/>
          <p:nvPr/>
        </p:nvGrpSpPr>
        <p:grpSpPr>
          <a:xfrm>
            <a:off x="4541391" y="3939535"/>
            <a:ext cx="1223098" cy="338554"/>
            <a:chOff x="5129924" y="2647615"/>
            <a:chExt cx="1223098" cy="338554"/>
          </a:xfrm>
        </p:grpSpPr>
        <p:sp>
          <p:nvSpPr>
            <p:cNvPr id="24" name="Rectangle 23">
              <a:extLst>
                <a:ext uri="{FF2B5EF4-FFF2-40B4-BE49-F238E27FC236}">
                  <a16:creationId xmlns:a16="http://schemas.microsoft.com/office/drawing/2014/main" id="{EE4DFDDC-657E-BD59-A079-349CA4324627}"/>
                </a:ext>
              </a:extLst>
            </p:cNvPr>
            <p:cNvSpPr/>
            <p:nvPr/>
          </p:nvSpPr>
          <p:spPr>
            <a:xfrm>
              <a:off x="5129924" y="2718358"/>
              <a:ext cx="1164020" cy="197069"/>
            </a:xfrm>
            <a:prstGeom prst="rect">
              <a:avLst/>
            </a:prstGeom>
            <a:solidFill>
              <a:schemeClr val="accent6">
                <a:lumMod val="7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6E2765A4-4699-F701-7262-FE2DD5B481A5}"/>
                </a:ext>
              </a:extLst>
            </p:cNvPr>
            <p:cNvSpPr txBox="1"/>
            <p:nvPr/>
          </p:nvSpPr>
          <p:spPr>
            <a:xfrm>
              <a:off x="5706691" y="2647615"/>
              <a:ext cx="646331" cy="338554"/>
            </a:xfrm>
            <a:prstGeom prst="rect">
              <a:avLst/>
            </a:prstGeom>
            <a:noFill/>
          </p:spPr>
          <p:txBody>
            <a:bodyPr wrap="none" rtlCol="0">
              <a:spAutoFit/>
            </a:bodyPr>
            <a:lstStyle/>
            <a:p>
              <a:r>
                <a:rPr lang="en-US" sz="1600" dirty="0"/>
                <a:t>…TAA</a:t>
              </a:r>
            </a:p>
          </p:txBody>
        </p:sp>
      </p:grpSp>
      <p:sp>
        <p:nvSpPr>
          <p:cNvPr id="33" name="Rectangle 32">
            <a:extLst>
              <a:ext uri="{FF2B5EF4-FFF2-40B4-BE49-F238E27FC236}">
                <a16:creationId xmlns:a16="http://schemas.microsoft.com/office/drawing/2014/main" id="{06EB13B1-A9B1-10AB-5FDD-755D3901D431}"/>
              </a:ext>
            </a:extLst>
          </p:cNvPr>
          <p:cNvSpPr/>
          <p:nvPr/>
        </p:nvSpPr>
        <p:spPr>
          <a:xfrm>
            <a:off x="5706691" y="4010278"/>
            <a:ext cx="597340"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FB13BC6A-E143-0595-228F-E7DA6DD1FD23}"/>
              </a:ext>
            </a:extLst>
          </p:cNvPr>
          <p:cNvSpPr txBox="1"/>
          <p:nvPr/>
        </p:nvSpPr>
        <p:spPr>
          <a:xfrm>
            <a:off x="5649672" y="3939535"/>
            <a:ext cx="729687" cy="338554"/>
          </a:xfrm>
          <a:prstGeom prst="rect">
            <a:avLst/>
          </a:prstGeom>
          <a:noFill/>
        </p:spPr>
        <p:txBody>
          <a:bodyPr wrap="none" rtlCol="0">
            <a:spAutoFit/>
          </a:bodyPr>
          <a:lstStyle/>
          <a:p>
            <a:r>
              <a:rPr lang="en-US" sz="1600" dirty="0"/>
              <a:t>3’ UTR</a:t>
            </a:r>
          </a:p>
        </p:txBody>
      </p:sp>
      <p:sp>
        <p:nvSpPr>
          <p:cNvPr id="35" name="Rectangle 34">
            <a:extLst>
              <a:ext uri="{FF2B5EF4-FFF2-40B4-BE49-F238E27FC236}">
                <a16:creationId xmlns:a16="http://schemas.microsoft.com/office/drawing/2014/main" id="{DBB965DA-D356-3633-4078-FA95EF69CFFF}"/>
              </a:ext>
            </a:extLst>
          </p:cNvPr>
          <p:cNvSpPr/>
          <p:nvPr/>
        </p:nvSpPr>
        <p:spPr>
          <a:xfrm>
            <a:off x="6293944" y="4010276"/>
            <a:ext cx="597340"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06DAA8AB-C618-B806-1BF3-A378EEE8DB76}"/>
              </a:ext>
            </a:extLst>
          </p:cNvPr>
          <p:cNvSpPr txBox="1"/>
          <p:nvPr/>
        </p:nvSpPr>
        <p:spPr>
          <a:xfrm>
            <a:off x="6236925" y="3939533"/>
            <a:ext cx="729687" cy="338554"/>
          </a:xfrm>
          <a:prstGeom prst="rect">
            <a:avLst/>
          </a:prstGeom>
          <a:noFill/>
        </p:spPr>
        <p:txBody>
          <a:bodyPr wrap="none" rtlCol="0">
            <a:spAutoFit/>
          </a:bodyPr>
          <a:lstStyle/>
          <a:p>
            <a:r>
              <a:rPr lang="en-US" sz="1600" dirty="0"/>
              <a:t>3’ UTR</a:t>
            </a:r>
          </a:p>
        </p:txBody>
      </p:sp>
    </p:spTree>
    <p:extLst>
      <p:ext uri="{BB962C8B-B14F-4D97-AF65-F5344CB8AC3E}">
        <p14:creationId xmlns:p14="http://schemas.microsoft.com/office/powerpoint/2010/main" val="29563232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7A86-9D53-ECE1-10F0-3DFA72F6A788}"/>
              </a:ext>
            </a:extLst>
          </p:cNvPr>
          <p:cNvSpPr>
            <a:spLocks noGrp="1"/>
          </p:cNvSpPr>
          <p:nvPr>
            <p:ph type="title"/>
          </p:nvPr>
        </p:nvSpPr>
        <p:spPr/>
        <p:txBody>
          <a:bodyPr>
            <a:normAutofit fontScale="90000"/>
          </a:bodyPr>
          <a:lstStyle/>
          <a:p>
            <a:r>
              <a:rPr lang="en-US" dirty="0"/>
              <a:t>Gene</a:t>
            </a:r>
          </a:p>
        </p:txBody>
      </p:sp>
      <p:sp>
        <p:nvSpPr>
          <p:cNvPr id="3" name="Content Placeholder 2">
            <a:extLst>
              <a:ext uri="{FF2B5EF4-FFF2-40B4-BE49-F238E27FC236}">
                <a16:creationId xmlns:a16="http://schemas.microsoft.com/office/drawing/2014/main" id="{1465614F-2141-D805-7003-E447624FFE66}"/>
              </a:ext>
            </a:extLst>
          </p:cNvPr>
          <p:cNvSpPr>
            <a:spLocks noGrp="1"/>
          </p:cNvSpPr>
          <p:nvPr>
            <p:ph idx="1"/>
          </p:nvPr>
        </p:nvSpPr>
        <p:spPr/>
        <p:txBody>
          <a:bodyPr/>
          <a:lstStyle/>
          <a:p>
            <a:r>
              <a:rPr lang="en-US" dirty="0"/>
              <a:t>Gene is a locus on the genome containing one or more transcripts</a:t>
            </a:r>
          </a:p>
          <a:p>
            <a:r>
              <a:rPr lang="en-US" dirty="0"/>
              <a:t>Multiple transcripts per gene are possible due to </a:t>
            </a:r>
            <a:r>
              <a:rPr lang="en-US" i="1" dirty="0"/>
              <a:t>alternative splicing</a:t>
            </a:r>
            <a:endParaRPr lang="en-US" dirty="0"/>
          </a:p>
          <a:p>
            <a:r>
              <a:rPr lang="en-US" dirty="0"/>
              <a:t>Gene starts at the start of the leftmost transcript and ends at the end of the rightmost transcript.  All transcripts in a gene are on the </a:t>
            </a:r>
            <a:r>
              <a:rPr lang="en-US" i="1" dirty="0"/>
              <a:t>same strand</a:t>
            </a:r>
          </a:p>
        </p:txBody>
      </p:sp>
      <p:sp>
        <p:nvSpPr>
          <p:cNvPr id="4" name="Slide Number Placeholder 3">
            <a:extLst>
              <a:ext uri="{FF2B5EF4-FFF2-40B4-BE49-F238E27FC236}">
                <a16:creationId xmlns:a16="http://schemas.microsoft.com/office/drawing/2014/main" id="{9F39648B-9A0A-BF7A-73E5-3A45C1987FA2}"/>
              </a:ext>
            </a:extLst>
          </p:cNvPr>
          <p:cNvSpPr>
            <a:spLocks noGrp="1"/>
          </p:cNvSpPr>
          <p:nvPr>
            <p:ph type="sldNum" sz="quarter" idx="12"/>
          </p:nvPr>
        </p:nvSpPr>
        <p:spPr/>
        <p:txBody>
          <a:bodyPr/>
          <a:lstStyle/>
          <a:p>
            <a:fld id="{B82CCC60-E8CD-4174-8B1A-7DF615B22EEF}" type="slidenum">
              <a:rPr lang="en-US" smtClean="0"/>
              <a:pPr/>
              <a:t>44</a:t>
            </a:fld>
            <a:endParaRPr lang="en-US"/>
          </a:p>
        </p:txBody>
      </p:sp>
      <p:sp>
        <p:nvSpPr>
          <p:cNvPr id="5" name="Rectangle 4">
            <a:extLst>
              <a:ext uri="{FF2B5EF4-FFF2-40B4-BE49-F238E27FC236}">
                <a16:creationId xmlns:a16="http://schemas.microsoft.com/office/drawing/2014/main" id="{2A30FF6B-7092-2220-A49C-FB2CBF82EEF9}"/>
              </a:ext>
            </a:extLst>
          </p:cNvPr>
          <p:cNvSpPr/>
          <p:nvPr/>
        </p:nvSpPr>
        <p:spPr>
          <a:xfrm>
            <a:off x="1853463" y="4860161"/>
            <a:ext cx="6739758" cy="197069"/>
          </a:xfrm>
          <a:prstGeom prst="rect">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3F882-CBB7-98ED-2A11-9B4A1C0A0EAA}"/>
              </a:ext>
            </a:extLst>
          </p:cNvPr>
          <p:cNvSpPr/>
          <p:nvPr/>
        </p:nvSpPr>
        <p:spPr>
          <a:xfrm>
            <a:off x="2279130" y="4860161"/>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exon1</a:t>
            </a:r>
          </a:p>
        </p:txBody>
      </p:sp>
      <p:sp>
        <p:nvSpPr>
          <p:cNvPr id="7" name="Rectangle 6">
            <a:extLst>
              <a:ext uri="{FF2B5EF4-FFF2-40B4-BE49-F238E27FC236}">
                <a16:creationId xmlns:a16="http://schemas.microsoft.com/office/drawing/2014/main" id="{172322F0-D278-A807-962B-33999619E9EA}"/>
              </a:ext>
            </a:extLst>
          </p:cNvPr>
          <p:cNvSpPr/>
          <p:nvPr/>
        </p:nvSpPr>
        <p:spPr>
          <a:xfrm>
            <a:off x="4985545" y="4860160"/>
            <a:ext cx="1237746" cy="197068"/>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exon2</a:t>
            </a:r>
          </a:p>
        </p:txBody>
      </p:sp>
      <p:sp>
        <p:nvSpPr>
          <p:cNvPr id="8" name="Rectangle 7">
            <a:extLst>
              <a:ext uri="{FF2B5EF4-FFF2-40B4-BE49-F238E27FC236}">
                <a16:creationId xmlns:a16="http://schemas.microsoft.com/office/drawing/2014/main" id="{AAAD7F41-2A7D-89B0-5263-F532AA26F130}"/>
              </a:ext>
            </a:extLst>
          </p:cNvPr>
          <p:cNvSpPr/>
          <p:nvPr/>
        </p:nvSpPr>
        <p:spPr>
          <a:xfrm>
            <a:off x="7624408" y="4860159"/>
            <a:ext cx="749969"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exon3</a:t>
            </a:r>
          </a:p>
        </p:txBody>
      </p:sp>
      <p:sp>
        <p:nvSpPr>
          <p:cNvPr id="17" name="Rectangle 16">
            <a:extLst>
              <a:ext uri="{FF2B5EF4-FFF2-40B4-BE49-F238E27FC236}">
                <a16:creationId xmlns:a16="http://schemas.microsoft.com/office/drawing/2014/main" id="{6F46CB2C-2853-C10D-C9DE-68A5B198AEB9}"/>
              </a:ext>
            </a:extLst>
          </p:cNvPr>
          <p:cNvSpPr/>
          <p:nvPr/>
        </p:nvSpPr>
        <p:spPr>
          <a:xfrm>
            <a:off x="1853463" y="5416808"/>
            <a:ext cx="6739758" cy="197069"/>
          </a:xfrm>
          <a:prstGeom prst="rect">
            <a:avLst/>
          </a:prstGeom>
          <a:solidFill>
            <a:schemeClr val="bg1">
              <a:lumMod val="85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6CAD661C-A63A-1FF2-29AC-5EEE8968E20A}"/>
              </a:ext>
            </a:extLst>
          </p:cNvPr>
          <p:cNvSpPr/>
          <p:nvPr/>
        </p:nvSpPr>
        <p:spPr>
          <a:xfrm>
            <a:off x="2279130" y="5416808"/>
            <a:ext cx="1902373" cy="197069"/>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exon1</a:t>
            </a:r>
          </a:p>
        </p:txBody>
      </p:sp>
      <p:sp>
        <p:nvSpPr>
          <p:cNvPr id="20" name="Rectangle 19">
            <a:extLst>
              <a:ext uri="{FF2B5EF4-FFF2-40B4-BE49-F238E27FC236}">
                <a16:creationId xmlns:a16="http://schemas.microsoft.com/office/drawing/2014/main" id="{F3BE20EC-28BF-6FDF-6F9B-DACECBC8AF3A}"/>
              </a:ext>
            </a:extLst>
          </p:cNvPr>
          <p:cNvSpPr/>
          <p:nvPr/>
        </p:nvSpPr>
        <p:spPr>
          <a:xfrm>
            <a:off x="7094621" y="5416806"/>
            <a:ext cx="1029102" cy="185633"/>
          </a:xfrm>
          <a:prstGeom prst="rect">
            <a:avLst/>
          </a:prstGeom>
          <a:solidFill>
            <a:schemeClr val="tx2">
              <a:lumMod val="60000"/>
              <a:lumOff val="40000"/>
            </a:schemeClr>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exon4</a:t>
            </a:r>
          </a:p>
        </p:txBody>
      </p:sp>
      <p:sp>
        <p:nvSpPr>
          <p:cNvPr id="21" name="Right Brace 20">
            <a:extLst>
              <a:ext uri="{FF2B5EF4-FFF2-40B4-BE49-F238E27FC236}">
                <a16:creationId xmlns:a16="http://schemas.microsoft.com/office/drawing/2014/main" id="{9C2D2BE8-FFB2-BAE0-302A-2FB60D1AE5FC}"/>
              </a:ext>
            </a:extLst>
          </p:cNvPr>
          <p:cNvSpPr/>
          <p:nvPr/>
        </p:nvSpPr>
        <p:spPr>
          <a:xfrm rot="16200000">
            <a:off x="5137832" y="1456211"/>
            <a:ext cx="387068" cy="6104473"/>
          </a:xfrm>
          <a:prstGeom prst="rightBrace">
            <a:avLst/>
          </a:pr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93706F93-10B3-8526-0062-52EE5F7B81FA}"/>
              </a:ext>
            </a:extLst>
          </p:cNvPr>
          <p:cNvSpPr txBox="1"/>
          <p:nvPr/>
        </p:nvSpPr>
        <p:spPr>
          <a:xfrm>
            <a:off x="8806531" y="4774027"/>
            <a:ext cx="1278683" cy="369332"/>
          </a:xfrm>
          <a:prstGeom prst="rect">
            <a:avLst/>
          </a:prstGeom>
          <a:noFill/>
        </p:spPr>
        <p:txBody>
          <a:bodyPr wrap="none" rtlCol="0">
            <a:spAutoFit/>
          </a:bodyPr>
          <a:lstStyle/>
          <a:p>
            <a:r>
              <a:rPr lang="en-US" dirty="0"/>
              <a:t>Transcript 1</a:t>
            </a:r>
          </a:p>
        </p:txBody>
      </p:sp>
      <p:sp>
        <p:nvSpPr>
          <p:cNvPr id="23" name="TextBox 22">
            <a:extLst>
              <a:ext uri="{FF2B5EF4-FFF2-40B4-BE49-F238E27FC236}">
                <a16:creationId xmlns:a16="http://schemas.microsoft.com/office/drawing/2014/main" id="{85529772-870C-BD1A-034F-8F419F210D7F}"/>
              </a:ext>
            </a:extLst>
          </p:cNvPr>
          <p:cNvSpPr txBox="1"/>
          <p:nvPr/>
        </p:nvSpPr>
        <p:spPr>
          <a:xfrm>
            <a:off x="4985545" y="3901190"/>
            <a:ext cx="853119" cy="369332"/>
          </a:xfrm>
          <a:prstGeom prst="rect">
            <a:avLst/>
          </a:prstGeom>
          <a:noFill/>
        </p:spPr>
        <p:txBody>
          <a:bodyPr wrap="none" rtlCol="0">
            <a:spAutoFit/>
          </a:bodyPr>
          <a:lstStyle/>
          <a:p>
            <a:r>
              <a:rPr lang="en-US" dirty="0"/>
              <a:t>Gene 1</a:t>
            </a:r>
          </a:p>
        </p:txBody>
      </p:sp>
      <p:sp>
        <p:nvSpPr>
          <p:cNvPr id="24" name="TextBox 23">
            <a:extLst>
              <a:ext uri="{FF2B5EF4-FFF2-40B4-BE49-F238E27FC236}">
                <a16:creationId xmlns:a16="http://schemas.microsoft.com/office/drawing/2014/main" id="{6A3649FE-F8C9-5860-97AF-C3552CCF0AB4}"/>
              </a:ext>
            </a:extLst>
          </p:cNvPr>
          <p:cNvSpPr txBox="1"/>
          <p:nvPr/>
        </p:nvSpPr>
        <p:spPr>
          <a:xfrm>
            <a:off x="8806531" y="5327666"/>
            <a:ext cx="1278683" cy="369332"/>
          </a:xfrm>
          <a:prstGeom prst="rect">
            <a:avLst/>
          </a:prstGeom>
          <a:noFill/>
        </p:spPr>
        <p:txBody>
          <a:bodyPr wrap="none" rtlCol="0">
            <a:spAutoFit/>
          </a:bodyPr>
          <a:lstStyle/>
          <a:p>
            <a:r>
              <a:rPr lang="en-US" dirty="0"/>
              <a:t>Transcript 2</a:t>
            </a:r>
          </a:p>
        </p:txBody>
      </p:sp>
      <p:sp>
        <p:nvSpPr>
          <p:cNvPr id="25" name="TextBox 24">
            <a:extLst>
              <a:ext uri="{FF2B5EF4-FFF2-40B4-BE49-F238E27FC236}">
                <a16:creationId xmlns:a16="http://schemas.microsoft.com/office/drawing/2014/main" id="{4F57A1E7-C011-0C69-1103-2BE58041A543}"/>
              </a:ext>
            </a:extLst>
          </p:cNvPr>
          <p:cNvSpPr txBox="1"/>
          <p:nvPr/>
        </p:nvSpPr>
        <p:spPr>
          <a:xfrm>
            <a:off x="4147860" y="4561707"/>
            <a:ext cx="871329" cy="369332"/>
          </a:xfrm>
          <a:prstGeom prst="rect">
            <a:avLst/>
          </a:prstGeom>
          <a:noFill/>
        </p:spPr>
        <p:txBody>
          <a:bodyPr wrap="none" rtlCol="0">
            <a:spAutoFit/>
          </a:bodyPr>
          <a:lstStyle/>
          <a:p>
            <a:r>
              <a:rPr lang="en-US" dirty="0"/>
              <a:t>intron1</a:t>
            </a:r>
          </a:p>
        </p:txBody>
      </p:sp>
      <p:sp>
        <p:nvSpPr>
          <p:cNvPr id="26" name="TextBox 25">
            <a:extLst>
              <a:ext uri="{FF2B5EF4-FFF2-40B4-BE49-F238E27FC236}">
                <a16:creationId xmlns:a16="http://schemas.microsoft.com/office/drawing/2014/main" id="{0C4172B1-9B65-35EF-97ED-D9FE9E848B59}"/>
              </a:ext>
            </a:extLst>
          </p:cNvPr>
          <p:cNvSpPr txBox="1"/>
          <p:nvPr/>
        </p:nvSpPr>
        <p:spPr>
          <a:xfrm>
            <a:off x="6475900" y="4575798"/>
            <a:ext cx="871329" cy="369332"/>
          </a:xfrm>
          <a:prstGeom prst="rect">
            <a:avLst/>
          </a:prstGeom>
          <a:noFill/>
        </p:spPr>
        <p:txBody>
          <a:bodyPr wrap="none" rtlCol="0">
            <a:spAutoFit/>
          </a:bodyPr>
          <a:lstStyle/>
          <a:p>
            <a:r>
              <a:rPr lang="en-US" dirty="0"/>
              <a:t>intron2</a:t>
            </a:r>
          </a:p>
        </p:txBody>
      </p:sp>
      <p:sp>
        <p:nvSpPr>
          <p:cNvPr id="27" name="TextBox 26">
            <a:extLst>
              <a:ext uri="{FF2B5EF4-FFF2-40B4-BE49-F238E27FC236}">
                <a16:creationId xmlns:a16="http://schemas.microsoft.com/office/drawing/2014/main" id="{FF9F4B74-AB40-6101-F89C-30AFDBD85713}"/>
              </a:ext>
            </a:extLst>
          </p:cNvPr>
          <p:cNvSpPr txBox="1"/>
          <p:nvPr/>
        </p:nvSpPr>
        <p:spPr>
          <a:xfrm>
            <a:off x="5160205" y="5141133"/>
            <a:ext cx="871329" cy="369332"/>
          </a:xfrm>
          <a:prstGeom prst="rect">
            <a:avLst/>
          </a:prstGeom>
          <a:noFill/>
        </p:spPr>
        <p:txBody>
          <a:bodyPr wrap="none" rtlCol="0">
            <a:spAutoFit/>
          </a:bodyPr>
          <a:lstStyle/>
          <a:p>
            <a:r>
              <a:rPr lang="en-US" dirty="0"/>
              <a:t>intron3</a:t>
            </a:r>
          </a:p>
        </p:txBody>
      </p:sp>
      <p:sp>
        <p:nvSpPr>
          <p:cNvPr id="28" name="TextBox 27">
            <a:extLst>
              <a:ext uri="{FF2B5EF4-FFF2-40B4-BE49-F238E27FC236}">
                <a16:creationId xmlns:a16="http://schemas.microsoft.com/office/drawing/2014/main" id="{D02419F4-DFC7-B4F3-2768-C7300EB7FF26}"/>
              </a:ext>
            </a:extLst>
          </p:cNvPr>
          <p:cNvSpPr txBox="1"/>
          <p:nvPr/>
        </p:nvSpPr>
        <p:spPr>
          <a:xfrm>
            <a:off x="4119287" y="4780179"/>
            <a:ext cx="441596" cy="369332"/>
          </a:xfrm>
          <a:prstGeom prst="rect">
            <a:avLst/>
          </a:prstGeom>
          <a:noFill/>
        </p:spPr>
        <p:txBody>
          <a:bodyPr wrap="none" rtlCol="0">
            <a:spAutoFit/>
          </a:bodyPr>
          <a:lstStyle/>
          <a:p>
            <a:r>
              <a:rPr lang="en-US" dirty="0"/>
              <a:t>GT</a:t>
            </a:r>
          </a:p>
        </p:txBody>
      </p:sp>
      <p:sp>
        <p:nvSpPr>
          <p:cNvPr id="29" name="TextBox 28">
            <a:extLst>
              <a:ext uri="{FF2B5EF4-FFF2-40B4-BE49-F238E27FC236}">
                <a16:creationId xmlns:a16="http://schemas.microsoft.com/office/drawing/2014/main" id="{529C6854-D304-3E82-D5A3-38BF91300B9E}"/>
              </a:ext>
            </a:extLst>
          </p:cNvPr>
          <p:cNvSpPr txBox="1"/>
          <p:nvPr/>
        </p:nvSpPr>
        <p:spPr>
          <a:xfrm>
            <a:off x="7228331" y="4789078"/>
            <a:ext cx="461921" cy="369332"/>
          </a:xfrm>
          <a:prstGeom prst="rect">
            <a:avLst/>
          </a:prstGeom>
          <a:noFill/>
        </p:spPr>
        <p:txBody>
          <a:bodyPr wrap="none" rtlCol="0">
            <a:spAutoFit/>
          </a:bodyPr>
          <a:lstStyle/>
          <a:p>
            <a:r>
              <a:rPr lang="en-US" dirty="0"/>
              <a:t>AG</a:t>
            </a:r>
          </a:p>
        </p:txBody>
      </p:sp>
      <p:sp>
        <p:nvSpPr>
          <p:cNvPr id="30" name="TextBox 29">
            <a:extLst>
              <a:ext uri="{FF2B5EF4-FFF2-40B4-BE49-F238E27FC236}">
                <a16:creationId xmlns:a16="http://schemas.microsoft.com/office/drawing/2014/main" id="{4BC8003E-43D2-C2F6-E0E0-76FA1557C446}"/>
              </a:ext>
            </a:extLst>
          </p:cNvPr>
          <p:cNvSpPr txBox="1"/>
          <p:nvPr/>
        </p:nvSpPr>
        <p:spPr>
          <a:xfrm>
            <a:off x="4097119" y="5327666"/>
            <a:ext cx="441596" cy="369332"/>
          </a:xfrm>
          <a:prstGeom prst="rect">
            <a:avLst/>
          </a:prstGeom>
          <a:noFill/>
        </p:spPr>
        <p:txBody>
          <a:bodyPr wrap="none" rtlCol="0">
            <a:spAutoFit/>
          </a:bodyPr>
          <a:lstStyle/>
          <a:p>
            <a:r>
              <a:rPr lang="en-US" dirty="0"/>
              <a:t>GT</a:t>
            </a:r>
          </a:p>
        </p:txBody>
      </p:sp>
      <p:sp>
        <p:nvSpPr>
          <p:cNvPr id="31" name="TextBox 30">
            <a:extLst>
              <a:ext uri="{FF2B5EF4-FFF2-40B4-BE49-F238E27FC236}">
                <a16:creationId xmlns:a16="http://schemas.microsoft.com/office/drawing/2014/main" id="{3533057D-9605-84BD-824F-D388112AAAE9}"/>
              </a:ext>
            </a:extLst>
          </p:cNvPr>
          <p:cNvSpPr txBox="1"/>
          <p:nvPr/>
        </p:nvSpPr>
        <p:spPr>
          <a:xfrm>
            <a:off x="6717303" y="5325799"/>
            <a:ext cx="461921" cy="369332"/>
          </a:xfrm>
          <a:prstGeom prst="rect">
            <a:avLst/>
          </a:prstGeom>
          <a:noFill/>
        </p:spPr>
        <p:txBody>
          <a:bodyPr wrap="none" rtlCol="0">
            <a:spAutoFit/>
          </a:bodyPr>
          <a:lstStyle/>
          <a:p>
            <a:r>
              <a:rPr lang="en-US" dirty="0"/>
              <a:t>AG</a:t>
            </a:r>
          </a:p>
        </p:txBody>
      </p:sp>
      <p:sp>
        <p:nvSpPr>
          <p:cNvPr id="32" name="TextBox 31">
            <a:extLst>
              <a:ext uri="{FF2B5EF4-FFF2-40B4-BE49-F238E27FC236}">
                <a16:creationId xmlns:a16="http://schemas.microsoft.com/office/drawing/2014/main" id="{E5D2467A-3C15-E9D3-9411-24068AB9C379}"/>
              </a:ext>
            </a:extLst>
          </p:cNvPr>
          <p:cNvSpPr txBox="1"/>
          <p:nvPr/>
        </p:nvSpPr>
        <p:spPr>
          <a:xfrm>
            <a:off x="4616706" y="4786127"/>
            <a:ext cx="461921" cy="369332"/>
          </a:xfrm>
          <a:prstGeom prst="rect">
            <a:avLst/>
          </a:prstGeom>
          <a:noFill/>
        </p:spPr>
        <p:txBody>
          <a:bodyPr wrap="none" rtlCol="0">
            <a:spAutoFit/>
          </a:bodyPr>
          <a:lstStyle/>
          <a:p>
            <a:r>
              <a:rPr lang="en-US" dirty="0"/>
              <a:t>AG</a:t>
            </a:r>
          </a:p>
        </p:txBody>
      </p:sp>
      <p:sp>
        <p:nvSpPr>
          <p:cNvPr id="33" name="TextBox 32">
            <a:extLst>
              <a:ext uri="{FF2B5EF4-FFF2-40B4-BE49-F238E27FC236}">
                <a16:creationId xmlns:a16="http://schemas.microsoft.com/office/drawing/2014/main" id="{082C4AA2-405D-34FF-9183-08F4B5AD3F85}"/>
              </a:ext>
            </a:extLst>
          </p:cNvPr>
          <p:cNvSpPr txBox="1"/>
          <p:nvPr/>
        </p:nvSpPr>
        <p:spPr>
          <a:xfrm>
            <a:off x="6159295" y="4780179"/>
            <a:ext cx="441596" cy="369332"/>
          </a:xfrm>
          <a:prstGeom prst="rect">
            <a:avLst/>
          </a:prstGeom>
          <a:noFill/>
        </p:spPr>
        <p:txBody>
          <a:bodyPr wrap="none" rtlCol="0">
            <a:spAutoFit/>
          </a:bodyPr>
          <a:lstStyle/>
          <a:p>
            <a:r>
              <a:rPr lang="en-US" dirty="0"/>
              <a:t>GT</a:t>
            </a:r>
          </a:p>
        </p:txBody>
      </p:sp>
    </p:spTree>
    <p:extLst>
      <p:ext uri="{BB962C8B-B14F-4D97-AF65-F5344CB8AC3E}">
        <p14:creationId xmlns:p14="http://schemas.microsoft.com/office/powerpoint/2010/main" val="4942528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Shape 357"/>
          <p:cNvSpPr txBox="1"/>
          <p:nvPr/>
        </p:nvSpPr>
        <p:spPr>
          <a:xfrm>
            <a:off x="180940" y="18979"/>
            <a:ext cx="6862916" cy="11801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5719" tIns="35719" rIns="35719" bIns="35719" anchor="ctr">
            <a:spAutoFit/>
          </a:bodyPr>
          <a:lstStyle>
            <a:lvl1pPr algn="ctr" defTabSz="821531">
              <a:lnSpc>
                <a:spcPct val="100000"/>
              </a:lnSpc>
              <a:spcBef>
                <a:spcPts val="0"/>
              </a:spcBef>
              <a:defRPr sz="9000" b="1">
                <a:latin typeface="Helvetica"/>
                <a:ea typeface="Helvetica"/>
                <a:cs typeface="Helvetica"/>
                <a:sym typeface="Helvetica"/>
              </a:defRPr>
            </a:lvl1pPr>
          </a:lstStyle>
          <a:p>
            <a:pPr algn="l" defTabSz="410766" hangingPunct="0"/>
            <a:r>
              <a:rPr sz="3600" b="0" kern="0" dirty="0">
                <a:solidFill>
                  <a:schemeClr val="bg1"/>
                </a:solidFill>
                <a:latin typeface="+mj-lt"/>
                <a:cs typeface="Calibri Light" panose="020F0302020204030204" pitchFamily="34" charset="0"/>
              </a:rPr>
              <a:t>G</a:t>
            </a:r>
            <a:r>
              <a:rPr lang="en-US" sz="3600" b="0" kern="0" dirty="0">
                <a:solidFill>
                  <a:schemeClr val="bg1"/>
                </a:solidFill>
                <a:latin typeface="+mj-lt"/>
                <a:cs typeface="Calibri Light" panose="020F0302020204030204" pitchFamily="34" charset="0"/>
              </a:rPr>
              <a:t>FF/GTF</a:t>
            </a:r>
            <a:r>
              <a:rPr sz="3600" b="0" kern="0" dirty="0">
                <a:solidFill>
                  <a:schemeClr val="bg1"/>
                </a:solidFill>
                <a:latin typeface="+mj-lt"/>
                <a:cs typeface="Calibri Light" panose="020F0302020204030204" pitchFamily="34" charset="0"/>
              </a:rPr>
              <a:t> files provide a map for all known genome features</a:t>
            </a:r>
          </a:p>
        </p:txBody>
      </p:sp>
      <p:graphicFrame>
        <p:nvGraphicFramePr>
          <p:cNvPr id="358" name="Table 358"/>
          <p:cNvGraphicFramePr/>
          <p:nvPr/>
        </p:nvGraphicFramePr>
        <p:xfrm>
          <a:off x="303278" y="1547491"/>
          <a:ext cx="6147561" cy="3763018"/>
        </p:xfrm>
        <a:graphic>
          <a:graphicData uri="http://schemas.openxmlformats.org/drawingml/2006/table">
            <a:tbl>
              <a:tblPr firstRow="1" firstCol="1"/>
              <a:tblGrid>
                <a:gridCol w="991361">
                  <a:extLst>
                    <a:ext uri="{9D8B030D-6E8A-4147-A177-3AD203B41FA5}">
                      <a16:colId xmlns:a16="http://schemas.microsoft.com/office/drawing/2014/main" val="20000"/>
                    </a:ext>
                  </a:extLst>
                </a:gridCol>
                <a:gridCol w="5156200">
                  <a:extLst>
                    <a:ext uri="{9D8B030D-6E8A-4147-A177-3AD203B41FA5}">
                      <a16:colId xmlns:a16="http://schemas.microsoft.com/office/drawing/2014/main" val="20001"/>
                    </a:ext>
                  </a:extLst>
                </a:gridCol>
              </a:tblGrid>
              <a:tr h="358282">
                <a:tc>
                  <a:txBody>
                    <a:bodyPr/>
                    <a:lstStyle/>
                    <a:p>
                      <a:pPr defTabSz="914400">
                        <a:tabLst>
                          <a:tab pos="1663700" algn="l"/>
                        </a:tabLst>
                      </a:pPr>
                      <a:r>
                        <a:rPr sz="1600" b="1">
                          <a:latin typeface="+mn-lt"/>
                          <a:ea typeface="+mn-ea"/>
                          <a:cs typeface="+mn-cs"/>
                        </a:rPr>
                        <a:t>Column</a:t>
                      </a:r>
                    </a:p>
                  </a:txBody>
                  <a:tcPr marL="25400" marR="25400" marT="25400" marB="25400" anchor="ctr" horzOverflow="overflow"/>
                </a:tc>
                <a:tc>
                  <a:txBody>
                    <a:bodyPr/>
                    <a:lstStyle/>
                    <a:p>
                      <a:pPr defTabSz="914400">
                        <a:tabLst>
                          <a:tab pos="1663700" algn="l"/>
                        </a:tabLst>
                      </a:pPr>
                      <a:r>
                        <a:rPr sz="1600" b="1">
                          <a:latin typeface="+mn-lt"/>
                          <a:ea typeface="+mn-ea"/>
                          <a:cs typeface="+mn-cs"/>
                        </a:rPr>
                        <a:t>Description</a:t>
                      </a:r>
                    </a:p>
                  </a:txBody>
                  <a:tcPr marL="25400" marR="25400" marT="25400" marB="25400" anchor="ctr" horzOverflow="overflow"/>
                </a:tc>
                <a:extLst>
                  <a:ext uri="{0D108BD9-81ED-4DB2-BD59-A6C34878D82A}">
                    <a16:rowId xmlns:a16="http://schemas.microsoft.com/office/drawing/2014/main" val="10000"/>
                  </a:ext>
                </a:extLst>
              </a:tr>
              <a:tr h="358282">
                <a:tc>
                  <a:txBody>
                    <a:bodyPr/>
                    <a:lstStyle/>
                    <a:p>
                      <a:pPr defTabSz="914400">
                        <a:tabLst>
                          <a:tab pos="1663700" algn="l"/>
                        </a:tabLst>
                      </a:pPr>
                      <a:r>
                        <a:rPr sz="1600" err="1">
                          <a:sym typeface="Helvetica Neue Medium"/>
                        </a:rPr>
                        <a:t>Seqname</a:t>
                      </a:r>
                      <a:endParaRPr sz="1600">
                        <a:sym typeface="Helvetica Neue Medium"/>
                      </a:endParaRPr>
                    </a:p>
                  </a:txBody>
                  <a:tcPr marL="25400" marR="25400" marT="25400" marB="25400" anchor="ctr" horzOverflow="overflow"/>
                </a:tc>
                <a:tc>
                  <a:txBody>
                    <a:bodyPr/>
                    <a:lstStyle/>
                    <a:p>
                      <a:pPr defTabSz="914400"/>
                      <a:r>
                        <a:rPr sz="1600"/>
                        <a:t>Name of chromosome, scaffold or contig</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1"/>
                  </a:ext>
                </a:extLst>
              </a:tr>
              <a:tr h="358282">
                <a:tc>
                  <a:txBody>
                    <a:bodyPr/>
                    <a:lstStyle/>
                    <a:p>
                      <a:pPr defTabSz="914400">
                        <a:tabLst>
                          <a:tab pos="1663700" algn="l"/>
                        </a:tabLst>
                      </a:pPr>
                      <a:r>
                        <a:rPr sz="1600">
                          <a:sym typeface="Helvetica Neue Medium"/>
                        </a:rPr>
                        <a:t>Source</a:t>
                      </a:r>
                    </a:p>
                  </a:txBody>
                  <a:tcPr marL="25400" marR="25400" marT="25400" marB="25400" anchor="ctr" horzOverflow="overflow"/>
                </a:tc>
                <a:tc>
                  <a:txBody>
                    <a:bodyPr/>
                    <a:lstStyle/>
                    <a:p>
                      <a:pPr defTabSz="914400"/>
                      <a:r>
                        <a:rPr sz="1600"/>
                        <a:t>Name of the datasource</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2"/>
                  </a:ext>
                </a:extLst>
              </a:tr>
              <a:tr h="358282">
                <a:tc>
                  <a:txBody>
                    <a:bodyPr/>
                    <a:lstStyle/>
                    <a:p>
                      <a:pPr defTabSz="914400">
                        <a:tabLst>
                          <a:tab pos="1663700" algn="l"/>
                        </a:tabLst>
                      </a:pPr>
                      <a:r>
                        <a:rPr sz="1600">
                          <a:sym typeface="Helvetica Neue Medium"/>
                        </a:rPr>
                        <a:t>Feature</a:t>
                      </a:r>
                    </a:p>
                  </a:txBody>
                  <a:tcPr marL="25400" marR="25400" marT="25400" marB="25400" anchor="ctr" horzOverflow="overflow"/>
                </a:tc>
                <a:tc>
                  <a:txBody>
                    <a:bodyPr/>
                    <a:lstStyle/>
                    <a:p>
                      <a:pPr defTabSz="914400"/>
                      <a:r>
                        <a:rPr sz="1600"/>
                        <a:t>Feature type (e.g. gene, exon, transcript, CDS, five_prime_UTR)</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3"/>
                  </a:ext>
                </a:extLst>
              </a:tr>
              <a:tr h="358282">
                <a:tc>
                  <a:txBody>
                    <a:bodyPr/>
                    <a:lstStyle/>
                    <a:p>
                      <a:pPr defTabSz="914400">
                        <a:tabLst>
                          <a:tab pos="1663700" algn="l"/>
                        </a:tabLst>
                      </a:pPr>
                      <a:r>
                        <a:rPr sz="1600">
                          <a:sym typeface="Helvetica Neue Medium"/>
                        </a:rPr>
                        <a:t>Start</a:t>
                      </a:r>
                    </a:p>
                  </a:txBody>
                  <a:tcPr marL="25400" marR="25400" marT="25400" marB="25400" anchor="ctr" horzOverflow="overflow"/>
                </a:tc>
                <a:tc>
                  <a:txBody>
                    <a:bodyPr/>
                    <a:lstStyle/>
                    <a:p>
                      <a:pPr defTabSz="914400"/>
                      <a:r>
                        <a:rPr sz="1600" dirty="0"/>
                        <a:t>Start position of the feature</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4"/>
                  </a:ext>
                </a:extLst>
              </a:tr>
              <a:tr h="358282">
                <a:tc>
                  <a:txBody>
                    <a:bodyPr/>
                    <a:lstStyle/>
                    <a:p>
                      <a:pPr defTabSz="914400">
                        <a:tabLst>
                          <a:tab pos="1663700" algn="l"/>
                        </a:tabLst>
                      </a:pPr>
                      <a:r>
                        <a:rPr sz="1600">
                          <a:sym typeface="Helvetica Neue Medium"/>
                        </a:rPr>
                        <a:t>End</a:t>
                      </a:r>
                    </a:p>
                  </a:txBody>
                  <a:tcPr marL="25400" marR="25400" marT="25400" marB="25400" anchor="ctr" horzOverflow="overflow"/>
                </a:tc>
                <a:tc>
                  <a:txBody>
                    <a:bodyPr/>
                    <a:lstStyle/>
                    <a:p>
                      <a:pPr defTabSz="914400"/>
                      <a:r>
                        <a:rPr sz="1600"/>
                        <a:t>End position of the feature</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5"/>
                  </a:ext>
                </a:extLst>
              </a:tr>
              <a:tr h="358282">
                <a:tc>
                  <a:txBody>
                    <a:bodyPr/>
                    <a:lstStyle/>
                    <a:p>
                      <a:pPr defTabSz="914400">
                        <a:tabLst>
                          <a:tab pos="1663700" algn="l"/>
                        </a:tabLst>
                      </a:pPr>
                      <a:r>
                        <a:rPr sz="1600">
                          <a:sym typeface="Helvetica Neue Medium"/>
                        </a:rPr>
                        <a:t>Empty</a:t>
                      </a:r>
                    </a:p>
                  </a:txBody>
                  <a:tcPr marL="25400" marR="25400" marT="25400" marB="25400" anchor="ctr" horzOverflow="overflow"/>
                </a:tc>
                <a:tc>
                  <a:txBody>
                    <a:bodyPr/>
                    <a:lstStyle/>
                    <a:p>
                      <a:pPr defTabSz="914400"/>
                      <a:r>
                        <a:rPr sz="1600"/>
                        <a:t>‘.’</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6"/>
                  </a:ext>
                </a:extLst>
              </a:tr>
              <a:tr h="358282">
                <a:tc>
                  <a:txBody>
                    <a:bodyPr/>
                    <a:lstStyle/>
                    <a:p>
                      <a:pPr defTabSz="914400">
                        <a:tabLst>
                          <a:tab pos="1663700" algn="l"/>
                        </a:tabLst>
                      </a:pPr>
                      <a:r>
                        <a:rPr sz="1600">
                          <a:sym typeface="Helvetica Neue Medium"/>
                        </a:rPr>
                        <a:t>Strand</a:t>
                      </a:r>
                    </a:p>
                  </a:txBody>
                  <a:tcPr marL="25400" marR="25400" marT="25400" marB="25400" anchor="ctr" horzOverflow="overflow"/>
                </a:tc>
                <a:tc>
                  <a:txBody>
                    <a:bodyPr/>
                    <a:lstStyle/>
                    <a:p>
                      <a:pPr defTabSz="914400"/>
                      <a:r>
                        <a:rPr sz="1600"/>
                        <a:t>Defined as + (forward) or - (reverse)</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7"/>
                  </a:ext>
                </a:extLst>
              </a:tr>
              <a:tr h="358282">
                <a:tc>
                  <a:txBody>
                    <a:bodyPr/>
                    <a:lstStyle/>
                    <a:p>
                      <a:pPr defTabSz="914400">
                        <a:tabLst>
                          <a:tab pos="1663700" algn="l"/>
                        </a:tabLst>
                      </a:pPr>
                      <a:r>
                        <a:rPr sz="1600">
                          <a:sym typeface="Helvetica Neue Medium"/>
                        </a:rPr>
                        <a:t>Frame</a:t>
                      </a:r>
                    </a:p>
                  </a:txBody>
                  <a:tcPr marL="25400" marR="25400" marT="25400" marB="25400" anchor="ctr" horzOverflow="overflow"/>
                </a:tc>
                <a:tc>
                  <a:txBody>
                    <a:bodyPr/>
                    <a:lstStyle/>
                    <a:p>
                      <a:pPr defTabSz="914400"/>
                      <a:r>
                        <a:rPr sz="1600"/>
                        <a:t>Either ‘0’, ‘1’, or ‘2’ - indicating reading frame by base position</a:t>
                      </a:r>
                    </a:p>
                  </a:txBody>
                  <a:tcPr marL="25400" marR="25400" marT="25400" marB="25400" anchor="ctr" horzOverflow="overflow">
                    <a:lnR w="12700">
                      <a:solidFill>
                        <a:srgbClr val="4D4D4D"/>
                      </a:solidFill>
                      <a:miter lim="400000"/>
                    </a:lnR>
                  </a:tcPr>
                </a:tc>
                <a:extLst>
                  <a:ext uri="{0D108BD9-81ED-4DB2-BD59-A6C34878D82A}">
                    <a16:rowId xmlns:a16="http://schemas.microsoft.com/office/drawing/2014/main" val="10008"/>
                  </a:ext>
                </a:extLst>
              </a:tr>
              <a:tr h="358282">
                <a:tc>
                  <a:txBody>
                    <a:bodyPr/>
                    <a:lstStyle/>
                    <a:p>
                      <a:pPr defTabSz="914400">
                        <a:tabLst>
                          <a:tab pos="1663700" algn="l"/>
                        </a:tabLst>
                      </a:pPr>
                      <a:r>
                        <a:rPr sz="1600">
                          <a:sym typeface="Helvetica Neue Medium"/>
                        </a:rPr>
                        <a:t>Attribute</a:t>
                      </a:r>
                    </a:p>
                  </a:txBody>
                  <a:tcPr marL="25400" marR="25400" marT="25400" marB="25400" anchor="ctr" horzOverflow="overflow">
                    <a:lnB w="12700">
                      <a:solidFill>
                        <a:srgbClr val="4D4D4D"/>
                      </a:solidFill>
                      <a:miter lim="400000"/>
                    </a:lnB>
                  </a:tcPr>
                </a:tc>
                <a:tc>
                  <a:txBody>
                    <a:bodyPr/>
                    <a:lstStyle/>
                    <a:p>
                      <a:pPr defTabSz="914400"/>
                      <a:r>
                        <a:rPr sz="1600" dirty="0"/>
                        <a:t>A semicolon separated list of other info about the feature</a:t>
                      </a:r>
                    </a:p>
                  </a:txBody>
                  <a:tcPr marL="25400" marR="25400" marT="25400" marB="25400" anchor="ctr" horzOverflow="overflow">
                    <a:lnR w="12700">
                      <a:solidFill>
                        <a:srgbClr val="4D4D4D"/>
                      </a:solidFill>
                      <a:miter lim="400000"/>
                    </a:lnR>
                    <a:lnB w="12700">
                      <a:solidFill>
                        <a:srgbClr val="4D4D4D"/>
                      </a:solidFill>
                      <a:miter lim="400000"/>
                    </a:lnB>
                  </a:tcPr>
                </a:tc>
                <a:extLst>
                  <a:ext uri="{0D108BD9-81ED-4DB2-BD59-A6C34878D82A}">
                    <a16:rowId xmlns:a16="http://schemas.microsoft.com/office/drawing/2014/main" val="10009"/>
                  </a:ext>
                </a:extLst>
              </a:tr>
            </a:tbl>
          </a:graphicData>
        </a:graphic>
      </p:graphicFrame>
      <p:sp>
        <p:nvSpPr>
          <p:cNvPr id="2" name="Rectangle 1">
            <a:extLst>
              <a:ext uri="{FF2B5EF4-FFF2-40B4-BE49-F238E27FC236}">
                <a16:creationId xmlns:a16="http://schemas.microsoft.com/office/drawing/2014/main" id="{285234F3-B2E6-5841-AF5C-70B4F0B320BD}"/>
              </a:ext>
            </a:extLst>
          </p:cNvPr>
          <p:cNvSpPr/>
          <p:nvPr/>
        </p:nvSpPr>
        <p:spPr>
          <a:xfrm>
            <a:off x="304039" y="5383485"/>
            <a:ext cx="6681977" cy="1477328"/>
          </a:xfrm>
          <a:prstGeom prst="rect">
            <a:avLst/>
          </a:prstGeom>
        </p:spPr>
        <p:txBody>
          <a:bodyPr wrap="square">
            <a:spAutoFit/>
          </a:bodyPr>
          <a:lstStyle/>
          <a:p>
            <a:r>
              <a:rPr lang="en-US" dirty="0">
                <a:solidFill>
                  <a:srgbClr val="222222"/>
                </a:solidFill>
                <a:latin typeface="arial" panose="020B0604020202020204" pitchFamily="34" charset="0"/>
              </a:rPr>
              <a:t>GFF has many versions, but the two most popular are:</a:t>
            </a:r>
          </a:p>
          <a:p>
            <a:pPr marL="285750" indent="-285750">
              <a:buFont typeface="Arial" panose="020B0604020202020204" pitchFamily="34" charset="0"/>
              <a:buChar char="•"/>
            </a:pPr>
            <a:r>
              <a:rPr lang="en-US" b="1" dirty="0">
                <a:solidFill>
                  <a:srgbClr val="222222"/>
                </a:solidFill>
                <a:latin typeface="arial" panose="020B0604020202020204" pitchFamily="34" charset="0"/>
              </a:rPr>
              <a:t>GTF2</a:t>
            </a:r>
            <a:r>
              <a:rPr lang="en-US" dirty="0">
                <a:solidFill>
                  <a:srgbClr val="222222"/>
                </a:solidFill>
                <a:latin typeface="arial" panose="020B0604020202020204" pitchFamily="34" charset="0"/>
              </a:rPr>
              <a:t> (Gene Transfer Format): </a:t>
            </a:r>
            <a:r>
              <a:rPr lang="en-US" dirty="0">
                <a:solidFill>
                  <a:srgbClr val="222222"/>
                </a:solidFill>
                <a:latin typeface="arial" panose="020B0604020202020204" pitchFamily="34" charset="0"/>
                <a:hlinkClick r:id="rId2"/>
              </a:rPr>
              <a:t>https://mblab.wustl.edu/GTF2.html</a:t>
            </a:r>
            <a:endParaRPr lang="en-US" dirty="0">
              <a:solidFill>
                <a:srgbClr val="222222"/>
              </a:solidFill>
              <a:latin typeface="arial" panose="020B0604020202020204" pitchFamily="34" charset="0"/>
            </a:endParaRPr>
          </a:p>
          <a:p>
            <a:pPr marL="285750" indent="-285750">
              <a:buFont typeface="Arial" panose="020B0604020202020204" pitchFamily="34" charset="0"/>
              <a:buChar char="•"/>
            </a:pPr>
            <a:r>
              <a:rPr lang="en-US" b="1" dirty="0">
                <a:solidFill>
                  <a:srgbClr val="222222"/>
                </a:solidFill>
                <a:latin typeface="arial" panose="020B0604020202020204" pitchFamily="34" charset="0"/>
              </a:rPr>
              <a:t>GFF3</a:t>
            </a:r>
            <a:r>
              <a:rPr lang="en-US" dirty="0">
                <a:solidFill>
                  <a:srgbClr val="222222"/>
                </a:solidFill>
                <a:latin typeface="arial" panose="020B0604020202020204" pitchFamily="34" charset="0"/>
              </a:rPr>
              <a:t> (</a:t>
            </a:r>
            <a:r>
              <a:rPr lang="en-US" dirty="0"/>
              <a:t>Generic Feature Format</a:t>
            </a:r>
            <a:r>
              <a:rPr lang="en-US" dirty="0">
                <a:solidFill>
                  <a:srgbClr val="222222"/>
                </a:solidFill>
                <a:latin typeface="arial" panose="020B0604020202020204" pitchFamily="34" charset="0"/>
              </a:rPr>
              <a:t>): </a:t>
            </a:r>
            <a:r>
              <a:rPr lang="en-US" dirty="0">
                <a:solidFill>
                  <a:srgbClr val="222222"/>
                </a:solidFill>
                <a:latin typeface="arial" panose="020B0604020202020204" pitchFamily="34" charset="0"/>
                <a:hlinkClick r:id="rId3"/>
              </a:rPr>
              <a:t>https://github.com/The-Sequence-Ontology/Specifications/blob/master/gff3.md</a:t>
            </a:r>
            <a:endParaRPr lang="en-US" dirty="0"/>
          </a:p>
        </p:txBody>
      </p:sp>
      <p:pic>
        <p:nvPicPr>
          <p:cNvPr id="3" name="Picture 2" descr="A picture containing text&#10;&#10;Description automatically generated">
            <a:extLst>
              <a:ext uri="{FF2B5EF4-FFF2-40B4-BE49-F238E27FC236}">
                <a16:creationId xmlns:a16="http://schemas.microsoft.com/office/drawing/2014/main" id="{086458E7-D221-7E7A-B73C-78B2F3AE858E}"/>
              </a:ext>
            </a:extLst>
          </p:cNvPr>
          <p:cNvPicPr>
            <a:picLocks noChangeAspect="1"/>
          </p:cNvPicPr>
          <p:nvPr/>
        </p:nvPicPr>
        <p:blipFill rotWithShape="1">
          <a:blip r:embed="rId4">
            <a:extLst>
              <a:ext uri="{28A0092B-C50C-407E-A947-70E740481C1C}">
                <a14:useLocalDpi xmlns:a14="http://schemas.microsoft.com/office/drawing/2010/main" val="0"/>
              </a:ext>
            </a:extLst>
          </a:blip>
          <a:srcRect r="36199" b="24212"/>
          <a:stretch/>
        </p:blipFill>
        <p:spPr>
          <a:xfrm>
            <a:off x="6601340" y="1428890"/>
            <a:ext cx="7482545" cy="5202143"/>
          </a:xfrm>
          <a:prstGeom prst="rect">
            <a:avLst/>
          </a:prstGeom>
        </p:spPr>
      </p:pic>
    </p:spTree>
    <p:extLst>
      <p:ext uri="{BB962C8B-B14F-4D97-AF65-F5344CB8AC3E}">
        <p14:creationId xmlns:p14="http://schemas.microsoft.com/office/powerpoint/2010/main" val="118339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E4CD6-2875-FDFF-7915-3B5BC5ED0452}"/>
              </a:ext>
            </a:extLst>
          </p:cNvPr>
          <p:cNvSpPr>
            <a:spLocks noGrp="1"/>
          </p:cNvSpPr>
          <p:nvPr>
            <p:ph type="title"/>
          </p:nvPr>
        </p:nvSpPr>
        <p:spPr/>
        <p:txBody>
          <a:bodyPr>
            <a:normAutofit fontScale="90000"/>
          </a:bodyPr>
          <a:lstStyle/>
          <a:p>
            <a:r>
              <a:rPr lang="en-US" dirty="0"/>
              <a:t>Gene representation</a:t>
            </a:r>
          </a:p>
        </p:txBody>
      </p:sp>
      <p:sp>
        <p:nvSpPr>
          <p:cNvPr id="5" name="TextBox 4">
            <a:extLst>
              <a:ext uri="{FF2B5EF4-FFF2-40B4-BE49-F238E27FC236}">
                <a16:creationId xmlns:a16="http://schemas.microsoft.com/office/drawing/2014/main" id="{82CE131A-8F86-E8C2-F884-2B211290AF52}"/>
              </a:ext>
            </a:extLst>
          </p:cNvPr>
          <p:cNvSpPr txBox="1"/>
          <p:nvPr/>
        </p:nvSpPr>
        <p:spPr>
          <a:xfrm>
            <a:off x="1231392" y="1690688"/>
            <a:ext cx="6937248" cy="369332"/>
          </a:xfrm>
          <a:prstGeom prst="rect">
            <a:avLst/>
          </a:prstGeom>
          <a:solidFill>
            <a:schemeClr val="accent6">
              <a:lumMod val="60000"/>
              <a:lumOff val="40000"/>
            </a:schemeClr>
          </a:solidFill>
          <a:ln>
            <a:solidFill>
              <a:schemeClr val="accent1">
                <a:shade val="15000"/>
              </a:schemeClr>
            </a:solidFill>
          </a:ln>
        </p:spPr>
        <p:txBody>
          <a:bodyPr wrap="square" rtlCol="0">
            <a:spAutoFit/>
          </a:bodyPr>
          <a:lstStyle/>
          <a:p>
            <a:pPr algn="ctr"/>
            <a:r>
              <a:rPr lang="en-US" dirty="0"/>
              <a:t>gene</a:t>
            </a:r>
          </a:p>
        </p:txBody>
      </p:sp>
      <p:sp>
        <p:nvSpPr>
          <p:cNvPr id="6" name="TextBox 5">
            <a:extLst>
              <a:ext uri="{FF2B5EF4-FFF2-40B4-BE49-F238E27FC236}">
                <a16:creationId xmlns:a16="http://schemas.microsoft.com/office/drawing/2014/main" id="{8E6989CC-F401-9C7F-BE81-57FCE2113215}"/>
              </a:ext>
            </a:extLst>
          </p:cNvPr>
          <p:cNvSpPr txBox="1"/>
          <p:nvPr/>
        </p:nvSpPr>
        <p:spPr>
          <a:xfrm>
            <a:off x="1243584" y="2724912"/>
            <a:ext cx="6937248" cy="369332"/>
          </a:xfrm>
          <a:prstGeom prst="rect">
            <a:avLst/>
          </a:prstGeom>
          <a:solidFill>
            <a:schemeClr val="accent1">
              <a:lumMod val="60000"/>
              <a:lumOff val="40000"/>
            </a:schemeClr>
          </a:solidFill>
          <a:ln>
            <a:solidFill>
              <a:schemeClr val="accent1">
                <a:shade val="15000"/>
              </a:schemeClr>
            </a:solidFill>
          </a:ln>
        </p:spPr>
        <p:txBody>
          <a:bodyPr wrap="square" rtlCol="0">
            <a:spAutoFit/>
          </a:bodyPr>
          <a:lstStyle/>
          <a:p>
            <a:pPr algn="ctr"/>
            <a:r>
              <a:rPr lang="en-US" dirty="0"/>
              <a:t>transcript or mRNA</a:t>
            </a:r>
          </a:p>
        </p:txBody>
      </p:sp>
      <p:cxnSp>
        <p:nvCxnSpPr>
          <p:cNvPr id="8" name="Straight Arrow Connector 7">
            <a:extLst>
              <a:ext uri="{FF2B5EF4-FFF2-40B4-BE49-F238E27FC236}">
                <a16:creationId xmlns:a16="http://schemas.microsoft.com/office/drawing/2014/main" id="{C6E6592B-A895-0274-FBE9-7791705A327B}"/>
              </a:ext>
            </a:extLst>
          </p:cNvPr>
          <p:cNvCxnSpPr>
            <a:stCxn id="5" idx="2"/>
            <a:endCxn id="6" idx="0"/>
          </p:cNvCxnSpPr>
          <p:nvPr/>
        </p:nvCxnSpPr>
        <p:spPr>
          <a:xfrm>
            <a:off x="4700016" y="2060020"/>
            <a:ext cx="12192" cy="6648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2244EA0-0956-D2AA-7CA8-9A33C6844948}"/>
              </a:ext>
            </a:extLst>
          </p:cNvPr>
          <p:cNvSpPr txBox="1"/>
          <p:nvPr/>
        </p:nvSpPr>
        <p:spPr>
          <a:xfrm>
            <a:off x="2816352" y="3419821"/>
            <a:ext cx="5364480" cy="369332"/>
          </a:xfrm>
          <a:prstGeom prst="rect">
            <a:avLst/>
          </a:prstGeom>
          <a:solidFill>
            <a:schemeClr val="accent1">
              <a:lumMod val="60000"/>
              <a:lumOff val="40000"/>
            </a:schemeClr>
          </a:solidFill>
          <a:ln>
            <a:solidFill>
              <a:schemeClr val="accent1">
                <a:shade val="15000"/>
              </a:schemeClr>
            </a:solidFill>
          </a:ln>
        </p:spPr>
        <p:txBody>
          <a:bodyPr wrap="square" rtlCol="0">
            <a:spAutoFit/>
          </a:bodyPr>
          <a:lstStyle/>
          <a:p>
            <a:pPr algn="ctr"/>
            <a:r>
              <a:rPr lang="en-US" dirty="0"/>
              <a:t>transcript or mRNA</a:t>
            </a:r>
          </a:p>
        </p:txBody>
      </p:sp>
      <p:sp>
        <p:nvSpPr>
          <p:cNvPr id="13" name="TextBox 12">
            <a:extLst>
              <a:ext uri="{FF2B5EF4-FFF2-40B4-BE49-F238E27FC236}">
                <a16:creationId xmlns:a16="http://schemas.microsoft.com/office/drawing/2014/main" id="{6A58A096-7FB8-C20C-8676-197D29A15AAC}"/>
              </a:ext>
            </a:extLst>
          </p:cNvPr>
          <p:cNvSpPr txBox="1"/>
          <p:nvPr/>
        </p:nvSpPr>
        <p:spPr>
          <a:xfrm>
            <a:off x="4447032" y="2834860"/>
            <a:ext cx="585216" cy="646331"/>
          </a:xfrm>
          <a:prstGeom prst="rect">
            <a:avLst/>
          </a:prstGeom>
          <a:noFill/>
        </p:spPr>
        <p:txBody>
          <a:bodyPr wrap="square" rtlCol="0">
            <a:spAutoFit/>
          </a:bodyPr>
          <a:lstStyle/>
          <a:p>
            <a:r>
              <a:rPr lang="en-US" sz="3600" dirty="0"/>
              <a:t>…</a:t>
            </a:r>
          </a:p>
        </p:txBody>
      </p:sp>
      <p:sp>
        <p:nvSpPr>
          <p:cNvPr id="29" name="Arrow: Curved Right 28">
            <a:extLst>
              <a:ext uri="{FF2B5EF4-FFF2-40B4-BE49-F238E27FC236}">
                <a16:creationId xmlns:a16="http://schemas.microsoft.com/office/drawing/2014/main" id="{0370C6CE-81CA-6CCD-65EE-69ADDAC38234}"/>
              </a:ext>
            </a:extLst>
          </p:cNvPr>
          <p:cNvSpPr/>
          <p:nvPr/>
        </p:nvSpPr>
        <p:spPr>
          <a:xfrm>
            <a:off x="170688" y="2909578"/>
            <a:ext cx="975360" cy="1963222"/>
          </a:xfrm>
          <a:prstGeom prst="curvedRightArrow">
            <a:avLst>
              <a:gd name="adj1" fmla="val 7218"/>
              <a:gd name="adj2" fmla="val 122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D54955FC-436E-ABF6-AE14-A372900D7D37}"/>
              </a:ext>
            </a:extLst>
          </p:cNvPr>
          <p:cNvSpPr txBox="1"/>
          <p:nvPr/>
        </p:nvSpPr>
        <p:spPr>
          <a:xfrm>
            <a:off x="1243584" y="4350256"/>
            <a:ext cx="975360"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1" name="TextBox 30">
            <a:extLst>
              <a:ext uri="{FF2B5EF4-FFF2-40B4-BE49-F238E27FC236}">
                <a16:creationId xmlns:a16="http://schemas.microsoft.com/office/drawing/2014/main" id="{FB063514-D8A9-C932-48C1-F4561C3CC214}"/>
              </a:ext>
            </a:extLst>
          </p:cNvPr>
          <p:cNvSpPr txBox="1"/>
          <p:nvPr/>
        </p:nvSpPr>
        <p:spPr>
          <a:xfrm>
            <a:off x="2218944" y="4350256"/>
            <a:ext cx="975360"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2" name="TextBox 31">
            <a:extLst>
              <a:ext uri="{FF2B5EF4-FFF2-40B4-BE49-F238E27FC236}">
                <a16:creationId xmlns:a16="http://schemas.microsoft.com/office/drawing/2014/main" id="{14A35B60-FA54-FCB1-742D-B12EE37E77DD}"/>
              </a:ext>
            </a:extLst>
          </p:cNvPr>
          <p:cNvSpPr txBox="1"/>
          <p:nvPr/>
        </p:nvSpPr>
        <p:spPr>
          <a:xfrm>
            <a:off x="3182112" y="4350256"/>
            <a:ext cx="1530096"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3" name="TextBox 32">
            <a:extLst>
              <a:ext uri="{FF2B5EF4-FFF2-40B4-BE49-F238E27FC236}">
                <a16:creationId xmlns:a16="http://schemas.microsoft.com/office/drawing/2014/main" id="{F31BB656-58F9-7621-B1CE-332DF54FEA8E}"/>
              </a:ext>
            </a:extLst>
          </p:cNvPr>
          <p:cNvSpPr txBox="1"/>
          <p:nvPr/>
        </p:nvSpPr>
        <p:spPr>
          <a:xfrm>
            <a:off x="4700016" y="4350256"/>
            <a:ext cx="1347216"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5" name="TextBox 34">
            <a:extLst>
              <a:ext uri="{FF2B5EF4-FFF2-40B4-BE49-F238E27FC236}">
                <a16:creationId xmlns:a16="http://schemas.microsoft.com/office/drawing/2014/main" id="{9EFD9D4C-CA1B-2EDF-A1FE-946CD0FCF595}"/>
              </a:ext>
            </a:extLst>
          </p:cNvPr>
          <p:cNvSpPr txBox="1"/>
          <p:nvPr/>
        </p:nvSpPr>
        <p:spPr>
          <a:xfrm>
            <a:off x="6047232" y="4350256"/>
            <a:ext cx="2121408" cy="369332"/>
          </a:xfrm>
          <a:prstGeom prst="rect">
            <a:avLst/>
          </a:prstGeom>
          <a:solidFill>
            <a:schemeClr val="accent5">
              <a:lumMod val="40000"/>
              <a:lumOff val="60000"/>
            </a:schemeClr>
          </a:solidFill>
          <a:ln>
            <a:solidFill>
              <a:schemeClr val="accent1">
                <a:shade val="15000"/>
              </a:schemeClr>
            </a:solidFill>
          </a:ln>
        </p:spPr>
        <p:txBody>
          <a:bodyPr wrap="square" rtlCol="0">
            <a:spAutoFit/>
          </a:bodyPr>
          <a:lstStyle/>
          <a:p>
            <a:pPr algn="ctr"/>
            <a:r>
              <a:rPr lang="en-US" dirty="0"/>
              <a:t>exon</a:t>
            </a:r>
          </a:p>
        </p:txBody>
      </p:sp>
      <p:sp>
        <p:nvSpPr>
          <p:cNvPr id="36" name="TextBox 35">
            <a:extLst>
              <a:ext uri="{FF2B5EF4-FFF2-40B4-BE49-F238E27FC236}">
                <a16:creationId xmlns:a16="http://schemas.microsoft.com/office/drawing/2014/main" id="{53C13542-4436-33FE-8C48-A5674CFAA7D4}"/>
              </a:ext>
            </a:extLst>
          </p:cNvPr>
          <p:cNvSpPr txBox="1"/>
          <p:nvPr/>
        </p:nvSpPr>
        <p:spPr>
          <a:xfrm>
            <a:off x="1231392" y="5015148"/>
            <a:ext cx="975360"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5’ UTR</a:t>
            </a:r>
          </a:p>
        </p:txBody>
      </p:sp>
      <p:sp>
        <p:nvSpPr>
          <p:cNvPr id="37" name="TextBox 36">
            <a:extLst>
              <a:ext uri="{FF2B5EF4-FFF2-40B4-BE49-F238E27FC236}">
                <a16:creationId xmlns:a16="http://schemas.microsoft.com/office/drawing/2014/main" id="{4094E4C5-C7A3-E092-294C-0D9DD1F37B42}"/>
              </a:ext>
            </a:extLst>
          </p:cNvPr>
          <p:cNvSpPr txBox="1"/>
          <p:nvPr/>
        </p:nvSpPr>
        <p:spPr>
          <a:xfrm>
            <a:off x="2206752" y="5015148"/>
            <a:ext cx="975360"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5’ UTR</a:t>
            </a:r>
          </a:p>
        </p:txBody>
      </p:sp>
      <p:sp>
        <p:nvSpPr>
          <p:cNvPr id="38" name="TextBox 37">
            <a:extLst>
              <a:ext uri="{FF2B5EF4-FFF2-40B4-BE49-F238E27FC236}">
                <a16:creationId xmlns:a16="http://schemas.microsoft.com/office/drawing/2014/main" id="{DF2EB241-1E1B-C811-B334-4FEB236BCD15}"/>
              </a:ext>
            </a:extLst>
          </p:cNvPr>
          <p:cNvSpPr txBox="1"/>
          <p:nvPr/>
        </p:nvSpPr>
        <p:spPr>
          <a:xfrm>
            <a:off x="3169920" y="5015148"/>
            <a:ext cx="890016"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5’UTR</a:t>
            </a:r>
          </a:p>
        </p:txBody>
      </p:sp>
      <p:sp>
        <p:nvSpPr>
          <p:cNvPr id="39" name="TextBox 38">
            <a:extLst>
              <a:ext uri="{FF2B5EF4-FFF2-40B4-BE49-F238E27FC236}">
                <a16:creationId xmlns:a16="http://schemas.microsoft.com/office/drawing/2014/main" id="{9DBEBE1D-4A2E-4D05-67A7-FFB4902707D7}"/>
              </a:ext>
            </a:extLst>
          </p:cNvPr>
          <p:cNvSpPr txBox="1"/>
          <p:nvPr/>
        </p:nvSpPr>
        <p:spPr>
          <a:xfrm>
            <a:off x="4687824" y="5015148"/>
            <a:ext cx="1359408"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CDS</a:t>
            </a:r>
          </a:p>
        </p:txBody>
      </p:sp>
      <p:sp>
        <p:nvSpPr>
          <p:cNvPr id="40" name="TextBox 39">
            <a:extLst>
              <a:ext uri="{FF2B5EF4-FFF2-40B4-BE49-F238E27FC236}">
                <a16:creationId xmlns:a16="http://schemas.microsoft.com/office/drawing/2014/main" id="{786D510E-FE24-4A85-C78F-9F091043147F}"/>
              </a:ext>
            </a:extLst>
          </p:cNvPr>
          <p:cNvSpPr txBox="1"/>
          <p:nvPr/>
        </p:nvSpPr>
        <p:spPr>
          <a:xfrm>
            <a:off x="6047232" y="5015148"/>
            <a:ext cx="1219200"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CDS</a:t>
            </a:r>
          </a:p>
        </p:txBody>
      </p:sp>
      <p:sp>
        <p:nvSpPr>
          <p:cNvPr id="41" name="TextBox 40">
            <a:extLst>
              <a:ext uri="{FF2B5EF4-FFF2-40B4-BE49-F238E27FC236}">
                <a16:creationId xmlns:a16="http://schemas.microsoft.com/office/drawing/2014/main" id="{3A1FFBC8-C0D0-936E-682D-2BF90662D638}"/>
              </a:ext>
            </a:extLst>
          </p:cNvPr>
          <p:cNvSpPr txBox="1"/>
          <p:nvPr/>
        </p:nvSpPr>
        <p:spPr>
          <a:xfrm>
            <a:off x="7266432" y="5015148"/>
            <a:ext cx="890016"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3’ UTR</a:t>
            </a:r>
          </a:p>
        </p:txBody>
      </p:sp>
      <p:sp>
        <p:nvSpPr>
          <p:cNvPr id="42" name="TextBox 41">
            <a:extLst>
              <a:ext uri="{FF2B5EF4-FFF2-40B4-BE49-F238E27FC236}">
                <a16:creationId xmlns:a16="http://schemas.microsoft.com/office/drawing/2014/main" id="{8ACE45AD-F52B-FFC3-1723-E991FA166FCC}"/>
              </a:ext>
            </a:extLst>
          </p:cNvPr>
          <p:cNvSpPr txBox="1"/>
          <p:nvPr/>
        </p:nvSpPr>
        <p:spPr>
          <a:xfrm>
            <a:off x="4059936" y="5015148"/>
            <a:ext cx="627888" cy="369332"/>
          </a:xfrm>
          <a:prstGeom prst="rect">
            <a:avLst/>
          </a:prstGeom>
          <a:solidFill>
            <a:srgbClr val="FFC000"/>
          </a:solidFill>
          <a:ln>
            <a:solidFill>
              <a:schemeClr val="accent1">
                <a:shade val="15000"/>
              </a:schemeClr>
            </a:solidFill>
          </a:ln>
        </p:spPr>
        <p:txBody>
          <a:bodyPr wrap="square" rtlCol="0">
            <a:spAutoFit/>
          </a:bodyPr>
          <a:lstStyle/>
          <a:p>
            <a:pPr algn="ctr"/>
            <a:r>
              <a:rPr lang="en-US" dirty="0"/>
              <a:t>CDS</a:t>
            </a:r>
          </a:p>
        </p:txBody>
      </p:sp>
      <p:cxnSp>
        <p:nvCxnSpPr>
          <p:cNvPr id="44" name="Straight Arrow Connector 43">
            <a:extLst>
              <a:ext uri="{FF2B5EF4-FFF2-40B4-BE49-F238E27FC236}">
                <a16:creationId xmlns:a16="http://schemas.microsoft.com/office/drawing/2014/main" id="{2CCF03DF-1787-C9C4-3011-3A1E0B1F5466}"/>
              </a:ext>
            </a:extLst>
          </p:cNvPr>
          <p:cNvCxnSpPr>
            <a:cxnSpLocks/>
          </p:cNvCxnSpPr>
          <p:nvPr/>
        </p:nvCxnSpPr>
        <p:spPr>
          <a:xfrm flipV="1">
            <a:off x="4059936" y="5555552"/>
            <a:ext cx="0" cy="402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60072C10-6691-3471-5CFE-C3D2214AE3AA}"/>
              </a:ext>
            </a:extLst>
          </p:cNvPr>
          <p:cNvSpPr txBox="1"/>
          <p:nvPr/>
        </p:nvSpPr>
        <p:spPr>
          <a:xfrm>
            <a:off x="3380232" y="6000405"/>
            <a:ext cx="1359408" cy="646331"/>
          </a:xfrm>
          <a:prstGeom prst="rect">
            <a:avLst/>
          </a:prstGeom>
          <a:solidFill>
            <a:schemeClr val="accent2">
              <a:lumMod val="40000"/>
              <a:lumOff val="60000"/>
            </a:schemeClr>
          </a:solidFill>
          <a:ln>
            <a:solidFill>
              <a:schemeClr val="accent1">
                <a:shade val="15000"/>
              </a:schemeClr>
            </a:solidFill>
          </a:ln>
        </p:spPr>
        <p:txBody>
          <a:bodyPr wrap="square" rtlCol="0">
            <a:spAutoFit/>
          </a:bodyPr>
          <a:lstStyle/>
          <a:p>
            <a:pPr algn="ctr"/>
            <a:r>
              <a:rPr lang="en-US" dirty="0"/>
              <a:t>Start codon (ATG)</a:t>
            </a:r>
          </a:p>
        </p:txBody>
      </p:sp>
      <p:cxnSp>
        <p:nvCxnSpPr>
          <p:cNvPr id="48" name="Straight Arrow Connector 47">
            <a:extLst>
              <a:ext uri="{FF2B5EF4-FFF2-40B4-BE49-F238E27FC236}">
                <a16:creationId xmlns:a16="http://schemas.microsoft.com/office/drawing/2014/main" id="{B6BAFE07-0244-24EF-14C3-2083ABAA9386}"/>
              </a:ext>
            </a:extLst>
          </p:cNvPr>
          <p:cNvCxnSpPr>
            <a:cxnSpLocks/>
          </p:cNvCxnSpPr>
          <p:nvPr/>
        </p:nvCxnSpPr>
        <p:spPr>
          <a:xfrm flipV="1">
            <a:off x="7266432" y="5530747"/>
            <a:ext cx="0" cy="4023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172C458D-7A2E-36C9-00EB-45D4A5F4735D}"/>
              </a:ext>
            </a:extLst>
          </p:cNvPr>
          <p:cNvSpPr txBox="1"/>
          <p:nvPr/>
        </p:nvSpPr>
        <p:spPr>
          <a:xfrm>
            <a:off x="6412991" y="5975600"/>
            <a:ext cx="1743455" cy="646331"/>
          </a:xfrm>
          <a:prstGeom prst="rect">
            <a:avLst/>
          </a:prstGeom>
          <a:solidFill>
            <a:schemeClr val="accent2">
              <a:lumMod val="40000"/>
              <a:lumOff val="60000"/>
            </a:schemeClr>
          </a:solidFill>
          <a:ln>
            <a:solidFill>
              <a:schemeClr val="accent1">
                <a:shade val="15000"/>
              </a:schemeClr>
            </a:solidFill>
          </a:ln>
        </p:spPr>
        <p:txBody>
          <a:bodyPr wrap="square" rtlCol="0">
            <a:spAutoFit/>
          </a:bodyPr>
          <a:lstStyle/>
          <a:p>
            <a:pPr algn="ctr"/>
            <a:r>
              <a:rPr lang="en-US" dirty="0"/>
              <a:t>Stop codon (TAA,TAG,TGA)</a:t>
            </a:r>
          </a:p>
        </p:txBody>
      </p:sp>
      <p:pic>
        <p:nvPicPr>
          <p:cNvPr id="3" name="Picture 2" descr="A picture containing text&#10;&#10;Description automatically generated">
            <a:extLst>
              <a:ext uri="{FF2B5EF4-FFF2-40B4-BE49-F238E27FC236}">
                <a16:creationId xmlns:a16="http://schemas.microsoft.com/office/drawing/2014/main" id="{1C32671D-0127-95B6-D8BE-06B7F6D81884}"/>
              </a:ext>
            </a:extLst>
          </p:cNvPr>
          <p:cNvPicPr>
            <a:picLocks noChangeAspect="1"/>
          </p:cNvPicPr>
          <p:nvPr/>
        </p:nvPicPr>
        <p:blipFill rotWithShape="1">
          <a:blip r:embed="rId2">
            <a:extLst>
              <a:ext uri="{28A0092B-C50C-407E-A947-70E740481C1C}">
                <a14:useLocalDpi xmlns:a14="http://schemas.microsoft.com/office/drawing/2010/main" val="0"/>
              </a:ext>
            </a:extLst>
          </a:blip>
          <a:srcRect r="36199" b="24212"/>
          <a:stretch/>
        </p:blipFill>
        <p:spPr>
          <a:xfrm>
            <a:off x="8519160" y="1540660"/>
            <a:ext cx="7482545" cy="4988363"/>
          </a:xfrm>
          <a:prstGeom prst="rect">
            <a:avLst/>
          </a:prstGeom>
        </p:spPr>
      </p:pic>
    </p:spTree>
    <p:extLst>
      <p:ext uri="{BB962C8B-B14F-4D97-AF65-F5344CB8AC3E}">
        <p14:creationId xmlns:p14="http://schemas.microsoft.com/office/powerpoint/2010/main" val="86923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AE29-4A2D-B3A0-D4EA-CE07B6AE93F1}"/>
              </a:ext>
            </a:extLst>
          </p:cNvPr>
          <p:cNvSpPr>
            <a:spLocks noGrp="1"/>
          </p:cNvSpPr>
          <p:nvPr>
            <p:ph type="title"/>
          </p:nvPr>
        </p:nvSpPr>
        <p:spPr/>
        <p:txBody>
          <a:bodyPr>
            <a:normAutofit fontScale="90000"/>
          </a:bodyPr>
          <a:lstStyle/>
          <a:p>
            <a:r>
              <a:rPr lang="en-US" dirty="0"/>
              <a:t>Spliced alignment</a:t>
            </a:r>
          </a:p>
        </p:txBody>
      </p:sp>
      <p:sp>
        <p:nvSpPr>
          <p:cNvPr id="3" name="Content Placeholder 2">
            <a:extLst>
              <a:ext uri="{FF2B5EF4-FFF2-40B4-BE49-F238E27FC236}">
                <a16:creationId xmlns:a16="http://schemas.microsoft.com/office/drawing/2014/main" id="{80EAD1E1-6FBD-1E46-1494-5F1DF6B2D433}"/>
              </a:ext>
            </a:extLst>
          </p:cNvPr>
          <p:cNvSpPr>
            <a:spLocks noGrp="1"/>
          </p:cNvSpPr>
          <p:nvPr>
            <p:ph idx="1"/>
          </p:nvPr>
        </p:nvSpPr>
        <p:spPr/>
        <p:txBody>
          <a:bodyPr/>
          <a:lstStyle/>
          <a:p>
            <a:r>
              <a:rPr lang="en-US" dirty="0"/>
              <a:t>We find transcripts on the genome by spliced alignment of transcriptome reads</a:t>
            </a:r>
          </a:p>
        </p:txBody>
      </p:sp>
      <p:sp>
        <p:nvSpPr>
          <p:cNvPr id="4" name="Slide Number Placeholder 3">
            <a:extLst>
              <a:ext uri="{FF2B5EF4-FFF2-40B4-BE49-F238E27FC236}">
                <a16:creationId xmlns:a16="http://schemas.microsoft.com/office/drawing/2014/main" id="{DD47867D-EB0C-6360-7F8B-53D714A0AF6E}"/>
              </a:ext>
            </a:extLst>
          </p:cNvPr>
          <p:cNvSpPr>
            <a:spLocks noGrp="1"/>
          </p:cNvSpPr>
          <p:nvPr>
            <p:ph type="sldNum" sz="quarter" idx="12"/>
          </p:nvPr>
        </p:nvSpPr>
        <p:spPr/>
        <p:txBody>
          <a:bodyPr/>
          <a:lstStyle/>
          <a:p>
            <a:fld id="{B82CCC60-E8CD-4174-8B1A-7DF615B22EEF}" type="slidenum">
              <a:rPr lang="en-US" smtClean="0"/>
              <a:pPr/>
              <a:t>47</a:t>
            </a:fld>
            <a:endParaRPr lang="en-US"/>
          </a:p>
        </p:txBody>
      </p:sp>
    </p:spTree>
    <p:extLst>
      <p:ext uri="{BB962C8B-B14F-4D97-AF65-F5344CB8AC3E}">
        <p14:creationId xmlns:p14="http://schemas.microsoft.com/office/powerpoint/2010/main" val="27248078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91BA9-51AC-D3CF-5415-3A7693BA9A77}"/>
              </a:ext>
            </a:extLst>
          </p:cNvPr>
          <p:cNvSpPr>
            <a:spLocks noGrp="1"/>
          </p:cNvSpPr>
          <p:nvPr>
            <p:ph type="title"/>
          </p:nvPr>
        </p:nvSpPr>
        <p:spPr/>
        <p:txBody>
          <a:bodyPr>
            <a:normAutofit fontScale="90000"/>
          </a:bodyPr>
          <a:lstStyle/>
          <a:p>
            <a:r>
              <a:rPr lang="en-US" dirty="0"/>
              <a:t>Variant Calling</a:t>
            </a:r>
          </a:p>
        </p:txBody>
      </p:sp>
      <p:sp>
        <p:nvSpPr>
          <p:cNvPr id="3" name="Content Placeholder 2">
            <a:extLst>
              <a:ext uri="{FF2B5EF4-FFF2-40B4-BE49-F238E27FC236}">
                <a16:creationId xmlns:a16="http://schemas.microsoft.com/office/drawing/2014/main" id="{6424252B-75A5-A091-0B21-1EB810DA9B0E}"/>
              </a:ext>
            </a:extLst>
          </p:cNvPr>
          <p:cNvSpPr>
            <a:spLocks noGrp="1"/>
          </p:cNvSpPr>
          <p:nvPr>
            <p:ph idx="1"/>
          </p:nvPr>
        </p:nvSpPr>
        <p:spPr/>
        <p:txBody>
          <a:bodyPr>
            <a:normAutofit lnSpcReduction="10000"/>
          </a:bodyPr>
          <a:lstStyle/>
          <a:p>
            <a:r>
              <a:rPr lang="en-US" b="1" dirty="0"/>
              <a:t>Sequencing: </a:t>
            </a:r>
            <a:r>
              <a:rPr lang="en-US" dirty="0"/>
              <a:t>A DNA sample is sequenced to generate a large number of short reads containing genetic information. </a:t>
            </a:r>
          </a:p>
          <a:p>
            <a:r>
              <a:rPr lang="en-US" b="1" dirty="0"/>
              <a:t>Alignment:</a:t>
            </a:r>
            <a:r>
              <a:rPr lang="en-US" dirty="0"/>
              <a:t> The generated short reads are aligned (mapped) to a known reference genome. </a:t>
            </a:r>
          </a:p>
          <a:p>
            <a:r>
              <a:rPr lang="en-US" b="1" dirty="0"/>
              <a:t>Variant Identification: </a:t>
            </a:r>
            <a:r>
              <a:rPr lang="en-US" dirty="0"/>
              <a:t>Bioinformatic algorithms compare the aligned reads to the reference to identify positions where they differ, indicating a variant. </a:t>
            </a:r>
          </a:p>
          <a:p>
            <a:r>
              <a:rPr lang="en-US" b="1" dirty="0"/>
              <a:t>Variant Call Formatting: </a:t>
            </a:r>
            <a:r>
              <a:rPr lang="en-US" dirty="0"/>
              <a:t>The identified variants are compiled into a standardized Variant Call Format (VCF) file. </a:t>
            </a:r>
          </a:p>
        </p:txBody>
      </p:sp>
      <p:sp>
        <p:nvSpPr>
          <p:cNvPr id="4" name="Slide Number Placeholder 3">
            <a:extLst>
              <a:ext uri="{FF2B5EF4-FFF2-40B4-BE49-F238E27FC236}">
                <a16:creationId xmlns:a16="http://schemas.microsoft.com/office/drawing/2014/main" id="{58A8F257-5324-DBC6-ACAF-B703C251F65F}"/>
              </a:ext>
            </a:extLst>
          </p:cNvPr>
          <p:cNvSpPr>
            <a:spLocks noGrp="1"/>
          </p:cNvSpPr>
          <p:nvPr>
            <p:ph type="sldNum" sz="quarter" idx="12"/>
          </p:nvPr>
        </p:nvSpPr>
        <p:spPr/>
        <p:txBody>
          <a:bodyPr/>
          <a:lstStyle/>
          <a:p>
            <a:fld id="{B82CCC60-E8CD-4174-8B1A-7DF615B22EEF}" type="slidenum">
              <a:rPr lang="en-US" smtClean="0"/>
              <a:pPr/>
              <a:t>48</a:t>
            </a:fld>
            <a:endParaRPr lang="en-US"/>
          </a:p>
        </p:txBody>
      </p:sp>
    </p:spTree>
    <p:extLst>
      <p:ext uri="{BB962C8B-B14F-4D97-AF65-F5344CB8AC3E}">
        <p14:creationId xmlns:p14="http://schemas.microsoft.com/office/powerpoint/2010/main" val="5826609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672D-A435-BC83-72AA-E32D227F60BD}"/>
              </a:ext>
            </a:extLst>
          </p:cNvPr>
          <p:cNvSpPr>
            <a:spLocks noGrp="1"/>
          </p:cNvSpPr>
          <p:nvPr>
            <p:ph type="title"/>
          </p:nvPr>
        </p:nvSpPr>
        <p:spPr/>
        <p:txBody>
          <a:bodyPr>
            <a:normAutofit fontScale="90000"/>
          </a:bodyPr>
          <a:lstStyle/>
          <a:p>
            <a:r>
              <a:rPr lang="en-US" dirty="0"/>
              <a:t>Types of variants</a:t>
            </a:r>
          </a:p>
        </p:txBody>
      </p:sp>
      <p:sp>
        <p:nvSpPr>
          <p:cNvPr id="3" name="Content Placeholder 2">
            <a:extLst>
              <a:ext uri="{FF2B5EF4-FFF2-40B4-BE49-F238E27FC236}">
                <a16:creationId xmlns:a16="http://schemas.microsoft.com/office/drawing/2014/main" id="{2B1184CE-5E86-958A-1224-B2F8288EB7E6}"/>
              </a:ext>
            </a:extLst>
          </p:cNvPr>
          <p:cNvSpPr>
            <a:spLocks noGrp="1"/>
          </p:cNvSpPr>
          <p:nvPr>
            <p:ph idx="1"/>
          </p:nvPr>
        </p:nvSpPr>
        <p:spPr/>
        <p:txBody>
          <a:bodyPr/>
          <a:lstStyle/>
          <a:p>
            <a:r>
              <a:rPr lang="en-US" b="1" dirty="0"/>
              <a:t>Single Nucleotide Variants (SNVs): </a:t>
            </a:r>
            <a:r>
              <a:rPr lang="en-US" dirty="0"/>
              <a:t>A change in a single DNA base pair, such as a single nucleotide polymorphism (SNP).</a:t>
            </a:r>
          </a:p>
          <a:p>
            <a:r>
              <a:rPr lang="en-US" b="1" dirty="0"/>
              <a:t>Insertions/Deletions (Indels):</a:t>
            </a:r>
            <a:r>
              <a:rPr lang="en-US" dirty="0"/>
              <a:t> Short segments of DNA that are inserted or deleted.</a:t>
            </a:r>
          </a:p>
          <a:p>
            <a:r>
              <a:rPr lang="en-US" b="1" dirty="0"/>
              <a:t>Structural Variants (SVs): </a:t>
            </a:r>
            <a:r>
              <a:rPr lang="en-US" dirty="0"/>
              <a:t>Larger-scale changes to the genome, including deletions, duplications, inversions, and translocations.</a:t>
            </a:r>
          </a:p>
        </p:txBody>
      </p:sp>
      <p:sp>
        <p:nvSpPr>
          <p:cNvPr id="4" name="Slide Number Placeholder 3">
            <a:extLst>
              <a:ext uri="{FF2B5EF4-FFF2-40B4-BE49-F238E27FC236}">
                <a16:creationId xmlns:a16="http://schemas.microsoft.com/office/drawing/2014/main" id="{7680CDBB-CABE-DADA-9F90-7C41BDB5D374}"/>
              </a:ext>
            </a:extLst>
          </p:cNvPr>
          <p:cNvSpPr>
            <a:spLocks noGrp="1"/>
          </p:cNvSpPr>
          <p:nvPr>
            <p:ph type="sldNum" sz="quarter" idx="12"/>
          </p:nvPr>
        </p:nvSpPr>
        <p:spPr/>
        <p:txBody>
          <a:bodyPr/>
          <a:lstStyle/>
          <a:p>
            <a:fld id="{B82CCC60-E8CD-4174-8B1A-7DF615B22EEF}" type="slidenum">
              <a:rPr lang="en-US" smtClean="0"/>
              <a:pPr/>
              <a:t>49</a:t>
            </a:fld>
            <a:endParaRPr lang="en-US"/>
          </a:p>
        </p:txBody>
      </p:sp>
    </p:spTree>
    <p:extLst>
      <p:ext uri="{BB962C8B-B14F-4D97-AF65-F5344CB8AC3E}">
        <p14:creationId xmlns:p14="http://schemas.microsoft.com/office/powerpoint/2010/main" val="8979606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DEB4F-9DB9-B8C4-DCFA-CBAE516F9E21}"/>
              </a:ext>
            </a:extLst>
          </p:cNvPr>
          <p:cNvSpPr>
            <a:spLocks noGrp="1"/>
          </p:cNvSpPr>
          <p:nvPr>
            <p:ph type="title"/>
          </p:nvPr>
        </p:nvSpPr>
        <p:spPr/>
        <p:txBody>
          <a:bodyPr>
            <a:normAutofit fontScale="90000"/>
          </a:bodyPr>
          <a:lstStyle/>
          <a:p>
            <a:r>
              <a:rPr lang="en-US" dirty="0"/>
              <a:t>Why variant calling is important</a:t>
            </a:r>
          </a:p>
        </p:txBody>
      </p:sp>
      <p:sp>
        <p:nvSpPr>
          <p:cNvPr id="3" name="Content Placeholder 2">
            <a:extLst>
              <a:ext uri="{FF2B5EF4-FFF2-40B4-BE49-F238E27FC236}">
                <a16:creationId xmlns:a16="http://schemas.microsoft.com/office/drawing/2014/main" id="{AC86A152-31BF-4E55-AF0D-73795B258635}"/>
              </a:ext>
            </a:extLst>
          </p:cNvPr>
          <p:cNvSpPr>
            <a:spLocks noGrp="1"/>
          </p:cNvSpPr>
          <p:nvPr>
            <p:ph idx="1"/>
          </p:nvPr>
        </p:nvSpPr>
        <p:spPr/>
        <p:txBody>
          <a:bodyPr/>
          <a:lstStyle/>
          <a:p>
            <a:r>
              <a:rPr lang="en-US" b="1" dirty="0"/>
              <a:t>Disease Research: </a:t>
            </a:r>
            <a:r>
              <a:rPr lang="en-US" dirty="0"/>
              <a:t>Variant calling helps identify genetic mutations associated with various diseases, including cancer. </a:t>
            </a:r>
          </a:p>
          <a:p>
            <a:r>
              <a:rPr lang="en-US" b="1" dirty="0"/>
              <a:t>Clinical Diagnostics: </a:t>
            </a:r>
            <a:r>
              <a:rPr lang="en-US" dirty="0"/>
              <a:t>It provides data for diagnosing genetic conditions and understanding individual predispositions to common health problems. </a:t>
            </a:r>
          </a:p>
          <a:p>
            <a:r>
              <a:rPr lang="en-US" b="1" dirty="0"/>
              <a:t>Evolutionary Studies: </a:t>
            </a:r>
            <a:r>
              <a:rPr lang="en-US" dirty="0"/>
              <a:t>Comparing variants across populations helps researchers understand evolutionary relationships and genetic diversity. </a:t>
            </a:r>
          </a:p>
        </p:txBody>
      </p:sp>
      <p:sp>
        <p:nvSpPr>
          <p:cNvPr id="4" name="Slide Number Placeholder 3">
            <a:extLst>
              <a:ext uri="{FF2B5EF4-FFF2-40B4-BE49-F238E27FC236}">
                <a16:creationId xmlns:a16="http://schemas.microsoft.com/office/drawing/2014/main" id="{1C15619B-34FD-33B8-1746-F3746FA338C0}"/>
              </a:ext>
            </a:extLst>
          </p:cNvPr>
          <p:cNvSpPr>
            <a:spLocks noGrp="1"/>
          </p:cNvSpPr>
          <p:nvPr>
            <p:ph type="sldNum" sz="quarter" idx="12"/>
          </p:nvPr>
        </p:nvSpPr>
        <p:spPr/>
        <p:txBody>
          <a:bodyPr/>
          <a:lstStyle/>
          <a:p>
            <a:fld id="{B82CCC60-E8CD-4174-8B1A-7DF615B22EEF}" type="slidenum">
              <a:rPr lang="en-US" smtClean="0"/>
              <a:pPr/>
              <a:t>50</a:t>
            </a:fld>
            <a:endParaRPr lang="en-US"/>
          </a:p>
        </p:txBody>
      </p:sp>
    </p:spTree>
    <p:extLst>
      <p:ext uri="{BB962C8B-B14F-4D97-AF65-F5344CB8AC3E}">
        <p14:creationId xmlns:p14="http://schemas.microsoft.com/office/powerpoint/2010/main" val="2016871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13883</TotalTime>
  <Words>3389</Words>
  <Application>Microsoft Office PowerPoint</Application>
  <PresentationFormat>Widescreen</PresentationFormat>
  <Paragraphs>368</Paragraphs>
  <Slides>50</Slides>
  <Notes>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50</vt:i4>
      </vt:variant>
    </vt:vector>
  </HeadingPairs>
  <TitlesOfParts>
    <vt:vector size="60" baseType="lpstr">
      <vt:lpstr>arial</vt:lpstr>
      <vt:lpstr>arial</vt:lpstr>
      <vt:lpstr>Calibri</vt:lpstr>
      <vt:lpstr>Cambria Math</vt:lpstr>
      <vt:lpstr>Courier New</vt:lpstr>
      <vt:lpstr>Helvetica</vt:lpstr>
      <vt:lpstr>Helvetica Neue Medium</vt:lpstr>
      <vt:lpstr>Poppins</vt:lpstr>
      <vt:lpstr>Trebuchet MS</vt:lpstr>
      <vt:lpstr>Office Theme</vt:lpstr>
      <vt:lpstr>PowerPoint Presentation</vt:lpstr>
      <vt:lpstr>Lab #4: Build K-unitigs from K-mers</vt:lpstr>
      <vt:lpstr>K-unitigs</vt:lpstr>
      <vt:lpstr>Why choose an odd value of K?</vt:lpstr>
      <vt:lpstr>K-mer graph</vt:lpstr>
      <vt:lpstr>K-mer graph</vt:lpstr>
      <vt:lpstr>K-mer graph</vt:lpstr>
      <vt:lpstr>K-mer graph</vt:lpstr>
      <vt:lpstr>K-mer graph</vt:lpstr>
      <vt:lpstr>K-unitigs</vt:lpstr>
      <vt:lpstr>Evaluating genome assemblies: size</vt:lpstr>
      <vt:lpstr>Evaluating genome assemblies: N50</vt:lpstr>
      <vt:lpstr>Note about N50</vt:lpstr>
      <vt:lpstr>Evaluating genome assemblies: error rate</vt:lpstr>
      <vt:lpstr>K-unitig algorithm</vt:lpstr>
      <vt:lpstr>Similarity of genomes</vt:lpstr>
      <vt:lpstr>Jaccard similarity index</vt:lpstr>
      <vt:lpstr>Sets</vt:lpstr>
      <vt:lpstr>Cardinality</vt:lpstr>
      <vt:lpstr>Sets</vt:lpstr>
      <vt:lpstr>Jaccard index (or coefficient)</vt:lpstr>
      <vt:lpstr>Jaccard coefficient</vt:lpstr>
      <vt:lpstr>Jaccard coefficient</vt:lpstr>
      <vt:lpstr>Jaccard index for genome  similarity/alignment</vt:lpstr>
      <vt:lpstr>Jaccard index for genome  similarity/alignment</vt:lpstr>
      <vt:lpstr>Another example</vt:lpstr>
      <vt:lpstr>Genome distance estimation using MinHash</vt:lpstr>
      <vt:lpstr>Computing approximate alignments with MinHash</vt:lpstr>
      <vt:lpstr>Metagenomic data analysis</vt:lpstr>
      <vt:lpstr>Characteristics of metagenomic data</vt:lpstr>
      <vt:lpstr>NCBI Taxonomy</vt:lpstr>
      <vt:lpstr>NCBI Taxonomy Browser</vt:lpstr>
      <vt:lpstr>Analysis of metagenomic data</vt:lpstr>
      <vt:lpstr>Analysis of metagenomic data</vt:lpstr>
      <vt:lpstr>Analysis of metagenomic data</vt:lpstr>
      <vt:lpstr>Long-read metagenomics</vt:lpstr>
      <vt:lpstr>Making sense of genomic sequence</vt:lpstr>
      <vt:lpstr>How transcription + translation works?</vt:lpstr>
      <vt:lpstr>Splicing</vt:lpstr>
      <vt:lpstr>Poly-A tail</vt:lpstr>
      <vt:lpstr>How transcripts are obtained</vt:lpstr>
      <vt:lpstr>Short read Illumina RNA-seq</vt:lpstr>
      <vt:lpstr>Transcript</vt:lpstr>
      <vt:lpstr>Gene</vt:lpstr>
      <vt:lpstr>PowerPoint Presentation</vt:lpstr>
      <vt:lpstr>Gene representation</vt:lpstr>
      <vt:lpstr>Spliced alignment</vt:lpstr>
      <vt:lpstr>Variant Calling</vt:lpstr>
      <vt:lpstr>Types of variants</vt:lpstr>
      <vt:lpstr>Why variant calling is important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Alexey Zimin</cp:lastModifiedBy>
  <cp:revision>59</cp:revision>
  <dcterms:created xsi:type="dcterms:W3CDTF">2013-08-21T19:17:07Z</dcterms:created>
  <dcterms:modified xsi:type="dcterms:W3CDTF">2026-10-12T17:45:12Z</dcterms:modified>
</cp:coreProperties>
</file>