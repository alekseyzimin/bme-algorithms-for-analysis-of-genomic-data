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272" r:id="rId2"/>
    <p:sldId id="509" r:id="rId3"/>
    <p:sldId id="512" r:id="rId4"/>
    <p:sldId id="406" r:id="rId5"/>
    <p:sldId id="450" r:id="rId6"/>
    <p:sldId id="449" r:id="rId7"/>
    <p:sldId id="409" r:id="rId8"/>
    <p:sldId id="555" r:id="rId9"/>
    <p:sldId id="510" r:id="rId10"/>
    <p:sldId id="511" r:id="rId11"/>
    <p:sldId id="451" r:id="rId12"/>
    <p:sldId id="493" r:id="rId13"/>
    <p:sldId id="494" r:id="rId14"/>
    <p:sldId id="495" r:id="rId15"/>
    <p:sldId id="496" r:id="rId16"/>
    <p:sldId id="500" r:id="rId17"/>
    <p:sldId id="497" r:id="rId18"/>
    <p:sldId id="503" r:id="rId19"/>
    <p:sldId id="501" r:id="rId20"/>
    <p:sldId id="502" r:id="rId21"/>
    <p:sldId id="453" r:id="rId22"/>
    <p:sldId id="506" r:id="rId23"/>
    <p:sldId id="505" r:id="rId24"/>
    <p:sldId id="455" r:id="rId25"/>
    <p:sldId id="479" r:id="rId26"/>
    <p:sldId id="504" r:id="rId27"/>
    <p:sldId id="513" r:id="rId28"/>
    <p:sldId id="514" r:id="rId29"/>
    <p:sldId id="515" r:id="rId30"/>
    <p:sldId id="508" r:id="rId31"/>
    <p:sldId id="546" r:id="rId32"/>
    <p:sldId id="547" r:id="rId33"/>
    <p:sldId id="548" r:id="rId34"/>
    <p:sldId id="410" r:id="rId35"/>
    <p:sldId id="440" r:id="rId36"/>
    <p:sldId id="441" r:id="rId37"/>
    <p:sldId id="442" r:id="rId38"/>
    <p:sldId id="469" r:id="rId39"/>
    <p:sldId id="470" r:id="rId40"/>
    <p:sldId id="443" r:id="rId41"/>
    <p:sldId id="468" r:id="rId42"/>
    <p:sldId id="467" r:id="rId43"/>
    <p:sldId id="471" r:id="rId44"/>
    <p:sldId id="472" r:id="rId45"/>
    <p:sldId id="473" r:id="rId46"/>
    <p:sldId id="477" r:id="rId47"/>
    <p:sldId id="551" r:id="rId48"/>
    <p:sldId id="552" r:id="rId49"/>
    <p:sldId id="553" r:id="rId50"/>
    <p:sldId id="554" r:id="rId51"/>
    <p:sldId id="550" r:id="rId52"/>
    <p:sldId id="549" r:id="rId53"/>
    <p:sldId id="412" r:id="rId54"/>
    <p:sldId id="516" r:id="rId55"/>
    <p:sldId id="282" r:id="rId56"/>
    <p:sldId id="283" r:id="rId57"/>
    <p:sldId id="284" r:id="rId58"/>
    <p:sldId id="285" r:id="rId59"/>
    <p:sldId id="286" r:id="rId60"/>
    <p:sldId id="287" r:id="rId61"/>
    <p:sldId id="517" r:id="rId62"/>
    <p:sldId id="518" r:id="rId63"/>
    <p:sldId id="532" r:id="rId64"/>
    <p:sldId id="519" r:id="rId65"/>
    <p:sldId id="520" r:id="rId66"/>
    <p:sldId id="521" r:id="rId67"/>
    <p:sldId id="522" r:id="rId68"/>
    <p:sldId id="523" r:id="rId69"/>
    <p:sldId id="524" r:id="rId70"/>
    <p:sldId id="525" r:id="rId71"/>
    <p:sldId id="526" r:id="rId72"/>
    <p:sldId id="528" r:id="rId73"/>
    <p:sldId id="529" r:id="rId74"/>
    <p:sldId id="533" r:id="rId75"/>
    <p:sldId id="531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FC2F98-A6B4-40DA-954F-88B2EEDB9609}" v="7" dt="2026-09-28T14:44:26.1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3" autoAdjust="0"/>
    <p:restoredTop sz="93721" autoAdjust="0"/>
  </p:normalViewPr>
  <p:slideViewPr>
    <p:cSldViewPr snapToGrid="0">
      <p:cViewPr varScale="1">
        <p:scale>
          <a:sx n="96" d="100"/>
          <a:sy n="96" d="100"/>
        </p:scale>
        <p:origin x="66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undo custSel addSld delSld modSld">
      <pc:chgData name="Aleksey Zimin" userId="7f2637d0bc515791" providerId="LiveId" clId="{5F359FD6-B8E9-41DA-90EC-0BA4FD0F3073}" dt="2026-09-28T14:44:26.096" v="95"/>
      <pc:docMkLst>
        <pc:docMk/>
      </pc:docMkLst>
      <pc:sldChg chg="add">
        <pc:chgData name="Aleksey Zimin" userId="7f2637d0bc515791" providerId="LiveId" clId="{5F359FD6-B8E9-41DA-90EC-0BA4FD0F3073}" dt="2026-09-28T14:44:26.096" v="95"/>
        <pc:sldMkLst>
          <pc:docMk/>
          <pc:sldMk cId="592540094" sldId="406"/>
        </pc:sldMkLst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4233309679" sldId="409"/>
        </pc:sldMkLst>
      </pc:sldChg>
      <pc:sldChg chg="modSp mod">
        <pc:chgData name="Aleksey Zimin" userId="7f2637d0bc515791" providerId="LiveId" clId="{5F359FD6-B8E9-41DA-90EC-0BA4FD0F3073}" dt="2026-09-28T14:42:13.350" v="94" actId="20577"/>
        <pc:sldMkLst>
          <pc:docMk/>
          <pc:sldMk cId="3009805394" sldId="410"/>
        </pc:sldMkLst>
        <pc:spChg chg="mod">
          <ac:chgData name="Aleksey Zimin" userId="7f2637d0bc515791" providerId="LiveId" clId="{5F359FD6-B8E9-41DA-90EC-0BA4FD0F3073}" dt="2026-09-28T14:42:13.350" v="94" actId="20577"/>
          <ac:spMkLst>
            <pc:docMk/>
            <pc:sldMk cId="3009805394" sldId="410"/>
            <ac:spMk id="3" creationId="{F5524EB8-D864-A4F1-14CF-2B13AFC2C8F0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730381858" sldId="449"/>
        </pc:sldMkLst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963822541" sldId="450"/>
        </pc:sldMkLst>
      </pc:sldChg>
      <pc:sldChg chg="del">
        <pc:chgData name="Aleksey Zimin" userId="7f2637d0bc515791" providerId="LiveId" clId="{5F359FD6-B8E9-41DA-90EC-0BA4FD0F3073}" dt="2026-09-28T14:37:52.209" v="27" actId="47"/>
        <pc:sldMkLst>
          <pc:docMk/>
          <pc:sldMk cId="1412217603" sldId="474"/>
        </pc:sldMkLst>
      </pc:sldChg>
      <pc:sldChg chg="del">
        <pc:chgData name="Aleksey Zimin" userId="7f2637d0bc515791" providerId="LiveId" clId="{5F359FD6-B8E9-41DA-90EC-0BA4FD0F3073}" dt="2026-09-28T14:37:53.910" v="28" actId="47"/>
        <pc:sldMkLst>
          <pc:docMk/>
          <pc:sldMk cId="2687775889" sldId="475"/>
        </pc:sldMkLst>
      </pc:sldChg>
      <pc:sldChg chg="del">
        <pc:chgData name="Aleksey Zimin" userId="7f2637d0bc515791" providerId="LiveId" clId="{5F359FD6-B8E9-41DA-90EC-0BA4FD0F3073}" dt="2026-09-28T14:37:55.031" v="29" actId="47"/>
        <pc:sldMkLst>
          <pc:docMk/>
          <pc:sldMk cId="2154467816" sldId="476"/>
        </pc:sldMkLst>
      </pc:sldChg>
      <pc:sldChg chg="delSp modSp mod">
        <pc:chgData name="Aleksey Zimin" userId="7f2637d0bc515791" providerId="LiveId" clId="{5F359FD6-B8E9-41DA-90EC-0BA4FD0F3073}" dt="2026-09-28T14:38:12.877" v="35" actId="478"/>
        <pc:sldMkLst>
          <pc:docMk/>
          <pc:sldMk cId="1808475080" sldId="477"/>
        </pc:sldMkLst>
        <pc:inkChg chg="mod">
          <ac:chgData name="Aleksey Zimin" userId="7f2637d0bc515791" providerId="LiveId" clId="{5F359FD6-B8E9-41DA-90EC-0BA4FD0F3073}" dt="2026-09-28T14:37:26.831" v="26" actId="208"/>
          <ac:inkMkLst>
            <pc:docMk/>
            <pc:sldMk cId="1808475080" sldId="477"/>
            <ac:inkMk id="10" creationId="{DE1D30BF-4B21-9320-62B0-5C6CCE3369C1}"/>
          </ac:inkMkLst>
        </pc:inkChg>
        <pc:inkChg chg="del mod">
          <ac:chgData name="Aleksey Zimin" userId="7f2637d0bc515791" providerId="LiveId" clId="{5F359FD6-B8E9-41DA-90EC-0BA4FD0F3073}" dt="2026-09-28T14:38:11.743" v="34" actId="478"/>
          <ac:inkMkLst>
            <pc:docMk/>
            <pc:sldMk cId="1808475080" sldId="477"/>
            <ac:inkMk id="13" creationId="{C0692D19-3D4E-D8DE-5BCB-EA113468D83F}"/>
          </ac:inkMkLst>
        </pc:inkChg>
        <pc:inkChg chg="del mod">
          <ac:chgData name="Aleksey Zimin" userId="7f2637d0bc515791" providerId="LiveId" clId="{5F359FD6-B8E9-41DA-90EC-0BA4FD0F3073}" dt="2026-09-28T14:38:10.574" v="33" actId="478"/>
          <ac:inkMkLst>
            <pc:docMk/>
            <pc:sldMk cId="1808475080" sldId="477"/>
            <ac:inkMk id="21" creationId="{6D5B8817-5DBD-1E6D-3712-7B28C4EC64EC}"/>
          </ac:inkMkLst>
        </pc:inkChg>
        <pc:inkChg chg="del mod">
          <ac:chgData name="Aleksey Zimin" userId="7f2637d0bc515791" providerId="LiveId" clId="{5F359FD6-B8E9-41DA-90EC-0BA4FD0F3073}" dt="2026-09-28T14:38:12.877" v="35" actId="478"/>
          <ac:inkMkLst>
            <pc:docMk/>
            <pc:sldMk cId="1808475080" sldId="477"/>
            <ac:inkMk id="22" creationId="{5529F9E2-FA10-48FA-E0FC-55ADA748C948}"/>
          </ac:inkMkLst>
        </pc:inkChg>
      </pc:sldChg>
      <pc:sldChg chg="del">
        <pc:chgData name="Aleksey Zimin" userId="7f2637d0bc515791" providerId="LiveId" clId="{5F359FD6-B8E9-41DA-90EC-0BA4FD0F3073}" dt="2026-09-28T14:38:57.997" v="42" actId="2696"/>
        <pc:sldMkLst>
          <pc:docMk/>
          <pc:sldMk cId="4266177015" sldId="478"/>
        </pc:sldMkLst>
      </pc:sldChg>
      <pc:sldChg chg="modSp mod">
        <pc:chgData name="Aleksey Zimin" userId="7f2637d0bc515791" providerId="LiveId" clId="{5F359FD6-B8E9-41DA-90EC-0BA4FD0F3073}" dt="2026-09-28T14:29:28.479" v="2" actId="947"/>
        <pc:sldMkLst>
          <pc:docMk/>
          <pc:sldMk cId="3062880992" sldId="509"/>
        </pc:sldMkLst>
        <pc:spChg chg="mod">
          <ac:chgData name="Aleksey Zimin" userId="7f2637d0bc515791" providerId="LiveId" clId="{5F359FD6-B8E9-41DA-90EC-0BA4FD0F3073}" dt="2026-09-28T14:29:28.479" v="2" actId="947"/>
          <ac:spMkLst>
            <pc:docMk/>
            <pc:sldMk cId="3062880992" sldId="509"/>
            <ac:spMk id="3" creationId="{0E8ED21E-2A64-ED4D-4B59-028B7B535245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571147949" sldId="510"/>
        </pc:sldMkLst>
      </pc:sldChg>
      <pc:sldChg chg="modSp mod">
        <pc:chgData name="Aleksey Zimin" userId="7f2637d0bc515791" providerId="LiveId" clId="{5F359FD6-B8E9-41DA-90EC-0BA4FD0F3073}" dt="2026-09-28T14:30:25.791" v="11" actId="20577"/>
        <pc:sldMkLst>
          <pc:docMk/>
          <pc:sldMk cId="3703700114" sldId="512"/>
        </pc:sldMkLst>
        <pc:spChg chg="mod">
          <ac:chgData name="Aleksey Zimin" userId="7f2637d0bc515791" providerId="LiveId" clId="{5F359FD6-B8E9-41DA-90EC-0BA4FD0F3073}" dt="2026-09-28T14:30:25.791" v="11" actId="20577"/>
          <ac:spMkLst>
            <pc:docMk/>
            <pc:sldMk cId="3703700114" sldId="512"/>
            <ac:spMk id="3" creationId="{78770EC9-785B-AC9D-4E98-71BDFD958572}"/>
          </ac:spMkLst>
        </pc:spChg>
      </pc:sldChg>
      <pc:sldChg chg="delSp add mod">
        <pc:chgData name="Aleksey Zimin" userId="7f2637d0bc515791" providerId="LiveId" clId="{5F359FD6-B8E9-41DA-90EC-0BA4FD0F3073}" dt="2026-09-28T14:38:19.857" v="37" actId="478"/>
        <pc:sldMkLst>
          <pc:docMk/>
          <pc:sldMk cId="2122544176" sldId="551"/>
        </pc:sldMkLst>
        <pc:inkChg chg="del">
          <ac:chgData name="Aleksey Zimin" userId="7f2637d0bc515791" providerId="LiveId" clId="{5F359FD6-B8E9-41DA-90EC-0BA4FD0F3073}" dt="2026-09-28T14:38:19.857" v="37" actId="478"/>
          <ac:inkMkLst>
            <pc:docMk/>
            <pc:sldMk cId="2122544176" sldId="551"/>
            <ac:inkMk id="21" creationId="{497C95BF-5A26-B14C-190D-B8ACF10A0868}"/>
          </ac:inkMkLst>
        </pc:inkChg>
        <pc:inkChg chg="del">
          <ac:chgData name="Aleksey Zimin" userId="7f2637d0bc515791" providerId="LiveId" clId="{5F359FD6-B8E9-41DA-90EC-0BA4FD0F3073}" dt="2026-09-28T14:38:18.432" v="36" actId="478"/>
          <ac:inkMkLst>
            <pc:docMk/>
            <pc:sldMk cId="2122544176" sldId="551"/>
            <ac:inkMk id="22" creationId="{5C040C7C-6891-68E6-51B4-780FC5AECC23}"/>
          </ac:inkMkLst>
        </pc:inkChg>
      </pc:sldChg>
      <pc:sldChg chg="delSp add mod">
        <pc:chgData name="Aleksey Zimin" userId="7f2637d0bc515791" providerId="LiveId" clId="{5F359FD6-B8E9-41DA-90EC-0BA4FD0F3073}" dt="2026-09-28T14:38:24.366" v="38" actId="478"/>
        <pc:sldMkLst>
          <pc:docMk/>
          <pc:sldMk cId="4038724973" sldId="552"/>
        </pc:sldMkLst>
        <pc:inkChg chg="del">
          <ac:chgData name="Aleksey Zimin" userId="7f2637d0bc515791" providerId="LiveId" clId="{5F359FD6-B8E9-41DA-90EC-0BA4FD0F3073}" dt="2026-09-28T14:38:24.366" v="38" actId="478"/>
          <ac:inkMkLst>
            <pc:docMk/>
            <pc:sldMk cId="4038724973" sldId="552"/>
            <ac:inkMk id="21" creationId="{0FDD4D2F-489A-B930-67A7-1DC1B4A53F61}"/>
          </ac:inkMkLst>
        </pc:inkChg>
      </pc:sldChg>
      <pc:sldChg chg="add">
        <pc:chgData name="Aleksey Zimin" userId="7f2637d0bc515791" providerId="LiveId" clId="{5F359FD6-B8E9-41DA-90EC-0BA4FD0F3073}" dt="2026-09-28T14:38:06.510" v="32" actId="2890"/>
        <pc:sldMkLst>
          <pc:docMk/>
          <pc:sldMk cId="920013687" sldId="553"/>
        </pc:sldMkLst>
      </pc:sldChg>
      <pc:sldChg chg="addSp modSp add mod">
        <pc:chgData name="Aleksey Zimin" userId="7f2637d0bc515791" providerId="LiveId" clId="{5F359FD6-B8E9-41DA-90EC-0BA4FD0F3073}" dt="2026-09-28T14:40:10.944" v="47" actId="207"/>
        <pc:sldMkLst>
          <pc:docMk/>
          <pc:sldMk cId="1346485017" sldId="554"/>
        </pc:sldMkLst>
        <pc:spChg chg="add mod">
          <ac:chgData name="Aleksey Zimin" userId="7f2637d0bc515791" providerId="LiveId" clId="{5F359FD6-B8E9-41DA-90EC-0BA4FD0F3073}" dt="2026-09-28T14:39:44.232" v="44" actId="207"/>
          <ac:spMkLst>
            <pc:docMk/>
            <pc:sldMk cId="1346485017" sldId="554"/>
            <ac:spMk id="6" creationId="{85C67E93-77EA-CA15-E7DD-70401CC6F3A7}"/>
          </ac:spMkLst>
        </pc:spChg>
        <pc:spChg chg="mod">
          <ac:chgData name="Aleksey Zimin" userId="7f2637d0bc515791" providerId="LiveId" clId="{5F359FD6-B8E9-41DA-90EC-0BA4FD0F3073}" dt="2026-09-28T14:40:10.944" v="47" actId="207"/>
          <ac:spMkLst>
            <pc:docMk/>
            <pc:sldMk cId="1346485017" sldId="554"/>
            <ac:spMk id="7" creationId="{79E23E8D-894A-7692-6801-DDE38056902F}"/>
          </ac:spMkLst>
        </pc:spChg>
        <pc:spChg chg="add mod">
          <ac:chgData name="Aleksey Zimin" userId="7f2637d0bc515791" providerId="LiveId" clId="{5F359FD6-B8E9-41DA-90EC-0BA4FD0F3073}" dt="2026-09-28T14:39:50.890" v="46" actId="571"/>
          <ac:spMkLst>
            <pc:docMk/>
            <pc:sldMk cId="1346485017" sldId="554"/>
            <ac:spMk id="9" creationId="{A70BE4F4-B866-881E-3A9A-31CF910125FF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591985588" sldId="55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7:36.79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70 24575,'400'-34'0,"-273"18"0,116-1 0,261 15 0,-227 5 0,318-3 0,-567 3 0,0 1 0,0 1 0,0 2 0,0 1 0,-1 1 0,44 21 0,6 0 0,185 63 0,-205-69 0,54 32 0,-30-14 0,-66-34 0,-1 2 0,1 0 0,-1 1 0,-1 0 0,16 18 0,34 27 0,-20-28 0,69 35 0,-5-4 0,-64-32 0,-14-7 0,1-3 0,35 17 0,-59-32 0,19 10 0,1-1 0,0-2 0,1 0 0,0-2 0,0-1 0,40 4 0,-34-7 0,44 10 0,-46-6 0,58 3 0,-71-10 0,22 1 0,-1 1 0,75 14 0,104 18 0,-119-23 0,-68-9 0,59 11 0,286 66 0,-288-71 0,22 4 0,-12 0 0,1-3 0,179-9 0,-115-3 0,-123 2 0,0 2 0,0 2 0,72 14 0,-74-9 0,0-3 0,43 2 0,50 7 0,-77-7 0,0-2 0,93-4 0,-92-3 0,0 3 0,85 12 0,36 5 0,-102-13 0,-40 0 0,0 1 0,-1 1 0,0 3 0,0 0 0,-1 2 0,0 1 0,56 33 0,-64-29 0,-1 0 0,-1 2 0,-1 0 0,0 2 0,-1 0 0,30 44 0,-42-53 0,-1 1 0,0 0 0,-1 0 0,-1 1 0,0 0 0,-1 0 0,3 18 0,7 104 0,-5-38 0,31 148 0,-32-185 0,-2-1 0,-3 1 0,-6 72 0,1-22 0,0-87 0,0 1 0,-12 44 0,9-43 0,0 0 0,-2 34 0,6-22 0,-1 1 0,-14 63 0,8-52 0,7-39 0,-1 0 0,0 0 0,0-1 0,-1 1 0,0 0 0,-1-1 0,0 0 0,-7 12 0,-34 66 0,39-73 0,-1 0 0,0-1 0,-1 0 0,0 0 0,-1-1 0,0 0 0,-1-1 0,-22 21 0,-13 8 0,-67 79 0,32-31 0,61-72 0,-2 0 0,0-2 0,-1 0 0,0-1 0,-34 15 0,-6 4 0,43-25 0,0 0 0,0-1 0,-1-1 0,0-1 0,-1-1 0,-32 3 0,-5 2 0,-22 0 0,-1-3 0,-141-7 0,75-2 0,-1405 3 0,1527-2 0,-1-1 0,0-1 0,1-1 0,-45-16 0,-40-9 0,12 11 0,-117-41 0,145 40 0,51 15 0,-1 0 0,0-1 0,1-1 0,0-1 0,1-1 0,0 0 0,0-2 0,-23-17 0,-22-19 0,-13-11 0,71 54 0,-25-24 0,0-1 0,-34-47 0,56 65 0,1 0 0,0 0 0,0-1 0,2 1 0,-1-2 0,2 1 0,-1 0 0,2-1 0,0 0 0,0 0 0,-1-23 0,9-261 0,-3 278 0,2 0 0,0 0 0,1 0 0,1 1 0,0 0 0,2 0 0,0 1 0,20-31 0,-8 17 0,2 1 0,2 2 0,44-44 0,-30 42 0,-29 24 0,0-1 0,0 0 0,15-17 0,47-49 0,4-4 0,-53 52 0,1 1 0,2 2 0,0 0 0,53-34 0,-61 46 0,0 1 0,0 1 0,1 1 0,0 1 0,0 0 0,1 1 0,-1 1 0,37-3 0,13 3 0,79 6 0,-50 1 0,2588-3 0,-2660 1 0,0 2 0,44 10 0,31 3 0,-84-14 0,-2 0 0,1 1 0,0 1 0,-1 1 0,1 0 0,-1 0 0,0 2 0,-1 0 0,0 0 0,0 1 0,17 14 0,14 15 0,67 73 0,-45-43 0,-53-53 0,0 0 0,-1 1 0,0 0 0,-1 0 0,-1 1 0,-1 1 0,0 0 0,11 30 0,-8-6 0,-1-1 0,9 77 0,-6-38 0,-7-52 0,-3 0 0,4 40 0,-8-36 0,-1 125 0,0-134 0,-2-1 0,-1 0 0,0 1 0,-2-1 0,-9 23 0,7-23 0,-1 3 0,-1 1 0,-1-1 0,-1-1 0,-1 0 0,-31 41 0,23-38 0,-31 51 0,34-48 0,-36 46 0,40-61 0,-1-1 0,0-1 0,-1 0 0,-20 12 0,-24 18 0,28-20 0,-1-1 0,0-2 0,-2-2 0,-61 23 0,75-31 0,-50 22 0,50-20 0,-1-1 0,0-1 0,0-1 0,-1-1 0,0-1 0,0-1 0,-1-1 0,-25 1 0,-8-4 0,0 1 0,-61 12 0,38-4 0,1-3 0,-147-8 0,83-2 0,100 4 0,1 2 0,-71 14 0,74-12 0,-1-1 0,-61-2 0,-15 1 0,26 13 0,65-11 0,-1 0 0,-31 1 0,-274-5 0,153-3 0,148 1 0,0-2 0,-38-9 0,33 6 0,-43-4 0,-88 11 0,-42-3 0,96-14 0,68 8 0,-59-2 0,88 10 0,-38-1 0,-57-9 0,90 6 0,1 0 0,0-1 0,0-1 0,0-1 0,1 0 0,-23-14 0,-202-133 0,178 116 0,47 28 0,0 0 0,1-1 0,-27-22 0,28 19 0,-1 1 0,-32-18 0,35 23 0,0 0 0,1-1 0,0-1 0,1 0 0,-1-1 0,-11-14 0,8 3 0,1 0 0,-18-38 0,20 36 0,0 1 0,-24-31 0,18 29 0,1-1 0,2-1 0,0 0 0,2-1 0,0-1 0,3 0 0,0 0 0,-9-44 0,10 28 0,2 15 0,2 1 0,2-2 0,-2-30 0,5 24 0,0 1 0,1 1 0,1-1 0,9-51 0,-8 77 0,1 1 0,-1-1 0,1 1 0,1 0 0,0 0 0,0 0 0,1 0 0,0 1 0,0 0 0,1 0 0,0 0 0,0 1 0,1 0 0,0 0 0,1 0 0,-1 1 0,12-7 0,25-13 0,1 2 0,1 2 0,1 1 0,69-18 0,-74 32 0,0 1 0,0 3 0,0 1 0,70 6 0,-7-1 0,490-3 0,-562 2 0,0 1 0,37 9 0,-34-5 0,54 2 0,-54-8 0,0 2 0,-1 1 0,36 8 0,-21-3 0,1-4 0,-1-1 0,1-2 0,54-6 0,4 1 0,491 3 0,-571 2 0,0 1 0,-1 2 0,0 0 0,41 14 0,-40-10 0,0-1 0,1-1 0,57 4 0,242-12 0,-131-1 0,-174 0 0,1-2 0,-1 0 0,0-2 0,0 0 0,-1-2 0,0-1 0,33-17 0,-4 3 0,-16 6 0,-1-1 0,-1-2 0,48-36 0,-12-8 0,-52 46 0,0 1 0,1 1 0,24-16 0,74-51 0,-52 36 0,-33 21 0,-1 0 0,37-42 0,-37 35 0,56-45 0,-45 41 0,-1-1 0,56-68 0,-11 11 0,-66 77 0,37-27 0,-6 5 0,26-18 0,-48 39 0,34-32 0,9-3 0,-51 39 0,35-30 0,-31 22 0,2 1 0,1 1 0,47-27 0,98-40 0,-161 83 0,1 0 0,-1 1 0,1 1 0,0 0 0,0 0 0,25 0 0,85 5 0,-54 1 0,-27-4 0,0-1 0,73-14 0,-38 6 0,0 4 0,153 6 0,-87 3 0,648-3-1365,-762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customXml" Target="../ink/ink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5" Type="http://schemas.openxmlformats.org/officeDocument/2006/relationships/image" Target="../media/image7.png"/><Relationship Id="rId4" Type="http://schemas.openxmlformats.org/officeDocument/2006/relationships/customXml" Target="../ink/ink8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3.xml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.xml"/><Relationship Id="rId5" Type="http://schemas.openxmlformats.org/officeDocument/2006/relationships/image" Target="../media/image7.png"/><Relationship Id="rId4" Type="http://schemas.openxmlformats.org/officeDocument/2006/relationships/customXml" Target="../ink/ink11.xml"/><Relationship Id="rId9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.xml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5" Type="http://schemas.openxmlformats.org/officeDocument/2006/relationships/image" Target="../media/image7.png"/><Relationship Id="rId4" Type="http://schemas.openxmlformats.org/officeDocument/2006/relationships/customXml" Target="../ink/ink15.xml"/><Relationship Id="rId9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5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AE3B-E844-6849-EE23-D5CE0934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ED21E-2A64-ED4D-4B59-028B7B535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October 9</a:t>
            </a:r>
            <a:r>
              <a:rPr lang="en-US" baseline="30000" dirty="0">
                <a:solidFill>
                  <a:srgbClr val="FF0000"/>
                </a:solidFill>
              </a:rPr>
              <a:t>th</a:t>
            </a:r>
            <a:r>
              <a:rPr lang="en-US" dirty="0">
                <a:solidFill>
                  <a:srgbClr val="FF0000"/>
                </a:solidFill>
              </a:rPr>
              <a:t> 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EC4-8838-1461-ED2F-9605580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6A5647-A493-48C5-C265-D399D0365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841AEE-2A63-933F-291A-FA6B0E75BF5F}"/>
              </a:ext>
            </a:extLst>
          </p:cNvPr>
          <p:cNvSpPr/>
          <p:nvPr/>
        </p:nvSpPr>
        <p:spPr>
          <a:xfrm>
            <a:off x="9940158" y="1899338"/>
            <a:ext cx="141889" cy="33032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5E5963-1C57-E59F-4568-C64099816FD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F1F7C6-B7C9-0B60-6F98-6C2BB6D7218E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A06637-167A-1514-774A-B885449A954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0A3A0F-EDDA-20DA-6BB2-43DB0B9AE505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C027D7-A2FE-6D05-DBCA-294897A447A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9CEE4D-4018-E34C-E571-1E49BBC3C709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BC64EA-F660-590B-6297-7AC537DBCF05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880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CD40-FF5E-55E1-A042-05E7BD7C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9D763-3BFE-13BB-1836-D48DA8AE3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70EC9-785B-AC9D-4E98-71BDFD958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</a:t>
            </a:r>
            <a:r>
              <a:rPr lang="en-US">
                <a:solidFill>
                  <a:srgbClr val="FF0000"/>
                </a:solidFill>
              </a:rPr>
              <a:t>October 9</a:t>
            </a:r>
            <a:r>
              <a:rPr lang="en-US" baseline="30000">
                <a:solidFill>
                  <a:srgbClr val="FF0000"/>
                </a:solidFill>
              </a:rPr>
              <a:t>th</a:t>
            </a:r>
            <a:r>
              <a:rPr lang="en-US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F743D-60A9-18B2-5AD8-7B17DB0C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9CC58-5BBD-2489-A074-6A4B1C8EC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85C6A-9655-0C1F-B08A-0D6D9F0F1D1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6D1E701-ADF0-9C8E-4BCA-B15343892461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D73E2-7136-A83C-FD9A-1303A47D52DE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BF93C9-FF89-6F8B-A1C6-17E6BF84FF01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C482F83-C83D-BB1E-64C0-4F83BB8CED58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FD0A88-004D-1836-0FE4-4288EBCAD1BE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C07FFC-EB65-2035-CA95-5D868ABC89C8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CB4CA-0C91-6CF3-EDE3-4685CA2C9A74}"/>
              </a:ext>
            </a:extLst>
          </p:cNvPr>
          <p:cNvSpPr/>
          <p:nvPr/>
        </p:nvSpPr>
        <p:spPr>
          <a:xfrm>
            <a:off x="10249556" y="1434531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30523D-470D-8393-34A3-EBD7E0C987B1}"/>
              </a:ext>
            </a:extLst>
          </p:cNvPr>
          <p:cNvSpPr/>
          <p:nvPr/>
        </p:nvSpPr>
        <p:spPr>
          <a:xfrm>
            <a:off x="9427780" y="3186240"/>
            <a:ext cx="821776" cy="46347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AF287A-B5EC-4A5E-93B6-966FC0A1C9C0}"/>
              </a:ext>
            </a:extLst>
          </p:cNvPr>
          <p:cNvSpPr/>
          <p:nvPr/>
        </p:nvSpPr>
        <p:spPr>
          <a:xfrm>
            <a:off x="11234902" y="1438062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700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4034-77D8-022E-B2A3-D14410BC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the right sequencing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50D82-A995-BF41-1C15-0A803F5DE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 dirty="0"/>
              <a:t>The right sequencing strategy depends on your budget and availability of sequencing services</a:t>
            </a:r>
          </a:p>
          <a:p>
            <a:r>
              <a:rPr lang="en-US" dirty="0"/>
              <a:t>The simplest strategy: get 30-40x genome coverage with PacBio HiFi reads</a:t>
            </a:r>
          </a:p>
          <a:p>
            <a:r>
              <a:rPr lang="en-US" dirty="0"/>
              <a:t>Alternative strategy: get 30-40x genome coverage with Oxford Nanopore reads + 30-50x coverage with Illumina reads</a:t>
            </a:r>
          </a:p>
          <a:p>
            <a:pPr lvl="1"/>
            <a:r>
              <a:rPr lang="en-US" dirty="0"/>
              <a:t>Perform hybrid assembly (correct ONT with Illumina first)</a:t>
            </a:r>
          </a:p>
          <a:p>
            <a:pPr lvl="1"/>
            <a:r>
              <a:rPr lang="en-US" dirty="0"/>
              <a:t>Assemble ONT reads and then correct assembly with Illumina</a:t>
            </a:r>
          </a:p>
          <a:p>
            <a:r>
              <a:rPr lang="en-US" dirty="0"/>
              <a:t>For chromosome-sized scaffolds you may need ONT </a:t>
            </a:r>
            <a:r>
              <a:rPr lang="en-US" dirty="0" err="1"/>
              <a:t>Ultralongs</a:t>
            </a:r>
            <a:r>
              <a:rPr lang="en-US" dirty="0"/>
              <a:t> or Hi-C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2988-3176-633E-3FFF-D38CBE6F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4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0DFB-D256-E157-4073-248A5BE2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1EAC-C3B9-51FD-3047-F3648FE70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Contigs </a:t>
            </a:r>
            <a:r>
              <a:rPr lang="en-US" dirty="0"/>
              <a:t>are contiguous genome sequences where all letters are known</a:t>
            </a:r>
          </a:p>
          <a:p>
            <a:endParaRPr lang="en-US" dirty="0"/>
          </a:p>
          <a:p>
            <a:r>
              <a:rPr lang="en-US" i="1" dirty="0"/>
              <a:t>Scaffolds </a:t>
            </a:r>
            <a:r>
              <a:rPr lang="en-US" dirty="0"/>
              <a:t>are ordered and oriented sets of contigs, gaps between contigs are of estimated size or set to a default value</a:t>
            </a:r>
          </a:p>
          <a:p>
            <a:endParaRPr lang="en-US" dirty="0"/>
          </a:p>
          <a:p>
            <a:r>
              <a:rPr lang="en-US" i="1" dirty="0"/>
              <a:t>Super-scaffolds </a:t>
            </a:r>
            <a:r>
              <a:rPr lang="en-US" dirty="0"/>
              <a:t>or </a:t>
            </a:r>
            <a:r>
              <a:rPr lang="en-US" i="1" dirty="0"/>
              <a:t>pseudo-chromosomes</a:t>
            </a:r>
            <a:r>
              <a:rPr lang="en-US" dirty="0"/>
              <a:t> are ordered and mostly oriented sets of scaffolds, gaps between scaffolds are typically not estimated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3FD4D-A828-0054-F7AB-9728B63F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822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74C5-4740-5855-AFB7-26CACFB9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Genome assembly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ECEFF-3BE4-B738-C1C4-E54F4109A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Contig assembly uses reads:</a:t>
            </a:r>
          </a:p>
          <a:p>
            <a:pPr lvl="1"/>
            <a:r>
              <a:rPr lang="en-US" dirty="0"/>
              <a:t>Overlap Graph</a:t>
            </a:r>
          </a:p>
          <a:p>
            <a:pPr lvl="2"/>
            <a:r>
              <a:rPr lang="en-US" dirty="0"/>
              <a:t>String graph</a:t>
            </a:r>
          </a:p>
          <a:p>
            <a:pPr lvl="1"/>
            <a:r>
              <a:rPr lang="en-US" dirty="0"/>
              <a:t>K-mer (or DeBruijn) graph</a:t>
            </a:r>
          </a:p>
          <a:p>
            <a:endParaRPr lang="en-US" dirty="0"/>
          </a:p>
          <a:p>
            <a:r>
              <a:rPr lang="en-US" dirty="0"/>
              <a:t>Scaffolding/super-scaffolding uses </a:t>
            </a:r>
          </a:p>
          <a:p>
            <a:pPr lvl="1"/>
            <a:r>
              <a:rPr lang="en-US" dirty="0"/>
              <a:t>Long reads or</a:t>
            </a:r>
          </a:p>
          <a:p>
            <a:pPr lvl="1"/>
            <a:r>
              <a:rPr lang="en-US" dirty="0"/>
              <a:t>Oriented or unoriented pairs of reads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D3369-4AB9-A4C6-6FB0-86C08D5F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381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D977-6EE8-9D89-B3CF-756386D5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Overlap-Layout-Consensus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5A9EB-82AE-BB09-E9ED-90F86F12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75535"/>
            <a:ext cx="10972800" cy="1641014"/>
          </a:xfrm>
        </p:spPr>
        <p:txBody>
          <a:bodyPr>
            <a:normAutofit fontScale="92500"/>
          </a:bodyPr>
          <a:lstStyle/>
          <a:p>
            <a:r>
              <a:rPr lang="en-US" dirty="0"/>
              <a:t>Overlap – compute overlaps between reads based on sequence alignments</a:t>
            </a:r>
          </a:p>
          <a:p>
            <a:r>
              <a:rPr lang="en-US" dirty="0"/>
              <a:t>Layout – assemble overlapping reads (greedy or string graph)</a:t>
            </a:r>
          </a:p>
          <a:p>
            <a:r>
              <a:rPr lang="en-US" dirty="0"/>
              <a:t>Consensus – generate contig sequences, by majority vote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8F64-ED1E-2680-64C7-C2BBA56F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35770-7805-C415-05BF-3CEB5066A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30" y="3230597"/>
            <a:ext cx="9469171" cy="36771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F4ED00-9BC0-3ACF-C7D1-E05150A5391D}"/>
              </a:ext>
            </a:extLst>
          </p:cNvPr>
          <p:cNvSpPr/>
          <p:nvPr/>
        </p:nvSpPr>
        <p:spPr>
          <a:xfrm>
            <a:off x="904030" y="3581705"/>
            <a:ext cx="763525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21602-2F0D-7CC9-7E91-0D74D52C85B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C91C7-C900-0B04-5E1F-796CAE63A6CB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</p:spTree>
    <p:extLst>
      <p:ext uri="{BB962C8B-B14F-4D97-AF65-F5344CB8AC3E}">
        <p14:creationId xmlns:p14="http://schemas.microsoft.com/office/powerpoint/2010/main" val="423330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3191-A07C-EC5B-F575-CC060CA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CD492-2FE1-A6AC-961C-BCBC6460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overlap is an pseudo-alignment between a pair of reads</a:t>
            </a:r>
          </a:p>
          <a:p>
            <a:r>
              <a:rPr lang="en-US" dirty="0"/>
              <a:t>Can be Inverse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59195-EE07-4E46-90B8-9D8E5D7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7017AB-5EC6-1E4F-1A8D-9C2FA57012F4}"/>
              </a:ext>
            </a:extLst>
          </p:cNvPr>
          <p:cNvCxnSpPr/>
          <p:nvPr/>
        </p:nvCxnSpPr>
        <p:spPr>
          <a:xfrm>
            <a:off x="378373" y="2908738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BD1851-8193-CECF-02AA-EDAB445A061F}"/>
              </a:ext>
            </a:extLst>
          </p:cNvPr>
          <p:cNvCxnSpPr>
            <a:cxnSpLocks/>
          </p:cNvCxnSpPr>
          <p:nvPr/>
        </p:nvCxnSpPr>
        <p:spPr>
          <a:xfrm flipH="1">
            <a:off x="1807780" y="3171497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B20BA8-89DC-2FA9-DD96-73C94D3E7111}"/>
              </a:ext>
            </a:extLst>
          </p:cNvPr>
          <p:cNvCxnSpPr>
            <a:cxnSpLocks/>
          </p:cNvCxnSpPr>
          <p:nvPr/>
        </p:nvCxnSpPr>
        <p:spPr>
          <a:xfrm>
            <a:off x="2099441" y="4866289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2EC32D-4522-04C2-C308-586B517FF026}"/>
              </a:ext>
            </a:extLst>
          </p:cNvPr>
          <p:cNvCxnSpPr>
            <a:cxnSpLocks/>
          </p:cNvCxnSpPr>
          <p:nvPr/>
        </p:nvCxnSpPr>
        <p:spPr>
          <a:xfrm>
            <a:off x="329762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6031B4-C203-FA5B-66A8-22F123A6F5CD}"/>
              </a:ext>
            </a:extLst>
          </p:cNvPr>
          <p:cNvCxnSpPr/>
          <p:nvPr/>
        </p:nvCxnSpPr>
        <p:spPr>
          <a:xfrm>
            <a:off x="5985640" y="2956035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5E5FC3-CE84-E716-9309-86B9F0CF7B93}"/>
              </a:ext>
            </a:extLst>
          </p:cNvPr>
          <p:cNvCxnSpPr>
            <a:cxnSpLocks/>
          </p:cNvCxnSpPr>
          <p:nvPr/>
        </p:nvCxnSpPr>
        <p:spPr>
          <a:xfrm flipH="1">
            <a:off x="4876799" y="3234559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4314DC-4970-22B2-A093-84B6AC5E0EC7}"/>
              </a:ext>
            </a:extLst>
          </p:cNvPr>
          <p:cNvCxnSpPr>
            <a:cxnSpLocks/>
          </p:cNvCxnSpPr>
          <p:nvPr/>
        </p:nvCxnSpPr>
        <p:spPr>
          <a:xfrm>
            <a:off x="9637985" y="30296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3E55E4-5C78-5204-9D40-3C621F55581D}"/>
              </a:ext>
            </a:extLst>
          </p:cNvPr>
          <p:cNvCxnSpPr>
            <a:cxnSpLocks/>
          </p:cNvCxnSpPr>
          <p:nvPr/>
        </p:nvCxnSpPr>
        <p:spPr>
          <a:xfrm flipH="1">
            <a:off x="10050517" y="3308131"/>
            <a:ext cx="10457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6468BC-ECFC-E53C-59CF-1F58AF9A525B}"/>
              </a:ext>
            </a:extLst>
          </p:cNvPr>
          <p:cNvCxnSpPr>
            <a:cxnSpLocks/>
          </p:cNvCxnSpPr>
          <p:nvPr/>
        </p:nvCxnSpPr>
        <p:spPr>
          <a:xfrm>
            <a:off x="7039303" y="4866289"/>
            <a:ext cx="903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93E0C2-E495-D153-9E95-8139BAF3072A}"/>
              </a:ext>
            </a:extLst>
          </p:cNvPr>
          <p:cNvCxnSpPr>
            <a:cxnSpLocks/>
          </p:cNvCxnSpPr>
          <p:nvPr/>
        </p:nvCxnSpPr>
        <p:spPr>
          <a:xfrm>
            <a:off x="6674069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22675B-1F0B-B331-7B00-D8610ED78BA7}"/>
              </a:ext>
            </a:extLst>
          </p:cNvPr>
          <p:cNvCxnSpPr>
            <a:cxnSpLocks/>
          </p:cNvCxnSpPr>
          <p:nvPr/>
        </p:nvCxnSpPr>
        <p:spPr>
          <a:xfrm>
            <a:off x="9595944" y="4866289"/>
            <a:ext cx="21257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57D687A-A8FC-01A6-C7AD-FCD0E5728CE6}"/>
              </a:ext>
            </a:extLst>
          </p:cNvPr>
          <p:cNvCxnSpPr>
            <a:cxnSpLocks/>
          </p:cNvCxnSpPr>
          <p:nvPr/>
        </p:nvCxnSpPr>
        <p:spPr>
          <a:xfrm>
            <a:off x="923071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985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24351-D258-4CF9-35DC-5DA336A3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D301-9933-1BFC-2F12-01360FC1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Recording an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77178-2F3B-D5F4-6B76-9838F78A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the first read, it is always forward, it specifies the coordinate system</a:t>
            </a:r>
          </a:p>
          <a:p>
            <a:r>
              <a:rPr lang="en-US" dirty="0"/>
              <a:t>Record </a:t>
            </a:r>
            <a:r>
              <a:rPr lang="en-US" u="sng" dirty="0"/>
              <a:t>orientation</a:t>
            </a:r>
          </a:p>
          <a:p>
            <a:r>
              <a:rPr lang="en-US" dirty="0"/>
              <a:t>Record </a:t>
            </a:r>
            <a:r>
              <a:rPr lang="en-US" u="sng" dirty="0"/>
              <a:t>overhangs</a:t>
            </a:r>
            <a:r>
              <a:rPr lang="en-US" dirty="0"/>
              <a:t> (A and B), read ends are coordinate starts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E6EB0-4E1D-273C-16E7-058A36AB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5B38C69-BBAE-05A9-A115-558E236B2145}"/>
              </a:ext>
            </a:extLst>
          </p:cNvPr>
          <p:cNvCxnSpPr/>
          <p:nvPr/>
        </p:nvCxnSpPr>
        <p:spPr>
          <a:xfrm>
            <a:off x="3074276" y="42428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F163AE-A04D-1CD0-30F3-A661E8686FAD}"/>
              </a:ext>
            </a:extLst>
          </p:cNvPr>
          <p:cNvCxnSpPr>
            <a:cxnSpLocks/>
          </p:cNvCxnSpPr>
          <p:nvPr/>
        </p:nvCxnSpPr>
        <p:spPr>
          <a:xfrm flipH="1">
            <a:off x="4503683" y="4505566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795DB698-3479-DFFD-D99D-47A81260FEF3}"/>
              </a:ext>
            </a:extLst>
          </p:cNvPr>
          <p:cNvSpPr/>
          <p:nvPr/>
        </p:nvSpPr>
        <p:spPr>
          <a:xfrm rot="5400000">
            <a:off x="3690444" y="3379189"/>
            <a:ext cx="197069" cy="1429407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65E85D0-DEC2-786D-FA75-D5F821F31C93}"/>
              </a:ext>
            </a:extLst>
          </p:cNvPr>
          <p:cNvSpPr/>
          <p:nvPr/>
        </p:nvSpPr>
        <p:spPr>
          <a:xfrm rot="5400000">
            <a:off x="6207671" y="3381358"/>
            <a:ext cx="197069" cy="1529256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36052-A551-7EF7-84A8-2EDADC965467}"/>
              </a:ext>
            </a:extLst>
          </p:cNvPr>
          <p:cNvSpPr txBox="1"/>
          <p:nvPr/>
        </p:nvSpPr>
        <p:spPr>
          <a:xfrm>
            <a:off x="3154060" y="361071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A-overhang(positive)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5D4321-B0F3-F90E-945D-400709536CE9}"/>
              </a:ext>
            </a:extLst>
          </p:cNvPr>
          <p:cNvSpPr txBox="1"/>
          <p:nvPr/>
        </p:nvSpPr>
        <p:spPr>
          <a:xfrm>
            <a:off x="5671287" y="3607633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C363E-C49C-325B-38EE-7BA5C27A7B5C}"/>
              </a:ext>
            </a:extLst>
          </p:cNvPr>
          <p:cNvCxnSpPr/>
          <p:nvPr/>
        </p:nvCxnSpPr>
        <p:spPr>
          <a:xfrm>
            <a:off x="1988444" y="5574996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6AAC9F-6034-4999-E659-6DE58B87E04E}"/>
              </a:ext>
            </a:extLst>
          </p:cNvPr>
          <p:cNvCxnSpPr>
            <a:cxnSpLocks/>
          </p:cNvCxnSpPr>
          <p:nvPr/>
        </p:nvCxnSpPr>
        <p:spPr>
          <a:xfrm>
            <a:off x="1313154" y="5774693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781BEAAC-98B5-D6E1-E6EF-5B361C493C36}"/>
              </a:ext>
            </a:extLst>
          </p:cNvPr>
          <p:cNvSpPr/>
          <p:nvPr/>
        </p:nvSpPr>
        <p:spPr>
          <a:xfrm rot="5400000">
            <a:off x="1552264" y="5079384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359F35C-C5E5-1A62-F1C9-DF13B5514B43}"/>
              </a:ext>
            </a:extLst>
          </p:cNvPr>
          <p:cNvSpPr/>
          <p:nvPr/>
        </p:nvSpPr>
        <p:spPr>
          <a:xfrm rot="5400000">
            <a:off x="4069490" y="5126175"/>
            <a:ext cx="197069" cy="57543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8B5B8F-364D-CC32-9CB5-FA9246DB45AD}"/>
              </a:ext>
            </a:extLst>
          </p:cNvPr>
          <p:cNvSpPr txBox="1"/>
          <p:nvPr/>
        </p:nvSpPr>
        <p:spPr>
          <a:xfrm>
            <a:off x="680863" y="4884360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94879-675F-CAC9-B846-7FEE66F53A2F}"/>
              </a:ext>
            </a:extLst>
          </p:cNvPr>
          <p:cNvSpPr txBox="1"/>
          <p:nvPr/>
        </p:nvSpPr>
        <p:spPr>
          <a:xfrm>
            <a:off x="3417850" y="4892128"/>
            <a:ext cx="22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(negative)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51BA27-2ACC-55E2-BAD3-309615A30880}"/>
              </a:ext>
            </a:extLst>
          </p:cNvPr>
          <p:cNvCxnSpPr/>
          <p:nvPr/>
        </p:nvCxnSpPr>
        <p:spPr>
          <a:xfrm>
            <a:off x="7507302" y="5587274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F82ED-B5C2-B6D7-26FD-F7F92388773D}"/>
              </a:ext>
            </a:extLst>
          </p:cNvPr>
          <p:cNvCxnSpPr>
            <a:cxnSpLocks/>
          </p:cNvCxnSpPr>
          <p:nvPr/>
        </p:nvCxnSpPr>
        <p:spPr>
          <a:xfrm flipH="1">
            <a:off x="6832013" y="5897329"/>
            <a:ext cx="40225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341017AA-2D89-A69A-B1A8-6947562B11E5}"/>
              </a:ext>
            </a:extLst>
          </p:cNvPr>
          <p:cNvSpPr/>
          <p:nvPr/>
        </p:nvSpPr>
        <p:spPr>
          <a:xfrm rot="5400000">
            <a:off x="7071122" y="5091662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21EA76-D682-65FE-61F1-ECC0A95D1D62}"/>
              </a:ext>
            </a:extLst>
          </p:cNvPr>
          <p:cNvSpPr txBox="1"/>
          <p:nvPr/>
        </p:nvSpPr>
        <p:spPr>
          <a:xfrm>
            <a:off x="6199721" y="4896638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E81BC-2865-95EC-508A-F5F36E5C4114}"/>
              </a:ext>
            </a:extLst>
          </p:cNvPr>
          <p:cNvSpPr txBox="1"/>
          <p:nvPr/>
        </p:nvSpPr>
        <p:spPr>
          <a:xfrm>
            <a:off x="8936708" y="4904406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4545E020-CC9B-60F1-60DC-15D4F96A4541}"/>
              </a:ext>
            </a:extLst>
          </p:cNvPr>
          <p:cNvSpPr/>
          <p:nvPr/>
        </p:nvSpPr>
        <p:spPr>
          <a:xfrm rot="5400000">
            <a:off x="10316047" y="4989332"/>
            <a:ext cx="197070" cy="87995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56B8B6-8083-272C-69C6-95B42E77FCD8}"/>
              </a:ext>
            </a:extLst>
          </p:cNvPr>
          <p:cNvSpPr txBox="1"/>
          <p:nvPr/>
        </p:nvSpPr>
        <p:spPr>
          <a:xfrm>
            <a:off x="7809989" y="6082150"/>
            <a:ext cx="190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 overlap</a:t>
            </a:r>
          </a:p>
        </p:txBody>
      </p:sp>
    </p:spTree>
    <p:extLst>
      <p:ext uri="{BB962C8B-B14F-4D97-AF65-F5344CB8AC3E}">
        <p14:creationId xmlns:p14="http://schemas.microsoft.com/office/powerpoint/2010/main" val="1571147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938047" y="4237047"/>
            <a:ext cx="958543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                        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R2(- implies that we had to RC):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5489327" y="4545805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5693978" y="4263157"/>
            <a:ext cx="3500765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CBBA-8D59-60E8-38AB-38F12199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Greedy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E101C-0067-1250-D8C1-A2A2B3932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Greedy assembly algorithm will always yield an assembly, but not necessarily the right one:</a:t>
            </a:r>
          </a:p>
          <a:p>
            <a:pPr lvl="1"/>
            <a:r>
              <a:rPr lang="en-US" dirty="0"/>
              <a:t>Search for overlaps. If there is more than 1 sequence that overlaps, find the sequence overlap with the highest area of overlap.</a:t>
            </a:r>
          </a:p>
          <a:p>
            <a:pPr lvl="1"/>
            <a:r>
              <a:rPr lang="en-US" dirty="0"/>
              <a:t>Find two fragments with largest overlap and merge fragments.</a:t>
            </a:r>
          </a:p>
          <a:p>
            <a:pPr lvl="1"/>
            <a:r>
              <a:rPr lang="en-US" dirty="0"/>
              <a:t>Always try to extend</a:t>
            </a:r>
          </a:p>
          <a:p>
            <a:pPr lvl="1"/>
            <a:r>
              <a:rPr lang="en-US" dirty="0"/>
              <a:t>Repeat until all overlaps are used or rejected.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Strengths: Simple to implement and generally fast.</a:t>
            </a:r>
          </a:p>
          <a:p>
            <a:r>
              <a:rPr lang="en-US" dirty="0"/>
              <a:t>Weaknesses: Can make mistakes in assemblies.</a:t>
            </a:r>
          </a:p>
          <a:p>
            <a:r>
              <a:rPr lang="en-US" dirty="0"/>
              <a:t>Example: Imagine assembling a puzzle by always joining the two best matching pieces, even if those pieces might not be part of the final correct arrangement.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BFF49-B061-4FEB-44CA-CE0CE8CA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8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EE45-4783-73D7-C36D-56EF4C8D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86A13-B9D4-0E34-36CB-604EB09C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D1C68-13AA-8EE1-82AC-FCAD3C803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Problem: recover the genome using each read once</a:t>
            </a:r>
          </a:p>
          <a:p>
            <a:r>
              <a:rPr lang="en-US" dirty="0">
                <a:cs typeface="Courier New" panose="02070309020205020404" pitchFamily="49" charset="0"/>
              </a:rPr>
              <a:t>Longest overlap is between R3 and R6!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6C25-F597-00A9-2E63-384BD301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9940D-E086-2063-771B-3158734C1F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410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BEA7-0010-2854-09C6-089E451E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0AD7D-FDE0-281D-9C4C-8881EF598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FDFFD-A86C-B234-BC0C-AE8BC7436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427E5-4CBA-3D86-2E8B-A9B2EDD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610D6-5D5A-9AD5-F16E-037E3B2D40B0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28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1C3B5-8702-BB6D-C6EF-D1C8F9CB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24C4-FB52-600B-B2D4-D870470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8C231-449D-580C-3C36-EE930B86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F64D5-FBB4-E2C9-74F5-5A43E71F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4A178-0A26-72E1-CEE9-69EA793584C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11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922C2-4A76-3B12-645D-3F6DA084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AD48-2DE2-60B2-FFD1-BC081220E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F8906-F421-AABB-FCE4-9FEE0BCBE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79D6-F36C-8224-12C9-0F94F580C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98232-635C-C1A4-D46F-08B843A0F44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215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2366E-1CAC-CCF9-AF1E-E227EC17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9729-9371-7CEE-0318-4AAF6DB8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B4D7B-09A5-7D0C-E92B-EB62E5FD4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811E-5BAC-F918-B018-DB75E81A0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1FA64-CD78-F3E1-5926-33DEEDA67C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19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A188-B65B-E15F-4AE0-5ADA4257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E00F-D37B-9616-D2E2-23F7C8EFB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A6989-145B-0084-C080-F0C241B03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04DCF-6D6C-30B3-37E5-71CE5386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3D1DC-B8C0-DFCC-4354-41DFC9302FD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758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D044-F455-B229-88E0-ACB0E2EB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32666-4C56-C269-2BBA-A6DEE6D58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29BB3-C0B6-3396-BC8B-8E3AA46BD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77EAC-1092-FD35-0BE5-7F0B170F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C6A05-C44C-9BA5-A953-362FF91E9F08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230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D2A8D-AA93-6A97-AE6B-BF2C902D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FEC5-4AA8-585F-6B09-E6C2DBFE0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19924-B1F6-FF8B-654C-E0F62395E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FA8C8-2C8B-F580-2E53-E7F25D72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F3275-1779-774D-7674-B356B17189CB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39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16FB-07E1-BB42-DBED-02DD0D909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3D32F-3640-BFBD-D42A-F9AE91CD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5837D-3AF6-5C24-C3A9-D3232A338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5124936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Assembly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B4427-5E7D-0F2D-B95F-C763CD92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9A7FC-2BC3-5BAE-93C3-D8E616D7C1C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153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7692F-4AF3-27CF-927B-CBB1B5CE5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59EF-DECB-CDD2-DAFC-E1B5088F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405D0-3788-255F-FFF9-CA6FF2E39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C511D-353E-B462-ADC0-BC05F26A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DC410F-7733-5269-0284-008B323E6DE1}"/>
              </a:ext>
            </a:extLst>
          </p:cNvPr>
          <p:cNvCxnSpPr/>
          <p:nvPr/>
        </p:nvCxnSpPr>
        <p:spPr>
          <a:xfrm>
            <a:off x="3903406" y="4896465"/>
            <a:ext cx="963562" cy="55060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69AA401-0CBB-86D3-E15D-33411F3FEDF0}"/>
              </a:ext>
            </a:extLst>
          </p:cNvPr>
          <p:cNvCxnSpPr>
            <a:cxnSpLocks/>
          </p:cNvCxnSpPr>
          <p:nvPr/>
        </p:nvCxnSpPr>
        <p:spPr>
          <a:xfrm flipV="1">
            <a:off x="4100052" y="5476568"/>
            <a:ext cx="766916" cy="70792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D4609D-AE0D-CA79-22BD-BCC6C55285AB}"/>
              </a:ext>
            </a:extLst>
          </p:cNvPr>
          <p:cNvCxnSpPr/>
          <p:nvPr/>
        </p:nvCxnSpPr>
        <p:spPr>
          <a:xfrm flipH="1">
            <a:off x="4866968" y="5476568"/>
            <a:ext cx="13470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8E03E6D-5D77-11AA-7E97-994DC730AC88}"/>
              </a:ext>
            </a:extLst>
          </p:cNvPr>
          <p:cNvCxnSpPr/>
          <p:nvPr/>
        </p:nvCxnSpPr>
        <p:spPr>
          <a:xfrm flipV="1">
            <a:off x="6213987" y="4827639"/>
            <a:ext cx="855407" cy="648929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6D4CC3-8416-6D34-47F3-A1E6FB0ACEB9}"/>
              </a:ext>
            </a:extLst>
          </p:cNvPr>
          <p:cNvCxnSpPr/>
          <p:nvPr/>
        </p:nvCxnSpPr>
        <p:spPr>
          <a:xfrm flipH="1" flipV="1">
            <a:off x="6213987" y="5476568"/>
            <a:ext cx="983226" cy="707922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428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EF11-DEE7-E2B2-F9D2-E2474D135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4F37-432D-7B61-4665-F150023F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82D75-8719-353F-80F8-13B29C4BF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</a:t>
            </a:r>
            <a:r>
              <a:rPr lang="en-US"/>
              <a:t>a node </a:t>
            </a:r>
            <a:r>
              <a:rPr lang="en-US" dirty="0"/>
              <a:t>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2078E-F401-74F4-A1B0-C207D326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4ABF028-7B4F-6283-AF57-F6555A2E78F4}"/>
              </a:ext>
            </a:extLst>
          </p:cNvPr>
          <p:cNvCxnSpPr>
            <a:cxnSpLocks/>
          </p:cNvCxnSpPr>
          <p:nvPr/>
        </p:nvCxnSpPr>
        <p:spPr>
          <a:xfrm>
            <a:off x="2440127" y="5413787"/>
            <a:ext cx="963562" cy="55060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CA5915-F07A-6C67-7D54-15D84EA1AD51}"/>
              </a:ext>
            </a:extLst>
          </p:cNvPr>
          <p:cNvCxnSpPr>
            <a:cxnSpLocks/>
          </p:cNvCxnSpPr>
          <p:nvPr/>
        </p:nvCxnSpPr>
        <p:spPr>
          <a:xfrm flipV="1">
            <a:off x="3765755" y="5964393"/>
            <a:ext cx="766916" cy="70792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F3B478-5BBD-75C9-21DE-2DA24DB45DDD}"/>
              </a:ext>
            </a:extLst>
          </p:cNvPr>
          <p:cNvCxnSpPr/>
          <p:nvPr/>
        </p:nvCxnSpPr>
        <p:spPr>
          <a:xfrm flipH="1">
            <a:off x="4748981" y="6469627"/>
            <a:ext cx="13470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0F7CB0F-0D3B-7B72-04F0-C3074929666D}"/>
              </a:ext>
            </a:extLst>
          </p:cNvPr>
          <p:cNvCxnSpPr>
            <a:cxnSpLocks/>
          </p:cNvCxnSpPr>
          <p:nvPr/>
        </p:nvCxnSpPr>
        <p:spPr>
          <a:xfrm flipV="1">
            <a:off x="5425768" y="5226059"/>
            <a:ext cx="855407" cy="648929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A8D07C-EDDC-9F65-66A4-03BCB8DE3A41}"/>
              </a:ext>
            </a:extLst>
          </p:cNvPr>
          <p:cNvCxnSpPr/>
          <p:nvPr/>
        </p:nvCxnSpPr>
        <p:spPr>
          <a:xfrm flipH="1" flipV="1">
            <a:off x="6803923" y="5830991"/>
            <a:ext cx="983226" cy="707922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996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D871-58C2-94E2-42D9-8BFF5C17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57DC8-A219-C88E-CF3D-166C3B19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B464B-20FC-1D20-EE5F-C1CF3AF8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Strengths: </a:t>
            </a:r>
          </a:p>
          <a:p>
            <a:pPr lvl="1"/>
            <a:r>
              <a:rPr lang="en-US" dirty="0"/>
              <a:t>Assemblies are more correct, because the graph structure preserves information about all overlaps, not just the strongest ones.</a:t>
            </a:r>
          </a:p>
          <a:p>
            <a:pPr lvl="1"/>
            <a:r>
              <a:rPr lang="en-US" dirty="0"/>
              <a:t>Storing assembly as a graph can help resolve it later with additional data</a:t>
            </a:r>
          </a:p>
          <a:p>
            <a:r>
              <a:rPr lang="en-US" dirty="0"/>
              <a:t>Weaknesses: More computationally intensive. Building the initial overlap graph is typically the slowest part of the assembly.</a:t>
            </a:r>
          </a:p>
          <a:p>
            <a:r>
              <a:rPr lang="en-US" dirty="0"/>
              <a:t>Example: Imagine creating a map of all possible connections between puzzle pieces and then finding the optimal path through the connections to assemble the puzzle.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11E45-C9AC-0D7F-3E0E-8BCD7674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0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2413-B113-551C-AF4F-2D563044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9BA9-A812-7105-E061-43EFBD05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8859C-791C-3FFB-66E9-2C866A311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37B97-321F-598B-551F-E6C6B21CF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14311-5D45-373A-A790-ABB8FF47F91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785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87A2E-85B4-488E-99B1-36C9F7A1C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F769-E1BB-44B7-9E5B-7CB476CE8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06980-B729-D2E9-EC54-7A4EA358F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6824F-3BA5-97FE-CA02-DFDE82F9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D5234-0D09-EBF0-51E4-D750AED808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1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1E5F-320A-1FBC-98CB-C4A60D57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A6E3-D661-7625-96B9-2C482C592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10B74-015D-9014-DB6C-383B4BDEE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022DA-463B-3F5B-1436-34A997FF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FF3CB0-3F53-0256-3B1B-CAE2E6E170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2C23F3-A4D1-3DFC-5246-F11131D4D3A2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34F3A8-91A4-D7BD-4807-A6CDAD416931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007874-22D9-E804-BF6E-9868F8AC474D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89C59BF-BE46-A579-DB82-CE003ED97942}"/>
              </a:ext>
            </a:extLst>
          </p:cNvPr>
          <p:cNvCxnSpPr>
            <a:cxnSpLocks/>
          </p:cNvCxnSpPr>
          <p:nvPr/>
        </p:nvCxnSpPr>
        <p:spPr>
          <a:xfrm>
            <a:off x="4429431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06CC79-30B9-E41C-24BE-C3E275BB9E2D}"/>
              </a:ext>
            </a:extLst>
          </p:cNvPr>
          <p:cNvCxnSpPr>
            <a:cxnSpLocks/>
          </p:cNvCxnSpPr>
          <p:nvPr/>
        </p:nvCxnSpPr>
        <p:spPr>
          <a:xfrm>
            <a:off x="1376515" y="5299587"/>
            <a:ext cx="0" cy="7669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7266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3171-38EA-65CC-95CF-652C1E6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7F119-4A30-EA9B-77DA-C06E6FEBA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1FE9-FC8C-8E93-F670-4D5E7299B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949C8-D0EA-09EC-BBC9-19C1CD60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48ECF0-F4FC-9D0F-0827-7B41CA0AAD34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9EE80-5D63-4426-F841-2414604F8C0B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5EAF1-52B7-796E-FB46-CCD819C7690B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46275-4E31-A0E1-BE3D-1A96E176AEC0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69970B-191B-4051-451F-25AEE2F5FA2C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12A0194-B870-DAAF-918E-C3EDED2272B5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B60A06-E170-023A-0398-9E6F069CCCAE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6BE63B-5FC6-E685-49BE-00F94C947CD2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178542B-E98C-32BA-198C-B4AC8662380D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5129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D408-000E-10F1-1A5E-987BB907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1439E-6159-E90D-F0DB-8BA5C8D3F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B188A-C842-1664-5DCB-D5EBF3E50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5140-C0EE-AC3B-F4B8-403F3CE3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B8B3-F87D-B974-C95A-135951D3F18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F3E22-D4F4-0C48-6BE9-D3DB9F45239E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62957-16F2-A422-8D24-934FDF0610AA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FB50B8-E36C-D443-BF78-B5181B10F35F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8B1276-8A75-2BEB-9E30-40644AB96427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EE1D1A-8418-8A3D-ED79-C1E27F5A62F4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7A74B7B-E640-35EF-5A97-3DEC6DFA7135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9E88DC5-781F-B863-B383-E964EDB9CF06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A0F29A-F069-1A3D-05D1-3DC023B36957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14:cNvPr>
              <p14:cNvContentPartPr/>
              <p14:nvPr/>
            </p14:nvContentPartPr>
            <p14:xfrm>
              <a:off x="1733138" y="5128943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27018" y="5122823"/>
                <a:ext cx="39657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6341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F0BAF-F279-BFD6-D299-E5493C1EE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87A0-7991-EE0E-A969-0F5084492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B49DA-9998-0C08-0B00-D1E8CCC25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8" y="1596541"/>
            <a:ext cx="10983781" cy="3735480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</a:t>
            </a:r>
            <a:r>
              <a:rPr lang="en-US" dirty="0">
                <a:cs typeface="Courier New" panose="02070309020205020404" pitchFamily="49" charset="0"/>
              </a:rPr>
              <a:t>produces the same graph: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AC1C-51A3-48BD-2317-105BED4F7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DD092-BAE6-5DD7-CA9A-5621159865FA}"/>
              </a:ext>
            </a:extLst>
          </p:cNvPr>
          <p:cNvSpPr txBox="1"/>
          <p:nvPr/>
        </p:nvSpPr>
        <p:spPr>
          <a:xfrm>
            <a:off x="1504753" y="2771498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35E8C-BE95-7DEC-DDA8-65A441CC6935}"/>
              </a:ext>
            </a:extLst>
          </p:cNvPr>
          <p:cNvSpPr txBox="1"/>
          <p:nvPr/>
        </p:nvSpPr>
        <p:spPr>
          <a:xfrm>
            <a:off x="3032901" y="31410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21045-E61E-2459-B401-6B795AB4960F}"/>
              </a:ext>
            </a:extLst>
          </p:cNvPr>
          <p:cNvSpPr txBox="1"/>
          <p:nvPr/>
        </p:nvSpPr>
        <p:spPr>
          <a:xfrm>
            <a:off x="4791614" y="2740893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C9091-692E-40F4-6C5B-F9297CB89826}"/>
              </a:ext>
            </a:extLst>
          </p:cNvPr>
          <p:cNvSpPr txBox="1"/>
          <p:nvPr/>
        </p:nvSpPr>
        <p:spPr>
          <a:xfrm>
            <a:off x="3272539" y="3752273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F9201A-19F6-6EA1-A878-EFF08554639E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376017" y="2971553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95BFDE-93CA-EECD-11B5-80362F90399B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064487" y="3341058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E64C87C-6061-D819-1F55-0BEBE317863B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032901" y="3341058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E8C60A7-C83C-A40A-9CFD-2432368E4BE5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261122" y="2940948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14:cNvPr>
              <p14:cNvContentPartPr/>
              <p14:nvPr/>
            </p14:nvContentPartPr>
            <p14:xfrm>
              <a:off x="1566884" y="2769120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0764" y="2763000"/>
                <a:ext cx="3965760" cy="1332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BB11CAF-918C-00F9-E29D-AE82C904F562}"/>
              </a:ext>
            </a:extLst>
          </p:cNvPr>
          <p:cNvSpPr txBox="1"/>
          <p:nvPr/>
        </p:nvSpPr>
        <p:spPr>
          <a:xfrm>
            <a:off x="5124747" y="4900233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960540-248C-5C42-9A8B-0224493D24EB}"/>
              </a:ext>
            </a:extLst>
          </p:cNvPr>
          <p:cNvSpPr txBox="1"/>
          <p:nvPr/>
        </p:nvSpPr>
        <p:spPr>
          <a:xfrm>
            <a:off x="6652895" y="5269738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99DDE-EE95-734C-B96F-6AE2DA7D8FB0}"/>
              </a:ext>
            </a:extLst>
          </p:cNvPr>
          <p:cNvSpPr txBox="1"/>
          <p:nvPr/>
        </p:nvSpPr>
        <p:spPr>
          <a:xfrm>
            <a:off x="8411608" y="4869628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EEC80-387A-12C9-11EA-9A61DC7F8345}"/>
              </a:ext>
            </a:extLst>
          </p:cNvPr>
          <p:cNvSpPr txBox="1"/>
          <p:nvPr/>
        </p:nvSpPr>
        <p:spPr>
          <a:xfrm>
            <a:off x="6892533" y="5881008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863513-70C6-F725-F823-277F119047A7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996011" y="5100288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AC72D8E-A128-8BFC-166C-9AE98F929086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7684481" y="5469793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80A9C2-21BB-6225-9142-A647140607FA}"/>
              </a:ext>
            </a:extLst>
          </p:cNvPr>
          <p:cNvCxnSpPr>
            <a:cxnSpLocks/>
            <a:stCxn id="12" idx="1"/>
            <a:endCxn id="8" idx="1"/>
          </p:cNvCxnSpPr>
          <p:nvPr/>
        </p:nvCxnSpPr>
        <p:spPr>
          <a:xfrm flipH="1" flipV="1">
            <a:off x="6652895" y="5469793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1AB5DE-6244-2A91-A11C-4B1E9734E14D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7881116" y="5069683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D8F3142-DA2A-E3C1-894C-5D7EDB120C19}"/>
                  </a:ext>
                </a:extLst>
              </p14:cNvPr>
              <p14:cNvContentPartPr/>
              <p14:nvPr/>
            </p14:nvContentPartPr>
            <p14:xfrm>
              <a:off x="5189138" y="4950383"/>
              <a:ext cx="3906000" cy="14389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D8F3142-DA2A-E3C1-894C-5D7EDB120C1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83018" y="4944263"/>
                <a:ext cx="3918240" cy="145116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5FC96EC-7F1C-49B3-843C-8466F97F5757}"/>
              </a:ext>
            </a:extLst>
          </p:cNvPr>
          <p:cNvSpPr txBox="1"/>
          <p:nvPr/>
        </p:nvSpPr>
        <p:spPr>
          <a:xfrm>
            <a:off x="2064190" y="5881008"/>
            <a:ext cx="3796757" cy="644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coverage to estimate repeat multiplicity</a:t>
            </a:r>
          </a:p>
        </p:txBody>
      </p:sp>
    </p:spTree>
    <p:extLst>
      <p:ext uri="{BB962C8B-B14F-4D97-AF65-F5344CB8AC3E}">
        <p14:creationId xmlns:p14="http://schemas.microsoft.com/office/powerpoint/2010/main" val="385442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7AA77-BD07-B5D1-C95C-7EF9483A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3FEF-821E-D7E0-E240-787D05BB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7F99-FE5F-AE5E-BBAF-A78096718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Reads have errors, overlaps are typically not perfect</a:t>
            </a:r>
          </a:p>
          <a:p>
            <a:endParaRPr lang="en-US" dirty="0"/>
          </a:p>
          <a:p>
            <a:r>
              <a:rPr lang="en-US" dirty="0"/>
              <a:t>In each contig we need to compute consensus sequence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11ED8-A67C-F9C7-85D9-BF500107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9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9CD7-D23B-7A16-53CA-75862DA0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438-F4A4-AE56-359A-2D7FB2777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0243-4EDE-8D76-339C-6B8A9607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r>
              <a:rPr lang="en-US" b="1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</a:t>
            </a:r>
            <a:r>
              <a:rPr lang="en-US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5FDAC-EC65-9F18-86F7-7F39557BC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49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DDD1A-0A70-C33A-55C5-5A09CD6BE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E09B2-83B2-638B-BFFD-C19A1751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3C44-2958-9368-E61C-29FC67FC4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multi-alignment to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AGATAGACAAAGAC-ATAGACAG-ATACGCTCGATCGGGT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53D6-F3B3-E4EA-E5E2-39512801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966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DC8E-404A-D338-8A89-94902ABA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4C4C3-A68C-BB35-1AEB-ABCC95053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AB37-2FD6-5225-D78F-08D286B6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consensus sequence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ATAGACAG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7A926-4208-DC1A-C189-8580AA7E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147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6F81-C0D3-FA5A-B14B-5B2BD163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7279-AF34-7671-2C30-1F8CDF1A0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4EB8-D864-A4F1-14CF-2B13AFC2C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787985"/>
            <a:ext cx="11259083" cy="473080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Break reads into overlapping k-</a:t>
            </a:r>
            <a:r>
              <a:rPr lang="en-US" dirty="0" err="1"/>
              <a:t>mers</a:t>
            </a:r>
            <a:r>
              <a:rPr lang="en-US" dirty="0"/>
              <a:t> of fixed length K; for example</a:t>
            </a:r>
            <a:r>
              <a:rPr lang="en-US"/>
              <a:t>, K = 5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AGACATAGAC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GACAT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ACATA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CATAG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ATAGA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TAGAC</a:t>
            </a:r>
          </a:p>
          <a:p>
            <a:r>
              <a:rPr lang="en-US" dirty="0">
                <a:cs typeface="Courier New" panose="02070309020205020404" pitchFamily="49" charset="0"/>
              </a:rPr>
              <a:t>Count all </a:t>
            </a:r>
            <a:r>
              <a:rPr lang="en-US" dirty="0" err="1">
                <a:cs typeface="Courier New" panose="02070309020205020404" pitchFamily="49" charset="0"/>
              </a:rPr>
              <a:t>kmers</a:t>
            </a:r>
            <a:r>
              <a:rPr lang="en-US" dirty="0">
                <a:cs typeface="Courier New" panose="02070309020205020404" pitchFamily="49" charset="0"/>
              </a:rPr>
              <a:t> in the reads, build a </a:t>
            </a:r>
            <a:r>
              <a:rPr lang="en-US" i="1" dirty="0">
                <a:cs typeface="Courier New" panose="02070309020205020404" pitchFamily="49" charset="0"/>
              </a:rPr>
              <a:t>table</a:t>
            </a:r>
            <a:r>
              <a:rPr lang="en-US" dirty="0">
                <a:cs typeface="Courier New" panose="02070309020205020404" pitchFamily="49" charset="0"/>
              </a:rPr>
              <a:t> of </a:t>
            </a:r>
            <a:r>
              <a:rPr lang="en-US" dirty="0" err="1">
                <a:cs typeface="Courier New" panose="02070309020205020404" pitchFamily="49" charset="0"/>
              </a:rPr>
              <a:t>kmer</a:t>
            </a:r>
            <a:r>
              <a:rPr lang="en-US" dirty="0">
                <a:cs typeface="Courier New" panose="02070309020205020404" pitchFamily="49" charset="0"/>
              </a:rPr>
              <a:t>-count (use canonical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)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 5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ATGTC 20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Build </a:t>
            </a:r>
            <a:r>
              <a:rPr lang="en-US" i="1" dirty="0">
                <a:cs typeface="Courier New" panose="02070309020205020404" pitchFamily="49" charset="0"/>
              </a:rPr>
              <a:t>k-mer graph</a:t>
            </a:r>
            <a:r>
              <a:rPr lang="en-US" dirty="0">
                <a:cs typeface="Courier New" panose="02070309020205020404" pitchFamily="49" charset="0"/>
              </a:rPr>
              <a:t>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</a:p>
          <a:p>
            <a:r>
              <a:rPr lang="en-US" dirty="0">
                <a:cs typeface="Courier New" panose="02070309020205020404" pitchFamily="49" charset="0"/>
              </a:rPr>
              <a:t>Look for a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Eulerian</a:t>
            </a:r>
            <a:r>
              <a:rPr lang="en-US" dirty="0">
                <a:cs typeface="Courier New" panose="02070309020205020404" pitchFamily="49" charset="0"/>
              </a:rPr>
              <a:t> path through the graph (trail that visits each edge exactly once) or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Hamiltonian</a:t>
            </a:r>
            <a:r>
              <a:rPr lang="en-US" dirty="0">
                <a:cs typeface="Courier New" panose="02070309020205020404" pitchFamily="49" charset="0"/>
              </a:rPr>
              <a:t> path through the graph (path that visits each node exactly once)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2469A-ACAE-78EB-26B7-6C6BF83B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053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A2784-D1AF-232C-7EE5-6D3CDE4A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4B5A2-D3AA-0BE7-7CB4-24075236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E9641-2D54-149A-3761-4D1E708F8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G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10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ACFE7-13D5-AEDD-067B-2790D351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FB68D5-6DAF-1CA7-3CC0-C4EE61C2BFB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41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1F1F-55A4-2922-C733-FCA004FE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C55B-E271-79DB-2624-AF209A48F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E86E-FFB3-6D98-728D-52FD2EEFD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a forward “branch”. 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350D6-9B46-641C-AA34-295F877B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CFE40A-C156-BD9D-9E9F-E5A7E8B3149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922313-FE72-539C-A196-FBBC3C57F084}"/>
              </a:ext>
            </a:extLst>
          </p:cNvPr>
          <p:cNvCxnSpPr/>
          <p:nvPr/>
        </p:nvCxnSpPr>
        <p:spPr>
          <a:xfrm flipV="1">
            <a:off x="6248705" y="342900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8AD8978-1D40-786D-2803-F9BDC491C34B}"/>
              </a:ext>
            </a:extLst>
          </p:cNvPr>
          <p:cNvCxnSpPr>
            <a:cxnSpLocks/>
          </p:cNvCxnSpPr>
          <p:nvPr/>
        </p:nvCxnSpPr>
        <p:spPr>
          <a:xfrm>
            <a:off x="6248705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42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5B961-0E49-69BD-B55F-405C43168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02CB-75F6-0791-2719-2E3B82AE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7CB8-7845-D670-3A75-C8D5266CD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15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D713C-A3B4-8EDE-D04B-D078C582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D51C9-FC86-2C2F-B8DD-BE70A249F18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2D26F9-6987-B9D1-9FDE-48F837756241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E3BA5A-BE33-42AC-5AE6-308EF3008D2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EF633A-9622-2C29-1B95-BA51E539D8E9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for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3361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3CD20-DBDC-8AB9-CE2D-C5ACF620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A9D06-3E06-DC73-BEAB-E58D33BFC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BB257-A012-64E9-3984-7DA642E53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0FDC8-E98A-9A0C-4EA8-D8D6744DB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199395-D67E-8EDB-2C6F-BD6BFA5DD53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6684FE6-B114-2674-FA62-90606B221EA3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7F6DB5-B80F-031A-1BCA-23BA7317A0AF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BE2AB99-B59F-5676-D02C-9E1C6A2090E2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for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5801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409B-B440-83AB-9D34-073157438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19279-E907-E930-7F32-127F7BF6E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5828E-9EB0-DD79-B3C9-EF7675D67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E4A93-7E52-12B6-8E11-AB61D0D5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34FD4-2EE5-5774-53CF-A827782CF03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08DE59-74C7-A996-43D7-B6E78E612B13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AA0E0C-5E41-0ABE-DF3A-41FA6438B346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D1B11BB-ECC8-C497-BE6C-FD43378B5F84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No backward branch -- continue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32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0EA3-3246-3BCD-E7F0-A18DD187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4460-8AF6-DCCA-F327-079A70A82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C881-2F85-4121-2E4F-080F9FEA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DE90E-4C53-0541-F51F-0624DABB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4C1F54-F6EE-25E7-D4E3-9C3A3943FA5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659B81-0923-BB9E-922E-BDA747B76E0A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715F69-82B7-C0EF-9DE4-A45C4E85F357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87A064B-0EEC-FD29-63AE-62D9DC418F40}"/>
              </a:ext>
            </a:extLst>
          </p:cNvPr>
          <p:cNvCxnSpPr>
            <a:cxnSpLocks/>
          </p:cNvCxnSpPr>
          <p:nvPr/>
        </p:nvCxnSpPr>
        <p:spPr>
          <a:xfrm flipH="1" flipV="1">
            <a:off x="4263540" y="3734410"/>
            <a:ext cx="458115" cy="3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6922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3A23-6B38-B485-CDF3-340CFA90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E5904-6D91-6D96-0793-E5570AE7A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0291D-AA5E-5EAA-BA29-DD2A74D45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A9BD0-52B5-0343-D364-BF0AA7D32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4ADB5-4F5E-07FD-C4D2-DE26B69E73DD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D39780-D411-614D-A5FB-2F9DCCA167E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6D7235-5F9B-AD94-DE82-42DEF8235930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5882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F419C-9478-91AB-98BC-C753CF05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B3C42-1AF0-1516-DE5D-A140BE533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C471E-70EB-E535-7B5A-F13EC98C1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Continue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846C4-0091-B32B-EB7A-412A62EFE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BE9817-4443-E5C0-0429-6B5022DF6CF6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A1E0BF9-A5E8-A51D-844C-FD09796A9CB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339DE0-6691-7F10-00AB-1FAE75532E9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73879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ECEB-8314-4F5B-A37B-470FD90D5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Properties of the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0B893-EF41-6232-0920-205CB5599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k-mer is encountered only ONCE in the graph</a:t>
            </a:r>
          </a:p>
          <a:p>
            <a:endParaRPr lang="en-US" i="1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An assembly that visits each edge once can collapse repeats (some edges may need to be visited more than once in loops)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Can use k-mer counts to see how many times need to go through each node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FEC9-20C9-4652-BA81-FFC82D47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270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2325D-839F-A8C7-19DB-7D03BBD2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355E7-B584-3612-A29A-58FD462AD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01079"/>
          </a:xfrm>
        </p:spPr>
        <p:txBody>
          <a:bodyPr>
            <a:normAutofit/>
          </a:bodyPr>
          <a:lstStyle/>
          <a:p>
            <a:r>
              <a:rPr lang="en-US" dirty="0"/>
              <a:t>K-unitigs are DNA sequences that correspond to strictly linear paths through K-mer graph</a:t>
            </a:r>
          </a:p>
          <a:p>
            <a:pPr lvl="1"/>
            <a:r>
              <a:rPr lang="en-US" dirty="0"/>
              <a:t>No forward or backward branches allowed</a:t>
            </a:r>
          </a:p>
          <a:p>
            <a:pPr lvl="1"/>
            <a:r>
              <a:rPr lang="en-US" dirty="0"/>
              <a:t>Can overlap exactly by K-1 bases with one or more other K-unitigs</a:t>
            </a:r>
          </a:p>
          <a:p>
            <a:pPr lvl="1"/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k-unitigs are distinct (no K-mer is repeated twice)</a:t>
            </a:r>
          </a:p>
          <a:p>
            <a:r>
              <a:rPr lang="en-US" dirty="0"/>
              <a:t>A more compact representation of K-mer graph </a:t>
            </a:r>
          </a:p>
          <a:p>
            <a:pPr lvl="1"/>
            <a:r>
              <a:rPr lang="en-US" dirty="0"/>
              <a:t>K-unitigs are nodes</a:t>
            </a:r>
          </a:p>
          <a:p>
            <a:pPr lvl="1"/>
            <a:r>
              <a:rPr lang="en-US" dirty="0"/>
              <a:t>K-1 exact overlaps are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F39EE-0A3B-CDEE-67CC-21AEB0A26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5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A196-3973-F5F7-8389-C4B5891B4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2601-726E-6A78-855B-D2AEFAD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B2B54-2F5A-F642-85AC-744709BA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47F0D5-32A3-0F18-AE7A-83631F277D79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584AE-D2C7-6A1C-8506-1CAE35112C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B88AC9-3E43-3579-77D0-E05B7694AF07}"/>
              </a:ext>
            </a:extLst>
          </p:cNvPr>
          <p:cNvSpPr/>
          <p:nvPr/>
        </p:nvSpPr>
        <p:spPr>
          <a:xfrm>
            <a:off x="3496235" y="3239556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F45A17-0CA8-EFB5-963F-E7B97C046FA6}"/>
              </a:ext>
            </a:extLst>
          </p:cNvPr>
          <p:cNvSpPr/>
          <p:nvPr/>
        </p:nvSpPr>
        <p:spPr>
          <a:xfrm>
            <a:off x="7144870" y="3262864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8551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E303-CAE7-019E-8D5A-397731D0C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DB4CD-0F7A-A465-2F7E-084A66FC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DD0A5-9350-6919-76EB-AB03F5F6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7E992A-4D9C-FA4E-2A4E-BA8807EB5712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68E9E-1795-5D8E-27CF-1DE160C1E555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8EED-650E-4478-2054-51B127185E2A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84750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CA13-625C-1C93-56B5-89CE562F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50641-1F7E-D703-280B-D191B957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29AB4-520E-7D51-B483-89BC33459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D645D-DA86-5AF6-BB95-5F40978BD7B7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CEF3D-83E7-76F8-0BE5-B5162FCC9E02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D409A8-D0BD-818E-0927-8BF280921B0F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25441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F5C7-5FEA-ECD1-7634-33FC0E39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9C407-5313-1C03-2C27-6DDC0ED6B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302F4-6547-1A36-F175-138E1C41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6DD-D27B-CD67-9662-3C32C77DAF94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178651-432D-B96E-944A-6CB79E34E5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8EF86-2568-1BC3-0C5C-0149DDDD368B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87249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55D4-33B5-3DAC-251A-26522AD2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253-0AD0-D702-2587-4B268F32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88E50-3096-6232-BC20-E6CC4EC1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92432-BD6B-A6F7-882A-5AF0FB3BF668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9319D-BDEC-B158-D00C-D491D8EE84A9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3603E-3B9C-A19F-CEC8-7C6FDDC6043D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00136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D306-84C3-ECD2-56DD-0EE17BF0D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147C-767B-2709-6288-75A9AC9C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09060-5B55-68B7-B998-5CD3FEB8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23E8D-894A-7692-6801-DDE38056902F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351C3-565A-6163-CB6A-69CCE660E086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E6069-914D-B9CF-8E69-5A26AE342AA9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5C67E93-77EA-CA15-E7DD-70401CC6F3A7}"/>
              </a:ext>
            </a:extLst>
          </p:cNvPr>
          <p:cNvSpPr txBox="1"/>
          <p:nvPr/>
        </p:nvSpPr>
        <p:spPr>
          <a:xfrm>
            <a:off x="1390225" y="5011750"/>
            <a:ext cx="84946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</p:txBody>
      </p:sp>
    </p:spTree>
    <p:extLst>
      <p:ext uri="{BB962C8B-B14F-4D97-AF65-F5344CB8AC3E}">
        <p14:creationId xmlns:p14="http://schemas.microsoft.com/office/powerpoint/2010/main" val="13464850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180A-E0A6-400F-B155-70C3F9AB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</a:t>
            </a:r>
            <a:r>
              <a:rPr lang="en-US" dirty="0" err="1"/>
              <a:t>DeBruijn</a:t>
            </a:r>
            <a:r>
              <a:rPr lang="en-US" dirty="0"/>
              <a:t> of K-</a:t>
            </a:r>
            <a:r>
              <a:rPr lang="en-US" dirty="0" err="1"/>
              <a:t>mer</a:t>
            </a:r>
            <a:r>
              <a:rPr lang="en-US" dirty="0"/>
              <a:t> graph?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E125-6F8F-4727-8CBB-1277CD4F2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 fontScale="92500"/>
          </a:bodyPr>
          <a:lstStyle/>
          <a:p>
            <a:r>
              <a:rPr lang="en-US" dirty="0"/>
              <a:t>If k-</a:t>
            </a:r>
            <a:r>
              <a:rPr lang="en-US" dirty="0" err="1"/>
              <a:t>mers</a:t>
            </a:r>
            <a:r>
              <a:rPr lang="en-US" dirty="0"/>
              <a:t> are nodes then assembly can be a </a:t>
            </a:r>
            <a:r>
              <a:rPr lang="en-US" i="1" dirty="0"/>
              <a:t>path</a:t>
            </a:r>
            <a:r>
              <a:rPr lang="en-US" dirty="0"/>
              <a:t> that visits all nodes once (or at least once) </a:t>
            </a:r>
          </a:p>
          <a:p>
            <a:endParaRPr lang="en-US" i="1" dirty="0"/>
          </a:p>
          <a:p>
            <a:r>
              <a:rPr lang="en-US" i="1" dirty="0"/>
              <a:t>Hamiltonian path </a:t>
            </a:r>
            <a:r>
              <a:rPr lang="en-US" dirty="0"/>
              <a:t>problem, which is NP-complete (both NP and NP-hard)</a:t>
            </a:r>
          </a:p>
          <a:p>
            <a:endParaRPr lang="en-US" dirty="0"/>
          </a:p>
          <a:p>
            <a:r>
              <a:rPr lang="en-US" dirty="0"/>
              <a:t>Trick - </a:t>
            </a:r>
            <a:r>
              <a:rPr lang="en-US" i="1" dirty="0"/>
              <a:t>let’s make k-</a:t>
            </a:r>
            <a:r>
              <a:rPr lang="en-US" i="1" dirty="0" err="1"/>
              <a:t>mers</a:t>
            </a:r>
            <a:r>
              <a:rPr lang="en-US" i="1" dirty="0"/>
              <a:t> edges</a:t>
            </a:r>
            <a:r>
              <a:rPr lang="en-US" dirty="0"/>
              <a:t>:  then reform a problem as </a:t>
            </a:r>
            <a:r>
              <a:rPr lang="en-US" i="1" dirty="0"/>
              <a:t>Eulerian path </a:t>
            </a:r>
            <a:r>
              <a:rPr lang="en-US" dirty="0"/>
              <a:t>problem (</a:t>
            </a:r>
            <a:r>
              <a:rPr lang="en-US" i="1" dirty="0"/>
              <a:t>trail</a:t>
            </a:r>
            <a:r>
              <a:rPr lang="en-US" dirty="0"/>
              <a:t> that visits each </a:t>
            </a:r>
            <a:r>
              <a:rPr lang="en-US" i="1" dirty="0"/>
              <a:t>edge</a:t>
            </a:r>
            <a:r>
              <a:rPr lang="en-US" dirty="0"/>
              <a:t> once) , which can be solved in linear time</a:t>
            </a:r>
          </a:p>
          <a:p>
            <a:endParaRPr lang="en-US" dirty="0"/>
          </a:p>
          <a:p>
            <a:r>
              <a:rPr lang="en-US" dirty="0"/>
              <a:t>K-1-mers are now nodes, they can be visited more than once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98DE5-B37B-4CAC-B2D9-A1F359E05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433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2B13-4626-5EE6-05C6-64419166C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CCEC9-304B-8B1A-7177-FAAD202A8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DeBruijn graph and K-mer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K-mer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cs typeface="Courier New" panose="02070309020205020404" pitchFamily="49" charset="0"/>
              </a:rPr>
              <a:t>Genome assembly as a </a:t>
            </a:r>
            <a:r>
              <a:rPr lang="en-US" i="1" dirty="0">
                <a:cs typeface="Courier New" panose="02070309020205020404" pitchFamily="49" charset="0"/>
              </a:rPr>
              <a:t>Eulerian path </a:t>
            </a:r>
            <a:r>
              <a:rPr lang="en-US" dirty="0">
                <a:cs typeface="Courier New" panose="02070309020205020404" pitchFamily="49" charset="0"/>
              </a:rPr>
              <a:t>(trail that visits each edge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once</a:t>
            </a:r>
            <a:r>
              <a:rPr lang="en-US" dirty="0">
                <a:cs typeface="Courier New" panose="02070309020205020404" pitchFamily="49" charset="0"/>
              </a:rPr>
              <a:t>)  is </a:t>
            </a:r>
            <a:r>
              <a:rPr lang="en-US" b="1" dirty="0">
                <a:cs typeface="Courier New" panose="02070309020205020404" pitchFamily="49" charset="0"/>
              </a:rPr>
              <a:t>not</a:t>
            </a:r>
            <a:r>
              <a:rPr lang="en-US" dirty="0">
                <a:cs typeface="Courier New" panose="02070309020205020404" pitchFamily="49" charset="0"/>
              </a:rPr>
              <a:t> a practical approach for either, </a:t>
            </a:r>
            <a:r>
              <a:rPr lang="en-US" b="1" dirty="0">
                <a:cs typeface="Courier New" panose="02070309020205020404" pitchFamily="49" charset="0"/>
              </a:rPr>
              <a:t>unless</a:t>
            </a:r>
            <a:r>
              <a:rPr lang="en-US" dirty="0">
                <a:cs typeface="Courier New" panose="02070309020205020404" pitchFamily="49" charset="0"/>
              </a:rPr>
              <a:t>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cs typeface="Courier New" panose="02070309020205020404" pitchFamily="49" charset="0"/>
              </a:rPr>
              <a:t>exact</a:t>
            </a:r>
            <a:r>
              <a:rPr lang="en-US" dirty="0">
                <a:cs typeface="Courier New" panose="02070309020205020404" pitchFamily="49" charset="0"/>
              </a:rPr>
              <a:t> repeat: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DeBruijn graph: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will be all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unique</a:t>
            </a:r>
            <a:r>
              <a:rPr lang="en-US" dirty="0">
                <a:cs typeface="Courier New" panose="02070309020205020404" pitchFamily="49" charset="0"/>
              </a:rPr>
              <a:t> in the assembly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K-mer graph: K+1-mers will be all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unique</a:t>
            </a:r>
            <a:r>
              <a:rPr lang="en-US" dirty="0">
                <a:cs typeface="Courier New" panose="02070309020205020404" pitchFamily="49" charset="0"/>
              </a:rPr>
              <a:t> in the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916750-EA1D-D462-96DD-520AED4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78210C-753B-C811-0F80-3AF7AD4116D0}"/>
              </a:ext>
            </a:extLst>
          </p:cNvPr>
          <p:cNvCxnSpPr>
            <a:cxnSpLocks/>
          </p:cNvCxnSpPr>
          <p:nvPr/>
        </p:nvCxnSpPr>
        <p:spPr>
          <a:xfrm>
            <a:off x="1024758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192BC13-E298-1997-93CA-22C029205FE5}"/>
              </a:ext>
            </a:extLst>
          </p:cNvPr>
          <p:cNvCxnSpPr>
            <a:cxnSpLocks/>
          </p:cNvCxnSpPr>
          <p:nvPr/>
        </p:nvCxnSpPr>
        <p:spPr>
          <a:xfrm>
            <a:off x="2225565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A2C920-F582-7B96-0516-8587157B91C2}"/>
              </a:ext>
            </a:extLst>
          </p:cNvPr>
          <p:cNvCxnSpPr>
            <a:cxnSpLocks/>
          </p:cNvCxnSpPr>
          <p:nvPr/>
        </p:nvCxnSpPr>
        <p:spPr>
          <a:xfrm>
            <a:off x="1024758" y="3614245"/>
            <a:ext cx="12008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32A7C3-48EA-2C0F-BD5E-DBB746B0A030}"/>
              </a:ext>
            </a:extLst>
          </p:cNvPr>
          <p:cNvCxnSpPr>
            <a:cxnSpLocks/>
          </p:cNvCxnSpPr>
          <p:nvPr/>
        </p:nvCxnSpPr>
        <p:spPr>
          <a:xfrm>
            <a:off x="3999187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E0E16-168F-B753-471A-334FAA2A1F59}"/>
              </a:ext>
            </a:extLst>
          </p:cNvPr>
          <p:cNvCxnSpPr>
            <a:cxnSpLocks/>
          </p:cNvCxnSpPr>
          <p:nvPr/>
        </p:nvCxnSpPr>
        <p:spPr>
          <a:xfrm>
            <a:off x="5002926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E928C12-A700-D877-4B2C-620CCA5F3360}"/>
              </a:ext>
            </a:extLst>
          </p:cNvPr>
          <p:cNvCxnSpPr>
            <a:cxnSpLocks/>
          </p:cNvCxnSpPr>
          <p:nvPr/>
        </p:nvCxnSpPr>
        <p:spPr>
          <a:xfrm>
            <a:off x="3999187" y="3614245"/>
            <a:ext cx="10037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09FE73B-6205-A14F-5031-E21F27DD35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344483"/>
              </p:ext>
            </p:extLst>
          </p:nvPr>
        </p:nvGraphicFramePr>
        <p:xfrm>
          <a:off x="7315200" y="1960646"/>
          <a:ext cx="4876800" cy="4522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26C9E51-6373-3CDB-2D97-F2697D7328B7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16122715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116F-A8CD-9BFC-F1FC-7ADBEF619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65CD-BCBF-C537-A500-865E0AAFA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24916-7A57-BAF8-EEF5-A742CBBD5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410D-8104-98B2-72EB-F002184E9098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F17D2C-E771-F40B-7460-24B88D97C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145" y="2927183"/>
            <a:ext cx="8983329" cy="33913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688B68-349E-5B1B-065E-41FDABDE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440" y="1901950"/>
            <a:ext cx="9602540" cy="4477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353B36-72B7-F04C-7F1C-951BE49C77FF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E053E0-FAE4-BA31-AE30-0A8494EDB3DC}"/>
              </a:ext>
            </a:extLst>
          </p:cNvPr>
          <p:cNvSpPr txBox="1"/>
          <p:nvPr/>
        </p:nvSpPr>
        <p:spPr>
          <a:xfrm>
            <a:off x="3838903" y="2617076"/>
            <a:ext cx="6541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DeBruijn graph of 4-mers or K-mer graph of 3-mers</a:t>
            </a:r>
          </a:p>
        </p:txBody>
      </p:sp>
    </p:spTree>
    <p:extLst>
      <p:ext uri="{BB962C8B-B14F-4D97-AF65-F5344CB8AC3E}">
        <p14:creationId xmlns:p14="http://schemas.microsoft.com/office/powerpoint/2010/main" val="39951099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DF8A-EF54-6D2E-BEDE-8F26264C5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Combining OLC and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32ECC-DE1D-1C6D-6F40-FCDDF4D3A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27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Shortcoming of K-mer graph: </a:t>
            </a:r>
          </a:p>
          <a:p>
            <a:pPr lvl="1"/>
            <a:r>
              <a:rPr lang="en-US" dirty="0"/>
              <a:t>repeats that are longer than a K-mer but shorter than a read cause unnecessary ambiguous edges or “forks” in the assembly graph </a:t>
            </a:r>
          </a:p>
          <a:p>
            <a:pPr lvl="1"/>
            <a:r>
              <a:rPr lang="en-US" dirty="0"/>
              <a:t>high memory requirements, not feasible for large genomes</a:t>
            </a:r>
          </a:p>
          <a:p>
            <a:endParaRPr lang="en-US" dirty="0"/>
          </a:p>
          <a:p>
            <a:r>
              <a:rPr lang="en-US" dirty="0"/>
              <a:t>There are also assembly techniques that combine k-mer graph and OLC</a:t>
            </a:r>
          </a:p>
          <a:p>
            <a:endParaRPr lang="en-US" dirty="0"/>
          </a:p>
          <a:p>
            <a:r>
              <a:rPr lang="en-US" i="1" dirty="0"/>
              <a:t>Super-reads</a:t>
            </a:r>
            <a:r>
              <a:rPr lang="en-US" dirty="0"/>
              <a:t> used in MaSuRCA assembler</a:t>
            </a:r>
          </a:p>
          <a:p>
            <a:endParaRPr lang="en-US" dirty="0"/>
          </a:p>
          <a:p>
            <a:r>
              <a:rPr lang="en-US" dirty="0"/>
              <a:t>The idea is to use k-mer graph to extend the reads, preserving K-mer adjacency information to reduce the number of edges in the 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63D49-3886-1122-5595-D01EA2D3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43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</a:rPr>
              <a:t>For read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4535483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1846238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2672074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9988721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70460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91428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C0630-D5AB-125F-7A14-807982E9C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DBBF-B7D2-368E-5212-1C37CEA6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CBF64-E77F-A885-41F1-44F7F2CE6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E18C-D7F2-D756-321D-E0E5F7B1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835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9003-67A8-1F16-9CA6-0C7FEC98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82FF-B642-F653-687B-B898C5C42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BAD71-969A-0178-9BD6-5AE01E2AA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AE129-F14F-31FD-3E7E-A59F27B11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20065-4044-D9CC-CF90-5D8D76A2E631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2243380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3C233-6103-A346-CCD0-E5C41420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D853-6471-635E-C72E-D6FE431C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F56B8-3245-F772-44E1-C12304971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stop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8E7A4-49CA-0CFF-3658-EFAFBC699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B605-5990-5E90-2C0C-739BF84B5B52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75932360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0E6C5-0896-4AE4-1F68-CE442095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A8B69-192B-B71B-472C-B798A490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47F14-F251-F42E-D496-5FDE4C80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FA95F-FC06-5022-3F70-78A5F8E0E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C74DC-4777-4B2C-2BFE-0E8231F096AB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355739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6216-336B-97AD-0B8A-3B23BA4F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CA786-1DA6-FD73-00DD-2EBF342D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B3F50-3FE8-715F-693E-635CA2594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72A9-377C-E107-656E-DFC6629DC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561E2-BF39-0D18-504F-006E206D60D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469696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97F8B-A254-B9F8-EBD1-6D322D9E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D025-3491-694C-FCEE-CC3D0CCF7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EEAD1-849B-2437-9AF1-9FF5A99CE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634A-4526-E427-349C-C6790EB9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BB1F7-7BC8-3C94-A302-AA80E5E66D65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8663253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4815-A0C4-3280-2526-B6F8BDD2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EE0E9-E890-BE05-27F7-740FA9706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2ADB1-6186-8E55-4C6F-925EE2B00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966C7-B4C1-9615-292A-B7FD6DF5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1D9B5-0C45-A7CD-D101-4719D78C112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5214075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E24D-2EE2-99BD-B2A9-C4AF2F09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BABF-ECB4-D93C-6EAD-D31AB5EC8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752B-03CE-FC7F-C76C-2F42AC114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B314B-C341-2143-87C8-5BA76F9E0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8018-08DC-0D11-FB64-003ED73505B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37766091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57180-4AC9-CB36-0992-DB6961D7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9F4D-2AEF-E97D-DA67-9F50CC07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EE0A0-4398-10B0-26E8-4EA16339A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24FA-05B9-289C-6C14-2CA6446D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E0BCE-2B2D-5A33-C77B-D6A85B29569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17743584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2E979-61DB-874E-2A78-EDA3402D2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B157-8618-8C86-72AB-EAA7EADB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E4CF0-22E3-92E7-376A-25E78BA6B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AD47-F833-D7DB-68F0-9F88D18C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A5EAD-682A-4C84-BF64-BDB3C01AE5C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6662226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2129-792E-3E0F-5273-57997942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7DD63-9FDD-A907-97AB-E461FC9A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55808-8DD5-7581-7D92-A90F99F09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B8B4-81C6-CE19-C61C-6645925EB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18BA6A-427D-2EBE-4161-0952446AAF0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697260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3988-616C-184B-D54D-DF36AE4D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357B-EE78-FAC8-EC98-F167E6915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F8AF-33F5-E17B-472A-1FE7B5993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5A884-2423-7A20-BD0F-C02B5809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C43239-3C2E-3718-21E1-495438602E7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428342116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0BE8-9BBF-BD23-9EA4-5D7F7EF8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D89C-C501-D650-B27A-DDED45B9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BAC60-804A-76C9-CE36-4CC4533CD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2698-981F-EF22-AF86-8828BD04D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1C9FE5-1193-A9E6-5810-8CEF7976FDBF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8106176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6BA9A-095D-AD0E-7B38-5AE9D2FC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15E56-8406-7A94-75C2-6AEC8DAA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27D-212E-92A7-C1E4-7E2B160F1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ER1:AAACATAAA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ER4:AAAAGACGAAA</a:t>
            </a:r>
            <a:b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ER5:AAAAGACGAAA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C588E-0921-D8CB-9654-C51F97955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3C6B1-E970-381F-3E92-3AB78A62F355}"/>
              </a:ext>
            </a:extLst>
          </p:cNvPr>
          <p:cNvSpPr txBox="1"/>
          <p:nvPr/>
        </p:nvSpPr>
        <p:spPr>
          <a:xfrm>
            <a:off x="1853" y="5874635"/>
            <a:ext cx="91652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Reduced the number of reads from 7 to 4.</a:t>
            </a:r>
          </a:p>
          <a:p>
            <a:r>
              <a:rPr lang="en-US" sz="2800" dirty="0"/>
              <a:t>In real data one can reduce ~50B reads to ~100M super-reads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25722D-65CA-47B5-E5A0-6CEF541171B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67986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50E12-BBC0-C9A5-3064-37487059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940E0-2B25-C1A2-A12C-678963502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Super-reads can be assembled with OLC or K-mer graph</a:t>
            </a:r>
          </a:p>
          <a:p>
            <a:pPr lvl="1"/>
            <a:r>
              <a:rPr lang="en-US" dirty="0"/>
              <a:t>Can use longer K</a:t>
            </a:r>
          </a:p>
          <a:p>
            <a:pPr lvl="1"/>
            <a:r>
              <a:rPr lang="en-US" dirty="0"/>
              <a:t>Easy to overlap – k-</a:t>
            </a:r>
            <a:r>
              <a:rPr lang="en-US" dirty="0" err="1"/>
              <a:t>mers</a:t>
            </a:r>
            <a:r>
              <a:rPr lang="en-US" dirty="0"/>
              <a:t> on the ends can be recorded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4D0D6-08AA-3F55-67BF-2671FE9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7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12860</TotalTime>
  <Words>4735</Words>
  <Application>Microsoft Office PowerPoint</Application>
  <PresentationFormat>Widescreen</PresentationFormat>
  <Paragraphs>894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0" baseType="lpstr">
      <vt:lpstr>Arial</vt:lpstr>
      <vt:lpstr>Calibri</vt:lpstr>
      <vt:lpstr>Courier New</vt:lpstr>
      <vt:lpstr>Trebuchet MS</vt:lpstr>
      <vt:lpstr>Office Theme</vt:lpstr>
      <vt:lpstr>PowerPoint Presentation</vt:lpstr>
      <vt:lpstr>Lab #3: Burrows-Wheeler Alignment</vt:lpstr>
      <vt:lpstr>Lab #3: Burrows-Wheeler Alignment</vt:lpstr>
      <vt:lpstr>Choosing the right sequencing strategy</vt:lpstr>
      <vt:lpstr>Assembly levels</vt:lpstr>
      <vt:lpstr>Genome assembly strategies</vt:lpstr>
      <vt:lpstr>Overlap-Layout-Consensus</vt:lpstr>
      <vt:lpstr>Overlap</vt:lpstr>
      <vt:lpstr>Recording an overlap</vt:lpstr>
      <vt:lpstr>Overlap is not an alignment</vt:lpstr>
      <vt:lpstr>OLC strategies: Greedy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OLC strategies: String graph</vt:lpstr>
      <vt:lpstr>OLC strategies: String graph</vt:lpstr>
      <vt:lpstr>OLC strategies: String graph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Consensus</vt:lpstr>
      <vt:lpstr>Computing consensus sequence</vt:lpstr>
      <vt:lpstr>Computing consensus sequence</vt:lpstr>
      <vt:lpstr>Computing consensus sequence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Properties of the k-mer graph</vt:lpstr>
      <vt:lpstr>K-unitigs</vt:lpstr>
      <vt:lpstr>K-unitigs</vt:lpstr>
      <vt:lpstr>K-unitigs</vt:lpstr>
      <vt:lpstr>K-unitigs</vt:lpstr>
      <vt:lpstr>K-unitigs</vt:lpstr>
      <vt:lpstr>K-unitigs</vt:lpstr>
      <vt:lpstr>K-unitigs</vt:lpstr>
      <vt:lpstr>Why DeBruijn of K-mer graph?</vt:lpstr>
      <vt:lpstr>DeBruijn graph vs K-mer graph</vt:lpstr>
      <vt:lpstr>K-mer graph</vt:lpstr>
      <vt:lpstr>Combining OLC and K-mer graph</vt:lpstr>
      <vt:lpstr>Super-reads</vt:lpstr>
      <vt:lpstr>Super-reads</vt:lpstr>
      <vt:lpstr>Super-reads</vt:lpstr>
      <vt:lpstr>Super-reads</vt:lpstr>
      <vt:lpstr>Super-reads</vt:lpstr>
      <vt:lpstr>Super-reads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Super-reads assembly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46</cp:revision>
  <dcterms:created xsi:type="dcterms:W3CDTF">2013-08-21T19:17:07Z</dcterms:created>
  <dcterms:modified xsi:type="dcterms:W3CDTF">2026-09-28T14:44:35Z</dcterms:modified>
</cp:coreProperties>
</file>