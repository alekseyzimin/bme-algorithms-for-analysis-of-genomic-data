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72" r:id="rId2"/>
    <p:sldId id="467" r:id="rId3"/>
    <p:sldId id="468" r:id="rId4"/>
    <p:sldId id="490" r:id="rId5"/>
    <p:sldId id="491" r:id="rId6"/>
    <p:sldId id="469" r:id="rId7"/>
    <p:sldId id="470" r:id="rId8"/>
    <p:sldId id="471" r:id="rId9"/>
    <p:sldId id="472" r:id="rId10"/>
    <p:sldId id="493" r:id="rId11"/>
    <p:sldId id="473" r:id="rId12"/>
    <p:sldId id="488" r:id="rId13"/>
    <p:sldId id="489" r:id="rId14"/>
    <p:sldId id="492" r:id="rId15"/>
    <p:sldId id="399" r:id="rId16"/>
    <p:sldId id="400" r:id="rId17"/>
    <p:sldId id="259" r:id="rId18"/>
    <p:sldId id="477" r:id="rId19"/>
    <p:sldId id="602" r:id="rId20"/>
    <p:sldId id="478" r:id="rId21"/>
    <p:sldId id="481" r:id="rId22"/>
    <p:sldId id="482" r:id="rId23"/>
    <p:sldId id="484" r:id="rId24"/>
    <p:sldId id="483" r:id="rId25"/>
    <p:sldId id="485" r:id="rId26"/>
    <p:sldId id="486" r:id="rId27"/>
    <p:sldId id="487" r:id="rId28"/>
    <p:sldId id="569" r:id="rId29"/>
    <p:sldId id="511" r:id="rId30"/>
    <p:sldId id="546" r:id="rId31"/>
    <p:sldId id="547" r:id="rId32"/>
    <p:sldId id="553" r:id="rId33"/>
    <p:sldId id="556" r:id="rId34"/>
    <p:sldId id="557" r:id="rId35"/>
    <p:sldId id="507" r:id="rId36"/>
    <p:sldId id="513" r:id="rId37"/>
    <p:sldId id="512" r:id="rId38"/>
    <p:sldId id="514" r:id="rId39"/>
    <p:sldId id="591" r:id="rId40"/>
    <p:sldId id="592" r:id="rId41"/>
    <p:sldId id="593" r:id="rId42"/>
    <p:sldId id="594" r:id="rId43"/>
    <p:sldId id="595" r:id="rId44"/>
    <p:sldId id="596" r:id="rId45"/>
    <p:sldId id="597" r:id="rId46"/>
    <p:sldId id="598" r:id="rId47"/>
    <p:sldId id="599" r:id="rId48"/>
    <p:sldId id="600" r:id="rId49"/>
    <p:sldId id="601" r:id="rId50"/>
    <p:sldId id="523" r:id="rId51"/>
    <p:sldId id="568" r:id="rId52"/>
    <p:sldId id="526" r:id="rId53"/>
    <p:sldId id="558" r:id="rId54"/>
    <p:sldId id="57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21CA77-01A5-40B0-89EC-1D386252E4FE}" v="15" dt="2026-09-09T18:00:48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F359FD6-B8E9-41DA-90EC-0BA4FD0F3073}"/>
    <pc:docChg chg="custSel addSld delSld modSld sldOrd">
      <pc:chgData name="Aleksey Zimin" userId="7f2637d0bc515791" providerId="LiveId" clId="{5F359FD6-B8E9-41DA-90EC-0BA4FD0F3073}" dt="2026-09-09T18:05:37.248" v="356" actId="20577"/>
      <pc:docMkLst>
        <pc:docMk/>
      </pc:docMkLst>
      <pc:sldChg chg="modSp mod">
        <pc:chgData name="Aleksey Zimin" userId="7f2637d0bc515791" providerId="LiveId" clId="{5F359FD6-B8E9-41DA-90EC-0BA4FD0F3073}" dt="2026-09-09T17:33:27.767" v="3" actId="115"/>
        <pc:sldMkLst>
          <pc:docMk/>
          <pc:sldMk cId="3499796880" sldId="399"/>
        </pc:sldMkLst>
        <pc:spChg chg="mod">
          <ac:chgData name="Aleksey Zimin" userId="7f2637d0bc515791" providerId="LiveId" clId="{5F359FD6-B8E9-41DA-90EC-0BA4FD0F3073}" dt="2026-09-09T17:33:27.767" v="3" actId="115"/>
          <ac:spMkLst>
            <pc:docMk/>
            <pc:sldMk cId="3499796880" sldId="399"/>
            <ac:spMk id="3" creationId="{D08A7DB0-B730-9261-57CC-67327D0169EA}"/>
          </ac:spMkLst>
        </pc:spChg>
      </pc:sldChg>
      <pc:sldChg chg="addSp modSp mod modAnim">
        <pc:chgData name="Aleksey Zimin" userId="7f2637d0bc515791" providerId="LiveId" clId="{5F359FD6-B8E9-41DA-90EC-0BA4FD0F3073}" dt="2026-09-09T17:42:58.734" v="201"/>
        <pc:sldMkLst>
          <pc:docMk/>
          <pc:sldMk cId="1141752944" sldId="477"/>
        </pc:sldMkLst>
        <pc:spChg chg="mod">
          <ac:chgData name="Aleksey Zimin" userId="7f2637d0bc515791" providerId="LiveId" clId="{5F359FD6-B8E9-41DA-90EC-0BA4FD0F3073}" dt="2026-09-09T17:42:21.615" v="198" actId="114"/>
          <ac:spMkLst>
            <pc:docMk/>
            <pc:sldMk cId="1141752944" sldId="477"/>
            <ac:spMk id="3" creationId="{10E9D41B-B306-CD8B-FB9D-C94A43D6DAE4}"/>
          </ac:spMkLst>
        </pc:spChg>
        <pc:spChg chg="add mod">
          <ac:chgData name="Aleksey Zimin" userId="7f2637d0bc515791" providerId="LiveId" clId="{5F359FD6-B8E9-41DA-90EC-0BA4FD0F3073}" dt="2026-09-09T17:38:40.169" v="88" actId="20577"/>
          <ac:spMkLst>
            <pc:docMk/>
            <pc:sldMk cId="1141752944" sldId="477"/>
            <ac:spMk id="9" creationId="{0F9BED86-13F1-3CD4-599F-4CE640D75906}"/>
          </ac:spMkLst>
        </pc:spChg>
        <pc:spChg chg="add mod">
          <ac:chgData name="Aleksey Zimin" userId="7f2637d0bc515791" providerId="LiveId" clId="{5F359FD6-B8E9-41DA-90EC-0BA4FD0F3073}" dt="2026-09-09T17:39:02.445" v="114" actId="1076"/>
          <ac:spMkLst>
            <pc:docMk/>
            <pc:sldMk cId="1141752944" sldId="477"/>
            <ac:spMk id="11" creationId="{0C685E60-5BDB-39A6-4615-6EA623B7F334}"/>
          </ac:spMkLst>
        </pc:spChg>
        <pc:spChg chg="add mod">
          <ac:chgData name="Aleksey Zimin" userId="7f2637d0bc515791" providerId="LiveId" clId="{5F359FD6-B8E9-41DA-90EC-0BA4FD0F3073}" dt="2026-09-09T17:39:14.825" v="137" actId="20577"/>
          <ac:spMkLst>
            <pc:docMk/>
            <pc:sldMk cId="1141752944" sldId="477"/>
            <ac:spMk id="13" creationId="{62D88927-5CC1-FD0D-E0DD-60F1A1705EC2}"/>
          </ac:spMkLst>
        </pc:spChg>
        <pc:picChg chg="add mod">
          <ac:chgData name="Aleksey Zimin" userId="7f2637d0bc515791" providerId="LiveId" clId="{5F359FD6-B8E9-41DA-90EC-0BA4FD0F3073}" dt="2026-09-09T17:35:38.485" v="7" actId="1076"/>
          <ac:picMkLst>
            <pc:docMk/>
            <pc:sldMk cId="1141752944" sldId="477"/>
            <ac:picMk id="6" creationId="{C345A576-4A99-F7D6-7E88-4910D26E0CF6}"/>
          </ac:picMkLst>
        </pc:picChg>
        <pc:picChg chg="add mod">
          <ac:chgData name="Aleksey Zimin" userId="7f2637d0bc515791" providerId="LiveId" clId="{5F359FD6-B8E9-41DA-90EC-0BA4FD0F3073}" dt="2026-09-09T17:36:31.973" v="10" actId="1076"/>
          <ac:picMkLst>
            <pc:docMk/>
            <pc:sldMk cId="1141752944" sldId="477"/>
            <ac:picMk id="8" creationId="{D33D9FEC-F4FC-D11F-88C4-0DDA375BA4FE}"/>
          </ac:picMkLst>
        </pc:picChg>
      </pc:sldChg>
      <pc:sldChg chg="addSp delSp modSp mod">
        <pc:chgData name="Aleksey Zimin" userId="7f2637d0bc515791" providerId="LiveId" clId="{5F359FD6-B8E9-41DA-90EC-0BA4FD0F3073}" dt="2026-09-09T18:01:04.303" v="348" actId="478"/>
        <pc:sldMkLst>
          <pc:docMk/>
          <pc:sldMk cId="871696977" sldId="478"/>
        </pc:sldMkLst>
        <pc:spChg chg="mod">
          <ac:chgData name="Aleksey Zimin" userId="7f2637d0bc515791" providerId="LiveId" clId="{5F359FD6-B8E9-41DA-90EC-0BA4FD0F3073}" dt="2026-09-09T17:58:07.635" v="286" actId="20577"/>
          <ac:spMkLst>
            <pc:docMk/>
            <pc:sldMk cId="871696977" sldId="478"/>
            <ac:spMk id="10" creationId="{11409361-393C-723D-1449-DA50768B27A6}"/>
          </ac:spMkLst>
        </pc:spChg>
        <pc:graphicFrameChg chg="add del mod modGraphic">
          <ac:chgData name="Aleksey Zimin" userId="7f2637d0bc515791" providerId="LiveId" clId="{5F359FD6-B8E9-41DA-90EC-0BA4FD0F3073}" dt="2026-09-09T18:01:04.303" v="348" actId="478"/>
          <ac:graphicFrameMkLst>
            <pc:docMk/>
            <pc:sldMk cId="871696977" sldId="478"/>
            <ac:graphicFrameMk id="19" creationId="{E9C0203D-AD15-C091-E590-A7B836695B60}"/>
          </ac:graphicFrameMkLst>
        </pc:graphicFrameChg>
        <pc:picChg chg="add del mod">
          <ac:chgData name="Aleksey Zimin" userId="7f2637d0bc515791" providerId="LiveId" clId="{5F359FD6-B8E9-41DA-90EC-0BA4FD0F3073}" dt="2026-09-09T17:58:10.304" v="287" actId="478"/>
          <ac:picMkLst>
            <pc:docMk/>
            <pc:sldMk cId="871696977" sldId="478"/>
            <ac:picMk id="18" creationId="{81D62C84-A8A7-375E-9C5F-20BB5BBD3577}"/>
          </ac:picMkLst>
        </pc:picChg>
        <pc:picChg chg="add del">
          <ac:chgData name="Aleksey Zimin" userId="7f2637d0bc515791" providerId="LiveId" clId="{5F359FD6-B8E9-41DA-90EC-0BA4FD0F3073}" dt="2026-09-09T18:00:17.651" v="339" actId="478"/>
          <ac:picMkLst>
            <pc:docMk/>
            <pc:sldMk cId="871696977" sldId="478"/>
            <ac:picMk id="21" creationId="{08179CB7-8237-99FA-16E9-FC7673CD4A77}"/>
          </ac:picMkLst>
        </pc:picChg>
        <pc:cxnChg chg="add mod">
          <ac:chgData name="Aleksey Zimin" userId="7f2637d0bc515791" providerId="LiveId" clId="{5F359FD6-B8E9-41DA-90EC-0BA4FD0F3073}" dt="2026-09-09T17:46:58.056" v="235" actId="13822"/>
          <ac:cxnSpMkLst>
            <pc:docMk/>
            <pc:sldMk cId="871696977" sldId="478"/>
            <ac:cxnSpMk id="5" creationId="{0B4CD621-AB8B-8DB0-A79E-1AB72E1FBDB2}"/>
          </ac:cxnSpMkLst>
        </pc:cxnChg>
        <pc:cxnChg chg="add mod">
          <ac:chgData name="Aleksey Zimin" userId="7f2637d0bc515791" providerId="LiveId" clId="{5F359FD6-B8E9-41DA-90EC-0BA4FD0F3073}" dt="2026-09-09T17:55:52.761" v="280" actId="1076"/>
          <ac:cxnSpMkLst>
            <pc:docMk/>
            <pc:sldMk cId="871696977" sldId="478"/>
            <ac:cxnSpMk id="6" creationId="{3C651B07-367F-ACCE-5249-EEC9AE3BFBD2}"/>
          </ac:cxnSpMkLst>
        </pc:cxnChg>
        <pc:cxnChg chg="add mod">
          <ac:chgData name="Aleksey Zimin" userId="7f2637d0bc515791" providerId="LiveId" clId="{5F359FD6-B8E9-41DA-90EC-0BA4FD0F3073}" dt="2026-09-09T17:55:49.241" v="279" actId="1076"/>
          <ac:cxnSpMkLst>
            <pc:docMk/>
            <pc:sldMk cId="871696977" sldId="478"/>
            <ac:cxnSpMk id="7" creationId="{34E01392-65D9-904C-9D29-EDBDB465DB79}"/>
          </ac:cxnSpMkLst>
        </pc:cxnChg>
        <pc:cxnChg chg="add mod">
          <ac:chgData name="Aleksey Zimin" userId="7f2637d0bc515791" providerId="LiveId" clId="{5F359FD6-B8E9-41DA-90EC-0BA4FD0F3073}" dt="2026-09-09T17:47:37.348" v="242" actId="1076"/>
          <ac:cxnSpMkLst>
            <pc:docMk/>
            <pc:sldMk cId="871696977" sldId="478"/>
            <ac:cxnSpMk id="8" creationId="{4448ABAC-7EBF-7F1F-C65B-8A18E2E1C8BF}"/>
          </ac:cxnSpMkLst>
        </pc:cxnChg>
        <pc:cxnChg chg="add mod">
          <ac:chgData name="Aleksey Zimin" userId="7f2637d0bc515791" providerId="LiveId" clId="{5F359FD6-B8E9-41DA-90EC-0BA4FD0F3073}" dt="2026-09-09T17:55:45.417" v="277" actId="1076"/>
          <ac:cxnSpMkLst>
            <pc:docMk/>
            <pc:sldMk cId="871696977" sldId="478"/>
            <ac:cxnSpMk id="11" creationId="{926036A5-6621-E540-745D-C225859C70FE}"/>
          </ac:cxnSpMkLst>
        </pc:cxnChg>
        <pc:cxnChg chg="add mod">
          <ac:chgData name="Aleksey Zimin" userId="7f2637d0bc515791" providerId="LiveId" clId="{5F359FD6-B8E9-41DA-90EC-0BA4FD0F3073}" dt="2026-09-09T17:55:47.177" v="278" actId="1076"/>
          <ac:cxnSpMkLst>
            <pc:docMk/>
            <pc:sldMk cId="871696977" sldId="478"/>
            <ac:cxnSpMk id="13" creationId="{DC49AFFA-3356-C649-F60B-49D7F93607B5}"/>
          </ac:cxnSpMkLst>
        </pc:cxnChg>
        <pc:cxnChg chg="add del mod">
          <ac:chgData name="Aleksey Zimin" userId="7f2637d0bc515791" providerId="LiveId" clId="{5F359FD6-B8E9-41DA-90EC-0BA4FD0F3073}" dt="2026-09-09T17:53:58.977" v="254" actId="478"/>
          <ac:cxnSpMkLst>
            <pc:docMk/>
            <pc:sldMk cId="871696977" sldId="478"/>
            <ac:cxnSpMk id="15" creationId="{6D31973F-FAA5-8AEB-74B5-1EA01682BB05}"/>
          </ac:cxnSpMkLst>
        </pc:cxnChg>
        <pc:cxnChg chg="add mod">
          <ac:chgData name="Aleksey Zimin" userId="7f2637d0bc515791" providerId="LiveId" clId="{5F359FD6-B8E9-41DA-90EC-0BA4FD0F3073}" dt="2026-09-09T17:52:01.243" v="252" actId="1076"/>
          <ac:cxnSpMkLst>
            <pc:docMk/>
            <pc:sldMk cId="871696977" sldId="478"/>
            <ac:cxnSpMk id="16" creationId="{5FC5599D-8515-F0BA-2744-AA0C3C627553}"/>
          </ac:cxnSpMkLst>
        </pc:cxnChg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3792863760" sldId="507"/>
        </pc:sldMkLst>
      </pc:sldChg>
      <pc:sldChg chg="modSp add mod">
        <pc:chgData name="Aleksey Zimin" userId="7f2637d0bc515791" providerId="LiveId" clId="{5F359FD6-B8E9-41DA-90EC-0BA4FD0F3073}" dt="2026-09-09T18:04:39.666" v="350" actId="115"/>
        <pc:sldMkLst>
          <pc:docMk/>
          <pc:sldMk cId="2553610431" sldId="511"/>
        </pc:sldMkLst>
        <pc:spChg chg="mod">
          <ac:chgData name="Aleksey Zimin" userId="7f2637d0bc515791" providerId="LiveId" clId="{5F359FD6-B8E9-41DA-90EC-0BA4FD0F3073}" dt="2026-09-09T18:04:39.666" v="350" actId="115"/>
          <ac:spMkLst>
            <pc:docMk/>
            <pc:sldMk cId="2553610431" sldId="511"/>
            <ac:spMk id="3" creationId="{6DA8EA48-CBB3-7385-C2F3-9314513B9812}"/>
          </ac:spMkLst>
        </pc:spChg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031262088" sldId="512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269627095" sldId="513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872650003" sldId="514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3390149621" sldId="523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276986234" sldId="526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888402848" sldId="546"/>
        </pc:sldMkLst>
      </pc:sldChg>
      <pc:sldChg chg="modSp add mod">
        <pc:chgData name="Aleksey Zimin" userId="7f2637d0bc515791" providerId="LiveId" clId="{5F359FD6-B8E9-41DA-90EC-0BA4FD0F3073}" dt="2026-09-09T18:05:37.248" v="356" actId="20577"/>
        <pc:sldMkLst>
          <pc:docMk/>
          <pc:sldMk cId="3427682825" sldId="547"/>
        </pc:sldMkLst>
        <pc:spChg chg="mod">
          <ac:chgData name="Aleksey Zimin" userId="7f2637d0bc515791" providerId="LiveId" clId="{5F359FD6-B8E9-41DA-90EC-0BA4FD0F3073}" dt="2026-09-09T18:05:37.248" v="356" actId="20577"/>
          <ac:spMkLst>
            <pc:docMk/>
            <pc:sldMk cId="3427682825" sldId="547"/>
            <ac:spMk id="7" creationId="{E6B04B52-F418-F2BA-8889-666480AB888C}"/>
          </ac:spMkLst>
        </pc:spChg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709966318" sldId="553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3495650733" sldId="556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3631780251" sldId="557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047431818" sldId="558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402778499" sldId="568"/>
        </pc:sldMkLst>
      </pc:sldChg>
      <pc:sldChg chg="modSp add mod">
        <pc:chgData name="Aleksey Zimin" userId="7f2637d0bc515791" providerId="LiveId" clId="{5F359FD6-B8E9-41DA-90EC-0BA4FD0F3073}" dt="2026-09-09T18:04:06.264" v="349" actId="33524"/>
        <pc:sldMkLst>
          <pc:docMk/>
          <pc:sldMk cId="1547857595" sldId="569"/>
        </pc:sldMkLst>
        <pc:spChg chg="mod">
          <ac:chgData name="Aleksey Zimin" userId="7f2637d0bc515791" providerId="LiveId" clId="{5F359FD6-B8E9-41DA-90EC-0BA4FD0F3073}" dt="2026-09-09T18:04:06.264" v="349" actId="33524"/>
          <ac:spMkLst>
            <pc:docMk/>
            <pc:sldMk cId="1547857595" sldId="569"/>
            <ac:spMk id="3" creationId="{7A96AF36-04A2-FCFE-A6EC-5DD8D73DE073}"/>
          </ac:spMkLst>
        </pc:spChg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4184413753" sldId="570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2496188052" sldId="591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2120271698" sldId="592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4092878095" sldId="593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2806797308" sldId="594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323442977" sldId="595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491746325" sldId="596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973595494" sldId="597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663875117" sldId="598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3634270695" sldId="599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2490369365" sldId="600"/>
        </pc:sldMkLst>
      </pc:sldChg>
      <pc:sldChg chg="add">
        <pc:chgData name="Aleksey Zimin" userId="7f2637d0bc515791" providerId="LiveId" clId="{5F359FD6-B8E9-41DA-90EC-0BA4FD0F3073}" dt="2026-09-04T13:40:58.879" v="0"/>
        <pc:sldMkLst>
          <pc:docMk/>
          <pc:sldMk cId="104986636" sldId="601"/>
        </pc:sldMkLst>
      </pc:sldChg>
      <pc:sldChg chg="delSp modSp add mod ord modAnim">
        <pc:chgData name="Aleksey Zimin" userId="7f2637d0bc515791" providerId="LiveId" clId="{5F359FD6-B8E9-41DA-90EC-0BA4FD0F3073}" dt="2026-09-09T18:00:59.509" v="347"/>
        <pc:sldMkLst>
          <pc:docMk/>
          <pc:sldMk cId="1606322878" sldId="602"/>
        </pc:sldMkLst>
        <pc:spChg chg="mod">
          <ac:chgData name="Aleksey Zimin" userId="7f2637d0bc515791" providerId="LiveId" clId="{5F359FD6-B8E9-41DA-90EC-0BA4FD0F3073}" dt="2026-09-09T18:00:31.767" v="341" actId="6549"/>
          <ac:spMkLst>
            <pc:docMk/>
            <pc:sldMk cId="1606322878" sldId="602"/>
            <ac:spMk id="10" creationId="{02620E3F-5FA0-5AEB-75FF-E65ADBB79F8B}"/>
          </ac:spMkLst>
        </pc:spChg>
        <pc:graphicFrameChg chg="mod">
          <ac:chgData name="Aleksey Zimin" userId="7f2637d0bc515791" providerId="LiveId" clId="{5F359FD6-B8E9-41DA-90EC-0BA4FD0F3073}" dt="2026-09-09T18:00:43.672" v="344" actId="1076"/>
          <ac:graphicFrameMkLst>
            <pc:docMk/>
            <pc:sldMk cId="1606322878" sldId="602"/>
            <ac:graphicFrameMk id="19" creationId="{4BC113A5-445F-947A-0CE6-0435812544B1}"/>
          </ac:graphicFrameMkLst>
        </pc:graphicFrameChg>
        <pc:cxnChg chg="del">
          <ac:chgData name="Aleksey Zimin" userId="7f2637d0bc515791" providerId="LiveId" clId="{5F359FD6-B8E9-41DA-90EC-0BA4FD0F3073}" dt="2026-09-09T18:00:33.464" v="342" actId="478"/>
          <ac:cxnSpMkLst>
            <pc:docMk/>
            <pc:sldMk cId="1606322878" sldId="602"/>
            <ac:cxnSpMk id="11" creationId="{7AEC80F9-8619-188A-0075-C5D8CE7DE1E3}"/>
          </ac:cxnSpMkLst>
        </pc:cxnChg>
        <pc:cxnChg chg="del">
          <ac:chgData name="Aleksey Zimin" userId="7f2637d0bc515791" providerId="LiveId" clId="{5F359FD6-B8E9-41DA-90EC-0BA4FD0F3073}" dt="2026-09-09T18:00:34.356" v="343" actId="478"/>
          <ac:cxnSpMkLst>
            <pc:docMk/>
            <pc:sldMk cId="1606322878" sldId="602"/>
            <ac:cxnSpMk id="13" creationId="{83E2A0F7-530E-A7CC-ED5C-2063FC913C98}"/>
          </ac:cxnSpMkLst>
        </pc:cxnChg>
      </pc:sldChg>
      <pc:sldChg chg="addSp modSp new del mod">
        <pc:chgData name="Aleksey Zimin" userId="7f2637d0bc515791" providerId="LiveId" clId="{5F359FD6-B8E9-41DA-90EC-0BA4FD0F3073}" dt="2026-09-09T17:45:25.725" v="232" actId="47"/>
        <pc:sldMkLst>
          <pc:docMk/>
          <pc:sldMk cId="3998688690" sldId="602"/>
        </pc:sldMkLst>
        <pc:spChg chg="mod">
          <ac:chgData name="Aleksey Zimin" userId="7f2637d0bc515791" providerId="LiveId" clId="{5F359FD6-B8E9-41DA-90EC-0BA4FD0F3073}" dt="2026-09-09T17:43:32.795" v="217" actId="20577"/>
          <ac:spMkLst>
            <pc:docMk/>
            <pc:sldMk cId="3998688690" sldId="602"/>
            <ac:spMk id="2" creationId="{15E853AD-E4F0-4C81-CF9D-5DA4FCE0B143}"/>
          </ac:spMkLst>
        </pc:spChg>
        <pc:spChg chg="mod">
          <ac:chgData name="Aleksey Zimin" userId="7f2637d0bc515791" providerId="LiveId" clId="{5F359FD6-B8E9-41DA-90EC-0BA4FD0F3073}" dt="2026-09-09T17:44:16.972" v="230" actId="14100"/>
          <ac:spMkLst>
            <pc:docMk/>
            <pc:sldMk cId="3998688690" sldId="602"/>
            <ac:spMk id="3" creationId="{76E88D26-5929-4F4C-009B-447C982D1595}"/>
          </ac:spMkLst>
        </pc:spChg>
        <pc:picChg chg="add">
          <ac:chgData name="Aleksey Zimin" userId="7f2637d0bc515791" providerId="LiveId" clId="{5F359FD6-B8E9-41DA-90EC-0BA4FD0F3073}" dt="2026-09-09T17:44:18.576" v="231" actId="22"/>
          <ac:picMkLst>
            <pc:docMk/>
            <pc:sldMk cId="3998688690" sldId="602"/>
            <ac:picMk id="6" creationId="{72709020-41BB-4CE4-FD45-48A631183D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</a:t>
            </a:r>
          </a:p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>
                <a:solidFill>
                  <a:srgbClr val="BE0260"/>
                </a:solidFill>
              </a:rPr>
              <a:t>Week 2</a:t>
            </a:r>
            <a:endParaRPr lang="en-US" sz="3200" b="1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Alexey V. Zimin</a:t>
            </a:r>
            <a:br>
              <a:rPr lang="en-US" sz="2400"/>
            </a:br>
            <a:r>
              <a:rPr lang="en-US" sz="2400"/>
              <a:t> </a:t>
            </a:r>
          </a:p>
          <a:p>
            <a:pPr algn="just"/>
            <a:r>
              <a:rPr lang="en-US" sz="2400"/>
              <a:t>JHU BME 580.417/707</a:t>
            </a:r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E8048-853D-750E-31B1-9792C522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27AD-2A84-2B14-5AEE-2D5A9B63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D79CF-5916-9E01-4001-3B0D9D86E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/>
              <a:t>Coverage refers to redundancy in sequencing data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Commonly expressed as &lt;number&gt;x, such as 20x, 30x, etc.</a:t>
            </a:r>
          </a:p>
          <a:p>
            <a:r>
              <a:rPr lang="en-US"/>
              <a:t>For paired reads one can compute coverage by reads and coverage by fragments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4EA5-3C41-BDF0-1BAC-61FF965F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C3B42-F3B3-057A-4515-B6C4F28F87A2}"/>
                  </a:ext>
                </a:extLst>
              </p:cNvPr>
              <p:cNvSpPr txBox="1"/>
              <p:nvPr/>
            </p:nvSpPr>
            <p:spPr>
              <a:xfrm>
                <a:off x="1820260" y="2360065"/>
                <a:ext cx="6603526" cy="8935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𝑠𝑒𝑞𝑢𝑒𝑛𝑐𝑒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𝑟𝑒𝑎𝑑𝑠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𝐸𝑠𝑡𝑖𝑚𝑎𝑡𝑒𝑑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𝑔𝑒𝑛𝑜𝑚𝑒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</m:den>
                      </m:f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C3B42-F3B3-057A-4515-B6C4F28F8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60" y="2360065"/>
                <a:ext cx="6603526" cy="8935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769C53-BB5D-04DE-ECE6-CE28B6B650F7}"/>
              </a:ext>
            </a:extLst>
          </p:cNvPr>
          <p:cNvSpPr txBox="1"/>
          <p:nvPr/>
        </p:nvSpPr>
        <p:spPr>
          <a:xfrm>
            <a:off x="2657881" y="56206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AGATAGACATA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GACATAGACAGATACACTCGATCG</a:t>
            </a:r>
            <a:b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TCTATCTGTATCTGTATCTGTCTA</a:t>
            </a:r>
            <a:r>
              <a:rPr lang="en-US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TGTGAGCTAGC</a:t>
            </a:r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1AEFE09-0CE7-6350-1F6B-4EA50667C292}"/>
              </a:ext>
            </a:extLst>
          </p:cNvPr>
          <p:cNvSpPr/>
          <p:nvPr/>
        </p:nvSpPr>
        <p:spPr>
          <a:xfrm rot="5400000">
            <a:off x="3389292" y="4854483"/>
            <a:ext cx="226801" cy="15324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96AEB04B-813C-B78A-DACF-D61D2A6B021E}"/>
              </a:ext>
            </a:extLst>
          </p:cNvPr>
          <p:cNvSpPr/>
          <p:nvPr/>
        </p:nvSpPr>
        <p:spPr>
          <a:xfrm rot="5400000" flipH="1">
            <a:off x="6663394" y="5586252"/>
            <a:ext cx="239557" cy="1374346"/>
          </a:xfrm>
          <a:prstGeom prst="leftBrace">
            <a:avLst>
              <a:gd name="adj1" fmla="val 8333"/>
              <a:gd name="adj2" fmla="val 505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16AB4AA-D522-DD8C-B59F-DE246C01678A}"/>
              </a:ext>
            </a:extLst>
          </p:cNvPr>
          <p:cNvSpPr/>
          <p:nvPr/>
        </p:nvSpPr>
        <p:spPr>
          <a:xfrm rot="5400000">
            <a:off x="4990015" y="2886585"/>
            <a:ext cx="226801" cy="47338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86CB9-174D-AE6A-2287-4B440CDE326D}"/>
              </a:ext>
            </a:extLst>
          </p:cNvPr>
          <p:cNvSpPr txBox="1"/>
          <p:nvPr/>
        </p:nvSpPr>
        <p:spPr>
          <a:xfrm>
            <a:off x="3197865" y="522691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28291-4CAF-3A97-F263-6E4FF2D93458}"/>
              </a:ext>
            </a:extLst>
          </p:cNvPr>
          <p:cNvSpPr txBox="1"/>
          <p:nvPr/>
        </p:nvSpPr>
        <p:spPr>
          <a:xfrm>
            <a:off x="6478345" y="6273425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AE8E9-56B8-E3E4-4BD8-99BD31DEFAE2}"/>
              </a:ext>
            </a:extLst>
          </p:cNvPr>
          <p:cNvSpPr txBox="1"/>
          <p:nvPr/>
        </p:nvSpPr>
        <p:spPr>
          <a:xfrm>
            <a:off x="4208401" y="4803406"/>
            <a:ext cx="18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fragment or insert</a:t>
            </a:r>
          </a:p>
        </p:txBody>
      </p:sp>
    </p:spTree>
    <p:extLst>
      <p:ext uri="{BB962C8B-B14F-4D97-AF65-F5344CB8AC3E}">
        <p14:creationId xmlns:p14="http://schemas.microsoft.com/office/powerpoint/2010/main" val="421224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A5FC-A239-FC42-FEF6-DF87F37D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much coverage is sufficient?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8C7C9-35D8-9497-54E1-AE99EF7F0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6560"/>
          </a:xfrm>
        </p:spPr>
        <p:txBody>
          <a:bodyPr>
            <a:normAutofit/>
          </a:bodyPr>
          <a:lstStyle/>
          <a:p>
            <a:r>
              <a:rPr lang="en-US"/>
              <a:t>It depends… on read lengths</a:t>
            </a:r>
          </a:p>
          <a:p>
            <a:r>
              <a:rPr lang="en-US"/>
              <a:t>1x is enough if read length == chromosome length</a:t>
            </a:r>
          </a:p>
          <a:p>
            <a:r>
              <a:rPr lang="en-US"/>
              <a:t>In general read length &lt;&lt; chromosome length</a:t>
            </a:r>
          </a:p>
          <a:p>
            <a:r>
              <a:rPr lang="en-US"/>
              <a:t>Problem: assume fixed read length &lt;&lt; chromosome length</a:t>
            </a:r>
          </a:p>
          <a:p>
            <a:pPr lvl="1"/>
            <a:r>
              <a:rPr lang="en-US"/>
              <a:t>What is the probability of a gap?</a:t>
            </a:r>
          </a:p>
          <a:p>
            <a:pPr lvl="1"/>
            <a:r>
              <a:rPr lang="en-US"/>
              <a:t>Use Poisson distribution!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62F30-F67A-B51B-EE34-C24F7D62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39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BAF0-F3EC-C1E4-F684-35A05E65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90CF-E22D-3AC9-0329-8C658B8D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9900-22B7-0D7F-C616-EBC1977C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7570690" cy="5124936"/>
          </a:xfrm>
        </p:spPr>
        <p:txBody>
          <a:bodyPr/>
          <a:lstStyle/>
          <a:p>
            <a:r>
              <a:rPr lang="en-US"/>
              <a:t>The Poisson distribution is a discrete probability distribution that expresses the </a:t>
            </a:r>
            <a:r>
              <a:rPr lang="en-US" u="sng"/>
              <a:t>probability</a:t>
            </a:r>
            <a:r>
              <a:rPr lang="en-US"/>
              <a:t> of a </a:t>
            </a:r>
            <a:r>
              <a:rPr lang="en-US" u="sng"/>
              <a:t>given number of events </a:t>
            </a:r>
            <a:r>
              <a:rPr lang="en-US"/>
              <a:t>occurring in a </a:t>
            </a:r>
            <a:r>
              <a:rPr lang="en-US" u="sng"/>
              <a:t>fixed interval of time</a:t>
            </a:r>
            <a:r>
              <a:rPr lang="en-US"/>
              <a:t> if these events occur with a known </a:t>
            </a:r>
            <a:r>
              <a:rPr lang="en-US" u="sng"/>
              <a:t>constant mean rate </a:t>
            </a:r>
            <a:r>
              <a:rPr lang="en-US"/>
              <a:t>and </a:t>
            </a:r>
            <a:r>
              <a:rPr lang="en-US" u="sng"/>
              <a:t>independently</a:t>
            </a:r>
            <a:r>
              <a:rPr lang="en-US"/>
              <a:t> of the time since the last event. </a:t>
            </a:r>
          </a:p>
          <a:p>
            <a:r>
              <a:rPr lang="en-US"/>
              <a:t>Named after French mathematician </a:t>
            </a:r>
            <a:r>
              <a:rPr lang="en-US" err="1"/>
              <a:t>Siméon</a:t>
            </a:r>
            <a:r>
              <a:rPr lang="en-US"/>
              <a:t> Denis Poisson (1781–1840). Image </a:t>
            </a:r>
            <a:r>
              <a:rPr lang="en-US" err="1"/>
              <a:t>credit:Wikipedia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66228-5C74-CD1C-C100-36302371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D2E0D-CEDD-5567-BD44-DA0D0EC5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018" y="1497972"/>
            <a:ext cx="2761362" cy="36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F2AB-54BB-621B-65D8-BD0BA665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 of a Poisson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5123-4384-2287-DCAD-BCF274FC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instance, consider a call center which receives an average of </a:t>
            </a:r>
            <a:r>
              <a:rPr lang="en-US" i="1"/>
              <a:t>λ = 3 </a:t>
            </a:r>
            <a:r>
              <a:rPr lang="en-US"/>
              <a:t>calls per minute at all times of day. </a:t>
            </a:r>
          </a:p>
          <a:p>
            <a:r>
              <a:rPr lang="en-US"/>
              <a:t>If the number of calls received in any two given disjoint time intervals is independent, then the number </a:t>
            </a:r>
            <a:r>
              <a:rPr lang="en-US" i="1"/>
              <a:t>k</a:t>
            </a:r>
            <a:r>
              <a:rPr lang="en-US"/>
              <a:t> of calls received during any minute has a Poisson probability distribution. </a:t>
            </a:r>
          </a:p>
          <a:p>
            <a:endParaRPr lang="en-US"/>
          </a:p>
          <a:p>
            <a:r>
              <a:rPr lang="en-US"/>
              <a:t>Can you come up with an example?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25BA-7001-3F78-56D2-129F3E7E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3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F9DE-D844-088B-EFB7-D7DE8020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12E8C-C4AC-857C-A008-5457C95B6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/>
          <a:lstStyle/>
          <a:p>
            <a:r>
              <a:rPr lang="en-US"/>
              <a:t>The Poisson distribution is also the limit of a binomial distribution, for which the probability of success for each trial </a:t>
            </a:r>
            <a:r>
              <a:rPr lang="en-US" i="1"/>
              <a:t>p </a:t>
            </a:r>
            <a:r>
              <a:rPr lang="en-US"/>
              <a:t>equals</a:t>
            </a:r>
            <a:r>
              <a:rPr lang="en-US" i="1"/>
              <a:t> λ/n</a:t>
            </a:r>
            <a:r>
              <a:rPr lang="en-US"/>
              <a:t>, as the number of trials </a:t>
            </a:r>
            <a:r>
              <a:rPr lang="en-US" i="1"/>
              <a:t>n</a:t>
            </a:r>
            <a:r>
              <a:rPr lang="en-US"/>
              <a:t> approaches infinity</a:t>
            </a:r>
          </a:p>
          <a:p>
            <a:r>
              <a:rPr lang="en-US"/>
              <a:t>Under a Poisson distribution with the expectation of </a:t>
            </a:r>
            <a:r>
              <a:rPr lang="en-US" i="1"/>
              <a:t>λ</a:t>
            </a:r>
            <a:r>
              <a:rPr lang="en-US"/>
              <a:t> events in a given interval, the probability of </a:t>
            </a:r>
            <a:r>
              <a:rPr lang="en-US" i="1"/>
              <a:t>x</a:t>
            </a:r>
            <a:r>
              <a:rPr lang="en-US"/>
              <a:t> events in the same interval is: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CF8B3-F765-E6BE-76BA-714892B3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DB2E8-C207-68E8-8D45-81F44FFD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29" y="4159008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5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F05B-22D4-255A-5907-D8318D86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 and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A216-92B3-942D-5052-57C60C862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4580540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Let:</a:t>
            </a:r>
          </a:p>
          <a:p>
            <a:pPr lvl="1"/>
            <a:r>
              <a:rPr lang="en-US" i="1"/>
              <a:t>G</a:t>
            </a:r>
            <a:r>
              <a:rPr lang="en-US"/>
              <a:t> genome length (in bp) </a:t>
            </a:r>
          </a:p>
          <a:p>
            <a:pPr lvl="1"/>
            <a:r>
              <a:rPr lang="en-US" i="1"/>
              <a:t>L</a:t>
            </a:r>
            <a:r>
              <a:rPr lang="en-US"/>
              <a:t>  read average length (</a:t>
            </a:r>
            <a:r>
              <a:rPr lang="en-US" i="1"/>
              <a:t>L&lt;&lt;G</a:t>
            </a:r>
            <a:r>
              <a:rPr lang="en-US"/>
              <a:t>)</a:t>
            </a:r>
          </a:p>
          <a:p>
            <a:pPr lvl="1"/>
            <a:r>
              <a:rPr lang="en-US" i="1"/>
              <a:t>N</a:t>
            </a:r>
            <a:r>
              <a:rPr lang="en-US"/>
              <a:t> number of reads</a:t>
            </a:r>
          </a:p>
          <a:p>
            <a:r>
              <a:rPr lang="en-US"/>
              <a:t>Then:</a:t>
            </a:r>
          </a:p>
          <a:p>
            <a:pPr lvl="1"/>
            <a:r>
              <a:rPr lang="en-US" i="1"/>
              <a:t>λ</a:t>
            </a:r>
            <a:r>
              <a:rPr lang="en-US"/>
              <a:t>, sequencing redundancy = </a:t>
            </a:r>
            <a:r>
              <a:rPr lang="en-US" i="1"/>
              <a:t>N*L/G</a:t>
            </a:r>
          </a:p>
          <a:p>
            <a:pPr lvl="1"/>
            <a:r>
              <a:rPr lang="en-US" i="1"/>
              <a:t>x  </a:t>
            </a:r>
            <a:r>
              <a:rPr lang="en-US"/>
              <a:t>is the number of reads covering a given site on the genome </a:t>
            </a:r>
          </a:p>
          <a:p>
            <a:r>
              <a:rPr lang="en-US"/>
              <a:t>For a given base on the genome for each read </a:t>
            </a:r>
            <a:r>
              <a:rPr lang="en-US" i="1"/>
              <a:t>Prob(base covered)=L/G</a:t>
            </a:r>
            <a:r>
              <a:rPr lang="en-US"/>
              <a:t> </a:t>
            </a:r>
            <a:r>
              <a:rPr lang="en-US" i="1"/>
              <a:t>&lt;&lt; 1</a:t>
            </a:r>
            <a:r>
              <a:rPr lang="en-US"/>
              <a:t>; number of attempts (reads): </a:t>
            </a:r>
            <a:r>
              <a:rPr lang="en-US" i="1"/>
              <a:t>N</a:t>
            </a:r>
            <a:r>
              <a:rPr lang="en-US"/>
              <a:t> &gt;&gt; </a:t>
            </a:r>
            <a:r>
              <a:rPr lang="en-US" i="1"/>
              <a:t>1</a:t>
            </a:r>
            <a:r>
              <a:rPr lang="en-US"/>
              <a:t>. </a:t>
            </a:r>
          </a:p>
          <a:p>
            <a:r>
              <a:rPr lang="en-US" b="1"/>
              <a:t>Genome coverage</a:t>
            </a:r>
            <a:r>
              <a:rPr lang="en-US" i="1"/>
              <a:t> λ = NL/G </a:t>
            </a:r>
            <a:r>
              <a:rPr lang="en-US"/>
              <a:t>is </a:t>
            </a:r>
            <a:r>
              <a:rPr lang="en-US" i="1"/>
              <a:t>O(1)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      </a:t>
            </a:r>
            <a:r>
              <a:rPr lang="en-US" i="1"/>
              <a:t>x=2                x=4                            x=0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AFAC-0560-7A57-5772-70C755D3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AE5EFB-4EDB-5824-E205-FA9B70D8C74E}"/>
              </a:ext>
            </a:extLst>
          </p:cNvPr>
          <p:cNvCxnSpPr/>
          <p:nvPr/>
        </p:nvCxnSpPr>
        <p:spPr>
          <a:xfrm>
            <a:off x="1362145" y="6483100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DFEC4B-4C05-6A85-AE84-81F3099F9DCB}"/>
              </a:ext>
            </a:extLst>
          </p:cNvPr>
          <p:cNvCxnSpPr>
            <a:cxnSpLocks/>
          </p:cNvCxnSpPr>
          <p:nvPr/>
        </p:nvCxnSpPr>
        <p:spPr>
          <a:xfrm>
            <a:off x="1362145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B9835-6433-51DC-1161-D1623CB29893}"/>
              </a:ext>
            </a:extLst>
          </p:cNvPr>
          <p:cNvCxnSpPr>
            <a:cxnSpLocks/>
          </p:cNvCxnSpPr>
          <p:nvPr/>
        </p:nvCxnSpPr>
        <p:spPr>
          <a:xfrm>
            <a:off x="1514545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3C02FD-AB58-7FD4-2AE6-42EB9ED0FCAB}"/>
              </a:ext>
            </a:extLst>
          </p:cNvPr>
          <p:cNvCxnSpPr>
            <a:cxnSpLocks/>
          </p:cNvCxnSpPr>
          <p:nvPr/>
        </p:nvCxnSpPr>
        <p:spPr>
          <a:xfrm>
            <a:off x="2737100" y="58728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408ED2-D266-657E-9ED7-E1AC5166CE09}"/>
              </a:ext>
            </a:extLst>
          </p:cNvPr>
          <p:cNvCxnSpPr>
            <a:cxnSpLocks/>
          </p:cNvCxnSpPr>
          <p:nvPr/>
        </p:nvCxnSpPr>
        <p:spPr>
          <a:xfrm>
            <a:off x="2889500" y="60252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5959B0-B57C-B2DA-8334-D6FE343366C2}"/>
              </a:ext>
            </a:extLst>
          </p:cNvPr>
          <p:cNvCxnSpPr>
            <a:cxnSpLocks/>
          </p:cNvCxnSpPr>
          <p:nvPr/>
        </p:nvCxnSpPr>
        <p:spPr>
          <a:xfrm>
            <a:off x="3041900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607628-10BF-14A9-DA8F-092623546B51}"/>
              </a:ext>
            </a:extLst>
          </p:cNvPr>
          <p:cNvCxnSpPr>
            <a:cxnSpLocks/>
          </p:cNvCxnSpPr>
          <p:nvPr/>
        </p:nvCxnSpPr>
        <p:spPr>
          <a:xfrm>
            <a:off x="3041900" y="6330090"/>
            <a:ext cx="7629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495D-1F97-7CC3-F13D-E762C4C82C8A}"/>
              </a:ext>
            </a:extLst>
          </p:cNvPr>
          <p:cNvCxnSpPr>
            <a:cxnSpLocks/>
          </p:cNvCxnSpPr>
          <p:nvPr/>
        </p:nvCxnSpPr>
        <p:spPr>
          <a:xfrm>
            <a:off x="4263540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648214-214B-CBB4-8EA7-732003DA5689}"/>
              </a:ext>
            </a:extLst>
          </p:cNvPr>
          <p:cNvCxnSpPr>
            <a:cxnSpLocks/>
          </p:cNvCxnSpPr>
          <p:nvPr/>
        </p:nvCxnSpPr>
        <p:spPr>
          <a:xfrm>
            <a:off x="4568797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902D25-14C6-DCEC-FA8A-136917B1D098}"/>
              </a:ext>
            </a:extLst>
          </p:cNvPr>
          <p:cNvCxnSpPr>
            <a:cxnSpLocks/>
          </p:cNvCxnSpPr>
          <p:nvPr/>
        </p:nvCxnSpPr>
        <p:spPr>
          <a:xfrm>
            <a:off x="5705768" y="60252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E8FCE4-7026-1F5B-D75F-164C16D12E3A}"/>
              </a:ext>
            </a:extLst>
          </p:cNvPr>
          <p:cNvCxnSpPr>
            <a:cxnSpLocks/>
          </p:cNvCxnSpPr>
          <p:nvPr/>
        </p:nvCxnSpPr>
        <p:spPr>
          <a:xfrm>
            <a:off x="5858168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01E40C-D100-C2B2-43A1-C2D59AF77A66}"/>
              </a:ext>
            </a:extLst>
          </p:cNvPr>
          <p:cNvCxnSpPr>
            <a:cxnSpLocks/>
          </p:cNvCxnSpPr>
          <p:nvPr/>
        </p:nvCxnSpPr>
        <p:spPr>
          <a:xfrm>
            <a:off x="6010568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5D9CE8-F4E3-AAED-AE4A-3C41743307AA}"/>
              </a:ext>
            </a:extLst>
          </p:cNvPr>
          <p:cNvCxnSpPr/>
          <p:nvPr/>
        </p:nvCxnSpPr>
        <p:spPr>
          <a:xfrm>
            <a:off x="5485180" y="5872890"/>
            <a:ext cx="0" cy="848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8390FE-05BE-7AF3-982E-71B032DA8997}"/>
              </a:ext>
            </a:extLst>
          </p:cNvPr>
          <p:cNvCxnSpPr>
            <a:cxnSpLocks/>
          </p:cNvCxnSpPr>
          <p:nvPr/>
        </p:nvCxnSpPr>
        <p:spPr>
          <a:xfrm>
            <a:off x="3194605" y="5734704"/>
            <a:ext cx="0" cy="900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3E9742-EBA9-D5E2-A3CA-564C1A321E76}"/>
              </a:ext>
            </a:extLst>
          </p:cNvPr>
          <p:cNvCxnSpPr>
            <a:cxnSpLocks/>
          </p:cNvCxnSpPr>
          <p:nvPr/>
        </p:nvCxnSpPr>
        <p:spPr>
          <a:xfrm>
            <a:off x="1667555" y="5734704"/>
            <a:ext cx="0" cy="900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276DCA-DDFB-D8C6-81BE-65AFDA0E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848" y="1704734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2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C554-A8C6-0277-1A84-D1F722AC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Fraction of the genome covered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384F2-9789-CBBD-01D4-DDCF083991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4358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/>
                  <a:t>To assemble a genome we need to make sure it is completely covered by reads</a:t>
                </a:r>
              </a:p>
              <a:p>
                <a:endParaRPr lang="en-US"/>
              </a:p>
              <a:p>
                <a:r>
                  <a:rPr lang="en-US"/>
                  <a:t>We can use Poisson distribution to compute required coverage to make sure there are no gaps </a:t>
                </a:r>
              </a:p>
              <a:p>
                <a:endParaRPr lang="en-US"/>
              </a:p>
              <a:p>
                <a:r>
                  <a:rPr lang="en-US"/>
                  <a:t>It is frequently easier in probability computations to compute the probability of something NOT happening!</a:t>
                </a:r>
                <a:br>
                  <a:rPr lang="en-US"/>
                </a:br>
                <a:endParaRPr lang="en-US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br>
                  <a:rPr lang="en-US" i="1"/>
                </a:br>
                <a:endParaRPr lang="en-US" i="1"/>
              </a:p>
              <a:p>
                <a:r>
                  <a:rPr lang="en-US"/>
                  <a:t>Total genome length covered: 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384F2-9789-CBBD-01D4-DDCF083991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43589"/>
              </a:xfrm>
              <a:blipFill>
                <a:blip r:embed="rId2"/>
                <a:stretch>
                  <a:fillRect l="-722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324D-9F5A-7E7B-0C60-C2D62C5B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DB7FE-3B6C-978E-F57D-4A8E8656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982" y="3994404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0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15A2-54A9-599A-BDBF-6D55AA14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Number of contigs and average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394BD-B129-877C-C744-20B897AE4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/>
                  <a:t>Probability that a given read is the right end of a contig = coverage of the base right after the read is zero: 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endParaRPr lang="en-US" i="1"/>
              </a:p>
              <a:p>
                <a:r>
                  <a:rPr lang="en-US"/>
                  <a:t>If </a:t>
                </a:r>
                <a:r>
                  <a:rPr lang="en-US" i="1"/>
                  <a:t>N</a:t>
                </a:r>
                <a:r>
                  <a:rPr lang="en-US"/>
                  <a:t> is number of reads, then number of contigs is: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endParaRPr lang="en-US"/>
              </a:p>
              <a:p>
                <a:r>
                  <a:rPr lang="en-US"/>
                  <a:t>Average contig length is proportion of genome covered/number of contigs: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r>
                  <a:rPr lang="en-US"/>
                  <a:t>For sufficiently large </a:t>
                </a:r>
                <a:r>
                  <a:rPr lang="en-US" i="1"/>
                  <a:t>λ,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den>
                    </m:f>
                  </m:oMath>
                </a14:m>
                <a:r>
                  <a:rPr lang="en-US"/>
                  <a:t>, only depends on read length and coverage!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394BD-B129-877C-C744-20B897AE4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  <a:blipFill>
                <a:blip r:embed="rId2"/>
                <a:stretch>
                  <a:fillRect l="-833" t="-998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BF5F6-B203-71DC-96D2-AF338A94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0F2FE-88FB-12C8-AEE6-55082095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468" y="2207360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8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BEE5-4EC8-F8CC-ACA8-069BCBC4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4" y="680310"/>
            <a:ext cx="10942155" cy="365125"/>
          </a:xfrm>
        </p:spPr>
        <p:txBody>
          <a:bodyPr>
            <a:normAutofit fontScale="90000"/>
          </a:bodyPr>
          <a:lstStyle/>
          <a:p>
            <a:r>
              <a:rPr lang="en-US"/>
              <a:t>Genome is fully covered.</a:t>
            </a:r>
            <a:br>
              <a:rPr lang="en-US"/>
            </a:br>
            <a:r>
              <a:rPr lang="en-US"/>
              <a:t>Can this be assembled?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77BB-A657-B3C5-CC8F-B1CB1905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152564-1CE0-5DED-2127-FBF73609E8E1}"/>
              </a:ext>
            </a:extLst>
          </p:cNvPr>
          <p:cNvCxnSpPr/>
          <p:nvPr/>
        </p:nvCxnSpPr>
        <p:spPr>
          <a:xfrm>
            <a:off x="1578455" y="4418326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C067B-52F0-28D0-DC17-AD3F7C3443AE}"/>
              </a:ext>
            </a:extLst>
          </p:cNvPr>
          <p:cNvCxnSpPr>
            <a:cxnSpLocks/>
          </p:cNvCxnSpPr>
          <p:nvPr/>
        </p:nvCxnSpPr>
        <p:spPr>
          <a:xfrm>
            <a:off x="1578455" y="4004760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CBE26E-8424-5747-E9B7-29316A791327}"/>
              </a:ext>
            </a:extLst>
          </p:cNvPr>
          <p:cNvCxnSpPr>
            <a:cxnSpLocks/>
          </p:cNvCxnSpPr>
          <p:nvPr/>
        </p:nvCxnSpPr>
        <p:spPr>
          <a:xfrm>
            <a:off x="3736636" y="4127663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FA18A0-A1C5-BCED-FD95-480CC02B9442}"/>
              </a:ext>
            </a:extLst>
          </p:cNvPr>
          <p:cNvCxnSpPr>
            <a:cxnSpLocks/>
          </p:cNvCxnSpPr>
          <p:nvPr/>
        </p:nvCxnSpPr>
        <p:spPr>
          <a:xfrm>
            <a:off x="6002594" y="3978294"/>
            <a:ext cx="197136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01D341-E3C8-339A-7DFB-50D0871C82B0}"/>
              </a:ext>
            </a:extLst>
          </p:cNvPr>
          <p:cNvCxnSpPr>
            <a:cxnSpLocks/>
          </p:cNvCxnSpPr>
          <p:nvPr/>
        </p:nvCxnSpPr>
        <p:spPr>
          <a:xfrm>
            <a:off x="7885849" y="4127663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03DBCA-0F54-E271-479E-30EF0F102969}"/>
              </a:ext>
            </a:extLst>
          </p:cNvPr>
          <p:cNvSpPr txBox="1"/>
          <p:nvPr/>
        </p:nvSpPr>
        <p:spPr>
          <a:xfrm>
            <a:off x="3244646" y="3490097"/>
            <a:ext cx="135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bp overlap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A5AA0-1129-3611-1DAB-813E89FEE716}"/>
              </a:ext>
            </a:extLst>
          </p:cNvPr>
          <p:cNvSpPr txBox="1"/>
          <p:nvPr/>
        </p:nvSpPr>
        <p:spPr>
          <a:xfrm>
            <a:off x="5099432" y="3498981"/>
            <a:ext cx="135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 bp overlap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CE572-961A-AACD-849C-38F8CC5FDAF8}"/>
              </a:ext>
            </a:extLst>
          </p:cNvPr>
          <p:cNvSpPr txBox="1"/>
          <p:nvPr/>
        </p:nvSpPr>
        <p:spPr>
          <a:xfrm>
            <a:off x="7208452" y="3498981"/>
            <a:ext cx="135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bp overlap</a:t>
            </a:r>
          </a:p>
        </p:txBody>
      </p:sp>
    </p:spTree>
    <p:extLst>
      <p:ext uri="{BB962C8B-B14F-4D97-AF65-F5344CB8AC3E}">
        <p14:creationId xmlns:p14="http://schemas.microsoft.com/office/powerpoint/2010/main" val="308553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92C-2BBB-1798-1FFE-2A8A226B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E828-2859-2593-2B3F-6CF9B2AC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Real life correction to contig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C0A1E-F940-8A8B-DDFA-02DF5FFD5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In reality a minimum overlap </a:t>
                </a:r>
                <a:r>
                  <a:rPr lang="en-US" i="1"/>
                  <a:t>O</a:t>
                </a:r>
                <a:r>
                  <a:rPr lang="en-US"/>
                  <a:t> is required to continue a contig.  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. Our coverage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gets replaced by “effective” coverage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m:rPr>
                        <m:nor/>
                      </m:rPr>
                      <a:rPr lang="en-US" i="1" dirty="0"/>
                      <m:t>λ</m:t>
                    </m:r>
                  </m:oMath>
                </a14:m>
                <a:r>
                  <a:rPr lang="en-US"/>
                  <a:t>. Then expected number of contigs becomes: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i="1" dirty="0" smtClean="0"/>
                          <m:t>λ</m:t>
                        </m:r>
                      </m:sup>
                    </m:sSup>
                  </m:oMath>
                </a14:m>
                <a:endParaRPr lang="en-US"/>
              </a:p>
              <a:p>
                <a:r>
                  <a:rPr lang="en-US"/>
                  <a:t>Corrected formula for average contig size (remember </a:t>
                </a:r>
                <a:r>
                  <a:rPr lang="en-US" i="1"/>
                  <a:t>λ = NL/G )</a:t>
                </a:r>
                <a:r>
                  <a:rPr lang="en-US"/>
                  <a:t>:</a:t>
                </a:r>
              </a:p>
              <a:p>
                <a:pPr marL="0" indent="0">
                  <a:buNone/>
                </a:pP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b="0"/>
                  <a:t>=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i="1" dirty="0"/>
                                  <m:t>λ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happens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/>
                  <a:t>(very short reads) or when</a:t>
                </a:r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i="1"/>
                  <a:t> </a:t>
                </a:r>
                <a:r>
                  <a:rPr lang="en-US"/>
                  <a:t>(very long reads) 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C0A1E-F940-8A8B-DDFA-02DF5FFD5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  <a:blipFill>
                <a:blip r:embed="rId2"/>
                <a:stretch>
                  <a:fillRect l="-833" t="-125" r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0638E-C7F1-E1B1-7CB6-792B40B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2FBA-E741-ED67-9D08-E1695661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Reads are Strings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B08CF-B618-980B-A065-CC5C458CA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/>
          </a:bodyPr>
          <a:lstStyle/>
          <a:p>
            <a:r>
              <a:rPr lang="en-US" i="1"/>
              <a:t>String S</a:t>
            </a:r>
            <a:r>
              <a:rPr lang="en-US"/>
              <a:t> is a finite sequence of characters from an alphabet </a:t>
            </a:r>
          </a:p>
          <a:p>
            <a:r>
              <a:rPr lang="en-US"/>
              <a:t>DNA alphabet is {A,C,G,T}</a:t>
            </a:r>
          </a:p>
          <a:p>
            <a:r>
              <a:rPr lang="en-US" i="1"/>
              <a:t>Substring</a:t>
            </a:r>
            <a:r>
              <a:rPr lang="en-US"/>
              <a:t> of </a:t>
            </a:r>
            <a:r>
              <a:rPr lang="en-US" i="1"/>
              <a:t>S </a:t>
            </a:r>
            <a:r>
              <a:rPr lang="en-US"/>
              <a:t>is a string occurring inside </a:t>
            </a:r>
            <a:r>
              <a:rPr lang="en-US" i="1"/>
              <a:t>S: </a:t>
            </a:r>
            <a:br>
              <a:rPr lang="en-US" i="1"/>
            </a:br>
            <a:r>
              <a:rPr lang="en-US"/>
              <a:t>AGTG</a:t>
            </a:r>
            <a:r>
              <a:rPr lang="en-US">
                <a:solidFill>
                  <a:srgbClr val="FF0000"/>
                </a:solidFill>
              </a:rPr>
              <a:t>ACATAA</a:t>
            </a:r>
            <a:r>
              <a:rPr lang="en-US"/>
              <a:t>GACT</a:t>
            </a:r>
          </a:p>
          <a:p>
            <a:r>
              <a:rPr lang="en-US" i="1"/>
              <a:t>Prefix </a:t>
            </a:r>
            <a:r>
              <a:rPr lang="en-US"/>
              <a:t>of </a:t>
            </a:r>
            <a:r>
              <a:rPr lang="en-US" i="1"/>
              <a:t>S </a:t>
            </a:r>
            <a:r>
              <a:rPr lang="en-US"/>
              <a:t>is a string starting at the beginning of </a:t>
            </a:r>
            <a:r>
              <a:rPr lang="en-US" i="1"/>
              <a:t>S:</a:t>
            </a:r>
            <a:br>
              <a:rPr lang="en-US" i="1"/>
            </a:br>
            <a:r>
              <a:rPr lang="en-US">
                <a:solidFill>
                  <a:srgbClr val="FF0000"/>
                </a:solidFill>
              </a:rPr>
              <a:t>AGTGAC</a:t>
            </a:r>
            <a:r>
              <a:rPr lang="en-US">
                <a:solidFill>
                  <a:schemeClr val="tx1"/>
                </a:solidFill>
              </a:rPr>
              <a:t>ATAAGACT</a:t>
            </a:r>
          </a:p>
          <a:p>
            <a:r>
              <a:rPr lang="en-US" i="1">
                <a:solidFill>
                  <a:schemeClr val="tx1"/>
                </a:solidFill>
              </a:rPr>
              <a:t>Suffix </a:t>
            </a:r>
            <a:r>
              <a:rPr lang="en-US">
                <a:solidFill>
                  <a:schemeClr val="tx1"/>
                </a:solidFill>
              </a:rPr>
              <a:t>of a string is a </a:t>
            </a:r>
            <a:r>
              <a:rPr lang="en-US"/>
              <a:t>string ending at the end of </a:t>
            </a:r>
            <a:r>
              <a:rPr lang="en-US" i="1"/>
              <a:t>S:</a:t>
            </a:r>
            <a:br>
              <a:rPr lang="en-US" i="1"/>
            </a:br>
            <a:r>
              <a:rPr lang="en-US">
                <a:solidFill>
                  <a:schemeClr val="tx1"/>
                </a:solidFill>
              </a:rPr>
              <a:t>AGTGACAT</a:t>
            </a:r>
            <a:r>
              <a:rPr lang="en-US">
                <a:solidFill>
                  <a:srgbClr val="FF0000"/>
                </a:solidFill>
              </a:rPr>
              <a:t>AAGACT</a:t>
            </a:r>
            <a:br>
              <a:rPr lang="en-US" i="1"/>
            </a:br>
            <a:endParaRPr lang="en-US" i="1">
              <a:solidFill>
                <a:schemeClr val="tx1"/>
              </a:solidFill>
            </a:endParaRP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F18F-CEE1-643A-E14F-90766585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2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5F9D-A606-96D7-96F2-00128EF7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Exact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FCA6-7FE6-D9E1-0037-96B91459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Find exact matches of two strings: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T: ATGATATGACATAGAC </a:t>
            </a:r>
            <a:r>
              <a:rPr lang="en-US"/>
              <a:t>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 ATGAC</a:t>
            </a:r>
          </a:p>
          <a:p>
            <a:r>
              <a:rPr lang="en-US">
                <a:cs typeface="Courier New" panose="02070309020205020404" pitchFamily="49" charset="0"/>
              </a:rPr>
              <a:t>Naïve: check every position:</a:t>
            </a:r>
            <a:br>
              <a:rPr lang="en-US"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T:ATGAT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</a:p>
          <a:p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Boyer-Moore bad character rule, skip pointless alignments: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consider the character in T at which the comparison process failed (assuming such a failure occurred).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Find the next occurrence of that character to the left in P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Propose a shift which brings that occurrence in line with the mismatched occurrence in T.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If the mismatched character does not occur to the left in P, a shift is proposed that moves the entirety of P past the point of mismatch.</a:t>
            </a:r>
            <a:endParaRPr 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DE77F-7C0F-F48C-3D01-1DFDBFD6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9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1A98-641C-1F1A-55DD-85075A50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FF7C-A755-5908-A39A-3BE02A26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Exact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3FF4-9569-29CC-FB50-A2B123445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Boyer-Moore bad character rule, skip pointless alignments:</a:t>
            </a:r>
            <a:b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check last character – if no match skip to the first occurrence, aligning the T</a:t>
            </a:r>
            <a:br>
              <a:rPr lang="en-US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918AD-0877-1A9F-799F-8C0DA046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30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B2F2-B95F-941E-0F2E-11BB4078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an alignment (overlap)?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7DB0-B730-9261-57CC-67327D01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25" y="1811548"/>
            <a:ext cx="10972800" cy="4314616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u="sng" dirty="0"/>
              <a:t>alignment</a:t>
            </a:r>
            <a:r>
              <a:rPr lang="en-US" dirty="0"/>
              <a:t> does </a:t>
            </a:r>
            <a:r>
              <a:rPr lang="en-US" u="sng" dirty="0"/>
              <a:t>not</a:t>
            </a:r>
            <a:r>
              <a:rPr lang="en-US" dirty="0"/>
              <a:t> need to be an </a:t>
            </a:r>
            <a:r>
              <a:rPr lang="en-US" u="sng" dirty="0"/>
              <a:t>exact</a:t>
            </a:r>
            <a:r>
              <a:rPr lang="en-US" dirty="0"/>
              <a:t> match </a:t>
            </a:r>
          </a:p>
          <a:p>
            <a:r>
              <a:rPr lang="en-US" dirty="0"/>
              <a:t>Given: </a:t>
            </a:r>
          </a:p>
          <a:p>
            <a:pPr marL="457200" lvl="1" indent="0">
              <a:buNone/>
            </a:pPr>
            <a:r>
              <a:rPr lang="en-US" sz="2800" dirty="0"/>
              <a:t>– a pair of strings</a:t>
            </a:r>
          </a:p>
          <a:p>
            <a:pPr marL="457200" lvl="1" indent="0">
              <a:buNone/>
            </a:pPr>
            <a:r>
              <a:rPr lang="en-US" sz="2800" dirty="0"/>
              <a:t>– a method for scoring a candidate alignment </a:t>
            </a:r>
          </a:p>
          <a:p>
            <a:r>
              <a:rPr lang="en-US" dirty="0"/>
              <a:t>Do: </a:t>
            </a:r>
          </a:p>
          <a:p>
            <a:pPr marL="457200" lvl="1" indent="0">
              <a:buNone/>
            </a:pPr>
            <a:r>
              <a:rPr lang="en-US" sz="2800" dirty="0"/>
              <a:t>– determine the correspondences between substrings in </a:t>
            </a:r>
            <a:br>
              <a:rPr lang="en-US" sz="2800" dirty="0"/>
            </a:br>
            <a:r>
              <a:rPr lang="en-US" sz="2800" dirty="0"/>
              <a:t>the sequences such that the similarity score is maximized </a:t>
            </a:r>
          </a:p>
        </p:txBody>
      </p:sp>
    </p:spTree>
    <p:extLst>
      <p:ext uri="{BB962C8B-B14F-4D97-AF65-F5344CB8AC3E}">
        <p14:creationId xmlns:p14="http://schemas.microsoft.com/office/powerpoint/2010/main" val="3499796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1731-64A5-F736-B3FD-39E5ADFE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 of an alignment (overlap)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EE85E-5231-A748-CFFB-3F931E59D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Alignment of two DNA sequences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AGCGAACGCTGAACGCTAGACCG</a:t>
            </a: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                        and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GCGATCGATGAAGCTAGACTCGT</a:t>
            </a:r>
          </a:p>
          <a:p>
            <a:pPr marL="0" indent="0">
              <a:buNone/>
            </a:pPr>
            <a:r>
              <a:rPr lang="en-US"/>
              <a:t>                          is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AGCGAACGCTGAACGCTAGAC-CG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|||| || ||||*|||||||*||</a:t>
            </a:r>
            <a:b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GCGATCGATGAA-GCTAGACTCGT</a:t>
            </a:r>
          </a:p>
        </p:txBody>
      </p:sp>
    </p:spTree>
    <p:extLst>
      <p:ext uri="{BB962C8B-B14F-4D97-AF65-F5344CB8AC3E}">
        <p14:creationId xmlns:p14="http://schemas.microsoft.com/office/powerpoint/2010/main" val="3319328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A3C9-8857-345D-C122-B58EEDD4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Types of mis-matches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E665-C3AA-1B29-3651-00377FCD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Substitutions:   A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GT vs A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/>
              <a:t>GT</a:t>
            </a:r>
          </a:p>
          <a:p>
            <a:endParaRPr lang="en-US"/>
          </a:p>
          <a:p>
            <a:r>
              <a:rPr lang="en-US"/>
              <a:t>Deletions: AA</a:t>
            </a:r>
            <a:r>
              <a:rPr lang="en-US">
                <a:solidFill>
                  <a:srgbClr val="FF0000"/>
                </a:solidFill>
              </a:rPr>
              <a:t>G</a:t>
            </a:r>
            <a:r>
              <a:rPr lang="en-US"/>
              <a:t>T vs ATT</a:t>
            </a:r>
          </a:p>
          <a:p>
            <a:endParaRPr lang="en-US"/>
          </a:p>
          <a:p>
            <a:r>
              <a:rPr lang="en-US"/>
              <a:t>Insertions: AAGT vs AAG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86708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EF1D3-8111-B083-8234-62C3C27B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0C1D-9E2A-3033-9561-78FE21D4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D41B-B306-CD8B-FB9D-C94A43D6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83" y="2035583"/>
            <a:ext cx="6406883" cy="4613040"/>
          </a:xfrm>
        </p:spPr>
        <p:txBody>
          <a:bodyPr/>
          <a:lstStyle/>
          <a:p>
            <a:r>
              <a:rPr lang="en-US" dirty="0"/>
              <a:t>Proposed by Michael S. Waterman and Temple F. Smith in 1981</a:t>
            </a:r>
          </a:p>
          <a:p>
            <a:r>
              <a:rPr lang="en-US" dirty="0"/>
              <a:t>Local sequence alignment</a:t>
            </a:r>
          </a:p>
          <a:p>
            <a:r>
              <a:rPr lang="en-US" dirty="0"/>
              <a:t>Fairly expensive: for sequences of lengths </a:t>
            </a:r>
            <a:r>
              <a:rPr lang="en-US" i="1" dirty="0"/>
              <a:t>m</a:t>
            </a:r>
            <a:r>
              <a:rPr lang="en-US" dirty="0"/>
              <a:t> and </a:t>
            </a:r>
            <a:r>
              <a:rPr lang="en-US" i="1" dirty="0"/>
              <a:t>n</a:t>
            </a:r>
            <a:r>
              <a:rPr lang="en-US" dirty="0"/>
              <a:t> is of order </a:t>
            </a:r>
            <a:r>
              <a:rPr lang="en-US" i="1" dirty="0"/>
              <a:t>O(m</a:t>
            </a:r>
            <a:r>
              <a:rPr lang="en-US" i="1" baseline="30000" dirty="0"/>
              <a:t>2</a:t>
            </a:r>
            <a:r>
              <a:rPr lang="en-US" i="1" dirty="0"/>
              <a:t>n+n</a:t>
            </a:r>
            <a:r>
              <a:rPr lang="en-US" i="1" baseline="30000" dirty="0"/>
              <a:t>2</a:t>
            </a:r>
            <a:r>
              <a:rPr lang="en-US" i="1" dirty="0"/>
              <a:t>m), </a:t>
            </a:r>
            <a:r>
              <a:rPr lang="en-US" dirty="0"/>
              <a:t>later optimized by Gotoh and Altschul to </a:t>
            </a:r>
            <a:r>
              <a:rPr lang="en-US" i="1" dirty="0"/>
              <a:t>O(</a:t>
            </a:r>
            <a:r>
              <a:rPr lang="en-US" i="1" dirty="0" err="1"/>
              <a:t>mn</a:t>
            </a:r>
            <a:r>
              <a:rPr lang="en-US" i="1" dirty="0"/>
              <a:t>) </a:t>
            </a:r>
          </a:p>
          <a:p>
            <a:r>
              <a:rPr lang="en-US" dirty="0"/>
              <a:t>Dynamic programming: </a:t>
            </a:r>
            <a:r>
              <a:rPr lang="en-US" i="1" dirty="0"/>
              <a:t>solve many local problems to then solve the big problem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476A3-8720-99AA-0E0A-CE29BEC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5A576-4A99-F7D6-7E88-4910D26E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809" y="3229815"/>
            <a:ext cx="3095834" cy="3126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3D9FEC-F4FC-D11F-88C4-0DDA375B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409" y="136524"/>
            <a:ext cx="2844800" cy="2924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9BED86-13F1-3CD4-599F-4CE640D75906}"/>
              </a:ext>
            </a:extLst>
          </p:cNvPr>
          <p:cNvSpPr txBox="1"/>
          <p:nvPr/>
        </p:nvSpPr>
        <p:spPr>
          <a:xfrm>
            <a:off x="10700951" y="1297459"/>
            <a:ext cx="146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Temple Smith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85E60-5BDB-39A6-4615-6EA623B7F334}"/>
              </a:ext>
            </a:extLst>
          </p:cNvPr>
          <p:cNvSpPr txBox="1"/>
          <p:nvPr/>
        </p:nvSpPr>
        <p:spPr>
          <a:xfrm>
            <a:off x="7822133" y="4146752"/>
            <a:ext cx="126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Michael Waterman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88927-5CC1-FD0D-E0DD-60F1A1705EC2}"/>
              </a:ext>
            </a:extLst>
          </p:cNvPr>
          <p:cNvSpPr txBox="1"/>
          <p:nvPr/>
        </p:nvSpPr>
        <p:spPr>
          <a:xfrm>
            <a:off x="6122153" y="6169581"/>
            <a:ext cx="2346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Images from Wikipedia</a:t>
            </a:r>
          </a:p>
        </p:txBody>
      </p:sp>
    </p:spTree>
    <p:extLst>
      <p:ext uri="{BB962C8B-B14F-4D97-AF65-F5344CB8AC3E}">
        <p14:creationId xmlns:p14="http://schemas.microsoft.com/office/powerpoint/2010/main" val="114175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4766-FCE3-73DA-CC01-6C39B343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F25D-3C4E-8086-BB2E-7C5A1584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4A1FE-3A04-22B9-5183-7C3673CD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733E39-9FF7-DF3F-68D1-A7EBA1130BE6}"/>
              </a:ext>
            </a:extLst>
          </p:cNvPr>
          <p:cNvGraphicFramePr>
            <a:graphicFrameLocks noGrp="1"/>
          </p:cNvGraphicFramePr>
          <p:nvPr/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620E3F-5FA0-5AEB-75FF-E65ADBB79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705" y="1596540"/>
            <a:ext cx="5497379" cy="4759811"/>
          </a:xfrm>
        </p:spPr>
        <p:txBody>
          <a:bodyPr>
            <a:normAutofit/>
          </a:bodyPr>
          <a:lstStyle/>
          <a:p>
            <a:r>
              <a:rPr lang="en-US" dirty="0"/>
              <a:t>Align sequences: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 dirty="0"/>
              <a:t>and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 dirty="0"/>
              <a:t>Choose match score (substitution matrix) </a:t>
            </a:r>
            <a:br>
              <a:rPr lang="en-US" dirty="0"/>
            </a:br>
            <a:r>
              <a:rPr lang="en-US" i="1" dirty="0"/>
              <a:t>s(</a:t>
            </a:r>
            <a:r>
              <a:rPr lang="en-US" i="1" dirty="0" err="1"/>
              <a:t>a,b</a:t>
            </a:r>
            <a:r>
              <a:rPr lang="en-US" i="1" dirty="0"/>
              <a:t>)=3 if a=b,</a:t>
            </a:r>
            <a:br>
              <a:rPr lang="en-US" i="1" dirty="0"/>
            </a:br>
            <a:r>
              <a:rPr lang="en-US" i="1" dirty="0"/>
              <a:t>s(</a:t>
            </a:r>
            <a:r>
              <a:rPr lang="en-US" i="1" dirty="0" err="1"/>
              <a:t>a,b</a:t>
            </a:r>
            <a:r>
              <a:rPr lang="en-US" i="1" dirty="0"/>
              <a:t>)=-3 if a!=b</a:t>
            </a:r>
          </a:p>
          <a:p>
            <a:pPr marL="0" indent="0">
              <a:buNone/>
            </a:pPr>
            <a:endParaRPr lang="en-US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215C89-C43B-3624-56F9-8D1B2795F7A1}"/>
              </a:ext>
            </a:extLst>
          </p:cNvPr>
          <p:cNvCxnSpPr/>
          <p:nvPr/>
        </p:nvCxnSpPr>
        <p:spPr>
          <a:xfrm>
            <a:off x="2167128" y="3346704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D09BE8-168D-BCBB-0B29-45291BC0189E}"/>
              </a:ext>
            </a:extLst>
          </p:cNvPr>
          <p:cNvCxnSpPr/>
          <p:nvPr/>
        </p:nvCxnSpPr>
        <p:spPr>
          <a:xfrm>
            <a:off x="9259824" y="3864864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600A95-DCA1-4F2C-2281-6E4799701C2D}"/>
              </a:ext>
            </a:extLst>
          </p:cNvPr>
          <p:cNvCxnSpPr/>
          <p:nvPr/>
        </p:nvCxnSpPr>
        <p:spPr>
          <a:xfrm>
            <a:off x="9259824" y="4350411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8F67CD-93DB-8369-C898-38244C09C467}"/>
              </a:ext>
            </a:extLst>
          </p:cNvPr>
          <p:cNvCxnSpPr/>
          <p:nvPr/>
        </p:nvCxnSpPr>
        <p:spPr>
          <a:xfrm>
            <a:off x="2167128" y="4716171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C28A83-EFB2-C0F6-91C4-730D700B4C64}"/>
              </a:ext>
            </a:extLst>
          </p:cNvPr>
          <p:cNvCxnSpPr>
            <a:cxnSpLocks/>
          </p:cNvCxnSpPr>
          <p:nvPr/>
        </p:nvCxnSpPr>
        <p:spPr>
          <a:xfrm>
            <a:off x="3108960" y="4198011"/>
            <a:ext cx="0" cy="518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BC113A5-445F-947A-0CE6-043581254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023860"/>
              </p:ext>
            </p:extLst>
          </p:nvPr>
        </p:nvGraphicFramePr>
        <p:xfrm>
          <a:off x="6605454" y="4827611"/>
          <a:ext cx="236880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3761">
                  <a:extLst>
                    <a:ext uri="{9D8B030D-6E8A-4147-A177-3AD203B41FA5}">
                      <a16:colId xmlns:a16="http://schemas.microsoft.com/office/drawing/2014/main" val="536489600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797876443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1879155177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447749463"/>
                    </a:ext>
                  </a:extLst>
                </a:gridCol>
                <a:gridCol w="473761">
                  <a:extLst>
                    <a:ext uri="{9D8B030D-6E8A-4147-A177-3AD203B41FA5}">
                      <a16:colId xmlns:a16="http://schemas.microsoft.com/office/drawing/2014/main" val="2042494714"/>
                    </a:ext>
                  </a:extLst>
                </a:gridCol>
              </a:tblGrid>
              <a:tr h="32466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70774"/>
                  </a:ext>
                </a:extLst>
              </a:tr>
              <a:tr h="324666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259816"/>
                  </a:ext>
                </a:extLst>
              </a:tr>
              <a:tr h="324666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330820"/>
                  </a:ext>
                </a:extLst>
              </a:tr>
              <a:tr h="324666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478983"/>
                  </a:ext>
                </a:extLst>
              </a:tr>
              <a:tr h="324666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789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32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3C94-D969-0C0E-ACDA-779395A2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6BC3-36BC-C6D4-87EB-4466AA7E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23FCE-7DB7-D9D1-F15C-1EA4F55D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D37A3C-C3A7-5C55-4547-0CB81FCF7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829739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09361-393C-723D-1449-DA50768B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705" y="1596540"/>
            <a:ext cx="5497379" cy="4759811"/>
          </a:xfrm>
        </p:spPr>
        <p:txBody>
          <a:bodyPr>
            <a:normAutofit/>
          </a:bodyPr>
          <a:lstStyle/>
          <a:p>
            <a:r>
              <a:rPr lang="en-US" dirty="0"/>
              <a:t>Align sequences: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 dirty="0"/>
              <a:t>and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 dirty="0"/>
              <a:t>Choose match score (substitution matrix) </a:t>
            </a:r>
            <a:br>
              <a:rPr lang="en-US" dirty="0"/>
            </a:br>
            <a:r>
              <a:rPr lang="en-US" i="1" dirty="0"/>
              <a:t>s(</a:t>
            </a:r>
            <a:r>
              <a:rPr lang="en-US" i="1" dirty="0" err="1"/>
              <a:t>a,b</a:t>
            </a:r>
            <a:r>
              <a:rPr lang="en-US" i="1" dirty="0"/>
              <a:t>)=3 if a=b,</a:t>
            </a:r>
            <a:br>
              <a:rPr lang="en-US" i="1" dirty="0"/>
            </a:br>
            <a:r>
              <a:rPr lang="en-US" i="1" dirty="0"/>
              <a:t>s(</a:t>
            </a:r>
            <a:r>
              <a:rPr lang="en-US" i="1" dirty="0" err="1"/>
              <a:t>a,b</a:t>
            </a:r>
            <a:r>
              <a:rPr lang="en-US" i="1" dirty="0"/>
              <a:t>)=-3 if a!=b</a:t>
            </a:r>
          </a:p>
          <a:p>
            <a:r>
              <a:rPr lang="en-US" dirty="0"/>
              <a:t>Choose gap penalty </a:t>
            </a:r>
            <a:r>
              <a:rPr lang="en-US" i="1" dirty="0"/>
              <a:t>G=2</a:t>
            </a:r>
          </a:p>
          <a:p>
            <a:r>
              <a:rPr lang="en-US" dirty="0"/>
              <a:t>Initialize top row and the first column with zeros</a:t>
            </a:r>
          </a:p>
          <a:p>
            <a:pPr marL="0" indent="0">
              <a:buNone/>
            </a:pPr>
            <a:endParaRPr lang="en-US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4CD621-AB8B-8DB0-A79E-1AB72E1FBDB2}"/>
              </a:ext>
            </a:extLst>
          </p:cNvPr>
          <p:cNvCxnSpPr/>
          <p:nvPr/>
        </p:nvCxnSpPr>
        <p:spPr>
          <a:xfrm>
            <a:off x="2167128" y="3346704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651B07-367F-ACCE-5249-EEC9AE3BFBD2}"/>
              </a:ext>
            </a:extLst>
          </p:cNvPr>
          <p:cNvCxnSpPr/>
          <p:nvPr/>
        </p:nvCxnSpPr>
        <p:spPr>
          <a:xfrm>
            <a:off x="9259824" y="3864864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E01392-65D9-904C-9D29-EDBDB465DB79}"/>
              </a:ext>
            </a:extLst>
          </p:cNvPr>
          <p:cNvCxnSpPr/>
          <p:nvPr/>
        </p:nvCxnSpPr>
        <p:spPr>
          <a:xfrm>
            <a:off x="9259824" y="4350411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48ABAC-7EBF-7F1F-C65B-8A18E2E1C8BF}"/>
              </a:ext>
            </a:extLst>
          </p:cNvPr>
          <p:cNvCxnSpPr/>
          <p:nvPr/>
        </p:nvCxnSpPr>
        <p:spPr>
          <a:xfrm>
            <a:off x="2167128" y="4716171"/>
            <a:ext cx="402336" cy="3657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6036A5-6621-E540-745D-C225859C70FE}"/>
              </a:ext>
            </a:extLst>
          </p:cNvPr>
          <p:cNvCxnSpPr>
            <a:cxnSpLocks/>
          </p:cNvCxnSpPr>
          <p:nvPr/>
        </p:nvCxnSpPr>
        <p:spPr>
          <a:xfrm>
            <a:off x="10457688" y="4845102"/>
            <a:ext cx="0" cy="518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49AFFA-3356-C649-F60B-49D7F93607B5}"/>
              </a:ext>
            </a:extLst>
          </p:cNvPr>
          <p:cNvCxnSpPr>
            <a:cxnSpLocks/>
          </p:cNvCxnSpPr>
          <p:nvPr/>
        </p:nvCxnSpPr>
        <p:spPr>
          <a:xfrm>
            <a:off x="10792968" y="5081931"/>
            <a:ext cx="50901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C5599D-8515-F0BA-2744-AA0C3C627553}"/>
              </a:ext>
            </a:extLst>
          </p:cNvPr>
          <p:cNvCxnSpPr>
            <a:cxnSpLocks/>
          </p:cNvCxnSpPr>
          <p:nvPr/>
        </p:nvCxnSpPr>
        <p:spPr>
          <a:xfrm>
            <a:off x="3108960" y="4198011"/>
            <a:ext cx="0" cy="518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696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4286-5EA5-E1F2-C417-DEDAA543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91E3-1B95-DE31-1281-C859131B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32B5A-A318-F8DD-ADBE-46443F10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FBF715-80FD-B2E1-D584-9E1467DEFF40}"/>
              </a:ext>
            </a:extLst>
          </p:cNvPr>
          <p:cNvGraphicFramePr>
            <a:graphicFrameLocks noGrp="1"/>
          </p:cNvGraphicFramePr>
          <p:nvPr/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9A67FAA-D2C5-BD9B-BBCC-D2914161E6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 row by row: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9A67FAA-D2C5-BD9B-BBCC-D2914161E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704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0E7F-2402-251F-AB3A-30DDE979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9259-1DF5-1836-802E-0E5FAA56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031AE-F77B-96BF-BAAD-2B951164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4C7723-DFDB-2D45-BB4F-CBF3E9532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91980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A8BECB-754D-3352-006E-1947A092D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A8BECB-754D-3352-006E-1947A092D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62770A31-746E-DAC8-F72D-F8E9C4343DF2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09A1A77-1C22-2508-B64C-A53B7B9E5A04}"/>
              </a:ext>
            </a:extLst>
          </p:cNvPr>
          <p:cNvSpPr/>
          <p:nvPr/>
        </p:nvSpPr>
        <p:spPr>
          <a:xfrm rot="5400000">
            <a:off x="11353342" y="41224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78037FE-F22D-2351-D0D1-C7B72C6EBC39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D01126-C9C6-B6DD-4C28-82D663674BDE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5E5987B-7E32-6F1E-BC3E-0DC6C56B2568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BB521F8-FDC6-E2D1-72F3-618F875B9775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FB6FEC7-D99C-C86C-23E0-4FB82AA518A1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82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D49F8-5D84-9429-0C52-E748B5B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9AA5-833F-28DA-B9C1-378D0F84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1E7B-F8E9-D46D-232E-300163A2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1FACD4-DE24-0676-0116-299D94AF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9066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25559AA-472D-351A-E8B4-CAB3517956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25559AA-472D-351A-E8B4-CAB3517956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272DEBE3-C586-924F-6EE2-27574DF7DD6F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F18FEA9-5D17-3710-5772-B8A452A78D84}"/>
              </a:ext>
            </a:extLst>
          </p:cNvPr>
          <p:cNvSpPr/>
          <p:nvPr/>
        </p:nvSpPr>
        <p:spPr>
          <a:xfrm rot="5400000">
            <a:off x="11353342" y="41224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39E72E-3F10-0E1F-C8CB-A7489FE4D475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4312EF1-5407-6E03-5338-46AA27C7420F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AD117CB-65CC-3C41-6B7B-168F1F2F19A8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65AD569-C861-E334-4401-AA9DCF6BD0D4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6957E44-A009-725F-D7D4-2FDBCCFF6CC3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CB8854B-18A2-D809-A386-2A98E9747AC2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4BD5853-73FA-73B6-E8B1-DE89DFD92CB3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FFEEAB3-3F67-C18A-D9A0-D8B99CACE758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9AF54A6-DC0B-A510-71F7-4A9C87E30782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3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01F1-F94E-2C01-0EF9-A128FAD2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7BB4-6C7E-9217-C617-D9CE3796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DCD3-E2B1-D3C8-2099-A0BDAA2B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3CB7C2-445E-794C-B1A3-D0CB23422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352961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FAD825C-EB57-E36B-FF1D-185EAD28B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FAD825C-EB57-E36B-FF1D-185EAD28B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F382BA27-8E0D-62E7-EA15-F22CBE1B11B1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8A1E89-ADF6-0147-C0F1-BB9C68931244}"/>
              </a:ext>
            </a:extLst>
          </p:cNvPr>
          <p:cNvSpPr/>
          <p:nvPr/>
        </p:nvSpPr>
        <p:spPr>
          <a:xfrm rot="5400000">
            <a:off x="11385634" y="415478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9118331-254B-73E4-6AD6-23CC05CEB159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35FC2C-6F4F-4DFA-3C41-E712A1987AF6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407A4B1-69A7-E541-53B9-2C0CC1381276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7318C0-E957-D821-219D-C8A1E72388EC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C051D02-7A8C-FCA9-60C0-928D72DE07D0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DBAC6F5-7C8F-96BE-0556-5D6286F31634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707EE6A-B994-F6EE-3306-664AD41C5F0C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CB968DE-AE8B-A96A-65C1-2C2E633B0DE1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C2331AD-6946-CEA2-9CC0-5A263CBCFD2C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FA63632-7DCC-055B-2681-84644F234872}"/>
              </a:ext>
            </a:extLst>
          </p:cNvPr>
          <p:cNvSpPr/>
          <p:nvPr/>
        </p:nvSpPr>
        <p:spPr>
          <a:xfrm rot="2873019">
            <a:off x="1256753" y="34571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840F98F-581D-A118-E6BE-523E99F22C27}"/>
              </a:ext>
            </a:extLst>
          </p:cNvPr>
          <p:cNvSpPr/>
          <p:nvPr/>
        </p:nvSpPr>
        <p:spPr>
          <a:xfrm>
            <a:off x="1715408" y="362162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04D85D5-D3C7-7485-183F-78915777788B}"/>
              </a:ext>
            </a:extLst>
          </p:cNvPr>
          <p:cNvSpPr/>
          <p:nvPr/>
        </p:nvSpPr>
        <p:spPr>
          <a:xfrm rot="5400000">
            <a:off x="201145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8C7B1A9-D1A8-0EA6-9F65-7FE6CB68EF06}"/>
              </a:ext>
            </a:extLst>
          </p:cNvPr>
          <p:cNvSpPr/>
          <p:nvPr/>
        </p:nvSpPr>
        <p:spPr>
          <a:xfrm rot="2873019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1E2CF39-E332-C386-4A39-3D8163A2986B}"/>
              </a:ext>
            </a:extLst>
          </p:cNvPr>
          <p:cNvSpPr/>
          <p:nvPr/>
        </p:nvSpPr>
        <p:spPr>
          <a:xfrm rot="2873019">
            <a:off x="2718366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05156A5-008A-5411-6780-79356DB53FE8}"/>
              </a:ext>
            </a:extLst>
          </p:cNvPr>
          <p:cNvSpPr/>
          <p:nvPr/>
        </p:nvSpPr>
        <p:spPr>
          <a:xfrm>
            <a:off x="2704197" y="367608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32BF6DE-8095-4BFF-8CB1-F94E690E7000}"/>
              </a:ext>
            </a:extLst>
          </p:cNvPr>
          <p:cNvSpPr/>
          <p:nvPr/>
        </p:nvSpPr>
        <p:spPr>
          <a:xfrm>
            <a:off x="3195746" y="365019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5ABDBE4-4EAA-A311-FBD6-737658F355AE}"/>
              </a:ext>
            </a:extLst>
          </p:cNvPr>
          <p:cNvSpPr/>
          <p:nvPr/>
        </p:nvSpPr>
        <p:spPr>
          <a:xfrm>
            <a:off x="3666784" y="36501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8BB6D23-6833-1954-FEF3-7CCFEB447B75}"/>
              </a:ext>
            </a:extLst>
          </p:cNvPr>
          <p:cNvSpPr/>
          <p:nvPr/>
        </p:nvSpPr>
        <p:spPr>
          <a:xfrm rot="5400000">
            <a:off x="492884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5ECAAE0-04B8-2E86-369C-0E337DB434E7}"/>
              </a:ext>
            </a:extLst>
          </p:cNvPr>
          <p:cNvSpPr/>
          <p:nvPr/>
        </p:nvSpPr>
        <p:spPr>
          <a:xfrm rot="5400000">
            <a:off x="4433110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61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D611-A72E-0473-374A-EB223F47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2E6B-1301-753B-4CDF-B8727520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48A0A-CF56-43F5-3448-8450237C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8D74DC-2248-9360-5901-728A124D5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559170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8585D25-FE6A-9D7F-B0B0-BADAD049D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8585D25-FE6A-9D7F-B0B0-BADAD049D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20D5F0CC-FC74-BE50-D3E6-8F262CAAD60D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54D918-9AD9-52E0-81A2-6316EA9E63D5}"/>
              </a:ext>
            </a:extLst>
          </p:cNvPr>
          <p:cNvSpPr/>
          <p:nvPr/>
        </p:nvSpPr>
        <p:spPr>
          <a:xfrm rot="5400000">
            <a:off x="11385634" y="415478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600A27-796C-36BD-A717-06793DB5C172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6DD2147-4A3B-DFED-02B4-A74AA6B3CB16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760041E-9874-27F7-7215-7BFF6AB69F33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B75851-7D10-6061-2960-749C3AA2B027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466B9F2-C3AC-00D9-39D1-163711E5D83B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7F0B769-17E5-CAE0-6CBE-46B95EAB59D1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9D3CF6C-6F98-BC9A-49B6-3C0418518C10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ACD6124-AD67-6682-4CAE-B233F9B16644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08BE539-060D-EC8A-7633-79D639E1681A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C035327-8B44-3FA8-E953-8037802FAEF5}"/>
              </a:ext>
            </a:extLst>
          </p:cNvPr>
          <p:cNvSpPr/>
          <p:nvPr/>
        </p:nvSpPr>
        <p:spPr>
          <a:xfrm rot="2873019">
            <a:off x="1256753" y="34571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745BF09-0498-3947-0A1A-3061CE14564E}"/>
              </a:ext>
            </a:extLst>
          </p:cNvPr>
          <p:cNvSpPr/>
          <p:nvPr/>
        </p:nvSpPr>
        <p:spPr>
          <a:xfrm>
            <a:off x="1715408" y="362162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C5ADD3B-865B-AC4E-FB19-9B407B7B9FAC}"/>
              </a:ext>
            </a:extLst>
          </p:cNvPr>
          <p:cNvSpPr/>
          <p:nvPr/>
        </p:nvSpPr>
        <p:spPr>
          <a:xfrm rot="5400000">
            <a:off x="201145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23E63C5-C6C3-8D4E-7405-C797C859A3CF}"/>
              </a:ext>
            </a:extLst>
          </p:cNvPr>
          <p:cNvSpPr/>
          <p:nvPr/>
        </p:nvSpPr>
        <p:spPr>
          <a:xfrm rot="2873019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C7A5AF0-40DF-FB53-3B92-8719C8D58173}"/>
              </a:ext>
            </a:extLst>
          </p:cNvPr>
          <p:cNvSpPr/>
          <p:nvPr/>
        </p:nvSpPr>
        <p:spPr>
          <a:xfrm rot="2873019">
            <a:off x="2718366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AD0D286-3BDB-E33B-1B52-CC3487A64C0D}"/>
              </a:ext>
            </a:extLst>
          </p:cNvPr>
          <p:cNvSpPr/>
          <p:nvPr/>
        </p:nvSpPr>
        <p:spPr>
          <a:xfrm>
            <a:off x="2704197" y="367608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329975A-03E1-8C21-6762-DFF838403CB3}"/>
              </a:ext>
            </a:extLst>
          </p:cNvPr>
          <p:cNvSpPr/>
          <p:nvPr/>
        </p:nvSpPr>
        <p:spPr>
          <a:xfrm>
            <a:off x="3195746" y="365019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7C3688A-F489-F856-EC0B-B2F36921462C}"/>
              </a:ext>
            </a:extLst>
          </p:cNvPr>
          <p:cNvSpPr/>
          <p:nvPr/>
        </p:nvSpPr>
        <p:spPr>
          <a:xfrm>
            <a:off x="3666784" y="36501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3F8E2CE-57D8-225C-5564-2C8077069C94}"/>
              </a:ext>
            </a:extLst>
          </p:cNvPr>
          <p:cNvSpPr/>
          <p:nvPr/>
        </p:nvSpPr>
        <p:spPr>
          <a:xfrm rot="5400000">
            <a:off x="492884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2980448-6332-67DE-0019-D4CBA932A8D7}"/>
              </a:ext>
            </a:extLst>
          </p:cNvPr>
          <p:cNvSpPr/>
          <p:nvPr/>
        </p:nvSpPr>
        <p:spPr>
          <a:xfrm rot="5400000">
            <a:off x="4433110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9E1A295-2E53-B3E4-6F0D-A7F87B46FAF7}"/>
              </a:ext>
            </a:extLst>
          </p:cNvPr>
          <p:cNvSpPr/>
          <p:nvPr/>
        </p:nvSpPr>
        <p:spPr>
          <a:xfrm rot="2873019">
            <a:off x="1248926" y="391457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5128D43-ECD3-CE7F-A2A0-2748AF1F15A3}"/>
              </a:ext>
            </a:extLst>
          </p:cNvPr>
          <p:cNvSpPr/>
          <p:nvPr/>
        </p:nvSpPr>
        <p:spPr>
          <a:xfrm>
            <a:off x="1707581" y="407905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6A2215F-B2DF-178F-C01C-E4315214DC86}"/>
              </a:ext>
            </a:extLst>
          </p:cNvPr>
          <p:cNvSpPr/>
          <p:nvPr/>
        </p:nvSpPr>
        <p:spPr>
          <a:xfrm rot="2873019">
            <a:off x="2244897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762D4DB-DC3C-46A3-DF7A-1D9E434F17FA}"/>
              </a:ext>
            </a:extLst>
          </p:cNvPr>
          <p:cNvSpPr/>
          <p:nvPr/>
        </p:nvSpPr>
        <p:spPr>
          <a:xfrm rot="2873019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C4E8E9D-B0D0-6AA6-D80A-A763084C521A}"/>
              </a:ext>
            </a:extLst>
          </p:cNvPr>
          <p:cNvSpPr/>
          <p:nvPr/>
        </p:nvSpPr>
        <p:spPr>
          <a:xfrm>
            <a:off x="3187919" y="410763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1958EEA9-C756-DC70-DE1D-7B50AAA35815}"/>
              </a:ext>
            </a:extLst>
          </p:cNvPr>
          <p:cNvSpPr/>
          <p:nvPr/>
        </p:nvSpPr>
        <p:spPr>
          <a:xfrm>
            <a:off x="3658957" y="41076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789E5C98-2ED5-128C-650A-E0CD420535AE}"/>
              </a:ext>
            </a:extLst>
          </p:cNvPr>
          <p:cNvSpPr/>
          <p:nvPr/>
        </p:nvSpPr>
        <p:spPr>
          <a:xfrm rot="5400000">
            <a:off x="4921018" y="387081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E047AADC-8145-4499-7290-8EDA208CF77F}"/>
              </a:ext>
            </a:extLst>
          </p:cNvPr>
          <p:cNvSpPr/>
          <p:nvPr/>
        </p:nvSpPr>
        <p:spPr>
          <a:xfrm>
            <a:off x="4172419" y="409672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E58C165-DC82-DA8A-AC63-BBE8C26B161E}"/>
              </a:ext>
            </a:extLst>
          </p:cNvPr>
          <p:cNvSpPr/>
          <p:nvPr/>
        </p:nvSpPr>
        <p:spPr>
          <a:xfrm>
            <a:off x="4677574" y="45353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A352435-EDBD-DC68-85C2-544567E7D5AA}"/>
              </a:ext>
            </a:extLst>
          </p:cNvPr>
          <p:cNvSpPr/>
          <p:nvPr/>
        </p:nvSpPr>
        <p:spPr>
          <a:xfrm rot="2873019">
            <a:off x="4660527" y="43033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78CEFFF-63A4-546B-139A-EB572623CB00}"/>
              </a:ext>
            </a:extLst>
          </p:cNvPr>
          <p:cNvSpPr/>
          <p:nvPr/>
        </p:nvSpPr>
        <p:spPr>
          <a:xfrm rot="2873019">
            <a:off x="4189489" y="436156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745610C-33D8-DECB-1122-FAE35541F940}"/>
              </a:ext>
            </a:extLst>
          </p:cNvPr>
          <p:cNvSpPr/>
          <p:nvPr/>
        </p:nvSpPr>
        <p:spPr>
          <a:xfrm>
            <a:off x="3693518" y="451937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6BA4034-4D8D-E7FD-98A7-48D6FAB7B03B}"/>
              </a:ext>
            </a:extLst>
          </p:cNvPr>
          <p:cNvSpPr/>
          <p:nvPr/>
        </p:nvSpPr>
        <p:spPr>
          <a:xfrm rot="2873019">
            <a:off x="3632883" y="431367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E8E23C9-DB50-0AA2-031D-BC233D300CD2}"/>
              </a:ext>
            </a:extLst>
          </p:cNvPr>
          <p:cNvSpPr/>
          <p:nvPr/>
        </p:nvSpPr>
        <p:spPr>
          <a:xfrm rot="2873019">
            <a:off x="3204966" y="435489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4B455D3D-9EC9-E601-9E75-B3917497A112}"/>
              </a:ext>
            </a:extLst>
          </p:cNvPr>
          <p:cNvSpPr/>
          <p:nvPr/>
        </p:nvSpPr>
        <p:spPr>
          <a:xfrm rot="54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9CF9646F-B12F-EB17-9D51-200132B8A8D6}"/>
              </a:ext>
            </a:extLst>
          </p:cNvPr>
          <p:cNvSpPr/>
          <p:nvPr/>
        </p:nvSpPr>
        <p:spPr>
          <a:xfrm>
            <a:off x="2219449" y="45353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E23D18A-5218-B510-5D98-9CFEEA18F1C0}"/>
              </a:ext>
            </a:extLst>
          </p:cNvPr>
          <p:cNvSpPr/>
          <p:nvPr/>
        </p:nvSpPr>
        <p:spPr>
          <a:xfrm rot="2873019">
            <a:off x="2691544" y="432769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2A2F3712-3F5A-835E-AF8A-264F418F0F67}"/>
              </a:ext>
            </a:extLst>
          </p:cNvPr>
          <p:cNvSpPr/>
          <p:nvPr/>
        </p:nvSpPr>
        <p:spPr>
          <a:xfrm rot="2873019">
            <a:off x="1752858" y="435460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2D3772EC-1E3B-6223-AC82-BABC611E2FEE}"/>
              </a:ext>
            </a:extLst>
          </p:cNvPr>
          <p:cNvSpPr/>
          <p:nvPr/>
        </p:nvSpPr>
        <p:spPr>
          <a:xfrm rot="5400000">
            <a:off x="1516313" y="431040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580E8D1-B280-A284-5E6B-1FFE6017D797}"/>
              </a:ext>
            </a:extLst>
          </p:cNvPr>
          <p:cNvSpPr/>
          <p:nvPr/>
        </p:nvSpPr>
        <p:spPr>
          <a:xfrm rot="2873019">
            <a:off x="4671232" y="480305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8F76369-5DE0-6130-33E7-9F15361F7391}"/>
              </a:ext>
            </a:extLst>
          </p:cNvPr>
          <p:cNvSpPr/>
          <p:nvPr/>
        </p:nvSpPr>
        <p:spPr>
          <a:xfrm rot="5400000">
            <a:off x="4449874" y="4751892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5C05FDE-2FFB-4272-FDE1-70CE98377CB1}"/>
              </a:ext>
            </a:extLst>
          </p:cNvPr>
          <p:cNvSpPr/>
          <p:nvPr/>
        </p:nvSpPr>
        <p:spPr>
          <a:xfrm>
            <a:off x="4156303" y="49790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89E3876-4587-FD1C-52B3-DBB572D10355}"/>
              </a:ext>
            </a:extLst>
          </p:cNvPr>
          <p:cNvSpPr/>
          <p:nvPr/>
        </p:nvSpPr>
        <p:spPr>
          <a:xfrm>
            <a:off x="3716581" y="496753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7276C0C-409F-B588-BD62-F62BCB7DF0D7}"/>
              </a:ext>
            </a:extLst>
          </p:cNvPr>
          <p:cNvSpPr/>
          <p:nvPr/>
        </p:nvSpPr>
        <p:spPr>
          <a:xfrm rot="2873019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E409BED-FE58-4916-05E0-46B8FD8E0CD1}"/>
              </a:ext>
            </a:extLst>
          </p:cNvPr>
          <p:cNvSpPr/>
          <p:nvPr/>
        </p:nvSpPr>
        <p:spPr>
          <a:xfrm rot="5400000">
            <a:off x="2984540" y="474977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B907DE0-816F-06E9-27E0-B5406F06151D}"/>
              </a:ext>
            </a:extLst>
          </p:cNvPr>
          <p:cNvSpPr/>
          <p:nvPr/>
        </p:nvSpPr>
        <p:spPr>
          <a:xfrm rot="5400000">
            <a:off x="1992591" y="474410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802DDC32-67B9-E405-3DA4-3FD2C4947C6C}"/>
              </a:ext>
            </a:extLst>
          </p:cNvPr>
          <p:cNvSpPr/>
          <p:nvPr/>
        </p:nvSpPr>
        <p:spPr>
          <a:xfrm rot="2873019">
            <a:off x="2234413" y="480305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B7FBD1D1-B91E-635E-3311-C424AFA35612}"/>
              </a:ext>
            </a:extLst>
          </p:cNvPr>
          <p:cNvSpPr/>
          <p:nvPr/>
        </p:nvSpPr>
        <p:spPr>
          <a:xfrm>
            <a:off x="4677574" y="54307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293EE0BC-B979-F0AC-9F10-45681517DDBF}"/>
              </a:ext>
            </a:extLst>
          </p:cNvPr>
          <p:cNvSpPr/>
          <p:nvPr/>
        </p:nvSpPr>
        <p:spPr>
          <a:xfrm>
            <a:off x="4185103" y="543058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0E9413E-D75B-5A71-2118-E2679DD45CC7}"/>
              </a:ext>
            </a:extLst>
          </p:cNvPr>
          <p:cNvSpPr/>
          <p:nvPr/>
        </p:nvSpPr>
        <p:spPr>
          <a:xfrm rot="2873019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4B51E9F1-D57D-CE03-8D9C-B380B9BBA94F}"/>
              </a:ext>
            </a:extLst>
          </p:cNvPr>
          <p:cNvSpPr/>
          <p:nvPr/>
        </p:nvSpPr>
        <p:spPr>
          <a:xfrm rot="5400000">
            <a:off x="3470019" y="521265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51C747A-A6B9-B236-7F4B-05226364E8BD}"/>
              </a:ext>
            </a:extLst>
          </p:cNvPr>
          <p:cNvSpPr/>
          <p:nvPr/>
        </p:nvSpPr>
        <p:spPr>
          <a:xfrm rot="5400000">
            <a:off x="2964625" y="5207267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34516B8-2F69-14F6-D83A-2C0ADD251300}"/>
              </a:ext>
            </a:extLst>
          </p:cNvPr>
          <p:cNvSpPr/>
          <p:nvPr/>
        </p:nvSpPr>
        <p:spPr>
          <a:xfrm rot="5400000">
            <a:off x="2003075" y="519207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10B7B466-DD70-1886-09A9-7C4FD9DBD5A0}"/>
              </a:ext>
            </a:extLst>
          </p:cNvPr>
          <p:cNvSpPr/>
          <p:nvPr/>
        </p:nvSpPr>
        <p:spPr>
          <a:xfrm rot="2873019">
            <a:off x="2244897" y="525102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5E8B98B-F928-75E5-B682-52F189B24BE6}"/>
              </a:ext>
            </a:extLst>
          </p:cNvPr>
          <p:cNvSpPr/>
          <p:nvPr/>
        </p:nvSpPr>
        <p:spPr>
          <a:xfrm rot="5400000">
            <a:off x="2480494" y="519207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8FBFBDEE-09C5-F436-83E4-68FE201CD07B}"/>
              </a:ext>
            </a:extLst>
          </p:cNvPr>
          <p:cNvSpPr/>
          <p:nvPr/>
        </p:nvSpPr>
        <p:spPr>
          <a:xfrm rot="2873019">
            <a:off x="4199153" y="568633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A62F03F8-01B2-B85D-8696-AC337C75BCD1}"/>
              </a:ext>
            </a:extLst>
          </p:cNvPr>
          <p:cNvSpPr/>
          <p:nvPr/>
        </p:nvSpPr>
        <p:spPr>
          <a:xfrm rot="5400000">
            <a:off x="3975654" y="565802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1F51098-39F9-F211-C5C4-B3E26682E377}"/>
              </a:ext>
            </a:extLst>
          </p:cNvPr>
          <p:cNvSpPr/>
          <p:nvPr/>
        </p:nvSpPr>
        <p:spPr>
          <a:xfrm rot="2873019">
            <a:off x="4636218" y="568633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3CFE15CE-D612-961B-42C4-CDCB578AFC7A}"/>
              </a:ext>
            </a:extLst>
          </p:cNvPr>
          <p:cNvSpPr/>
          <p:nvPr/>
        </p:nvSpPr>
        <p:spPr>
          <a:xfrm rot="5400000">
            <a:off x="3470019" y="566967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E6FFD07E-7C62-AE57-CD8A-ADB482B8DE66}"/>
              </a:ext>
            </a:extLst>
          </p:cNvPr>
          <p:cNvSpPr/>
          <p:nvPr/>
        </p:nvSpPr>
        <p:spPr>
          <a:xfrm rot="2873019">
            <a:off x="2734993" y="566951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D7B08FF4-5879-BA14-D0ED-FAE3C7ED8BF3}"/>
              </a:ext>
            </a:extLst>
          </p:cNvPr>
          <p:cNvSpPr/>
          <p:nvPr/>
        </p:nvSpPr>
        <p:spPr>
          <a:xfrm rot="2873019">
            <a:off x="2225790" y="569327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D9C910C1-8640-57C6-4802-B9585210E0FC}"/>
              </a:ext>
            </a:extLst>
          </p:cNvPr>
          <p:cNvSpPr/>
          <p:nvPr/>
        </p:nvSpPr>
        <p:spPr>
          <a:xfrm rot="2873019">
            <a:off x="1256753" y="568633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FE1A9EC1-1D2A-4468-1EEB-F9929D65DC53}"/>
              </a:ext>
            </a:extLst>
          </p:cNvPr>
          <p:cNvSpPr/>
          <p:nvPr/>
        </p:nvSpPr>
        <p:spPr>
          <a:xfrm rot="2873019">
            <a:off x="1721750" y="611781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31318C25-0957-C133-ED6F-DB2B07ECF836}"/>
              </a:ext>
            </a:extLst>
          </p:cNvPr>
          <p:cNvSpPr/>
          <p:nvPr/>
        </p:nvSpPr>
        <p:spPr>
          <a:xfrm>
            <a:off x="1731484" y="587698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C2881D71-57EE-865B-2E76-2B3703F4EE2A}"/>
              </a:ext>
            </a:extLst>
          </p:cNvPr>
          <p:cNvSpPr/>
          <p:nvPr/>
        </p:nvSpPr>
        <p:spPr>
          <a:xfrm rot="5400000">
            <a:off x="1503572" y="6095023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9DA9E98C-BE49-8262-00B7-D6CC5B51F51F}"/>
              </a:ext>
            </a:extLst>
          </p:cNvPr>
          <p:cNvSpPr/>
          <p:nvPr/>
        </p:nvSpPr>
        <p:spPr>
          <a:xfrm rot="5400000">
            <a:off x="2478766" y="6091754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C515C65F-D4E2-19BA-1BCA-42217EE86C6C}"/>
              </a:ext>
            </a:extLst>
          </p:cNvPr>
          <p:cNvSpPr/>
          <p:nvPr/>
        </p:nvSpPr>
        <p:spPr>
          <a:xfrm rot="5400000">
            <a:off x="2975482" y="6109833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26DB36B1-B1E2-F54C-CAF8-4CC7B3809998}"/>
              </a:ext>
            </a:extLst>
          </p:cNvPr>
          <p:cNvSpPr/>
          <p:nvPr/>
        </p:nvSpPr>
        <p:spPr>
          <a:xfrm rot="5400000">
            <a:off x="4449874" y="610958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967B3C90-57F8-2079-245F-947CACE6CE5F}"/>
              </a:ext>
            </a:extLst>
          </p:cNvPr>
          <p:cNvSpPr/>
          <p:nvPr/>
        </p:nvSpPr>
        <p:spPr>
          <a:xfrm rot="5400000">
            <a:off x="3949220" y="610958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3688098B-6C08-8378-6006-3D4DBB235901}"/>
              </a:ext>
            </a:extLst>
          </p:cNvPr>
          <p:cNvSpPr/>
          <p:nvPr/>
        </p:nvSpPr>
        <p:spPr>
          <a:xfrm rot="2873019">
            <a:off x="4661251" y="611472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ABDA2327-59C2-9965-96D6-4F92245A3C7C}"/>
              </a:ext>
            </a:extLst>
          </p:cNvPr>
          <p:cNvSpPr/>
          <p:nvPr/>
        </p:nvSpPr>
        <p:spPr>
          <a:xfrm rot="2873019">
            <a:off x="3179314" y="612604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61DE188F-1D73-D546-CF6A-ACECF3C73753}"/>
              </a:ext>
            </a:extLst>
          </p:cNvPr>
          <p:cNvSpPr/>
          <p:nvPr/>
        </p:nvSpPr>
        <p:spPr>
          <a:xfrm rot="2873019">
            <a:off x="2683601" y="61063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36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4099-9158-3538-040A-B65BCBA5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EF88-028A-3E2C-DF00-C533DD40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3AA8F-F094-D5D5-1600-25DEE9FA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45F618-752E-85E3-295D-7250BDB01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219775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EDD041-ED18-7AF9-BD5A-E4BBEE7B2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91" y="1596540"/>
            <a:ext cx="5955494" cy="4759811"/>
          </a:xfrm>
        </p:spPr>
        <p:txBody>
          <a:bodyPr>
            <a:normAutofit/>
          </a:bodyPr>
          <a:lstStyle/>
          <a:p>
            <a:r>
              <a:rPr lang="en-US"/>
              <a:t>Align sequences: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/>
              <a:t>and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/>
              <a:t>Pick the cell with the highest score</a:t>
            </a:r>
          </a:p>
          <a:p>
            <a:r>
              <a:rPr lang="en-US"/>
              <a:t>Traceback exploring all return paths of the same score</a:t>
            </a:r>
          </a:p>
          <a:p>
            <a:pPr lvl="1"/>
            <a:r>
              <a:rPr lang="en-US"/>
              <a:t>at every step choose the highest score</a:t>
            </a:r>
          </a:p>
          <a:p>
            <a:pPr lvl="1"/>
            <a:r>
              <a:rPr lang="en-US"/>
              <a:t>stop at 0</a:t>
            </a:r>
            <a:br>
              <a:rPr lang="en-US"/>
            </a:br>
            <a:endParaRPr lang="en-US" i="1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F814722-A202-F5FE-71F9-E712756759E7}"/>
              </a:ext>
            </a:extLst>
          </p:cNvPr>
          <p:cNvSpPr/>
          <p:nvPr/>
        </p:nvSpPr>
        <p:spPr>
          <a:xfrm rot="13851021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311840A-9B84-2D2D-C9EA-BB55BAB56235}"/>
              </a:ext>
            </a:extLst>
          </p:cNvPr>
          <p:cNvSpPr/>
          <p:nvPr/>
        </p:nvSpPr>
        <p:spPr>
          <a:xfrm rot="13651325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57DACBA3-0D6D-B3E5-0E2F-B75C658EBCF2}"/>
              </a:ext>
            </a:extLst>
          </p:cNvPr>
          <p:cNvSpPr/>
          <p:nvPr/>
        </p:nvSpPr>
        <p:spPr>
          <a:xfrm rot="13721196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B019C353-6451-CFE4-D294-0B75177D4B48}"/>
              </a:ext>
            </a:extLst>
          </p:cNvPr>
          <p:cNvSpPr/>
          <p:nvPr/>
        </p:nvSpPr>
        <p:spPr>
          <a:xfrm rot="162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4D44DF3-3B2E-FBEC-CA89-01A0B8352CC6}"/>
              </a:ext>
            </a:extLst>
          </p:cNvPr>
          <p:cNvSpPr/>
          <p:nvPr/>
        </p:nvSpPr>
        <p:spPr>
          <a:xfrm rot="13361285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65AF508-20C9-F44E-5604-BB3D1F5AC92E}"/>
              </a:ext>
            </a:extLst>
          </p:cNvPr>
          <p:cNvSpPr/>
          <p:nvPr/>
        </p:nvSpPr>
        <p:spPr>
          <a:xfrm rot="13580438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14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E5C8-9B77-E0FB-F0AA-8C0F398B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A68F-502A-5378-30ED-90383CDF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8ABE-9880-8315-3051-ED152DC8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B29717-4E47-0960-F7E8-A8EE9007CD41}"/>
              </a:ext>
            </a:extLst>
          </p:cNvPr>
          <p:cNvGraphicFramePr>
            <a:graphicFrameLocks noGrp="1"/>
          </p:cNvGraphicFramePr>
          <p:nvPr/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EC417F-788A-8A9E-F188-2395F126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91" y="1596540"/>
            <a:ext cx="5955494" cy="4759811"/>
          </a:xfrm>
        </p:spPr>
        <p:txBody>
          <a:bodyPr>
            <a:normAutofit/>
          </a:bodyPr>
          <a:lstStyle/>
          <a:p>
            <a:r>
              <a:rPr lang="en-US"/>
              <a:t>Align sequences: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/>
              <a:t>and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/>
              <a:t>Alignment result: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GTT-AC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 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||| ||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TA</a:t>
            </a:r>
            <a:endParaRPr lang="en-US" i="1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8EF223B-2791-461D-855B-4B79FD1AE2CB}"/>
              </a:ext>
            </a:extLst>
          </p:cNvPr>
          <p:cNvSpPr/>
          <p:nvPr/>
        </p:nvSpPr>
        <p:spPr>
          <a:xfrm rot="13851021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BDF3C95-A033-465F-8955-5DE1FABF00D4}"/>
              </a:ext>
            </a:extLst>
          </p:cNvPr>
          <p:cNvSpPr/>
          <p:nvPr/>
        </p:nvSpPr>
        <p:spPr>
          <a:xfrm rot="13651325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673EC962-155B-C255-0110-42A89D783040}"/>
              </a:ext>
            </a:extLst>
          </p:cNvPr>
          <p:cNvSpPr/>
          <p:nvPr/>
        </p:nvSpPr>
        <p:spPr>
          <a:xfrm rot="13721196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86E1883-9C7C-99AC-CDAB-5525B426602D}"/>
              </a:ext>
            </a:extLst>
          </p:cNvPr>
          <p:cNvSpPr/>
          <p:nvPr/>
        </p:nvSpPr>
        <p:spPr>
          <a:xfrm rot="162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2EF1E2D-A56B-B44E-3240-EFDAAB45BC19}"/>
              </a:ext>
            </a:extLst>
          </p:cNvPr>
          <p:cNvSpPr/>
          <p:nvPr/>
        </p:nvSpPr>
        <p:spPr>
          <a:xfrm rot="13361285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E168D723-1D3C-2A8E-7F38-83AECB3239FB}"/>
              </a:ext>
            </a:extLst>
          </p:cNvPr>
          <p:cNvSpPr/>
          <p:nvPr/>
        </p:nvSpPr>
        <p:spPr>
          <a:xfrm rot="13580438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07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0F9D-EC02-4155-020F-89947309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of two genomes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AF36-04A2-FCFE-A6EC-5DD8D73D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Consider two genomes, each in many contiguous pieces (contigs), </a:t>
            </a:r>
            <a:r>
              <a:rPr lang="en-US" i="1" dirty="0"/>
              <a:t>M</a:t>
            </a:r>
            <a:r>
              <a:rPr lang="en-US" dirty="0"/>
              <a:t> and </a:t>
            </a:r>
            <a:r>
              <a:rPr lang="en-US" i="1" dirty="0"/>
              <a:t>N, </a:t>
            </a:r>
            <a:r>
              <a:rPr lang="en-US" dirty="0"/>
              <a:t>of average size </a:t>
            </a:r>
            <a:r>
              <a:rPr lang="en-US" i="1" dirty="0"/>
              <a:t>m</a:t>
            </a:r>
            <a:r>
              <a:rPr lang="en-US" dirty="0"/>
              <a:t> and </a:t>
            </a:r>
            <a:r>
              <a:rPr lang="en-US" i="1" dirty="0"/>
              <a:t>n</a:t>
            </a:r>
          </a:p>
          <a:p>
            <a:r>
              <a:rPr lang="en-US" dirty="0"/>
              <a:t>Each Smith-Waterman contig-to-contig alignment would include doing </a:t>
            </a:r>
            <a:r>
              <a:rPr lang="en-US" i="1" dirty="0"/>
              <a:t>O(m*n) </a:t>
            </a:r>
            <a:r>
              <a:rPr lang="en-US" dirty="0"/>
              <a:t>operations, and we must do it </a:t>
            </a:r>
            <a:r>
              <a:rPr lang="en-US" i="1" dirty="0"/>
              <a:t>M*N</a:t>
            </a:r>
            <a:r>
              <a:rPr lang="en-US" dirty="0"/>
              <a:t> times, so the total cost is </a:t>
            </a:r>
            <a:r>
              <a:rPr lang="en-US" i="1" dirty="0"/>
              <a:t>O(M*N*m*n)</a:t>
            </a:r>
          </a:p>
          <a:p>
            <a:r>
              <a:rPr lang="en-US" dirty="0"/>
              <a:t>A solution is to seed the alignments with short exact matches:</a:t>
            </a:r>
          </a:p>
          <a:p>
            <a:pPr lvl="1"/>
            <a:r>
              <a:rPr lang="en-US" dirty="0"/>
              <a:t>Maximal Exact Matches (MEMs), based on suffix tree or suffix array</a:t>
            </a:r>
          </a:p>
          <a:p>
            <a:pPr lvl="1"/>
            <a:r>
              <a:rPr lang="en-US" dirty="0"/>
              <a:t>Minimizers</a:t>
            </a:r>
          </a:p>
          <a:p>
            <a:r>
              <a:rPr lang="en-US" dirty="0"/>
              <a:t>Then do Smith-Waterman in-between the seeds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8F6C-ADEA-8F0E-9D57-B6452A26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226F8D-7FAE-FDE8-A8BC-C1522336F7EF}"/>
              </a:ext>
            </a:extLst>
          </p:cNvPr>
          <p:cNvCxnSpPr/>
          <p:nvPr/>
        </p:nvCxnSpPr>
        <p:spPr>
          <a:xfrm>
            <a:off x="1177320" y="6322480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12D24A-FBC7-0E5C-4BB2-0135DAE38578}"/>
              </a:ext>
            </a:extLst>
          </p:cNvPr>
          <p:cNvCxnSpPr/>
          <p:nvPr/>
        </p:nvCxnSpPr>
        <p:spPr>
          <a:xfrm>
            <a:off x="1177320" y="5667484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4F60212-DD96-ACD8-FFD1-E2D4C79D2B4B}"/>
              </a:ext>
            </a:extLst>
          </p:cNvPr>
          <p:cNvSpPr/>
          <p:nvPr/>
        </p:nvSpPr>
        <p:spPr>
          <a:xfrm>
            <a:off x="2033080" y="5638919"/>
            <a:ext cx="982494" cy="57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94EE0-767F-BF26-FC6B-94A37845B8D9}"/>
              </a:ext>
            </a:extLst>
          </p:cNvPr>
          <p:cNvSpPr/>
          <p:nvPr/>
        </p:nvSpPr>
        <p:spPr>
          <a:xfrm>
            <a:off x="2033080" y="6299221"/>
            <a:ext cx="982494" cy="57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7BF79-2374-43DC-561E-C364ECFFC78D}"/>
              </a:ext>
            </a:extLst>
          </p:cNvPr>
          <p:cNvSpPr/>
          <p:nvPr/>
        </p:nvSpPr>
        <p:spPr>
          <a:xfrm>
            <a:off x="3958786" y="5638919"/>
            <a:ext cx="1255239" cy="5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3539B-BD33-2022-9B81-61A997DDBE3D}"/>
              </a:ext>
            </a:extLst>
          </p:cNvPr>
          <p:cNvSpPr/>
          <p:nvPr/>
        </p:nvSpPr>
        <p:spPr>
          <a:xfrm>
            <a:off x="4121468" y="6293919"/>
            <a:ext cx="1255239" cy="5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65F94-4CA1-41AC-740C-292CD9974682}"/>
              </a:ext>
            </a:extLst>
          </p:cNvPr>
          <p:cNvSpPr/>
          <p:nvPr/>
        </p:nvSpPr>
        <p:spPr>
          <a:xfrm>
            <a:off x="7743217" y="5638919"/>
            <a:ext cx="994383" cy="57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FEA522-36E8-5D8D-981A-46364EF75899}"/>
              </a:ext>
            </a:extLst>
          </p:cNvPr>
          <p:cNvSpPr/>
          <p:nvPr/>
        </p:nvSpPr>
        <p:spPr>
          <a:xfrm>
            <a:off x="7574605" y="6284580"/>
            <a:ext cx="994383" cy="57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D2B855-7910-50D0-352D-8D91653E4A7A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>
            <a:off x="2524327" y="5696049"/>
            <a:ext cx="0" cy="66030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58FACF-CDFB-8D55-21BE-78CC37F935E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4586406" y="5696041"/>
            <a:ext cx="162682" cy="59787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32FCD0-7ACF-3EA5-17CE-F0BA71B69C0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071797" y="5696034"/>
            <a:ext cx="168612" cy="58854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57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E81F-715D-37C0-6B15-A63FCE62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</a:t>
            </a:r>
            <a:r>
              <a:rPr lang="en-US" dirty="0" err="1"/>
              <a:t>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EA48-CBB3-7385-C2F3-9314513B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 dirty="0"/>
              <a:t>K-mer is a subsequence of length </a:t>
            </a:r>
            <a:r>
              <a:rPr lang="en-US" i="1" dirty="0"/>
              <a:t>K</a:t>
            </a:r>
            <a:r>
              <a:rPr lang="en-US" dirty="0"/>
              <a:t> of a genomic sequence</a:t>
            </a:r>
          </a:p>
          <a:p>
            <a:r>
              <a:rPr lang="en-US" dirty="0"/>
              <a:t>A genomic sequence of length </a:t>
            </a:r>
            <a:r>
              <a:rPr lang="en-US" i="1" dirty="0"/>
              <a:t>L</a:t>
            </a:r>
            <a:r>
              <a:rPr lang="en-US" dirty="0"/>
              <a:t> has </a:t>
            </a:r>
            <a:r>
              <a:rPr lang="en-US" i="1" dirty="0"/>
              <a:t>L-K+1</a:t>
            </a:r>
            <a:r>
              <a:rPr lang="en-US" dirty="0"/>
              <a:t>, K-</a:t>
            </a:r>
            <a:r>
              <a:rPr lang="en-US" dirty="0" err="1"/>
              <a:t>mers</a:t>
            </a:r>
            <a:endParaRPr lang="en-US" dirty="0"/>
          </a:p>
          <a:p>
            <a:r>
              <a:rPr lang="en-US" dirty="0"/>
              <a:t>A K-mer is </a:t>
            </a:r>
            <a:r>
              <a:rPr lang="en-US" u="sng" dirty="0"/>
              <a:t>canonical</a:t>
            </a:r>
            <a:r>
              <a:rPr lang="en-US" dirty="0"/>
              <a:t> if it comes before its reverse complement in lexicographic order</a:t>
            </a:r>
          </a:p>
          <a:p>
            <a:r>
              <a:rPr lang="en-US" dirty="0"/>
              <a:t>These two 10-mers are the same, the canonical one is in the red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GCTAGAGACT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AGTCTCTAGC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28FA5-D05E-67B6-9BCE-32B3D93F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10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ADC2-643A-9942-2E97-D4A4359C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271-2E63-2B77-628C-C862E45A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66007-3041-1D4A-F8C9-9FD64CAC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E4227-3FCB-F36B-90B0-190EEA43EA6B}"/>
              </a:ext>
            </a:extLst>
          </p:cNvPr>
          <p:cNvSpPr txBox="1"/>
          <p:nvPr/>
        </p:nvSpPr>
        <p:spPr>
          <a:xfrm>
            <a:off x="2791144" y="1976283"/>
            <a:ext cx="5339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8C5C9-9A98-D81B-AD5B-F1C4A5CFFF08}"/>
              </a:ext>
            </a:extLst>
          </p:cNvPr>
          <p:cNvSpPr txBox="1"/>
          <p:nvPr/>
        </p:nvSpPr>
        <p:spPr>
          <a:xfrm>
            <a:off x="2791144" y="2358088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D169C-DFF6-7A29-FDA9-B9AB15A20F24}"/>
              </a:ext>
            </a:extLst>
          </p:cNvPr>
          <p:cNvSpPr txBox="1"/>
          <p:nvPr/>
        </p:nvSpPr>
        <p:spPr>
          <a:xfrm>
            <a:off x="4064890" y="2739893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7 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8258E-BA84-CCFA-E7E3-B442833B10CC}"/>
              </a:ext>
            </a:extLst>
          </p:cNvPr>
          <p:cNvSpPr txBox="1"/>
          <p:nvPr/>
        </p:nvSpPr>
        <p:spPr>
          <a:xfrm>
            <a:off x="5583575" y="3075751"/>
            <a:ext cx="2547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 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888402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8C3D0-D610-446D-E230-C1B3434B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3876-C4B5-D466-4B53-697540F1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667C5-D108-9CD9-3AD6-F3F41885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04B52-F418-F2BA-8889-666480AB888C}"/>
              </a:ext>
            </a:extLst>
          </p:cNvPr>
          <p:cNvSpPr txBox="1"/>
          <p:nvPr/>
        </p:nvSpPr>
        <p:spPr>
          <a:xfrm>
            <a:off x="2003213" y="1597466"/>
            <a:ext cx="409278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AGATA (1,5)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  GATAG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ATAGA (7,15)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TAGAT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AGATA (1,5)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ATAGA (3,16)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TAGAC (17)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AGACA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GACAA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ACAAC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CAACA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AACAT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ACATA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CATAG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ATAGA (7,3)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TAGAC (8)</a:t>
            </a:r>
          </a:p>
          <a:p>
            <a:pPr marL="457200" indent="-457200">
              <a:buAutoNum type="arabicPlain" startAt="3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AGACT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1E610-59A7-B651-52AA-DE01EE9833FA}"/>
              </a:ext>
            </a:extLst>
          </p:cNvPr>
          <p:cNvSpPr txBox="1"/>
          <p:nvPr/>
        </p:nvSpPr>
        <p:spPr>
          <a:xfrm>
            <a:off x="8405364" y="1774447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777E9-7A87-8783-2435-F783CEAE0394}"/>
              </a:ext>
            </a:extLst>
          </p:cNvPr>
          <p:cNvSpPr txBox="1"/>
          <p:nvPr/>
        </p:nvSpPr>
        <p:spPr>
          <a:xfrm>
            <a:off x="8405364" y="2195776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65877-06BF-6B49-EDE7-AF0C04337667}"/>
              </a:ext>
            </a:extLst>
          </p:cNvPr>
          <p:cNvSpPr txBox="1"/>
          <p:nvPr/>
        </p:nvSpPr>
        <p:spPr>
          <a:xfrm>
            <a:off x="8405364" y="2617105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3427682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EEDB-8E6F-9589-0DC0-59EBD0AD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4BEA-D15E-7E85-658C-A1E3886B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04BC1-3680-5640-1958-1494B4A2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37F36-4596-6B10-9E97-61F7E38BDB21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 (1,5)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B331B-8B26-B760-5CCD-760973AD0A7E}"/>
              </a:ext>
            </a:extLst>
          </p:cNvPr>
          <p:cNvSpPr txBox="1"/>
          <p:nvPr/>
        </p:nvSpPr>
        <p:spPr>
          <a:xfrm>
            <a:off x="8405364" y="1774447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3B65C-0F43-7B22-7552-F273B5E4AFA2}"/>
              </a:ext>
            </a:extLst>
          </p:cNvPr>
          <p:cNvSpPr txBox="1"/>
          <p:nvPr/>
        </p:nvSpPr>
        <p:spPr>
          <a:xfrm>
            <a:off x="8405364" y="2195776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14593-17A0-B753-B44F-AD009E8B388D}"/>
              </a:ext>
            </a:extLst>
          </p:cNvPr>
          <p:cNvSpPr txBox="1"/>
          <p:nvPr/>
        </p:nvSpPr>
        <p:spPr>
          <a:xfrm>
            <a:off x="8405364" y="2617105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</p:spTree>
    <p:extLst>
      <p:ext uri="{BB962C8B-B14F-4D97-AF65-F5344CB8AC3E}">
        <p14:creationId xmlns:p14="http://schemas.microsoft.com/office/powerpoint/2010/main" val="1709966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C3D1-4845-BD27-0935-33A8FC80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53CF-003C-61BC-C262-4780C8BF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AEFD-95A1-6EB2-CB45-7A8A10E1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7EF48-7E81-E6B4-5F8D-678ADE1D300C}"/>
              </a:ext>
            </a:extLst>
          </p:cNvPr>
          <p:cNvSpPr txBox="1"/>
          <p:nvPr/>
        </p:nvSpPr>
        <p:spPr>
          <a:xfrm>
            <a:off x="8405364" y="1774447"/>
            <a:ext cx="27093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1,1,5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D080A-814F-AB25-8F6F-429A6DF38BDC}"/>
              </a:ext>
            </a:extLst>
          </p:cNvPr>
          <p:cNvSpPr txBox="1"/>
          <p:nvPr/>
        </p:nvSpPr>
        <p:spPr>
          <a:xfrm>
            <a:off x="8405364" y="4673889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9B05B-398F-EDC7-3FF8-D54A62FAA951}"/>
              </a:ext>
            </a:extLst>
          </p:cNvPr>
          <p:cNvSpPr txBox="1"/>
          <p:nvPr/>
        </p:nvSpPr>
        <p:spPr>
          <a:xfrm>
            <a:off x="8405364" y="3195299"/>
            <a:ext cx="1903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0CF4A-3A25-58A0-9AFC-CA67747DD49C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(1,5)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GATAG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</p:spTree>
    <p:extLst>
      <p:ext uri="{BB962C8B-B14F-4D97-AF65-F5344CB8AC3E}">
        <p14:creationId xmlns:p14="http://schemas.microsoft.com/office/powerpoint/2010/main" val="3495650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7E98-0701-9085-304A-7B9DA0A8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EDB7-6A3E-53FE-B564-631478D1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seed 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94C80-C47D-661D-7456-BBCBD2D8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B7C42-764C-F5ED-BA2E-5F37CAACA1FF}"/>
              </a:ext>
            </a:extLst>
          </p:cNvPr>
          <p:cNvSpPr txBox="1"/>
          <p:nvPr/>
        </p:nvSpPr>
        <p:spPr>
          <a:xfrm>
            <a:off x="8405364" y="1774447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1,1,5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C5A99-BE90-C167-D83A-0082042FEEC0}"/>
              </a:ext>
            </a:extLst>
          </p:cNvPr>
          <p:cNvSpPr txBox="1"/>
          <p:nvPr/>
        </p:nvSpPr>
        <p:spPr>
          <a:xfrm>
            <a:off x="8405364" y="4673889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ACAAC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A72E8-1D6A-2170-A5C2-1ED2FD98045C}"/>
              </a:ext>
            </a:extLst>
          </p:cNvPr>
          <p:cNvSpPr txBox="1"/>
          <p:nvPr/>
        </p:nvSpPr>
        <p:spPr>
          <a:xfrm>
            <a:off x="8405364" y="3195299"/>
            <a:ext cx="28520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AGACT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Implied positions:</a:t>
            </a:r>
          </a:p>
          <a:p>
            <a:r>
              <a:rPr lang="en-US" sz="2800" b="1" dirty="0"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DBE79-EE3F-98FA-4C8A-E4513049DB3E}"/>
              </a:ext>
            </a:extLst>
          </p:cNvPr>
          <p:cNvSpPr txBox="1"/>
          <p:nvPr/>
        </p:nvSpPr>
        <p:spPr>
          <a:xfrm>
            <a:off x="1394964" y="1322164"/>
            <a:ext cx="46089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AGATAGATAGACAACATAGACT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 (1,5)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ATAGA (3,7,16)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TAGAT (4)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GATAG (6)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TAGAC (8,17)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(9)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GACAA (10)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ACAAC (11)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 (12)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AACAT (13)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ACATA (14)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CATAG (15)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 (18)</a:t>
            </a:r>
          </a:p>
        </p:txBody>
      </p:sp>
    </p:spTree>
    <p:extLst>
      <p:ext uri="{BB962C8B-B14F-4D97-AF65-F5344CB8AC3E}">
        <p14:creationId xmlns:p14="http://schemas.microsoft.com/office/powerpoint/2010/main" val="3631780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4CC9-A35E-F9BA-55D6-C09648F0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8377-CEA9-6B41-CC7E-811083DF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714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Using all K-</a:t>
            </a:r>
            <a:r>
              <a:rPr lang="en-US" dirty="0" err="1"/>
              <a:t>mers</a:t>
            </a:r>
            <a:r>
              <a:rPr lang="en-US" dirty="0"/>
              <a:t> is expensive!!!</a:t>
            </a:r>
          </a:p>
          <a:p>
            <a:endParaRPr lang="en-US" dirty="0"/>
          </a:p>
          <a:p>
            <a:r>
              <a:rPr lang="en-US" dirty="0"/>
              <a:t>You can think of reducing the number (use every other one?)</a:t>
            </a:r>
          </a:p>
          <a:p>
            <a:endParaRPr lang="en-US" dirty="0"/>
          </a:p>
          <a:p>
            <a:r>
              <a:rPr lang="en-US" dirty="0"/>
              <a:t>An effective way to use fewer K-mer alignment seeds is method of minimizers</a:t>
            </a:r>
          </a:p>
          <a:p>
            <a:endParaRPr lang="en-US" dirty="0"/>
          </a:p>
          <a:p>
            <a:r>
              <a:rPr lang="en-US" dirty="0"/>
              <a:t>Smaller memory footprint and much faster for large data sets (e.g. computing overlaps between reads, or mapping the reads to a genome)</a:t>
            </a:r>
          </a:p>
          <a:p>
            <a:endParaRPr lang="en-US" dirty="0"/>
          </a:p>
          <a:p>
            <a:r>
              <a:rPr lang="en-US" dirty="0"/>
              <a:t>Does not require computing an index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Less sensitive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571F-31D0-E52B-136D-A22A766B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6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A61B-6CC6-5D7C-F8B9-9A9038E0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value of a K-mer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D50A-9942-12DC-F2BC-CF535D24D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4655"/>
            <a:ext cx="5467350" cy="43937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K-mer uniquely corresponds to an integer:</a:t>
            </a:r>
          </a:p>
          <a:p>
            <a:pPr lvl="1"/>
            <a:r>
              <a:rPr lang="en-US" dirty="0"/>
              <a:t>A=0</a:t>
            </a:r>
          </a:p>
          <a:p>
            <a:pPr lvl="1"/>
            <a:r>
              <a:rPr lang="en-US" dirty="0"/>
              <a:t>C=1</a:t>
            </a:r>
          </a:p>
          <a:p>
            <a:pPr lvl="1"/>
            <a:r>
              <a:rPr lang="en-US" dirty="0"/>
              <a:t>G=2</a:t>
            </a:r>
          </a:p>
          <a:p>
            <a:pPr lvl="1"/>
            <a:r>
              <a:rPr lang="en-US" dirty="0"/>
              <a:t>T=3</a:t>
            </a:r>
          </a:p>
          <a:p>
            <a:r>
              <a:rPr lang="en-US" dirty="0"/>
              <a:t>Use base 4: AGT=0+2*4+3*16</a:t>
            </a:r>
          </a:p>
          <a:p>
            <a:r>
              <a:rPr lang="en-US" dirty="0"/>
              <a:t>Equivalent to Minimum Perfect Hash</a:t>
            </a:r>
            <a:br>
              <a:rPr lang="en-US" dirty="0"/>
            </a:br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 integers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597F5-9D03-44CD-2E7A-A593BF8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56A6D-21D1-3154-8232-A2C844FF4C7B}"/>
              </a:ext>
            </a:extLst>
          </p:cNvPr>
          <p:cNvSpPr txBox="1"/>
          <p:nvPr/>
        </p:nvSpPr>
        <p:spPr>
          <a:xfrm>
            <a:off x="6229350" y="2316227"/>
            <a:ext cx="54673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 kmer2int(</a:t>
            </a:r>
            <a:r>
              <a:rPr lang="en-US" dirty="0" err="1"/>
              <a:t>kmer</a:t>
            </a:r>
            <a:r>
              <a:rPr lang="en-US" dirty="0"/>
              <a:t>):</a:t>
            </a:r>
          </a:p>
          <a:p>
            <a:r>
              <a:rPr lang="en-US" dirty="0"/>
              <a:t>  </a:t>
            </a:r>
            <a:r>
              <a:rPr lang="en-US" dirty="0" err="1"/>
              <a:t>nt_map</a:t>
            </a:r>
            <a:r>
              <a:rPr lang="en-US" dirty="0"/>
              <a:t> = {'A': 0, 'C': 1, 'G': 2, 'T': 3}</a:t>
            </a:r>
          </a:p>
          <a:p>
            <a:r>
              <a:rPr lang="en-US" dirty="0"/>
              <a:t>  </a:t>
            </a:r>
            <a:r>
              <a:rPr lang="en-US" dirty="0" err="1"/>
              <a:t>val</a:t>
            </a:r>
            <a:r>
              <a:rPr lang="en-US" dirty="0"/>
              <a:t> = 0</a:t>
            </a:r>
          </a:p>
          <a:p>
            <a:r>
              <a:rPr lang="en-US" dirty="0"/>
              <a:t>  pow=1</a:t>
            </a:r>
          </a:p>
          <a:p>
            <a:r>
              <a:rPr lang="en-US" dirty="0"/>
              <a:t>  for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nt</a:t>
            </a:r>
            <a:r>
              <a:rPr lang="en-US" dirty="0"/>
              <a:t> in enumerate(</a:t>
            </a:r>
            <a:r>
              <a:rPr lang="en-US" dirty="0" err="1"/>
              <a:t>kmer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val</a:t>
            </a:r>
            <a:r>
              <a:rPr lang="en-US" dirty="0"/>
              <a:t> += </a:t>
            </a:r>
            <a:r>
              <a:rPr lang="en-US" dirty="0" err="1"/>
              <a:t>nt_map</a:t>
            </a:r>
            <a:r>
              <a:rPr lang="en-US" dirty="0"/>
              <a:t>[</a:t>
            </a:r>
            <a:r>
              <a:rPr lang="en-US" dirty="0" err="1"/>
              <a:t>nt</a:t>
            </a:r>
            <a:r>
              <a:rPr lang="en-US" dirty="0"/>
              <a:t>] * pow</a:t>
            </a:r>
          </a:p>
          <a:p>
            <a:r>
              <a:rPr lang="en-US" dirty="0"/>
              <a:t>    pow=pow*4</a:t>
            </a:r>
          </a:p>
          <a:p>
            <a:r>
              <a:rPr lang="en-US" dirty="0"/>
              <a:t>  return </a:t>
            </a:r>
            <a:r>
              <a:rPr lang="en-US" dirty="0" err="1"/>
              <a:t>val</a:t>
            </a:r>
            <a:endParaRPr lang="en-US" dirty="0"/>
          </a:p>
          <a:p>
            <a:endParaRPr lang="en-US" dirty="0"/>
          </a:p>
          <a:p>
            <a:r>
              <a:rPr lang="en-US" dirty="0"/>
              <a:t># Example usage</a:t>
            </a:r>
          </a:p>
          <a:p>
            <a:r>
              <a:rPr lang="en-US" dirty="0" err="1"/>
              <a:t>kmer</a:t>
            </a:r>
            <a:r>
              <a:rPr lang="en-US" dirty="0"/>
              <a:t> = "ACGT"</a:t>
            </a:r>
          </a:p>
          <a:p>
            <a:r>
              <a:rPr lang="en-US" dirty="0"/>
              <a:t>print(</a:t>
            </a:r>
            <a:r>
              <a:rPr lang="en-US" dirty="0" err="1"/>
              <a:t>f"The</a:t>
            </a:r>
            <a:r>
              <a:rPr lang="en-US" dirty="0"/>
              <a:t> numerical of '{</a:t>
            </a:r>
            <a:r>
              <a:rPr lang="en-US" dirty="0" err="1"/>
              <a:t>kmer</a:t>
            </a:r>
            <a:r>
              <a:rPr lang="en-US" dirty="0"/>
              <a:t>}' is: {kmer2int(</a:t>
            </a:r>
            <a:r>
              <a:rPr lang="en-US" dirty="0" err="1"/>
              <a:t>kmer</a:t>
            </a:r>
            <a:r>
              <a:rPr lang="en-US" dirty="0"/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12696270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C23F-BD3B-36EF-6F05-0C07FC35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269E-0902-4C5B-58BC-AF7402D1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18487"/>
            <a:ext cx="10972800" cy="4459203"/>
          </a:xfrm>
        </p:spPr>
        <p:txBody>
          <a:bodyPr>
            <a:normAutofit/>
          </a:bodyPr>
          <a:lstStyle/>
          <a:p>
            <a:r>
              <a:rPr lang="en-US" dirty="0"/>
              <a:t>Minimizers are a subset of  K-</a:t>
            </a:r>
            <a:r>
              <a:rPr lang="en-US" dirty="0" err="1"/>
              <a:t>mers</a:t>
            </a:r>
            <a:r>
              <a:rPr lang="en-US" dirty="0"/>
              <a:t> from a string, with the guarantee that similar set of K-</a:t>
            </a:r>
            <a:r>
              <a:rPr lang="en-US" dirty="0" err="1"/>
              <a:t>mers</a:t>
            </a:r>
            <a:r>
              <a:rPr lang="en-US" dirty="0"/>
              <a:t> will be chosen on similar strings. </a:t>
            </a:r>
          </a:p>
          <a:p>
            <a:r>
              <a:rPr lang="en-US" dirty="0"/>
              <a:t>Parameterized by:</a:t>
            </a:r>
          </a:p>
          <a:p>
            <a:pPr lvl="1"/>
            <a:r>
              <a:rPr lang="en-US" dirty="0"/>
              <a:t>K-mer length </a:t>
            </a:r>
            <a:r>
              <a:rPr lang="en-US" i="1" dirty="0"/>
              <a:t>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window length </a:t>
            </a:r>
            <a:r>
              <a:rPr lang="en-US" i="1" dirty="0"/>
              <a:t>w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ordering of </a:t>
            </a:r>
            <a:r>
              <a:rPr lang="en-US" i="1" dirty="0"/>
              <a:t>k</a:t>
            </a:r>
            <a:r>
              <a:rPr lang="en-US" dirty="0"/>
              <a:t>-</a:t>
            </a:r>
            <a:r>
              <a:rPr lang="en-US" dirty="0" err="1"/>
              <a:t>mers</a:t>
            </a:r>
            <a:r>
              <a:rPr lang="en-US" dirty="0"/>
              <a:t> (by numerical value or lexicographical)</a:t>
            </a:r>
          </a:p>
          <a:p>
            <a:r>
              <a:rPr lang="en-US" dirty="0"/>
              <a:t>Can minimize numerical value or lexicographic value</a:t>
            </a:r>
          </a:p>
          <a:p>
            <a:r>
              <a:rPr lang="en-US" dirty="0"/>
              <a:t>Make sure to use canonical k-</a:t>
            </a:r>
            <a:r>
              <a:rPr lang="en-US" dirty="0" err="1"/>
              <a:t>mers</a:t>
            </a:r>
            <a:r>
              <a:rPr lang="en-US" dirty="0"/>
              <a:t> or take minimum value of k-mer and its reverse complement!!!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6695D-92C3-E33C-6ACA-0D23CE61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50C2-AC8D-D199-12D8-012C96C7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BE18-01DB-F9CC-3786-D04A6C2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70935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</a:t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Minimize </a:t>
            </a:r>
            <a:r>
              <a:rPr lang="en-US" u="sng" dirty="0">
                <a:solidFill>
                  <a:schemeClr val="tx1"/>
                </a:solidFill>
                <a:cs typeface="Courier New" panose="02070309020205020404" pitchFamily="49" charset="0"/>
              </a:rPr>
              <a:t>numerical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 values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The first 5 K-</a:t>
            </a:r>
            <a:r>
              <a:rPr lang="en-US" dirty="0" err="1">
                <a:solidFill>
                  <a:schemeClr val="tx1"/>
                </a:solidFill>
                <a:cs typeface="Courier New" panose="02070309020205020404" pitchFamily="49" charset="0"/>
              </a:rPr>
              <a:t>mers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:</a:t>
            </a: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 = 863318</a:t>
            </a:r>
            <a:br>
              <a:rPr lang="en-US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 = 477973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CCATGACTCG = 643781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CATGACTCGCA = 423089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ATGACTCGCAT = 3251500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EE644-6A9D-C198-0D56-02E44EB6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50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9C3A-095E-3930-0850-8520AFD8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030898-220E-9C95-B171-44B84D69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2F37F-86EE-B089-66FC-A84B0E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6BD9-A30D-A7B3-46A4-9EDB8102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6917E-F82B-7390-C87C-EFB58390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A6AAA38-B78C-E682-FC99-4D07100511E4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ECABD-098E-914E-A9BD-9443BDDEAA3C}"/>
              </a:ext>
            </a:extLst>
          </p:cNvPr>
          <p:cNvSpPr/>
          <p:nvPr/>
        </p:nvSpPr>
        <p:spPr>
          <a:xfrm>
            <a:off x="2964820" y="208375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88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982F-D55B-5CE3-D472-AB83FA5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881EA-AE90-223D-2275-207A35A87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7A7B02-B866-1FE2-E041-F7825963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FE71-1951-737E-BAA6-27AB98F3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EE21E-6818-1D06-4AC3-8F777B58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5921CAA-8555-32BB-65AE-BFE639048FFC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C273A-3FF7-7AA2-45DC-7FA58CA181D2}"/>
              </a:ext>
            </a:extLst>
          </p:cNvPr>
          <p:cNvSpPr/>
          <p:nvPr/>
        </p:nvSpPr>
        <p:spPr>
          <a:xfrm>
            <a:off x="2919711" y="229330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1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26E2-BC52-B624-672D-2C03F202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4AE810-7E7A-BAFB-61CD-8CB59C00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FB8C68-EA70-2F36-D91D-2609D148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2985-738E-9F0C-4175-C4E83211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ED39-0499-9452-86AB-44A97D82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AEB9CB4-167E-16E0-9662-292C0BDB53B0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270B8-1474-FB82-DC9F-042E8E3996E5}"/>
              </a:ext>
            </a:extLst>
          </p:cNvPr>
          <p:cNvSpPr/>
          <p:nvPr/>
        </p:nvSpPr>
        <p:spPr>
          <a:xfrm>
            <a:off x="2915777" y="2464750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78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AECF-567A-D067-48A9-CEE21523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4A741-F0A4-F07E-1056-F712C546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629BC-A2E8-9D6A-0C00-4B41542E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BBDF2-22DF-2AA2-C631-ADEBDDA27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56633-994A-3BE9-97C3-0348FAC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238B74A-AE8C-3BA4-63FA-10823895082A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22FA9-4843-9367-6B84-07D5468DE688}"/>
              </a:ext>
            </a:extLst>
          </p:cNvPr>
          <p:cNvSpPr/>
          <p:nvPr/>
        </p:nvSpPr>
        <p:spPr>
          <a:xfrm>
            <a:off x="2920522" y="2658426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973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2E1A-868E-01F7-7755-194E374D6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F3BAB1-2542-A305-B4D6-E0B04069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374D2E-B2B9-9399-FAC1-427F3FA3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203C-F2B5-EE27-752C-0083C968B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C9ABF-EF2E-3045-3016-9E3CA1B5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55D2B8-75A1-0633-1115-48BB4290AB22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36420-2CCA-B4D5-62FE-728748C57A06}"/>
              </a:ext>
            </a:extLst>
          </p:cNvPr>
          <p:cNvSpPr/>
          <p:nvPr/>
        </p:nvSpPr>
        <p:spPr>
          <a:xfrm>
            <a:off x="2914510" y="2862822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42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8338C-86BD-98DA-F2B1-D60DE3E8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72904-27FD-9854-9622-8A9FC1B2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2161D3-3C50-042D-4155-AFC44AB8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3CA9-7067-5356-3FAC-4A4206352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3F608-0662-8B6A-83F1-92EFD117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6F3D9A3-968E-A9E7-AE8D-B229D23EF6B5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239F8-555C-63DC-F7D7-3E565E9F8B9A}"/>
              </a:ext>
            </a:extLst>
          </p:cNvPr>
          <p:cNvSpPr/>
          <p:nvPr/>
        </p:nvSpPr>
        <p:spPr>
          <a:xfrm>
            <a:off x="2919711" y="3033292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26AEE3E-AA73-B3B9-A47C-599837309EAF}"/>
              </a:ext>
            </a:extLst>
          </p:cNvPr>
          <p:cNvSpPr/>
          <p:nvPr/>
        </p:nvSpPr>
        <p:spPr>
          <a:xfrm flipH="1">
            <a:off x="7566023" y="2957988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14917463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F86F-34E6-F388-8793-5D40729C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6C7E7C-3B8A-25B2-4DED-F00039FDF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4B33F-7010-445C-061F-59E4E030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7881-4C1E-D8CE-0704-47C138135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F46AF-AD8F-B4BD-129C-9D727576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4AB8327-B305-5BDE-7D96-715E37D2D2F2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4F6D3-B511-FDFD-463F-BAAD69DA7B1F}"/>
              </a:ext>
            </a:extLst>
          </p:cNvPr>
          <p:cNvSpPr/>
          <p:nvPr/>
        </p:nvSpPr>
        <p:spPr>
          <a:xfrm>
            <a:off x="2919711" y="3235325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8CFA757-91BD-AA64-3D6C-063C79950F7D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2BC8256-2204-5096-4BAC-18757528F956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973595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E39F-B011-4B40-F423-07EB3F48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B20081-A05A-C702-EF7C-B65C5451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78440-81BC-590D-924A-7FE78733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C1FEF-D07F-9686-35FE-21BE025E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8430-629B-D8D4-07BA-8CDAD5E3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D241AFB-B4AC-0336-9531-8073D32A5AFB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965F81-2510-358D-B5A5-3F422695D70E}"/>
              </a:ext>
            </a:extLst>
          </p:cNvPr>
          <p:cNvSpPr/>
          <p:nvPr/>
        </p:nvSpPr>
        <p:spPr>
          <a:xfrm>
            <a:off x="2919711" y="3417888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1F781C4-4BAE-4AFA-B80F-106FE3A8EF08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8ECE4C0-DF03-D3A5-8852-30C0D0543414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663875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76704-EB2F-28A5-1784-61A92B74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DEF229-596A-8834-2971-348ED049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6A7429-8A18-3558-DAAF-DF4D392A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224E-53ED-8D16-24B1-4AA1947DB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37C36-02FF-2623-2A00-8C8CF5EA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64CD268-C74A-D96A-75CE-597821F876E5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F935D-50BF-59EE-ADFB-531924408B13}"/>
              </a:ext>
            </a:extLst>
          </p:cNvPr>
          <p:cNvSpPr/>
          <p:nvPr/>
        </p:nvSpPr>
        <p:spPr>
          <a:xfrm>
            <a:off x="2924456" y="3600451"/>
            <a:ext cx="4199773" cy="964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0606A8A-ADE6-BC2E-C2C5-04A76CB60E58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5FD7830-A7D6-82AA-AEAE-D15F46A29F7A}"/>
              </a:ext>
            </a:extLst>
          </p:cNvPr>
          <p:cNvSpPr/>
          <p:nvPr/>
        </p:nvSpPr>
        <p:spPr>
          <a:xfrm flipH="1">
            <a:off x="7566023" y="429434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32E0FB9-C9B6-21AE-C5F6-01D3D1E0EB4C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</p:spTree>
    <p:extLst>
      <p:ext uri="{BB962C8B-B14F-4D97-AF65-F5344CB8AC3E}">
        <p14:creationId xmlns:p14="http://schemas.microsoft.com/office/powerpoint/2010/main" val="3634270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D8DE-601E-30E7-015A-8B652A12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3824-2ED0-EE3F-ED84-C3F5197F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B9FD-46EA-DE75-53E6-AD27F8A4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1596540"/>
            <a:ext cx="11220450" cy="4994760"/>
          </a:xfrm>
        </p:spPr>
        <p:txBody>
          <a:bodyPr>
            <a:normAutofit/>
          </a:bodyPr>
          <a:lstStyle/>
          <a:p>
            <a:r>
              <a:rPr lang="en-US" dirty="0"/>
              <a:t>Consider genomic string: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Let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k=10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, </a:t>
            </a:r>
            <a: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  <a:t>w=5</a:t>
            </a:r>
          </a:p>
          <a:p>
            <a:pPr marL="0" indent="0">
              <a:buNone/>
            </a:pPr>
            <a:br>
              <a:rPr lang="en-US" i="1" dirty="0">
                <a:solidFill>
                  <a:schemeClr val="tx1"/>
                </a:solidFill>
                <a:cs typeface="Courier New" panose="02070309020205020404" pitchFamily="49" charset="0"/>
              </a:rPr>
            </a:br>
            <a:endParaRPr lang="en-US" i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4378-0DB7-758D-03D5-364CB2EC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3380615-B6A7-9543-D2C2-3BDF9E565509}"/>
              </a:ext>
            </a:extLst>
          </p:cNvPr>
          <p:cNvSpPr/>
          <p:nvPr/>
        </p:nvSpPr>
        <p:spPr>
          <a:xfrm flipH="1">
            <a:off x="7566023" y="277542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645E92F-68A7-425F-8481-8D88A5AF6D15}"/>
              </a:ext>
            </a:extLst>
          </p:cNvPr>
          <p:cNvSpPr/>
          <p:nvPr/>
        </p:nvSpPr>
        <p:spPr>
          <a:xfrm flipH="1">
            <a:off x="7566023" y="37174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B270D3A-38F2-6CC5-085D-2861A0E7E21F}"/>
              </a:ext>
            </a:extLst>
          </p:cNvPr>
          <p:cNvSpPr/>
          <p:nvPr/>
        </p:nvSpPr>
        <p:spPr>
          <a:xfrm flipH="1">
            <a:off x="7566023" y="429434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762DC8F-0C98-ECC4-6F73-EBC002EDFA24}"/>
              </a:ext>
            </a:extLst>
          </p:cNvPr>
          <p:cNvSpPr/>
          <p:nvPr/>
        </p:nvSpPr>
        <p:spPr>
          <a:xfrm flipH="1">
            <a:off x="7566023" y="611778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CC43EC5-37CC-9EF5-F06F-0965E73573C8}"/>
              </a:ext>
            </a:extLst>
          </p:cNvPr>
          <p:cNvSpPr/>
          <p:nvPr/>
        </p:nvSpPr>
        <p:spPr>
          <a:xfrm flipH="1">
            <a:off x="7566023" y="514278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882255-520E-BB0C-E2BD-023ACAD95B50}"/>
              </a:ext>
            </a:extLst>
          </p:cNvPr>
          <p:cNvSpPr/>
          <p:nvPr/>
        </p:nvSpPr>
        <p:spPr>
          <a:xfrm flipH="1">
            <a:off x="7566023" y="462931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EC0678B-9160-2FAD-56BB-B63B7C31ED41}"/>
              </a:ext>
            </a:extLst>
          </p:cNvPr>
          <p:cNvSpPr/>
          <p:nvPr/>
        </p:nvSpPr>
        <p:spPr>
          <a:xfrm flipH="1">
            <a:off x="7566023" y="291905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28B83-0295-9295-3944-9EADCF2C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20" y="2083749"/>
            <a:ext cx="4199773" cy="46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69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1D8F-F840-E728-B36D-3154F231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6D74-149D-7D67-3A25-9AE48A0E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75618-8D8D-9CE8-2F9F-7B2D7E16B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6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A049-CDF5-B88D-F616-BDCA61EE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C6F4-70CB-8F7B-270F-3FA6FD6F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92A97-FB83-BECC-D2AC-28D7C8D6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EF11CDF-3D2D-09C8-8A82-006A44E94DAC}"/>
              </a:ext>
            </a:extLst>
          </p:cNvPr>
          <p:cNvSpPr/>
          <p:nvPr/>
        </p:nvSpPr>
        <p:spPr>
          <a:xfrm flipH="1">
            <a:off x="10449904" y="2972203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F630970-63EC-4F7C-1960-4C2B4F83BCD1}"/>
              </a:ext>
            </a:extLst>
          </p:cNvPr>
          <p:cNvSpPr/>
          <p:nvPr/>
        </p:nvSpPr>
        <p:spPr>
          <a:xfrm flipH="1">
            <a:off x="10449904" y="315554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6EF2BF7-5B0C-7C20-F690-84EBE875002D}"/>
              </a:ext>
            </a:extLst>
          </p:cNvPr>
          <p:cNvSpPr/>
          <p:nvPr/>
        </p:nvSpPr>
        <p:spPr>
          <a:xfrm flipH="1">
            <a:off x="10449904" y="3343881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ED9829C-19C0-B0FE-B2B4-872744300684}"/>
              </a:ext>
            </a:extLst>
          </p:cNvPr>
          <p:cNvSpPr/>
          <p:nvPr/>
        </p:nvSpPr>
        <p:spPr>
          <a:xfrm flipH="1">
            <a:off x="10449904" y="426004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4A8AF75-95AE-62BF-2985-3B651EB970C3}"/>
              </a:ext>
            </a:extLst>
          </p:cNvPr>
          <p:cNvSpPr/>
          <p:nvPr/>
        </p:nvSpPr>
        <p:spPr>
          <a:xfrm flipH="1">
            <a:off x="10449904" y="5184414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80D5E50-4E95-9F06-6C5B-4CF2AAF5030C}"/>
              </a:ext>
            </a:extLst>
          </p:cNvPr>
          <p:cNvSpPr/>
          <p:nvPr/>
        </p:nvSpPr>
        <p:spPr>
          <a:xfrm flipH="1">
            <a:off x="4737935" y="299961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1890E15-5375-48C5-39C7-A7410B930357}"/>
              </a:ext>
            </a:extLst>
          </p:cNvPr>
          <p:cNvSpPr/>
          <p:nvPr/>
        </p:nvSpPr>
        <p:spPr>
          <a:xfrm flipH="1">
            <a:off x="4737935" y="394164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829DCA8-C4BB-E3C6-00C1-3193C4351B35}"/>
              </a:ext>
            </a:extLst>
          </p:cNvPr>
          <p:cNvSpPr/>
          <p:nvPr/>
        </p:nvSpPr>
        <p:spPr>
          <a:xfrm flipH="1">
            <a:off x="4737935" y="451853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C71EF05-39B4-5426-337E-5A12D4C96D54}"/>
              </a:ext>
            </a:extLst>
          </p:cNvPr>
          <p:cNvSpPr/>
          <p:nvPr/>
        </p:nvSpPr>
        <p:spPr>
          <a:xfrm flipH="1">
            <a:off x="4737935" y="634197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3CC639B-B138-4074-740C-BCDE2BAC88B7}"/>
              </a:ext>
            </a:extLst>
          </p:cNvPr>
          <p:cNvSpPr/>
          <p:nvPr/>
        </p:nvSpPr>
        <p:spPr>
          <a:xfrm flipH="1">
            <a:off x="4737935" y="536697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07742AF-2E6E-4DA5-A414-2406089EB003}"/>
              </a:ext>
            </a:extLst>
          </p:cNvPr>
          <p:cNvSpPr/>
          <p:nvPr/>
        </p:nvSpPr>
        <p:spPr>
          <a:xfrm flipH="1">
            <a:off x="4737935" y="485350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D536D68-6094-47D0-44B1-9C3C3390A075}"/>
              </a:ext>
            </a:extLst>
          </p:cNvPr>
          <p:cNvSpPr/>
          <p:nvPr/>
        </p:nvSpPr>
        <p:spPr>
          <a:xfrm flipH="1">
            <a:off x="4737935" y="317551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FCB9F6F-DB62-7444-8E6E-FF4A5EF62304}"/>
              </a:ext>
            </a:extLst>
          </p:cNvPr>
          <p:cNvSpPr/>
          <p:nvPr/>
        </p:nvSpPr>
        <p:spPr>
          <a:xfrm flipH="1">
            <a:off x="10449904" y="613697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5E2BB0-C694-DBA3-D2DC-FD9DAE32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3" y="2320417"/>
            <a:ext cx="4134242" cy="45375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9D5DB8-17D2-BACF-35FE-FFFC50BD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41" y="2320417"/>
            <a:ext cx="4119688" cy="430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49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A0A8-C1EC-3C10-6366-63E0FC77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61CC7E8-3AD6-81BF-A9A5-C7F15554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476" y="2289461"/>
            <a:ext cx="4119688" cy="43062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74AA37F-1822-F664-3B13-B83855D28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41" y="2320417"/>
            <a:ext cx="4160007" cy="45658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288DA-450F-0614-2AD4-09CD47F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F478-640A-2CD0-0D10-DF2E28CD5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493869"/>
            <a:ext cx="12211050" cy="1322872"/>
          </a:xfrm>
        </p:spPr>
        <p:txBody>
          <a:bodyPr>
            <a:normAutofit/>
          </a:bodyPr>
          <a:lstStyle/>
          <a:p>
            <a:r>
              <a:rPr lang="en-US" dirty="0"/>
              <a:t>Consider genomic strings: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GCCCATGACTCGCATGCTGACATGCTGCTAGCT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TGACATGCTGCTAG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E87EF-2347-C0E7-AC4B-FE166741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E9E63AD-B71B-D44E-C561-03BE70EC50BD}"/>
              </a:ext>
            </a:extLst>
          </p:cNvPr>
          <p:cNvSpPr/>
          <p:nvPr/>
        </p:nvSpPr>
        <p:spPr>
          <a:xfrm flipH="1">
            <a:off x="10449904" y="2972203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6B00C5B-7ADA-7E9A-1718-249F27379500}"/>
              </a:ext>
            </a:extLst>
          </p:cNvPr>
          <p:cNvSpPr/>
          <p:nvPr/>
        </p:nvSpPr>
        <p:spPr>
          <a:xfrm flipH="1">
            <a:off x="10449904" y="315554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5A5022E8-E86D-0C93-4BED-0AB14BE1CEA4}"/>
              </a:ext>
            </a:extLst>
          </p:cNvPr>
          <p:cNvSpPr/>
          <p:nvPr/>
        </p:nvSpPr>
        <p:spPr>
          <a:xfrm flipH="1">
            <a:off x="10449904" y="3343881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E906631-228D-D99C-EDF6-9396A37FF1F1}"/>
              </a:ext>
            </a:extLst>
          </p:cNvPr>
          <p:cNvSpPr/>
          <p:nvPr/>
        </p:nvSpPr>
        <p:spPr>
          <a:xfrm flipH="1">
            <a:off x="10449904" y="426004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C526DBA-49AD-527A-8FBC-1493684F21D1}"/>
              </a:ext>
            </a:extLst>
          </p:cNvPr>
          <p:cNvSpPr/>
          <p:nvPr/>
        </p:nvSpPr>
        <p:spPr>
          <a:xfrm flipH="1">
            <a:off x="10449904" y="5184414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0FB8107-BF26-81D3-F02A-F3D0D121BBFB}"/>
              </a:ext>
            </a:extLst>
          </p:cNvPr>
          <p:cNvSpPr/>
          <p:nvPr/>
        </p:nvSpPr>
        <p:spPr>
          <a:xfrm flipH="1">
            <a:off x="4737935" y="2999615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31CBC05-B86E-9B5F-0602-97B0552851F0}"/>
              </a:ext>
            </a:extLst>
          </p:cNvPr>
          <p:cNvSpPr/>
          <p:nvPr/>
        </p:nvSpPr>
        <p:spPr>
          <a:xfrm flipH="1">
            <a:off x="4737935" y="394164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D51D81-3744-F270-50EA-B4E1C2F63EC9}"/>
              </a:ext>
            </a:extLst>
          </p:cNvPr>
          <p:cNvSpPr/>
          <p:nvPr/>
        </p:nvSpPr>
        <p:spPr>
          <a:xfrm flipH="1">
            <a:off x="4737935" y="451853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F661A74-A12C-6994-E74C-23D947E53CF2}"/>
              </a:ext>
            </a:extLst>
          </p:cNvPr>
          <p:cNvSpPr/>
          <p:nvPr/>
        </p:nvSpPr>
        <p:spPr>
          <a:xfrm flipH="1">
            <a:off x="4737935" y="6341976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31A72C8-8C1B-AC69-0B45-C2046BD40C08}"/>
              </a:ext>
            </a:extLst>
          </p:cNvPr>
          <p:cNvSpPr/>
          <p:nvPr/>
        </p:nvSpPr>
        <p:spPr>
          <a:xfrm flipH="1">
            <a:off x="4737935" y="5366977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4DB3641-AA04-81E8-7CCE-5E11F4CFE16C}"/>
              </a:ext>
            </a:extLst>
          </p:cNvPr>
          <p:cNvSpPr/>
          <p:nvPr/>
        </p:nvSpPr>
        <p:spPr>
          <a:xfrm flipH="1">
            <a:off x="4737935" y="4853502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9AECF0D-5F62-E413-AFE2-028C18F774C3}"/>
              </a:ext>
            </a:extLst>
          </p:cNvPr>
          <p:cNvSpPr/>
          <p:nvPr/>
        </p:nvSpPr>
        <p:spPr>
          <a:xfrm flipH="1">
            <a:off x="4737935" y="3175519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2C0F67-864F-AD32-8149-03DDDE1340C3}"/>
              </a:ext>
            </a:extLst>
          </p:cNvPr>
          <p:cNvSpPr/>
          <p:nvPr/>
        </p:nvSpPr>
        <p:spPr>
          <a:xfrm flipH="1">
            <a:off x="10449904" y="6136970"/>
            <a:ext cx="1501776" cy="365126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minimizer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E4A0D-94B2-68DA-82F3-EBB415C948AF}"/>
              </a:ext>
            </a:extLst>
          </p:cNvPr>
          <p:cNvSpPr/>
          <p:nvPr/>
        </p:nvSpPr>
        <p:spPr>
          <a:xfrm>
            <a:off x="544896" y="3107206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E30DA-7765-2E55-DF32-424A704C7799}"/>
              </a:ext>
            </a:extLst>
          </p:cNvPr>
          <p:cNvSpPr/>
          <p:nvPr/>
        </p:nvSpPr>
        <p:spPr>
          <a:xfrm>
            <a:off x="6336398" y="3079794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6062EF-0CBF-F7B5-DC9F-DE1EAF6F99A7}"/>
              </a:ext>
            </a:extLst>
          </p:cNvPr>
          <p:cNvSpPr/>
          <p:nvPr/>
        </p:nvSpPr>
        <p:spPr>
          <a:xfrm>
            <a:off x="544896" y="5549540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18F69E-7E25-FC8B-B9BA-B5F8C07997C0}"/>
              </a:ext>
            </a:extLst>
          </p:cNvPr>
          <p:cNvSpPr/>
          <p:nvPr/>
        </p:nvSpPr>
        <p:spPr>
          <a:xfrm>
            <a:off x="6336398" y="5314142"/>
            <a:ext cx="4096352" cy="149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8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030-83E7-5045-6624-73AD0235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E8F7-1559-D79C-E2C6-2D592088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4A6D4-1E43-BA0D-9EDF-D8365EDB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798668"/>
            <a:ext cx="10734675" cy="3859181"/>
          </a:xfrm>
        </p:spPr>
        <p:txBody>
          <a:bodyPr>
            <a:normAutofit/>
          </a:bodyPr>
          <a:lstStyle/>
          <a:p>
            <a:r>
              <a:rPr lang="en-US" dirty="0"/>
              <a:t>Alignment: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TGCTGAC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||||||||||||| | |||||||||||||| |               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You can do Smith-Waterman in-between the exact matches!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6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AA5B-5242-520C-D3A1-3A44B836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2160-C2DE-CAB2-BBE2-2ED729FC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Seeding alignments with minimizers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891A-94D6-3A18-13AD-6D5C56EB4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798668"/>
            <a:ext cx="10734675" cy="3859181"/>
          </a:xfrm>
        </p:spPr>
        <p:txBody>
          <a:bodyPr>
            <a:normAutofit/>
          </a:bodyPr>
          <a:lstStyle/>
          <a:p>
            <a:r>
              <a:rPr lang="en-US" dirty="0"/>
              <a:t>Alignment: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TGCTGAC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||||||||||||| | |||||||||||||| |               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ATGACTCGCA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ATGCTGCTA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You can do Smith-Waterman in-between the exact matches!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C7246-F72B-D09D-0C32-7E1A5484540B}"/>
              </a:ext>
            </a:extLst>
          </p:cNvPr>
          <p:cNvSpPr/>
          <p:nvPr/>
        </p:nvSpPr>
        <p:spPr>
          <a:xfrm>
            <a:off x="3441290" y="2231923"/>
            <a:ext cx="1966452" cy="12781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31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3179-599C-5E71-A452-60D38756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3F82-8849-2719-E35E-8ECCCB1C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minimizers to compute candidate</a:t>
            </a:r>
            <a:br>
              <a:rPr lang="en-US" dirty="0"/>
            </a:br>
            <a:r>
              <a:rPr lang="en-US" dirty="0"/>
              <a:t>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109D-FCF8-034E-52A5-044C722F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34192"/>
            <a:ext cx="10972800" cy="15529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Read R1 minimizers M1 at O1, M2 at O2 M3 at O3</a:t>
            </a:r>
          </a:p>
          <a:p>
            <a:r>
              <a:rPr lang="en-US" dirty="0"/>
              <a:t>Read R2 minimizers M4 at O4, M1 at O5 M2 at O6</a:t>
            </a:r>
          </a:p>
          <a:p>
            <a:r>
              <a:rPr lang="en-US" dirty="0"/>
              <a:t>Read R3 minimizers M3 at O7, M5 at O8</a:t>
            </a:r>
          </a:p>
          <a:p>
            <a:r>
              <a:rPr lang="en-US" dirty="0"/>
              <a:t>Build MRO file: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50B5B-2AC8-3AE2-160C-A965D0E5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15084-AACC-B389-7652-627CE06B74EE}"/>
              </a:ext>
            </a:extLst>
          </p:cNvPr>
          <p:cNvSpPr txBox="1"/>
          <p:nvPr/>
        </p:nvSpPr>
        <p:spPr>
          <a:xfrm>
            <a:off x="315310" y="3882877"/>
            <a:ext cx="16080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</a:t>
            </a:r>
          </a:p>
          <a:p>
            <a:pPr lvl="1"/>
            <a:r>
              <a:rPr lang="en-US" dirty="0"/>
              <a:t>M2 R1 O2</a:t>
            </a:r>
          </a:p>
          <a:p>
            <a:pPr lvl="1"/>
            <a:r>
              <a:rPr lang="en-US" dirty="0"/>
              <a:t>M3 R1 O3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M1 R2 O5</a:t>
            </a:r>
          </a:p>
          <a:p>
            <a:pPr lvl="1"/>
            <a:r>
              <a:rPr lang="en-US" dirty="0"/>
              <a:t>M2 R2 O6</a:t>
            </a:r>
          </a:p>
          <a:p>
            <a:pPr lvl="1"/>
            <a:r>
              <a:rPr lang="en-US" dirty="0"/>
              <a:t>M3 R3 O7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2C357-0B9D-F810-6C21-76FB5F0C1958}"/>
              </a:ext>
            </a:extLst>
          </p:cNvPr>
          <p:cNvSpPr txBox="1"/>
          <p:nvPr/>
        </p:nvSpPr>
        <p:spPr>
          <a:xfrm>
            <a:off x="2017987" y="4746467"/>
            <a:ext cx="183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by minimizer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70D1A-650C-616E-03B4-8EABABCBE0E0}"/>
              </a:ext>
            </a:extLst>
          </p:cNvPr>
          <p:cNvSpPr txBox="1"/>
          <p:nvPr/>
        </p:nvSpPr>
        <p:spPr>
          <a:xfrm>
            <a:off x="3494689" y="3771028"/>
            <a:ext cx="16080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</a:t>
            </a:r>
          </a:p>
          <a:p>
            <a:pPr lvl="1"/>
            <a:r>
              <a:rPr lang="en-US" dirty="0"/>
              <a:t>M1 R2 O5</a:t>
            </a:r>
          </a:p>
          <a:p>
            <a:pPr lvl="1"/>
            <a:r>
              <a:rPr lang="en-US" dirty="0"/>
              <a:t>M2 R1 O2</a:t>
            </a:r>
          </a:p>
          <a:p>
            <a:pPr lvl="1"/>
            <a:r>
              <a:rPr lang="en-US" dirty="0"/>
              <a:t>M2 R2 O6</a:t>
            </a:r>
          </a:p>
          <a:p>
            <a:pPr lvl="1"/>
            <a:r>
              <a:rPr lang="en-US" dirty="0"/>
              <a:t>M3 R1 O3</a:t>
            </a:r>
          </a:p>
          <a:p>
            <a:pPr lvl="1"/>
            <a:r>
              <a:rPr lang="en-US" dirty="0"/>
              <a:t>M3 R3 O7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396DA-E715-81D6-ADB2-726D80BCB27C}"/>
              </a:ext>
            </a:extLst>
          </p:cNvPr>
          <p:cNvSpPr txBox="1"/>
          <p:nvPr/>
        </p:nvSpPr>
        <p:spPr>
          <a:xfrm>
            <a:off x="5227646" y="4699059"/>
            <a:ext cx="144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 reads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14CE9-32CF-24E7-EF81-2D90E7085DE6}"/>
              </a:ext>
            </a:extLst>
          </p:cNvPr>
          <p:cNvSpPr txBox="1"/>
          <p:nvPr/>
        </p:nvSpPr>
        <p:spPr>
          <a:xfrm>
            <a:off x="6387664" y="4186526"/>
            <a:ext cx="3245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M1 R1 O1, R2 O5</a:t>
            </a:r>
          </a:p>
          <a:p>
            <a:pPr lvl="1"/>
            <a:r>
              <a:rPr lang="en-US" dirty="0"/>
              <a:t>M2 R1 O2, R2 O6</a:t>
            </a:r>
          </a:p>
          <a:p>
            <a:pPr lvl="1"/>
            <a:r>
              <a:rPr lang="en-US" dirty="0"/>
              <a:t>M3 R1 O3, R3 O7</a:t>
            </a:r>
          </a:p>
          <a:p>
            <a:pPr lvl="1"/>
            <a:r>
              <a:rPr lang="en-US" dirty="0"/>
              <a:t>M4 R2 O4</a:t>
            </a:r>
          </a:p>
          <a:p>
            <a:pPr lvl="1"/>
            <a:r>
              <a:rPr lang="en-US" dirty="0"/>
              <a:t>M5 R3 O8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5D8E6-CFBF-ECEB-E48F-28F71D8E35D5}"/>
              </a:ext>
            </a:extLst>
          </p:cNvPr>
          <p:cNvSpPr txBox="1"/>
          <p:nvPr/>
        </p:nvSpPr>
        <p:spPr>
          <a:xfrm>
            <a:off x="8909520" y="4637064"/>
            <a:ext cx="183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alignments</a:t>
            </a:r>
          </a:p>
        </p:txBody>
      </p:sp>
    </p:spTree>
    <p:extLst>
      <p:ext uri="{BB962C8B-B14F-4D97-AF65-F5344CB8AC3E}">
        <p14:creationId xmlns:p14="http://schemas.microsoft.com/office/powerpoint/2010/main" val="4184413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3224</Words>
  <Application>Microsoft Office PowerPoint</Application>
  <PresentationFormat>Widescreen</PresentationFormat>
  <Paragraphs>1078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Cambria Math</vt:lpstr>
      <vt:lpstr>Courier New</vt:lpstr>
      <vt:lpstr>Trebuchet MS</vt:lpstr>
      <vt:lpstr>Wingdings</vt:lpstr>
      <vt:lpstr>Office Theme</vt:lpstr>
      <vt:lpstr>PowerPoint Presentation</vt:lpstr>
      <vt:lpstr>Coverage</vt:lpstr>
      <vt:lpstr>How much coverage is sufficient?</vt:lpstr>
      <vt:lpstr>Poisson distribution</vt:lpstr>
      <vt:lpstr>Example of a Poisson process</vt:lpstr>
      <vt:lpstr>Poisson distribution</vt:lpstr>
      <vt:lpstr>Poisson distribution and coverage</vt:lpstr>
      <vt:lpstr>Fraction of the genome covered</vt:lpstr>
      <vt:lpstr>Number of contigs and average length</vt:lpstr>
      <vt:lpstr>Genome is fully covered. Can this be assembled?</vt:lpstr>
      <vt:lpstr>Real life correction to contig length</vt:lpstr>
      <vt:lpstr>Reads are Strings </vt:lpstr>
      <vt:lpstr>Exact matching</vt:lpstr>
      <vt:lpstr>Exact matching</vt:lpstr>
      <vt:lpstr>What is an alignment (overlap)?</vt:lpstr>
      <vt:lpstr>Example of an alignment (overlap)</vt:lpstr>
      <vt:lpstr>Types of mis-matches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Alignment of two genomes</vt:lpstr>
      <vt:lpstr>K-mers</vt:lpstr>
      <vt:lpstr>Using K-mers to seed alignments</vt:lpstr>
      <vt:lpstr>Using K-mers to seed alignments</vt:lpstr>
      <vt:lpstr>Using K-mers to seed alignments</vt:lpstr>
      <vt:lpstr>Using K-mers to seed alignments</vt:lpstr>
      <vt:lpstr>Using K-mers to seed alignments</vt:lpstr>
      <vt:lpstr>Method of minimizers</vt:lpstr>
      <vt:lpstr>Numerical value of a K-mer</vt:lpstr>
      <vt:lpstr>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Example of minimizers</vt:lpstr>
      <vt:lpstr>Seeding alignments with minimizers</vt:lpstr>
      <vt:lpstr>Seeding alignments with minimizers</vt:lpstr>
      <vt:lpstr>Seeding alignments with minimizers</vt:lpstr>
      <vt:lpstr>Seeding alignments with minimizers</vt:lpstr>
      <vt:lpstr>Seeding alignments with minimizers</vt:lpstr>
      <vt:lpstr>Using minimizers to compute candidate  alignments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Alexey Zimin</cp:lastModifiedBy>
  <cp:revision>1</cp:revision>
  <dcterms:created xsi:type="dcterms:W3CDTF">2013-08-21T19:17:07Z</dcterms:created>
  <dcterms:modified xsi:type="dcterms:W3CDTF">2026-09-09T18:05:40Z</dcterms:modified>
</cp:coreProperties>
</file>