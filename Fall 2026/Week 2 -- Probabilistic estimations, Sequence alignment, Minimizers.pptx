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7"/>
  </p:notesMasterIdLst>
  <p:sldIdLst>
    <p:sldId id="272" r:id="rId2"/>
    <p:sldId id="467" r:id="rId3"/>
    <p:sldId id="468" r:id="rId4"/>
    <p:sldId id="490" r:id="rId5"/>
    <p:sldId id="491" r:id="rId6"/>
    <p:sldId id="469" r:id="rId7"/>
    <p:sldId id="470" r:id="rId8"/>
    <p:sldId id="471" r:id="rId9"/>
    <p:sldId id="472" r:id="rId10"/>
    <p:sldId id="493" r:id="rId11"/>
    <p:sldId id="473" r:id="rId12"/>
    <p:sldId id="488" r:id="rId13"/>
    <p:sldId id="489" r:id="rId14"/>
    <p:sldId id="492" r:id="rId15"/>
    <p:sldId id="399" r:id="rId16"/>
    <p:sldId id="400" r:id="rId17"/>
    <p:sldId id="259" r:id="rId18"/>
    <p:sldId id="477" r:id="rId19"/>
    <p:sldId id="603" r:id="rId20"/>
    <p:sldId id="602" r:id="rId21"/>
    <p:sldId id="478" r:id="rId22"/>
    <p:sldId id="481" r:id="rId23"/>
    <p:sldId id="482" r:id="rId24"/>
    <p:sldId id="484" r:id="rId25"/>
    <p:sldId id="483" r:id="rId26"/>
    <p:sldId id="485" r:id="rId27"/>
    <p:sldId id="486" r:id="rId28"/>
    <p:sldId id="487" r:id="rId29"/>
    <p:sldId id="569" r:id="rId30"/>
    <p:sldId id="511" r:id="rId31"/>
    <p:sldId id="546" r:id="rId32"/>
    <p:sldId id="547" r:id="rId33"/>
    <p:sldId id="553" r:id="rId34"/>
    <p:sldId id="556" r:id="rId35"/>
    <p:sldId id="557" r:id="rId36"/>
    <p:sldId id="507" r:id="rId37"/>
    <p:sldId id="513" r:id="rId38"/>
    <p:sldId id="512" r:id="rId39"/>
    <p:sldId id="514" r:id="rId40"/>
    <p:sldId id="591" r:id="rId41"/>
    <p:sldId id="592" r:id="rId42"/>
    <p:sldId id="593" r:id="rId43"/>
    <p:sldId id="594" r:id="rId44"/>
    <p:sldId id="595" r:id="rId45"/>
    <p:sldId id="596" r:id="rId46"/>
    <p:sldId id="597" r:id="rId47"/>
    <p:sldId id="598" r:id="rId48"/>
    <p:sldId id="599" r:id="rId49"/>
    <p:sldId id="600" r:id="rId50"/>
    <p:sldId id="601" r:id="rId51"/>
    <p:sldId id="523" r:id="rId52"/>
    <p:sldId id="568" r:id="rId53"/>
    <p:sldId id="526" r:id="rId54"/>
    <p:sldId id="558" r:id="rId55"/>
    <p:sldId id="570" r:id="rId5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68B1C"/>
    <a:srgbClr val="BE0260"/>
    <a:srgbClr val="D0005E"/>
    <a:srgbClr val="018ACF"/>
    <a:srgbClr val="D09622"/>
    <a:srgbClr val="CC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A21CA77-01A5-40B0-89EC-1D386252E4FE}" v="19" dt="2026-09-11T18:28:57.26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ksey Zimin" userId="7f2637d0bc515791" providerId="LiveId" clId="{5F359FD6-B8E9-41DA-90EC-0BA4FD0F3073}"/>
    <pc:docChg chg="undo custSel addSld delSld modSld sldOrd">
      <pc:chgData name="Aleksey Zimin" userId="7f2637d0bc515791" providerId="LiveId" clId="{5F359FD6-B8E9-41DA-90EC-0BA4FD0F3073}" dt="2026-09-11T18:29:10.136" v="548" actId="1076"/>
      <pc:docMkLst>
        <pc:docMk/>
      </pc:docMkLst>
      <pc:sldChg chg="modSp mod">
        <pc:chgData name="Aleksey Zimin" userId="7f2637d0bc515791" providerId="LiveId" clId="{5F359FD6-B8E9-41DA-90EC-0BA4FD0F3073}" dt="2026-09-09T17:33:27.767" v="3" actId="115"/>
        <pc:sldMkLst>
          <pc:docMk/>
          <pc:sldMk cId="3499796880" sldId="399"/>
        </pc:sldMkLst>
        <pc:spChg chg="mod">
          <ac:chgData name="Aleksey Zimin" userId="7f2637d0bc515791" providerId="LiveId" clId="{5F359FD6-B8E9-41DA-90EC-0BA4FD0F3073}" dt="2026-09-09T17:33:27.767" v="3" actId="115"/>
          <ac:spMkLst>
            <pc:docMk/>
            <pc:sldMk cId="3499796880" sldId="399"/>
            <ac:spMk id="3" creationId="{D08A7DB0-B730-9261-57CC-67327D0169EA}"/>
          </ac:spMkLst>
        </pc:spChg>
      </pc:sldChg>
      <pc:sldChg chg="addSp modSp mod modAnim">
        <pc:chgData name="Aleksey Zimin" userId="7f2637d0bc515791" providerId="LiveId" clId="{5F359FD6-B8E9-41DA-90EC-0BA4FD0F3073}" dt="2026-09-09T17:42:58.734" v="201"/>
        <pc:sldMkLst>
          <pc:docMk/>
          <pc:sldMk cId="1141752944" sldId="477"/>
        </pc:sldMkLst>
        <pc:spChg chg="mod">
          <ac:chgData name="Aleksey Zimin" userId="7f2637d0bc515791" providerId="LiveId" clId="{5F359FD6-B8E9-41DA-90EC-0BA4FD0F3073}" dt="2026-09-09T17:42:21.615" v="198" actId="114"/>
          <ac:spMkLst>
            <pc:docMk/>
            <pc:sldMk cId="1141752944" sldId="477"/>
            <ac:spMk id="3" creationId="{10E9D41B-B306-CD8B-FB9D-C94A43D6DAE4}"/>
          </ac:spMkLst>
        </pc:spChg>
        <pc:spChg chg="add mod">
          <ac:chgData name="Aleksey Zimin" userId="7f2637d0bc515791" providerId="LiveId" clId="{5F359FD6-B8E9-41DA-90EC-0BA4FD0F3073}" dt="2026-09-09T17:38:40.169" v="88" actId="20577"/>
          <ac:spMkLst>
            <pc:docMk/>
            <pc:sldMk cId="1141752944" sldId="477"/>
            <ac:spMk id="9" creationId="{0F9BED86-13F1-3CD4-599F-4CE640D75906}"/>
          </ac:spMkLst>
        </pc:spChg>
        <pc:spChg chg="add mod">
          <ac:chgData name="Aleksey Zimin" userId="7f2637d0bc515791" providerId="LiveId" clId="{5F359FD6-B8E9-41DA-90EC-0BA4FD0F3073}" dt="2026-09-09T17:39:02.445" v="114" actId="1076"/>
          <ac:spMkLst>
            <pc:docMk/>
            <pc:sldMk cId="1141752944" sldId="477"/>
            <ac:spMk id="11" creationId="{0C685E60-5BDB-39A6-4615-6EA623B7F334}"/>
          </ac:spMkLst>
        </pc:spChg>
        <pc:spChg chg="add mod">
          <ac:chgData name="Aleksey Zimin" userId="7f2637d0bc515791" providerId="LiveId" clId="{5F359FD6-B8E9-41DA-90EC-0BA4FD0F3073}" dt="2026-09-09T17:39:14.825" v="137" actId="20577"/>
          <ac:spMkLst>
            <pc:docMk/>
            <pc:sldMk cId="1141752944" sldId="477"/>
            <ac:spMk id="13" creationId="{62D88927-5CC1-FD0D-E0DD-60F1A1705EC2}"/>
          </ac:spMkLst>
        </pc:spChg>
        <pc:picChg chg="add mod">
          <ac:chgData name="Aleksey Zimin" userId="7f2637d0bc515791" providerId="LiveId" clId="{5F359FD6-B8E9-41DA-90EC-0BA4FD0F3073}" dt="2026-09-09T17:35:38.485" v="7" actId="1076"/>
          <ac:picMkLst>
            <pc:docMk/>
            <pc:sldMk cId="1141752944" sldId="477"/>
            <ac:picMk id="6" creationId="{C345A576-4A99-F7D6-7E88-4910D26E0CF6}"/>
          </ac:picMkLst>
        </pc:picChg>
        <pc:picChg chg="add mod">
          <ac:chgData name="Aleksey Zimin" userId="7f2637d0bc515791" providerId="LiveId" clId="{5F359FD6-B8E9-41DA-90EC-0BA4FD0F3073}" dt="2026-09-09T17:36:31.973" v="10" actId="1076"/>
          <ac:picMkLst>
            <pc:docMk/>
            <pc:sldMk cId="1141752944" sldId="477"/>
            <ac:picMk id="8" creationId="{D33D9FEC-F4FC-D11F-88C4-0DDA375BA4FE}"/>
          </ac:picMkLst>
        </pc:picChg>
      </pc:sldChg>
      <pc:sldChg chg="addSp delSp modSp mod">
        <pc:chgData name="Aleksey Zimin" userId="7f2637d0bc515791" providerId="LiveId" clId="{5F359FD6-B8E9-41DA-90EC-0BA4FD0F3073}" dt="2026-09-09T18:01:04.303" v="348" actId="478"/>
        <pc:sldMkLst>
          <pc:docMk/>
          <pc:sldMk cId="871696977" sldId="478"/>
        </pc:sldMkLst>
        <pc:spChg chg="mod">
          <ac:chgData name="Aleksey Zimin" userId="7f2637d0bc515791" providerId="LiveId" clId="{5F359FD6-B8E9-41DA-90EC-0BA4FD0F3073}" dt="2026-09-09T17:58:07.635" v="286" actId="20577"/>
          <ac:spMkLst>
            <pc:docMk/>
            <pc:sldMk cId="871696977" sldId="478"/>
            <ac:spMk id="10" creationId="{11409361-393C-723D-1449-DA50768B27A6}"/>
          </ac:spMkLst>
        </pc:spChg>
        <pc:cxnChg chg="add mod">
          <ac:chgData name="Aleksey Zimin" userId="7f2637d0bc515791" providerId="LiveId" clId="{5F359FD6-B8E9-41DA-90EC-0BA4FD0F3073}" dt="2026-09-09T17:46:58.056" v="235" actId="13822"/>
          <ac:cxnSpMkLst>
            <pc:docMk/>
            <pc:sldMk cId="871696977" sldId="478"/>
            <ac:cxnSpMk id="5" creationId="{0B4CD621-AB8B-8DB0-A79E-1AB72E1FBDB2}"/>
          </ac:cxnSpMkLst>
        </pc:cxnChg>
        <pc:cxnChg chg="add mod">
          <ac:chgData name="Aleksey Zimin" userId="7f2637d0bc515791" providerId="LiveId" clId="{5F359FD6-B8E9-41DA-90EC-0BA4FD0F3073}" dt="2026-09-09T17:55:52.761" v="280" actId="1076"/>
          <ac:cxnSpMkLst>
            <pc:docMk/>
            <pc:sldMk cId="871696977" sldId="478"/>
            <ac:cxnSpMk id="6" creationId="{3C651B07-367F-ACCE-5249-EEC9AE3BFBD2}"/>
          </ac:cxnSpMkLst>
        </pc:cxnChg>
        <pc:cxnChg chg="add mod">
          <ac:chgData name="Aleksey Zimin" userId="7f2637d0bc515791" providerId="LiveId" clId="{5F359FD6-B8E9-41DA-90EC-0BA4FD0F3073}" dt="2026-09-09T17:55:49.241" v="279" actId="1076"/>
          <ac:cxnSpMkLst>
            <pc:docMk/>
            <pc:sldMk cId="871696977" sldId="478"/>
            <ac:cxnSpMk id="7" creationId="{34E01392-65D9-904C-9D29-EDBDB465DB79}"/>
          </ac:cxnSpMkLst>
        </pc:cxnChg>
        <pc:cxnChg chg="add mod">
          <ac:chgData name="Aleksey Zimin" userId="7f2637d0bc515791" providerId="LiveId" clId="{5F359FD6-B8E9-41DA-90EC-0BA4FD0F3073}" dt="2026-09-09T17:47:37.348" v="242" actId="1076"/>
          <ac:cxnSpMkLst>
            <pc:docMk/>
            <pc:sldMk cId="871696977" sldId="478"/>
            <ac:cxnSpMk id="8" creationId="{4448ABAC-7EBF-7F1F-C65B-8A18E2E1C8BF}"/>
          </ac:cxnSpMkLst>
        </pc:cxnChg>
        <pc:cxnChg chg="add mod">
          <ac:chgData name="Aleksey Zimin" userId="7f2637d0bc515791" providerId="LiveId" clId="{5F359FD6-B8E9-41DA-90EC-0BA4FD0F3073}" dt="2026-09-09T17:55:45.417" v="277" actId="1076"/>
          <ac:cxnSpMkLst>
            <pc:docMk/>
            <pc:sldMk cId="871696977" sldId="478"/>
            <ac:cxnSpMk id="11" creationId="{926036A5-6621-E540-745D-C225859C70FE}"/>
          </ac:cxnSpMkLst>
        </pc:cxnChg>
        <pc:cxnChg chg="add mod">
          <ac:chgData name="Aleksey Zimin" userId="7f2637d0bc515791" providerId="LiveId" clId="{5F359FD6-B8E9-41DA-90EC-0BA4FD0F3073}" dt="2026-09-09T17:55:47.177" v="278" actId="1076"/>
          <ac:cxnSpMkLst>
            <pc:docMk/>
            <pc:sldMk cId="871696977" sldId="478"/>
            <ac:cxnSpMk id="13" creationId="{DC49AFFA-3356-C649-F60B-49D7F93607B5}"/>
          </ac:cxnSpMkLst>
        </pc:cxnChg>
        <pc:cxnChg chg="add mod">
          <ac:chgData name="Aleksey Zimin" userId="7f2637d0bc515791" providerId="LiveId" clId="{5F359FD6-B8E9-41DA-90EC-0BA4FD0F3073}" dt="2026-09-09T17:52:01.243" v="252" actId="1076"/>
          <ac:cxnSpMkLst>
            <pc:docMk/>
            <pc:sldMk cId="871696977" sldId="478"/>
            <ac:cxnSpMk id="16" creationId="{5FC5599D-8515-F0BA-2744-AA0C3C627553}"/>
          </ac:cxnSpMkLst>
        </pc:cxnChg>
      </pc:sldChg>
      <pc:sldChg chg="add">
        <pc:chgData name="Aleksey Zimin" userId="7f2637d0bc515791" providerId="LiveId" clId="{5F359FD6-B8E9-41DA-90EC-0BA4FD0F3073}" dt="2026-09-04T13:40:58.879" v="0"/>
        <pc:sldMkLst>
          <pc:docMk/>
          <pc:sldMk cId="3792863760" sldId="507"/>
        </pc:sldMkLst>
      </pc:sldChg>
      <pc:sldChg chg="modSp add mod">
        <pc:chgData name="Aleksey Zimin" userId="7f2637d0bc515791" providerId="LiveId" clId="{5F359FD6-B8E9-41DA-90EC-0BA4FD0F3073}" dt="2026-09-09T18:04:39.666" v="350" actId="115"/>
        <pc:sldMkLst>
          <pc:docMk/>
          <pc:sldMk cId="2553610431" sldId="511"/>
        </pc:sldMkLst>
        <pc:spChg chg="mod">
          <ac:chgData name="Aleksey Zimin" userId="7f2637d0bc515791" providerId="LiveId" clId="{5F359FD6-B8E9-41DA-90EC-0BA4FD0F3073}" dt="2026-09-09T18:04:39.666" v="350" actId="115"/>
          <ac:spMkLst>
            <pc:docMk/>
            <pc:sldMk cId="2553610431" sldId="511"/>
            <ac:spMk id="3" creationId="{6DA8EA48-CBB3-7385-C2F3-9314513B9812}"/>
          </ac:spMkLst>
        </pc:spChg>
      </pc:sldChg>
      <pc:sldChg chg="add">
        <pc:chgData name="Aleksey Zimin" userId="7f2637d0bc515791" providerId="LiveId" clId="{5F359FD6-B8E9-41DA-90EC-0BA4FD0F3073}" dt="2026-09-04T13:40:58.879" v="0"/>
        <pc:sldMkLst>
          <pc:docMk/>
          <pc:sldMk cId="1031262088" sldId="512"/>
        </pc:sldMkLst>
      </pc:sldChg>
      <pc:sldChg chg="add">
        <pc:chgData name="Aleksey Zimin" userId="7f2637d0bc515791" providerId="LiveId" clId="{5F359FD6-B8E9-41DA-90EC-0BA4FD0F3073}" dt="2026-09-04T13:40:58.879" v="0"/>
        <pc:sldMkLst>
          <pc:docMk/>
          <pc:sldMk cId="1269627095" sldId="513"/>
        </pc:sldMkLst>
      </pc:sldChg>
      <pc:sldChg chg="add">
        <pc:chgData name="Aleksey Zimin" userId="7f2637d0bc515791" providerId="LiveId" clId="{5F359FD6-B8E9-41DA-90EC-0BA4FD0F3073}" dt="2026-09-04T13:40:58.879" v="0"/>
        <pc:sldMkLst>
          <pc:docMk/>
          <pc:sldMk cId="1872650003" sldId="514"/>
        </pc:sldMkLst>
      </pc:sldChg>
      <pc:sldChg chg="add">
        <pc:chgData name="Aleksey Zimin" userId="7f2637d0bc515791" providerId="LiveId" clId="{5F359FD6-B8E9-41DA-90EC-0BA4FD0F3073}" dt="2026-09-04T13:40:58.879" v="0"/>
        <pc:sldMkLst>
          <pc:docMk/>
          <pc:sldMk cId="3390149621" sldId="523"/>
        </pc:sldMkLst>
      </pc:sldChg>
      <pc:sldChg chg="add">
        <pc:chgData name="Aleksey Zimin" userId="7f2637d0bc515791" providerId="LiveId" clId="{5F359FD6-B8E9-41DA-90EC-0BA4FD0F3073}" dt="2026-09-04T13:40:58.879" v="0"/>
        <pc:sldMkLst>
          <pc:docMk/>
          <pc:sldMk cId="276986234" sldId="526"/>
        </pc:sldMkLst>
      </pc:sldChg>
      <pc:sldChg chg="add">
        <pc:chgData name="Aleksey Zimin" userId="7f2637d0bc515791" providerId="LiveId" clId="{5F359FD6-B8E9-41DA-90EC-0BA4FD0F3073}" dt="2026-09-04T13:40:58.879" v="0"/>
        <pc:sldMkLst>
          <pc:docMk/>
          <pc:sldMk cId="888402848" sldId="546"/>
        </pc:sldMkLst>
      </pc:sldChg>
      <pc:sldChg chg="modSp add mod">
        <pc:chgData name="Aleksey Zimin" userId="7f2637d0bc515791" providerId="LiveId" clId="{5F359FD6-B8E9-41DA-90EC-0BA4FD0F3073}" dt="2026-09-09T18:05:37.248" v="356" actId="20577"/>
        <pc:sldMkLst>
          <pc:docMk/>
          <pc:sldMk cId="3427682825" sldId="547"/>
        </pc:sldMkLst>
        <pc:spChg chg="mod">
          <ac:chgData name="Aleksey Zimin" userId="7f2637d0bc515791" providerId="LiveId" clId="{5F359FD6-B8E9-41DA-90EC-0BA4FD0F3073}" dt="2026-09-09T18:05:37.248" v="356" actId="20577"/>
          <ac:spMkLst>
            <pc:docMk/>
            <pc:sldMk cId="3427682825" sldId="547"/>
            <ac:spMk id="7" creationId="{E6B04B52-F418-F2BA-8889-666480AB888C}"/>
          </ac:spMkLst>
        </pc:spChg>
      </pc:sldChg>
      <pc:sldChg chg="add">
        <pc:chgData name="Aleksey Zimin" userId="7f2637d0bc515791" providerId="LiveId" clId="{5F359FD6-B8E9-41DA-90EC-0BA4FD0F3073}" dt="2026-09-04T13:40:58.879" v="0"/>
        <pc:sldMkLst>
          <pc:docMk/>
          <pc:sldMk cId="1709966318" sldId="553"/>
        </pc:sldMkLst>
      </pc:sldChg>
      <pc:sldChg chg="add">
        <pc:chgData name="Aleksey Zimin" userId="7f2637d0bc515791" providerId="LiveId" clId="{5F359FD6-B8E9-41DA-90EC-0BA4FD0F3073}" dt="2026-09-04T13:40:58.879" v="0"/>
        <pc:sldMkLst>
          <pc:docMk/>
          <pc:sldMk cId="3495650733" sldId="556"/>
        </pc:sldMkLst>
      </pc:sldChg>
      <pc:sldChg chg="add">
        <pc:chgData name="Aleksey Zimin" userId="7f2637d0bc515791" providerId="LiveId" clId="{5F359FD6-B8E9-41DA-90EC-0BA4FD0F3073}" dt="2026-09-04T13:40:58.879" v="0"/>
        <pc:sldMkLst>
          <pc:docMk/>
          <pc:sldMk cId="3631780251" sldId="557"/>
        </pc:sldMkLst>
      </pc:sldChg>
      <pc:sldChg chg="add">
        <pc:chgData name="Aleksey Zimin" userId="7f2637d0bc515791" providerId="LiveId" clId="{5F359FD6-B8E9-41DA-90EC-0BA4FD0F3073}" dt="2026-09-04T13:40:58.879" v="0"/>
        <pc:sldMkLst>
          <pc:docMk/>
          <pc:sldMk cId="1047431818" sldId="558"/>
        </pc:sldMkLst>
      </pc:sldChg>
      <pc:sldChg chg="add">
        <pc:chgData name="Aleksey Zimin" userId="7f2637d0bc515791" providerId="LiveId" clId="{5F359FD6-B8E9-41DA-90EC-0BA4FD0F3073}" dt="2026-09-04T13:40:58.879" v="0"/>
        <pc:sldMkLst>
          <pc:docMk/>
          <pc:sldMk cId="402778499" sldId="568"/>
        </pc:sldMkLst>
      </pc:sldChg>
      <pc:sldChg chg="modSp add mod">
        <pc:chgData name="Aleksey Zimin" userId="7f2637d0bc515791" providerId="LiveId" clId="{5F359FD6-B8E9-41DA-90EC-0BA4FD0F3073}" dt="2026-09-09T18:04:06.264" v="349" actId="33524"/>
        <pc:sldMkLst>
          <pc:docMk/>
          <pc:sldMk cId="1547857595" sldId="569"/>
        </pc:sldMkLst>
        <pc:spChg chg="mod">
          <ac:chgData name="Aleksey Zimin" userId="7f2637d0bc515791" providerId="LiveId" clId="{5F359FD6-B8E9-41DA-90EC-0BA4FD0F3073}" dt="2026-09-09T18:04:06.264" v="349" actId="33524"/>
          <ac:spMkLst>
            <pc:docMk/>
            <pc:sldMk cId="1547857595" sldId="569"/>
            <ac:spMk id="3" creationId="{7A96AF36-04A2-FCFE-A6EC-5DD8D73DE073}"/>
          </ac:spMkLst>
        </pc:spChg>
      </pc:sldChg>
      <pc:sldChg chg="add">
        <pc:chgData name="Aleksey Zimin" userId="7f2637d0bc515791" providerId="LiveId" clId="{5F359FD6-B8E9-41DA-90EC-0BA4FD0F3073}" dt="2026-09-04T13:40:58.879" v="0"/>
        <pc:sldMkLst>
          <pc:docMk/>
          <pc:sldMk cId="4184413753" sldId="570"/>
        </pc:sldMkLst>
      </pc:sldChg>
      <pc:sldChg chg="add">
        <pc:chgData name="Aleksey Zimin" userId="7f2637d0bc515791" providerId="LiveId" clId="{5F359FD6-B8E9-41DA-90EC-0BA4FD0F3073}" dt="2026-09-04T13:40:58.879" v="0"/>
        <pc:sldMkLst>
          <pc:docMk/>
          <pc:sldMk cId="2496188052" sldId="591"/>
        </pc:sldMkLst>
      </pc:sldChg>
      <pc:sldChg chg="add">
        <pc:chgData name="Aleksey Zimin" userId="7f2637d0bc515791" providerId="LiveId" clId="{5F359FD6-B8E9-41DA-90EC-0BA4FD0F3073}" dt="2026-09-04T13:40:58.879" v="0"/>
        <pc:sldMkLst>
          <pc:docMk/>
          <pc:sldMk cId="2120271698" sldId="592"/>
        </pc:sldMkLst>
      </pc:sldChg>
      <pc:sldChg chg="add">
        <pc:chgData name="Aleksey Zimin" userId="7f2637d0bc515791" providerId="LiveId" clId="{5F359FD6-B8E9-41DA-90EC-0BA4FD0F3073}" dt="2026-09-04T13:40:58.879" v="0"/>
        <pc:sldMkLst>
          <pc:docMk/>
          <pc:sldMk cId="4092878095" sldId="593"/>
        </pc:sldMkLst>
      </pc:sldChg>
      <pc:sldChg chg="add">
        <pc:chgData name="Aleksey Zimin" userId="7f2637d0bc515791" providerId="LiveId" clId="{5F359FD6-B8E9-41DA-90EC-0BA4FD0F3073}" dt="2026-09-04T13:40:58.879" v="0"/>
        <pc:sldMkLst>
          <pc:docMk/>
          <pc:sldMk cId="2806797308" sldId="594"/>
        </pc:sldMkLst>
      </pc:sldChg>
      <pc:sldChg chg="add">
        <pc:chgData name="Aleksey Zimin" userId="7f2637d0bc515791" providerId="LiveId" clId="{5F359FD6-B8E9-41DA-90EC-0BA4FD0F3073}" dt="2026-09-04T13:40:58.879" v="0"/>
        <pc:sldMkLst>
          <pc:docMk/>
          <pc:sldMk cId="1323442977" sldId="595"/>
        </pc:sldMkLst>
      </pc:sldChg>
      <pc:sldChg chg="add">
        <pc:chgData name="Aleksey Zimin" userId="7f2637d0bc515791" providerId="LiveId" clId="{5F359FD6-B8E9-41DA-90EC-0BA4FD0F3073}" dt="2026-09-04T13:40:58.879" v="0"/>
        <pc:sldMkLst>
          <pc:docMk/>
          <pc:sldMk cId="1491746325" sldId="596"/>
        </pc:sldMkLst>
      </pc:sldChg>
      <pc:sldChg chg="add">
        <pc:chgData name="Aleksey Zimin" userId="7f2637d0bc515791" providerId="LiveId" clId="{5F359FD6-B8E9-41DA-90EC-0BA4FD0F3073}" dt="2026-09-04T13:40:58.879" v="0"/>
        <pc:sldMkLst>
          <pc:docMk/>
          <pc:sldMk cId="973595494" sldId="597"/>
        </pc:sldMkLst>
      </pc:sldChg>
      <pc:sldChg chg="add">
        <pc:chgData name="Aleksey Zimin" userId="7f2637d0bc515791" providerId="LiveId" clId="{5F359FD6-B8E9-41DA-90EC-0BA4FD0F3073}" dt="2026-09-04T13:40:58.879" v="0"/>
        <pc:sldMkLst>
          <pc:docMk/>
          <pc:sldMk cId="663875117" sldId="598"/>
        </pc:sldMkLst>
      </pc:sldChg>
      <pc:sldChg chg="add">
        <pc:chgData name="Aleksey Zimin" userId="7f2637d0bc515791" providerId="LiveId" clId="{5F359FD6-B8E9-41DA-90EC-0BA4FD0F3073}" dt="2026-09-04T13:40:58.879" v="0"/>
        <pc:sldMkLst>
          <pc:docMk/>
          <pc:sldMk cId="3634270695" sldId="599"/>
        </pc:sldMkLst>
      </pc:sldChg>
      <pc:sldChg chg="add">
        <pc:chgData name="Aleksey Zimin" userId="7f2637d0bc515791" providerId="LiveId" clId="{5F359FD6-B8E9-41DA-90EC-0BA4FD0F3073}" dt="2026-09-04T13:40:58.879" v="0"/>
        <pc:sldMkLst>
          <pc:docMk/>
          <pc:sldMk cId="2490369365" sldId="600"/>
        </pc:sldMkLst>
      </pc:sldChg>
      <pc:sldChg chg="add">
        <pc:chgData name="Aleksey Zimin" userId="7f2637d0bc515791" providerId="LiveId" clId="{5F359FD6-B8E9-41DA-90EC-0BA4FD0F3073}" dt="2026-09-04T13:40:58.879" v="0"/>
        <pc:sldMkLst>
          <pc:docMk/>
          <pc:sldMk cId="104986636" sldId="601"/>
        </pc:sldMkLst>
      </pc:sldChg>
      <pc:sldChg chg="delSp modSp add mod ord modAnim">
        <pc:chgData name="Aleksey Zimin" userId="7f2637d0bc515791" providerId="LiveId" clId="{5F359FD6-B8E9-41DA-90EC-0BA4FD0F3073}" dt="2026-09-09T18:00:59.509" v="347"/>
        <pc:sldMkLst>
          <pc:docMk/>
          <pc:sldMk cId="1606322878" sldId="602"/>
        </pc:sldMkLst>
        <pc:spChg chg="mod">
          <ac:chgData name="Aleksey Zimin" userId="7f2637d0bc515791" providerId="LiveId" clId="{5F359FD6-B8E9-41DA-90EC-0BA4FD0F3073}" dt="2026-09-09T18:00:31.767" v="341" actId="6549"/>
          <ac:spMkLst>
            <pc:docMk/>
            <pc:sldMk cId="1606322878" sldId="602"/>
            <ac:spMk id="10" creationId="{02620E3F-5FA0-5AEB-75FF-E65ADBB79F8B}"/>
          </ac:spMkLst>
        </pc:spChg>
        <pc:graphicFrameChg chg="mod">
          <ac:chgData name="Aleksey Zimin" userId="7f2637d0bc515791" providerId="LiveId" clId="{5F359FD6-B8E9-41DA-90EC-0BA4FD0F3073}" dt="2026-09-09T18:00:43.672" v="344" actId="1076"/>
          <ac:graphicFrameMkLst>
            <pc:docMk/>
            <pc:sldMk cId="1606322878" sldId="602"/>
            <ac:graphicFrameMk id="19" creationId="{4BC113A5-445F-947A-0CE6-0435812544B1}"/>
          </ac:graphicFrameMkLst>
        </pc:graphicFrameChg>
      </pc:sldChg>
      <pc:sldChg chg="addSp modSp new mod">
        <pc:chgData name="Aleksey Zimin" userId="7f2637d0bc515791" providerId="LiveId" clId="{5F359FD6-B8E9-41DA-90EC-0BA4FD0F3073}" dt="2026-09-11T18:29:10.136" v="548" actId="1076"/>
        <pc:sldMkLst>
          <pc:docMk/>
          <pc:sldMk cId="4200414703" sldId="603"/>
        </pc:sldMkLst>
        <pc:spChg chg="mod">
          <ac:chgData name="Aleksey Zimin" userId="7f2637d0bc515791" providerId="LiveId" clId="{5F359FD6-B8E9-41DA-90EC-0BA4FD0F3073}" dt="2026-09-11T18:28:32.025" v="499" actId="20577"/>
          <ac:spMkLst>
            <pc:docMk/>
            <pc:sldMk cId="4200414703" sldId="603"/>
            <ac:spMk id="2" creationId="{7CA01608-A94E-C75E-EB62-E744F40A5AE2}"/>
          </ac:spMkLst>
        </pc:spChg>
        <pc:spChg chg="mod">
          <ac:chgData name="Aleksey Zimin" userId="7f2637d0bc515791" providerId="LiveId" clId="{5F359FD6-B8E9-41DA-90EC-0BA4FD0F3073}" dt="2026-09-11T18:28:52.389" v="523" actId="20577"/>
          <ac:spMkLst>
            <pc:docMk/>
            <pc:sldMk cId="4200414703" sldId="603"/>
            <ac:spMk id="3" creationId="{1365E617-7C57-43C5-4161-44D991CE9595}"/>
          </ac:spMkLst>
        </pc:spChg>
        <pc:spChg chg="add mod">
          <ac:chgData name="Aleksey Zimin" userId="7f2637d0bc515791" providerId="LiveId" clId="{5F359FD6-B8E9-41DA-90EC-0BA4FD0F3073}" dt="2026-09-11T18:29:10.136" v="548" actId="1076"/>
          <ac:spMkLst>
            <pc:docMk/>
            <pc:sldMk cId="4200414703" sldId="603"/>
            <ac:spMk id="7" creationId="{FE10C695-105E-F875-7FF0-249042478B7F}"/>
          </ac:spMkLst>
        </pc:spChg>
        <pc:picChg chg="add mod">
          <ac:chgData name="Aleksey Zimin" userId="7f2637d0bc515791" providerId="LiveId" clId="{5F359FD6-B8E9-41DA-90EC-0BA4FD0F3073}" dt="2026-09-11T18:28:23.043" v="497" actId="14100"/>
          <ac:picMkLst>
            <pc:docMk/>
            <pc:sldMk cId="4200414703" sldId="603"/>
            <ac:picMk id="6" creationId="{2F1E6840-50EE-09C9-4F45-736C82201232}"/>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8C61B90-1233-4265-A8E1-4CB85DE126FB}" type="datetimeFigureOut">
              <a:rPr lang="en-US" smtClean="0"/>
              <a:t>9/11/2026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313FD6-7C7B-4426-BFC4-490AC0CFBE05}" type="slidenum">
              <a:rPr lang="en-US" smtClean="0"/>
              <a:t>‹#›</a:t>
            </a:fld>
            <a:endParaRPr lang="en-US"/>
          </a:p>
        </p:txBody>
      </p:sp>
    </p:spTree>
    <p:extLst>
      <p:ext uri="{BB962C8B-B14F-4D97-AF65-F5344CB8AC3E}">
        <p14:creationId xmlns:p14="http://schemas.microsoft.com/office/powerpoint/2010/main" val="15639771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en.wikipedia.org/wiki/RAND_Corporation" TargetMode="External"/><Relationship Id="rId2" Type="http://schemas.openxmlformats.org/officeDocument/2006/relationships/slide" Target="../slides/slide19.xml"/><Relationship Id="rId1" Type="http://schemas.openxmlformats.org/officeDocument/2006/relationships/notesMaster" Target="../notesMasters/notesMaster1.xml"/><Relationship Id="rId4" Type="http://schemas.openxmlformats.org/officeDocument/2006/relationships/hyperlink" Target="https://en.wikipedia.org/wiki/Charles_Erwin_Wilson"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I spent the Fall quarter (of 1950) at </a:t>
            </a:r>
            <a:r>
              <a:rPr lang="en-US" sz="1200" b="0" i="0" u="none" strike="noStrike" kern="1200" dirty="0">
                <a:solidFill>
                  <a:schemeClr val="tx1"/>
                </a:solidFill>
                <a:effectLst/>
                <a:latin typeface="+mn-lt"/>
                <a:ea typeface="+mn-ea"/>
                <a:cs typeface="+mn-cs"/>
                <a:hlinkClick r:id="rId3" tooltip="RAND Corporation"/>
              </a:rPr>
              <a:t>RAND</a:t>
            </a:r>
            <a:r>
              <a:rPr lang="en-US" sz="1200" b="0" i="0" kern="1200" dirty="0">
                <a:solidFill>
                  <a:schemeClr val="tx1"/>
                </a:solidFill>
                <a:effectLst/>
                <a:latin typeface="+mn-lt"/>
                <a:ea typeface="+mn-ea"/>
                <a:cs typeface="+mn-cs"/>
              </a:rPr>
              <a:t>. My first task was to find a name for multistage decision processes. An interesting question is, "Where did the name, dynamic programming, come from?" The 1950s were not good years for mathematical research. We had a very interesting gentleman in Washington named </a:t>
            </a:r>
            <a:r>
              <a:rPr lang="en-US" sz="1200" b="0" i="0" u="none" strike="noStrike" kern="1200" dirty="0">
                <a:solidFill>
                  <a:schemeClr val="tx1"/>
                </a:solidFill>
                <a:effectLst/>
                <a:latin typeface="+mn-lt"/>
                <a:ea typeface="+mn-ea"/>
                <a:cs typeface="+mn-cs"/>
                <a:hlinkClick r:id="rId4" tooltip="Charles Erwin Wilson"/>
              </a:rPr>
              <a:t>Wilson</a:t>
            </a:r>
            <a:r>
              <a:rPr lang="en-US" sz="1200" b="0" i="0" kern="1200" dirty="0">
                <a:solidFill>
                  <a:schemeClr val="tx1"/>
                </a:solidFill>
                <a:effectLst/>
                <a:latin typeface="+mn-lt"/>
                <a:ea typeface="+mn-ea"/>
                <a:cs typeface="+mn-cs"/>
              </a:rPr>
              <a:t>. He was Secretary of Defense, and he actually had a pathological fear and hatred of the word "research". I'm not using the term lightly; I'm using it precisely. His face would suffuse, he would turn red, and he would get violent if people used the term research in his presence. You can imagine how he felt, then, about the term mathematical. The RAND Corporation was employed by the Air Force, and the Air Force had Wilson as its boss, essentially. Hence, I felt I had to do something to shield Wilson and the Air Force from the fact that I was really doing mathematics inside the RAND Corporation. What title, what name, could I choose? In the first place I was interested in planning, in decision making, in thinking. But planning, is not a good word for various reasons. I decided therefore to use the word "programming". I wanted to get across the idea that this was dynamic, this was multistage, this was time-varying. I thought, let's kill two birds with one stone. Let's take a word that has an absolutely precise meaning, namely dynamic, in the classical physical sense. It also has a very interesting property as an adjective, and that is it's impossible to use the word dynamic in a pejorative sense. Try thinking of some combination that will possibly give it a pejorative meaning. It's impossible. Thus, I thought dynamic programming was a good name. It was something not even a Congressman could object to. So I used it as an umbrella for my activities.</a:t>
            </a:r>
            <a:endParaRPr lang="en-US" dirty="0"/>
          </a:p>
        </p:txBody>
      </p:sp>
      <p:sp>
        <p:nvSpPr>
          <p:cNvPr id="4" name="Slide Number Placeholder 3"/>
          <p:cNvSpPr>
            <a:spLocks noGrp="1"/>
          </p:cNvSpPr>
          <p:nvPr>
            <p:ph type="sldNum" sz="quarter" idx="5"/>
          </p:nvPr>
        </p:nvSpPr>
        <p:spPr/>
        <p:txBody>
          <a:bodyPr/>
          <a:lstStyle/>
          <a:p>
            <a:fld id="{A6313FD6-7C7B-4426-BFC4-490AC0CFBE05}" type="slidenum">
              <a:rPr lang="en-US" smtClean="0"/>
              <a:t>19</a:t>
            </a:fld>
            <a:endParaRPr lang="en-US"/>
          </a:p>
        </p:txBody>
      </p:sp>
    </p:spTree>
    <p:extLst>
      <p:ext uri="{BB962C8B-B14F-4D97-AF65-F5344CB8AC3E}">
        <p14:creationId xmlns:p14="http://schemas.microsoft.com/office/powerpoint/2010/main" val="13366500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598620" y="1138426"/>
            <a:ext cx="10363200" cy="1374345"/>
          </a:xfrm>
          <a:effectLst>
            <a:outerShdw blurRad="50800" dist="38100" dir="2700000" algn="tl" rotWithShape="0">
              <a:prstClr val="black">
                <a:alpha val="40000"/>
              </a:prstClr>
            </a:outerShdw>
          </a:effectLst>
        </p:spPr>
        <p:txBody>
          <a:bodyPr>
            <a:normAutofit/>
          </a:bodyPr>
          <a:lstStyle>
            <a:lvl1pPr algn="l">
              <a:defRPr sz="3600">
                <a:solidFill>
                  <a:schemeClr val="bg1"/>
                </a:solidFill>
              </a:defRPr>
            </a:lvl1pPr>
          </a:lstStyle>
          <a:p>
            <a:r>
              <a:rPr lang="en-US"/>
              <a:t>Click to edit </a:t>
            </a:r>
            <a:br>
              <a:rPr lang="en-US"/>
            </a:br>
            <a:r>
              <a:rPr lang="en-US"/>
              <a:t>Master title style</a:t>
            </a:r>
          </a:p>
        </p:txBody>
      </p:sp>
      <p:sp>
        <p:nvSpPr>
          <p:cNvPr id="3" name="Subtitle 2"/>
          <p:cNvSpPr>
            <a:spLocks noGrp="1"/>
          </p:cNvSpPr>
          <p:nvPr>
            <p:ph type="subTitle" idx="1"/>
          </p:nvPr>
        </p:nvSpPr>
        <p:spPr>
          <a:xfrm>
            <a:off x="2838293" y="4650641"/>
            <a:ext cx="8534400" cy="1374345"/>
          </a:xfrm>
        </p:spPr>
        <p:txBody>
          <a:bodyPr>
            <a:normAutofit/>
          </a:bodyPr>
          <a:lstStyle>
            <a:lvl1pPr marL="0" indent="0" algn="r">
              <a:buNone/>
              <a:defRPr sz="2600">
                <a:solidFill>
                  <a:schemeClr val="tx2">
                    <a:lumMod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a:t>
            </a:r>
          </a:p>
          <a:p>
            <a:r>
              <a:rPr lang="en-US"/>
              <a:t>Master subtitle style</a:t>
            </a:r>
          </a:p>
        </p:txBody>
      </p:sp>
      <p:sp>
        <p:nvSpPr>
          <p:cNvPr id="4" name="Date Placeholder 3"/>
          <p:cNvSpPr>
            <a:spLocks noGrp="1"/>
          </p:cNvSpPr>
          <p:nvPr>
            <p:ph type="dt" sz="half" idx="10"/>
          </p:nvPr>
        </p:nvSpPr>
        <p:spPr/>
        <p:txBody>
          <a:bodyPr/>
          <a:lstStyle/>
          <a:p>
            <a:fld id="{E2773EFF-6084-460D-96FA-2FA787A98816}" type="datetime1">
              <a:rPr lang="en-US" smtClean="0"/>
              <a:t>9/11/2026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2538751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98620" y="680310"/>
            <a:ext cx="10972800" cy="458115"/>
          </a:xfrm>
        </p:spPr>
        <p:txBody>
          <a:bodyPr>
            <a:normAutofit/>
          </a:bodyPr>
          <a:lstStyle>
            <a:lvl1pPr algn="l">
              <a:defRPr sz="3600">
                <a:solidFill>
                  <a:schemeClr val="bg1"/>
                </a:solidFill>
              </a:defRPr>
            </a:lvl1pPr>
          </a:lstStyle>
          <a:p>
            <a:r>
              <a:rPr lang="en-US"/>
              <a:t>Click to edit Master title style</a:t>
            </a:r>
          </a:p>
        </p:txBody>
      </p:sp>
      <p:sp>
        <p:nvSpPr>
          <p:cNvPr id="3" name="Content Placeholder 2"/>
          <p:cNvSpPr>
            <a:spLocks noGrp="1"/>
          </p:cNvSpPr>
          <p:nvPr>
            <p:ph idx="1"/>
          </p:nvPr>
        </p:nvSpPr>
        <p:spPr>
          <a:xfrm>
            <a:off x="598620" y="1596540"/>
            <a:ext cx="10972800" cy="3918803"/>
          </a:xfrm>
        </p:spPr>
        <p:txBody>
          <a:bodyPr/>
          <a:lstStyle>
            <a:lvl1pPr>
              <a:defRPr sz="2800">
                <a:solidFill>
                  <a:schemeClr val="tx2">
                    <a:lumMod val="50000"/>
                  </a:schemeClr>
                </a:solidFill>
              </a:defRPr>
            </a:lvl1pPr>
            <a:lvl2pPr>
              <a:defRPr>
                <a:solidFill>
                  <a:schemeClr val="tx2">
                    <a:lumMod val="50000"/>
                  </a:schemeClr>
                </a:solidFill>
              </a:defRPr>
            </a:lvl2pPr>
            <a:lvl3pPr>
              <a:defRPr>
                <a:solidFill>
                  <a:schemeClr val="tx2">
                    <a:lumMod val="50000"/>
                  </a:schemeClr>
                </a:solidFill>
              </a:defRPr>
            </a:lvl3pPr>
            <a:lvl4pPr>
              <a:defRPr>
                <a:solidFill>
                  <a:schemeClr val="tx2">
                    <a:lumMod val="50000"/>
                  </a:schemeClr>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3FF86A1-0F17-41D8-9FFA-9520AF33BFC6}" type="datetime1">
              <a:rPr lang="en-US" smtClean="0"/>
              <a:t>9/11/2026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16644713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431081" y="527605"/>
            <a:ext cx="9354927" cy="610820"/>
          </a:xfrm>
        </p:spPr>
        <p:txBody>
          <a:bodyPr>
            <a:normAutofit/>
          </a:bodyPr>
          <a:lstStyle>
            <a:lvl1pPr algn="l">
              <a:defRPr sz="3600">
                <a:solidFill>
                  <a:srgbClr val="D0005E"/>
                </a:solidFill>
              </a:defRPr>
            </a:lvl1pPr>
          </a:lstStyle>
          <a:p>
            <a:r>
              <a:rPr lang="en-US"/>
              <a:t>Click to edit Master title style</a:t>
            </a:r>
          </a:p>
        </p:txBody>
      </p:sp>
      <p:sp>
        <p:nvSpPr>
          <p:cNvPr id="3" name="Content Placeholder 2"/>
          <p:cNvSpPr>
            <a:spLocks noGrp="1"/>
          </p:cNvSpPr>
          <p:nvPr>
            <p:ph idx="1"/>
          </p:nvPr>
        </p:nvSpPr>
        <p:spPr>
          <a:xfrm>
            <a:off x="2431082" y="1138425"/>
            <a:ext cx="9354927" cy="4275740"/>
          </a:xfrm>
        </p:spPr>
        <p:txBody>
          <a:bodyPr/>
          <a:lstStyle>
            <a:lvl1pPr>
              <a:defRPr sz="2800">
                <a:solidFill>
                  <a:schemeClr val="tx2">
                    <a:lumMod val="50000"/>
                  </a:schemeClr>
                </a:solidFill>
              </a:defRPr>
            </a:lvl1pPr>
            <a:lvl2pPr>
              <a:defRPr>
                <a:solidFill>
                  <a:schemeClr val="tx2">
                    <a:lumMod val="50000"/>
                  </a:schemeClr>
                </a:solidFill>
              </a:defRPr>
            </a:lvl2pPr>
            <a:lvl3pPr>
              <a:defRPr>
                <a:solidFill>
                  <a:schemeClr val="tx2">
                    <a:lumMod val="50000"/>
                  </a:schemeClr>
                </a:solidFill>
              </a:defRPr>
            </a:lvl3pPr>
            <a:lvl4pPr>
              <a:defRPr>
                <a:solidFill>
                  <a:schemeClr val="tx2">
                    <a:lumMod val="50000"/>
                  </a:schemeClr>
                </a:solidFill>
              </a:defRPr>
            </a:lvl4pPr>
            <a:lvl5pPr>
              <a:defRPr>
                <a:solidFill>
                  <a:schemeClr val="tx2">
                    <a:lumMod val="5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41692F4-087A-4F4C-9829-F340F0646973}" type="datetime1">
              <a:rPr lang="en-US" smtClean="0"/>
              <a:t>9/11/2026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1629391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3E80BFE-E826-4B70-BF6B-3710B05194AF}" type="datetime1">
              <a:rPr lang="en-US" smtClean="0"/>
              <a:t>9/11/2026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8634415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C5182DA-5425-42F9-BDB8-0DBDA15B981E}" type="datetime1">
              <a:rPr lang="en-US" smtClean="0"/>
              <a:t>9/11/2026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5567918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98620" y="527605"/>
            <a:ext cx="10972800" cy="610820"/>
          </a:xfrm>
        </p:spPr>
        <p:txBody>
          <a:bodyPr>
            <a:normAutofit/>
          </a:bodyPr>
          <a:lstStyle>
            <a:lvl1pPr algn="l">
              <a:defRPr sz="3600">
                <a:solidFill>
                  <a:schemeClr val="bg1"/>
                </a:solidFill>
              </a:defRPr>
            </a:lvl1pPr>
          </a:lstStyle>
          <a:p>
            <a:r>
              <a:rPr lang="en-US"/>
              <a:t>Click to edit Master title style</a:t>
            </a:r>
          </a:p>
        </p:txBody>
      </p:sp>
      <p:sp>
        <p:nvSpPr>
          <p:cNvPr id="3" name="Text Placeholder 2"/>
          <p:cNvSpPr>
            <a:spLocks noGrp="1"/>
          </p:cNvSpPr>
          <p:nvPr>
            <p:ph type="body" idx="1"/>
          </p:nvPr>
        </p:nvSpPr>
        <p:spPr>
          <a:xfrm>
            <a:off x="598620" y="1596539"/>
            <a:ext cx="5386917" cy="639762"/>
          </a:xfrm>
        </p:spPr>
        <p:txBody>
          <a:bodyPr anchor="b"/>
          <a:lstStyle>
            <a:lvl1pPr marL="0" indent="0">
              <a:buNone/>
              <a:defRPr sz="2400" b="1">
                <a:solidFill>
                  <a:srgbClr val="D0005E"/>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98620" y="2226402"/>
            <a:ext cx="5386917" cy="3035058"/>
          </a:xfrm>
        </p:spPr>
        <p:txBody>
          <a:bodyPr/>
          <a:lstStyle>
            <a:lvl1pPr>
              <a:defRPr sz="2400">
                <a:solidFill>
                  <a:schemeClr val="tx2">
                    <a:lumMod val="50000"/>
                  </a:schemeClr>
                </a:solidFill>
              </a:defRPr>
            </a:lvl1pPr>
            <a:lvl2pPr>
              <a:defRPr sz="2000">
                <a:solidFill>
                  <a:schemeClr val="tx2">
                    <a:lumMod val="50000"/>
                  </a:schemeClr>
                </a:solidFill>
              </a:defRPr>
            </a:lvl2pPr>
            <a:lvl3pPr>
              <a:defRPr sz="1800">
                <a:solidFill>
                  <a:schemeClr val="tx2">
                    <a:lumMod val="50000"/>
                  </a:schemeClr>
                </a:solidFill>
              </a:defRPr>
            </a:lvl3pPr>
            <a:lvl4pPr>
              <a:defRPr sz="1600">
                <a:solidFill>
                  <a:schemeClr val="tx2">
                    <a:lumMod val="50000"/>
                  </a:schemeClr>
                </a:solidFill>
              </a:defRPr>
            </a:lvl4pPr>
            <a:lvl5pPr>
              <a:defRPr sz="1600">
                <a:solidFill>
                  <a:schemeClr val="tx2">
                    <a:lumMod val="50000"/>
                  </a:schemeClr>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82388" y="1596539"/>
            <a:ext cx="5389033" cy="639762"/>
          </a:xfrm>
        </p:spPr>
        <p:txBody>
          <a:bodyPr anchor="b"/>
          <a:lstStyle>
            <a:lvl1pPr marL="0" indent="0">
              <a:buNone/>
              <a:defRPr sz="2400" b="1">
                <a:solidFill>
                  <a:srgbClr val="D0005E"/>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82388" y="2226402"/>
            <a:ext cx="5389033" cy="3035058"/>
          </a:xfrm>
        </p:spPr>
        <p:txBody>
          <a:bodyPr/>
          <a:lstStyle>
            <a:lvl1pPr>
              <a:defRPr sz="2400">
                <a:solidFill>
                  <a:schemeClr val="tx2">
                    <a:lumMod val="50000"/>
                  </a:schemeClr>
                </a:solidFill>
              </a:defRPr>
            </a:lvl1pPr>
            <a:lvl2pPr>
              <a:defRPr sz="2000">
                <a:solidFill>
                  <a:schemeClr val="tx2">
                    <a:lumMod val="50000"/>
                  </a:schemeClr>
                </a:solidFill>
              </a:defRPr>
            </a:lvl2pPr>
            <a:lvl3pPr>
              <a:defRPr sz="1800">
                <a:solidFill>
                  <a:schemeClr val="tx2">
                    <a:lumMod val="50000"/>
                  </a:schemeClr>
                </a:solidFill>
              </a:defRPr>
            </a:lvl3pPr>
            <a:lvl4pPr>
              <a:defRPr sz="1600">
                <a:solidFill>
                  <a:schemeClr val="tx2">
                    <a:lumMod val="50000"/>
                  </a:schemeClr>
                </a:solidFill>
              </a:defRPr>
            </a:lvl4pPr>
            <a:lvl5pPr>
              <a:defRPr sz="1600">
                <a:solidFill>
                  <a:schemeClr val="tx2">
                    <a:lumMod val="50000"/>
                  </a:schemeClr>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31B7164-C7F7-495E-9D5F-43BBDEBECF81}" type="datetime1">
              <a:rPr lang="en-US" smtClean="0"/>
              <a:t>9/11/2026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1229119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D6C5AB8-78AA-4DA3-952F-F5057D2DAAA5}" type="datetime1">
              <a:rPr lang="en-US" smtClean="0"/>
              <a:t>9/11/2026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0297731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1CCB869-D2D8-4282-A525-D63712C1B900}" type="datetime1">
              <a:rPr lang="en-US" smtClean="0"/>
              <a:t>9/11/2026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2518640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5A8CF58-29B0-4D31-BE55-D9C1F05848B7}" type="datetime1">
              <a:rPr lang="en-US" smtClean="0"/>
              <a:t>9/11/2026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1744526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13692F8-B2BD-4E07-9A92-E5080B238DFA}" type="datetime1">
              <a:rPr lang="en-US" smtClean="0"/>
              <a:t>9/11/2026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776078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2A88673-6F42-4090-A040-176AF0E6DEAE}" type="datetime1">
              <a:rPr lang="en-US" smtClean="0"/>
              <a:t>9/11/2026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42866572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C715288-B7FB-4510-97B0-C840A6671DDD}" type="datetime1">
              <a:rPr lang="en-US" smtClean="0"/>
              <a:t>9/11/2026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8936099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Bullets &amp; Photo">
    <p:spTree>
      <p:nvGrpSpPr>
        <p:cNvPr id="1" name=""/>
        <p:cNvGrpSpPr/>
        <p:nvPr/>
      </p:nvGrpSpPr>
      <p:grpSpPr>
        <a:xfrm>
          <a:off x="0" y="0"/>
          <a:ext cx="0" cy="0"/>
          <a:chOff x="0" y="0"/>
          <a:chExt cx="0" cy="0"/>
        </a:xfrm>
      </p:grpSpPr>
      <p:sp>
        <p:nvSpPr>
          <p:cNvPr id="65" name="Image"/>
          <p:cNvSpPr>
            <a:spLocks noGrp="1"/>
          </p:cNvSpPr>
          <p:nvPr>
            <p:ph type="pic" sz="half" idx="13"/>
          </p:nvPr>
        </p:nvSpPr>
        <p:spPr>
          <a:xfrm>
            <a:off x="6584950" y="1574800"/>
            <a:ext cx="4762500" cy="4648200"/>
          </a:xfrm>
          <a:prstGeom prst="rect">
            <a:avLst/>
          </a:prstGeom>
        </p:spPr>
        <p:txBody>
          <a:bodyPr lIns="91439" tIns="45719" rIns="91439" bIns="45719" anchor="t">
            <a:noAutofit/>
          </a:bodyPr>
          <a:lstStyle/>
          <a:p>
            <a:endParaRPr/>
          </a:p>
        </p:txBody>
      </p:sp>
      <p:sp>
        <p:nvSpPr>
          <p:cNvPr id="66" name="Title Text"/>
          <p:cNvSpPr txBox="1">
            <a:spLocks noGrp="1"/>
          </p:cNvSpPr>
          <p:nvPr>
            <p:ph type="title"/>
          </p:nvPr>
        </p:nvSpPr>
        <p:spPr>
          <a:prstGeom prst="rect">
            <a:avLst/>
          </a:prstGeom>
        </p:spPr>
        <p:txBody>
          <a:bodyPr/>
          <a:lstStyle/>
          <a:p>
            <a:r>
              <a:t>Title Text</a:t>
            </a:r>
          </a:p>
        </p:txBody>
      </p:sp>
      <p:sp>
        <p:nvSpPr>
          <p:cNvPr id="67" name="Body Level One…"/>
          <p:cNvSpPr txBox="1">
            <a:spLocks noGrp="1"/>
          </p:cNvSpPr>
          <p:nvPr>
            <p:ph type="body" sz="half" idx="1"/>
          </p:nvPr>
        </p:nvSpPr>
        <p:spPr>
          <a:xfrm>
            <a:off x="844550" y="1574800"/>
            <a:ext cx="5111750" cy="4648200"/>
          </a:xfrm>
          <a:prstGeom prst="rect">
            <a:avLst/>
          </a:prstGeom>
        </p:spPr>
        <p:txBody>
          <a:bodyPr/>
          <a:lstStyle>
            <a:lvl1pPr marL="279400" indent="-279400">
              <a:spcBef>
                <a:spcPts val="2250"/>
              </a:spcBef>
              <a:defRPr sz="1900"/>
            </a:lvl1pPr>
            <a:lvl2pPr marL="558800" indent="-279400">
              <a:spcBef>
                <a:spcPts val="2250"/>
              </a:spcBef>
              <a:defRPr sz="1900"/>
            </a:lvl2pPr>
            <a:lvl3pPr marL="838200" indent="-279400">
              <a:spcBef>
                <a:spcPts val="2250"/>
              </a:spcBef>
              <a:defRPr sz="1900"/>
            </a:lvl3pPr>
            <a:lvl4pPr marL="1117600" indent="-279400">
              <a:spcBef>
                <a:spcPts val="2250"/>
              </a:spcBef>
              <a:defRPr sz="1900"/>
            </a:lvl4pPr>
            <a:lvl5pPr marL="1397000" indent="-279400">
              <a:spcBef>
                <a:spcPts val="2250"/>
              </a:spcBef>
              <a:defRPr sz="1900"/>
            </a:lvl5pPr>
          </a:lstStyle>
          <a:p>
            <a:r>
              <a:t>Body Level One</a:t>
            </a:r>
          </a:p>
          <a:p>
            <a:pPr lvl="1"/>
            <a:r>
              <a:t>Body Level Two</a:t>
            </a:r>
          </a:p>
          <a:p>
            <a:pPr lvl="2"/>
            <a:r>
              <a:t>Body Level Three</a:t>
            </a:r>
          </a:p>
          <a:p>
            <a:pPr lvl="3"/>
            <a:r>
              <a:t>Body Level Four</a:t>
            </a:r>
          </a:p>
          <a:p>
            <a:pPr lvl="4"/>
            <a:r>
              <a:t>Body Level Five</a:t>
            </a:r>
          </a:p>
        </p:txBody>
      </p:sp>
      <p:sp>
        <p:nvSpPr>
          <p:cNvPr id="6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48939126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48" name="Title Text"/>
          <p:cNvSpPr txBox="1">
            <a:spLocks noGrp="1"/>
          </p:cNvSpPr>
          <p:nvPr>
            <p:ph type="title"/>
          </p:nvPr>
        </p:nvSpPr>
        <p:spPr>
          <a:prstGeom prst="rect">
            <a:avLst/>
          </a:prstGeom>
        </p:spPr>
        <p:txBody>
          <a:bodyPr/>
          <a:lstStyle/>
          <a:p>
            <a:r>
              <a:t>Title Text</a:t>
            </a:r>
          </a:p>
        </p:txBody>
      </p:sp>
      <p:sp>
        <p:nvSpPr>
          <p:cNvPr id="4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706072081"/>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Bullets">
    <p:spTree>
      <p:nvGrpSpPr>
        <p:cNvPr id="1" name=""/>
        <p:cNvGrpSpPr/>
        <p:nvPr/>
      </p:nvGrpSpPr>
      <p:grpSpPr>
        <a:xfrm>
          <a:off x="0" y="0"/>
          <a:ext cx="0" cy="0"/>
          <a:chOff x="0" y="0"/>
          <a:chExt cx="0" cy="0"/>
        </a:xfrm>
      </p:grpSpPr>
      <p:sp>
        <p:nvSpPr>
          <p:cNvPr id="75" name="Body Level One…"/>
          <p:cNvSpPr txBox="1">
            <a:spLocks noGrp="1"/>
          </p:cNvSpPr>
          <p:nvPr>
            <p:ph type="body" idx="1"/>
          </p:nvPr>
        </p:nvSpPr>
        <p:spPr>
          <a:xfrm>
            <a:off x="844550" y="889000"/>
            <a:ext cx="10502900" cy="5080000"/>
          </a:xfrm>
          <a:prstGeom prst="rect">
            <a:avLst/>
          </a:prstGeom>
        </p:spPr>
        <p:txBody>
          <a:bodyPr/>
          <a:lstStyle>
            <a:lvl1pPr>
              <a:defRPr sz="2400">
                <a:latin typeface="Trebuchet MS"/>
                <a:ea typeface="Trebuchet MS"/>
                <a:cs typeface="Trebuchet MS"/>
                <a:sym typeface="Trebuchet MS"/>
              </a:defRPr>
            </a:lvl1pPr>
            <a:lvl2pPr>
              <a:defRPr sz="2400">
                <a:latin typeface="Trebuchet MS"/>
                <a:ea typeface="Trebuchet MS"/>
                <a:cs typeface="Trebuchet MS"/>
                <a:sym typeface="Trebuchet MS"/>
              </a:defRPr>
            </a:lvl2pPr>
            <a:lvl3pPr>
              <a:defRPr sz="2400">
                <a:latin typeface="Trebuchet MS"/>
                <a:ea typeface="Trebuchet MS"/>
                <a:cs typeface="Trebuchet MS"/>
                <a:sym typeface="Trebuchet MS"/>
              </a:defRPr>
            </a:lvl3pPr>
            <a:lvl4pPr>
              <a:defRPr sz="2400">
                <a:latin typeface="Trebuchet MS"/>
                <a:ea typeface="Trebuchet MS"/>
                <a:cs typeface="Trebuchet MS"/>
                <a:sym typeface="Trebuchet MS"/>
              </a:defRPr>
            </a:lvl4pPr>
            <a:lvl5pPr>
              <a:defRPr sz="2400">
                <a:latin typeface="Trebuchet MS"/>
                <a:ea typeface="Trebuchet MS"/>
                <a:cs typeface="Trebuchet MS"/>
                <a:sym typeface="Trebuchet MS"/>
              </a:defRPr>
            </a:lvl5pPr>
          </a:lstStyle>
          <a:p>
            <a:r>
              <a:t>Body Level One</a:t>
            </a:r>
          </a:p>
          <a:p>
            <a:pPr lvl="1"/>
            <a:r>
              <a:t>Body Level Two</a:t>
            </a:r>
          </a:p>
          <a:p>
            <a:pPr lvl="2"/>
            <a:r>
              <a:t>Body Level Three</a:t>
            </a:r>
          </a:p>
          <a:p>
            <a:pPr lvl="3"/>
            <a:r>
              <a:t>Body Level Four</a:t>
            </a:r>
          </a:p>
          <a:p>
            <a:pPr lvl="4"/>
            <a:r>
              <a:t>Body Level Five</a:t>
            </a:r>
          </a:p>
        </p:txBody>
      </p:sp>
      <p:sp>
        <p:nvSpPr>
          <p:cNvPr id="7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013942711"/>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e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F08395F-151A-4402-98B5-C84E535B9AEF}" type="datetime1">
              <a:rPr lang="en-US" smtClean="0"/>
              <a:t>9/11/2026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82CCC60-E8CD-4174-8B1A-7DF615B22EEF}" type="slidenum">
              <a:rPr lang="en-US" smtClean="0"/>
              <a:pPr/>
              <a:t>‹#›</a:t>
            </a:fld>
            <a:endParaRPr lang="en-US"/>
          </a:p>
        </p:txBody>
      </p:sp>
    </p:spTree>
    <p:extLst>
      <p:ext uri="{BB962C8B-B14F-4D97-AF65-F5344CB8AC3E}">
        <p14:creationId xmlns:p14="http://schemas.microsoft.com/office/powerpoint/2010/main" val="19440393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5" r:id="rId13"/>
    <p:sldLayoutId id="2147483666" r:id="rId14"/>
    <p:sldLayoutId id="2147483667" r:id="rId15"/>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B027074-6C76-4B66-80C9-856F75BD8054}"/>
              </a:ext>
            </a:extLst>
          </p:cNvPr>
          <p:cNvSpPr>
            <a:spLocks noGrp="1"/>
          </p:cNvSpPr>
          <p:nvPr>
            <p:ph type="sldNum" sz="quarter" idx="12"/>
          </p:nvPr>
        </p:nvSpPr>
        <p:spPr/>
        <p:txBody>
          <a:bodyPr/>
          <a:lstStyle/>
          <a:p>
            <a:fld id="{B82CCC60-E8CD-4174-8B1A-7DF615B22EEF}" type="slidenum">
              <a:rPr lang="en-US" smtClean="0"/>
              <a:pPr/>
              <a:t>1</a:t>
            </a:fld>
            <a:endParaRPr lang="en-US"/>
          </a:p>
        </p:txBody>
      </p:sp>
      <p:sp>
        <p:nvSpPr>
          <p:cNvPr id="6" name="TextBox 5">
            <a:extLst>
              <a:ext uri="{FF2B5EF4-FFF2-40B4-BE49-F238E27FC236}">
                <a16:creationId xmlns:a16="http://schemas.microsoft.com/office/drawing/2014/main" id="{3DF0520F-6299-4676-8176-653C51F4D7A4}"/>
              </a:ext>
            </a:extLst>
          </p:cNvPr>
          <p:cNvSpPr txBox="1"/>
          <p:nvPr/>
        </p:nvSpPr>
        <p:spPr>
          <a:xfrm>
            <a:off x="1308659" y="2437886"/>
            <a:ext cx="9677025" cy="769441"/>
          </a:xfrm>
          <a:prstGeom prst="rect">
            <a:avLst/>
          </a:prstGeom>
          <a:noFill/>
        </p:spPr>
        <p:txBody>
          <a:bodyPr wrap="square">
            <a:spAutoFit/>
          </a:bodyPr>
          <a:lstStyle/>
          <a:p>
            <a:r>
              <a:rPr lang="en-US" sz="4400" b="1" i="1">
                <a:solidFill>
                  <a:srgbClr val="BE0260"/>
                </a:solidFill>
              </a:rPr>
              <a:t>Week 2</a:t>
            </a:r>
            <a:endParaRPr lang="en-US" sz="3200" b="1">
              <a:solidFill>
                <a:srgbClr val="BE0260"/>
              </a:solidFill>
            </a:endParaRPr>
          </a:p>
        </p:txBody>
      </p:sp>
      <p:sp>
        <p:nvSpPr>
          <p:cNvPr id="2" name="TextBox 1">
            <a:extLst>
              <a:ext uri="{FF2B5EF4-FFF2-40B4-BE49-F238E27FC236}">
                <a16:creationId xmlns:a16="http://schemas.microsoft.com/office/drawing/2014/main" id="{5C89679F-F038-40F8-96EA-47D38F6DFC66}"/>
              </a:ext>
            </a:extLst>
          </p:cNvPr>
          <p:cNvSpPr txBox="1"/>
          <p:nvPr/>
        </p:nvSpPr>
        <p:spPr>
          <a:xfrm>
            <a:off x="1308659" y="4376878"/>
            <a:ext cx="9574682" cy="1200329"/>
          </a:xfrm>
          <a:prstGeom prst="rect">
            <a:avLst/>
          </a:prstGeom>
          <a:noFill/>
        </p:spPr>
        <p:txBody>
          <a:bodyPr wrap="square" rtlCol="0">
            <a:spAutoFit/>
          </a:bodyPr>
          <a:lstStyle/>
          <a:p>
            <a:r>
              <a:rPr lang="en-US" sz="2400"/>
              <a:t>Alexey V. Zimin</a:t>
            </a:r>
            <a:br>
              <a:rPr lang="en-US" sz="2400"/>
            </a:br>
            <a:r>
              <a:rPr lang="en-US" sz="2400"/>
              <a:t> </a:t>
            </a:r>
          </a:p>
          <a:p>
            <a:pPr algn="just"/>
            <a:r>
              <a:rPr lang="en-US" sz="2400"/>
              <a:t>JHU BME 580.417/707</a:t>
            </a:r>
          </a:p>
        </p:txBody>
      </p:sp>
    </p:spTree>
    <p:extLst>
      <p:ext uri="{BB962C8B-B14F-4D97-AF65-F5344CB8AC3E}">
        <p14:creationId xmlns:p14="http://schemas.microsoft.com/office/powerpoint/2010/main" val="10524039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BE8048-853D-750E-31B1-9792C522E2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D227AD-2A84-2B14-5AEE-2D5A9B63A4B6}"/>
              </a:ext>
            </a:extLst>
          </p:cNvPr>
          <p:cNvSpPr>
            <a:spLocks noGrp="1"/>
          </p:cNvSpPr>
          <p:nvPr>
            <p:ph type="title"/>
          </p:nvPr>
        </p:nvSpPr>
        <p:spPr/>
        <p:txBody>
          <a:bodyPr>
            <a:normAutofit fontScale="90000"/>
          </a:bodyPr>
          <a:lstStyle/>
          <a:p>
            <a:r>
              <a:rPr lang="en-US"/>
              <a:t>Coverage</a:t>
            </a:r>
          </a:p>
        </p:txBody>
      </p:sp>
      <p:sp>
        <p:nvSpPr>
          <p:cNvPr id="3" name="Content Placeholder 2">
            <a:extLst>
              <a:ext uri="{FF2B5EF4-FFF2-40B4-BE49-F238E27FC236}">
                <a16:creationId xmlns:a16="http://schemas.microsoft.com/office/drawing/2014/main" id="{645D79CF-5916-9E01-4001-3B0D9D86EF62}"/>
              </a:ext>
            </a:extLst>
          </p:cNvPr>
          <p:cNvSpPr>
            <a:spLocks noGrp="1"/>
          </p:cNvSpPr>
          <p:nvPr>
            <p:ph idx="1"/>
          </p:nvPr>
        </p:nvSpPr>
        <p:spPr>
          <a:xfrm>
            <a:off x="598620" y="1596540"/>
            <a:ext cx="10972800" cy="4581150"/>
          </a:xfrm>
        </p:spPr>
        <p:txBody>
          <a:bodyPr/>
          <a:lstStyle/>
          <a:p>
            <a:r>
              <a:rPr lang="en-US"/>
              <a:t>Coverage refers to redundancy in sequencing data</a:t>
            </a:r>
          </a:p>
          <a:p>
            <a:endParaRPr lang="en-US"/>
          </a:p>
          <a:p>
            <a:pPr marL="0" indent="0">
              <a:buNone/>
            </a:pPr>
            <a:endParaRPr lang="en-US"/>
          </a:p>
          <a:p>
            <a:pPr marL="0" indent="0">
              <a:buNone/>
            </a:pPr>
            <a:endParaRPr lang="en-US"/>
          </a:p>
          <a:p>
            <a:r>
              <a:rPr lang="en-US"/>
              <a:t>Commonly expressed as &lt;number&gt;x, such as 20x, 30x, etc.</a:t>
            </a:r>
          </a:p>
          <a:p>
            <a:r>
              <a:rPr lang="en-US"/>
              <a:t>For paired reads one can compute coverage by reads and coverage by fragments</a:t>
            </a:r>
          </a:p>
        </p:txBody>
      </p:sp>
      <p:sp>
        <p:nvSpPr>
          <p:cNvPr id="4" name="Slide Number Placeholder 3">
            <a:extLst>
              <a:ext uri="{FF2B5EF4-FFF2-40B4-BE49-F238E27FC236}">
                <a16:creationId xmlns:a16="http://schemas.microsoft.com/office/drawing/2014/main" id="{60D94EA5-3C41-BDF0-1BAC-61FF965F00FF}"/>
              </a:ext>
            </a:extLst>
          </p:cNvPr>
          <p:cNvSpPr>
            <a:spLocks noGrp="1"/>
          </p:cNvSpPr>
          <p:nvPr>
            <p:ph type="sldNum" sz="quarter" idx="12"/>
          </p:nvPr>
        </p:nvSpPr>
        <p:spPr/>
        <p:txBody>
          <a:bodyPr/>
          <a:lstStyle/>
          <a:p>
            <a:fld id="{B82CCC60-E8CD-4174-8B1A-7DF615B22EEF}" type="slidenum">
              <a:rPr lang="en-US" smtClean="0"/>
              <a:pPr/>
              <a:t>2</a:t>
            </a:fld>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356C3B42-F3B3-057A-4515-B6C4F28F87A2}"/>
                  </a:ext>
                </a:extLst>
              </p:cNvPr>
              <p:cNvSpPr txBox="1"/>
              <p:nvPr/>
            </p:nvSpPr>
            <p:spPr>
              <a:xfrm>
                <a:off x="1820260" y="2360065"/>
                <a:ext cx="6603526" cy="893578"/>
              </a:xfrm>
              <a:prstGeom prst="rect">
                <a:avLst/>
              </a:prstGeom>
              <a:noFill/>
            </p:spPr>
            <p:txBody>
              <a:bodyPr wrap="square" lIns="0" tIns="0" rIns="0" bIns="0" rtlCol="0">
                <a:spAutoFit/>
              </a:bodyPr>
              <a:lstStyle/>
              <a:p>
                <a:pPr/>
                <a14:m>
                  <m:oMathPara xmlns:m="http://schemas.openxmlformats.org/officeDocument/2006/math">
                    <m:oMath>
                      <m:r>
                        <a:rPr lang="en-US" sz="2800" b="0" i="1" smtClean="0">
                          <a:latin typeface="Cambria Math" panose="02040503050406030204" pitchFamily="18" charset="0"/>
                        </a:rPr>
                        <m:t>𝐶𝑜𝑣𝑒𝑟𝑎𝑔𝑒</m:t>
                      </m:r>
                      <m:r>
                        <a:rPr lang="pt-BR" sz="2800" i="1" smtClean="0">
                          <a:latin typeface="Cambria Math" panose="02040503050406030204" pitchFamily="18" charset="0"/>
                        </a:rPr>
                        <m:t>=</m:t>
                      </m:r>
                      <m:f>
                        <m:fPr>
                          <m:ctrlPr>
                            <a:rPr lang="en-US" sz="2800" b="0" i="1" smtClean="0">
                              <a:latin typeface="Cambria Math" panose="02040503050406030204" pitchFamily="18" charset="0"/>
                            </a:rPr>
                          </m:ctrlPr>
                        </m:fPr>
                        <m:num>
                          <m:r>
                            <a:rPr lang="en-US" sz="2800" b="0" i="1" smtClean="0">
                              <a:latin typeface="Cambria Math" panose="02040503050406030204" pitchFamily="18" charset="0"/>
                            </a:rPr>
                            <m:t>𝑇𝑜𝑡𝑎𝑙</m:t>
                          </m:r>
                          <m:r>
                            <a:rPr lang="en-US" sz="2800" b="0" i="1" smtClean="0">
                              <a:latin typeface="Cambria Math" panose="02040503050406030204" pitchFamily="18" charset="0"/>
                            </a:rPr>
                            <m:t> </m:t>
                          </m:r>
                          <m:r>
                            <a:rPr lang="en-US" sz="2800" b="0" i="1" smtClean="0">
                              <a:latin typeface="Cambria Math" panose="02040503050406030204" pitchFamily="18" charset="0"/>
                            </a:rPr>
                            <m:t>𝑠𝑒𝑞𝑢𝑒𝑛𝑐𝑒</m:t>
                          </m:r>
                          <m:r>
                            <a:rPr lang="en-US" sz="2800" b="0" i="1" smtClean="0">
                              <a:latin typeface="Cambria Math" panose="02040503050406030204" pitchFamily="18" charset="0"/>
                            </a:rPr>
                            <m:t> </m:t>
                          </m:r>
                          <m:r>
                            <a:rPr lang="en-US" sz="2800" b="0" i="1" smtClean="0">
                              <a:latin typeface="Cambria Math" panose="02040503050406030204" pitchFamily="18" charset="0"/>
                            </a:rPr>
                            <m:t>𝑖𝑛</m:t>
                          </m:r>
                          <m:r>
                            <a:rPr lang="en-US" sz="2800" b="0" i="1" smtClean="0">
                              <a:latin typeface="Cambria Math" panose="02040503050406030204" pitchFamily="18" charset="0"/>
                            </a:rPr>
                            <m:t> </m:t>
                          </m:r>
                          <m:r>
                            <a:rPr lang="en-US" sz="2800" b="0" i="1" smtClean="0">
                              <a:latin typeface="Cambria Math" panose="02040503050406030204" pitchFamily="18" charset="0"/>
                            </a:rPr>
                            <m:t>𝑟𝑒𝑎𝑑𝑠</m:t>
                          </m:r>
                        </m:num>
                        <m:den>
                          <m:r>
                            <a:rPr lang="en-US" sz="2800" b="0" i="1" smtClean="0">
                              <a:latin typeface="Cambria Math" panose="02040503050406030204" pitchFamily="18" charset="0"/>
                            </a:rPr>
                            <m:t>𝐸𝑠𝑡𝑖𝑚𝑎𝑡𝑒𝑑</m:t>
                          </m:r>
                          <m:r>
                            <a:rPr lang="en-US" sz="2800" b="0" i="1" smtClean="0">
                              <a:latin typeface="Cambria Math" panose="02040503050406030204" pitchFamily="18" charset="0"/>
                            </a:rPr>
                            <m:t> </m:t>
                          </m:r>
                          <m:r>
                            <a:rPr lang="en-US" sz="2800" b="0" i="1" smtClean="0">
                              <a:latin typeface="Cambria Math" panose="02040503050406030204" pitchFamily="18" charset="0"/>
                            </a:rPr>
                            <m:t>𝑔𝑒𝑛𝑜𝑚𝑒</m:t>
                          </m:r>
                          <m:r>
                            <a:rPr lang="en-US" sz="2800" b="0" i="1" smtClean="0">
                              <a:latin typeface="Cambria Math" panose="02040503050406030204" pitchFamily="18" charset="0"/>
                            </a:rPr>
                            <m:t> </m:t>
                          </m:r>
                          <m:r>
                            <a:rPr lang="en-US" sz="2800" b="0" i="1" smtClean="0">
                              <a:latin typeface="Cambria Math" panose="02040503050406030204" pitchFamily="18" charset="0"/>
                            </a:rPr>
                            <m:t>𝑠𝑖𝑧𝑒</m:t>
                          </m:r>
                        </m:den>
                      </m:f>
                    </m:oMath>
                  </m:oMathPara>
                </a14:m>
                <a:endParaRPr lang="en-US" sz="2800"/>
              </a:p>
            </p:txBody>
          </p:sp>
        </mc:Choice>
        <mc:Fallback xmlns="">
          <p:sp>
            <p:nvSpPr>
              <p:cNvPr id="5" name="TextBox 4">
                <a:extLst>
                  <a:ext uri="{FF2B5EF4-FFF2-40B4-BE49-F238E27FC236}">
                    <a16:creationId xmlns:a16="http://schemas.microsoft.com/office/drawing/2014/main" id="{356C3B42-F3B3-057A-4515-B6C4F28F87A2}"/>
                  </a:ext>
                </a:extLst>
              </p:cNvPr>
              <p:cNvSpPr txBox="1">
                <a:spLocks noRot="1" noChangeAspect="1" noMove="1" noResize="1" noEditPoints="1" noAdjustHandles="1" noChangeArrowheads="1" noChangeShapeType="1" noTextEdit="1"/>
              </p:cNvSpPr>
              <p:nvPr/>
            </p:nvSpPr>
            <p:spPr>
              <a:xfrm>
                <a:off x="1820260" y="2360065"/>
                <a:ext cx="6603526" cy="893578"/>
              </a:xfrm>
              <a:prstGeom prst="rect">
                <a:avLst/>
              </a:prstGeom>
              <a:blipFill>
                <a:blip r:embed="rId2"/>
                <a:stretch>
                  <a:fillRect/>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77769C53-BB5D-04DE-ECE6-CE28B6B650F7}"/>
              </a:ext>
            </a:extLst>
          </p:cNvPr>
          <p:cNvSpPr txBox="1"/>
          <p:nvPr/>
        </p:nvSpPr>
        <p:spPr>
          <a:xfrm>
            <a:off x="2657881" y="5620689"/>
            <a:ext cx="6096000" cy="646331"/>
          </a:xfrm>
          <a:prstGeom prst="rect">
            <a:avLst/>
          </a:prstGeom>
          <a:noFill/>
        </p:spPr>
        <p:txBody>
          <a:bodyPr wrap="square">
            <a:spAutoFit/>
          </a:bodyPr>
          <a:lstStyle/>
          <a:p>
            <a:r>
              <a:rPr lang="en-US" b="1">
                <a:solidFill>
                  <a:srgbClr val="00B050"/>
                </a:solidFill>
                <a:latin typeface="Courier New" panose="02070309020205020404" pitchFamily="49" charset="0"/>
                <a:cs typeface="Courier New" panose="02070309020205020404" pitchFamily="49" charset="0"/>
              </a:rPr>
              <a:t>AGATAGACATA</a:t>
            </a:r>
            <a:r>
              <a:rPr lang="en-US" b="1">
                <a:latin typeface="Courier New" panose="02070309020205020404" pitchFamily="49" charset="0"/>
                <a:cs typeface="Courier New" panose="02070309020205020404" pitchFamily="49" charset="0"/>
              </a:rPr>
              <a:t>GACATAGACAGATACACTCGATCG</a:t>
            </a:r>
            <a:br>
              <a:rPr lang="en-US" b="1">
                <a:latin typeface="Courier New" panose="02070309020205020404" pitchFamily="49" charset="0"/>
                <a:cs typeface="Courier New" panose="02070309020205020404" pitchFamily="49" charset="0"/>
              </a:rPr>
            </a:br>
            <a:r>
              <a:rPr lang="en-US" b="1">
                <a:latin typeface="Courier New" panose="02070309020205020404" pitchFamily="49" charset="0"/>
                <a:cs typeface="Courier New" panose="02070309020205020404" pitchFamily="49" charset="0"/>
              </a:rPr>
              <a:t>TCTATCTGTATCTGTATCTGTCTA</a:t>
            </a:r>
            <a:r>
              <a:rPr lang="en-US" b="1">
                <a:solidFill>
                  <a:srgbClr val="00B050"/>
                </a:solidFill>
                <a:latin typeface="Courier New" panose="02070309020205020404" pitchFamily="49" charset="0"/>
                <a:cs typeface="Courier New" panose="02070309020205020404" pitchFamily="49" charset="0"/>
              </a:rPr>
              <a:t>TGTGAGCTAGC</a:t>
            </a:r>
            <a:endParaRPr lang="en-US"/>
          </a:p>
        </p:txBody>
      </p:sp>
      <p:sp>
        <p:nvSpPr>
          <p:cNvPr id="8" name="Left Brace 7">
            <a:extLst>
              <a:ext uri="{FF2B5EF4-FFF2-40B4-BE49-F238E27FC236}">
                <a16:creationId xmlns:a16="http://schemas.microsoft.com/office/drawing/2014/main" id="{91AEFE09-0CE7-6350-1F6B-4EA50667C292}"/>
              </a:ext>
            </a:extLst>
          </p:cNvPr>
          <p:cNvSpPr/>
          <p:nvPr/>
        </p:nvSpPr>
        <p:spPr>
          <a:xfrm rot="5400000">
            <a:off x="3389292" y="4854483"/>
            <a:ext cx="226801" cy="1532411"/>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Left Brace 8">
            <a:extLst>
              <a:ext uri="{FF2B5EF4-FFF2-40B4-BE49-F238E27FC236}">
                <a16:creationId xmlns:a16="http://schemas.microsoft.com/office/drawing/2014/main" id="{96AEB04B-813C-B78A-DACF-D61D2A6B021E}"/>
              </a:ext>
            </a:extLst>
          </p:cNvPr>
          <p:cNvSpPr/>
          <p:nvPr/>
        </p:nvSpPr>
        <p:spPr>
          <a:xfrm rot="5400000" flipH="1">
            <a:off x="6663394" y="5586252"/>
            <a:ext cx="239557" cy="1374346"/>
          </a:xfrm>
          <a:prstGeom prst="leftBrace">
            <a:avLst>
              <a:gd name="adj1" fmla="val 8333"/>
              <a:gd name="adj2" fmla="val 50526"/>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Left Brace 9">
            <a:extLst>
              <a:ext uri="{FF2B5EF4-FFF2-40B4-BE49-F238E27FC236}">
                <a16:creationId xmlns:a16="http://schemas.microsoft.com/office/drawing/2014/main" id="{916AB4AA-D522-DD8C-B59F-DE246C01678A}"/>
              </a:ext>
            </a:extLst>
          </p:cNvPr>
          <p:cNvSpPr/>
          <p:nvPr/>
        </p:nvSpPr>
        <p:spPr>
          <a:xfrm rot="5400000">
            <a:off x="4990015" y="2886585"/>
            <a:ext cx="226801" cy="473385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F0586CB9-174D-AE6A-2287-4B440CDE326D}"/>
              </a:ext>
            </a:extLst>
          </p:cNvPr>
          <p:cNvSpPr txBox="1"/>
          <p:nvPr/>
        </p:nvSpPr>
        <p:spPr>
          <a:xfrm>
            <a:off x="3197865" y="5226913"/>
            <a:ext cx="609654" cy="369332"/>
          </a:xfrm>
          <a:prstGeom prst="rect">
            <a:avLst/>
          </a:prstGeom>
          <a:noFill/>
        </p:spPr>
        <p:txBody>
          <a:bodyPr wrap="none" rtlCol="0">
            <a:spAutoFit/>
          </a:bodyPr>
          <a:lstStyle/>
          <a:p>
            <a:r>
              <a:rPr lang="en-US"/>
              <a:t>read</a:t>
            </a:r>
          </a:p>
        </p:txBody>
      </p:sp>
      <p:sp>
        <p:nvSpPr>
          <p:cNvPr id="12" name="TextBox 11">
            <a:extLst>
              <a:ext uri="{FF2B5EF4-FFF2-40B4-BE49-F238E27FC236}">
                <a16:creationId xmlns:a16="http://schemas.microsoft.com/office/drawing/2014/main" id="{00328291-4CAF-3A97-F263-6E4FF2D93458}"/>
              </a:ext>
            </a:extLst>
          </p:cNvPr>
          <p:cNvSpPr txBox="1"/>
          <p:nvPr/>
        </p:nvSpPr>
        <p:spPr>
          <a:xfrm>
            <a:off x="6478345" y="6273425"/>
            <a:ext cx="609654" cy="369332"/>
          </a:xfrm>
          <a:prstGeom prst="rect">
            <a:avLst/>
          </a:prstGeom>
          <a:noFill/>
        </p:spPr>
        <p:txBody>
          <a:bodyPr wrap="none" rtlCol="0">
            <a:spAutoFit/>
          </a:bodyPr>
          <a:lstStyle/>
          <a:p>
            <a:r>
              <a:rPr lang="en-US"/>
              <a:t>read</a:t>
            </a:r>
          </a:p>
        </p:txBody>
      </p:sp>
      <p:sp>
        <p:nvSpPr>
          <p:cNvPr id="13" name="TextBox 12">
            <a:extLst>
              <a:ext uri="{FF2B5EF4-FFF2-40B4-BE49-F238E27FC236}">
                <a16:creationId xmlns:a16="http://schemas.microsoft.com/office/drawing/2014/main" id="{9E5AE8E9-56B8-E3E4-4BD8-99BD31DEFAE2}"/>
              </a:ext>
            </a:extLst>
          </p:cNvPr>
          <p:cNvSpPr txBox="1"/>
          <p:nvPr/>
        </p:nvSpPr>
        <p:spPr>
          <a:xfrm>
            <a:off x="4208401" y="4803406"/>
            <a:ext cx="1891415" cy="369332"/>
          </a:xfrm>
          <a:prstGeom prst="rect">
            <a:avLst/>
          </a:prstGeom>
          <a:noFill/>
        </p:spPr>
        <p:txBody>
          <a:bodyPr wrap="none" rtlCol="0">
            <a:spAutoFit/>
          </a:bodyPr>
          <a:lstStyle/>
          <a:p>
            <a:r>
              <a:rPr lang="en-US"/>
              <a:t>fragment or insert</a:t>
            </a:r>
          </a:p>
        </p:txBody>
      </p:sp>
    </p:spTree>
    <p:extLst>
      <p:ext uri="{BB962C8B-B14F-4D97-AF65-F5344CB8AC3E}">
        <p14:creationId xmlns:p14="http://schemas.microsoft.com/office/powerpoint/2010/main" val="42122402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2FA5FC-A239-FC42-FEF6-DF87F37D1F58}"/>
              </a:ext>
            </a:extLst>
          </p:cNvPr>
          <p:cNvSpPr>
            <a:spLocks noGrp="1"/>
          </p:cNvSpPr>
          <p:nvPr>
            <p:ph type="title"/>
          </p:nvPr>
        </p:nvSpPr>
        <p:spPr/>
        <p:txBody>
          <a:bodyPr>
            <a:normAutofit fontScale="90000"/>
          </a:bodyPr>
          <a:lstStyle/>
          <a:p>
            <a:r>
              <a:rPr lang="en-US"/>
              <a:t>How much coverage is sufficient?</a:t>
            </a:r>
          </a:p>
        </p:txBody>
      </p:sp>
      <p:sp>
        <p:nvSpPr>
          <p:cNvPr id="3" name="Content Placeholder 2">
            <a:extLst>
              <a:ext uri="{FF2B5EF4-FFF2-40B4-BE49-F238E27FC236}">
                <a16:creationId xmlns:a16="http://schemas.microsoft.com/office/drawing/2014/main" id="{F8A8C7C9-35D8-9497-54E1-AE99EF7F003F}"/>
              </a:ext>
            </a:extLst>
          </p:cNvPr>
          <p:cNvSpPr>
            <a:spLocks noGrp="1"/>
          </p:cNvSpPr>
          <p:nvPr>
            <p:ph idx="1"/>
          </p:nvPr>
        </p:nvSpPr>
        <p:spPr>
          <a:xfrm>
            <a:off x="598620" y="1596540"/>
            <a:ext cx="10972800" cy="4886560"/>
          </a:xfrm>
        </p:spPr>
        <p:txBody>
          <a:bodyPr>
            <a:normAutofit/>
          </a:bodyPr>
          <a:lstStyle/>
          <a:p>
            <a:r>
              <a:rPr lang="en-US"/>
              <a:t>It depends… on read lengths</a:t>
            </a:r>
          </a:p>
          <a:p>
            <a:r>
              <a:rPr lang="en-US"/>
              <a:t>1x is enough if read length == chromosome length</a:t>
            </a:r>
          </a:p>
          <a:p>
            <a:r>
              <a:rPr lang="en-US"/>
              <a:t>In general read length &lt;&lt; chromosome length</a:t>
            </a:r>
          </a:p>
          <a:p>
            <a:r>
              <a:rPr lang="en-US"/>
              <a:t>Problem: assume fixed read length &lt;&lt; chromosome length</a:t>
            </a:r>
          </a:p>
          <a:p>
            <a:pPr lvl="1"/>
            <a:r>
              <a:rPr lang="en-US"/>
              <a:t>What is the probability of a gap?</a:t>
            </a:r>
          </a:p>
          <a:p>
            <a:pPr lvl="1"/>
            <a:r>
              <a:rPr lang="en-US"/>
              <a:t>Use Poisson distribution!</a:t>
            </a:r>
          </a:p>
        </p:txBody>
      </p:sp>
      <p:sp>
        <p:nvSpPr>
          <p:cNvPr id="4" name="Slide Number Placeholder 3">
            <a:extLst>
              <a:ext uri="{FF2B5EF4-FFF2-40B4-BE49-F238E27FC236}">
                <a16:creationId xmlns:a16="http://schemas.microsoft.com/office/drawing/2014/main" id="{E1862F30-F67A-B51B-EE34-C24F7D625356}"/>
              </a:ext>
            </a:extLst>
          </p:cNvPr>
          <p:cNvSpPr>
            <a:spLocks noGrp="1"/>
          </p:cNvSpPr>
          <p:nvPr>
            <p:ph type="sldNum" sz="quarter" idx="12"/>
          </p:nvPr>
        </p:nvSpPr>
        <p:spPr/>
        <p:txBody>
          <a:bodyPr/>
          <a:lstStyle/>
          <a:p>
            <a:fld id="{B82CCC60-E8CD-4174-8B1A-7DF615B22EEF}" type="slidenum">
              <a:rPr lang="en-US" smtClean="0"/>
              <a:pPr/>
              <a:t>3</a:t>
            </a:fld>
            <a:endParaRPr lang="en-US"/>
          </a:p>
        </p:txBody>
      </p:sp>
    </p:spTree>
    <p:extLst>
      <p:ext uri="{BB962C8B-B14F-4D97-AF65-F5344CB8AC3E}">
        <p14:creationId xmlns:p14="http://schemas.microsoft.com/office/powerpoint/2010/main" val="32752390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BBAF0-F3EC-C1E4-F684-35A05E656A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B990CF-E22D-3AC9-0329-8C658B8D9661}"/>
              </a:ext>
            </a:extLst>
          </p:cNvPr>
          <p:cNvSpPr>
            <a:spLocks noGrp="1"/>
          </p:cNvSpPr>
          <p:nvPr>
            <p:ph type="title"/>
          </p:nvPr>
        </p:nvSpPr>
        <p:spPr/>
        <p:txBody>
          <a:bodyPr>
            <a:normAutofit fontScale="90000"/>
          </a:bodyPr>
          <a:lstStyle/>
          <a:p>
            <a:r>
              <a:rPr lang="en-US"/>
              <a:t>Poisson distribution</a:t>
            </a:r>
          </a:p>
        </p:txBody>
      </p:sp>
      <p:sp>
        <p:nvSpPr>
          <p:cNvPr id="3" name="Content Placeholder 2">
            <a:extLst>
              <a:ext uri="{FF2B5EF4-FFF2-40B4-BE49-F238E27FC236}">
                <a16:creationId xmlns:a16="http://schemas.microsoft.com/office/drawing/2014/main" id="{9FA69900-22B7-0D7F-C616-EBC1977C99C2}"/>
              </a:ext>
            </a:extLst>
          </p:cNvPr>
          <p:cNvSpPr>
            <a:spLocks noGrp="1"/>
          </p:cNvSpPr>
          <p:nvPr>
            <p:ph idx="1"/>
          </p:nvPr>
        </p:nvSpPr>
        <p:spPr>
          <a:xfrm>
            <a:off x="598620" y="1596540"/>
            <a:ext cx="7570690" cy="5124936"/>
          </a:xfrm>
        </p:spPr>
        <p:txBody>
          <a:bodyPr/>
          <a:lstStyle/>
          <a:p>
            <a:r>
              <a:rPr lang="en-US"/>
              <a:t>The Poisson distribution is a discrete probability distribution that expresses the </a:t>
            </a:r>
            <a:r>
              <a:rPr lang="en-US" u="sng"/>
              <a:t>probability</a:t>
            </a:r>
            <a:r>
              <a:rPr lang="en-US"/>
              <a:t> of a </a:t>
            </a:r>
            <a:r>
              <a:rPr lang="en-US" u="sng"/>
              <a:t>given number of events </a:t>
            </a:r>
            <a:r>
              <a:rPr lang="en-US"/>
              <a:t>occurring in a </a:t>
            </a:r>
            <a:r>
              <a:rPr lang="en-US" u="sng"/>
              <a:t>fixed interval of time</a:t>
            </a:r>
            <a:r>
              <a:rPr lang="en-US"/>
              <a:t> if these events occur with a known </a:t>
            </a:r>
            <a:r>
              <a:rPr lang="en-US" u="sng"/>
              <a:t>constant mean rate </a:t>
            </a:r>
            <a:r>
              <a:rPr lang="en-US"/>
              <a:t>and </a:t>
            </a:r>
            <a:r>
              <a:rPr lang="en-US" u="sng"/>
              <a:t>independently</a:t>
            </a:r>
            <a:r>
              <a:rPr lang="en-US"/>
              <a:t> of the time since the last event. </a:t>
            </a:r>
          </a:p>
          <a:p>
            <a:r>
              <a:rPr lang="en-US"/>
              <a:t>Named after French mathematician </a:t>
            </a:r>
            <a:r>
              <a:rPr lang="en-US" err="1"/>
              <a:t>Siméon</a:t>
            </a:r>
            <a:r>
              <a:rPr lang="en-US"/>
              <a:t> Denis Poisson (1781–1840). Image </a:t>
            </a:r>
            <a:r>
              <a:rPr lang="en-US" err="1"/>
              <a:t>credit:Wikipedia</a:t>
            </a:r>
            <a:endParaRPr lang="en-US"/>
          </a:p>
          <a:p>
            <a:endParaRPr lang="en-US"/>
          </a:p>
          <a:p>
            <a:endParaRPr lang="en-US"/>
          </a:p>
        </p:txBody>
      </p:sp>
      <p:sp>
        <p:nvSpPr>
          <p:cNvPr id="4" name="Slide Number Placeholder 3">
            <a:extLst>
              <a:ext uri="{FF2B5EF4-FFF2-40B4-BE49-F238E27FC236}">
                <a16:creationId xmlns:a16="http://schemas.microsoft.com/office/drawing/2014/main" id="{EEA66228-5C74-CD1C-C100-363023711641}"/>
              </a:ext>
            </a:extLst>
          </p:cNvPr>
          <p:cNvSpPr>
            <a:spLocks noGrp="1"/>
          </p:cNvSpPr>
          <p:nvPr>
            <p:ph type="sldNum" sz="quarter" idx="12"/>
          </p:nvPr>
        </p:nvSpPr>
        <p:spPr/>
        <p:txBody>
          <a:bodyPr/>
          <a:lstStyle/>
          <a:p>
            <a:fld id="{B82CCC60-E8CD-4174-8B1A-7DF615B22EEF}" type="slidenum">
              <a:rPr lang="en-US" smtClean="0"/>
              <a:pPr/>
              <a:t>4</a:t>
            </a:fld>
            <a:endParaRPr lang="en-US"/>
          </a:p>
        </p:txBody>
      </p:sp>
      <p:pic>
        <p:nvPicPr>
          <p:cNvPr id="7" name="Picture 6">
            <a:extLst>
              <a:ext uri="{FF2B5EF4-FFF2-40B4-BE49-F238E27FC236}">
                <a16:creationId xmlns:a16="http://schemas.microsoft.com/office/drawing/2014/main" id="{487D2E0D-CEDD-5567-BD44-DA0D0EC5FA94}"/>
              </a:ext>
            </a:extLst>
          </p:cNvPr>
          <p:cNvPicPr>
            <a:picLocks noChangeAspect="1"/>
          </p:cNvPicPr>
          <p:nvPr/>
        </p:nvPicPr>
        <p:blipFill>
          <a:blip r:embed="rId2"/>
          <a:stretch>
            <a:fillRect/>
          </a:stretch>
        </p:blipFill>
        <p:spPr>
          <a:xfrm>
            <a:off x="8832018" y="1497972"/>
            <a:ext cx="2761362" cy="3622431"/>
          </a:xfrm>
          <a:prstGeom prst="rect">
            <a:avLst/>
          </a:prstGeom>
        </p:spPr>
      </p:pic>
    </p:spTree>
    <p:extLst>
      <p:ext uri="{BB962C8B-B14F-4D97-AF65-F5344CB8AC3E}">
        <p14:creationId xmlns:p14="http://schemas.microsoft.com/office/powerpoint/2010/main" val="11984203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90F2AB-54BB-621B-65D8-BD0BA66500C5}"/>
              </a:ext>
            </a:extLst>
          </p:cNvPr>
          <p:cNvSpPr>
            <a:spLocks noGrp="1"/>
          </p:cNvSpPr>
          <p:nvPr>
            <p:ph type="title"/>
          </p:nvPr>
        </p:nvSpPr>
        <p:spPr/>
        <p:txBody>
          <a:bodyPr>
            <a:normAutofit fontScale="90000"/>
          </a:bodyPr>
          <a:lstStyle/>
          <a:p>
            <a:r>
              <a:rPr lang="en-US"/>
              <a:t>Example of a Poisson process</a:t>
            </a:r>
          </a:p>
        </p:txBody>
      </p:sp>
      <p:sp>
        <p:nvSpPr>
          <p:cNvPr id="3" name="Content Placeholder 2">
            <a:extLst>
              <a:ext uri="{FF2B5EF4-FFF2-40B4-BE49-F238E27FC236}">
                <a16:creationId xmlns:a16="http://schemas.microsoft.com/office/drawing/2014/main" id="{CC2B5123-4384-2287-DCAD-BCF274FCFC02}"/>
              </a:ext>
            </a:extLst>
          </p:cNvPr>
          <p:cNvSpPr>
            <a:spLocks noGrp="1"/>
          </p:cNvSpPr>
          <p:nvPr>
            <p:ph idx="1"/>
          </p:nvPr>
        </p:nvSpPr>
        <p:spPr/>
        <p:txBody>
          <a:bodyPr/>
          <a:lstStyle/>
          <a:p>
            <a:r>
              <a:rPr lang="en-US"/>
              <a:t>For instance, consider a call center which receives an average of </a:t>
            </a:r>
            <a:r>
              <a:rPr lang="en-US" i="1"/>
              <a:t>λ = 3 </a:t>
            </a:r>
            <a:r>
              <a:rPr lang="en-US"/>
              <a:t>calls per minute at all times of day. </a:t>
            </a:r>
          </a:p>
          <a:p>
            <a:r>
              <a:rPr lang="en-US"/>
              <a:t>If the number of calls received in any two given disjoint time intervals is independent, then the number </a:t>
            </a:r>
            <a:r>
              <a:rPr lang="en-US" i="1"/>
              <a:t>k</a:t>
            </a:r>
            <a:r>
              <a:rPr lang="en-US"/>
              <a:t> of calls received during any minute has a Poisson probability distribution. </a:t>
            </a:r>
          </a:p>
          <a:p>
            <a:endParaRPr lang="en-US"/>
          </a:p>
          <a:p>
            <a:r>
              <a:rPr lang="en-US"/>
              <a:t>Can you come up with an example?</a:t>
            </a:r>
          </a:p>
          <a:p>
            <a:endParaRPr lang="en-US"/>
          </a:p>
        </p:txBody>
      </p:sp>
      <p:sp>
        <p:nvSpPr>
          <p:cNvPr id="4" name="Slide Number Placeholder 3">
            <a:extLst>
              <a:ext uri="{FF2B5EF4-FFF2-40B4-BE49-F238E27FC236}">
                <a16:creationId xmlns:a16="http://schemas.microsoft.com/office/drawing/2014/main" id="{27ED25BA-7001-3F78-56D2-129F3E7E14C2}"/>
              </a:ext>
            </a:extLst>
          </p:cNvPr>
          <p:cNvSpPr>
            <a:spLocks noGrp="1"/>
          </p:cNvSpPr>
          <p:nvPr>
            <p:ph type="sldNum" sz="quarter" idx="12"/>
          </p:nvPr>
        </p:nvSpPr>
        <p:spPr/>
        <p:txBody>
          <a:bodyPr/>
          <a:lstStyle/>
          <a:p>
            <a:fld id="{B82CCC60-E8CD-4174-8B1A-7DF615B22EEF}" type="slidenum">
              <a:rPr lang="en-US" smtClean="0"/>
              <a:pPr/>
              <a:t>5</a:t>
            </a:fld>
            <a:endParaRPr lang="en-US"/>
          </a:p>
        </p:txBody>
      </p:sp>
    </p:spTree>
    <p:extLst>
      <p:ext uri="{BB962C8B-B14F-4D97-AF65-F5344CB8AC3E}">
        <p14:creationId xmlns:p14="http://schemas.microsoft.com/office/powerpoint/2010/main" val="21885307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EEF9DE-D844-088B-EFB7-D7DE8020733F}"/>
              </a:ext>
            </a:extLst>
          </p:cNvPr>
          <p:cNvSpPr>
            <a:spLocks noGrp="1"/>
          </p:cNvSpPr>
          <p:nvPr>
            <p:ph type="title"/>
          </p:nvPr>
        </p:nvSpPr>
        <p:spPr/>
        <p:txBody>
          <a:bodyPr>
            <a:normAutofit fontScale="90000"/>
          </a:bodyPr>
          <a:lstStyle/>
          <a:p>
            <a:r>
              <a:rPr lang="en-US"/>
              <a:t>Poisson distribution</a:t>
            </a:r>
          </a:p>
        </p:txBody>
      </p:sp>
      <p:sp>
        <p:nvSpPr>
          <p:cNvPr id="3" name="Content Placeholder 2">
            <a:extLst>
              <a:ext uri="{FF2B5EF4-FFF2-40B4-BE49-F238E27FC236}">
                <a16:creationId xmlns:a16="http://schemas.microsoft.com/office/drawing/2014/main" id="{50212E8C-C4AC-857C-A008-5457C95B60EC}"/>
              </a:ext>
            </a:extLst>
          </p:cNvPr>
          <p:cNvSpPr>
            <a:spLocks noGrp="1"/>
          </p:cNvSpPr>
          <p:nvPr>
            <p:ph idx="1"/>
          </p:nvPr>
        </p:nvSpPr>
        <p:spPr>
          <a:xfrm>
            <a:off x="598620" y="1596540"/>
            <a:ext cx="10972800" cy="5124936"/>
          </a:xfrm>
        </p:spPr>
        <p:txBody>
          <a:bodyPr/>
          <a:lstStyle/>
          <a:p>
            <a:r>
              <a:rPr lang="en-US"/>
              <a:t>The Poisson distribution is also the limit of a binomial distribution, for which the probability of success for each trial </a:t>
            </a:r>
            <a:r>
              <a:rPr lang="en-US" i="1"/>
              <a:t>p </a:t>
            </a:r>
            <a:r>
              <a:rPr lang="en-US"/>
              <a:t>equals</a:t>
            </a:r>
            <a:r>
              <a:rPr lang="en-US" i="1"/>
              <a:t> λ/n</a:t>
            </a:r>
            <a:r>
              <a:rPr lang="en-US"/>
              <a:t>, as the number of trials </a:t>
            </a:r>
            <a:r>
              <a:rPr lang="en-US" i="1"/>
              <a:t>n</a:t>
            </a:r>
            <a:r>
              <a:rPr lang="en-US"/>
              <a:t> approaches infinity</a:t>
            </a:r>
          </a:p>
          <a:p>
            <a:r>
              <a:rPr lang="en-US"/>
              <a:t>Under a Poisson distribution with the expectation of </a:t>
            </a:r>
            <a:r>
              <a:rPr lang="en-US" i="1"/>
              <a:t>λ</a:t>
            </a:r>
            <a:r>
              <a:rPr lang="en-US"/>
              <a:t> events in a given interval, the probability of </a:t>
            </a:r>
            <a:r>
              <a:rPr lang="en-US" i="1"/>
              <a:t>x</a:t>
            </a:r>
            <a:r>
              <a:rPr lang="en-US"/>
              <a:t> events in the same interval is: </a:t>
            </a:r>
          </a:p>
          <a:p>
            <a:endParaRPr lang="en-US"/>
          </a:p>
          <a:p>
            <a:endParaRPr lang="en-US"/>
          </a:p>
        </p:txBody>
      </p:sp>
      <p:sp>
        <p:nvSpPr>
          <p:cNvPr id="4" name="Slide Number Placeholder 3">
            <a:extLst>
              <a:ext uri="{FF2B5EF4-FFF2-40B4-BE49-F238E27FC236}">
                <a16:creationId xmlns:a16="http://schemas.microsoft.com/office/drawing/2014/main" id="{186CF8B3-F765-E6BE-76BA-714892B32D03}"/>
              </a:ext>
            </a:extLst>
          </p:cNvPr>
          <p:cNvSpPr>
            <a:spLocks noGrp="1"/>
          </p:cNvSpPr>
          <p:nvPr>
            <p:ph type="sldNum" sz="quarter" idx="12"/>
          </p:nvPr>
        </p:nvSpPr>
        <p:spPr/>
        <p:txBody>
          <a:bodyPr/>
          <a:lstStyle/>
          <a:p>
            <a:fld id="{B82CCC60-E8CD-4174-8B1A-7DF615B22EEF}" type="slidenum">
              <a:rPr lang="en-US" smtClean="0"/>
              <a:pPr/>
              <a:t>6</a:t>
            </a:fld>
            <a:endParaRPr lang="en-US"/>
          </a:p>
        </p:txBody>
      </p:sp>
      <p:pic>
        <p:nvPicPr>
          <p:cNvPr id="6" name="Picture 5">
            <a:extLst>
              <a:ext uri="{FF2B5EF4-FFF2-40B4-BE49-F238E27FC236}">
                <a16:creationId xmlns:a16="http://schemas.microsoft.com/office/drawing/2014/main" id="{D13DB2E8-C207-68E8-8D45-81F44FFDB25C}"/>
              </a:ext>
            </a:extLst>
          </p:cNvPr>
          <p:cNvPicPr>
            <a:picLocks noChangeAspect="1"/>
          </p:cNvPicPr>
          <p:nvPr/>
        </p:nvPicPr>
        <p:blipFill>
          <a:blip r:embed="rId2"/>
          <a:stretch>
            <a:fillRect/>
          </a:stretch>
        </p:blipFill>
        <p:spPr>
          <a:xfrm>
            <a:off x="3471129" y="4159008"/>
            <a:ext cx="3991532" cy="1724266"/>
          </a:xfrm>
          <a:prstGeom prst="rect">
            <a:avLst/>
          </a:prstGeom>
        </p:spPr>
      </p:pic>
    </p:spTree>
    <p:extLst>
      <p:ext uri="{BB962C8B-B14F-4D97-AF65-F5344CB8AC3E}">
        <p14:creationId xmlns:p14="http://schemas.microsoft.com/office/powerpoint/2010/main" val="8392538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FCF05B-22D4-255A-5907-D8318D8634FB}"/>
              </a:ext>
            </a:extLst>
          </p:cNvPr>
          <p:cNvSpPr>
            <a:spLocks noGrp="1"/>
          </p:cNvSpPr>
          <p:nvPr>
            <p:ph type="title"/>
          </p:nvPr>
        </p:nvSpPr>
        <p:spPr/>
        <p:txBody>
          <a:bodyPr>
            <a:normAutofit fontScale="90000"/>
          </a:bodyPr>
          <a:lstStyle/>
          <a:p>
            <a:r>
              <a:rPr lang="en-US"/>
              <a:t>Poisson distribution and coverage</a:t>
            </a:r>
          </a:p>
        </p:txBody>
      </p:sp>
      <p:sp>
        <p:nvSpPr>
          <p:cNvPr id="3" name="Content Placeholder 2">
            <a:extLst>
              <a:ext uri="{FF2B5EF4-FFF2-40B4-BE49-F238E27FC236}">
                <a16:creationId xmlns:a16="http://schemas.microsoft.com/office/drawing/2014/main" id="{DCCAA216-92B3-942D-5052-57C60C862699}"/>
              </a:ext>
            </a:extLst>
          </p:cNvPr>
          <p:cNvSpPr>
            <a:spLocks noGrp="1"/>
          </p:cNvSpPr>
          <p:nvPr>
            <p:ph idx="1"/>
          </p:nvPr>
        </p:nvSpPr>
        <p:spPr>
          <a:xfrm>
            <a:off x="598620" y="1596541"/>
            <a:ext cx="10972800" cy="4580540"/>
          </a:xfrm>
        </p:spPr>
        <p:txBody>
          <a:bodyPr>
            <a:normAutofit fontScale="85000" lnSpcReduction="20000"/>
          </a:bodyPr>
          <a:lstStyle/>
          <a:p>
            <a:r>
              <a:rPr lang="en-US"/>
              <a:t>Let:</a:t>
            </a:r>
          </a:p>
          <a:p>
            <a:pPr lvl="1"/>
            <a:r>
              <a:rPr lang="en-US" i="1"/>
              <a:t>G</a:t>
            </a:r>
            <a:r>
              <a:rPr lang="en-US"/>
              <a:t> genome length (in bp) </a:t>
            </a:r>
          </a:p>
          <a:p>
            <a:pPr lvl="1"/>
            <a:r>
              <a:rPr lang="en-US" i="1"/>
              <a:t>L</a:t>
            </a:r>
            <a:r>
              <a:rPr lang="en-US"/>
              <a:t>  read average length (</a:t>
            </a:r>
            <a:r>
              <a:rPr lang="en-US" i="1"/>
              <a:t>L&lt;&lt;G</a:t>
            </a:r>
            <a:r>
              <a:rPr lang="en-US"/>
              <a:t>)</a:t>
            </a:r>
          </a:p>
          <a:p>
            <a:pPr lvl="1"/>
            <a:r>
              <a:rPr lang="en-US" i="1"/>
              <a:t>N</a:t>
            </a:r>
            <a:r>
              <a:rPr lang="en-US"/>
              <a:t> number of reads</a:t>
            </a:r>
          </a:p>
          <a:p>
            <a:r>
              <a:rPr lang="en-US"/>
              <a:t>Then:</a:t>
            </a:r>
          </a:p>
          <a:p>
            <a:pPr lvl="1"/>
            <a:r>
              <a:rPr lang="en-US" i="1"/>
              <a:t>λ</a:t>
            </a:r>
            <a:r>
              <a:rPr lang="en-US"/>
              <a:t>, sequencing redundancy = </a:t>
            </a:r>
            <a:r>
              <a:rPr lang="en-US" i="1"/>
              <a:t>N*L/G</a:t>
            </a:r>
          </a:p>
          <a:p>
            <a:pPr lvl="1"/>
            <a:r>
              <a:rPr lang="en-US" i="1"/>
              <a:t>x  </a:t>
            </a:r>
            <a:r>
              <a:rPr lang="en-US"/>
              <a:t>is the number of reads covering a given site on the genome </a:t>
            </a:r>
          </a:p>
          <a:p>
            <a:r>
              <a:rPr lang="en-US"/>
              <a:t>For a given base on the genome for each read </a:t>
            </a:r>
            <a:r>
              <a:rPr lang="en-US" i="1"/>
              <a:t>Prob(base covered)=L/G</a:t>
            </a:r>
            <a:r>
              <a:rPr lang="en-US"/>
              <a:t> </a:t>
            </a:r>
            <a:r>
              <a:rPr lang="en-US" i="1"/>
              <a:t>&lt;&lt; 1</a:t>
            </a:r>
            <a:r>
              <a:rPr lang="en-US"/>
              <a:t>; number of attempts (reads): </a:t>
            </a:r>
            <a:r>
              <a:rPr lang="en-US" i="1"/>
              <a:t>N</a:t>
            </a:r>
            <a:r>
              <a:rPr lang="en-US"/>
              <a:t> &gt;&gt; </a:t>
            </a:r>
            <a:r>
              <a:rPr lang="en-US" i="1"/>
              <a:t>1</a:t>
            </a:r>
            <a:r>
              <a:rPr lang="en-US"/>
              <a:t>. </a:t>
            </a:r>
          </a:p>
          <a:p>
            <a:r>
              <a:rPr lang="en-US" b="1"/>
              <a:t>Genome coverage</a:t>
            </a:r>
            <a:r>
              <a:rPr lang="en-US" i="1"/>
              <a:t> λ = NL/G </a:t>
            </a:r>
            <a:r>
              <a:rPr lang="en-US"/>
              <a:t>is </a:t>
            </a:r>
            <a:r>
              <a:rPr lang="en-US" i="1"/>
              <a:t>O(1)</a:t>
            </a:r>
            <a:r>
              <a:rPr lang="en-US"/>
              <a:t>.</a:t>
            </a:r>
            <a:br>
              <a:rPr lang="en-US"/>
            </a:br>
            <a:br>
              <a:rPr lang="en-US"/>
            </a:br>
            <a:r>
              <a:rPr lang="en-US"/>
              <a:t>      </a:t>
            </a:r>
            <a:r>
              <a:rPr lang="en-US" i="1"/>
              <a:t>x=2                x=4                            x=0</a:t>
            </a:r>
          </a:p>
        </p:txBody>
      </p:sp>
      <p:sp>
        <p:nvSpPr>
          <p:cNvPr id="4" name="Slide Number Placeholder 3">
            <a:extLst>
              <a:ext uri="{FF2B5EF4-FFF2-40B4-BE49-F238E27FC236}">
                <a16:creationId xmlns:a16="http://schemas.microsoft.com/office/drawing/2014/main" id="{C7D9AFAC-0560-7A57-5772-70C755D38EDA}"/>
              </a:ext>
            </a:extLst>
          </p:cNvPr>
          <p:cNvSpPr>
            <a:spLocks noGrp="1"/>
          </p:cNvSpPr>
          <p:nvPr>
            <p:ph type="sldNum" sz="quarter" idx="12"/>
          </p:nvPr>
        </p:nvSpPr>
        <p:spPr/>
        <p:txBody>
          <a:bodyPr/>
          <a:lstStyle/>
          <a:p>
            <a:fld id="{B82CCC60-E8CD-4174-8B1A-7DF615B22EEF}" type="slidenum">
              <a:rPr lang="en-US" smtClean="0"/>
              <a:pPr/>
              <a:t>7</a:t>
            </a:fld>
            <a:endParaRPr lang="en-US"/>
          </a:p>
        </p:txBody>
      </p:sp>
      <p:cxnSp>
        <p:nvCxnSpPr>
          <p:cNvPr id="6" name="Straight Connector 5">
            <a:extLst>
              <a:ext uri="{FF2B5EF4-FFF2-40B4-BE49-F238E27FC236}">
                <a16:creationId xmlns:a16="http://schemas.microsoft.com/office/drawing/2014/main" id="{BDAE5EFB-4EDB-5824-E205-FA9B70D8C74E}"/>
              </a:ext>
            </a:extLst>
          </p:cNvPr>
          <p:cNvCxnSpPr/>
          <p:nvPr/>
        </p:nvCxnSpPr>
        <p:spPr>
          <a:xfrm>
            <a:off x="1362145" y="6483100"/>
            <a:ext cx="8398775"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8DFEC4B-4C05-6A85-AE84-81F3099F9DCB}"/>
              </a:ext>
            </a:extLst>
          </p:cNvPr>
          <p:cNvCxnSpPr>
            <a:cxnSpLocks/>
          </p:cNvCxnSpPr>
          <p:nvPr/>
        </p:nvCxnSpPr>
        <p:spPr>
          <a:xfrm>
            <a:off x="1362145" y="61776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71B9835-6433-51DC-1161-D1623CB29893}"/>
              </a:ext>
            </a:extLst>
          </p:cNvPr>
          <p:cNvCxnSpPr>
            <a:cxnSpLocks/>
          </p:cNvCxnSpPr>
          <p:nvPr/>
        </p:nvCxnSpPr>
        <p:spPr>
          <a:xfrm>
            <a:off x="1514545" y="63300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83C02FD-AB58-7FD4-2AE6-42EB9ED0FCAB}"/>
              </a:ext>
            </a:extLst>
          </p:cNvPr>
          <p:cNvCxnSpPr>
            <a:cxnSpLocks/>
          </p:cNvCxnSpPr>
          <p:nvPr/>
        </p:nvCxnSpPr>
        <p:spPr>
          <a:xfrm>
            <a:off x="2737100" y="58728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4408ED2-D266-657E-9ED7-E1AC5166CE09}"/>
              </a:ext>
            </a:extLst>
          </p:cNvPr>
          <p:cNvCxnSpPr>
            <a:cxnSpLocks/>
          </p:cNvCxnSpPr>
          <p:nvPr/>
        </p:nvCxnSpPr>
        <p:spPr>
          <a:xfrm>
            <a:off x="2889500" y="60252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6E5959B0-B57C-B2DA-8334-D6FE343366C2}"/>
              </a:ext>
            </a:extLst>
          </p:cNvPr>
          <p:cNvCxnSpPr>
            <a:cxnSpLocks/>
          </p:cNvCxnSpPr>
          <p:nvPr/>
        </p:nvCxnSpPr>
        <p:spPr>
          <a:xfrm>
            <a:off x="3041900" y="61776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C3607628-10BF-14A9-DA8F-092623546B51}"/>
              </a:ext>
            </a:extLst>
          </p:cNvPr>
          <p:cNvCxnSpPr>
            <a:cxnSpLocks/>
          </p:cNvCxnSpPr>
          <p:nvPr/>
        </p:nvCxnSpPr>
        <p:spPr>
          <a:xfrm>
            <a:off x="3041900" y="6330090"/>
            <a:ext cx="7629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87B495D-1F97-7CC3-F13D-E762C4C82C8A}"/>
              </a:ext>
            </a:extLst>
          </p:cNvPr>
          <p:cNvCxnSpPr>
            <a:cxnSpLocks/>
          </p:cNvCxnSpPr>
          <p:nvPr/>
        </p:nvCxnSpPr>
        <p:spPr>
          <a:xfrm>
            <a:off x="4263540" y="63300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3D648214-214B-CBB4-8EA7-732003DA5689}"/>
              </a:ext>
            </a:extLst>
          </p:cNvPr>
          <p:cNvCxnSpPr>
            <a:cxnSpLocks/>
          </p:cNvCxnSpPr>
          <p:nvPr/>
        </p:nvCxnSpPr>
        <p:spPr>
          <a:xfrm>
            <a:off x="4568797" y="61776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A902D25-14C6-DCEC-FA8A-136917B1D098}"/>
              </a:ext>
            </a:extLst>
          </p:cNvPr>
          <p:cNvCxnSpPr>
            <a:cxnSpLocks/>
          </p:cNvCxnSpPr>
          <p:nvPr/>
        </p:nvCxnSpPr>
        <p:spPr>
          <a:xfrm>
            <a:off x="5705768" y="60252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DCE8FCE4-7026-1F5B-D75F-164C16D12E3A}"/>
              </a:ext>
            </a:extLst>
          </p:cNvPr>
          <p:cNvCxnSpPr>
            <a:cxnSpLocks/>
          </p:cNvCxnSpPr>
          <p:nvPr/>
        </p:nvCxnSpPr>
        <p:spPr>
          <a:xfrm>
            <a:off x="5858168" y="61776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4201E40C-D100-C2B2-43A1-C2D59AF77A66}"/>
              </a:ext>
            </a:extLst>
          </p:cNvPr>
          <p:cNvCxnSpPr>
            <a:cxnSpLocks/>
          </p:cNvCxnSpPr>
          <p:nvPr/>
        </p:nvCxnSpPr>
        <p:spPr>
          <a:xfrm>
            <a:off x="6010568" y="6330090"/>
            <a:ext cx="610515"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085D9CE8-F4E3-AAED-AE4A-3C41743307AA}"/>
              </a:ext>
            </a:extLst>
          </p:cNvPr>
          <p:cNvCxnSpPr/>
          <p:nvPr/>
        </p:nvCxnSpPr>
        <p:spPr>
          <a:xfrm>
            <a:off x="5485180" y="5872890"/>
            <a:ext cx="0" cy="848586"/>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6A8390FE-05BE-7AF3-982E-71B032DA8997}"/>
              </a:ext>
            </a:extLst>
          </p:cNvPr>
          <p:cNvCxnSpPr>
            <a:cxnSpLocks/>
          </p:cNvCxnSpPr>
          <p:nvPr/>
        </p:nvCxnSpPr>
        <p:spPr>
          <a:xfrm>
            <a:off x="3194605" y="5734704"/>
            <a:ext cx="0" cy="900493"/>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703E9742-EBA9-D5E2-A3CA-564C1A321E76}"/>
              </a:ext>
            </a:extLst>
          </p:cNvPr>
          <p:cNvCxnSpPr>
            <a:cxnSpLocks/>
          </p:cNvCxnSpPr>
          <p:nvPr/>
        </p:nvCxnSpPr>
        <p:spPr>
          <a:xfrm>
            <a:off x="1667555" y="5734704"/>
            <a:ext cx="0" cy="900493"/>
          </a:xfrm>
          <a:prstGeom prst="line">
            <a:avLst/>
          </a:prstGeom>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F5276DCA-DDFB-D8C6-81BE-65AFDA0EBA7E}"/>
              </a:ext>
            </a:extLst>
          </p:cNvPr>
          <p:cNvPicPr>
            <a:picLocks noChangeAspect="1"/>
          </p:cNvPicPr>
          <p:nvPr/>
        </p:nvPicPr>
        <p:blipFill>
          <a:blip r:embed="rId2"/>
          <a:stretch>
            <a:fillRect/>
          </a:stretch>
        </p:blipFill>
        <p:spPr>
          <a:xfrm>
            <a:off x="7601848" y="1704734"/>
            <a:ext cx="3991532" cy="1724266"/>
          </a:xfrm>
          <a:prstGeom prst="rect">
            <a:avLst/>
          </a:prstGeom>
        </p:spPr>
      </p:pic>
    </p:spTree>
    <p:extLst>
      <p:ext uri="{BB962C8B-B14F-4D97-AF65-F5344CB8AC3E}">
        <p14:creationId xmlns:p14="http://schemas.microsoft.com/office/powerpoint/2010/main" val="3139525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2"/>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3"/>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4"/>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5"/>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7"/>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8"/>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9"/>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2"/>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26"/>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3FC554-A8C6-0277-1A84-D1F722AC7F41}"/>
              </a:ext>
            </a:extLst>
          </p:cNvPr>
          <p:cNvSpPr>
            <a:spLocks noGrp="1"/>
          </p:cNvSpPr>
          <p:nvPr>
            <p:ph type="title"/>
          </p:nvPr>
        </p:nvSpPr>
        <p:spPr/>
        <p:txBody>
          <a:bodyPr>
            <a:normAutofit fontScale="90000"/>
          </a:bodyPr>
          <a:lstStyle/>
          <a:p>
            <a:r>
              <a:rPr lang="en-US"/>
              <a:t>Fraction of the genome covered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0384F2-9789-CBBD-01D4-DDCF083991F5}"/>
                  </a:ext>
                </a:extLst>
              </p:cNvPr>
              <p:cNvSpPr>
                <a:spLocks noGrp="1"/>
              </p:cNvSpPr>
              <p:nvPr>
                <p:ph idx="1"/>
              </p:nvPr>
            </p:nvSpPr>
            <p:spPr>
              <a:xfrm>
                <a:off x="598620" y="1596540"/>
                <a:ext cx="10972800" cy="4843589"/>
              </a:xfrm>
            </p:spPr>
            <p:txBody>
              <a:bodyPr>
                <a:normAutofit fontScale="85000" lnSpcReduction="10000"/>
              </a:bodyPr>
              <a:lstStyle/>
              <a:p>
                <a:r>
                  <a:rPr lang="en-US"/>
                  <a:t>To assemble a genome we need to make sure it is completely covered by reads</a:t>
                </a:r>
              </a:p>
              <a:p>
                <a:endParaRPr lang="en-US"/>
              </a:p>
              <a:p>
                <a:r>
                  <a:rPr lang="en-US"/>
                  <a:t>We can use Poisson distribution to compute required coverage to make sure there are no gaps </a:t>
                </a:r>
              </a:p>
              <a:p>
                <a:endParaRPr lang="en-US"/>
              </a:p>
              <a:p>
                <a:r>
                  <a:rPr lang="en-US"/>
                  <a:t>It is frequently easier in probability computations to compute the probability of something NOT happening!</a:t>
                </a:r>
                <a:br>
                  <a:rPr lang="en-US"/>
                </a:br>
                <a:endParaRPr lang="en-US"/>
              </a:p>
              <a:p>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&gt;0</m:t>
                            </m:r>
                          </m:e>
                        </m:d>
                        <m:r>
                          <a:rPr lang="en-US" i="1">
                            <a:latin typeface="Cambria Math" panose="02040503050406030204" pitchFamily="18" charset="0"/>
                          </a:rPr>
                          <m:t>=</m:t>
                        </m:r>
                        <m:r>
                          <a:rPr lang="en-US" b="0" i="1" smtClean="0">
                            <a:latin typeface="Cambria Math" panose="02040503050406030204" pitchFamily="18" charset="0"/>
                          </a:rPr>
                          <m:t>1−</m:t>
                        </m:r>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=1−</m:t>
                        </m:r>
                        <m:r>
                          <a:rPr lang="en-US" i="1">
                            <a:latin typeface="Cambria Math" panose="02040503050406030204" pitchFamily="18" charset="0"/>
                          </a:rPr>
                          <m:t>𝑒</m:t>
                        </m:r>
                      </m:e>
                      <m:sup>
                        <m:r>
                          <m:rPr>
                            <m:nor/>
                          </m:rPr>
                          <a:rPr lang="en-US" b="0" i="1" smtClean="0">
                            <a:latin typeface="Cambria Math" panose="02040503050406030204" pitchFamily="18" charset="0"/>
                          </a:rPr>
                          <m:t>−</m:t>
                        </m:r>
                        <m:r>
                          <m:rPr>
                            <m:nor/>
                          </m:rPr>
                          <a:rPr lang="en-US" i="1" dirty="0"/>
                          <m:t>λ</m:t>
                        </m:r>
                      </m:sup>
                    </m:sSup>
                  </m:oMath>
                </a14:m>
                <a:br>
                  <a:rPr lang="en-US" i="1"/>
                </a:br>
                <a:endParaRPr lang="en-US" i="1"/>
              </a:p>
              <a:p>
                <a:r>
                  <a:rPr lang="en-US"/>
                  <a:t>Total genome length covered: </a:t>
                </a:r>
                <a:br>
                  <a:rPr lang="en-US"/>
                </a:b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𝐺</m:t>
                        </m:r>
                        <m:r>
                          <a:rPr lang="en-US" b="0" i="1" smtClean="0">
                            <a:latin typeface="Cambria Math" panose="02040503050406030204" pitchFamily="18" charset="0"/>
                          </a:rPr>
                          <m:t> </m:t>
                        </m:r>
                        <m:r>
                          <a:rPr lang="en-US" i="1">
                            <a:latin typeface="Cambria Math" panose="02040503050406030204" pitchFamily="18" charset="0"/>
                          </a:rPr>
                          <m:t>𝑃</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&gt;0</m:t>
                            </m:r>
                          </m:e>
                        </m:d>
                        <m:r>
                          <a:rPr lang="en-US" i="1">
                            <a:latin typeface="Cambria Math" panose="02040503050406030204" pitchFamily="18" charset="0"/>
                          </a:rPr>
                          <m:t>=</m:t>
                        </m:r>
                        <m:r>
                          <a:rPr lang="en-US" b="0" i="1" smtClean="0">
                            <a:latin typeface="Cambria Math" panose="02040503050406030204" pitchFamily="18" charset="0"/>
                          </a:rPr>
                          <m:t>𝐺</m:t>
                        </m:r>
                        <m:r>
                          <a:rPr lang="en-US" b="0" i="1" smtClean="0">
                            <a:latin typeface="Cambria Math" panose="02040503050406030204" pitchFamily="18" charset="0"/>
                          </a:rPr>
                          <m:t>(1−</m:t>
                        </m:r>
                        <m:r>
                          <a:rPr lang="en-US" i="1">
                            <a:latin typeface="Cambria Math" panose="02040503050406030204" pitchFamily="18" charset="0"/>
                          </a:rPr>
                          <m:t>𝑒</m:t>
                        </m:r>
                      </m:e>
                      <m:sup>
                        <m:r>
                          <m:rPr>
                            <m:nor/>
                          </m:rPr>
                          <a:rPr lang="en-US" b="0" i="1" smtClean="0">
                            <a:latin typeface="Cambria Math" panose="02040503050406030204" pitchFamily="18" charset="0"/>
                          </a:rPr>
                          <m:t>−</m:t>
                        </m:r>
                        <m:r>
                          <m:rPr>
                            <m:nor/>
                          </m:rPr>
                          <a:rPr lang="en-US" i="1" dirty="0"/>
                          <m:t>λ</m:t>
                        </m:r>
                      </m:sup>
                    </m:sSup>
                    <m:r>
                      <a:rPr lang="en-US" b="0" i="1" dirty="0" smtClean="0">
                        <a:latin typeface="Cambria Math" panose="02040503050406030204" pitchFamily="18" charset="0"/>
                      </a:rPr>
                      <m:t>)</m:t>
                    </m:r>
                  </m:oMath>
                </a14:m>
                <a:endParaRPr lang="en-US"/>
              </a:p>
            </p:txBody>
          </p:sp>
        </mc:Choice>
        <mc:Fallback xmlns="">
          <p:sp>
            <p:nvSpPr>
              <p:cNvPr id="3" name="Content Placeholder 2">
                <a:extLst>
                  <a:ext uri="{FF2B5EF4-FFF2-40B4-BE49-F238E27FC236}">
                    <a16:creationId xmlns:a16="http://schemas.microsoft.com/office/drawing/2014/main" id="{BC0384F2-9789-CBBD-01D4-DDCF083991F5}"/>
                  </a:ext>
                </a:extLst>
              </p:cNvPr>
              <p:cNvSpPr>
                <a:spLocks noGrp="1" noRot="1" noChangeAspect="1" noMove="1" noResize="1" noEditPoints="1" noAdjustHandles="1" noChangeArrowheads="1" noChangeShapeType="1" noTextEdit="1"/>
              </p:cNvSpPr>
              <p:nvPr>
                <p:ph idx="1"/>
              </p:nvPr>
            </p:nvSpPr>
            <p:spPr>
              <a:xfrm>
                <a:off x="598620" y="1596540"/>
                <a:ext cx="10972800" cy="4843589"/>
              </a:xfrm>
              <a:blipFill>
                <a:blip r:embed="rId2"/>
                <a:stretch>
                  <a:fillRect l="-722" t="-1763"/>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0AB4324D-9F5A-7E7B-0C60-C2D62C5B95E4}"/>
              </a:ext>
            </a:extLst>
          </p:cNvPr>
          <p:cNvSpPr>
            <a:spLocks noGrp="1"/>
          </p:cNvSpPr>
          <p:nvPr>
            <p:ph type="sldNum" sz="quarter" idx="12"/>
          </p:nvPr>
        </p:nvSpPr>
        <p:spPr/>
        <p:txBody>
          <a:bodyPr/>
          <a:lstStyle/>
          <a:p>
            <a:fld id="{B82CCC60-E8CD-4174-8B1A-7DF615B22EEF}" type="slidenum">
              <a:rPr lang="en-US" smtClean="0"/>
              <a:pPr/>
              <a:t>8</a:t>
            </a:fld>
            <a:endParaRPr lang="en-US"/>
          </a:p>
        </p:txBody>
      </p:sp>
      <p:pic>
        <p:nvPicPr>
          <p:cNvPr id="5" name="Picture 4">
            <a:extLst>
              <a:ext uri="{FF2B5EF4-FFF2-40B4-BE49-F238E27FC236}">
                <a16:creationId xmlns:a16="http://schemas.microsoft.com/office/drawing/2014/main" id="{CCFDB7FE-3B6C-978E-F57D-4A8E86567B1F}"/>
              </a:ext>
            </a:extLst>
          </p:cNvPr>
          <p:cNvPicPr>
            <a:picLocks noChangeAspect="1"/>
          </p:cNvPicPr>
          <p:nvPr/>
        </p:nvPicPr>
        <p:blipFill>
          <a:blip r:embed="rId3"/>
          <a:stretch>
            <a:fillRect/>
          </a:stretch>
        </p:blipFill>
        <p:spPr>
          <a:xfrm>
            <a:off x="7887982" y="3994404"/>
            <a:ext cx="3991532" cy="1724266"/>
          </a:xfrm>
          <a:prstGeom prst="rect">
            <a:avLst/>
          </a:prstGeom>
        </p:spPr>
      </p:pic>
    </p:spTree>
    <p:extLst>
      <p:ext uri="{BB962C8B-B14F-4D97-AF65-F5344CB8AC3E}">
        <p14:creationId xmlns:p14="http://schemas.microsoft.com/office/powerpoint/2010/main" val="14136039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2715A2-54A9-599A-BDBF-6D55AA14E560}"/>
              </a:ext>
            </a:extLst>
          </p:cNvPr>
          <p:cNvSpPr>
            <a:spLocks noGrp="1"/>
          </p:cNvSpPr>
          <p:nvPr>
            <p:ph type="title"/>
          </p:nvPr>
        </p:nvSpPr>
        <p:spPr/>
        <p:txBody>
          <a:bodyPr>
            <a:normAutofit fontScale="90000"/>
          </a:bodyPr>
          <a:lstStyle/>
          <a:p>
            <a:r>
              <a:rPr lang="en-US"/>
              <a:t>Number of contigs and average length</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3E394BD-B129-877C-C744-20B897AE4FDE}"/>
                  </a:ext>
                </a:extLst>
              </p:cNvPr>
              <p:cNvSpPr>
                <a:spLocks noGrp="1"/>
              </p:cNvSpPr>
              <p:nvPr>
                <p:ph idx="1"/>
              </p:nvPr>
            </p:nvSpPr>
            <p:spPr>
              <a:xfrm>
                <a:off x="598620" y="1596540"/>
                <a:ext cx="10972800" cy="4886559"/>
              </a:xfrm>
            </p:spPr>
            <p:txBody>
              <a:bodyPr>
                <a:normAutofit fontScale="92500"/>
              </a:bodyPr>
              <a:lstStyle/>
              <a:p>
                <a:r>
                  <a:rPr lang="en-US"/>
                  <a:t>Probability that a given read is the right end of a contig = coverage of the base right after the read is zero: </a:t>
                </a:r>
                <a:br>
                  <a:rPr lang="en-US"/>
                </a:b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m:t>
                        </m:r>
                        <m:r>
                          <a:rPr lang="en-US" i="1">
                            <a:latin typeface="Cambria Math" panose="02040503050406030204" pitchFamily="18" charset="0"/>
                          </a:rPr>
                          <m:t>𝑒</m:t>
                        </m:r>
                      </m:e>
                      <m:sup>
                        <m:r>
                          <m:rPr>
                            <m:nor/>
                          </m:rPr>
                          <a:rPr lang="en-US" b="0" i="1" smtClean="0">
                            <a:latin typeface="Cambria Math" panose="02040503050406030204" pitchFamily="18" charset="0"/>
                          </a:rPr>
                          <m:t>−</m:t>
                        </m:r>
                        <m:r>
                          <m:rPr>
                            <m:nor/>
                          </m:rPr>
                          <a:rPr lang="en-US" i="1" dirty="0"/>
                          <m:t>λ</m:t>
                        </m:r>
                      </m:sup>
                    </m:sSup>
                  </m:oMath>
                </a14:m>
                <a:endParaRPr lang="en-US" i="1"/>
              </a:p>
              <a:p>
                <a:r>
                  <a:rPr lang="en-US"/>
                  <a:t>If </a:t>
                </a:r>
                <a:r>
                  <a:rPr lang="en-US" i="1"/>
                  <a:t>N</a:t>
                </a:r>
                <a:r>
                  <a:rPr lang="en-US"/>
                  <a:t> is number of reads, then number of contigs is:</a:t>
                </a:r>
                <a:br>
                  <a:rPr lang="en-US"/>
                </a:b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𝑁</m:t>
                        </m:r>
                        <m:r>
                          <a:rPr lang="en-US" i="1">
                            <a:latin typeface="Cambria Math" panose="02040503050406030204" pitchFamily="18" charset="0"/>
                          </a:rPr>
                          <m:t>𝑒</m:t>
                        </m:r>
                      </m:e>
                      <m:sup>
                        <m:r>
                          <m:rPr>
                            <m:nor/>
                          </m:rPr>
                          <a:rPr lang="en-US" b="0" i="1" smtClean="0">
                            <a:latin typeface="Cambria Math" panose="02040503050406030204" pitchFamily="18" charset="0"/>
                          </a:rPr>
                          <m:t>−</m:t>
                        </m:r>
                        <m:r>
                          <m:rPr>
                            <m:nor/>
                          </m:rPr>
                          <a:rPr lang="en-US" i="1" dirty="0"/>
                          <m:t>λ</m:t>
                        </m:r>
                      </m:sup>
                    </m:sSup>
                  </m:oMath>
                </a14:m>
                <a:endParaRPr lang="en-US"/>
              </a:p>
              <a:p>
                <a:r>
                  <a:rPr lang="en-US"/>
                  <a:t>Average contig length is proportion of genome covered/number of contigs:</a:t>
                </a:r>
                <a:br>
                  <a:rPr lang="en-US"/>
                </a:br>
                <a14:m>
                  <m:oMath xmlns:m="http://schemas.openxmlformats.org/officeDocument/2006/math">
                    <m:r>
                      <a:rPr lang="en-US" i="1">
                        <a:latin typeface="Cambria Math" panose="02040503050406030204" pitchFamily="18" charset="0"/>
                      </a:rPr>
                      <m:t>𝐶</m:t>
                    </m:r>
                    <m:r>
                      <a:rPr lang="en-US" i="1">
                        <a:latin typeface="Cambria Math" panose="02040503050406030204" pitchFamily="18" charset="0"/>
                      </a:rPr>
                      <m:t>=</m:t>
                    </m:r>
                    <m:r>
                      <a:rPr lang="en-US" b="0" i="1" smtClean="0">
                        <a:latin typeface="Cambria Math" panose="02040503050406030204" pitchFamily="18" charset="0"/>
                      </a:rPr>
                      <m:t>𝐺</m:t>
                    </m:r>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i="1">
                                <a:latin typeface="Cambria Math" panose="02040503050406030204" pitchFamily="18" charset="0"/>
                              </a:rPr>
                              <m:t>1−</m:t>
                            </m:r>
                            <m:r>
                              <a:rPr lang="en-US" i="1">
                                <a:latin typeface="Cambria Math" panose="02040503050406030204" pitchFamily="18" charset="0"/>
                              </a:rPr>
                              <m:t>𝑒</m:t>
                            </m:r>
                          </m:e>
                          <m:sup>
                            <m:r>
                              <m:rPr>
                                <m:nor/>
                              </m:rPr>
                              <a:rPr lang="en-US" b="0" i="1" smtClean="0">
                                <a:latin typeface="Cambria Math" panose="02040503050406030204" pitchFamily="18" charset="0"/>
                              </a:rPr>
                              <m:t>−</m:t>
                            </m:r>
                            <m:r>
                              <m:rPr>
                                <m:nor/>
                              </m:rPr>
                              <a:rPr lang="en-US" i="1" dirty="0"/>
                              <m:t>λ</m:t>
                            </m:r>
                          </m:sup>
                        </m:sSup>
                      </m:num>
                      <m:den>
                        <m:r>
                          <m:rPr>
                            <m:nor/>
                          </m:rPr>
                          <a:rPr lang="en-US" b="0" i="1" dirty="0" smtClean="0">
                            <a:latin typeface="Cambria Math" panose="02040503050406030204" pitchFamily="18" charset="0"/>
                          </a:rPr>
                          <m:t>N</m:t>
                        </m:r>
                        <m:sSup>
                          <m:sSupPr>
                            <m:ctrlPr>
                              <a:rPr lang="en-US" i="1">
                                <a:latin typeface="Cambria Math" panose="02040503050406030204" pitchFamily="18" charset="0"/>
                              </a:rPr>
                            </m:ctrlPr>
                          </m:sSupPr>
                          <m:e>
                            <m:r>
                              <a:rPr lang="en-US" i="1">
                                <a:latin typeface="Cambria Math" panose="02040503050406030204" pitchFamily="18" charset="0"/>
                              </a:rPr>
                              <m:t>𝑒</m:t>
                            </m:r>
                          </m:e>
                          <m:sup>
                            <m:r>
                              <a:rPr lang="en-US" b="0" i="1" smtClean="0">
                                <a:latin typeface="Cambria Math" panose="02040503050406030204" pitchFamily="18" charset="0"/>
                              </a:rPr>
                              <m:t>−</m:t>
                            </m:r>
                            <m:r>
                              <m:rPr>
                                <m:nor/>
                              </m:rPr>
                              <a:rPr lang="en-US" i="1" dirty="0"/>
                              <m:t>λ</m:t>
                            </m:r>
                          </m:sup>
                        </m:sSup>
                      </m:den>
                    </m:f>
                    <m:r>
                      <a:rPr lang="en-US" b="0" i="1" dirty="0" smtClean="0">
                        <a:latin typeface="Cambria Math" panose="02040503050406030204" pitchFamily="18" charset="0"/>
                      </a:rPr>
                      <m:t>=</m:t>
                    </m:r>
                    <m:r>
                      <a:rPr lang="en-US" b="0" i="1" dirty="0" smtClean="0">
                        <a:latin typeface="Cambria Math" panose="02040503050406030204" pitchFamily="18" charset="0"/>
                      </a:rPr>
                      <m:t>𝐿</m:t>
                    </m:r>
                    <m:f>
                      <m:fPr>
                        <m:ctrlPr>
                          <a:rPr lang="en-US" i="1" dirty="0">
                            <a:latin typeface="Cambria Math" panose="02040503050406030204" pitchFamily="18" charset="0"/>
                          </a:rPr>
                        </m:ctrlPr>
                      </m:fPr>
                      <m:num>
                        <m:r>
                          <a:rPr lang="en-US" i="1" dirty="0">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𝑒</m:t>
                            </m:r>
                          </m:e>
                          <m:sup>
                            <m:r>
                              <m:rPr>
                                <m:nor/>
                              </m:rPr>
                              <a:rPr lang="en-US" i="1" dirty="0"/>
                              <m:t>λ</m:t>
                            </m:r>
                          </m:sup>
                        </m:sSup>
                        <m:r>
                          <a:rPr lang="en-US" i="1" dirty="0">
                            <a:latin typeface="Cambria Math" panose="02040503050406030204" pitchFamily="18" charset="0"/>
                          </a:rPr>
                          <m:t>−1)</m:t>
                        </m:r>
                      </m:num>
                      <m:den>
                        <m:r>
                          <m:rPr>
                            <m:nor/>
                          </m:rPr>
                          <a:rPr lang="en-US" i="1" dirty="0"/>
                          <m:t>λ</m:t>
                        </m:r>
                      </m:den>
                    </m:f>
                    <m:r>
                      <a:rPr lang="en-US" i="1">
                        <a:latin typeface="Cambria Math" panose="02040503050406030204" pitchFamily="18" charset="0"/>
                      </a:rPr>
                      <m:t>,</m:t>
                    </m:r>
                  </m:oMath>
                </a14:m>
                <a:endParaRPr lang="en-US"/>
              </a:p>
              <a:p>
                <a:r>
                  <a:rPr lang="en-US"/>
                  <a:t>For sufficiently large </a:t>
                </a:r>
                <a:r>
                  <a:rPr lang="en-US" i="1"/>
                  <a:t>λ, </a:t>
                </a:r>
                <a14:m>
                  <m:oMath xmlns:m="http://schemas.openxmlformats.org/officeDocument/2006/math">
                    <m:r>
                      <a:rPr lang="en-US" i="1">
                        <a:latin typeface="Cambria Math" panose="02040503050406030204" pitchFamily="18" charset="0"/>
                      </a:rPr>
                      <m:t>𝐶</m:t>
                    </m:r>
                    <m:r>
                      <a:rPr lang="en-US" i="1" smtClean="0">
                        <a:latin typeface="Cambria Math" panose="02040503050406030204" pitchFamily="18" charset="0"/>
                        <a:ea typeface="Cambria Math" panose="02040503050406030204" pitchFamily="18" charset="0"/>
                      </a:rPr>
                      <m:t>≈</m:t>
                    </m:r>
                    <m:r>
                      <a:rPr lang="en-US" i="1" dirty="0">
                        <a:latin typeface="Cambria Math" panose="02040503050406030204" pitchFamily="18" charset="0"/>
                      </a:rPr>
                      <m:t>𝐿</m:t>
                    </m:r>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i="1">
                                <a:latin typeface="Cambria Math" panose="02040503050406030204" pitchFamily="18" charset="0"/>
                              </a:rPr>
                              <m:t>𝑒</m:t>
                            </m:r>
                          </m:e>
                          <m:sup>
                            <m:r>
                              <m:rPr>
                                <m:nor/>
                              </m:rPr>
                              <a:rPr lang="en-US" i="1" dirty="0"/>
                              <m:t>λ</m:t>
                            </m:r>
                          </m:sup>
                        </m:sSup>
                      </m:num>
                      <m:den>
                        <m:r>
                          <m:rPr>
                            <m:nor/>
                          </m:rPr>
                          <a:rPr lang="en-US" i="1" dirty="0"/>
                          <m:t>λ</m:t>
                        </m:r>
                      </m:den>
                    </m:f>
                  </m:oMath>
                </a14:m>
                <a:r>
                  <a:rPr lang="en-US"/>
                  <a:t>, only depends on read length and coverage!</a:t>
                </a:r>
              </a:p>
              <a:p>
                <a:endParaRPr lang="en-US"/>
              </a:p>
            </p:txBody>
          </p:sp>
        </mc:Choice>
        <mc:Fallback xmlns="">
          <p:sp>
            <p:nvSpPr>
              <p:cNvPr id="3" name="Content Placeholder 2">
                <a:extLst>
                  <a:ext uri="{FF2B5EF4-FFF2-40B4-BE49-F238E27FC236}">
                    <a16:creationId xmlns:a16="http://schemas.microsoft.com/office/drawing/2014/main" id="{93E394BD-B129-877C-C744-20B897AE4FDE}"/>
                  </a:ext>
                </a:extLst>
              </p:cNvPr>
              <p:cNvSpPr>
                <a:spLocks noGrp="1" noRot="1" noChangeAspect="1" noMove="1" noResize="1" noEditPoints="1" noAdjustHandles="1" noChangeArrowheads="1" noChangeShapeType="1" noTextEdit="1"/>
              </p:cNvSpPr>
              <p:nvPr>
                <p:ph idx="1"/>
              </p:nvPr>
            </p:nvSpPr>
            <p:spPr>
              <a:xfrm>
                <a:off x="598620" y="1596540"/>
                <a:ext cx="10972800" cy="4886559"/>
              </a:xfrm>
              <a:blipFill>
                <a:blip r:embed="rId2"/>
                <a:stretch>
                  <a:fillRect l="-833" t="-998" r="-1556"/>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071BF5F6-B203-71DC-96D2-AF338A942FC9}"/>
              </a:ext>
            </a:extLst>
          </p:cNvPr>
          <p:cNvSpPr>
            <a:spLocks noGrp="1"/>
          </p:cNvSpPr>
          <p:nvPr>
            <p:ph type="sldNum" sz="quarter" idx="12"/>
          </p:nvPr>
        </p:nvSpPr>
        <p:spPr/>
        <p:txBody>
          <a:bodyPr/>
          <a:lstStyle/>
          <a:p>
            <a:fld id="{B82CCC60-E8CD-4174-8B1A-7DF615B22EEF}" type="slidenum">
              <a:rPr lang="en-US" smtClean="0"/>
              <a:pPr/>
              <a:t>9</a:t>
            </a:fld>
            <a:endParaRPr lang="en-US"/>
          </a:p>
        </p:txBody>
      </p:sp>
      <p:pic>
        <p:nvPicPr>
          <p:cNvPr id="5" name="Picture 4">
            <a:extLst>
              <a:ext uri="{FF2B5EF4-FFF2-40B4-BE49-F238E27FC236}">
                <a16:creationId xmlns:a16="http://schemas.microsoft.com/office/drawing/2014/main" id="{3F50F2FE-88FB-12C8-AEE6-550820950659}"/>
              </a:ext>
            </a:extLst>
          </p:cNvPr>
          <p:cNvPicPr>
            <a:picLocks noChangeAspect="1"/>
          </p:cNvPicPr>
          <p:nvPr/>
        </p:nvPicPr>
        <p:blipFill>
          <a:blip r:embed="rId3"/>
          <a:stretch>
            <a:fillRect/>
          </a:stretch>
        </p:blipFill>
        <p:spPr>
          <a:xfrm>
            <a:off x="8200468" y="2207360"/>
            <a:ext cx="3991532" cy="1724266"/>
          </a:xfrm>
          <a:prstGeom prst="rect">
            <a:avLst/>
          </a:prstGeom>
        </p:spPr>
      </p:pic>
    </p:spTree>
    <p:extLst>
      <p:ext uri="{BB962C8B-B14F-4D97-AF65-F5344CB8AC3E}">
        <p14:creationId xmlns:p14="http://schemas.microsoft.com/office/powerpoint/2010/main" val="721180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BBEE5-4EC8-F8CC-ACA8-069BCBC4B989}"/>
              </a:ext>
            </a:extLst>
          </p:cNvPr>
          <p:cNvSpPr>
            <a:spLocks noGrp="1"/>
          </p:cNvSpPr>
          <p:nvPr>
            <p:ph type="title"/>
          </p:nvPr>
        </p:nvSpPr>
        <p:spPr>
          <a:xfrm>
            <a:off x="629264" y="680310"/>
            <a:ext cx="10942155" cy="365125"/>
          </a:xfrm>
        </p:spPr>
        <p:txBody>
          <a:bodyPr>
            <a:normAutofit fontScale="90000"/>
          </a:bodyPr>
          <a:lstStyle/>
          <a:p>
            <a:r>
              <a:rPr lang="en-US"/>
              <a:t>Genome is fully covered.</a:t>
            </a:r>
            <a:br>
              <a:rPr lang="en-US"/>
            </a:br>
            <a:r>
              <a:rPr lang="en-US"/>
              <a:t>Can this be assembled?</a:t>
            </a:r>
          </a:p>
        </p:txBody>
      </p:sp>
      <p:sp>
        <p:nvSpPr>
          <p:cNvPr id="4" name="Slide Number Placeholder 3">
            <a:extLst>
              <a:ext uri="{FF2B5EF4-FFF2-40B4-BE49-F238E27FC236}">
                <a16:creationId xmlns:a16="http://schemas.microsoft.com/office/drawing/2014/main" id="{644A77BB-A657-B3C5-CC8F-B1CB19052664}"/>
              </a:ext>
            </a:extLst>
          </p:cNvPr>
          <p:cNvSpPr>
            <a:spLocks noGrp="1"/>
          </p:cNvSpPr>
          <p:nvPr>
            <p:ph type="sldNum" sz="quarter" idx="12"/>
          </p:nvPr>
        </p:nvSpPr>
        <p:spPr/>
        <p:txBody>
          <a:bodyPr/>
          <a:lstStyle/>
          <a:p>
            <a:fld id="{B82CCC60-E8CD-4174-8B1A-7DF615B22EEF}" type="slidenum">
              <a:rPr lang="en-US" smtClean="0"/>
              <a:pPr/>
              <a:t>10</a:t>
            </a:fld>
            <a:endParaRPr lang="en-US"/>
          </a:p>
        </p:txBody>
      </p:sp>
      <p:cxnSp>
        <p:nvCxnSpPr>
          <p:cNvPr id="5" name="Straight Connector 4">
            <a:extLst>
              <a:ext uri="{FF2B5EF4-FFF2-40B4-BE49-F238E27FC236}">
                <a16:creationId xmlns:a16="http://schemas.microsoft.com/office/drawing/2014/main" id="{B8152564-1CE0-5DED-2127-FBF73609E8E1}"/>
              </a:ext>
            </a:extLst>
          </p:cNvPr>
          <p:cNvCxnSpPr/>
          <p:nvPr/>
        </p:nvCxnSpPr>
        <p:spPr>
          <a:xfrm>
            <a:off x="1578455" y="4418326"/>
            <a:ext cx="8398775"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F0DC067B-52F0-28D0-DC17-AD3F7C3443AE}"/>
              </a:ext>
            </a:extLst>
          </p:cNvPr>
          <p:cNvCxnSpPr>
            <a:cxnSpLocks/>
          </p:cNvCxnSpPr>
          <p:nvPr/>
        </p:nvCxnSpPr>
        <p:spPr>
          <a:xfrm>
            <a:off x="1578455" y="4004760"/>
            <a:ext cx="2265958"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2CBE26E-8424-5747-E9B7-29316A791327}"/>
              </a:ext>
            </a:extLst>
          </p:cNvPr>
          <p:cNvCxnSpPr>
            <a:cxnSpLocks/>
          </p:cNvCxnSpPr>
          <p:nvPr/>
        </p:nvCxnSpPr>
        <p:spPr>
          <a:xfrm>
            <a:off x="3736636" y="4127663"/>
            <a:ext cx="2265958"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58FA18A0-A1C5-BCED-FD95-480CC02B9442}"/>
              </a:ext>
            </a:extLst>
          </p:cNvPr>
          <p:cNvCxnSpPr>
            <a:cxnSpLocks/>
          </p:cNvCxnSpPr>
          <p:nvPr/>
        </p:nvCxnSpPr>
        <p:spPr>
          <a:xfrm>
            <a:off x="6002594" y="3978294"/>
            <a:ext cx="1971367"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101D341-E3C8-339A-7DFB-50D0871C82B0}"/>
              </a:ext>
            </a:extLst>
          </p:cNvPr>
          <p:cNvCxnSpPr>
            <a:cxnSpLocks/>
          </p:cNvCxnSpPr>
          <p:nvPr/>
        </p:nvCxnSpPr>
        <p:spPr>
          <a:xfrm>
            <a:off x="7885849" y="4127663"/>
            <a:ext cx="2265958" cy="0"/>
          </a:xfrm>
          <a:prstGeom prst="line">
            <a:avLst/>
          </a:prstGeom>
          <a:ln w="38100">
            <a:solidFill>
              <a:srgbClr val="002060"/>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3C03DBCA-0F54-E271-479E-30EF0F102969}"/>
              </a:ext>
            </a:extLst>
          </p:cNvPr>
          <p:cNvSpPr txBox="1"/>
          <p:nvPr/>
        </p:nvSpPr>
        <p:spPr>
          <a:xfrm>
            <a:off x="3244646" y="3490097"/>
            <a:ext cx="1354794" cy="369332"/>
          </a:xfrm>
          <a:prstGeom prst="rect">
            <a:avLst/>
          </a:prstGeom>
          <a:noFill/>
        </p:spPr>
        <p:txBody>
          <a:bodyPr wrap="none" rtlCol="0">
            <a:spAutoFit/>
          </a:bodyPr>
          <a:lstStyle/>
          <a:p>
            <a:r>
              <a:rPr lang="en-US"/>
              <a:t>1 bp overlap</a:t>
            </a:r>
          </a:p>
        </p:txBody>
      </p:sp>
      <p:sp>
        <p:nvSpPr>
          <p:cNvPr id="12" name="TextBox 11">
            <a:extLst>
              <a:ext uri="{FF2B5EF4-FFF2-40B4-BE49-F238E27FC236}">
                <a16:creationId xmlns:a16="http://schemas.microsoft.com/office/drawing/2014/main" id="{750A5AA0-1129-3611-1DAB-813E89FEE716}"/>
              </a:ext>
            </a:extLst>
          </p:cNvPr>
          <p:cNvSpPr txBox="1"/>
          <p:nvPr/>
        </p:nvSpPr>
        <p:spPr>
          <a:xfrm>
            <a:off x="5099432" y="3498981"/>
            <a:ext cx="1354794" cy="369332"/>
          </a:xfrm>
          <a:prstGeom prst="rect">
            <a:avLst/>
          </a:prstGeom>
          <a:noFill/>
        </p:spPr>
        <p:txBody>
          <a:bodyPr wrap="square" rtlCol="0">
            <a:spAutoFit/>
          </a:bodyPr>
          <a:lstStyle/>
          <a:p>
            <a:r>
              <a:rPr lang="en-US"/>
              <a:t>0 bp overlap</a:t>
            </a:r>
          </a:p>
        </p:txBody>
      </p:sp>
      <p:sp>
        <p:nvSpPr>
          <p:cNvPr id="13" name="TextBox 12">
            <a:extLst>
              <a:ext uri="{FF2B5EF4-FFF2-40B4-BE49-F238E27FC236}">
                <a16:creationId xmlns:a16="http://schemas.microsoft.com/office/drawing/2014/main" id="{9F1CE572-961A-AACD-849C-38F8CC5FDAF8}"/>
              </a:ext>
            </a:extLst>
          </p:cNvPr>
          <p:cNvSpPr txBox="1"/>
          <p:nvPr/>
        </p:nvSpPr>
        <p:spPr>
          <a:xfrm>
            <a:off x="7208452" y="3498981"/>
            <a:ext cx="1354794" cy="369332"/>
          </a:xfrm>
          <a:prstGeom prst="rect">
            <a:avLst/>
          </a:prstGeom>
          <a:noFill/>
        </p:spPr>
        <p:txBody>
          <a:bodyPr wrap="none" rtlCol="0">
            <a:spAutoFit/>
          </a:bodyPr>
          <a:lstStyle/>
          <a:p>
            <a:r>
              <a:rPr lang="en-US"/>
              <a:t>1 bp overlap</a:t>
            </a:r>
          </a:p>
        </p:txBody>
      </p:sp>
    </p:spTree>
    <p:extLst>
      <p:ext uri="{BB962C8B-B14F-4D97-AF65-F5344CB8AC3E}">
        <p14:creationId xmlns:p14="http://schemas.microsoft.com/office/powerpoint/2010/main" val="30855311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9E492C-2BBB-1798-1FFE-2A8A226B85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6FE828-2859-2593-2B3F-6CF9B2ACC138}"/>
              </a:ext>
            </a:extLst>
          </p:cNvPr>
          <p:cNvSpPr>
            <a:spLocks noGrp="1"/>
          </p:cNvSpPr>
          <p:nvPr>
            <p:ph type="title"/>
          </p:nvPr>
        </p:nvSpPr>
        <p:spPr/>
        <p:txBody>
          <a:bodyPr>
            <a:normAutofit fontScale="90000"/>
          </a:bodyPr>
          <a:lstStyle/>
          <a:p>
            <a:r>
              <a:rPr lang="en-US"/>
              <a:t>Real life correction to contig length</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A6C0A1E-F940-8A8B-DDFA-02DF5FFD5D21}"/>
                  </a:ext>
                </a:extLst>
              </p:cNvPr>
              <p:cNvSpPr>
                <a:spLocks noGrp="1"/>
              </p:cNvSpPr>
              <p:nvPr>
                <p:ph idx="1"/>
              </p:nvPr>
            </p:nvSpPr>
            <p:spPr>
              <a:xfrm>
                <a:off x="598620" y="1596540"/>
                <a:ext cx="10972800" cy="4886559"/>
              </a:xfrm>
            </p:spPr>
            <p:txBody>
              <a:bodyPr>
                <a:normAutofit fontScale="92500" lnSpcReduction="10000"/>
              </a:bodyPr>
              <a:lstStyle/>
              <a:p>
                <a:r>
                  <a:rPr lang="en-US"/>
                  <a:t>In reality a minimum overlap </a:t>
                </a:r>
                <a:r>
                  <a:rPr lang="en-US" i="1"/>
                  <a:t>O</a:t>
                </a:r>
                <a:r>
                  <a:rPr lang="en-US"/>
                  <a:t> is required to continue a contig.   Let </a:t>
                </a:r>
                <a14:m>
                  <m:oMath xmlns:m="http://schemas.openxmlformats.org/officeDocument/2006/math">
                    <m:r>
                      <a:rPr lang="en-US" i="1">
                        <a:latin typeface="Cambria Math" panose="02040503050406030204" pitchFamily="18" charset="0"/>
                        <a:ea typeface="Cambria Math" panose="02040503050406030204" pitchFamily="18" charset="0"/>
                      </a:rPr>
                      <m:t>𝜌</m:t>
                    </m:r>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𝑂</m:t>
                        </m:r>
                      </m:num>
                      <m:den>
                        <m:r>
                          <a:rPr lang="en-US" i="1">
                            <a:latin typeface="Cambria Math" panose="02040503050406030204" pitchFamily="18" charset="0"/>
                            <a:ea typeface="Cambria Math" panose="02040503050406030204" pitchFamily="18" charset="0"/>
                          </a:rPr>
                          <m:t>𝐿</m:t>
                        </m:r>
                      </m:den>
                    </m:f>
                    <m:r>
                      <a:rPr lang="en-US" i="1">
                        <a:latin typeface="Cambria Math" panose="02040503050406030204" pitchFamily="18" charset="0"/>
                        <a:ea typeface="Cambria Math" panose="02040503050406030204" pitchFamily="18" charset="0"/>
                      </a:rPr>
                      <m:t> </m:t>
                    </m:r>
                  </m:oMath>
                </a14:m>
                <a:r>
                  <a:rPr lang="en-US"/>
                  <a:t>. Our coverage </a:t>
                </a:r>
                <a14:m>
                  <m:oMath xmlns:m="http://schemas.openxmlformats.org/officeDocument/2006/math">
                    <m:r>
                      <m:rPr>
                        <m:nor/>
                      </m:rPr>
                      <a:rPr lang="en-US" i="1" dirty="0"/>
                      <m:t>λ</m:t>
                    </m:r>
                    <m:r>
                      <a:rPr lang="en-US" i="1" dirty="0">
                        <a:latin typeface="Cambria Math" panose="02040503050406030204" pitchFamily="18" charset="0"/>
                      </a:rPr>
                      <m:t> </m:t>
                    </m:r>
                  </m:oMath>
                </a14:m>
                <a:r>
                  <a:rPr lang="en-US"/>
                  <a:t>gets replaced by “effective” coverage </a:t>
                </a:r>
                <a14:m>
                  <m:oMath xmlns:m="http://schemas.openxmlformats.org/officeDocument/2006/math">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m:t>λ</m:t>
                    </m:r>
                  </m:oMath>
                </a14:m>
                <a:r>
                  <a:rPr lang="en-US"/>
                  <a:t>. Then expected number of contigs becomes:</a:t>
                </a:r>
                <a:br>
                  <a:rPr lang="en-US"/>
                </a:b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𝑁𝑒</m:t>
                        </m:r>
                      </m:e>
                      <m:sup>
                        <m:r>
                          <m:rPr>
                            <m:nor/>
                          </m:rPr>
                          <a:rPr lang="en-US" b="0" i="1" smtClean="0">
                            <a:latin typeface="Cambria Math" panose="02040503050406030204" pitchFamily="18" charset="0"/>
                          </a:rPr>
                          <m:t>−</m:t>
                        </m:r>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smtClean="0"/>
                          <m:t>λ</m:t>
                        </m:r>
                      </m:sup>
                    </m:sSup>
                  </m:oMath>
                </a14:m>
                <a:endParaRPr lang="en-US"/>
              </a:p>
              <a:p>
                <a:r>
                  <a:rPr lang="en-US"/>
                  <a:t>Corrected formula for average contig size (remember </a:t>
                </a:r>
                <a:r>
                  <a:rPr lang="en-US" i="1"/>
                  <a:t>λ = NL/G )</a:t>
                </a:r>
                <a:r>
                  <a:rPr lang="en-US"/>
                  <a:t>:</a:t>
                </a:r>
              </a:p>
              <a:p>
                <a:pPr marL="0" indent="0">
                  <a:buNone/>
                </a:pPr>
                <a:br>
                  <a:rPr lang="en-US"/>
                </a:br>
                <a14:m>
                  <m:oMath xmlns:m="http://schemas.openxmlformats.org/officeDocument/2006/math">
                    <m:r>
                      <a:rPr lang="en-US" b="0" i="1" smtClean="0">
                        <a:latin typeface="Cambria Math" panose="02040503050406030204" pitchFamily="18" charset="0"/>
                      </a:rPr>
                      <m:t>𝐶</m:t>
                    </m:r>
                    <m:r>
                      <a:rPr lang="en-US" i="1" smtClean="0">
                        <a:latin typeface="Cambria Math" panose="02040503050406030204" pitchFamily="18" charset="0"/>
                      </a:rPr>
                      <m:t>=</m:t>
                    </m:r>
                    <m:f>
                      <m:fPr>
                        <m:ctrlPr>
                          <a:rPr lang="en-US" b="0" i="1" smtClean="0">
                            <a:latin typeface="Cambria Math" panose="02040503050406030204" pitchFamily="18" charset="0"/>
                          </a:rPr>
                        </m:ctrlPr>
                      </m:fPr>
                      <m:num>
                        <m:sSup>
                          <m:sSupPr>
                            <m:ctrlPr>
                              <a:rPr lang="en-US" b="0" i="1" smtClean="0">
                                <a:latin typeface="Cambria Math" panose="02040503050406030204" pitchFamily="18" charset="0"/>
                              </a:rPr>
                            </m:ctrlPr>
                          </m:sSupPr>
                          <m:e>
                            <m:r>
                              <a:rPr lang="en-US" b="0" i="1" smtClean="0">
                                <a:latin typeface="Cambria Math" panose="02040503050406030204" pitchFamily="18" charset="0"/>
                              </a:rPr>
                              <m:t>𝐺</m:t>
                            </m:r>
                            <m:r>
                              <a:rPr lang="en-US" i="1">
                                <a:latin typeface="Cambria Math" panose="02040503050406030204" pitchFamily="18" charset="0"/>
                              </a:rPr>
                              <m:t>(</m:t>
                            </m:r>
                            <m:r>
                              <a:rPr lang="en-US" b="0" i="1" smtClean="0">
                                <a:latin typeface="Cambria Math" panose="02040503050406030204" pitchFamily="18" charset="0"/>
                              </a:rPr>
                              <m:t>1−</m:t>
                            </m:r>
                            <m:r>
                              <a:rPr lang="en-US" i="1">
                                <a:latin typeface="Cambria Math" panose="02040503050406030204" pitchFamily="18" charset="0"/>
                              </a:rPr>
                              <m:t>𝑒</m:t>
                            </m:r>
                          </m:e>
                          <m:sup>
                            <m:r>
                              <a:rPr lang="en-US" b="0" i="1" smtClean="0">
                                <a:latin typeface="Cambria Math" panose="02040503050406030204" pitchFamily="18" charset="0"/>
                              </a:rPr>
                              <m:t>−</m:t>
                            </m:r>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m:t>λ</m:t>
                            </m:r>
                          </m:sup>
                        </m:sSup>
                        <m:r>
                          <a:rPr lang="en-US" i="1" dirty="0">
                            <a:latin typeface="Cambria Math" panose="02040503050406030204" pitchFamily="18" charset="0"/>
                          </a:rPr>
                          <m:t>)</m:t>
                        </m:r>
                        <m:r>
                          <a:rPr lang="en-US" b="0" i="1" dirty="0" smtClean="0">
                            <a:latin typeface="Cambria Math" panose="02040503050406030204" pitchFamily="18" charset="0"/>
                          </a:rPr>
                          <m:t>+</m:t>
                        </m:r>
                        <m:r>
                          <a:rPr lang="en-US" b="0" i="1" dirty="0" smtClean="0">
                            <a:latin typeface="Cambria Math" panose="02040503050406030204" pitchFamily="18" charset="0"/>
                          </a:rPr>
                          <m:t>𝑂</m:t>
                        </m:r>
                        <m:sSup>
                          <m:sSupPr>
                            <m:ctrlPr>
                              <a:rPr lang="en-US" i="1">
                                <a:latin typeface="Cambria Math" panose="02040503050406030204" pitchFamily="18" charset="0"/>
                              </a:rPr>
                            </m:ctrlPr>
                          </m:sSupPr>
                          <m:e>
                            <m:r>
                              <a:rPr lang="en-US" i="1">
                                <a:latin typeface="Cambria Math" panose="02040503050406030204" pitchFamily="18" charset="0"/>
                              </a:rPr>
                              <m:t>𝑁𝑒</m:t>
                            </m:r>
                          </m:e>
                          <m:sup>
                            <m:r>
                              <m:rPr>
                                <m:nor/>
                              </m:rPr>
                              <a:rPr lang="en-US" b="0" i="1" smtClean="0">
                                <a:latin typeface="Cambria Math" panose="02040503050406030204" pitchFamily="18" charset="0"/>
                              </a:rPr>
                              <m:t>−</m:t>
                            </m:r>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m:t>λ</m:t>
                            </m:r>
                          </m:sup>
                        </m:sSup>
                      </m:num>
                      <m:den>
                        <m:sSup>
                          <m:sSupPr>
                            <m:ctrlPr>
                              <a:rPr lang="en-US" i="1">
                                <a:latin typeface="Cambria Math" panose="02040503050406030204" pitchFamily="18" charset="0"/>
                              </a:rPr>
                            </m:ctrlPr>
                          </m:sSupPr>
                          <m:e>
                            <m:r>
                              <a:rPr lang="en-US" i="1">
                                <a:latin typeface="Cambria Math" panose="02040503050406030204" pitchFamily="18" charset="0"/>
                              </a:rPr>
                              <m:t>𝑁𝑒</m:t>
                            </m:r>
                          </m:e>
                          <m:sup>
                            <m:r>
                              <m:rPr>
                                <m:nor/>
                              </m:rPr>
                              <a:rPr lang="en-US" b="0" i="1" smtClean="0">
                                <a:latin typeface="Cambria Math" panose="02040503050406030204" pitchFamily="18" charset="0"/>
                              </a:rPr>
                              <m:t>−</m:t>
                            </m:r>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m:t>λ</m:t>
                            </m:r>
                          </m:sup>
                        </m:sSup>
                      </m:den>
                    </m:f>
                    <m:r>
                      <a:rPr lang="en-US" b="0" i="0" smtClean="0">
                        <a:latin typeface="Cambria Math" panose="02040503050406030204" pitchFamily="18" charset="0"/>
                      </a:rPr>
                      <m:t>=</m:t>
                    </m:r>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i="1">
                                <a:latin typeface="Cambria Math" panose="02040503050406030204" pitchFamily="18" charset="0"/>
                              </a:rPr>
                              <m:t>𝐺</m:t>
                            </m:r>
                            <m:r>
                              <a:rPr lang="en-US" i="1">
                                <a:latin typeface="Cambria Math" panose="02040503050406030204" pitchFamily="18" charset="0"/>
                              </a:rPr>
                              <m:t>(</m:t>
                            </m:r>
                            <m:r>
                              <a:rPr lang="en-US" i="1">
                                <a:latin typeface="Cambria Math" panose="02040503050406030204" pitchFamily="18" charset="0"/>
                              </a:rPr>
                              <m:t>𝑒</m:t>
                            </m:r>
                          </m:e>
                          <m:sup>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m:t>λ</m:t>
                            </m:r>
                          </m:sup>
                        </m:sSup>
                        <m:r>
                          <a:rPr lang="en-US" b="0" i="1" dirty="0" smtClean="0">
                            <a:latin typeface="Cambria Math" panose="02040503050406030204" pitchFamily="18" charset="0"/>
                          </a:rPr>
                          <m:t>−1</m:t>
                        </m:r>
                        <m:r>
                          <a:rPr lang="en-US" i="1" dirty="0">
                            <a:latin typeface="Cambria Math" panose="02040503050406030204" pitchFamily="18" charset="0"/>
                          </a:rPr>
                          <m:t>)</m:t>
                        </m:r>
                      </m:num>
                      <m:den>
                        <m:r>
                          <a:rPr lang="en-US" b="0" i="1" dirty="0" smtClean="0">
                            <a:latin typeface="Cambria Math" panose="02040503050406030204" pitchFamily="18" charset="0"/>
                          </a:rPr>
                          <m:t>𝑁</m:t>
                        </m:r>
                      </m:den>
                    </m:f>
                    <m:r>
                      <a:rPr lang="en-US" b="0" i="1" dirty="0" smtClean="0">
                        <a:latin typeface="Cambria Math" panose="02040503050406030204" pitchFamily="18" charset="0"/>
                      </a:rPr>
                      <m:t>+</m:t>
                    </m:r>
                    <m:r>
                      <a:rPr lang="en-US" i="1" dirty="0">
                        <a:latin typeface="Cambria Math" panose="02040503050406030204" pitchFamily="18" charset="0"/>
                      </a:rPr>
                      <m:t>𝐿</m:t>
                    </m:r>
                    <m:r>
                      <a:rPr lang="el-GR" i="1" dirty="0">
                        <a:latin typeface="Cambria Math" panose="02040503050406030204" pitchFamily="18" charset="0"/>
                        <a:ea typeface="Cambria Math" panose="02040503050406030204" pitchFamily="18" charset="0"/>
                      </a:rPr>
                      <m:t>𝜌</m:t>
                    </m:r>
                  </m:oMath>
                </a14:m>
                <a:r>
                  <a:rPr lang="en-US" b="0"/>
                  <a:t>=</a:t>
                </a:r>
                <a:r>
                  <a:rPr lang="en-US"/>
                  <a:t> </a:t>
                </a:r>
                <a14:m>
                  <m:oMath xmlns:m="http://schemas.openxmlformats.org/officeDocument/2006/math">
                    <m:r>
                      <a:rPr lang="en-US" i="1">
                        <a:latin typeface="Cambria Math" panose="02040503050406030204" pitchFamily="18" charset="0"/>
                      </a:rPr>
                      <m:t>𝐿</m:t>
                    </m:r>
                    <m:d>
                      <m:dPr>
                        <m:ctrlPr>
                          <a:rPr lang="en-US" i="1">
                            <a:latin typeface="Cambria Math" panose="02040503050406030204" pitchFamily="18" charset="0"/>
                          </a:rPr>
                        </m:ctrlPr>
                      </m:dPr>
                      <m:e>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i="1">
                                    <a:latin typeface="Cambria Math" panose="02040503050406030204" pitchFamily="18" charset="0"/>
                                  </a:rPr>
                                  <m:t>𝑒</m:t>
                                </m:r>
                              </m:e>
                              <m:sup>
                                <m:d>
                                  <m:dPr>
                                    <m:ctrlPr>
                                      <a:rPr lang="en-US" i="1" dirty="0">
                                        <a:latin typeface="Cambria Math" panose="02040503050406030204" pitchFamily="18" charset="0"/>
                                      </a:rPr>
                                    </m:ctrlPr>
                                  </m:dPr>
                                  <m:e>
                                    <m:r>
                                      <a:rPr lang="en-US" i="1" dirty="0">
                                        <a:latin typeface="Cambria Math" panose="02040503050406030204" pitchFamily="18" charset="0"/>
                                      </a:rPr>
                                      <m:t>1−</m:t>
                                    </m:r>
                                    <m:r>
                                      <a:rPr lang="en-US" i="1" dirty="0">
                                        <a:latin typeface="Cambria Math" panose="02040503050406030204" pitchFamily="18" charset="0"/>
                                        <a:ea typeface="Cambria Math" panose="02040503050406030204" pitchFamily="18" charset="0"/>
                                      </a:rPr>
                                      <m:t>𝜌</m:t>
                                    </m:r>
                                  </m:e>
                                </m:d>
                                <m:r>
                                  <m:rPr>
                                    <m:nor/>
                                  </m:rPr>
                                  <a:rPr lang="en-US" i="1" dirty="0"/>
                                  <m:t>λ</m:t>
                                </m:r>
                              </m:sup>
                            </m:sSup>
                            <m:r>
                              <a:rPr lang="en-US" i="1">
                                <a:latin typeface="Cambria Math" panose="02040503050406030204" pitchFamily="18" charset="0"/>
                              </a:rPr>
                              <m:t>−1</m:t>
                            </m:r>
                          </m:num>
                          <m:den>
                            <m:r>
                              <m:rPr>
                                <m:nor/>
                              </m:rPr>
                              <a:rPr lang="en-US" i="1" dirty="0"/>
                              <m:t>λ</m:t>
                            </m:r>
                          </m:den>
                        </m:f>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𝜌</m:t>
                        </m:r>
                      </m:e>
                    </m:d>
                  </m:oMath>
                </a14:m>
                <a:endParaRPr lang="en-US" b="0"/>
              </a:p>
              <a:p>
                <a:pPr marL="0" indent="0">
                  <a:buNone/>
                </a:pPr>
                <a:endParaRPr lang="en-US"/>
              </a:p>
              <a:p>
                <a:r>
                  <a:rPr lang="en-US"/>
                  <a:t>What happens when </a:t>
                </a:r>
                <a14:m>
                  <m:oMath xmlns:m="http://schemas.openxmlformats.org/officeDocument/2006/math">
                    <m:r>
                      <a:rPr lang="en-US" i="1" smtClean="0">
                        <a:latin typeface="Cambria Math" panose="02040503050406030204" pitchFamily="18" charset="0"/>
                        <a:ea typeface="Cambria Math" panose="02040503050406030204" pitchFamily="18" charset="0"/>
                      </a:rPr>
                      <m:t>𝜌</m:t>
                    </m:r>
                    <m:r>
                      <a:rPr lang="en-US" i="1" smtClean="0">
                        <a:latin typeface="Cambria Math" panose="02040503050406030204" pitchFamily="18" charset="0"/>
                        <a:ea typeface="Cambria Math" panose="02040503050406030204" pitchFamily="18" charset="0"/>
                      </a:rPr>
                      <m:t>→1</m:t>
                    </m:r>
                  </m:oMath>
                </a14:m>
                <a:r>
                  <a:rPr lang="en-US"/>
                  <a:t>(very short reads) or when</a:t>
                </a:r>
                <a:r>
                  <a:rPr lang="en-US">
                    <a:ea typeface="Cambria Math" panose="02040503050406030204" pitchFamily="18" charset="0"/>
                  </a:rPr>
                  <a:t> </a:t>
                </a:r>
                <a14:m>
                  <m:oMath xmlns:m="http://schemas.openxmlformats.org/officeDocument/2006/math">
                    <m:r>
                      <a:rPr lang="en-US" i="1">
                        <a:latin typeface="Cambria Math" panose="02040503050406030204" pitchFamily="18" charset="0"/>
                        <a:ea typeface="Cambria Math" panose="02040503050406030204" pitchFamily="18" charset="0"/>
                      </a:rPr>
                      <m:t>𝜌</m:t>
                    </m:r>
                    <m:r>
                      <a:rPr lang="en-US" i="1">
                        <a:latin typeface="Cambria Math" panose="02040503050406030204" pitchFamily="18" charset="0"/>
                        <a:ea typeface="Cambria Math" panose="02040503050406030204" pitchFamily="18" charset="0"/>
                      </a:rPr>
                      <m:t>→0</m:t>
                    </m:r>
                  </m:oMath>
                </a14:m>
                <a:r>
                  <a:rPr lang="en-US" i="1"/>
                  <a:t> </a:t>
                </a:r>
                <a:r>
                  <a:rPr lang="en-US"/>
                  <a:t>(very long reads)  ?</a:t>
                </a:r>
              </a:p>
            </p:txBody>
          </p:sp>
        </mc:Choice>
        <mc:Fallback xmlns="">
          <p:sp>
            <p:nvSpPr>
              <p:cNvPr id="3" name="Content Placeholder 2">
                <a:extLst>
                  <a:ext uri="{FF2B5EF4-FFF2-40B4-BE49-F238E27FC236}">
                    <a16:creationId xmlns:a16="http://schemas.microsoft.com/office/drawing/2014/main" id="{7A6C0A1E-F940-8A8B-DDFA-02DF5FFD5D21}"/>
                  </a:ext>
                </a:extLst>
              </p:cNvPr>
              <p:cNvSpPr>
                <a:spLocks noGrp="1" noRot="1" noChangeAspect="1" noMove="1" noResize="1" noEditPoints="1" noAdjustHandles="1" noChangeArrowheads="1" noChangeShapeType="1" noTextEdit="1"/>
              </p:cNvSpPr>
              <p:nvPr>
                <p:ph idx="1"/>
              </p:nvPr>
            </p:nvSpPr>
            <p:spPr>
              <a:xfrm>
                <a:off x="598620" y="1596540"/>
                <a:ext cx="10972800" cy="4886559"/>
              </a:xfrm>
              <a:blipFill>
                <a:blip r:embed="rId2"/>
                <a:stretch>
                  <a:fillRect l="-833" t="-125" r="-1444"/>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C0D0638E-C7F1-E1B1-7CB6-792B40B9B424}"/>
              </a:ext>
            </a:extLst>
          </p:cNvPr>
          <p:cNvSpPr>
            <a:spLocks noGrp="1"/>
          </p:cNvSpPr>
          <p:nvPr>
            <p:ph type="sldNum" sz="quarter" idx="12"/>
          </p:nvPr>
        </p:nvSpPr>
        <p:spPr/>
        <p:txBody>
          <a:bodyPr/>
          <a:lstStyle/>
          <a:p>
            <a:fld id="{B82CCC60-E8CD-4174-8B1A-7DF615B22EEF}" type="slidenum">
              <a:rPr lang="en-US" smtClean="0"/>
              <a:pPr/>
              <a:t>11</a:t>
            </a:fld>
            <a:endParaRPr lang="en-US"/>
          </a:p>
        </p:txBody>
      </p:sp>
    </p:spTree>
    <p:extLst>
      <p:ext uri="{BB962C8B-B14F-4D97-AF65-F5344CB8AC3E}">
        <p14:creationId xmlns:p14="http://schemas.microsoft.com/office/powerpoint/2010/main" val="860761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A2FBA-E741-ED67-9D08-E1695661FF86}"/>
              </a:ext>
            </a:extLst>
          </p:cNvPr>
          <p:cNvSpPr>
            <a:spLocks noGrp="1"/>
          </p:cNvSpPr>
          <p:nvPr>
            <p:ph type="title"/>
          </p:nvPr>
        </p:nvSpPr>
        <p:spPr/>
        <p:txBody>
          <a:bodyPr>
            <a:normAutofit fontScale="90000"/>
          </a:bodyPr>
          <a:lstStyle/>
          <a:p>
            <a:r>
              <a:rPr lang="en-US"/>
              <a:t>Reads are Strings </a:t>
            </a:r>
          </a:p>
        </p:txBody>
      </p:sp>
      <p:sp>
        <p:nvSpPr>
          <p:cNvPr id="3" name="Content Placeholder 2">
            <a:extLst>
              <a:ext uri="{FF2B5EF4-FFF2-40B4-BE49-F238E27FC236}">
                <a16:creationId xmlns:a16="http://schemas.microsoft.com/office/drawing/2014/main" id="{763B08CF-B618-980B-A065-CC5C458CAB36}"/>
              </a:ext>
            </a:extLst>
          </p:cNvPr>
          <p:cNvSpPr>
            <a:spLocks noGrp="1"/>
          </p:cNvSpPr>
          <p:nvPr>
            <p:ph idx="1"/>
          </p:nvPr>
        </p:nvSpPr>
        <p:spPr>
          <a:xfrm>
            <a:off x="598620" y="1596540"/>
            <a:ext cx="10972800" cy="4759811"/>
          </a:xfrm>
        </p:spPr>
        <p:txBody>
          <a:bodyPr>
            <a:normAutofit/>
          </a:bodyPr>
          <a:lstStyle/>
          <a:p>
            <a:r>
              <a:rPr lang="en-US" i="1"/>
              <a:t>String S</a:t>
            </a:r>
            <a:r>
              <a:rPr lang="en-US"/>
              <a:t> is a finite sequence of characters from an alphabet </a:t>
            </a:r>
          </a:p>
          <a:p>
            <a:r>
              <a:rPr lang="en-US"/>
              <a:t>DNA alphabet is {A,C,G,T}</a:t>
            </a:r>
          </a:p>
          <a:p>
            <a:r>
              <a:rPr lang="en-US" i="1"/>
              <a:t>Substring</a:t>
            </a:r>
            <a:r>
              <a:rPr lang="en-US"/>
              <a:t> of </a:t>
            </a:r>
            <a:r>
              <a:rPr lang="en-US" i="1"/>
              <a:t>S </a:t>
            </a:r>
            <a:r>
              <a:rPr lang="en-US"/>
              <a:t>is a string occurring inside </a:t>
            </a:r>
            <a:r>
              <a:rPr lang="en-US" i="1"/>
              <a:t>S: </a:t>
            </a:r>
            <a:br>
              <a:rPr lang="en-US" i="1"/>
            </a:br>
            <a:r>
              <a:rPr lang="en-US"/>
              <a:t>AGTG</a:t>
            </a:r>
            <a:r>
              <a:rPr lang="en-US">
                <a:solidFill>
                  <a:srgbClr val="FF0000"/>
                </a:solidFill>
              </a:rPr>
              <a:t>ACATAA</a:t>
            </a:r>
            <a:r>
              <a:rPr lang="en-US"/>
              <a:t>GACT</a:t>
            </a:r>
          </a:p>
          <a:p>
            <a:r>
              <a:rPr lang="en-US" i="1"/>
              <a:t>Prefix </a:t>
            </a:r>
            <a:r>
              <a:rPr lang="en-US"/>
              <a:t>of </a:t>
            </a:r>
            <a:r>
              <a:rPr lang="en-US" i="1"/>
              <a:t>S </a:t>
            </a:r>
            <a:r>
              <a:rPr lang="en-US"/>
              <a:t>is a string starting at the beginning of </a:t>
            </a:r>
            <a:r>
              <a:rPr lang="en-US" i="1"/>
              <a:t>S:</a:t>
            </a:r>
            <a:br>
              <a:rPr lang="en-US" i="1"/>
            </a:br>
            <a:r>
              <a:rPr lang="en-US">
                <a:solidFill>
                  <a:srgbClr val="FF0000"/>
                </a:solidFill>
              </a:rPr>
              <a:t>AGTGAC</a:t>
            </a:r>
            <a:r>
              <a:rPr lang="en-US">
                <a:solidFill>
                  <a:schemeClr val="tx1"/>
                </a:solidFill>
              </a:rPr>
              <a:t>ATAAGACT</a:t>
            </a:r>
          </a:p>
          <a:p>
            <a:r>
              <a:rPr lang="en-US" i="1">
                <a:solidFill>
                  <a:schemeClr val="tx1"/>
                </a:solidFill>
              </a:rPr>
              <a:t>Suffix </a:t>
            </a:r>
            <a:r>
              <a:rPr lang="en-US">
                <a:solidFill>
                  <a:schemeClr val="tx1"/>
                </a:solidFill>
              </a:rPr>
              <a:t>of a string is a </a:t>
            </a:r>
            <a:r>
              <a:rPr lang="en-US"/>
              <a:t>string ending at the end of </a:t>
            </a:r>
            <a:r>
              <a:rPr lang="en-US" i="1"/>
              <a:t>S:</a:t>
            </a:r>
            <a:br>
              <a:rPr lang="en-US" i="1"/>
            </a:br>
            <a:r>
              <a:rPr lang="en-US">
                <a:solidFill>
                  <a:schemeClr val="tx1"/>
                </a:solidFill>
              </a:rPr>
              <a:t>AGTGACAT</a:t>
            </a:r>
            <a:r>
              <a:rPr lang="en-US">
                <a:solidFill>
                  <a:srgbClr val="FF0000"/>
                </a:solidFill>
              </a:rPr>
              <a:t>AAGACT</a:t>
            </a:r>
            <a:br>
              <a:rPr lang="en-US" i="1"/>
            </a:br>
            <a:endParaRPr lang="en-US" i="1">
              <a:solidFill>
                <a:schemeClr val="tx1"/>
              </a:solidFill>
            </a:endParaRPr>
          </a:p>
          <a:p>
            <a:pPr lvl="1"/>
            <a:endParaRPr lang="en-US"/>
          </a:p>
        </p:txBody>
      </p:sp>
      <p:sp>
        <p:nvSpPr>
          <p:cNvPr id="4" name="Slide Number Placeholder 3">
            <a:extLst>
              <a:ext uri="{FF2B5EF4-FFF2-40B4-BE49-F238E27FC236}">
                <a16:creationId xmlns:a16="http://schemas.microsoft.com/office/drawing/2014/main" id="{2F0BF18F-CEE1-643A-E14F-907665854ADF}"/>
              </a:ext>
            </a:extLst>
          </p:cNvPr>
          <p:cNvSpPr>
            <a:spLocks noGrp="1"/>
          </p:cNvSpPr>
          <p:nvPr>
            <p:ph type="sldNum" sz="quarter" idx="12"/>
          </p:nvPr>
        </p:nvSpPr>
        <p:spPr/>
        <p:txBody>
          <a:bodyPr/>
          <a:lstStyle/>
          <a:p>
            <a:fld id="{B82CCC60-E8CD-4174-8B1A-7DF615B22EEF}" type="slidenum">
              <a:rPr lang="en-US" smtClean="0"/>
              <a:pPr/>
              <a:t>12</a:t>
            </a:fld>
            <a:endParaRPr lang="en-US"/>
          </a:p>
        </p:txBody>
      </p:sp>
    </p:spTree>
    <p:extLst>
      <p:ext uri="{BB962C8B-B14F-4D97-AF65-F5344CB8AC3E}">
        <p14:creationId xmlns:p14="http://schemas.microsoft.com/office/powerpoint/2010/main" val="19542233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445F9D-A606-96D7-96F2-00128EF77E25}"/>
              </a:ext>
            </a:extLst>
          </p:cNvPr>
          <p:cNvSpPr>
            <a:spLocks noGrp="1"/>
          </p:cNvSpPr>
          <p:nvPr>
            <p:ph type="title"/>
          </p:nvPr>
        </p:nvSpPr>
        <p:spPr/>
        <p:txBody>
          <a:bodyPr>
            <a:normAutofit fontScale="90000"/>
          </a:bodyPr>
          <a:lstStyle/>
          <a:p>
            <a:r>
              <a:rPr lang="en-US"/>
              <a:t>Exact matching</a:t>
            </a:r>
          </a:p>
        </p:txBody>
      </p:sp>
      <p:sp>
        <p:nvSpPr>
          <p:cNvPr id="3" name="Content Placeholder 2">
            <a:extLst>
              <a:ext uri="{FF2B5EF4-FFF2-40B4-BE49-F238E27FC236}">
                <a16:creationId xmlns:a16="http://schemas.microsoft.com/office/drawing/2014/main" id="{D58CFCA6-7FE6-D9E1-0037-96B914591403}"/>
              </a:ext>
            </a:extLst>
          </p:cNvPr>
          <p:cNvSpPr>
            <a:spLocks noGrp="1"/>
          </p:cNvSpPr>
          <p:nvPr>
            <p:ph idx="1"/>
          </p:nvPr>
        </p:nvSpPr>
        <p:spPr>
          <a:xfrm>
            <a:off x="598620" y="1596540"/>
            <a:ext cx="10972800" cy="5124936"/>
          </a:xfrm>
        </p:spPr>
        <p:txBody>
          <a:bodyPr>
            <a:normAutofit fontScale="92500" lnSpcReduction="20000"/>
          </a:bodyPr>
          <a:lstStyle/>
          <a:p>
            <a:r>
              <a:rPr lang="en-US"/>
              <a:t>Find exact matches of two strings:</a:t>
            </a:r>
            <a:br>
              <a:rPr lang="en-US"/>
            </a:br>
            <a:r>
              <a:rPr lang="en-US">
                <a:latin typeface="Courier New" panose="02070309020205020404" pitchFamily="49" charset="0"/>
                <a:cs typeface="Courier New" panose="02070309020205020404" pitchFamily="49" charset="0"/>
              </a:rPr>
              <a:t>T: ATGATATGACATAGAC </a:t>
            </a:r>
            <a:r>
              <a:rPr lang="en-US"/>
              <a:t>and </a:t>
            </a:r>
            <a:r>
              <a:rPr lang="en-US">
                <a:latin typeface="Courier New" panose="02070309020205020404" pitchFamily="49" charset="0"/>
                <a:cs typeface="Courier New" panose="02070309020205020404" pitchFamily="49" charset="0"/>
              </a:rPr>
              <a:t>P: ATGAC</a:t>
            </a:r>
          </a:p>
          <a:p>
            <a:r>
              <a:rPr lang="en-US">
                <a:cs typeface="Courier New" panose="02070309020205020404" pitchFamily="49" charset="0"/>
              </a:rPr>
              <a:t>Naïve: check every position:</a:t>
            </a:r>
            <a:br>
              <a:rPr lang="en-US">
                <a:cs typeface="Courier New" panose="02070309020205020404" pitchFamily="49" charset="0"/>
              </a:rPr>
            </a:br>
            <a:r>
              <a:rPr lang="en-US">
                <a:latin typeface="Courier New" panose="02070309020205020404" pitchFamily="49" charset="0"/>
                <a:cs typeface="Courier New" panose="02070309020205020404" pitchFamily="49" charset="0"/>
              </a:rPr>
              <a:t>T:ATGAT</a:t>
            </a:r>
            <a:r>
              <a:rPr lang="en-US">
                <a:solidFill>
                  <a:srgbClr val="FF0000"/>
                </a:solidFill>
                <a:latin typeface="Courier New" panose="02070309020205020404" pitchFamily="49" charset="0"/>
                <a:cs typeface="Courier New" panose="02070309020205020404" pitchFamily="49" charset="0"/>
              </a:rPr>
              <a:t>ATGAC</a:t>
            </a:r>
            <a:r>
              <a:rPr lang="en-US">
                <a:latin typeface="Courier New" panose="02070309020205020404" pitchFamily="49" charset="0"/>
                <a:cs typeface="Courier New" panose="02070309020205020404" pitchFamily="49" charset="0"/>
              </a:rPr>
              <a:t>ATAGAC</a:t>
            </a:r>
            <a:br>
              <a:rPr lang="en-US">
                <a:latin typeface="Courier New" panose="02070309020205020404" pitchFamily="49" charset="0"/>
                <a:cs typeface="Courier New" panose="02070309020205020404" pitchFamily="49" charset="0"/>
              </a:rPr>
            </a:br>
            <a:r>
              <a:rPr lang="en-US">
                <a:latin typeface="Courier New" panose="02070309020205020404" pitchFamily="49" charset="0"/>
                <a:cs typeface="Courier New" panose="02070309020205020404" pitchFamily="49" charset="0"/>
              </a:rPr>
              <a:t>     P:</a:t>
            </a:r>
            <a:r>
              <a:rPr lang="en-US">
                <a:solidFill>
                  <a:schemeClr val="tx1"/>
                </a:solidFill>
                <a:latin typeface="Courier New" panose="02070309020205020404" pitchFamily="49" charset="0"/>
                <a:cs typeface="Courier New" panose="02070309020205020404" pitchFamily="49" charset="0"/>
              </a:rPr>
              <a:t>ATGAC</a:t>
            </a:r>
          </a:p>
          <a:p>
            <a:r>
              <a:rPr lang="en-US">
                <a:solidFill>
                  <a:schemeClr val="tx1"/>
                </a:solidFill>
                <a:cs typeface="Courier New" panose="02070309020205020404" pitchFamily="49" charset="0"/>
              </a:rPr>
              <a:t>Boyer-Moore bad character rule, skip pointless alignments: </a:t>
            </a:r>
          </a:p>
          <a:p>
            <a:pPr lvl="1"/>
            <a:r>
              <a:rPr lang="en-US">
                <a:solidFill>
                  <a:schemeClr val="tx1"/>
                </a:solidFill>
                <a:cs typeface="Courier New" panose="02070309020205020404" pitchFamily="49" charset="0"/>
              </a:rPr>
              <a:t>consider the character in T at which the comparison process failed (assuming such a failure occurred). </a:t>
            </a:r>
          </a:p>
          <a:p>
            <a:pPr lvl="1"/>
            <a:r>
              <a:rPr lang="en-US">
                <a:solidFill>
                  <a:schemeClr val="tx1"/>
                </a:solidFill>
                <a:cs typeface="Courier New" panose="02070309020205020404" pitchFamily="49" charset="0"/>
              </a:rPr>
              <a:t>Find the next occurrence of that character to the left in P </a:t>
            </a:r>
          </a:p>
          <a:p>
            <a:pPr lvl="1"/>
            <a:r>
              <a:rPr lang="en-US">
                <a:solidFill>
                  <a:schemeClr val="tx1"/>
                </a:solidFill>
                <a:cs typeface="Courier New" panose="02070309020205020404" pitchFamily="49" charset="0"/>
              </a:rPr>
              <a:t>Propose a shift which brings that occurrence in line with the mismatched occurrence in T. </a:t>
            </a:r>
          </a:p>
          <a:p>
            <a:pPr lvl="1"/>
            <a:r>
              <a:rPr lang="en-US">
                <a:solidFill>
                  <a:schemeClr val="tx1"/>
                </a:solidFill>
                <a:cs typeface="Courier New" panose="02070309020205020404" pitchFamily="49" charset="0"/>
              </a:rPr>
              <a:t>If the mismatched character does not occur to the left in P, a shift is proposed that moves the entirety of P past the point of mismatch.</a:t>
            </a:r>
            <a:endParaRPr lang="en-US">
              <a:solidFill>
                <a:schemeClr val="tx1"/>
              </a:solidFill>
              <a:latin typeface="Courier New" panose="02070309020205020404" pitchFamily="49" charset="0"/>
              <a:cs typeface="Courier New" panose="02070309020205020404" pitchFamily="49" charset="0"/>
            </a:endParaRPr>
          </a:p>
        </p:txBody>
      </p:sp>
      <p:sp>
        <p:nvSpPr>
          <p:cNvPr id="4" name="Slide Number Placeholder 3">
            <a:extLst>
              <a:ext uri="{FF2B5EF4-FFF2-40B4-BE49-F238E27FC236}">
                <a16:creationId xmlns:a16="http://schemas.microsoft.com/office/drawing/2014/main" id="{5FFDE77F-7C0F-F48C-3D01-1DFDBFD61758}"/>
              </a:ext>
            </a:extLst>
          </p:cNvPr>
          <p:cNvSpPr>
            <a:spLocks noGrp="1"/>
          </p:cNvSpPr>
          <p:nvPr>
            <p:ph type="sldNum" sz="quarter" idx="12"/>
          </p:nvPr>
        </p:nvSpPr>
        <p:spPr/>
        <p:txBody>
          <a:bodyPr/>
          <a:lstStyle/>
          <a:p>
            <a:fld id="{B82CCC60-E8CD-4174-8B1A-7DF615B22EEF}" type="slidenum">
              <a:rPr lang="en-US" smtClean="0"/>
              <a:pPr/>
              <a:t>13</a:t>
            </a:fld>
            <a:endParaRPr lang="en-US"/>
          </a:p>
        </p:txBody>
      </p:sp>
    </p:spTree>
    <p:extLst>
      <p:ext uri="{BB962C8B-B14F-4D97-AF65-F5344CB8AC3E}">
        <p14:creationId xmlns:p14="http://schemas.microsoft.com/office/powerpoint/2010/main" val="37493915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421A98-641C-1F1A-55DD-85075A50D2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B2FF7C-A755-5908-A39A-3BE02A26D86F}"/>
              </a:ext>
            </a:extLst>
          </p:cNvPr>
          <p:cNvSpPr>
            <a:spLocks noGrp="1"/>
          </p:cNvSpPr>
          <p:nvPr>
            <p:ph type="title"/>
          </p:nvPr>
        </p:nvSpPr>
        <p:spPr/>
        <p:txBody>
          <a:bodyPr>
            <a:normAutofit fontScale="90000"/>
          </a:bodyPr>
          <a:lstStyle/>
          <a:p>
            <a:r>
              <a:rPr lang="en-US"/>
              <a:t>Exact matching</a:t>
            </a:r>
          </a:p>
        </p:txBody>
      </p:sp>
      <p:sp>
        <p:nvSpPr>
          <p:cNvPr id="3" name="Content Placeholder 2">
            <a:extLst>
              <a:ext uri="{FF2B5EF4-FFF2-40B4-BE49-F238E27FC236}">
                <a16:creationId xmlns:a16="http://schemas.microsoft.com/office/drawing/2014/main" id="{88113FF4-9569-29CC-FB50-A2B123445741}"/>
              </a:ext>
            </a:extLst>
          </p:cNvPr>
          <p:cNvSpPr>
            <a:spLocks noGrp="1"/>
          </p:cNvSpPr>
          <p:nvPr>
            <p:ph idx="1"/>
          </p:nvPr>
        </p:nvSpPr>
        <p:spPr>
          <a:xfrm>
            <a:off x="598620" y="1596540"/>
            <a:ext cx="10972800" cy="5124936"/>
          </a:xfrm>
        </p:spPr>
        <p:txBody>
          <a:bodyPr>
            <a:normAutofit lnSpcReduction="10000"/>
          </a:bodyPr>
          <a:lstStyle/>
          <a:p>
            <a:r>
              <a:rPr lang="en-US">
                <a:solidFill>
                  <a:schemeClr val="tx1"/>
                </a:solidFill>
                <a:cs typeface="Courier New" panose="02070309020205020404" pitchFamily="49" charset="0"/>
              </a:rPr>
              <a:t>Boyer-Moore bad character rule, skip pointless alignments:</a:t>
            </a:r>
            <a:br>
              <a:rPr lang="en-US">
                <a:solidFill>
                  <a:schemeClr val="tx1"/>
                </a:solidFill>
                <a:cs typeface="Courier New" panose="02070309020205020404" pitchFamily="49" charset="0"/>
              </a:rPr>
            </a:br>
            <a:r>
              <a:rPr lang="en-US">
                <a:solidFill>
                  <a:schemeClr val="tx1"/>
                </a:solidFill>
                <a:latin typeface="Courier New" panose="02070309020205020404" pitchFamily="49" charset="0"/>
                <a:cs typeface="Courier New" panose="02070309020205020404" pitchFamily="49" charset="0"/>
              </a:rPr>
              <a:t>T:</a:t>
            </a:r>
            <a:r>
              <a:rPr lang="en-US">
                <a:latin typeface="Courier New" panose="02070309020205020404" pitchFamily="49" charset="0"/>
                <a:cs typeface="Courier New" panose="02070309020205020404" pitchFamily="49" charset="0"/>
              </a:rPr>
              <a:t>ATGAT</a:t>
            </a:r>
            <a:r>
              <a:rPr lang="en-US">
                <a:solidFill>
                  <a:srgbClr val="FF0000"/>
                </a:solidFill>
                <a:latin typeface="Courier New" panose="02070309020205020404" pitchFamily="49" charset="0"/>
                <a:cs typeface="Courier New" panose="02070309020205020404" pitchFamily="49" charset="0"/>
              </a:rPr>
              <a:t>ATGAC</a:t>
            </a:r>
            <a:r>
              <a:rPr lang="en-US">
                <a:latin typeface="Courier New" panose="02070309020205020404" pitchFamily="49" charset="0"/>
                <a:cs typeface="Courier New" panose="02070309020205020404" pitchFamily="49" charset="0"/>
              </a:rPr>
              <a:t>ATAGAC</a:t>
            </a:r>
            <a:br>
              <a:rPr lang="en-US">
                <a:latin typeface="Courier New" panose="02070309020205020404" pitchFamily="49" charset="0"/>
                <a:cs typeface="Courier New" panose="02070309020205020404" pitchFamily="49" charset="0"/>
              </a:rPr>
            </a:br>
            <a:r>
              <a:rPr lang="en-US">
                <a:latin typeface="Courier New" panose="02070309020205020404" pitchFamily="49" charset="0"/>
                <a:cs typeface="Courier New" panose="02070309020205020404" pitchFamily="49" charset="0"/>
              </a:rPr>
              <a:t>P:</a:t>
            </a:r>
            <a:r>
              <a:rPr lang="en-US">
                <a:solidFill>
                  <a:schemeClr val="tx1"/>
                </a:solidFill>
                <a:latin typeface="Courier New" panose="02070309020205020404" pitchFamily="49" charset="0"/>
                <a:cs typeface="Courier New" panose="02070309020205020404" pitchFamily="49" charset="0"/>
              </a:rPr>
              <a:t>ATGAC</a:t>
            </a:r>
            <a:br>
              <a:rPr lang="en-US">
                <a:solidFill>
                  <a:srgbClr val="FF0000"/>
                </a:solidFill>
                <a:latin typeface="Courier New" panose="02070309020205020404" pitchFamily="49" charset="0"/>
                <a:cs typeface="Courier New" panose="02070309020205020404" pitchFamily="49" charset="0"/>
              </a:rPr>
            </a:br>
            <a:r>
              <a:rPr lang="en-US">
                <a:solidFill>
                  <a:schemeClr val="tx1"/>
                </a:solidFill>
                <a:latin typeface="+mj-lt"/>
                <a:cs typeface="Courier New" panose="02070309020205020404" pitchFamily="49" charset="0"/>
              </a:rPr>
              <a:t>check last character – if no match skip to the first occurrence, aligning the T</a:t>
            </a:r>
            <a:br>
              <a:rPr lang="en-US">
                <a:solidFill>
                  <a:schemeClr val="tx1"/>
                </a:solidFill>
                <a:latin typeface="+mj-lt"/>
                <a:cs typeface="Courier New" panose="02070309020205020404" pitchFamily="49" charset="0"/>
              </a:rPr>
            </a:br>
            <a:r>
              <a:rPr lang="en-US">
                <a:solidFill>
                  <a:schemeClr val="tx1"/>
                </a:solidFill>
                <a:latin typeface="Courier New" panose="02070309020205020404" pitchFamily="49" charset="0"/>
                <a:cs typeface="Courier New" panose="02070309020205020404" pitchFamily="49" charset="0"/>
              </a:rPr>
              <a:t>T:</a:t>
            </a:r>
            <a:r>
              <a:rPr lang="en-US">
                <a:latin typeface="Courier New" panose="02070309020205020404" pitchFamily="49" charset="0"/>
                <a:cs typeface="Courier New" panose="02070309020205020404" pitchFamily="49" charset="0"/>
              </a:rPr>
              <a:t>ATGAT</a:t>
            </a:r>
            <a:r>
              <a:rPr lang="en-US">
                <a:solidFill>
                  <a:srgbClr val="FF0000"/>
                </a:solidFill>
                <a:latin typeface="Courier New" panose="02070309020205020404" pitchFamily="49" charset="0"/>
                <a:cs typeface="Courier New" panose="02070309020205020404" pitchFamily="49" charset="0"/>
              </a:rPr>
              <a:t>ATGAC</a:t>
            </a:r>
            <a:r>
              <a:rPr lang="en-US">
                <a:latin typeface="Courier New" panose="02070309020205020404" pitchFamily="49" charset="0"/>
                <a:cs typeface="Courier New" panose="02070309020205020404" pitchFamily="49" charset="0"/>
              </a:rPr>
              <a:t>ATAGAC</a:t>
            </a:r>
            <a:br>
              <a:rPr lang="en-US">
                <a:latin typeface="Courier New" panose="02070309020205020404" pitchFamily="49" charset="0"/>
                <a:cs typeface="Courier New" panose="02070309020205020404" pitchFamily="49" charset="0"/>
              </a:rPr>
            </a:br>
            <a:r>
              <a:rPr lang="en-US">
                <a:latin typeface="Courier New" panose="02070309020205020404" pitchFamily="49" charset="0"/>
                <a:cs typeface="Courier New" panose="02070309020205020404" pitchFamily="49" charset="0"/>
              </a:rPr>
              <a:t>P:</a:t>
            </a:r>
            <a:r>
              <a:rPr lang="en-US">
                <a:solidFill>
                  <a:schemeClr val="tx1"/>
                </a:solidFill>
                <a:latin typeface="Courier New" panose="02070309020205020404" pitchFamily="49" charset="0"/>
                <a:cs typeface="Courier New" panose="02070309020205020404" pitchFamily="49" charset="0"/>
              </a:rPr>
              <a:t>ATGAC</a:t>
            </a:r>
            <a:br>
              <a:rPr lang="en-US">
                <a:latin typeface="Courier New" panose="02070309020205020404" pitchFamily="49" charset="0"/>
                <a:cs typeface="Courier New" panose="02070309020205020404" pitchFamily="49" charset="0"/>
              </a:rPr>
            </a:br>
            <a:r>
              <a:rPr lang="en-US">
                <a:latin typeface="Courier New" panose="02070309020205020404" pitchFamily="49" charset="0"/>
                <a:cs typeface="Courier New" panose="02070309020205020404" pitchFamily="49" charset="0"/>
              </a:rPr>
              <a:t>   P:</a:t>
            </a:r>
            <a:r>
              <a:rPr lang="en-US">
                <a:solidFill>
                  <a:schemeClr val="tx1"/>
                </a:solidFill>
                <a:latin typeface="Courier New" panose="02070309020205020404" pitchFamily="49" charset="0"/>
                <a:cs typeface="Courier New" panose="02070309020205020404" pitchFamily="49" charset="0"/>
              </a:rPr>
              <a:t>ATGAC</a:t>
            </a:r>
            <a:br>
              <a:rPr lang="en-US">
                <a:solidFill>
                  <a:schemeClr val="tx1"/>
                </a:solidFill>
                <a:latin typeface="Courier New" panose="02070309020205020404" pitchFamily="49" charset="0"/>
                <a:cs typeface="Courier New" panose="02070309020205020404" pitchFamily="49" charset="0"/>
              </a:rPr>
            </a:br>
            <a:r>
              <a:rPr lang="en-US">
                <a:solidFill>
                  <a:schemeClr val="tx1"/>
                </a:solidFill>
                <a:latin typeface="Courier New" panose="02070309020205020404" pitchFamily="49" charset="0"/>
                <a:cs typeface="Courier New" panose="02070309020205020404" pitchFamily="49" charset="0"/>
              </a:rPr>
              <a:t>     </a:t>
            </a:r>
            <a:r>
              <a:rPr lang="en-US">
                <a:latin typeface="Courier New" panose="02070309020205020404" pitchFamily="49" charset="0"/>
                <a:cs typeface="Courier New" panose="02070309020205020404" pitchFamily="49" charset="0"/>
              </a:rPr>
              <a:t>P:</a:t>
            </a:r>
            <a:r>
              <a:rPr lang="en-US">
                <a:solidFill>
                  <a:srgbClr val="FF0000"/>
                </a:solidFill>
                <a:latin typeface="Courier New" panose="02070309020205020404" pitchFamily="49" charset="0"/>
                <a:cs typeface="Courier New" panose="02070309020205020404" pitchFamily="49" charset="0"/>
              </a:rPr>
              <a:t>ATGAC</a:t>
            </a:r>
            <a:br>
              <a:rPr lang="en-US">
                <a:solidFill>
                  <a:schemeClr val="tx1"/>
                </a:solidFill>
                <a:latin typeface="Courier New" panose="02070309020205020404" pitchFamily="49" charset="0"/>
                <a:cs typeface="Courier New" panose="02070309020205020404" pitchFamily="49" charset="0"/>
              </a:rPr>
            </a:br>
            <a:r>
              <a:rPr lang="en-US">
                <a:solidFill>
                  <a:schemeClr val="tx1"/>
                </a:solidFill>
                <a:latin typeface="Courier New" panose="02070309020205020404" pitchFamily="49" charset="0"/>
                <a:cs typeface="Courier New" panose="02070309020205020404" pitchFamily="49" charset="0"/>
              </a:rPr>
              <a:t>      </a:t>
            </a:r>
            <a:r>
              <a:rPr lang="en-US">
                <a:latin typeface="Courier New" panose="02070309020205020404" pitchFamily="49" charset="0"/>
                <a:cs typeface="Courier New" panose="02070309020205020404" pitchFamily="49" charset="0"/>
              </a:rPr>
              <a:t>P:</a:t>
            </a:r>
            <a:r>
              <a:rPr lang="en-US">
                <a:solidFill>
                  <a:schemeClr val="tx1"/>
                </a:solidFill>
                <a:latin typeface="Courier New" panose="02070309020205020404" pitchFamily="49" charset="0"/>
                <a:cs typeface="Courier New" panose="02070309020205020404" pitchFamily="49" charset="0"/>
              </a:rPr>
              <a:t>ATGAC</a:t>
            </a:r>
            <a:br>
              <a:rPr lang="en-US">
                <a:solidFill>
                  <a:srgbClr val="FF0000"/>
                </a:solidFill>
                <a:latin typeface="Courier New" panose="02070309020205020404" pitchFamily="49" charset="0"/>
                <a:cs typeface="Courier New" panose="02070309020205020404" pitchFamily="49" charset="0"/>
              </a:rPr>
            </a:br>
            <a:r>
              <a:rPr lang="en-US">
                <a:solidFill>
                  <a:srgbClr val="FF0000"/>
                </a:solidFill>
                <a:latin typeface="Courier New" panose="02070309020205020404" pitchFamily="49" charset="0"/>
                <a:cs typeface="Courier New" panose="02070309020205020404" pitchFamily="49" charset="0"/>
              </a:rPr>
              <a:t>       </a:t>
            </a:r>
            <a:r>
              <a:rPr lang="en-US">
                <a:latin typeface="Courier New" panose="02070309020205020404" pitchFamily="49" charset="0"/>
                <a:cs typeface="Courier New" panose="02070309020205020404" pitchFamily="49" charset="0"/>
              </a:rPr>
              <a:t>P:</a:t>
            </a:r>
            <a:r>
              <a:rPr lang="en-US">
                <a:solidFill>
                  <a:schemeClr val="tx1"/>
                </a:solidFill>
                <a:latin typeface="Courier New" panose="02070309020205020404" pitchFamily="49" charset="0"/>
                <a:cs typeface="Courier New" panose="02070309020205020404" pitchFamily="49" charset="0"/>
              </a:rPr>
              <a:t>ATGAC</a:t>
            </a:r>
            <a:br>
              <a:rPr lang="en-US">
                <a:solidFill>
                  <a:schemeClr val="tx1"/>
                </a:solidFill>
                <a:latin typeface="Courier New" panose="02070309020205020404" pitchFamily="49" charset="0"/>
                <a:cs typeface="Courier New" panose="02070309020205020404" pitchFamily="49" charset="0"/>
              </a:rPr>
            </a:br>
            <a:r>
              <a:rPr lang="en-US">
                <a:solidFill>
                  <a:schemeClr val="tx1"/>
                </a:solidFill>
                <a:latin typeface="Courier New" panose="02070309020205020404" pitchFamily="49" charset="0"/>
                <a:cs typeface="Courier New" panose="02070309020205020404" pitchFamily="49" charset="0"/>
              </a:rPr>
              <a:t>          </a:t>
            </a:r>
            <a:r>
              <a:rPr lang="en-US">
                <a:latin typeface="Courier New" panose="02070309020205020404" pitchFamily="49" charset="0"/>
                <a:cs typeface="Courier New" panose="02070309020205020404" pitchFamily="49" charset="0"/>
              </a:rPr>
              <a:t>P:</a:t>
            </a:r>
            <a:r>
              <a:rPr lang="en-US">
                <a:solidFill>
                  <a:schemeClr val="tx1"/>
                </a:solidFill>
                <a:latin typeface="Courier New" panose="02070309020205020404" pitchFamily="49" charset="0"/>
                <a:cs typeface="Courier New" panose="02070309020205020404" pitchFamily="49" charset="0"/>
              </a:rPr>
              <a:t>ATGAC</a:t>
            </a:r>
            <a:br>
              <a:rPr lang="en-US">
                <a:solidFill>
                  <a:schemeClr val="tx1"/>
                </a:solidFill>
                <a:latin typeface="Courier New" panose="02070309020205020404" pitchFamily="49" charset="0"/>
                <a:cs typeface="Courier New" panose="02070309020205020404" pitchFamily="49" charset="0"/>
              </a:rPr>
            </a:br>
            <a:r>
              <a:rPr lang="en-US">
                <a:solidFill>
                  <a:schemeClr val="tx1"/>
                </a:solidFill>
                <a:latin typeface="Courier New" panose="02070309020205020404" pitchFamily="49" charset="0"/>
                <a:cs typeface="Courier New" panose="02070309020205020404" pitchFamily="49" charset="0"/>
              </a:rPr>
              <a:t>           </a:t>
            </a:r>
            <a:r>
              <a:rPr lang="en-US">
                <a:latin typeface="Courier New" panose="02070309020205020404" pitchFamily="49" charset="0"/>
                <a:cs typeface="Courier New" panose="02070309020205020404" pitchFamily="49" charset="0"/>
              </a:rPr>
              <a:t>P:</a:t>
            </a:r>
            <a:r>
              <a:rPr lang="en-US">
                <a:solidFill>
                  <a:schemeClr val="tx1"/>
                </a:solidFill>
                <a:latin typeface="Courier New" panose="02070309020205020404" pitchFamily="49" charset="0"/>
                <a:cs typeface="Courier New" panose="02070309020205020404" pitchFamily="49" charset="0"/>
              </a:rPr>
              <a:t>ATGAC</a:t>
            </a:r>
          </a:p>
          <a:p>
            <a:pPr marL="0" indent="0">
              <a:buNone/>
            </a:pPr>
            <a:endParaRPr lang="en-US">
              <a:solidFill>
                <a:schemeClr val="tx1"/>
              </a:solidFill>
              <a:latin typeface="Courier New" panose="02070309020205020404" pitchFamily="49" charset="0"/>
              <a:cs typeface="Courier New" panose="02070309020205020404" pitchFamily="49" charset="0"/>
            </a:endParaRPr>
          </a:p>
        </p:txBody>
      </p:sp>
      <p:sp>
        <p:nvSpPr>
          <p:cNvPr id="4" name="Slide Number Placeholder 3">
            <a:extLst>
              <a:ext uri="{FF2B5EF4-FFF2-40B4-BE49-F238E27FC236}">
                <a16:creationId xmlns:a16="http://schemas.microsoft.com/office/drawing/2014/main" id="{954918AD-0877-1A9F-799F-8C0DA0464419}"/>
              </a:ext>
            </a:extLst>
          </p:cNvPr>
          <p:cNvSpPr>
            <a:spLocks noGrp="1"/>
          </p:cNvSpPr>
          <p:nvPr>
            <p:ph type="sldNum" sz="quarter" idx="12"/>
          </p:nvPr>
        </p:nvSpPr>
        <p:spPr/>
        <p:txBody>
          <a:bodyPr/>
          <a:lstStyle/>
          <a:p>
            <a:fld id="{B82CCC60-E8CD-4174-8B1A-7DF615B22EEF}" type="slidenum">
              <a:rPr lang="en-US" smtClean="0"/>
              <a:pPr/>
              <a:t>14</a:t>
            </a:fld>
            <a:endParaRPr lang="en-US"/>
          </a:p>
        </p:txBody>
      </p:sp>
    </p:spTree>
    <p:extLst>
      <p:ext uri="{BB962C8B-B14F-4D97-AF65-F5344CB8AC3E}">
        <p14:creationId xmlns:p14="http://schemas.microsoft.com/office/powerpoint/2010/main" val="8532300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3B2F2-B95F-941E-0F2E-11BB4078F722}"/>
              </a:ext>
            </a:extLst>
          </p:cNvPr>
          <p:cNvSpPr>
            <a:spLocks noGrp="1"/>
          </p:cNvSpPr>
          <p:nvPr>
            <p:ph type="title"/>
          </p:nvPr>
        </p:nvSpPr>
        <p:spPr/>
        <p:txBody>
          <a:bodyPr>
            <a:normAutofit fontScale="90000"/>
          </a:bodyPr>
          <a:lstStyle/>
          <a:p>
            <a:r>
              <a:rPr lang="en-US"/>
              <a:t>What is an alignment (overlap)?</a:t>
            </a:r>
          </a:p>
        </p:txBody>
      </p:sp>
      <p:sp>
        <p:nvSpPr>
          <p:cNvPr id="3" name="Content Placeholder 2">
            <a:extLst>
              <a:ext uri="{FF2B5EF4-FFF2-40B4-BE49-F238E27FC236}">
                <a16:creationId xmlns:a16="http://schemas.microsoft.com/office/drawing/2014/main" id="{D08A7DB0-B730-9261-57CC-67327D0169EA}"/>
              </a:ext>
            </a:extLst>
          </p:cNvPr>
          <p:cNvSpPr>
            <a:spLocks noGrp="1"/>
          </p:cNvSpPr>
          <p:nvPr>
            <p:ph idx="1"/>
          </p:nvPr>
        </p:nvSpPr>
        <p:spPr>
          <a:xfrm>
            <a:off x="751325" y="1811548"/>
            <a:ext cx="10972800" cy="4314616"/>
          </a:xfrm>
        </p:spPr>
        <p:txBody>
          <a:bodyPr>
            <a:normAutofit/>
          </a:bodyPr>
          <a:lstStyle/>
          <a:p>
            <a:r>
              <a:rPr lang="en-US" dirty="0"/>
              <a:t>An </a:t>
            </a:r>
            <a:r>
              <a:rPr lang="en-US" u="sng" dirty="0"/>
              <a:t>alignment</a:t>
            </a:r>
            <a:r>
              <a:rPr lang="en-US" dirty="0"/>
              <a:t> does </a:t>
            </a:r>
            <a:r>
              <a:rPr lang="en-US" u="sng" dirty="0"/>
              <a:t>not</a:t>
            </a:r>
            <a:r>
              <a:rPr lang="en-US" dirty="0"/>
              <a:t> need to be an </a:t>
            </a:r>
            <a:r>
              <a:rPr lang="en-US" u="sng" dirty="0"/>
              <a:t>exact</a:t>
            </a:r>
            <a:r>
              <a:rPr lang="en-US" dirty="0"/>
              <a:t> match </a:t>
            </a:r>
          </a:p>
          <a:p>
            <a:r>
              <a:rPr lang="en-US" dirty="0"/>
              <a:t>Given: </a:t>
            </a:r>
          </a:p>
          <a:p>
            <a:pPr marL="457200" lvl="1" indent="0">
              <a:buNone/>
            </a:pPr>
            <a:r>
              <a:rPr lang="en-US" sz="2800" dirty="0"/>
              <a:t>– a pair of strings</a:t>
            </a:r>
          </a:p>
          <a:p>
            <a:pPr marL="457200" lvl="1" indent="0">
              <a:buNone/>
            </a:pPr>
            <a:r>
              <a:rPr lang="en-US" sz="2800" dirty="0"/>
              <a:t>– a method for scoring a candidate alignment </a:t>
            </a:r>
          </a:p>
          <a:p>
            <a:r>
              <a:rPr lang="en-US" dirty="0"/>
              <a:t>Do: </a:t>
            </a:r>
          </a:p>
          <a:p>
            <a:pPr marL="457200" lvl="1" indent="0">
              <a:buNone/>
            </a:pPr>
            <a:r>
              <a:rPr lang="en-US" sz="2800" dirty="0"/>
              <a:t>– determine the correspondences between substrings in </a:t>
            </a:r>
            <a:br>
              <a:rPr lang="en-US" sz="2800" dirty="0"/>
            </a:br>
            <a:r>
              <a:rPr lang="en-US" sz="2800" dirty="0"/>
              <a:t>the sequences such that the similarity score is maximized </a:t>
            </a:r>
          </a:p>
        </p:txBody>
      </p:sp>
    </p:spTree>
    <p:extLst>
      <p:ext uri="{BB962C8B-B14F-4D97-AF65-F5344CB8AC3E}">
        <p14:creationId xmlns:p14="http://schemas.microsoft.com/office/powerpoint/2010/main" val="34997968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A21731-64A5-F736-B3FD-39E5ADFE3AF4}"/>
              </a:ext>
            </a:extLst>
          </p:cNvPr>
          <p:cNvSpPr>
            <a:spLocks noGrp="1"/>
          </p:cNvSpPr>
          <p:nvPr>
            <p:ph type="title"/>
          </p:nvPr>
        </p:nvSpPr>
        <p:spPr/>
        <p:txBody>
          <a:bodyPr>
            <a:normAutofit fontScale="90000"/>
          </a:bodyPr>
          <a:lstStyle/>
          <a:p>
            <a:r>
              <a:rPr lang="en-US"/>
              <a:t>Example of an alignment (overlap)</a:t>
            </a:r>
          </a:p>
        </p:txBody>
      </p:sp>
      <p:sp>
        <p:nvSpPr>
          <p:cNvPr id="3" name="Content Placeholder 2">
            <a:extLst>
              <a:ext uri="{FF2B5EF4-FFF2-40B4-BE49-F238E27FC236}">
                <a16:creationId xmlns:a16="http://schemas.microsoft.com/office/drawing/2014/main" id="{408EE85E-5231-A748-CFFB-3F931E59DF9D}"/>
              </a:ext>
            </a:extLst>
          </p:cNvPr>
          <p:cNvSpPr>
            <a:spLocks noGrp="1"/>
          </p:cNvSpPr>
          <p:nvPr>
            <p:ph idx="1"/>
          </p:nvPr>
        </p:nvSpPr>
        <p:spPr/>
        <p:txBody>
          <a:bodyPr>
            <a:normAutofit lnSpcReduction="10000"/>
          </a:bodyPr>
          <a:lstStyle/>
          <a:p>
            <a:r>
              <a:rPr lang="en-US"/>
              <a:t>Alignment of two DNA sequences</a:t>
            </a:r>
          </a:p>
          <a:p>
            <a:pPr marL="0" indent="0">
              <a:buNone/>
            </a:pPr>
            <a:r>
              <a:rPr lang="en-US" b="1">
                <a:latin typeface="Courier New" panose="02070309020205020404" pitchFamily="49" charset="0"/>
                <a:cs typeface="Courier New" panose="02070309020205020404" pitchFamily="49" charset="0"/>
              </a:rPr>
              <a:t>AGCGAACGCTGAACGCTAGACCG</a:t>
            </a:r>
          </a:p>
          <a:p>
            <a:pPr marL="0" indent="0">
              <a:buNone/>
            </a:pPr>
            <a:r>
              <a:rPr lang="en-US">
                <a:cs typeface="Courier New" panose="02070309020205020404" pitchFamily="49" charset="0"/>
              </a:rPr>
              <a:t>                        and</a:t>
            </a:r>
          </a:p>
          <a:p>
            <a:pPr marL="0" indent="0">
              <a:buNone/>
            </a:pPr>
            <a:r>
              <a:rPr lang="en-US" b="1">
                <a:latin typeface="Courier New" panose="02070309020205020404" pitchFamily="49" charset="0"/>
                <a:cs typeface="Courier New" panose="02070309020205020404" pitchFamily="49" charset="0"/>
              </a:rPr>
              <a:t>GCGATCGATGAAGCTAGACTCGT</a:t>
            </a:r>
          </a:p>
          <a:p>
            <a:pPr marL="0" indent="0">
              <a:buNone/>
            </a:pPr>
            <a:r>
              <a:rPr lang="en-US"/>
              <a:t>                          is</a:t>
            </a:r>
          </a:p>
          <a:p>
            <a:pPr marL="0" indent="0">
              <a:buNone/>
            </a:pPr>
            <a:r>
              <a:rPr lang="en-US" b="1">
                <a:latin typeface="Courier New" panose="02070309020205020404" pitchFamily="49" charset="0"/>
                <a:cs typeface="Courier New" panose="02070309020205020404" pitchFamily="49" charset="0"/>
              </a:rPr>
              <a:t>AGCGAACGCTGAACGCTAGAC-CG</a:t>
            </a:r>
          </a:p>
          <a:p>
            <a:pPr marL="0" indent="0">
              <a:buNone/>
            </a:pPr>
            <a:r>
              <a:rPr lang="en-US" b="1">
                <a:latin typeface="Courier New" panose="02070309020205020404" pitchFamily="49" charset="0"/>
                <a:cs typeface="Courier New" panose="02070309020205020404" pitchFamily="49" charset="0"/>
              </a:rPr>
              <a:t> |||| || ||||*|||||||*||</a:t>
            </a:r>
            <a:br>
              <a:rPr lang="en-US" b="1">
                <a:latin typeface="Courier New" panose="02070309020205020404" pitchFamily="49" charset="0"/>
                <a:cs typeface="Courier New" panose="02070309020205020404" pitchFamily="49" charset="0"/>
              </a:rPr>
            </a:br>
            <a:r>
              <a:rPr lang="en-US" b="1">
                <a:latin typeface="Courier New" panose="02070309020205020404" pitchFamily="49" charset="0"/>
                <a:cs typeface="Courier New" panose="02070309020205020404" pitchFamily="49" charset="0"/>
              </a:rPr>
              <a:t> GCGATCGATGAA-GCTAGACTCGT</a:t>
            </a:r>
          </a:p>
        </p:txBody>
      </p:sp>
    </p:spTree>
    <p:extLst>
      <p:ext uri="{BB962C8B-B14F-4D97-AF65-F5344CB8AC3E}">
        <p14:creationId xmlns:p14="http://schemas.microsoft.com/office/powerpoint/2010/main" val="33193288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9A3C9-8857-345D-C122-B58EEDD432EA}"/>
              </a:ext>
            </a:extLst>
          </p:cNvPr>
          <p:cNvSpPr>
            <a:spLocks noGrp="1"/>
          </p:cNvSpPr>
          <p:nvPr>
            <p:ph type="title"/>
          </p:nvPr>
        </p:nvSpPr>
        <p:spPr/>
        <p:txBody>
          <a:bodyPr>
            <a:normAutofit fontScale="90000"/>
          </a:bodyPr>
          <a:lstStyle/>
          <a:p>
            <a:r>
              <a:rPr lang="en-US"/>
              <a:t>Types of mis-matches</a:t>
            </a:r>
          </a:p>
        </p:txBody>
      </p:sp>
      <p:sp>
        <p:nvSpPr>
          <p:cNvPr id="3" name="Content Placeholder 2">
            <a:extLst>
              <a:ext uri="{FF2B5EF4-FFF2-40B4-BE49-F238E27FC236}">
                <a16:creationId xmlns:a16="http://schemas.microsoft.com/office/drawing/2014/main" id="{68A0E665-C3AA-1B29-3651-00377FCD8272}"/>
              </a:ext>
            </a:extLst>
          </p:cNvPr>
          <p:cNvSpPr>
            <a:spLocks noGrp="1"/>
          </p:cNvSpPr>
          <p:nvPr>
            <p:ph idx="1"/>
          </p:nvPr>
        </p:nvSpPr>
        <p:spPr/>
        <p:txBody>
          <a:bodyPr/>
          <a:lstStyle/>
          <a:p>
            <a:r>
              <a:rPr lang="en-US"/>
              <a:t>Substitutions:   A</a:t>
            </a:r>
            <a:r>
              <a:rPr lang="en-US">
                <a:solidFill>
                  <a:srgbClr val="FF0000"/>
                </a:solidFill>
              </a:rPr>
              <a:t>A</a:t>
            </a:r>
            <a:r>
              <a:rPr lang="en-US"/>
              <a:t>GT vs A</a:t>
            </a:r>
            <a:r>
              <a:rPr lang="en-US">
                <a:solidFill>
                  <a:srgbClr val="FF0000"/>
                </a:solidFill>
              </a:rPr>
              <a:t>T</a:t>
            </a:r>
            <a:r>
              <a:rPr lang="en-US"/>
              <a:t>GT</a:t>
            </a:r>
          </a:p>
          <a:p>
            <a:endParaRPr lang="en-US"/>
          </a:p>
          <a:p>
            <a:r>
              <a:rPr lang="en-US"/>
              <a:t>Deletions: AA</a:t>
            </a:r>
            <a:r>
              <a:rPr lang="en-US">
                <a:solidFill>
                  <a:srgbClr val="FF0000"/>
                </a:solidFill>
              </a:rPr>
              <a:t>G</a:t>
            </a:r>
            <a:r>
              <a:rPr lang="en-US"/>
              <a:t>T vs ATT</a:t>
            </a:r>
          </a:p>
          <a:p>
            <a:endParaRPr lang="en-US"/>
          </a:p>
          <a:p>
            <a:r>
              <a:rPr lang="en-US"/>
              <a:t>Insertions: AAGT vs AAG</a:t>
            </a:r>
            <a:r>
              <a:rPr lang="en-US">
                <a:solidFill>
                  <a:srgbClr val="FF0000"/>
                </a:solidFill>
              </a:rPr>
              <a:t>C</a:t>
            </a:r>
            <a:r>
              <a:rPr lang="en-US"/>
              <a:t>T</a:t>
            </a:r>
          </a:p>
        </p:txBody>
      </p:sp>
    </p:spTree>
    <p:extLst>
      <p:ext uri="{BB962C8B-B14F-4D97-AF65-F5344CB8AC3E}">
        <p14:creationId xmlns:p14="http://schemas.microsoft.com/office/powerpoint/2010/main" val="32867087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3EF1D3-8111-B083-8234-62C3C27B27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060C1D-9E2A-3033-9561-78FE21D4979A}"/>
              </a:ext>
            </a:extLst>
          </p:cNvPr>
          <p:cNvSpPr>
            <a:spLocks noGrp="1"/>
          </p:cNvSpPr>
          <p:nvPr>
            <p:ph type="title"/>
          </p:nvPr>
        </p:nvSpPr>
        <p:spPr/>
        <p:txBody>
          <a:bodyPr>
            <a:normAutofit fontScale="90000"/>
          </a:bodyPr>
          <a:lstStyle/>
          <a:p>
            <a:r>
              <a:rPr lang="en-US"/>
              <a:t>Smith-Waterman alignment</a:t>
            </a:r>
          </a:p>
        </p:txBody>
      </p:sp>
      <p:sp>
        <p:nvSpPr>
          <p:cNvPr id="3" name="Content Placeholder 2">
            <a:extLst>
              <a:ext uri="{FF2B5EF4-FFF2-40B4-BE49-F238E27FC236}">
                <a16:creationId xmlns:a16="http://schemas.microsoft.com/office/drawing/2014/main" id="{10E9D41B-B306-CD8B-FB9D-C94A43D6DAE4}"/>
              </a:ext>
            </a:extLst>
          </p:cNvPr>
          <p:cNvSpPr>
            <a:spLocks noGrp="1"/>
          </p:cNvSpPr>
          <p:nvPr>
            <p:ph idx="1"/>
          </p:nvPr>
        </p:nvSpPr>
        <p:spPr>
          <a:xfrm>
            <a:off x="657283" y="2035583"/>
            <a:ext cx="6406883" cy="4613040"/>
          </a:xfrm>
        </p:spPr>
        <p:txBody>
          <a:bodyPr/>
          <a:lstStyle/>
          <a:p>
            <a:r>
              <a:rPr lang="en-US" dirty="0"/>
              <a:t>Proposed by Michael S. Waterman and Temple F. Smith in 1981</a:t>
            </a:r>
          </a:p>
          <a:p>
            <a:r>
              <a:rPr lang="en-US" dirty="0"/>
              <a:t>Local sequence alignment</a:t>
            </a:r>
          </a:p>
          <a:p>
            <a:r>
              <a:rPr lang="en-US" dirty="0"/>
              <a:t>Fairly expensive: for sequences of lengths </a:t>
            </a:r>
            <a:r>
              <a:rPr lang="en-US" i="1" dirty="0"/>
              <a:t>m</a:t>
            </a:r>
            <a:r>
              <a:rPr lang="en-US" dirty="0"/>
              <a:t> and </a:t>
            </a:r>
            <a:r>
              <a:rPr lang="en-US" i="1" dirty="0"/>
              <a:t>n</a:t>
            </a:r>
            <a:r>
              <a:rPr lang="en-US" dirty="0"/>
              <a:t> is of order </a:t>
            </a:r>
            <a:r>
              <a:rPr lang="en-US" i="1" dirty="0"/>
              <a:t>O(m</a:t>
            </a:r>
            <a:r>
              <a:rPr lang="en-US" i="1" baseline="30000" dirty="0"/>
              <a:t>2</a:t>
            </a:r>
            <a:r>
              <a:rPr lang="en-US" i="1" dirty="0"/>
              <a:t>n+n</a:t>
            </a:r>
            <a:r>
              <a:rPr lang="en-US" i="1" baseline="30000" dirty="0"/>
              <a:t>2</a:t>
            </a:r>
            <a:r>
              <a:rPr lang="en-US" i="1" dirty="0"/>
              <a:t>m), </a:t>
            </a:r>
            <a:r>
              <a:rPr lang="en-US" dirty="0"/>
              <a:t>later optimized by Gotoh and Altschul to </a:t>
            </a:r>
            <a:r>
              <a:rPr lang="en-US" i="1" dirty="0"/>
              <a:t>O(</a:t>
            </a:r>
            <a:r>
              <a:rPr lang="en-US" i="1" dirty="0" err="1"/>
              <a:t>mn</a:t>
            </a:r>
            <a:r>
              <a:rPr lang="en-US" i="1" dirty="0"/>
              <a:t>) </a:t>
            </a:r>
          </a:p>
          <a:p>
            <a:r>
              <a:rPr lang="en-US" dirty="0"/>
              <a:t>Dynamic programming: </a:t>
            </a:r>
            <a:r>
              <a:rPr lang="en-US" i="1" dirty="0"/>
              <a:t>solve many local problems to then solve the big problem</a:t>
            </a:r>
          </a:p>
          <a:p>
            <a:pPr marL="0" indent="0">
              <a:buNone/>
            </a:pPr>
            <a:endParaRPr lang="en-US" i="1" dirty="0"/>
          </a:p>
        </p:txBody>
      </p:sp>
      <p:sp>
        <p:nvSpPr>
          <p:cNvPr id="4" name="Slide Number Placeholder 3">
            <a:extLst>
              <a:ext uri="{FF2B5EF4-FFF2-40B4-BE49-F238E27FC236}">
                <a16:creationId xmlns:a16="http://schemas.microsoft.com/office/drawing/2014/main" id="{004476A3-8720-99AA-0E0A-CE29BEC8FBF4}"/>
              </a:ext>
            </a:extLst>
          </p:cNvPr>
          <p:cNvSpPr>
            <a:spLocks noGrp="1"/>
          </p:cNvSpPr>
          <p:nvPr>
            <p:ph type="sldNum" sz="quarter" idx="12"/>
          </p:nvPr>
        </p:nvSpPr>
        <p:spPr/>
        <p:txBody>
          <a:bodyPr/>
          <a:lstStyle/>
          <a:p>
            <a:fld id="{B82CCC60-E8CD-4174-8B1A-7DF615B22EEF}" type="slidenum">
              <a:rPr lang="en-US" smtClean="0"/>
              <a:pPr/>
              <a:t>18</a:t>
            </a:fld>
            <a:endParaRPr lang="en-US"/>
          </a:p>
        </p:txBody>
      </p:sp>
      <p:pic>
        <p:nvPicPr>
          <p:cNvPr id="6" name="Picture 5">
            <a:extLst>
              <a:ext uri="{FF2B5EF4-FFF2-40B4-BE49-F238E27FC236}">
                <a16:creationId xmlns:a16="http://schemas.microsoft.com/office/drawing/2014/main" id="{C345A576-4A99-F7D6-7E88-4910D26E0CF6}"/>
              </a:ext>
            </a:extLst>
          </p:cNvPr>
          <p:cNvPicPr>
            <a:picLocks noChangeAspect="1"/>
          </p:cNvPicPr>
          <p:nvPr/>
        </p:nvPicPr>
        <p:blipFill>
          <a:blip r:embed="rId2"/>
          <a:stretch>
            <a:fillRect/>
          </a:stretch>
        </p:blipFill>
        <p:spPr>
          <a:xfrm>
            <a:off x="9083809" y="3229815"/>
            <a:ext cx="3095834" cy="3126536"/>
          </a:xfrm>
          <a:prstGeom prst="rect">
            <a:avLst/>
          </a:prstGeom>
        </p:spPr>
      </p:pic>
      <p:pic>
        <p:nvPicPr>
          <p:cNvPr id="8" name="Picture 7">
            <a:extLst>
              <a:ext uri="{FF2B5EF4-FFF2-40B4-BE49-F238E27FC236}">
                <a16:creationId xmlns:a16="http://schemas.microsoft.com/office/drawing/2014/main" id="{D33D9FEC-F4FC-D11F-88C4-0DDA375BA4FE}"/>
              </a:ext>
            </a:extLst>
          </p:cNvPr>
          <p:cNvPicPr>
            <a:picLocks noChangeAspect="1"/>
          </p:cNvPicPr>
          <p:nvPr/>
        </p:nvPicPr>
        <p:blipFill>
          <a:blip r:embed="rId3"/>
          <a:stretch>
            <a:fillRect/>
          </a:stretch>
        </p:blipFill>
        <p:spPr>
          <a:xfrm>
            <a:off x="7661409" y="136524"/>
            <a:ext cx="2844800" cy="2924980"/>
          </a:xfrm>
          <a:prstGeom prst="rect">
            <a:avLst/>
          </a:prstGeom>
        </p:spPr>
      </p:pic>
      <p:sp>
        <p:nvSpPr>
          <p:cNvPr id="9" name="TextBox 8">
            <a:extLst>
              <a:ext uri="{FF2B5EF4-FFF2-40B4-BE49-F238E27FC236}">
                <a16:creationId xmlns:a16="http://schemas.microsoft.com/office/drawing/2014/main" id="{0F9BED86-13F1-3CD4-599F-4CE640D75906}"/>
              </a:ext>
            </a:extLst>
          </p:cNvPr>
          <p:cNvSpPr txBox="1"/>
          <p:nvPr/>
        </p:nvSpPr>
        <p:spPr>
          <a:xfrm>
            <a:off x="10700951" y="1297459"/>
            <a:ext cx="1460977" cy="369332"/>
          </a:xfrm>
          <a:prstGeom prst="rect">
            <a:avLst/>
          </a:prstGeom>
          <a:noFill/>
        </p:spPr>
        <p:txBody>
          <a:bodyPr wrap="none" rtlCol="0">
            <a:spAutoFit/>
          </a:bodyPr>
          <a:lstStyle/>
          <a:p>
            <a:r>
              <a:rPr lang="en-US" dirty="0"/>
              <a:t>Temple Smith</a:t>
            </a:r>
          </a:p>
        </p:txBody>
      </p:sp>
      <p:sp>
        <p:nvSpPr>
          <p:cNvPr id="11" name="TextBox 10">
            <a:extLst>
              <a:ext uri="{FF2B5EF4-FFF2-40B4-BE49-F238E27FC236}">
                <a16:creationId xmlns:a16="http://schemas.microsoft.com/office/drawing/2014/main" id="{0C685E60-5BDB-39A6-4615-6EA623B7F334}"/>
              </a:ext>
            </a:extLst>
          </p:cNvPr>
          <p:cNvSpPr txBox="1"/>
          <p:nvPr/>
        </p:nvSpPr>
        <p:spPr>
          <a:xfrm>
            <a:off x="7822133" y="4146752"/>
            <a:ext cx="1261676" cy="646331"/>
          </a:xfrm>
          <a:prstGeom prst="rect">
            <a:avLst/>
          </a:prstGeom>
          <a:noFill/>
        </p:spPr>
        <p:txBody>
          <a:bodyPr wrap="square" rtlCol="0">
            <a:spAutoFit/>
          </a:bodyPr>
          <a:lstStyle/>
          <a:p>
            <a:r>
              <a:rPr lang="en-US" dirty="0"/>
              <a:t>Michael Waterman</a:t>
            </a:r>
          </a:p>
        </p:txBody>
      </p:sp>
      <p:sp>
        <p:nvSpPr>
          <p:cNvPr id="13" name="TextBox 12">
            <a:extLst>
              <a:ext uri="{FF2B5EF4-FFF2-40B4-BE49-F238E27FC236}">
                <a16:creationId xmlns:a16="http://schemas.microsoft.com/office/drawing/2014/main" id="{62D88927-5CC1-FD0D-E0DD-60F1A1705EC2}"/>
              </a:ext>
            </a:extLst>
          </p:cNvPr>
          <p:cNvSpPr txBox="1"/>
          <p:nvPr/>
        </p:nvSpPr>
        <p:spPr>
          <a:xfrm>
            <a:off x="6122153" y="6169581"/>
            <a:ext cx="2346283" cy="369332"/>
          </a:xfrm>
          <a:prstGeom prst="rect">
            <a:avLst/>
          </a:prstGeom>
          <a:noFill/>
        </p:spPr>
        <p:txBody>
          <a:bodyPr wrap="none" rtlCol="0">
            <a:spAutoFit/>
          </a:bodyPr>
          <a:lstStyle/>
          <a:p>
            <a:r>
              <a:rPr lang="en-US" dirty="0"/>
              <a:t>Images from Wikipedia</a:t>
            </a:r>
          </a:p>
        </p:txBody>
      </p:sp>
    </p:spTree>
    <p:extLst>
      <p:ext uri="{BB962C8B-B14F-4D97-AF65-F5344CB8AC3E}">
        <p14:creationId xmlns:p14="http://schemas.microsoft.com/office/powerpoint/2010/main" val="11417529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A01608-A94E-C75E-EB62-E744F40A5AE2}"/>
              </a:ext>
            </a:extLst>
          </p:cNvPr>
          <p:cNvSpPr>
            <a:spLocks noGrp="1"/>
          </p:cNvSpPr>
          <p:nvPr>
            <p:ph type="title"/>
          </p:nvPr>
        </p:nvSpPr>
        <p:spPr/>
        <p:txBody>
          <a:bodyPr>
            <a:normAutofit fontScale="90000"/>
          </a:bodyPr>
          <a:lstStyle/>
          <a:p>
            <a:r>
              <a:rPr lang="en-US" dirty="0"/>
              <a:t>Dynamic Programming</a:t>
            </a:r>
          </a:p>
        </p:txBody>
      </p:sp>
      <p:sp>
        <p:nvSpPr>
          <p:cNvPr id="3" name="Content Placeholder 2">
            <a:extLst>
              <a:ext uri="{FF2B5EF4-FFF2-40B4-BE49-F238E27FC236}">
                <a16:creationId xmlns:a16="http://schemas.microsoft.com/office/drawing/2014/main" id="{1365E617-7C57-43C5-4161-44D991CE9595}"/>
              </a:ext>
            </a:extLst>
          </p:cNvPr>
          <p:cNvSpPr>
            <a:spLocks noGrp="1"/>
          </p:cNvSpPr>
          <p:nvPr>
            <p:ph idx="1"/>
          </p:nvPr>
        </p:nvSpPr>
        <p:spPr>
          <a:xfrm>
            <a:off x="320040" y="1596540"/>
            <a:ext cx="11612880" cy="5124935"/>
          </a:xfrm>
        </p:spPr>
        <p:txBody>
          <a:bodyPr>
            <a:normAutofit lnSpcReduction="10000"/>
          </a:bodyPr>
          <a:lstStyle/>
          <a:p>
            <a:r>
              <a:rPr lang="en-US" dirty="0"/>
              <a:t>Invented by Richard Bellman in 1950’s</a:t>
            </a:r>
          </a:p>
          <a:p>
            <a:r>
              <a:rPr lang="en-US" dirty="0"/>
              <a:t>Refers to </a:t>
            </a:r>
            <a:r>
              <a:rPr lang="en-US" b="1" dirty="0"/>
              <a:t>simplifying</a:t>
            </a:r>
            <a:r>
              <a:rPr lang="en-US" dirty="0"/>
              <a:t> a complicated problem by </a:t>
            </a:r>
            <a:r>
              <a:rPr lang="en-US" b="1" dirty="0"/>
              <a:t>breaking</a:t>
            </a:r>
            <a:r>
              <a:rPr lang="en-US" dirty="0"/>
              <a:t> it</a:t>
            </a:r>
            <a:br>
              <a:rPr lang="en-US" dirty="0"/>
            </a:br>
            <a:r>
              <a:rPr lang="en-US" dirty="0"/>
              <a:t>down into simpler </a:t>
            </a:r>
            <a:r>
              <a:rPr lang="en-US" b="1" dirty="0"/>
              <a:t>sub-problems</a:t>
            </a:r>
            <a:r>
              <a:rPr lang="en-US" dirty="0"/>
              <a:t> in a recursive manner</a:t>
            </a:r>
          </a:p>
          <a:p>
            <a:r>
              <a:rPr lang="en-US" dirty="0"/>
              <a:t>Widely used in bioinformatics for tasks such as </a:t>
            </a:r>
            <a:r>
              <a:rPr lang="en-US" i="1" dirty="0"/>
              <a:t>sequence </a:t>
            </a:r>
            <a:br>
              <a:rPr lang="en-US" i="1" dirty="0"/>
            </a:br>
            <a:r>
              <a:rPr lang="en-US" i="1" dirty="0"/>
              <a:t>alignment, protein folding, RNA structure prediction and </a:t>
            </a:r>
            <a:br>
              <a:rPr lang="en-US" i="1" dirty="0"/>
            </a:br>
            <a:r>
              <a:rPr lang="en-US" i="1" dirty="0"/>
              <a:t>protein-DNA binding</a:t>
            </a:r>
          </a:p>
          <a:p>
            <a:r>
              <a:rPr lang="en-US" dirty="0"/>
              <a:t>The word </a:t>
            </a:r>
            <a:r>
              <a:rPr lang="en-US" i="1" dirty="0"/>
              <a:t>dynamic</a:t>
            </a:r>
            <a:r>
              <a:rPr lang="en-US" dirty="0"/>
              <a:t> was chosen by Bellman to capture the time-varying aspect of the problems, and because it sounded impressive. The word </a:t>
            </a:r>
            <a:r>
              <a:rPr lang="en-US" i="1" dirty="0"/>
              <a:t>programming</a:t>
            </a:r>
            <a:r>
              <a:rPr lang="en-US" dirty="0"/>
              <a:t> referred to the use of the method to find an optimal program, in the sense of a military schedule for training or logistics. This usage is the same as that in the phrases linear programming and mathematical programming, a synonym for mathematical optimization.</a:t>
            </a:r>
          </a:p>
        </p:txBody>
      </p:sp>
      <p:sp>
        <p:nvSpPr>
          <p:cNvPr id="4" name="Slide Number Placeholder 3">
            <a:extLst>
              <a:ext uri="{FF2B5EF4-FFF2-40B4-BE49-F238E27FC236}">
                <a16:creationId xmlns:a16="http://schemas.microsoft.com/office/drawing/2014/main" id="{C6215425-1B0E-7F21-DCD3-40617F83404A}"/>
              </a:ext>
            </a:extLst>
          </p:cNvPr>
          <p:cNvSpPr>
            <a:spLocks noGrp="1"/>
          </p:cNvSpPr>
          <p:nvPr>
            <p:ph type="sldNum" sz="quarter" idx="12"/>
          </p:nvPr>
        </p:nvSpPr>
        <p:spPr/>
        <p:txBody>
          <a:bodyPr/>
          <a:lstStyle/>
          <a:p>
            <a:fld id="{B82CCC60-E8CD-4174-8B1A-7DF615B22EEF}" type="slidenum">
              <a:rPr lang="en-US" smtClean="0"/>
              <a:pPr/>
              <a:t>19</a:t>
            </a:fld>
            <a:endParaRPr lang="en-US"/>
          </a:p>
        </p:txBody>
      </p:sp>
      <p:pic>
        <p:nvPicPr>
          <p:cNvPr id="6" name="Picture 5">
            <a:extLst>
              <a:ext uri="{FF2B5EF4-FFF2-40B4-BE49-F238E27FC236}">
                <a16:creationId xmlns:a16="http://schemas.microsoft.com/office/drawing/2014/main" id="{2F1E6840-50EE-09C9-4F45-736C82201232}"/>
              </a:ext>
            </a:extLst>
          </p:cNvPr>
          <p:cNvPicPr>
            <a:picLocks noChangeAspect="1"/>
          </p:cNvPicPr>
          <p:nvPr/>
        </p:nvPicPr>
        <p:blipFill>
          <a:blip r:embed="rId3"/>
          <a:stretch>
            <a:fillRect/>
          </a:stretch>
        </p:blipFill>
        <p:spPr>
          <a:xfrm>
            <a:off x="9374883" y="670810"/>
            <a:ext cx="2753109" cy="3305636"/>
          </a:xfrm>
          <a:prstGeom prst="rect">
            <a:avLst/>
          </a:prstGeom>
        </p:spPr>
      </p:pic>
      <p:sp>
        <p:nvSpPr>
          <p:cNvPr id="7" name="TextBox 6">
            <a:extLst>
              <a:ext uri="{FF2B5EF4-FFF2-40B4-BE49-F238E27FC236}">
                <a16:creationId xmlns:a16="http://schemas.microsoft.com/office/drawing/2014/main" id="{FE10C695-105E-F875-7FF0-249042478B7F}"/>
              </a:ext>
            </a:extLst>
          </p:cNvPr>
          <p:cNvSpPr txBox="1"/>
          <p:nvPr/>
        </p:nvSpPr>
        <p:spPr>
          <a:xfrm>
            <a:off x="9525017" y="3836171"/>
            <a:ext cx="2407903" cy="369332"/>
          </a:xfrm>
          <a:prstGeom prst="rect">
            <a:avLst/>
          </a:prstGeom>
          <a:noFill/>
        </p:spPr>
        <p:txBody>
          <a:bodyPr wrap="none" rtlCol="0">
            <a:spAutoFit/>
          </a:bodyPr>
          <a:lstStyle/>
          <a:p>
            <a:r>
              <a:rPr lang="en-US" dirty="0"/>
              <a:t>Image credit: Wikipedia</a:t>
            </a:r>
          </a:p>
        </p:txBody>
      </p:sp>
    </p:spTree>
    <p:extLst>
      <p:ext uri="{BB962C8B-B14F-4D97-AF65-F5344CB8AC3E}">
        <p14:creationId xmlns:p14="http://schemas.microsoft.com/office/powerpoint/2010/main" val="42004147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3B4766-FCE3-73DA-CC01-6C39B343EA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24F25D-3C4E-8086-BB2E-7C5A15840941}"/>
              </a:ext>
            </a:extLst>
          </p:cNvPr>
          <p:cNvSpPr>
            <a:spLocks noGrp="1"/>
          </p:cNvSpPr>
          <p:nvPr>
            <p:ph type="title"/>
          </p:nvPr>
        </p:nvSpPr>
        <p:spPr/>
        <p:txBody>
          <a:bodyPr>
            <a:normAutofit fontScale="90000"/>
          </a:bodyPr>
          <a:lstStyle/>
          <a:p>
            <a:r>
              <a:rPr lang="en-US"/>
              <a:t>Smith-Waterman alignment</a:t>
            </a:r>
          </a:p>
        </p:txBody>
      </p:sp>
      <p:sp>
        <p:nvSpPr>
          <p:cNvPr id="4" name="Slide Number Placeholder 3">
            <a:extLst>
              <a:ext uri="{FF2B5EF4-FFF2-40B4-BE49-F238E27FC236}">
                <a16:creationId xmlns:a16="http://schemas.microsoft.com/office/drawing/2014/main" id="{AE14A1FE-3A04-22B9-5183-7C3673CD27B3}"/>
              </a:ext>
            </a:extLst>
          </p:cNvPr>
          <p:cNvSpPr>
            <a:spLocks noGrp="1"/>
          </p:cNvSpPr>
          <p:nvPr>
            <p:ph type="sldNum" sz="quarter" idx="12"/>
          </p:nvPr>
        </p:nvSpPr>
        <p:spPr/>
        <p:txBody>
          <a:bodyPr/>
          <a:lstStyle/>
          <a:p>
            <a:fld id="{B82CCC60-E8CD-4174-8B1A-7DF615B22EEF}" type="slidenum">
              <a:rPr lang="en-US" smtClean="0"/>
              <a:pPr/>
              <a:t>20</a:t>
            </a:fld>
            <a:endParaRPr lang="en-US"/>
          </a:p>
        </p:txBody>
      </p:sp>
      <p:graphicFrame>
        <p:nvGraphicFramePr>
          <p:cNvPr id="9" name="Table 8">
            <a:extLst>
              <a:ext uri="{FF2B5EF4-FFF2-40B4-BE49-F238E27FC236}">
                <a16:creationId xmlns:a16="http://schemas.microsoft.com/office/drawing/2014/main" id="{9A733E39-9FF7-DF3F-68D1-A7EBA1130BE6}"/>
              </a:ext>
            </a:extLst>
          </p:cNvPr>
          <p:cNvGraphicFramePr>
            <a:graphicFrameLocks noGrp="1"/>
          </p:cNvGraphicFramePr>
          <p:nvPr/>
        </p:nvGraphicFramePr>
        <p:xfrm>
          <a:off x="412842" y="1741270"/>
          <a:ext cx="4888120" cy="4915141"/>
        </p:xfrm>
        <a:graphic>
          <a:graphicData uri="http://schemas.openxmlformats.org/drawingml/2006/table">
            <a:tbl>
              <a:tblPr>
                <a:tableStyleId>{5C22544A-7EE6-4342-B048-85BDC9FD1C3A}</a:tableStyleId>
              </a:tblPr>
              <a:tblGrid>
                <a:gridCol w="488812">
                  <a:extLst>
                    <a:ext uri="{9D8B030D-6E8A-4147-A177-3AD203B41FA5}">
                      <a16:colId xmlns:a16="http://schemas.microsoft.com/office/drawing/2014/main" val="499789085"/>
                    </a:ext>
                  </a:extLst>
                </a:gridCol>
                <a:gridCol w="488812">
                  <a:extLst>
                    <a:ext uri="{9D8B030D-6E8A-4147-A177-3AD203B41FA5}">
                      <a16:colId xmlns:a16="http://schemas.microsoft.com/office/drawing/2014/main" val="2105533424"/>
                    </a:ext>
                  </a:extLst>
                </a:gridCol>
                <a:gridCol w="488812">
                  <a:extLst>
                    <a:ext uri="{9D8B030D-6E8A-4147-A177-3AD203B41FA5}">
                      <a16:colId xmlns:a16="http://schemas.microsoft.com/office/drawing/2014/main" val="149591861"/>
                    </a:ext>
                  </a:extLst>
                </a:gridCol>
                <a:gridCol w="488812">
                  <a:extLst>
                    <a:ext uri="{9D8B030D-6E8A-4147-A177-3AD203B41FA5}">
                      <a16:colId xmlns:a16="http://schemas.microsoft.com/office/drawing/2014/main" val="1620141554"/>
                    </a:ext>
                  </a:extLst>
                </a:gridCol>
                <a:gridCol w="488812">
                  <a:extLst>
                    <a:ext uri="{9D8B030D-6E8A-4147-A177-3AD203B41FA5}">
                      <a16:colId xmlns:a16="http://schemas.microsoft.com/office/drawing/2014/main" val="3662352121"/>
                    </a:ext>
                  </a:extLst>
                </a:gridCol>
                <a:gridCol w="488812">
                  <a:extLst>
                    <a:ext uri="{9D8B030D-6E8A-4147-A177-3AD203B41FA5}">
                      <a16:colId xmlns:a16="http://schemas.microsoft.com/office/drawing/2014/main" val="2418474277"/>
                    </a:ext>
                  </a:extLst>
                </a:gridCol>
                <a:gridCol w="488812">
                  <a:extLst>
                    <a:ext uri="{9D8B030D-6E8A-4147-A177-3AD203B41FA5}">
                      <a16:colId xmlns:a16="http://schemas.microsoft.com/office/drawing/2014/main" val="2269938636"/>
                    </a:ext>
                  </a:extLst>
                </a:gridCol>
                <a:gridCol w="488812">
                  <a:extLst>
                    <a:ext uri="{9D8B030D-6E8A-4147-A177-3AD203B41FA5}">
                      <a16:colId xmlns:a16="http://schemas.microsoft.com/office/drawing/2014/main" val="1461158529"/>
                    </a:ext>
                  </a:extLst>
                </a:gridCol>
                <a:gridCol w="488812">
                  <a:extLst>
                    <a:ext uri="{9D8B030D-6E8A-4147-A177-3AD203B41FA5}">
                      <a16:colId xmlns:a16="http://schemas.microsoft.com/office/drawing/2014/main" val="3455786437"/>
                    </a:ext>
                  </a:extLst>
                </a:gridCol>
                <a:gridCol w="488812">
                  <a:extLst>
                    <a:ext uri="{9D8B030D-6E8A-4147-A177-3AD203B41FA5}">
                      <a16:colId xmlns:a16="http://schemas.microsoft.com/office/drawing/2014/main" val="2314278537"/>
                    </a:ext>
                  </a:extLst>
                </a:gridCol>
              </a:tblGrid>
              <a:tr h="446831">
                <a:tc>
                  <a:txBody>
                    <a:bodyPr/>
                    <a:lstStyle/>
                    <a:p>
                      <a:pPr algn="ctr"/>
                      <a:endParaRPr lang="en-US"/>
                    </a:p>
                  </a:txBody>
                  <a:tcPr/>
                </a:tc>
                <a:tc>
                  <a:txBody>
                    <a:bodyPr/>
                    <a:lstStyle/>
                    <a:p>
                      <a:pPr algn="ctr"/>
                      <a:endParaRPr lang="en-US"/>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A</a:t>
                      </a:r>
                    </a:p>
                  </a:txBody>
                  <a:tcPr>
                    <a:lnB w="12700" cap="flat" cmpd="sng" algn="ctr">
                      <a:solidFill>
                        <a:schemeClr val="tx1"/>
                      </a:solidFill>
                      <a:prstDash val="solid"/>
                      <a:round/>
                      <a:headEnd type="none" w="med" len="med"/>
                      <a:tailEnd type="none" w="med" len="med"/>
                    </a:lnB>
                  </a:tcPr>
                </a:tc>
                <a:tc>
                  <a:txBody>
                    <a:bodyPr/>
                    <a:lstStyle/>
                    <a:p>
                      <a:pPr algn="ctr"/>
                      <a:r>
                        <a:rPr lang="en-US"/>
                        <a:t>C</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45030461"/>
                  </a:ext>
                </a:extLst>
              </a:tr>
              <a:tr h="446831">
                <a:tc>
                  <a:txBody>
                    <a:bodyPr/>
                    <a:lstStyle/>
                    <a:p>
                      <a:pPr algn="ctr"/>
                      <a:endParaRPr lang="en-US"/>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08086283"/>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7236300"/>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28280586"/>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36395574"/>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8353299"/>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6672769"/>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0034413"/>
                  </a:ext>
                </a:extLst>
              </a:tr>
              <a:tr h="446831">
                <a:tc>
                  <a:txBody>
                    <a:bodyPr/>
                    <a:lstStyle/>
                    <a:p>
                      <a:pPr algn="ctr"/>
                      <a:r>
                        <a:rPr lang="en-US"/>
                        <a:t>C</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7693103"/>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5683901"/>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9542823"/>
                  </a:ext>
                </a:extLst>
              </a:tr>
            </a:tbl>
          </a:graphicData>
        </a:graphic>
      </p:graphicFrame>
      <p:sp>
        <p:nvSpPr>
          <p:cNvPr id="10" name="Content Placeholder 2">
            <a:extLst>
              <a:ext uri="{FF2B5EF4-FFF2-40B4-BE49-F238E27FC236}">
                <a16:creationId xmlns:a16="http://schemas.microsoft.com/office/drawing/2014/main" id="{02620E3F-5FA0-5AEB-75FF-E65ADBB79F8B}"/>
              </a:ext>
            </a:extLst>
          </p:cNvPr>
          <p:cNvSpPr>
            <a:spLocks noGrp="1"/>
          </p:cNvSpPr>
          <p:nvPr>
            <p:ph idx="1"/>
          </p:nvPr>
        </p:nvSpPr>
        <p:spPr>
          <a:xfrm>
            <a:off x="6248705" y="1596540"/>
            <a:ext cx="5497379" cy="4759811"/>
          </a:xfrm>
        </p:spPr>
        <p:txBody>
          <a:bodyPr>
            <a:normAutofit/>
          </a:bodyPr>
          <a:lstStyle/>
          <a:p>
            <a:r>
              <a:rPr lang="en-US" dirty="0"/>
              <a:t>Align sequences:</a:t>
            </a:r>
            <a:br>
              <a:rPr lang="en-US" dirty="0"/>
            </a:br>
            <a:r>
              <a:rPr lang="en-US" dirty="0">
                <a:latin typeface="Courier New" panose="02070309020205020404" pitchFamily="49" charset="0"/>
                <a:cs typeface="Courier New" panose="02070309020205020404" pitchFamily="49" charset="0"/>
              </a:rPr>
              <a:t>TGTTACGG </a:t>
            </a:r>
            <a:r>
              <a:rPr lang="en-US" dirty="0"/>
              <a:t>and</a:t>
            </a:r>
            <a:br>
              <a:rPr lang="en-US" dirty="0"/>
            </a:br>
            <a:r>
              <a:rPr lang="en-US" dirty="0">
                <a:latin typeface="Courier New" panose="02070309020205020404" pitchFamily="49" charset="0"/>
                <a:cs typeface="Courier New" panose="02070309020205020404" pitchFamily="49" charset="0"/>
              </a:rPr>
              <a:t>GGTTGACTA</a:t>
            </a:r>
          </a:p>
          <a:p>
            <a:r>
              <a:rPr lang="en-US" dirty="0"/>
              <a:t>Choose match score (substitution matrix) </a:t>
            </a:r>
            <a:br>
              <a:rPr lang="en-US" dirty="0"/>
            </a:br>
            <a:r>
              <a:rPr lang="en-US" i="1" dirty="0"/>
              <a:t>s(</a:t>
            </a:r>
            <a:r>
              <a:rPr lang="en-US" i="1" dirty="0" err="1"/>
              <a:t>a,b</a:t>
            </a:r>
            <a:r>
              <a:rPr lang="en-US" i="1" dirty="0"/>
              <a:t>)=3 if a=b,</a:t>
            </a:r>
            <a:br>
              <a:rPr lang="en-US" i="1" dirty="0"/>
            </a:br>
            <a:r>
              <a:rPr lang="en-US" i="1" dirty="0"/>
              <a:t>s(</a:t>
            </a:r>
            <a:r>
              <a:rPr lang="en-US" i="1" dirty="0" err="1"/>
              <a:t>a,b</a:t>
            </a:r>
            <a:r>
              <a:rPr lang="en-US" i="1" dirty="0"/>
              <a:t>)=-3 if a!=b</a:t>
            </a:r>
          </a:p>
          <a:p>
            <a:pPr marL="0" indent="0">
              <a:buNone/>
            </a:pPr>
            <a:endParaRPr lang="en-US" i="1" dirty="0"/>
          </a:p>
        </p:txBody>
      </p:sp>
      <p:cxnSp>
        <p:nvCxnSpPr>
          <p:cNvPr id="5" name="Straight Arrow Connector 4">
            <a:extLst>
              <a:ext uri="{FF2B5EF4-FFF2-40B4-BE49-F238E27FC236}">
                <a16:creationId xmlns:a16="http://schemas.microsoft.com/office/drawing/2014/main" id="{EB215C89-C43B-3624-56F9-8D1B2795F7A1}"/>
              </a:ext>
            </a:extLst>
          </p:cNvPr>
          <p:cNvCxnSpPr/>
          <p:nvPr/>
        </p:nvCxnSpPr>
        <p:spPr>
          <a:xfrm>
            <a:off x="2167128" y="3346704"/>
            <a:ext cx="402336" cy="365760"/>
          </a:xfrm>
          <a:prstGeom prst="straightConnector1">
            <a:avLst/>
          </a:prstGeom>
          <a:ln>
            <a:headEnd type="none" w="med" len="med"/>
            <a:tailEnd type="arrow" w="med" len="med"/>
          </a:ln>
        </p:spPr>
        <p:style>
          <a:lnRef idx="3">
            <a:schemeClr val="accent3"/>
          </a:lnRef>
          <a:fillRef idx="0">
            <a:schemeClr val="accent3"/>
          </a:fillRef>
          <a:effectRef idx="2">
            <a:schemeClr val="accent3"/>
          </a:effectRef>
          <a:fontRef idx="minor">
            <a:schemeClr val="tx1"/>
          </a:fontRef>
        </p:style>
      </p:cxnSp>
      <p:cxnSp>
        <p:nvCxnSpPr>
          <p:cNvPr id="6" name="Straight Arrow Connector 5">
            <a:extLst>
              <a:ext uri="{FF2B5EF4-FFF2-40B4-BE49-F238E27FC236}">
                <a16:creationId xmlns:a16="http://schemas.microsoft.com/office/drawing/2014/main" id="{19D09BE8-168D-BCBB-0B29-45291BC0189E}"/>
              </a:ext>
            </a:extLst>
          </p:cNvPr>
          <p:cNvCxnSpPr/>
          <p:nvPr/>
        </p:nvCxnSpPr>
        <p:spPr>
          <a:xfrm>
            <a:off x="9259824" y="3864864"/>
            <a:ext cx="402336" cy="365760"/>
          </a:xfrm>
          <a:prstGeom prst="straightConnector1">
            <a:avLst/>
          </a:prstGeom>
          <a:ln>
            <a:headEnd type="none" w="med" len="med"/>
            <a:tailEnd type="arrow" w="med" len="med"/>
          </a:ln>
        </p:spPr>
        <p:style>
          <a:lnRef idx="3">
            <a:schemeClr val="accent3"/>
          </a:lnRef>
          <a:fillRef idx="0">
            <a:schemeClr val="accent3"/>
          </a:fillRef>
          <a:effectRef idx="2">
            <a:schemeClr val="accent3"/>
          </a:effectRef>
          <a:fontRef idx="minor">
            <a:schemeClr val="tx1"/>
          </a:fontRef>
        </p:style>
      </p:cxnSp>
      <p:cxnSp>
        <p:nvCxnSpPr>
          <p:cNvPr id="7" name="Straight Arrow Connector 6">
            <a:extLst>
              <a:ext uri="{FF2B5EF4-FFF2-40B4-BE49-F238E27FC236}">
                <a16:creationId xmlns:a16="http://schemas.microsoft.com/office/drawing/2014/main" id="{D7600A95-DCA1-4F2C-2281-6E4799701C2D}"/>
              </a:ext>
            </a:extLst>
          </p:cNvPr>
          <p:cNvCxnSpPr/>
          <p:nvPr/>
        </p:nvCxnSpPr>
        <p:spPr>
          <a:xfrm>
            <a:off x="9259824" y="4350411"/>
            <a:ext cx="402336" cy="365760"/>
          </a:xfrm>
          <a:prstGeom prst="straightConnector1">
            <a:avLst/>
          </a:prstGeom>
          <a:ln>
            <a:headEnd type="none" w="med" len="med"/>
            <a:tailEnd type="arrow" w="med" len="med"/>
          </a:ln>
        </p:spPr>
        <p:style>
          <a:lnRef idx="3">
            <a:schemeClr val="accent2"/>
          </a:lnRef>
          <a:fillRef idx="0">
            <a:schemeClr val="accent2"/>
          </a:fillRef>
          <a:effectRef idx="2">
            <a:schemeClr val="accent2"/>
          </a:effectRef>
          <a:fontRef idx="minor">
            <a:schemeClr val="tx1"/>
          </a:fontRef>
        </p:style>
      </p:cxnSp>
      <p:cxnSp>
        <p:nvCxnSpPr>
          <p:cNvPr id="8" name="Straight Arrow Connector 7">
            <a:extLst>
              <a:ext uri="{FF2B5EF4-FFF2-40B4-BE49-F238E27FC236}">
                <a16:creationId xmlns:a16="http://schemas.microsoft.com/office/drawing/2014/main" id="{3F8F67CD-93DB-8369-C898-38244C09C467}"/>
              </a:ext>
            </a:extLst>
          </p:cNvPr>
          <p:cNvCxnSpPr/>
          <p:nvPr/>
        </p:nvCxnSpPr>
        <p:spPr>
          <a:xfrm>
            <a:off x="2167128" y="4716171"/>
            <a:ext cx="402336" cy="365760"/>
          </a:xfrm>
          <a:prstGeom prst="straightConnector1">
            <a:avLst/>
          </a:prstGeom>
          <a:ln>
            <a:headEnd type="none" w="med" len="med"/>
            <a:tailEnd type="arrow" w="med" len="med"/>
          </a:ln>
        </p:spPr>
        <p:style>
          <a:lnRef idx="3">
            <a:schemeClr val="accent2"/>
          </a:lnRef>
          <a:fillRef idx="0">
            <a:schemeClr val="accent2"/>
          </a:fillRef>
          <a:effectRef idx="2">
            <a:schemeClr val="accent2"/>
          </a:effectRef>
          <a:fontRef idx="minor">
            <a:schemeClr val="tx1"/>
          </a:fontRef>
        </p:style>
      </p:cxnSp>
      <p:cxnSp>
        <p:nvCxnSpPr>
          <p:cNvPr id="16" name="Straight Arrow Connector 15">
            <a:extLst>
              <a:ext uri="{FF2B5EF4-FFF2-40B4-BE49-F238E27FC236}">
                <a16:creationId xmlns:a16="http://schemas.microsoft.com/office/drawing/2014/main" id="{FCC28A83-EFB2-C0F6-91C4-730D700B4C64}"/>
              </a:ext>
            </a:extLst>
          </p:cNvPr>
          <p:cNvCxnSpPr>
            <a:cxnSpLocks/>
          </p:cNvCxnSpPr>
          <p:nvPr/>
        </p:nvCxnSpPr>
        <p:spPr>
          <a:xfrm>
            <a:off x="3108960" y="4198011"/>
            <a:ext cx="0" cy="518160"/>
          </a:xfrm>
          <a:prstGeom prst="straightConnector1">
            <a:avLst/>
          </a:prstGeom>
          <a:ln>
            <a:headEnd type="none" w="med" len="med"/>
            <a:tailEnd type="arrow" w="med" len="med"/>
          </a:ln>
        </p:spPr>
        <p:style>
          <a:lnRef idx="3">
            <a:schemeClr val="accent2"/>
          </a:lnRef>
          <a:fillRef idx="0">
            <a:schemeClr val="accent2"/>
          </a:fillRef>
          <a:effectRef idx="2">
            <a:schemeClr val="accent2"/>
          </a:effectRef>
          <a:fontRef idx="minor">
            <a:schemeClr val="tx1"/>
          </a:fontRef>
        </p:style>
      </p:cxnSp>
      <p:graphicFrame>
        <p:nvGraphicFramePr>
          <p:cNvPr id="19" name="Table 18">
            <a:extLst>
              <a:ext uri="{FF2B5EF4-FFF2-40B4-BE49-F238E27FC236}">
                <a16:creationId xmlns:a16="http://schemas.microsoft.com/office/drawing/2014/main" id="{4BC113A5-445F-947A-0CE6-0435812544B1}"/>
              </a:ext>
            </a:extLst>
          </p:cNvPr>
          <p:cNvGraphicFramePr>
            <a:graphicFrameLocks noGrp="1"/>
          </p:cNvGraphicFramePr>
          <p:nvPr>
            <p:extLst>
              <p:ext uri="{D42A27DB-BD31-4B8C-83A1-F6EECF244321}">
                <p14:modId xmlns:p14="http://schemas.microsoft.com/office/powerpoint/2010/main" val="1812023860"/>
              </p:ext>
            </p:extLst>
          </p:nvPr>
        </p:nvGraphicFramePr>
        <p:xfrm>
          <a:off x="6605454" y="4827611"/>
          <a:ext cx="2368805" cy="1828800"/>
        </p:xfrm>
        <a:graphic>
          <a:graphicData uri="http://schemas.openxmlformats.org/drawingml/2006/table">
            <a:tbl>
              <a:tblPr firstRow="1" bandRow="1">
                <a:tableStyleId>{5940675A-B579-460E-94D1-54222C63F5DA}</a:tableStyleId>
              </a:tblPr>
              <a:tblGrid>
                <a:gridCol w="473761">
                  <a:extLst>
                    <a:ext uri="{9D8B030D-6E8A-4147-A177-3AD203B41FA5}">
                      <a16:colId xmlns:a16="http://schemas.microsoft.com/office/drawing/2014/main" val="536489600"/>
                    </a:ext>
                  </a:extLst>
                </a:gridCol>
                <a:gridCol w="473761">
                  <a:extLst>
                    <a:ext uri="{9D8B030D-6E8A-4147-A177-3AD203B41FA5}">
                      <a16:colId xmlns:a16="http://schemas.microsoft.com/office/drawing/2014/main" val="2797876443"/>
                    </a:ext>
                  </a:extLst>
                </a:gridCol>
                <a:gridCol w="473761">
                  <a:extLst>
                    <a:ext uri="{9D8B030D-6E8A-4147-A177-3AD203B41FA5}">
                      <a16:colId xmlns:a16="http://schemas.microsoft.com/office/drawing/2014/main" val="1879155177"/>
                    </a:ext>
                  </a:extLst>
                </a:gridCol>
                <a:gridCol w="473761">
                  <a:extLst>
                    <a:ext uri="{9D8B030D-6E8A-4147-A177-3AD203B41FA5}">
                      <a16:colId xmlns:a16="http://schemas.microsoft.com/office/drawing/2014/main" val="2447749463"/>
                    </a:ext>
                  </a:extLst>
                </a:gridCol>
                <a:gridCol w="473761">
                  <a:extLst>
                    <a:ext uri="{9D8B030D-6E8A-4147-A177-3AD203B41FA5}">
                      <a16:colId xmlns:a16="http://schemas.microsoft.com/office/drawing/2014/main" val="2042494714"/>
                    </a:ext>
                  </a:extLst>
                </a:gridCol>
              </a:tblGrid>
              <a:tr h="324666">
                <a:tc>
                  <a:txBody>
                    <a:bodyPr/>
                    <a:lstStyle/>
                    <a:p>
                      <a:endParaRPr lang="en-US"/>
                    </a:p>
                  </a:txBody>
                  <a:tcPr/>
                </a:tc>
                <a:tc>
                  <a:txBody>
                    <a:bodyPr/>
                    <a:lstStyle/>
                    <a:p>
                      <a:r>
                        <a:rPr lang="en-US" dirty="0"/>
                        <a:t>A</a:t>
                      </a:r>
                    </a:p>
                  </a:txBody>
                  <a:tcPr/>
                </a:tc>
                <a:tc>
                  <a:txBody>
                    <a:bodyPr/>
                    <a:lstStyle/>
                    <a:p>
                      <a:r>
                        <a:rPr lang="en-US" dirty="0"/>
                        <a:t>C</a:t>
                      </a:r>
                    </a:p>
                  </a:txBody>
                  <a:tcPr/>
                </a:tc>
                <a:tc>
                  <a:txBody>
                    <a:bodyPr/>
                    <a:lstStyle/>
                    <a:p>
                      <a:r>
                        <a:rPr lang="en-US" dirty="0"/>
                        <a:t>G</a:t>
                      </a:r>
                    </a:p>
                  </a:txBody>
                  <a:tcPr/>
                </a:tc>
                <a:tc>
                  <a:txBody>
                    <a:bodyPr/>
                    <a:lstStyle/>
                    <a:p>
                      <a:r>
                        <a:rPr lang="en-US" dirty="0"/>
                        <a:t>T</a:t>
                      </a:r>
                    </a:p>
                  </a:txBody>
                  <a:tcPr/>
                </a:tc>
                <a:extLst>
                  <a:ext uri="{0D108BD9-81ED-4DB2-BD59-A6C34878D82A}">
                    <a16:rowId xmlns:a16="http://schemas.microsoft.com/office/drawing/2014/main" val="4052470774"/>
                  </a:ext>
                </a:extLst>
              </a:tr>
              <a:tr h="324666">
                <a:tc>
                  <a:txBody>
                    <a:bodyPr/>
                    <a:lstStyle/>
                    <a:p>
                      <a:r>
                        <a:rPr lang="en-US" dirty="0"/>
                        <a:t>A</a:t>
                      </a:r>
                    </a:p>
                  </a:txBody>
                  <a:tcPr/>
                </a:tc>
                <a:tc>
                  <a:txBody>
                    <a:bodyPr/>
                    <a:lstStyle/>
                    <a:p>
                      <a:r>
                        <a:rPr lang="en-US" dirty="0"/>
                        <a:t>3</a:t>
                      </a:r>
                    </a:p>
                  </a:txBody>
                  <a:tcPr/>
                </a:tc>
                <a:tc>
                  <a:txBody>
                    <a:bodyPr/>
                    <a:lstStyle/>
                    <a:p>
                      <a:r>
                        <a:rPr lang="en-US" dirty="0"/>
                        <a:t>-3</a:t>
                      </a:r>
                    </a:p>
                  </a:txBody>
                  <a:tcPr/>
                </a:tc>
                <a:tc>
                  <a:txBody>
                    <a:bodyPr/>
                    <a:lstStyle/>
                    <a:p>
                      <a:r>
                        <a:rPr lang="en-US" dirty="0"/>
                        <a:t>-3</a:t>
                      </a:r>
                    </a:p>
                  </a:txBody>
                  <a:tcPr/>
                </a:tc>
                <a:tc>
                  <a:txBody>
                    <a:bodyPr/>
                    <a:lstStyle/>
                    <a:p>
                      <a:r>
                        <a:rPr lang="en-US" dirty="0"/>
                        <a:t>-3</a:t>
                      </a:r>
                    </a:p>
                  </a:txBody>
                  <a:tcPr/>
                </a:tc>
                <a:extLst>
                  <a:ext uri="{0D108BD9-81ED-4DB2-BD59-A6C34878D82A}">
                    <a16:rowId xmlns:a16="http://schemas.microsoft.com/office/drawing/2014/main" val="4128259816"/>
                  </a:ext>
                </a:extLst>
              </a:tr>
              <a:tr h="324666">
                <a:tc>
                  <a:txBody>
                    <a:bodyPr/>
                    <a:lstStyle/>
                    <a:p>
                      <a:r>
                        <a:rPr lang="en-US" dirty="0"/>
                        <a:t>C</a:t>
                      </a:r>
                    </a:p>
                  </a:txBody>
                  <a:tcPr/>
                </a:tc>
                <a:tc>
                  <a:txBody>
                    <a:bodyPr/>
                    <a:lstStyle/>
                    <a:p>
                      <a:r>
                        <a:rPr lang="en-US" dirty="0"/>
                        <a:t>-3</a:t>
                      </a:r>
                    </a:p>
                  </a:txBody>
                  <a:tcPr/>
                </a:tc>
                <a:tc>
                  <a:txBody>
                    <a:bodyPr/>
                    <a:lstStyle/>
                    <a:p>
                      <a:r>
                        <a:rPr lang="en-US" dirty="0"/>
                        <a:t>3</a:t>
                      </a:r>
                    </a:p>
                  </a:txBody>
                  <a:tcPr/>
                </a:tc>
                <a:tc>
                  <a:txBody>
                    <a:bodyPr/>
                    <a:lstStyle/>
                    <a:p>
                      <a:r>
                        <a:rPr lang="en-US" dirty="0"/>
                        <a:t>-3</a:t>
                      </a:r>
                    </a:p>
                  </a:txBody>
                  <a:tcPr/>
                </a:tc>
                <a:tc>
                  <a:txBody>
                    <a:bodyPr/>
                    <a:lstStyle/>
                    <a:p>
                      <a:r>
                        <a:rPr lang="en-US" dirty="0"/>
                        <a:t>-3</a:t>
                      </a:r>
                    </a:p>
                  </a:txBody>
                  <a:tcPr/>
                </a:tc>
                <a:extLst>
                  <a:ext uri="{0D108BD9-81ED-4DB2-BD59-A6C34878D82A}">
                    <a16:rowId xmlns:a16="http://schemas.microsoft.com/office/drawing/2014/main" val="2635330820"/>
                  </a:ext>
                </a:extLst>
              </a:tr>
              <a:tr h="324666">
                <a:tc>
                  <a:txBody>
                    <a:bodyPr/>
                    <a:lstStyle/>
                    <a:p>
                      <a:r>
                        <a:rPr lang="en-US" dirty="0"/>
                        <a:t>G</a:t>
                      </a:r>
                    </a:p>
                  </a:txBody>
                  <a:tcPr/>
                </a:tc>
                <a:tc>
                  <a:txBody>
                    <a:bodyPr/>
                    <a:lstStyle/>
                    <a:p>
                      <a:r>
                        <a:rPr lang="en-US" dirty="0"/>
                        <a:t>-3</a:t>
                      </a:r>
                    </a:p>
                  </a:txBody>
                  <a:tcPr/>
                </a:tc>
                <a:tc>
                  <a:txBody>
                    <a:bodyPr/>
                    <a:lstStyle/>
                    <a:p>
                      <a:r>
                        <a:rPr lang="en-US" dirty="0"/>
                        <a:t>-3</a:t>
                      </a:r>
                    </a:p>
                  </a:txBody>
                  <a:tcPr/>
                </a:tc>
                <a:tc>
                  <a:txBody>
                    <a:bodyPr/>
                    <a:lstStyle/>
                    <a:p>
                      <a:r>
                        <a:rPr lang="en-US" dirty="0"/>
                        <a:t>3</a:t>
                      </a:r>
                    </a:p>
                  </a:txBody>
                  <a:tcPr/>
                </a:tc>
                <a:tc>
                  <a:txBody>
                    <a:bodyPr/>
                    <a:lstStyle/>
                    <a:p>
                      <a:r>
                        <a:rPr lang="en-US" dirty="0"/>
                        <a:t>-3</a:t>
                      </a:r>
                    </a:p>
                  </a:txBody>
                  <a:tcPr/>
                </a:tc>
                <a:extLst>
                  <a:ext uri="{0D108BD9-81ED-4DB2-BD59-A6C34878D82A}">
                    <a16:rowId xmlns:a16="http://schemas.microsoft.com/office/drawing/2014/main" val="1900478983"/>
                  </a:ext>
                </a:extLst>
              </a:tr>
              <a:tr h="324666">
                <a:tc>
                  <a:txBody>
                    <a:bodyPr/>
                    <a:lstStyle/>
                    <a:p>
                      <a:r>
                        <a:rPr lang="en-US" dirty="0"/>
                        <a:t>T</a:t>
                      </a:r>
                    </a:p>
                  </a:txBody>
                  <a:tcPr/>
                </a:tc>
                <a:tc>
                  <a:txBody>
                    <a:bodyPr/>
                    <a:lstStyle/>
                    <a:p>
                      <a:r>
                        <a:rPr lang="en-US" dirty="0"/>
                        <a:t>-3</a:t>
                      </a:r>
                    </a:p>
                  </a:txBody>
                  <a:tcPr/>
                </a:tc>
                <a:tc>
                  <a:txBody>
                    <a:bodyPr/>
                    <a:lstStyle/>
                    <a:p>
                      <a:r>
                        <a:rPr lang="en-US" dirty="0"/>
                        <a:t>-3</a:t>
                      </a:r>
                    </a:p>
                  </a:txBody>
                  <a:tcPr/>
                </a:tc>
                <a:tc>
                  <a:txBody>
                    <a:bodyPr/>
                    <a:lstStyle/>
                    <a:p>
                      <a:r>
                        <a:rPr lang="en-US" dirty="0"/>
                        <a:t>-3</a:t>
                      </a:r>
                    </a:p>
                  </a:txBody>
                  <a:tcPr/>
                </a:tc>
                <a:tc>
                  <a:txBody>
                    <a:bodyPr/>
                    <a:lstStyle/>
                    <a:p>
                      <a:r>
                        <a:rPr lang="en-US" dirty="0"/>
                        <a:t>3</a:t>
                      </a:r>
                    </a:p>
                  </a:txBody>
                  <a:tcPr/>
                </a:tc>
                <a:extLst>
                  <a:ext uri="{0D108BD9-81ED-4DB2-BD59-A6C34878D82A}">
                    <a16:rowId xmlns:a16="http://schemas.microsoft.com/office/drawing/2014/main" val="2886789359"/>
                  </a:ext>
                </a:extLst>
              </a:tr>
            </a:tbl>
          </a:graphicData>
        </a:graphic>
      </p:graphicFrame>
    </p:spTree>
    <p:extLst>
      <p:ext uri="{BB962C8B-B14F-4D97-AF65-F5344CB8AC3E}">
        <p14:creationId xmlns:p14="http://schemas.microsoft.com/office/powerpoint/2010/main" val="16063228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143C94-D969-0C0E-ACDA-779395A24B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4E6BC3-36BC-C6D4-87EB-4466AA7E494B}"/>
              </a:ext>
            </a:extLst>
          </p:cNvPr>
          <p:cNvSpPr>
            <a:spLocks noGrp="1"/>
          </p:cNvSpPr>
          <p:nvPr>
            <p:ph type="title"/>
          </p:nvPr>
        </p:nvSpPr>
        <p:spPr/>
        <p:txBody>
          <a:bodyPr>
            <a:normAutofit fontScale="90000"/>
          </a:bodyPr>
          <a:lstStyle/>
          <a:p>
            <a:r>
              <a:rPr lang="en-US"/>
              <a:t>Smith-Waterman alignment</a:t>
            </a:r>
          </a:p>
        </p:txBody>
      </p:sp>
      <p:sp>
        <p:nvSpPr>
          <p:cNvPr id="4" name="Slide Number Placeholder 3">
            <a:extLst>
              <a:ext uri="{FF2B5EF4-FFF2-40B4-BE49-F238E27FC236}">
                <a16:creationId xmlns:a16="http://schemas.microsoft.com/office/drawing/2014/main" id="{B3C23FCE-7DB7-D9D1-F15C-1EA4F55DA070}"/>
              </a:ext>
            </a:extLst>
          </p:cNvPr>
          <p:cNvSpPr>
            <a:spLocks noGrp="1"/>
          </p:cNvSpPr>
          <p:nvPr>
            <p:ph type="sldNum" sz="quarter" idx="12"/>
          </p:nvPr>
        </p:nvSpPr>
        <p:spPr/>
        <p:txBody>
          <a:bodyPr/>
          <a:lstStyle/>
          <a:p>
            <a:fld id="{B82CCC60-E8CD-4174-8B1A-7DF615B22EEF}" type="slidenum">
              <a:rPr lang="en-US" smtClean="0"/>
              <a:pPr/>
              <a:t>21</a:t>
            </a:fld>
            <a:endParaRPr lang="en-US"/>
          </a:p>
        </p:txBody>
      </p:sp>
      <p:graphicFrame>
        <p:nvGraphicFramePr>
          <p:cNvPr id="9" name="Table 8">
            <a:extLst>
              <a:ext uri="{FF2B5EF4-FFF2-40B4-BE49-F238E27FC236}">
                <a16:creationId xmlns:a16="http://schemas.microsoft.com/office/drawing/2014/main" id="{8DD37A3C-C3A7-5C55-4547-0CB81FCF7C23}"/>
              </a:ext>
            </a:extLst>
          </p:cNvPr>
          <p:cNvGraphicFramePr>
            <a:graphicFrameLocks noGrp="1"/>
          </p:cNvGraphicFramePr>
          <p:nvPr>
            <p:extLst>
              <p:ext uri="{D42A27DB-BD31-4B8C-83A1-F6EECF244321}">
                <p14:modId xmlns:p14="http://schemas.microsoft.com/office/powerpoint/2010/main" val="1332829739"/>
              </p:ext>
            </p:extLst>
          </p:nvPr>
        </p:nvGraphicFramePr>
        <p:xfrm>
          <a:off x="412842" y="1741270"/>
          <a:ext cx="4888120" cy="4915141"/>
        </p:xfrm>
        <a:graphic>
          <a:graphicData uri="http://schemas.openxmlformats.org/drawingml/2006/table">
            <a:tbl>
              <a:tblPr>
                <a:tableStyleId>{5C22544A-7EE6-4342-B048-85BDC9FD1C3A}</a:tableStyleId>
              </a:tblPr>
              <a:tblGrid>
                <a:gridCol w="488812">
                  <a:extLst>
                    <a:ext uri="{9D8B030D-6E8A-4147-A177-3AD203B41FA5}">
                      <a16:colId xmlns:a16="http://schemas.microsoft.com/office/drawing/2014/main" val="499789085"/>
                    </a:ext>
                  </a:extLst>
                </a:gridCol>
                <a:gridCol w="488812">
                  <a:extLst>
                    <a:ext uri="{9D8B030D-6E8A-4147-A177-3AD203B41FA5}">
                      <a16:colId xmlns:a16="http://schemas.microsoft.com/office/drawing/2014/main" val="2105533424"/>
                    </a:ext>
                  </a:extLst>
                </a:gridCol>
                <a:gridCol w="488812">
                  <a:extLst>
                    <a:ext uri="{9D8B030D-6E8A-4147-A177-3AD203B41FA5}">
                      <a16:colId xmlns:a16="http://schemas.microsoft.com/office/drawing/2014/main" val="149591861"/>
                    </a:ext>
                  </a:extLst>
                </a:gridCol>
                <a:gridCol w="488812">
                  <a:extLst>
                    <a:ext uri="{9D8B030D-6E8A-4147-A177-3AD203B41FA5}">
                      <a16:colId xmlns:a16="http://schemas.microsoft.com/office/drawing/2014/main" val="1620141554"/>
                    </a:ext>
                  </a:extLst>
                </a:gridCol>
                <a:gridCol w="488812">
                  <a:extLst>
                    <a:ext uri="{9D8B030D-6E8A-4147-A177-3AD203B41FA5}">
                      <a16:colId xmlns:a16="http://schemas.microsoft.com/office/drawing/2014/main" val="3662352121"/>
                    </a:ext>
                  </a:extLst>
                </a:gridCol>
                <a:gridCol w="488812">
                  <a:extLst>
                    <a:ext uri="{9D8B030D-6E8A-4147-A177-3AD203B41FA5}">
                      <a16:colId xmlns:a16="http://schemas.microsoft.com/office/drawing/2014/main" val="2418474277"/>
                    </a:ext>
                  </a:extLst>
                </a:gridCol>
                <a:gridCol w="488812">
                  <a:extLst>
                    <a:ext uri="{9D8B030D-6E8A-4147-A177-3AD203B41FA5}">
                      <a16:colId xmlns:a16="http://schemas.microsoft.com/office/drawing/2014/main" val="2269938636"/>
                    </a:ext>
                  </a:extLst>
                </a:gridCol>
                <a:gridCol w="488812">
                  <a:extLst>
                    <a:ext uri="{9D8B030D-6E8A-4147-A177-3AD203B41FA5}">
                      <a16:colId xmlns:a16="http://schemas.microsoft.com/office/drawing/2014/main" val="1461158529"/>
                    </a:ext>
                  </a:extLst>
                </a:gridCol>
                <a:gridCol w="488812">
                  <a:extLst>
                    <a:ext uri="{9D8B030D-6E8A-4147-A177-3AD203B41FA5}">
                      <a16:colId xmlns:a16="http://schemas.microsoft.com/office/drawing/2014/main" val="3455786437"/>
                    </a:ext>
                  </a:extLst>
                </a:gridCol>
                <a:gridCol w="488812">
                  <a:extLst>
                    <a:ext uri="{9D8B030D-6E8A-4147-A177-3AD203B41FA5}">
                      <a16:colId xmlns:a16="http://schemas.microsoft.com/office/drawing/2014/main" val="2314278537"/>
                    </a:ext>
                  </a:extLst>
                </a:gridCol>
              </a:tblGrid>
              <a:tr h="446831">
                <a:tc>
                  <a:txBody>
                    <a:bodyPr/>
                    <a:lstStyle/>
                    <a:p>
                      <a:pPr algn="ctr"/>
                      <a:endParaRPr lang="en-US"/>
                    </a:p>
                  </a:txBody>
                  <a:tcPr/>
                </a:tc>
                <a:tc>
                  <a:txBody>
                    <a:bodyPr/>
                    <a:lstStyle/>
                    <a:p>
                      <a:pPr algn="ctr"/>
                      <a:endParaRPr lang="en-US"/>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A</a:t>
                      </a:r>
                    </a:p>
                  </a:txBody>
                  <a:tcPr>
                    <a:lnB w="12700" cap="flat" cmpd="sng" algn="ctr">
                      <a:solidFill>
                        <a:schemeClr val="tx1"/>
                      </a:solidFill>
                      <a:prstDash val="solid"/>
                      <a:round/>
                      <a:headEnd type="none" w="med" len="med"/>
                      <a:tailEnd type="none" w="med" len="med"/>
                    </a:lnB>
                  </a:tcPr>
                </a:tc>
                <a:tc>
                  <a:txBody>
                    <a:bodyPr/>
                    <a:lstStyle/>
                    <a:p>
                      <a:pPr algn="ctr"/>
                      <a:r>
                        <a:rPr lang="en-US"/>
                        <a:t>C</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45030461"/>
                  </a:ext>
                </a:extLst>
              </a:tr>
              <a:tr h="446831">
                <a:tc>
                  <a:txBody>
                    <a:bodyPr/>
                    <a:lstStyle/>
                    <a:p>
                      <a:pPr algn="ctr"/>
                      <a:endParaRPr lang="en-US"/>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08086283"/>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7236300"/>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28280586"/>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36395574"/>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8353299"/>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6672769"/>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0034413"/>
                  </a:ext>
                </a:extLst>
              </a:tr>
              <a:tr h="446831">
                <a:tc>
                  <a:txBody>
                    <a:bodyPr/>
                    <a:lstStyle/>
                    <a:p>
                      <a:pPr algn="ctr"/>
                      <a:r>
                        <a:rPr lang="en-US"/>
                        <a:t>C</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7693103"/>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5683901"/>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9542823"/>
                  </a:ext>
                </a:extLst>
              </a:tr>
            </a:tbl>
          </a:graphicData>
        </a:graphic>
      </p:graphicFrame>
      <p:sp>
        <p:nvSpPr>
          <p:cNvPr id="10" name="Content Placeholder 2">
            <a:extLst>
              <a:ext uri="{FF2B5EF4-FFF2-40B4-BE49-F238E27FC236}">
                <a16:creationId xmlns:a16="http://schemas.microsoft.com/office/drawing/2014/main" id="{11409361-393C-723D-1449-DA50768B27A6}"/>
              </a:ext>
            </a:extLst>
          </p:cNvPr>
          <p:cNvSpPr>
            <a:spLocks noGrp="1"/>
          </p:cNvSpPr>
          <p:nvPr>
            <p:ph idx="1"/>
          </p:nvPr>
        </p:nvSpPr>
        <p:spPr>
          <a:xfrm>
            <a:off x="6248705" y="1596540"/>
            <a:ext cx="5497379" cy="4759811"/>
          </a:xfrm>
        </p:spPr>
        <p:txBody>
          <a:bodyPr>
            <a:normAutofit/>
          </a:bodyPr>
          <a:lstStyle/>
          <a:p>
            <a:r>
              <a:rPr lang="en-US" dirty="0"/>
              <a:t>Align sequences:</a:t>
            </a:r>
            <a:br>
              <a:rPr lang="en-US" dirty="0"/>
            </a:br>
            <a:r>
              <a:rPr lang="en-US" dirty="0">
                <a:latin typeface="Courier New" panose="02070309020205020404" pitchFamily="49" charset="0"/>
                <a:cs typeface="Courier New" panose="02070309020205020404" pitchFamily="49" charset="0"/>
              </a:rPr>
              <a:t>TGTTACGG </a:t>
            </a:r>
            <a:r>
              <a:rPr lang="en-US" dirty="0"/>
              <a:t>and</a:t>
            </a:r>
            <a:br>
              <a:rPr lang="en-US" dirty="0"/>
            </a:br>
            <a:r>
              <a:rPr lang="en-US" dirty="0">
                <a:latin typeface="Courier New" panose="02070309020205020404" pitchFamily="49" charset="0"/>
                <a:cs typeface="Courier New" panose="02070309020205020404" pitchFamily="49" charset="0"/>
              </a:rPr>
              <a:t>GGTTGACTA</a:t>
            </a:r>
          </a:p>
          <a:p>
            <a:r>
              <a:rPr lang="en-US" dirty="0"/>
              <a:t>Choose match score (substitution matrix) </a:t>
            </a:r>
            <a:br>
              <a:rPr lang="en-US" dirty="0"/>
            </a:br>
            <a:r>
              <a:rPr lang="en-US" i="1" dirty="0"/>
              <a:t>s(</a:t>
            </a:r>
            <a:r>
              <a:rPr lang="en-US" i="1" dirty="0" err="1"/>
              <a:t>a,b</a:t>
            </a:r>
            <a:r>
              <a:rPr lang="en-US" i="1" dirty="0"/>
              <a:t>)=3 if a=b,</a:t>
            </a:r>
            <a:br>
              <a:rPr lang="en-US" i="1" dirty="0"/>
            </a:br>
            <a:r>
              <a:rPr lang="en-US" i="1" dirty="0"/>
              <a:t>s(</a:t>
            </a:r>
            <a:r>
              <a:rPr lang="en-US" i="1" dirty="0" err="1"/>
              <a:t>a,b</a:t>
            </a:r>
            <a:r>
              <a:rPr lang="en-US" i="1" dirty="0"/>
              <a:t>)=-3 if a!=b</a:t>
            </a:r>
          </a:p>
          <a:p>
            <a:r>
              <a:rPr lang="en-US" dirty="0"/>
              <a:t>Choose gap penalty </a:t>
            </a:r>
            <a:r>
              <a:rPr lang="en-US" i="1" dirty="0"/>
              <a:t>G=2</a:t>
            </a:r>
          </a:p>
          <a:p>
            <a:r>
              <a:rPr lang="en-US" dirty="0"/>
              <a:t>Initialize top row and the first column with zeros</a:t>
            </a:r>
          </a:p>
          <a:p>
            <a:pPr marL="0" indent="0">
              <a:buNone/>
            </a:pPr>
            <a:endParaRPr lang="en-US" i="1" dirty="0"/>
          </a:p>
        </p:txBody>
      </p:sp>
      <p:cxnSp>
        <p:nvCxnSpPr>
          <p:cNvPr id="5" name="Straight Arrow Connector 4">
            <a:extLst>
              <a:ext uri="{FF2B5EF4-FFF2-40B4-BE49-F238E27FC236}">
                <a16:creationId xmlns:a16="http://schemas.microsoft.com/office/drawing/2014/main" id="{0B4CD621-AB8B-8DB0-A79E-1AB72E1FBDB2}"/>
              </a:ext>
            </a:extLst>
          </p:cNvPr>
          <p:cNvCxnSpPr/>
          <p:nvPr/>
        </p:nvCxnSpPr>
        <p:spPr>
          <a:xfrm>
            <a:off x="2167128" y="3346704"/>
            <a:ext cx="402336" cy="365760"/>
          </a:xfrm>
          <a:prstGeom prst="straightConnector1">
            <a:avLst/>
          </a:prstGeom>
          <a:ln>
            <a:headEnd type="none" w="med" len="med"/>
            <a:tailEnd type="arrow" w="med" len="med"/>
          </a:ln>
        </p:spPr>
        <p:style>
          <a:lnRef idx="3">
            <a:schemeClr val="accent3"/>
          </a:lnRef>
          <a:fillRef idx="0">
            <a:schemeClr val="accent3"/>
          </a:fillRef>
          <a:effectRef idx="2">
            <a:schemeClr val="accent3"/>
          </a:effectRef>
          <a:fontRef idx="minor">
            <a:schemeClr val="tx1"/>
          </a:fontRef>
        </p:style>
      </p:cxnSp>
      <p:cxnSp>
        <p:nvCxnSpPr>
          <p:cNvPr id="6" name="Straight Arrow Connector 5">
            <a:extLst>
              <a:ext uri="{FF2B5EF4-FFF2-40B4-BE49-F238E27FC236}">
                <a16:creationId xmlns:a16="http://schemas.microsoft.com/office/drawing/2014/main" id="{3C651B07-367F-ACCE-5249-EEC9AE3BFBD2}"/>
              </a:ext>
            </a:extLst>
          </p:cNvPr>
          <p:cNvCxnSpPr/>
          <p:nvPr/>
        </p:nvCxnSpPr>
        <p:spPr>
          <a:xfrm>
            <a:off x="9259824" y="3864864"/>
            <a:ext cx="402336" cy="365760"/>
          </a:xfrm>
          <a:prstGeom prst="straightConnector1">
            <a:avLst/>
          </a:prstGeom>
          <a:ln>
            <a:headEnd type="none" w="med" len="med"/>
            <a:tailEnd type="arrow" w="med" len="med"/>
          </a:ln>
        </p:spPr>
        <p:style>
          <a:lnRef idx="3">
            <a:schemeClr val="accent3"/>
          </a:lnRef>
          <a:fillRef idx="0">
            <a:schemeClr val="accent3"/>
          </a:fillRef>
          <a:effectRef idx="2">
            <a:schemeClr val="accent3"/>
          </a:effectRef>
          <a:fontRef idx="minor">
            <a:schemeClr val="tx1"/>
          </a:fontRef>
        </p:style>
      </p:cxnSp>
      <p:cxnSp>
        <p:nvCxnSpPr>
          <p:cNvPr id="7" name="Straight Arrow Connector 6">
            <a:extLst>
              <a:ext uri="{FF2B5EF4-FFF2-40B4-BE49-F238E27FC236}">
                <a16:creationId xmlns:a16="http://schemas.microsoft.com/office/drawing/2014/main" id="{34E01392-65D9-904C-9D29-EDBDB465DB79}"/>
              </a:ext>
            </a:extLst>
          </p:cNvPr>
          <p:cNvCxnSpPr/>
          <p:nvPr/>
        </p:nvCxnSpPr>
        <p:spPr>
          <a:xfrm>
            <a:off x="9259824" y="4350411"/>
            <a:ext cx="402336" cy="365760"/>
          </a:xfrm>
          <a:prstGeom prst="straightConnector1">
            <a:avLst/>
          </a:prstGeom>
          <a:ln>
            <a:headEnd type="none" w="med" len="med"/>
            <a:tailEnd type="arrow" w="med" len="med"/>
          </a:ln>
        </p:spPr>
        <p:style>
          <a:lnRef idx="3">
            <a:schemeClr val="accent2"/>
          </a:lnRef>
          <a:fillRef idx="0">
            <a:schemeClr val="accent2"/>
          </a:fillRef>
          <a:effectRef idx="2">
            <a:schemeClr val="accent2"/>
          </a:effectRef>
          <a:fontRef idx="minor">
            <a:schemeClr val="tx1"/>
          </a:fontRef>
        </p:style>
      </p:cxnSp>
      <p:cxnSp>
        <p:nvCxnSpPr>
          <p:cNvPr id="8" name="Straight Arrow Connector 7">
            <a:extLst>
              <a:ext uri="{FF2B5EF4-FFF2-40B4-BE49-F238E27FC236}">
                <a16:creationId xmlns:a16="http://schemas.microsoft.com/office/drawing/2014/main" id="{4448ABAC-7EBF-7F1F-C65B-8A18E2E1C8BF}"/>
              </a:ext>
            </a:extLst>
          </p:cNvPr>
          <p:cNvCxnSpPr/>
          <p:nvPr/>
        </p:nvCxnSpPr>
        <p:spPr>
          <a:xfrm>
            <a:off x="2167128" y="4716171"/>
            <a:ext cx="402336" cy="365760"/>
          </a:xfrm>
          <a:prstGeom prst="straightConnector1">
            <a:avLst/>
          </a:prstGeom>
          <a:ln>
            <a:headEnd type="none" w="med" len="med"/>
            <a:tailEnd type="arrow" w="med" len="med"/>
          </a:ln>
        </p:spPr>
        <p:style>
          <a:lnRef idx="3">
            <a:schemeClr val="accent2"/>
          </a:lnRef>
          <a:fillRef idx="0">
            <a:schemeClr val="accent2"/>
          </a:fillRef>
          <a:effectRef idx="2">
            <a:schemeClr val="accent2"/>
          </a:effectRef>
          <a:fontRef idx="minor">
            <a:schemeClr val="tx1"/>
          </a:fontRef>
        </p:style>
      </p:cxnSp>
      <p:cxnSp>
        <p:nvCxnSpPr>
          <p:cNvPr id="11" name="Straight Arrow Connector 10">
            <a:extLst>
              <a:ext uri="{FF2B5EF4-FFF2-40B4-BE49-F238E27FC236}">
                <a16:creationId xmlns:a16="http://schemas.microsoft.com/office/drawing/2014/main" id="{926036A5-6621-E540-745D-C225859C70FE}"/>
              </a:ext>
            </a:extLst>
          </p:cNvPr>
          <p:cNvCxnSpPr>
            <a:cxnSpLocks/>
          </p:cNvCxnSpPr>
          <p:nvPr/>
        </p:nvCxnSpPr>
        <p:spPr>
          <a:xfrm>
            <a:off x="10457688" y="4845102"/>
            <a:ext cx="0" cy="518160"/>
          </a:xfrm>
          <a:prstGeom prst="straightConnector1">
            <a:avLst/>
          </a:prstGeom>
          <a:ln>
            <a:headEnd type="none" w="med" len="med"/>
            <a:tailEnd type="arrow" w="med" len="med"/>
          </a:ln>
        </p:spPr>
        <p:style>
          <a:lnRef idx="3">
            <a:schemeClr val="accent2"/>
          </a:lnRef>
          <a:fillRef idx="0">
            <a:schemeClr val="accent2"/>
          </a:fillRef>
          <a:effectRef idx="2">
            <a:schemeClr val="accent2"/>
          </a:effectRef>
          <a:fontRef idx="minor">
            <a:schemeClr val="tx1"/>
          </a:fontRef>
        </p:style>
      </p:cxnSp>
      <p:cxnSp>
        <p:nvCxnSpPr>
          <p:cNvPr id="13" name="Straight Arrow Connector 12">
            <a:extLst>
              <a:ext uri="{FF2B5EF4-FFF2-40B4-BE49-F238E27FC236}">
                <a16:creationId xmlns:a16="http://schemas.microsoft.com/office/drawing/2014/main" id="{DC49AFFA-3356-C649-F60B-49D7F93607B5}"/>
              </a:ext>
            </a:extLst>
          </p:cNvPr>
          <p:cNvCxnSpPr>
            <a:cxnSpLocks/>
          </p:cNvCxnSpPr>
          <p:nvPr/>
        </p:nvCxnSpPr>
        <p:spPr>
          <a:xfrm>
            <a:off x="10792968" y="5081931"/>
            <a:ext cx="509016" cy="0"/>
          </a:xfrm>
          <a:prstGeom prst="straightConnector1">
            <a:avLst/>
          </a:prstGeom>
          <a:ln>
            <a:headEnd type="none" w="med" len="med"/>
            <a:tailEnd type="arrow" w="med" len="med"/>
          </a:ln>
        </p:spPr>
        <p:style>
          <a:lnRef idx="3">
            <a:schemeClr val="accent2"/>
          </a:lnRef>
          <a:fillRef idx="0">
            <a:schemeClr val="accent2"/>
          </a:fillRef>
          <a:effectRef idx="2">
            <a:schemeClr val="accent2"/>
          </a:effectRef>
          <a:fontRef idx="minor">
            <a:schemeClr val="tx1"/>
          </a:fontRef>
        </p:style>
      </p:cxnSp>
      <p:cxnSp>
        <p:nvCxnSpPr>
          <p:cNvPr id="16" name="Straight Arrow Connector 15">
            <a:extLst>
              <a:ext uri="{FF2B5EF4-FFF2-40B4-BE49-F238E27FC236}">
                <a16:creationId xmlns:a16="http://schemas.microsoft.com/office/drawing/2014/main" id="{5FC5599D-8515-F0BA-2744-AA0C3C627553}"/>
              </a:ext>
            </a:extLst>
          </p:cNvPr>
          <p:cNvCxnSpPr>
            <a:cxnSpLocks/>
          </p:cNvCxnSpPr>
          <p:nvPr/>
        </p:nvCxnSpPr>
        <p:spPr>
          <a:xfrm>
            <a:off x="3108960" y="4198011"/>
            <a:ext cx="0" cy="518160"/>
          </a:xfrm>
          <a:prstGeom prst="straightConnector1">
            <a:avLst/>
          </a:prstGeom>
          <a:ln>
            <a:headEnd type="none" w="med" len="med"/>
            <a:tailEnd type="arrow" w="med" len="med"/>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8716969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A94286-5EA5-E1F2-C417-DEDAA5439E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4691E3-1B95-DE31-1281-C859131BC5F5}"/>
              </a:ext>
            </a:extLst>
          </p:cNvPr>
          <p:cNvSpPr>
            <a:spLocks noGrp="1"/>
          </p:cNvSpPr>
          <p:nvPr>
            <p:ph type="title"/>
          </p:nvPr>
        </p:nvSpPr>
        <p:spPr/>
        <p:txBody>
          <a:bodyPr>
            <a:normAutofit fontScale="90000"/>
          </a:bodyPr>
          <a:lstStyle/>
          <a:p>
            <a:r>
              <a:rPr lang="en-US"/>
              <a:t>Smith-Waterman alignment</a:t>
            </a:r>
          </a:p>
        </p:txBody>
      </p:sp>
      <p:sp>
        <p:nvSpPr>
          <p:cNvPr id="4" name="Slide Number Placeholder 3">
            <a:extLst>
              <a:ext uri="{FF2B5EF4-FFF2-40B4-BE49-F238E27FC236}">
                <a16:creationId xmlns:a16="http://schemas.microsoft.com/office/drawing/2014/main" id="{38332B5A-A318-F8DD-ADBE-46443F10E4D7}"/>
              </a:ext>
            </a:extLst>
          </p:cNvPr>
          <p:cNvSpPr>
            <a:spLocks noGrp="1"/>
          </p:cNvSpPr>
          <p:nvPr>
            <p:ph type="sldNum" sz="quarter" idx="12"/>
          </p:nvPr>
        </p:nvSpPr>
        <p:spPr/>
        <p:txBody>
          <a:bodyPr/>
          <a:lstStyle/>
          <a:p>
            <a:fld id="{B82CCC60-E8CD-4174-8B1A-7DF615B22EEF}" type="slidenum">
              <a:rPr lang="en-US" smtClean="0"/>
              <a:pPr/>
              <a:t>22</a:t>
            </a:fld>
            <a:endParaRPr lang="en-US"/>
          </a:p>
        </p:txBody>
      </p:sp>
      <p:graphicFrame>
        <p:nvGraphicFramePr>
          <p:cNvPr id="9" name="Table 8">
            <a:extLst>
              <a:ext uri="{FF2B5EF4-FFF2-40B4-BE49-F238E27FC236}">
                <a16:creationId xmlns:a16="http://schemas.microsoft.com/office/drawing/2014/main" id="{24FBF715-80FD-B2E1-D584-9E1467DEFF40}"/>
              </a:ext>
            </a:extLst>
          </p:cNvPr>
          <p:cNvGraphicFramePr>
            <a:graphicFrameLocks noGrp="1"/>
          </p:cNvGraphicFramePr>
          <p:nvPr/>
        </p:nvGraphicFramePr>
        <p:xfrm>
          <a:off x="412842" y="1741270"/>
          <a:ext cx="4888120" cy="4915141"/>
        </p:xfrm>
        <a:graphic>
          <a:graphicData uri="http://schemas.openxmlformats.org/drawingml/2006/table">
            <a:tbl>
              <a:tblPr>
                <a:tableStyleId>{5C22544A-7EE6-4342-B048-85BDC9FD1C3A}</a:tableStyleId>
              </a:tblPr>
              <a:tblGrid>
                <a:gridCol w="488812">
                  <a:extLst>
                    <a:ext uri="{9D8B030D-6E8A-4147-A177-3AD203B41FA5}">
                      <a16:colId xmlns:a16="http://schemas.microsoft.com/office/drawing/2014/main" val="499789085"/>
                    </a:ext>
                  </a:extLst>
                </a:gridCol>
                <a:gridCol w="488812">
                  <a:extLst>
                    <a:ext uri="{9D8B030D-6E8A-4147-A177-3AD203B41FA5}">
                      <a16:colId xmlns:a16="http://schemas.microsoft.com/office/drawing/2014/main" val="2105533424"/>
                    </a:ext>
                  </a:extLst>
                </a:gridCol>
                <a:gridCol w="488812">
                  <a:extLst>
                    <a:ext uri="{9D8B030D-6E8A-4147-A177-3AD203B41FA5}">
                      <a16:colId xmlns:a16="http://schemas.microsoft.com/office/drawing/2014/main" val="149591861"/>
                    </a:ext>
                  </a:extLst>
                </a:gridCol>
                <a:gridCol w="488812">
                  <a:extLst>
                    <a:ext uri="{9D8B030D-6E8A-4147-A177-3AD203B41FA5}">
                      <a16:colId xmlns:a16="http://schemas.microsoft.com/office/drawing/2014/main" val="1620141554"/>
                    </a:ext>
                  </a:extLst>
                </a:gridCol>
                <a:gridCol w="488812">
                  <a:extLst>
                    <a:ext uri="{9D8B030D-6E8A-4147-A177-3AD203B41FA5}">
                      <a16:colId xmlns:a16="http://schemas.microsoft.com/office/drawing/2014/main" val="3662352121"/>
                    </a:ext>
                  </a:extLst>
                </a:gridCol>
                <a:gridCol w="488812">
                  <a:extLst>
                    <a:ext uri="{9D8B030D-6E8A-4147-A177-3AD203B41FA5}">
                      <a16:colId xmlns:a16="http://schemas.microsoft.com/office/drawing/2014/main" val="2418474277"/>
                    </a:ext>
                  </a:extLst>
                </a:gridCol>
                <a:gridCol w="488812">
                  <a:extLst>
                    <a:ext uri="{9D8B030D-6E8A-4147-A177-3AD203B41FA5}">
                      <a16:colId xmlns:a16="http://schemas.microsoft.com/office/drawing/2014/main" val="2269938636"/>
                    </a:ext>
                  </a:extLst>
                </a:gridCol>
                <a:gridCol w="488812">
                  <a:extLst>
                    <a:ext uri="{9D8B030D-6E8A-4147-A177-3AD203B41FA5}">
                      <a16:colId xmlns:a16="http://schemas.microsoft.com/office/drawing/2014/main" val="1461158529"/>
                    </a:ext>
                  </a:extLst>
                </a:gridCol>
                <a:gridCol w="488812">
                  <a:extLst>
                    <a:ext uri="{9D8B030D-6E8A-4147-A177-3AD203B41FA5}">
                      <a16:colId xmlns:a16="http://schemas.microsoft.com/office/drawing/2014/main" val="3455786437"/>
                    </a:ext>
                  </a:extLst>
                </a:gridCol>
                <a:gridCol w="488812">
                  <a:extLst>
                    <a:ext uri="{9D8B030D-6E8A-4147-A177-3AD203B41FA5}">
                      <a16:colId xmlns:a16="http://schemas.microsoft.com/office/drawing/2014/main" val="2314278537"/>
                    </a:ext>
                  </a:extLst>
                </a:gridCol>
              </a:tblGrid>
              <a:tr h="446831">
                <a:tc>
                  <a:txBody>
                    <a:bodyPr/>
                    <a:lstStyle/>
                    <a:p>
                      <a:pPr algn="ctr"/>
                      <a:endParaRPr lang="en-US"/>
                    </a:p>
                  </a:txBody>
                  <a:tcPr/>
                </a:tc>
                <a:tc>
                  <a:txBody>
                    <a:bodyPr/>
                    <a:lstStyle/>
                    <a:p>
                      <a:pPr algn="ctr"/>
                      <a:endParaRPr lang="en-US"/>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A</a:t>
                      </a:r>
                    </a:p>
                  </a:txBody>
                  <a:tcPr>
                    <a:lnB w="12700" cap="flat" cmpd="sng" algn="ctr">
                      <a:solidFill>
                        <a:schemeClr val="tx1"/>
                      </a:solidFill>
                      <a:prstDash val="solid"/>
                      <a:round/>
                      <a:headEnd type="none" w="med" len="med"/>
                      <a:tailEnd type="none" w="med" len="med"/>
                    </a:lnB>
                  </a:tcPr>
                </a:tc>
                <a:tc>
                  <a:txBody>
                    <a:bodyPr/>
                    <a:lstStyle/>
                    <a:p>
                      <a:pPr algn="ctr"/>
                      <a:r>
                        <a:rPr lang="en-US"/>
                        <a:t>C</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45030461"/>
                  </a:ext>
                </a:extLst>
              </a:tr>
              <a:tr h="446831">
                <a:tc>
                  <a:txBody>
                    <a:bodyPr/>
                    <a:lstStyle/>
                    <a:p>
                      <a:pPr algn="ctr"/>
                      <a:endParaRPr lang="en-US"/>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08086283"/>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7236300"/>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28280586"/>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36395574"/>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8353299"/>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6672769"/>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0034413"/>
                  </a:ext>
                </a:extLst>
              </a:tr>
              <a:tr h="446831">
                <a:tc>
                  <a:txBody>
                    <a:bodyPr/>
                    <a:lstStyle/>
                    <a:p>
                      <a:pPr algn="ctr"/>
                      <a:r>
                        <a:rPr lang="en-US"/>
                        <a:t>C</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7693103"/>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5683901"/>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9542823"/>
                  </a:ext>
                </a:extLst>
              </a:tr>
            </a:tbl>
          </a:graphicData>
        </a:graphic>
      </p:graphicFrame>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99A67FAA-D2C5-BD9B-BBCC-D2914161E65D}"/>
                  </a:ext>
                </a:extLst>
              </p:cNvPr>
              <p:cNvSpPr>
                <a:spLocks noGrp="1"/>
              </p:cNvSpPr>
              <p:nvPr>
                <p:ph idx="1"/>
              </p:nvPr>
            </p:nvSpPr>
            <p:spPr>
              <a:xfrm>
                <a:off x="5790591" y="1596540"/>
                <a:ext cx="5955494" cy="4759811"/>
              </a:xfrm>
            </p:spPr>
            <p:txBody>
              <a:bodyPr>
                <a:normAutofit/>
              </a:bodyPr>
              <a:lstStyle/>
              <a:p>
                <a:r>
                  <a:rPr lang="en-US"/>
                  <a:t>Align sequences:</a:t>
                </a:r>
                <a:br>
                  <a:rPr lang="en-US"/>
                </a:br>
                <a:r>
                  <a:rPr lang="en-US">
                    <a:latin typeface="Courier New" panose="02070309020205020404" pitchFamily="49" charset="0"/>
                    <a:cs typeface="Courier New" panose="02070309020205020404" pitchFamily="49" charset="0"/>
                  </a:rPr>
                  <a:t>TGTTACGG </a:t>
                </a:r>
                <a:r>
                  <a:rPr lang="en-US"/>
                  <a:t>and</a:t>
                </a:r>
                <a:br>
                  <a:rPr lang="en-US"/>
                </a:br>
                <a:r>
                  <a:rPr lang="en-US">
                    <a:latin typeface="Courier New" panose="02070309020205020404" pitchFamily="49" charset="0"/>
                    <a:cs typeface="Courier New" panose="02070309020205020404" pitchFamily="49" charset="0"/>
                  </a:rPr>
                  <a:t>GGTTGACTA</a:t>
                </a:r>
              </a:p>
              <a:p>
                <a:r>
                  <a:rPr lang="en-US"/>
                  <a:t>Start filling in the table row by row:</a:t>
                </a:r>
                <a:br>
                  <a:rPr lang="en-US"/>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i="1" smtClean="0">
                        <a:latin typeface="Cambria Math" panose="02040503050406030204" pitchFamily="18" charset="0"/>
                      </a:rPr>
                      <m:t>=</m:t>
                    </m:r>
                    <m:r>
                      <a:rPr lang="en-US" b="0" i="1" smtClean="0">
                        <a:latin typeface="Cambria Math" panose="02040503050406030204" pitchFamily="18" charset="0"/>
                      </a:rPr>
                      <m:t>𝑚𝑎𝑥</m:t>
                    </m:r>
                    <m:d>
                      <m:dPr>
                        <m:begChr m:val="{"/>
                        <m:endChr m:val=""/>
                        <m:ctrlPr>
                          <a:rPr lang="en-US" b="0" i="1" smtClean="0">
                            <a:latin typeface="Cambria Math" panose="02040503050406030204" pitchFamily="18" charset="0"/>
                          </a:rPr>
                        </m:ctrlPr>
                      </m:dPr>
                      <m:e>
                        <m:m>
                          <m:mPr>
                            <m:mcs>
                              <m:mc>
                                <m:mcPr>
                                  <m:count m:val="1"/>
                                  <m:mcJc m:val="center"/>
                                </m:mcPr>
                              </m:mc>
                            </m:mcs>
                            <m:ctrlPr>
                              <a:rPr lang="en-US" b="0" i="1" smtClean="0">
                                <a:latin typeface="Cambria Math" panose="02040503050406030204" pitchFamily="18" charset="0"/>
                              </a:rPr>
                            </m:ctrlPr>
                          </m:mPr>
                          <m:m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𝑖</m:t>
                                  </m:r>
                                  <m:r>
                                    <a:rPr lang="en-US" b="0" i="1" smtClean="0">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𝑗</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𝑏</m:t>
                                  </m:r>
                                </m:e>
                                <m:sub>
                                  <m:r>
                                    <a:rPr lang="en-US" b="0" i="1" smtClean="0">
                                      <a:latin typeface="Cambria Math" panose="02040503050406030204" pitchFamily="18" charset="0"/>
                                    </a:rPr>
                                    <m:t>𝑗</m:t>
                                  </m:r>
                                </m:sub>
                              </m:sSub>
                              <m:r>
                                <a:rPr lang="en-US" b="0" i="1" smtClean="0">
                                  <a:latin typeface="Cambria Math" panose="02040503050406030204" pitchFamily="18" charset="0"/>
                                </a:rPr>
                                <m:t>)</m:t>
                              </m:r>
                            </m:e>
                          </m:mr>
                          <m:m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𝐺</m:t>
                              </m:r>
                            </m:e>
                          </m:mr>
                          <m:mr>
                            <m:e>
                              <m:m>
                                <m:mPr>
                                  <m:mcs>
                                    <m:mc>
                                      <m:mcPr>
                                        <m:count m:val="1"/>
                                        <m:mcJc m:val="center"/>
                                      </m:mcPr>
                                    </m:mc>
                                  </m:mcs>
                                  <m:ctrlPr>
                                    <a:rPr lang="en-US" b="0" i="1" smtClean="0">
                                      <a:latin typeface="Cambria Math" panose="02040503050406030204" pitchFamily="18" charset="0"/>
                                    </a:rPr>
                                  </m:ctrlPr>
                                </m:mPr>
                                <m:m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𝑖</m:t>
                                        </m:r>
                                        <m:r>
                                          <a:rPr lang="en-US" b="0" i="1" smtClean="0">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𝑗</m:t>
                                        </m:r>
                                      </m:sub>
                                    </m:sSub>
                                    <m:r>
                                      <a:rPr lang="en-US" b="0" i="1" smtClean="0">
                                        <a:latin typeface="Cambria Math" panose="02040503050406030204" pitchFamily="18" charset="0"/>
                                      </a:rPr>
                                      <m:t>−</m:t>
                                    </m:r>
                                    <m:r>
                                      <a:rPr lang="en-US" b="0" i="1" smtClean="0">
                                        <a:latin typeface="Cambria Math" panose="02040503050406030204" pitchFamily="18" charset="0"/>
                                      </a:rPr>
                                      <m:t>𝐺</m:t>
                                    </m:r>
                                  </m:e>
                                </m:mr>
                                <m:mr>
                                  <m:e>
                                    <m:r>
                                      <a:rPr lang="en-US" b="0" i="1" smtClean="0">
                                        <a:latin typeface="Cambria Math" panose="02040503050406030204" pitchFamily="18" charset="0"/>
                                      </a:rPr>
                                      <m:t>0</m:t>
                                    </m:r>
                                  </m:e>
                                </m:mr>
                              </m:m>
                            </m:e>
                          </m:mr>
                        </m:m>
                      </m:e>
                    </m:d>
                  </m:oMath>
                </a14:m>
                <a:endParaRPr lang="en-US" i="1"/>
              </a:p>
            </p:txBody>
          </p:sp>
        </mc:Choice>
        <mc:Fallback xmlns="">
          <p:sp>
            <p:nvSpPr>
              <p:cNvPr id="10" name="Content Placeholder 2">
                <a:extLst>
                  <a:ext uri="{FF2B5EF4-FFF2-40B4-BE49-F238E27FC236}">
                    <a16:creationId xmlns:a16="http://schemas.microsoft.com/office/drawing/2014/main" id="{99A67FAA-D2C5-BD9B-BBCC-D2914161E65D}"/>
                  </a:ext>
                </a:extLst>
              </p:cNvPr>
              <p:cNvSpPr>
                <a:spLocks noGrp="1" noRot="1" noChangeAspect="1" noMove="1" noResize="1" noEditPoints="1" noAdjustHandles="1" noChangeArrowheads="1" noChangeShapeType="1" noTextEdit="1"/>
              </p:cNvSpPr>
              <p:nvPr>
                <p:ph idx="1"/>
              </p:nvPr>
            </p:nvSpPr>
            <p:spPr>
              <a:xfrm>
                <a:off x="5790591" y="1596540"/>
                <a:ext cx="5955494" cy="4759811"/>
              </a:xfrm>
              <a:blipFill>
                <a:blip r:embed="rId2"/>
                <a:stretch>
                  <a:fillRect l="-1842" t="-1280"/>
                </a:stretch>
              </a:blipFill>
            </p:spPr>
            <p:txBody>
              <a:bodyPr/>
              <a:lstStyle/>
              <a:p>
                <a:r>
                  <a:rPr lang="en-US">
                    <a:noFill/>
                  </a:rPr>
                  <a:t> </a:t>
                </a:r>
              </a:p>
            </p:txBody>
          </p:sp>
        </mc:Fallback>
      </mc:AlternateContent>
    </p:spTree>
    <p:extLst>
      <p:ext uri="{BB962C8B-B14F-4D97-AF65-F5344CB8AC3E}">
        <p14:creationId xmlns:p14="http://schemas.microsoft.com/office/powerpoint/2010/main" val="39727047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A0E7F-2402-251F-AB3A-30DDE97907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ED9259-1DF5-1836-802E-0E5FAA56F9D2}"/>
              </a:ext>
            </a:extLst>
          </p:cNvPr>
          <p:cNvSpPr>
            <a:spLocks noGrp="1"/>
          </p:cNvSpPr>
          <p:nvPr>
            <p:ph type="title"/>
          </p:nvPr>
        </p:nvSpPr>
        <p:spPr/>
        <p:txBody>
          <a:bodyPr>
            <a:normAutofit fontScale="90000"/>
          </a:bodyPr>
          <a:lstStyle/>
          <a:p>
            <a:r>
              <a:rPr lang="en-US"/>
              <a:t>Smith-Waterman alignment</a:t>
            </a:r>
          </a:p>
        </p:txBody>
      </p:sp>
      <p:sp>
        <p:nvSpPr>
          <p:cNvPr id="4" name="Slide Number Placeholder 3">
            <a:extLst>
              <a:ext uri="{FF2B5EF4-FFF2-40B4-BE49-F238E27FC236}">
                <a16:creationId xmlns:a16="http://schemas.microsoft.com/office/drawing/2014/main" id="{824031AE-F77B-96BF-BAAD-2B951164D7DF}"/>
              </a:ext>
            </a:extLst>
          </p:cNvPr>
          <p:cNvSpPr>
            <a:spLocks noGrp="1"/>
          </p:cNvSpPr>
          <p:nvPr>
            <p:ph type="sldNum" sz="quarter" idx="12"/>
          </p:nvPr>
        </p:nvSpPr>
        <p:spPr/>
        <p:txBody>
          <a:bodyPr/>
          <a:lstStyle/>
          <a:p>
            <a:fld id="{B82CCC60-E8CD-4174-8B1A-7DF615B22EEF}" type="slidenum">
              <a:rPr lang="en-US" smtClean="0"/>
              <a:pPr/>
              <a:t>23</a:t>
            </a:fld>
            <a:endParaRPr lang="en-US"/>
          </a:p>
        </p:txBody>
      </p:sp>
      <p:graphicFrame>
        <p:nvGraphicFramePr>
          <p:cNvPr id="9" name="Table 8">
            <a:extLst>
              <a:ext uri="{FF2B5EF4-FFF2-40B4-BE49-F238E27FC236}">
                <a16:creationId xmlns:a16="http://schemas.microsoft.com/office/drawing/2014/main" id="{6C4C7723-DFDB-2D45-BB4F-CBF3E953217B}"/>
              </a:ext>
            </a:extLst>
          </p:cNvPr>
          <p:cNvGraphicFramePr>
            <a:graphicFrameLocks noGrp="1"/>
          </p:cNvGraphicFramePr>
          <p:nvPr>
            <p:extLst>
              <p:ext uri="{D42A27DB-BD31-4B8C-83A1-F6EECF244321}">
                <p14:modId xmlns:p14="http://schemas.microsoft.com/office/powerpoint/2010/main" val="2277291980"/>
              </p:ext>
            </p:extLst>
          </p:nvPr>
        </p:nvGraphicFramePr>
        <p:xfrm>
          <a:off x="412842" y="1741270"/>
          <a:ext cx="4888120" cy="4915141"/>
        </p:xfrm>
        <a:graphic>
          <a:graphicData uri="http://schemas.openxmlformats.org/drawingml/2006/table">
            <a:tbl>
              <a:tblPr>
                <a:tableStyleId>{5C22544A-7EE6-4342-B048-85BDC9FD1C3A}</a:tableStyleId>
              </a:tblPr>
              <a:tblGrid>
                <a:gridCol w="488812">
                  <a:extLst>
                    <a:ext uri="{9D8B030D-6E8A-4147-A177-3AD203B41FA5}">
                      <a16:colId xmlns:a16="http://schemas.microsoft.com/office/drawing/2014/main" val="499789085"/>
                    </a:ext>
                  </a:extLst>
                </a:gridCol>
                <a:gridCol w="488812">
                  <a:extLst>
                    <a:ext uri="{9D8B030D-6E8A-4147-A177-3AD203B41FA5}">
                      <a16:colId xmlns:a16="http://schemas.microsoft.com/office/drawing/2014/main" val="2105533424"/>
                    </a:ext>
                  </a:extLst>
                </a:gridCol>
                <a:gridCol w="488812">
                  <a:extLst>
                    <a:ext uri="{9D8B030D-6E8A-4147-A177-3AD203B41FA5}">
                      <a16:colId xmlns:a16="http://schemas.microsoft.com/office/drawing/2014/main" val="149591861"/>
                    </a:ext>
                  </a:extLst>
                </a:gridCol>
                <a:gridCol w="488812">
                  <a:extLst>
                    <a:ext uri="{9D8B030D-6E8A-4147-A177-3AD203B41FA5}">
                      <a16:colId xmlns:a16="http://schemas.microsoft.com/office/drawing/2014/main" val="1620141554"/>
                    </a:ext>
                  </a:extLst>
                </a:gridCol>
                <a:gridCol w="488812">
                  <a:extLst>
                    <a:ext uri="{9D8B030D-6E8A-4147-A177-3AD203B41FA5}">
                      <a16:colId xmlns:a16="http://schemas.microsoft.com/office/drawing/2014/main" val="3662352121"/>
                    </a:ext>
                  </a:extLst>
                </a:gridCol>
                <a:gridCol w="488812">
                  <a:extLst>
                    <a:ext uri="{9D8B030D-6E8A-4147-A177-3AD203B41FA5}">
                      <a16:colId xmlns:a16="http://schemas.microsoft.com/office/drawing/2014/main" val="2418474277"/>
                    </a:ext>
                  </a:extLst>
                </a:gridCol>
                <a:gridCol w="488812">
                  <a:extLst>
                    <a:ext uri="{9D8B030D-6E8A-4147-A177-3AD203B41FA5}">
                      <a16:colId xmlns:a16="http://schemas.microsoft.com/office/drawing/2014/main" val="2269938636"/>
                    </a:ext>
                  </a:extLst>
                </a:gridCol>
                <a:gridCol w="488812">
                  <a:extLst>
                    <a:ext uri="{9D8B030D-6E8A-4147-A177-3AD203B41FA5}">
                      <a16:colId xmlns:a16="http://schemas.microsoft.com/office/drawing/2014/main" val="1461158529"/>
                    </a:ext>
                  </a:extLst>
                </a:gridCol>
                <a:gridCol w="488812">
                  <a:extLst>
                    <a:ext uri="{9D8B030D-6E8A-4147-A177-3AD203B41FA5}">
                      <a16:colId xmlns:a16="http://schemas.microsoft.com/office/drawing/2014/main" val="3455786437"/>
                    </a:ext>
                  </a:extLst>
                </a:gridCol>
                <a:gridCol w="488812">
                  <a:extLst>
                    <a:ext uri="{9D8B030D-6E8A-4147-A177-3AD203B41FA5}">
                      <a16:colId xmlns:a16="http://schemas.microsoft.com/office/drawing/2014/main" val="2314278537"/>
                    </a:ext>
                  </a:extLst>
                </a:gridCol>
              </a:tblGrid>
              <a:tr h="446831">
                <a:tc>
                  <a:txBody>
                    <a:bodyPr/>
                    <a:lstStyle/>
                    <a:p>
                      <a:pPr algn="ctr"/>
                      <a:endParaRPr lang="en-US"/>
                    </a:p>
                  </a:txBody>
                  <a:tcPr/>
                </a:tc>
                <a:tc>
                  <a:txBody>
                    <a:bodyPr/>
                    <a:lstStyle/>
                    <a:p>
                      <a:pPr algn="ctr"/>
                      <a:endParaRPr lang="en-US"/>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A</a:t>
                      </a:r>
                    </a:p>
                  </a:txBody>
                  <a:tcPr>
                    <a:lnB w="12700" cap="flat" cmpd="sng" algn="ctr">
                      <a:solidFill>
                        <a:schemeClr val="tx1"/>
                      </a:solidFill>
                      <a:prstDash val="solid"/>
                      <a:round/>
                      <a:headEnd type="none" w="med" len="med"/>
                      <a:tailEnd type="none" w="med" len="med"/>
                    </a:lnB>
                  </a:tcPr>
                </a:tc>
                <a:tc>
                  <a:txBody>
                    <a:bodyPr/>
                    <a:lstStyle/>
                    <a:p>
                      <a:pPr algn="ctr"/>
                      <a:r>
                        <a:rPr lang="en-US"/>
                        <a:t>C</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45030461"/>
                  </a:ext>
                </a:extLst>
              </a:tr>
              <a:tr h="446831">
                <a:tc>
                  <a:txBody>
                    <a:bodyPr/>
                    <a:lstStyle/>
                    <a:p>
                      <a:pPr algn="ctr"/>
                      <a:endParaRPr lang="en-US"/>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08086283"/>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7236300"/>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28280586"/>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36395574"/>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8353299"/>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6672769"/>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0034413"/>
                  </a:ext>
                </a:extLst>
              </a:tr>
              <a:tr h="446831">
                <a:tc>
                  <a:txBody>
                    <a:bodyPr/>
                    <a:lstStyle/>
                    <a:p>
                      <a:pPr algn="ctr"/>
                      <a:r>
                        <a:rPr lang="en-US"/>
                        <a:t>C</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7693103"/>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5683901"/>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9542823"/>
                  </a:ext>
                </a:extLst>
              </a:tr>
            </a:tbl>
          </a:graphicData>
        </a:graphic>
      </p:graphicFrame>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05A8BECB-754D-3352-006E-1947A092D7FD}"/>
                  </a:ext>
                </a:extLst>
              </p:cNvPr>
              <p:cNvSpPr>
                <a:spLocks noGrp="1"/>
              </p:cNvSpPr>
              <p:nvPr>
                <p:ph idx="1"/>
              </p:nvPr>
            </p:nvSpPr>
            <p:spPr>
              <a:xfrm>
                <a:off x="5790591" y="1596540"/>
                <a:ext cx="5955494" cy="4759811"/>
              </a:xfrm>
            </p:spPr>
            <p:txBody>
              <a:bodyPr>
                <a:normAutofit/>
              </a:bodyPr>
              <a:lstStyle/>
              <a:p>
                <a:r>
                  <a:rPr lang="en-US"/>
                  <a:t>Align sequences:</a:t>
                </a:r>
                <a:br>
                  <a:rPr lang="en-US"/>
                </a:br>
                <a:r>
                  <a:rPr lang="en-US">
                    <a:latin typeface="Courier New" panose="02070309020205020404" pitchFamily="49" charset="0"/>
                    <a:cs typeface="Courier New" panose="02070309020205020404" pitchFamily="49" charset="0"/>
                  </a:rPr>
                  <a:t>TGTTACGG </a:t>
                </a:r>
                <a:r>
                  <a:rPr lang="en-US"/>
                  <a:t>and</a:t>
                </a:r>
                <a:br>
                  <a:rPr lang="en-US"/>
                </a:br>
                <a:r>
                  <a:rPr lang="en-US">
                    <a:latin typeface="Courier New" panose="02070309020205020404" pitchFamily="49" charset="0"/>
                    <a:cs typeface="Courier New" panose="02070309020205020404" pitchFamily="49" charset="0"/>
                  </a:rPr>
                  <a:t>GGTTGACTA</a:t>
                </a:r>
              </a:p>
              <a:p>
                <a:r>
                  <a:rPr lang="en-US"/>
                  <a:t>Start filling in the table:</a:t>
                </a:r>
                <a:br>
                  <a:rPr lang="en-US"/>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i="1" smtClean="0">
                        <a:latin typeface="Cambria Math" panose="02040503050406030204" pitchFamily="18" charset="0"/>
                      </a:rPr>
                      <m:t>=</m:t>
                    </m:r>
                    <m:r>
                      <a:rPr lang="en-US" b="0" i="1" smtClean="0">
                        <a:latin typeface="Cambria Math" panose="02040503050406030204" pitchFamily="18" charset="0"/>
                      </a:rPr>
                      <m:t>𝑚𝑎𝑥</m:t>
                    </m:r>
                    <m:d>
                      <m:dPr>
                        <m:begChr m:val="{"/>
                        <m:endChr m:val=""/>
                        <m:ctrlPr>
                          <a:rPr lang="en-US" b="0" i="1" smtClean="0">
                            <a:latin typeface="Cambria Math" panose="02040503050406030204" pitchFamily="18" charset="0"/>
                          </a:rPr>
                        </m:ctrlPr>
                      </m:dPr>
                      <m:e>
                        <m:m>
                          <m:mPr>
                            <m:mcs>
                              <m:mc>
                                <m:mcPr>
                                  <m:count m:val="1"/>
                                  <m:mcJc m:val="center"/>
                                </m:mcPr>
                              </m:mc>
                            </m:mcs>
                            <m:ctrlPr>
                              <a:rPr lang="en-US" b="0" i="1" smtClean="0">
                                <a:latin typeface="Cambria Math" panose="02040503050406030204" pitchFamily="18" charset="0"/>
                              </a:rPr>
                            </m:ctrlPr>
                          </m:mPr>
                          <m:m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𝑖</m:t>
                                  </m:r>
                                  <m:r>
                                    <a:rPr lang="en-US" b="0" i="1" smtClean="0">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𝑗</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𝑏</m:t>
                                  </m:r>
                                </m:e>
                                <m:sub>
                                  <m:r>
                                    <a:rPr lang="en-US" b="0" i="1" smtClean="0">
                                      <a:latin typeface="Cambria Math" panose="02040503050406030204" pitchFamily="18" charset="0"/>
                                    </a:rPr>
                                    <m:t>𝑗</m:t>
                                  </m:r>
                                </m:sub>
                              </m:sSub>
                              <m:r>
                                <a:rPr lang="en-US" b="0" i="1" smtClean="0">
                                  <a:latin typeface="Cambria Math" panose="02040503050406030204" pitchFamily="18" charset="0"/>
                                </a:rPr>
                                <m:t>)</m:t>
                              </m:r>
                            </m:e>
                          </m:mr>
                          <m:m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𝐺</m:t>
                              </m:r>
                            </m:e>
                          </m:mr>
                          <m:mr>
                            <m:e>
                              <m:m>
                                <m:mPr>
                                  <m:mcs>
                                    <m:mc>
                                      <m:mcPr>
                                        <m:count m:val="1"/>
                                        <m:mcJc m:val="center"/>
                                      </m:mcPr>
                                    </m:mc>
                                  </m:mcs>
                                  <m:ctrlPr>
                                    <a:rPr lang="en-US" b="0" i="1" smtClean="0">
                                      <a:latin typeface="Cambria Math" panose="02040503050406030204" pitchFamily="18" charset="0"/>
                                    </a:rPr>
                                  </m:ctrlPr>
                                </m:mPr>
                                <m:m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𝑖</m:t>
                                        </m:r>
                                        <m:r>
                                          <a:rPr lang="en-US" b="0" i="1" smtClean="0">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𝑗</m:t>
                                        </m:r>
                                      </m:sub>
                                    </m:sSub>
                                    <m:r>
                                      <a:rPr lang="en-US" b="0" i="1" smtClean="0">
                                        <a:latin typeface="Cambria Math" panose="02040503050406030204" pitchFamily="18" charset="0"/>
                                      </a:rPr>
                                      <m:t>−</m:t>
                                    </m:r>
                                    <m:r>
                                      <a:rPr lang="en-US" b="0" i="1" smtClean="0">
                                        <a:latin typeface="Cambria Math" panose="02040503050406030204" pitchFamily="18" charset="0"/>
                                      </a:rPr>
                                      <m:t>𝐺</m:t>
                                    </m:r>
                                  </m:e>
                                </m:mr>
                                <m:mr>
                                  <m:e>
                                    <m:r>
                                      <a:rPr lang="en-US" b="0" i="1" smtClean="0">
                                        <a:latin typeface="Cambria Math" panose="02040503050406030204" pitchFamily="18" charset="0"/>
                                      </a:rPr>
                                      <m:t>0</m:t>
                                    </m:r>
                                  </m:e>
                                </m:mr>
                              </m:m>
                            </m:e>
                          </m:mr>
                        </m:m>
                      </m:e>
                    </m:d>
                  </m:oMath>
                </a14:m>
                <a:endParaRPr lang="en-US" i="1"/>
              </a:p>
            </p:txBody>
          </p:sp>
        </mc:Choice>
        <mc:Fallback xmlns="">
          <p:sp>
            <p:nvSpPr>
              <p:cNvPr id="10" name="Content Placeholder 2">
                <a:extLst>
                  <a:ext uri="{FF2B5EF4-FFF2-40B4-BE49-F238E27FC236}">
                    <a16:creationId xmlns:a16="http://schemas.microsoft.com/office/drawing/2014/main" id="{05A8BECB-754D-3352-006E-1947A092D7FD}"/>
                  </a:ext>
                </a:extLst>
              </p:cNvPr>
              <p:cNvSpPr>
                <a:spLocks noGrp="1" noRot="1" noChangeAspect="1" noMove="1" noResize="1" noEditPoints="1" noAdjustHandles="1" noChangeArrowheads="1" noChangeShapeType="1" noTextEdit="1"/>
              </p:cNvSpPr>
              <p:nvPr>
                <p:ph idx="1"/>
              </p:nvPr>
            </p:nvSpPr>
            <p:spPr>
              <a:xfrm>
                <a:off x="5790591" y="1596540"/>
                <a:ext cx="5955494" cy="4759811"/>
              </a:xfrm>
              <a:blipFill>
                <a:blip r:embed="rId2"/>
                <a:stretch>
                  <a:fillRect l="-1842" t="-1280"/>
                </a:stretch>
              </a:blipFill>
            </p:spPr>
            <p:txBody>
              <a:bodyPr/>
              <a:lstStyle/>
              <a:p>
                <a:r>
                  <a:rPr lang="en-US">
                    <a:noFill/>
                  </a:rPr>
                  <a:t> </a:t>
                </a:r>
              </a:p>
            </p:txBody>
          </p:sp>
        </mc:Fallback>
      </mc:AlternateContent>
      <p:sp>
        <p:nvSpPr>
          <p:cNvPr id="5" name="Arrow: Right 4">
            <a:extLst>
              <a:ext uri="{FF2B5EF4-FFF2-40B4-BE49-F238E27FC236}">
                <a16:creationId xmlns:a16="http://schemas.microsoft.com/office/drawing/2014/main" id="{62770A31-746E-DAC8-F72D-F8E9C4343DF2}"/>
              </a:ext>
            </a:extLst>
          </p:cNvPr>
          <p:cNvSpPr/>
          <p:nvPr/>
        </p:nvSpPr>
        <p:spPr>
          <a:xfrm>
            <a:off x="11353342" y="4568529"/>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Arrow: Right 6">
            <a:extLst>
              <a:ext uri="{FF2B5EF4-FFF2-40B4-BE49-F238E27FC236}">
                <a16:creationId xmlns:a16="http://schemas.microsoft.com/office/drawing/2014/main" id="{009A1A77-1C22-2508-B64C-A53B7B9E5A04}"/>
              </a:ext>
            </a:extLst>
          </p:cNvPr>
          <p:cNvSpPr/>
          <p:nvPr/>
        </p:nvSpPr>
        <p:spPr>
          <a:xfrm rot="5400000">
            <a:off x="11353342" y="4122488"/>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Arrow: Right 7">
            <a:extLst>
              <a:ext uri="{FF2B5EF4-FFF2-40B4-BE49-F238E27FC236}">
                <a16:creationId xmlns:a16="http://schemas.microsoft.com/office/drawing/2014/main" id="{F78037FE-F22D-2351-D0D1-C7B72C6EBC39}"/>
              </a:ext>
            </a:extLst>
          </p:cNvPr>
          <p:cNvSpPr/>
          <p:nvPr/>
        </p:nvSpPr>
        <p:spPr>
          <a:xfrm rot="2873019">
            <a:off x="11333800" y="362162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5AD01126-C9C6-B6DD-4C28-82D663674BDE}"/>
              </a:ext>
            </a:extLst>
          </p:cNvPr>
          <p:cNvSpPr/>
          <p:nvPr/>
        </p:nvSpPr>
        <p:spPr>
          <a:xfrm>
            <a:off x="2208220" y="2761030"/>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Arrow: Right 14">
            <a:extLst>
              <a:ext uri="{FF2B5EF4-FFF2-40B4-BE49-F238E27FC236}">
                <a16:creationId xmlns:a16="http://schemas.microsoft.com/office/drawing/2014/main" id="{D5E5987B-7E32-6F1E-BC3E-0DC6C56B2568}"/>
              </a:ext>
            </a:extLst>
          </p:cNvPr>
          <p:cNvSpPr/>
          <p:nvPr/>
        </p:nvSpPr>
        <p:spPr>
          <a:xfrm rot="2873019">
            <a:off x="1715408" y="2520199"/>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Arrow: Right 15">
            <a:extLst>
              <a:ext uri="{FF2B5EF4-FFF2-40B4-BE49-F238E27FC236}">
                <a16:creationId xmlns:a16="http://schemas.microsoft.com/office/drawing/2014/main" id="{DBB521F8-FDC6-E2D1-72F3-618F875B9775}"/>
              </a:ext>
            </a:extLst>
          </p:cNvPr>
          <p:cNvSpPr/>
          <p:nvPr/>
        </p:nvSpPr>
        <p:spPr>
          <a:xfrm rot="2873019">
            <a:off x="4156303" y="2563127"/>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Arrow: Right 16">
            <a:extLst>
              <a:ext uri="{FF2B5EF4-FFF2-40B4-BE49-F238E27FC236}">
                <a16:creationId xmlns:a16="http://schemas.microsoft.com/office/drawing/2014/main" id="{DFB6FEC7-D99C-C86C-23E0-4FB82AA518A1}"/>
              </a:ext>
            </a:extLst>
          </p:cNvPr>
          <p:cNvSpPr/>
          <p:nvPr/>
        </p:nvSpPr>
        <p:spPr>
          <a:xfrm rot="2873019">
            <a:off x="4661458" y="255360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131822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3D49F8-5D84-9429-0C52-E748B5B4B5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669AA5-833F-28DA-B9C1-378D0F849B72}"/>
              </a:ext>
            </a:extLst>
          </p:cNvPr>
          <p:cNvSpPr>
            <a:spLocks noGrp="1"/>
          </p:cNvSpPr>
          <p:nvPr>
            <p:ph type="title"/>
          </p:nvPr>
        </p:nvSpPr>
        <p:spPr/>
        <p:txBody>
          <a:bodyPr>
            <a:normAutofit fontScale="90000"/>
          </a:bodyPr>
          <a:lstStyle/>
          <a:p>
            <a:r>
              <a:rPr lang="en-US"/>
              <a:t>Smith-Waterman alignment</a:t>
            </a:r>
          </a:p>
        </p:txBody>
      </p:sp>
      <p:sp>
        <p:nvSpPr>
          <p:cNvPr id="4" name="Slide Number Placeholder 3">
            <a:extLst>
              <a:ext uri="{FF2B5EF4-FFF2-40B4-BE49-F238E27FC236}">
                <a16:creationId xmlns:a16="http://schemas.microsoft.com/office/drawing/2014/main" id="{39C81E7B-F8E9-D46D-232E-300163A2952D}"/>
              </a:ext>
            </a:extLst>
          </p:cNvPr>
          <p:cNvSpPr>
            <a:spLocks noGrp="1"/>
          </p:cNvSpPr>
          <p:nvPr>
            <p:ph type="sldNum" sz="quarter" idx="12"/>
          </p:nvPr>
        </p:nvSpPr>
        <p:spPr/>
        <p:txBody>
          <a:bodyPr/>
          <a:lstStyle/>
          <a:p>
            <a:fld id="{B82CCC60-E8CD-4174-8B1A-7DF615B22EEF}" type="slidenum">
              <a:rPr lang="en-US" smtClean="0"/>
              <a:pPr/>
              <a:t>24</a:t>
            </a:fld>
            <a:endParaRPr lang="en-US"/>
          </a:p>
        </p:txBody>
      </p:sp>
      <p:graphicFrame>
        <p:nvGraphicFramePr>
          <p:cNvPr id="9" name="Table 8">
            <a:extLst>
              <a:ext uri="{FF2B5EF4-FFF2-40B4-BE49-F238E27FC236}">
                <a16:creationId xmlns:a16="http://schemas.microsoft.com/office/drawing/2014/main" id="{7A1FACD4-DE24-0676-0116-299D94AFBFCF}"/>
              </a:ext>
            </a:extLst>
          </p:cNvPr>
          <p:cNvGraphicFramePr>
            <a:graphicFrameLocks noGrp="1"/>
          </p:cNvGraphicFramePr>
          <p:nvPr>
            <p:extLst>
              <p:ext uri="{D42A27DB-BD31-4B8C-83A1-F6EECF244321}">
                <p14:modId xmlns:p14="http://schemas.microsoft.com/office/powerpoint/2010/main" val="337079066"/>
              </p:ext>
            </p:extLst>
          </p:nvPr>
        </p:nvGraphicFramePr>
        <p:xfrm>
          <a:off x="412842" y="1741270"/>
          <a:ext cx="4888120" cy="4915141"/>
        </p:xfrm>
        <a:graphic>
          <a:graphicData uri="http://schemas.openxmlformats.org/drawingml/2006/table">
            <a:tbl>
              <a:tblPr>
                <a:tableStyleId>{5C22544A-7EE6-4342-B048-85BDC9FD1C3A}</a:tableStyleId>
              </a:tblPr>
              <a:tblGrid>
                <a:gridCol w="488812">
                  <a:extLst>
                    <a:ext uri="{9D8B030D-6E8A-4147-A177-3AD203B41FA5}">
                      <a16:colId xmlns:a16="http://schemas.microsoft.com/office/drawing/2014/main" val="499789085"/>
                    </a:ext>
                  </a:extLst>
                </a:gridCol>
                <a:gridCol w="488812">
                  <a:extLst>
                    <a:ext uri="{9D8B030D-6E8A-4147-A177-3AD203B41FA5}">
                      <a16:colId xmlns:a16="http://schemas.microsoft.com/office/drawing/2014/main" val="2105533424"/>
                    </a:ext>
                  </a:extLst>
                </a:gridCol>
                <a:gridCol w="488812">
                  <a:extLst>
                    <a:ext uri="{9D8B030D-6E8A-4147-A177-3AD203B41FA5}">
                      <a16:colId xmlns:a16="http://schemas.microsoft.com/office/drawing/2014/main" val="149591861"/>
                    </a:ext>
                  </a:extLst>
                </a:gridCol>
                <a:gridCol w="488812">
                  <a:extLst>
                    <a:ext uri="{9D8B030D-6E8A-4147-A177-3AD203B41FA5}">
                      <a16:colId xmlns:a16="http://schemas.microsoft.com/office/drawing/2014/main" val="1620141554"/>
                    </a:ext>
                  </a:extLst>
                </a:gridCol>
                <a:gridCol w="488812">
                  <a:extLst>
                    <a:ext uri="{9D8B030D-6E8A-4147-A177-3AD203B41FA5}">
                      <a16:colId xmlns:a16="http://schemas.microsoft.com/office/drawing/2014/main" val="3662352121"/>
                    </a:ext>
                  </a:extLst>
                </a:gridCol>
                <a:gridCol w="488812">
                  <a:extLst>
                    <a:ext uri="{9D8B030D-6E8A-4147-A177-3AD203B41FA5}">
                      <a16:colId xmlns:a16="http://schemas.microsoft.com/office/drawing/2014/main" val="2418474277"/>
                    </a:ext>
                  </a:extLst>
                </a:gridCol>
                <a:gridCol w="488812">
                  <a:extLst>
                    <a:ext uri="{9D8B030D-6E8A-4147-A177-3AD203B41FA5}">
                      <a16:colId xmlns:a16="http://schemas.microsoft.com/office/drawing/2014/main" val="2269938636"/>
                    </a:ext>
                  </a:extLst>
                </a:gridCol>
                <a:gridCol w="488812">
                  <a:extLst>
                    <a:ext uri="{9D8B030D-6E8A-4147-A177-3AD203B41FA5}">
                      <a16:colId xmlns:a16="http://schemas.microsoft.com/office/drawing/2014/main" val="1461158529"/>
                    </a:ext>
                  </a:extLst>
                </a:gridCol>
                <a:gridCol w="488812">
                  <a:extLst>
                    <a:ext uri="{9D8B030D-6E8A-4147-A177-3AD203B41FA5}">
                      <a16:colId xmlns:a16="http://schemas.microsoft.com/office/drawing/2014/main" val="3455786437"/>
                    </a:ext>
                  </a:extLst>
                </a:gridCol>
                <a:gridCol w="488812">
                  <a:extLst>
                    <a:ext uri="{9D8B030D-6E8A-4147-A177-3AD203B41FA5}">
                      <a16:colId xmlns:a16="http://schemas.microsoft.com/office/drawing/2014/main" val="2314278537"/>
                    </a:ext>
                  </a:extLst>
                </a:gridCol>
              </a:tblGrid>
              <a:tr h="446831">
                <a:tc>
                  <a:txBody>
                    <a:bodyPr/>
                    <a:lstStyle/>
                    <a:p>
                      <a:pPr algn="ctr"/>
                      <a:endParaRPr lang="en-US"/>
                    </a:p>
                  </a:txBody>
                  <a:tcPr/>
                </a:tc>
                <a:tc>
                  <a:txBody>
                    <a:bodyPr/>
                    <a:lstStyle/>
                    <a:p>
                      <a:pPr algn="ctr"/>
                      <a:endParaRPr lang="en-US"/>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A</a:t>
                      </a:r>
                    </a:p>
                  </a:txBody>
                  <a:tcPr>
                    <a:lnB w="12700" cap="flat" cmpd="sng" algn="ctr">
                      <a:solidFill>
                        <a:schemeClr val="tx1"/>
                      </a:solidFill>
                      <a:prstDash val="solid"/>
                      <a:round/>
                      <a:headEnd type="none" w="med" len="med"/>
                      <a:tailEnd type="none" w="med" len="med"/>
                    </a:lnB>
                  </a:tcPr>
                </a:tc>
                <a:tc>
                  <a:txBody>
                    <a:bodyPr/>
                    <a:lstStyle/>
                    <a:p>
                      <a:pPr algn="ctr"/>
                      <a:r>
                        <a:rPr lang="en-US"/>
                        <a:t>C</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45030461"/>
                  </a:ext>
                </a:extLst>
              </a:tr>
              <a:tr h="446831">
                <a:tc>
                  <a:txBody>
                    <a:bodyPr/>
                    <a:lstStyle/>
                    <a:p>
                      <a:pPr algn="ctr"/>
                      <a:endParaRPr lang="en-US"/>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08086283"/>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7236300"/>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28280586"/>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36395574"/>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8353299"/>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6672769"/>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0034413"/>
                  </a:ext>
                </a:extLst>
              </a:tr>
              <a:tr h="446831">
                <a:tc>
                  <a:txBody>
                    <a:bodyPr/>
                    <a:lstStyle/>
                    <a:p>
                      <a:pPr algn="ctr"/>
                      <a:r>
                        <a:rPr lang="en-US"/>
                        <a:t>C</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7693103"/>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5683901"/>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9542823"/>
                  </a:ext>
                </a:extLst>
              </a:tr>
            </a:tbl>
          </a:graphicData>
        </a:graphic>
      </p:graphicFrame>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725559AA-472D-351A-E8B4-CAB351795661}"/>
                  </a:ext>
                </a:extLst>
              </p:cNvPr>
              <p:cNvSpPr>
                <a:spLocks noGrp="1"/>
              </p:cNvSpPr>
              <p:nvPr>
                <p:ph idx="1"/>
              </p:nvPr>
            </p:nvSpPr>
            <p:spPr>
              <a:xfrm>
                <a:off x="5790591" y="1596540"/>
                <a:ext cx="5955494" cy="4759811"/>
              </a:xfrm>
            </p:spPr>
            <p:txBody>
              <a:bodyPr>
                <a:normAutofit/>
              </a:bodyPr>
              <a:lstStyle/>
              <a:p>
                <a:r>
                  <a:rPr lang="en-US"/>
                  <a:t>Align sequences:</a:t>
                </a:r>
                <a:br>
                  <a:rPr lang="en-US"/>
                </a:br>
                <a:r>
                  <a:rPr lang="en-US">
                    <a:latin typeface="Courier New" panose="02070309020205020404" pitchFamily="49" charset="0"/>
                    <a:cs typeface="Courier New" panose="02070309020205020404" pitchFamily="49" charset="0"/>
                  </a:rPr>
                  <a:t>TGTTACGG </a:t>
                </a:r>
                <a:r>
                  <a:rPr lang="en-US"/>
                  <a:t>and</a:t>
                </a:r>
                <a:br>
                  <a:rPr lang="en-US"/>
                </a:br>
                <a:r>
                  <a:rPr lang="en-US">
                    <a:latin typeface="Courier New" panose="02070309020205020404" pitchFamily="49" charset="0"/>
                    <a:cs typeface="Courier New" panose="02070309020205020404" pitchFamily="49" charset="0"/>
                  </a:rPr>
                  <a:t>GGTTGACTA</a:t>
                </a:r>
              </a:p>
              <a:p>
                <a:r>
                  <a:rPr lang="en-US"/>
                  <a:t>Start filling in the table:</a:t>
                </a:r>
                <a:br>
                  <a:rPr lang="en-US"/>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i="1" smtClean="0">
                        <a:latin typeface="Cambria Math" panose="02040503050406030204" pitchFamily="18" charset="0"/>
                      </a:rPr>
                      <m:t>=</m:t>
                    </m:r>
                    <m:r>
                      <a:rPr lang="en-US" b="0" i="1" smtClean="0">
                        <a:latin typeface="Cambria Math" panose="02040503050406030204" pitchFamily="18" charset="0"/>
                      </a:rPr>
                      <m:t>𝑚𝑎𝑥</m:t>
                    </m:r>
                    <m:d>
                      <m:dPr>
                        <m:begChr m:val="{"/>
                        <m:endChr m:val=""/>
                        <m:ctrlPr>
                          <a:rPr lang="en-US" b="0" i="1" smtClean="0">
                            <a:latin typeface="Cambria Math" panose="02040503050406030204" pitchFamily="18" charset="0"/>
                          </a:rPr>
                        </m:ctrlPr>
                      </m:dPr>
                      <m:e>
                        <m:m>
                          <m:mPr>
                            <m:mcs>
                              <m:mc>
                                <m:mcPr>
                                  <m:count m:val="1"/>
                                  <m:mcJc m:val="center"/>
                                </m:mcPr>
                              </m:mc>
                            </m:mcs>
                            <m:ctrlPr>
                              <a:rPr lang="en-US" b="0" i="1" smtClean="0">
                                <a:latin typeface="Cambria Math" panose="02040503050406030204" pitchFamily="18" charset="0"/>
                              </a:rPr>
                            </m:ctrlPr>
                          </m:mPr>
                          <m:m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𝑖</m:t>
                                  </m:r>
                                  <m:r>
                                    <a:rPr lang="en-US" b="0" i="1" smtClean="0">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𝑗</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𝑏</m:t>
                                  </m:r>
                                </m:e>
                                <m:sub>
                                  <m:r>
                                    <a:rPr lang="en-US" b="0" i="1" smtClean="0">
                                      <a:latin typeface="Cambria Math" panose="02040503050406030204" pitchFamily="18" charset="0"/>
                                    </a:rPr>
                                    <m:t>𝑗</m:t>
                                  </m:r>
                                </m:sub>
                              </m:sSub>
                              <m:r>
                                <a:rPr lang="en-US" b="0" i="1" smtClean="0">
                                  <a:latin typeface="Cambria Math" panose="02040503050406030204" pitchFamily="18" charset="0"/>
                                </a:rPr>
                                <m:t>)</m:t>
                              </m:r>
                            </m:e>
                          </m:mr>
                          <m:m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𝐺</m:t>
                              </m:r>
                            </m:e>
                          </m:mr>
                          <m:mr>
                            <m:e>
                              <m:m>
                                <m:mPr>
                                  <m:mcs>
                                    <m:mc>
                                      <m:mcPr>
                                        <m:count m:val="1"/>
                                        <m:mcJc m:val="center"/>
                                      </m:mcPr>
                                    </m:mc>
                                  </m:mcs>
                                  <m:ctrlPr>
                                    <a:rPr lang="en-US" b="0" i="1" smtClean="0">
                                      <a:latin typeface="Cambria Math" panose="02040503050406030204" pitchFamily="18" charset="0"/>
                                    </a:rPr>
                                  </m:ctrlPr>
                                </m:mPr>
                                <m:m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𝑖</m:t>
                                        </m:r>
                                        <m:r>
                                          <a:rPr lang="en-US" b="0" i="1" smtClean="0">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𝑗</m:t>
                                        </m:r>
                                      </m:sub>
                                    </m:sSub>
                                    <m:r>
                                      <a:rPr lang="en-US" b="0" i="1" smtClean="0">
                                        <a:latin typeface="Cambria Math" panose="02040503050406030204" pitchFamily="18" charset="0"/>
                                      </a:rPr>
                                      <m:t>−</m:t>
                                    </m:r>
                                    <m:r>
                                      <a:rPr lang="en-US" b="0" i="1" smtClean="0">
                                        <a:latin typeface="Cambria Math" panose="02040503050406030204" pitchFamily="18" charset="0"/>
                                      </a:rPr>
                                      <m:t>𝐺</m:t>
                                    </m:r>
                                  </m:e>
                                </m:mr>
                                <m:mr>
                                  <m:e>
                                    <m:r>
                                      <a:rPr lang="en-US" b="0" i="1" smtClean="0">
                                        <a:latin typeface="Cambria Math" panose="02040503050406030204" pitchFamily="18" charset="0"/>
                                      </a:rPr>
                                      <m:t>0</m:t>
                                    </m:r>
                                  </m:e>
                                </m:mr>
                              </m:m>
                            </m:e>
                          </m:mr>
                        </m:m>
                      </m:e>
                    </m:d>
                  </m:oMath>
                </a14:m>
                <a:endParaRPr lang="en-US" i="1"/>
              </a:p>
            </p:txBody>
          </p:sp>
        </mc:Choice>
        <mc:Fallback xmlns="">
          <p:sp>
            <p:nvSpPr>
              <p:cNvPr id="10" name="Content Placeholder 2">
                <a:extLst>
                  <a:ext uri="{FF2B5EF4-FFF2-40B4-BE49-F238E27FC236}">
                    <a16:creationId xmlns:a16="http://schemas.microsoft.com/office/drawing/2014/main" id="{725559AA-472D-351A-E8B4-CAB351795661}"/>
                  </a:ext>
                </a:extLst>
              </p:cNvPr>
              <p:cNvSpPr>
                <a:spLocks noGrp="1" noRot="1" noChangeAspect="1" noMove="1" noResize="1" noEditPoints="1" noAdjustHandles="1" noChangeArrowheads="1" noChangeShapeType="1" noTextEdit="1"/>
              </p:cNvSpPr>
              <p:nvPr>
                <p:ph idx="1"/>
              </p:nvPr>
            </p:nvSpPr>
            <p:spPr>
              <a:xfrm>
                <a:off x="5790591" y="1596540"/>
                <a:ext cx="5955494" cy="4759811"/>
              </a:xfrm>
              <a:blipFill>
                <a:blip r:embed="rId2"/>
                <a:stretch>
                  <a:fillRect l="-1842" t="-1280"/>
                </a:stretch>
              </a:blipFill>
            </p:spPr>
            <p:txBody>
              <a:bodyPr/>
              <a:lstStyle/>
              <a:p>
                <a:r>
                  <a:rPr lang="en-US">
                    <a:noFill/>
                  </a:rPr>
                  <a:t> </a:t>
                </a:r>
              </a:p>
            </p:txBody>
          </p:sp>
        </mc:Fallback>
      </mc:AlternateContent>
      <p:sp>
        <p:nvSpPr>
          <p:cNvPr id="5" name="Arrow: Right 4">
            <a:extLst>
              <a:ext uri="{FF2B5EF4-FFF2-40B4-BE49-F238E27FC236}">
                <a16:creationId xmlns:a16="http://schemas.microsoft.com/office/drawing/2014/main" id="{272DEBE3-C586-924F-6EE2-27574DF7DD6F}"/>
              </a:ext>
            </a:extLst>
          </p:cNvPr>
          <p:cNvSpPr/>
          <p:nvPr/>
        </p:nvSpPr>
        <p:spPr>
          <a:xfrm>
            <a:off x="11353342" y="4568529"/>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Arrow: Right 6">
            <a:extLst>
              <a:ext uri="{FF2B5EF4-FFF2-40B4-BE49-F238E27FC236}">
                <a16:creationId xmlns:a16="http://schemas.microsoft.com/office/drawing/2014/main" id="{5F18FEA9-5D17-3710-5772-B8A452A78D84}"/>
              </a:ext>
            </a:extLst>
          </p:cNvPr>
          <p:cNvSpPr/>
          <p:nvPr/>
        </p:nvSpPr>
        <p:spPr>
          <a:xfrm rot="5400000">
            <a:off x="11353342" y="4122488"/>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Arrow: Right 7">
            <a:extLst>
              <a:ext uri="{FF2B5EF4-FFF2-40B4-BE49-F238E27FC236}">
                <a16:creationId xmlns:a16="http://schemas.microsoft.com/office/drawing/2014/main" id="{9E39E72E-3F10-0E1F-C8CB-A7489FE4D475}"/>
              </a:ext>
            </a:extLst>
          </p:cNvPr>
          <p:cNvSpPr/>
          <p:nvPr/>
        </p:nvSpPr>
        <p:spPr>
          <a:xfrm rot="2873019">
            <a:off x="11333800" y="362162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64312EF1-5407-6E03-5338-46AA27C7420F}"/>
              </a:ext>
            </a:extLst>
          </p:cNvPr>
          <p:cNvSpPr/>
          <p:nvPr/>
        </p:nvSpPr>
        <p:spPr>
          <a:xfrm>
            <a:off x="2208220" y="2761030"/>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Arrow: Right 14">
            <a:extLst>
              <a:ext uri="{FF2B5EF4-FFF2-40B4-BE49-F238E27FC236}">
                <a16:creationId xmlns:a16="http://schemas.microsoft.com/office/drawing/2014/main" id="{DAD117CB-65CC-3C41-6B7B-168F1F2F19A8}"/>
              </a:ext>
            </a:extLst>
          </p:cNvPr>
          <p:cNvSpPr/>
          <p:nvPr/>
        </p:nvSpPr>
        <p:spPr>
          <a:xfrm rot="2873019">
            <a:off x="1715408" y="2520199"/>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Arrow: Right 15">
            <a:extLst>
              <a:ext uri="{FF2B5EF4-FFF2-40B4-BE49-F238E27FC236}">
                <a16:creationId xmlns:a16="http://schemas.microsoft.com/office/drawing/2014/main" id="{065AD569-C861-E334-4401-AA9DCF6BD0D4}"/>
              </a:ext>
            </a:extLst>
          </p:cNvPr>
          <p:cNvSpPr/>
          <p:nvPr/>
        </p:nvSpPr>
        <p:spPr>
          <a:xfrm rot="2873019">
            <a:off x="4156303" y="2563127"/>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Arrow: Right 16">
            <a:extLst>
              <a:ext uri="{FF2B5EF4-FFF2-40B4-BE49-F238E27FC236}">
                <a16:creationId xmlns:a16="http://schemas.microsoft.com/office/drawing/2014/main" id="{06957E44-A009-725F-D7D4-2FDBCCFF6CC3}"/>
              </a:ext>
            </a:extLst>
          </p:cNvPr>
          <p:cNvSpPr/>
          <p:nvPr/>
        </p:nvSpPr>
        <p:spPr>
          <a:xfrm rot="2873019">
            <a:off x="4661458" y="255360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Arrow: Right 2">
            <a:extLst>
              <a:ext uri="{FF2B5EF4-FFF2-40B4-BE49-F238E27FC236}">
                <a16:creationId xmlns:a16="http://schemas.microsoft.com/office/drawing/2014/main" id="{9CB8854B-18A2-D809-A386-2A98E9747AC2}"/>
              </a:ext>
            </a:extLst>
          </p:cNvPr>
          <p:cNvSpPr/>
          <p:nvPr/>
        </p:nvSpPr>
        <p:spPr>
          <a:xfrm rot="2873019">
            <a:off x="1723478" y="300976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Arrow: Right 5">
            <a:extLst>
              <a:ext uri="{FF2B5EF4-FFF2-40B4-BE49-F238E27FC236}">
                <a16:creationId xmlns:a16="http://schemas.microsoft.com/office/drawing/2014/main" id="{54BD5853-73FA-73B6-E8B1-DE89DFD92CB3}"/>
              </a:ext>
            </a:extLst>
          </p:cNvPr>
          <p:cNvSpPr/>
          <p:nvPr/>
        </p:nvSpPr>
        <p:spPr>
          <a:xfrm>
            <a:off x="2219449" y="3174241"/>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Arrow: Right 11">
            <a:extLst>
              <a:ext uri="{FF2B5EF4-FFF2-40B4-BE49-F238E27FC236}">
                <a16:creationId xmlns:a16="http://schemas.microsoft.com/office/drawing/2014/main" id="{9FFEEAB3-3F67-C18A-D9A0-D8B99CACE758}"/>
              </a:ext>
            </a:extLst>
          </p:cNvPr>
          <p:cNvSpPr/>
          <p:nvPr/>
        </p:nvSpPr>
        <p:spPr>
          <a:xfrm rot="2873019">
            <a:off x="4178761" y="3000794"/>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Arrow: Right 12">
            <a:extLst>
              <a:ext uri="{FF2B5EF4-FFF2-40B4-BE49-F238E27FC236}">
                <a16:creationId xmlns:a16="http://schemas.microsoft.com/office/drawing/2014/main" id="{09AF54A6-DC0B-A510-71F7-4A9C87E30782}"/>
              </a:ext>
            </a:extLst>
          </p:cNvPr>
          <p:cNvSpPr/>
          <p:nvPr/>
        </p:nvSpPr>
        <p:spPr>
          <a:xfrm rot="2873019">
            <a:off x="4683916" y="2991269"/>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363324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5101F1-F94E-2C01-0EF9-A128FAD250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197BB4-6C7E-9217-C617-D9CE37966605}"/>
              </a:ext>
            </a:extLst>
          </p:cNvPr>
          <p:cNvSpPr>
            <a:spLocks noGrp="1"/>
          </p:cNvSpPr>
          <p:nvPr>
            <p:ph type="title"/>
          </p:nvPr>
        </p:nvSpPr>
        <p:spPr/>
        <p:txBody>
          <a:bodyPr>
            <a:normAutofit fontScale="90000"/>
          </a:bodyPr>
          <a:lstStyle/>
          <a:p>
            <a:r>
              <a:rPr lang="en-US"/>
              <a:t>Smith-Waterman alignment</a:t>
            </a:r>
          </a:p>
        </p:txBody>
      </p:sp>
      <p:sp>
        <p:nvSpPr>
          <p:cNvPr id="4" name="Slide Number Placeholder 3">
            <a:extLst>
              <a:ext uri="{FF2B5EF4-FFF2-40B4-BE49-F238E27FC236}">
                <a16:creationId xmlns:a16="http://schemas.microsoft.com/office/drawing/2014/main" id="{1502DCD3-E2B1-D3C8-2099-A0BDAA2B39CC}"/>
              </a:ext>
            </a:extLst>
          </p:cNvPr>
          <p:cNvSpPr>
            <a:spLocks noGrp="1"/>
          </p:cNvSpPr>
          <p:nvPr>
            <p:ph type="sldNum" sz="quarter" idx="12"/>
          </p:nvPr>
        </p:nvSpPr>
        <p:spPr/>
        <p:txBody>
          <a:bodyPr/>
          <a:lstStyle/>
          <a:p>
            <a:fld id="{B82CCC60-E8CD-4174-8B1A-7DF615B22EEF}" type="slidenum">
              <a:rPr lang="en-US" smtClean="0"/>
              <a:pPr/>
              <a:t>25</a:t>
            </a:fld>
            <a:endParaRPr lang="en-US"/>
          </a:p>
        </p:txBody>
      </p:sp>
      <p:graphicFrame>
        <p:nvGraphicFramePr>
          <p:cNvPr id="9" name="Table 8">
            <a:extLst>
              <a:ext uri="{FF2B5EF4-FFF2-40B4-BE49-F238E27FC236}">
                <a16:creationId xmlns:a16="http://schemas.microsoft.com/office/drawing/2014/main" id="{9F3CB7C2-445E-794C-B1A3-D0CB234224BE}"/>
              </a:ext>
            </a:extLst>
          </p:cNvPr>
          <p:cNvGraphicFramePr>
            <a:graphicFrameLocks noGrp="1"/>
          </p:cNvGraphicFramePr>
          <p:nvPr>
            <p:extLst>
              <p:ext uri="{D42A27DB-BD31-4B8C-83A1-F6EECF244321}">
                <p14:modId xmlns:p14="http://schemas.microsoft.com/office/powerpoint/2010/main" val="2872352961"/>
              </p:ext>
            </p:extLst>
          </p:nvPr>
        </p:nvGraphicFramePr>
        <p:xfrm>
          <a:off x="412842" y="1741270"/>
          <a:ext cx="4888120" cy="4915141"/>
        </p:xfrm>
        <a:graphic>
          <a:graphicData uri="http://schemas.openxmlformats.org/drawingml/2006/table">
            <a:tbl>
              <a:tblPr>
                <a:tableStyleId>{5C22544A-7EE6-4342-B048-85BDC9FD1C3A}</a:tableStyleId>
              </a:tblPr>
              <a:tblGrid>
                <a:gridCol w="488812">
                  <a:extLst>
                    <a:ext uri="{9D8B030D-6E8A-4147-A177-3AD203B41FA5}">
                      <a16:colId xmlns:a16="http://schemas.microsoft.com/office/drawing/2014/main" val="499789085"/>
                    </a:ext>
                  </a:extLst>
                </a:gridCol>
                <a:gridCol w="488812">
                  <a:extLst>
                    <a:ext uri="{9D8B030D-6E8A-4147-A177-3AD203B41FA5}">
                      <a16:colId xmlns:a16="http://schemas.microsoft.com/office/drawing/2014/main" val="2105533424"/>
                    </a:ext>
                  </a:extLst>
                </a:gridCol>
                <a:gridCol w="488812">
                  <a:extLst>
                    <a:ext uri="{9D8B030D-6E8A-4147-A177-3AD203B41FA5}">
                      <a16:colId xmlns:a16="http://schemas.microsoft.com/office/drawing/2014/main" val="149591861"/>
                    </a:ext>
                  </a:extLst>
                </a:gridCol>
                <a:gridCol w="488812">
                  <a:extLst>
                    <a:ext uri="{9D8B030D-6E8A-4147-A177-3AD203B41FA5}">
                      <a16:colId xmlns:a16="http://schemas.microsoft.com/office/drawing/2014/main" val="1620141554"/>
                    </a:ext>
                  </a:extLst>
                </a:gridCol>
                <a:gridCol w="488812">
                  <a:extLst>
                    <a:ext uri="{9D8B030D-6E8A-4147-A177-3AD203B41FA5}">
                      <a16:colId xmlns:a16="http://schemas.microsoft.com/office/drawing/2014/main" val="3662352121"/>
                    </a:ext>
                  </a:extLst>
                </a:gridCol>
                <a:gridCol w="488812">
                  <a:extLst>
                    <a:ext uri="{9D8B030D-6E8A-4147-A177-3AD203B41FA5}">
                      <a16:colId xmlns:a16="http://schemas.microsoft.com/office/drawing/2014/main" val="2418474277"/>
                    </a:ext>
                  </a:extLst>
                </a:gridCol>
                <a:gridCol w="488812">
                  <a:extLst>
                    <a:ext uri="{9D8B030D-6E8A-4147-A177-3AD203B41FA5}">
                      <a16:colId xmlns:a16="http://schemas.microsoft.com/office/drawing/2014/main" val="2269938636"/>
                    </a:ext>
                  </a:extLst>
                </a:gridCol>
                <a:gridCol w="488812">
                  <a:extLst>
                    <a:ext uri="{9D8B030D-6E8A-4147-A177-3AD203B41FA5}">
                      <a16:colId xmlns:a16="http://schemas.microsoft.com/office/drawing/2014/main" val="1461158529"/>
                    </a:ext>
                  </a:extLst>
                </a:gridCol>
                <a:gridCol w="488812">
                  <a:extLst>
                    <a:ext uri="{9D8B030D-6E8A-4147-A177-3AD203B41FA5}">
                      <a16:colId xmlns:a16="http://schemas.microsoft.com/office/drawing/2014/main" val="3455786437"/>
                    </a:ext>
                  </a:extLst>
                </a:gridCol>
                <a:gridCol w="488812">
                  <a:extLst>
                    <a:ext uri="{9D8B030D-6E8A-4147-A177-3AD203B41FA5}">
                      <a16:colId xmlns:a16="http://schemas.microsoft.com/office/drawing/2014/main" val="2314278537"/>
                    </a:ext>
                  </a:extLst>
                </a:gridCol>
              </a:tblGrid>
              <a:tr h="446831">
                <a:tc>
                  <a:txBody>
                    <a:bodyPr/>
                    <a:lstStyle/>
                    <a:p>
                      <a:pPr algn="ctr"/>
                      <a:endParaRPr lang="en-US"/>
                    </a:p>
                  </a:txBody>
                  <a:tcPr/>
                </a:tc>
                <a:tc>
                  <a:txBody>
                    <a:bodyPr/>
                    <a:lstStyle/>
                    <a:p>
                      <a:pPr algn="ctr"/>
                      <a:endParaRPr lang="en-US"/>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A</a:t>
                      </a:r>
                    </a:p>
                  </a:txBody>
                  <a:tcPr>
                    <a:lnB w="12700" cap="flat" cmpd="sng" algn="ctr">
                      <a:solidFill>
                        <a:schemeClr val="tx1"/>
                      </a:solidFill>
                      <a:prstDash val="solid"/>
                      <a:round/>
                      <a:headEnd type="none" w="med" len="med"/>
                      <a:tailEnd type="none" w="med" len="med"/>
                    </a:lnB>
                  </a:tcPr>
                </a:tc>
                <a:tc>
                  <a:txBody>
                    <a:bodyPr/>
                    <a:lstStyle/>
                    <a:p>
                      <a:pPr algn="ctr"/>
                      <a:r>
                        <a:rPr lang="en-US"/>
                        <a:t>C</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45030461"/>
                  </a:ext>
                </a:extLst>
              </a:tr>
              <a:tr h="446831">
                <a:tc>
                  <a:txBody>
                    <a:bodyPr/>
                    <a:lstStyle/>
                    <a:p>
                      <a:pPr algn="ctr"/>
                      <a:endParaRPr lang="en-US"/>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08086283"/>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7236300"/>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28280586"/>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36395574"/>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8353299"/>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6672769"/>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0034413"/>
                  </a:ext>
                </a:extLst>
              </a:tr>
              <a:tr h="446831">
                <a:tc>
                  <a:txBody>
                    <a:bodyPr/>
                    <a:lstStyle/>
                    <a:p>
                      <a:pPr algn="ctr"/>
                      <a:r>
                        <a:rPr lang="en-US"/>
                        <a:t>C</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7693103"/>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5683901"/>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9542823"/>
                  </a:ext>
                </a:extLst>
              </a:tr>
            </a:tbl>
          </a:graphicData>
        </a:graphic>
      </p:graphicFrame>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AFAD825C-EB57-E36B-FF1D-185EAD28B967}"/>
                  </a:ext>
                </a:extLst>
              </p:cNvPr>
              <p:cNvSpPr>
                <a:spLocks noGrp="1"/>
              </p:cNvSpPr>
              <p:nvPr>
                <p:ph idx="1"/>
              </p:nvPr>
            </p:nvSpPr>
            <p:spPr>
              <a:xfrm>
                <a:off x="5790591" y="1596540"/>
                <a:ext cx="5955494" cy="4759811"/>
              </a:xfrm>
            </p:spPr>
            <p:txBody>
              <a:bodyPr>
                <a:normAutofit/>
              </a:bodyPr>
              <a:lstStyle/>
              <a:p>
                <a:r>
                  <a:rPr lang="en-US"/>
                  <a:t>Align sequences:</a:t>
                </a:r>
                <a:br>
                  <a:rPr lang="en-US"/>
                </a:br>
                <a:r>
                  <a:rPr lang="en-US">
                    <a:latin typeface="Courier New" panose="02070309020205020404" pitchFamily="49" charset="0"/>
                    <a:cs typeface="Courier New" panose="02070309020205020404" pitchFamily="49" charset="0"/>
                  </a:rPr>
                  <a:t>TGTTACGG </a:t>
                </a:r>
                <a:r>
                  <a:rPr lang="en-US"/>
                  <a:t>and</a:t>
                </a:r>
                <a:br>
                  <a:rPr lang="en-US"/>
                </a:br>
                <a:r>
                  <a:rPr lang="en-US">
                    <a:latin typeface="Courier New" panose="02070309020205020404" pitchFamily="49" charset="0"/>
                    <a:cs typeface="Courier New" panose="02070309020205020404" pitchFamily="49" charset="0"/>
                  </a:rPr>
                  <a:t>GGTTGACTA</a:t>
                </a:r>
              </a:p>
              <a:p>
                <a:r>
                  <a:rPr lang="en-US"/>
                  <a:t>Start filling in the table:</a:t>
                </a:r>
                <a:br>
                  <a:rPr lang="en-US"/>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i="1" smtClean="0">
                        <a:latin typeface="Cambria Math" panose="02040503050406030204" pitchFamily="18" charset="0"/>
                      </a:rPr>
                      <m:t>=</m:t>
                    </m:r>
                    <m:r>
                      <a:rPr lang="en-US" b="0" i="1" smtClean="0">
                        <a:latin typeface="Cambria Math" panose="02040503050406030204" pitchFamily="18" charset="0"/>
                      </a:rPr>
                      <m:t>𝑚𝑎𝑥</m:t>
                    </m:r>
                    <m:d>
                      <m:dPr>
                        <m:begChr m:val="{"/>
                        <m:endChr m:val=""/>
                        <m:ctrlPr>
                          <a:rPr lang="en-US" b="0" i="1" smtClean="0">
                            <a:latin typeface="Cambria Math" panose="02040503050406030204" pitchFamily="18" charset="0"/>
                          </a:rPr>
                        </m:ctrlPr>
                      </m:dPr>
                      <m:e>
                        <m:m>
                          <m:mPr>
                            <m:mcs>
                              <m:mc>
                                <m:mcPr>
                                  <m:count m:val="1"/>
                                  <m:mcJc m:val="center"/>
                                </m:mcPr>
                              </m:mc>
                            </m:mcs>
                            <m:ctrlPr>
                              <a:rPr lang="en-US" b="0" i="1" smtClean="0">
                                <a:latin typeface="Cambria Math" panose="02040503050406030204" pitchFamily="18" charset="0"/>
                              </a:rPr>
                            </m:ctrlPr>
                          </m:mPr>
                          <m:m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𝑖</m:t>
                                  </m:r>
                                  <m:r>
                                    <a:rPr lang="en-US" b="0" i="1" smtClean="0">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𝑗</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𝑏</m:t>
                                  </m:r>
                                </m:e>
                                <m:sub>
                                  <m:r>
                                    <a:rPr lang="en-US" b="0" i="1" smtClean="0">
                                      <a:latin typeface="Cambria Math" panose="02040503050406030204" pitchFamily="18" charset="0"/>
                                    </a:rPr>
                                    <m:t>𝑗</m:t>
                                  </m:r>
                                </m:sub>
                              </m:sSub>
                              <m:r>
                                <a:rPr lang="en-US" b="0" i="1" smtClean="0">
                                  <a:latin typeface="Cambria Math" panose="02040503050406030204" pitchFamily="18" charset="0"/>
                                </a:rPr>
                                <m:t>)</m:t>
                              </m:r>
                            </m:e>
                          </m:mr>
                          <m:m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𝐺</m:t>
                              </m:r>
                            </m:e>
                          </m:mr>
                          <m:mr>
                            <m:e>
                              <m:m>
                                <m:mPr>
                                  <m:mcs>
                                    <m:mc>
                                      <m:mcPr>
                                        <m:count m:val="1"/>
                                        <m:mcJc m:val="center"/>
                                      </m:mcPr>
                                    </m:mc>
                                  </m:mcs>
                                  <m:ctrlPr>
                                    <a:rPr lang="en-US" b="0" i="1" smtClean="0">
                                      <a:latin typeface="Cambria Math" panose="02040503050406030204" pitchFamily="18" charset="0"/>
                                    </a:rPr>
                                  </m:ctrlPr>
                                </m:mPr>
                                <m:m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𝑖</m:t>
                                        </m:r>
                                        <m:r>
                                          <a:rPr lang="en-US" b="0" i="1" smtClean="0">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𝑗</m:t>
                                        </m:r>
                                      </m:sub>
                                    </m:sSub>
                                    <m:r>
                                      <a:rPr lang="en-US" b="0" i="1" smtClean="0">
                                        <a:latin typeface="Cambria Math" panose="02040503050406030204" pitchFamily="18" charset="0"/>
                                      </a:rPr>
                                      <m:t>−</m:t>
                                    </m:r>
                                    <m:r>
                                      <a:rPr lang="en-US" b="0" i="1" smtClean="0">
                                        <a:latin typeface="Cambria Math" panose="02040503050406030204" pitchFamily="18" charset="0"/>
                                      </a:rPr>
                                      <m:t>𝐺</m:t>
                                    </m:r>
                                  </m:e>
                                </m:mr>
                                <m:mr>
                                  <m:e>
                                    <m:r>
                                      <a:rPr lang="en-US" b="0" i="1" smtClean="0">
                                        <a:latin typeface="Cambria Math" panose="02040503050406030204" pitchFamily="18" charset="0"/>
                                      </a:rPr>
                                      <m:t>0</m:t>
                                    </m:r>
                                  </m:e>
                                </m:mr>
                              </m:m>
                            </m:e>
                          </m:mr>
                        </m:m>
                      </m:e>
                    </m:d>
                  </m:oMath>
                </a14:m>
                <a:endParaRPr lang="en-US" i="1"/>
              </a:p>
            </p:txBody>
          </p:sp>
        </mc:Choice>
        <mc:Fallback xmlns="">
          <p:sp>
            <p:nvSpPr>
              <p:cNvPr id="10" name="Content Placeholder 2">
                <a:extLst>
                  <a:ext uri="{FF2B5EF4-FFF2-40B4-BE49-F238E27FC236}">
                    <a16:creationId xmlns:a16="http://schemas.microsoft.com/office/drawing/2014/main" id="{AFAD825C-EB57-E36B-FF1D-185EAD28B967}"/>
                  </a:ext>
                </a:extLst>
              </p:cNvPr>
              <p:cNvSpPr>
                <a:spLocks noGrp="1" noRot="1" noChangeAspect="1" noMove="1" noResize="1" noEditPoints="1" noAdjustHandles="1" noChangeArrowheads="1" noChangeShapeType="1" noTextEdit="1"/>
              </p:cNvSpPr>
              <p:nvPr>
                <p:ph idx="1"/>
              </p:nvPr>
            </p:nvSpPr>
            <p:spPr>
              <a:xfrm>
                <a:off x="5790591" y="1596540"/>
                <a:ext cx="5955494" cy="4759811"/>
              </a:xfrm>
              <a:blipFill>
                <a:blip r:embed="rId2"/>
                <a:stretch>
                  <a:fillRect l="-1842" t="-1280"/>
                </a:stretch>
              </a:blipFill>
            </p:spPr>
            <p:txBody>
              <a:bodyPr/>
              <a:lstStyle/>
              <a:p>
                <a:r>
                  <a:rPr lang="en-US">
                    <a:noFill/>
                  </a:rPr>
                  <a:t> </a:t>
                </a:r>
              </a:p>
            </p:txBody>
          </p:sp>
        </mc:Fallback>
      </mc:AlternateContent>
      <p:sp>
        <p:nvSpPr>
          <p:cNvPr id="5" name="Arrow: Right 4">
            <a:extLst>
              <a:ext uri="{FF2B5EF4-FFF2-40B4-BE49-F238E27FC236}">
                <a16:creationId xmlns:a16="http://schemas.microsoft.com/office/drawing/2014/main" id="{F382BA27-8E0D-62E7-EA15-F22CBE1B11B1}"/>
              </a:ext>
            </a:extLst>
          </p:cNvPr>
          <p:cNvSpPr/>
          <p:nvPr/>
        </p:nvSpPr>
        <p:spPr>
          <a:xfrm>
            <a:off x="11353342" y="4568529"/>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Arrow: Right 6">
            <a:extLst>
              <a:ext uri="{FF2B5EF4-FFF2-40B4-BE49-F238E27FC236}">
                <a16:creationId xmlns:a16="http://schemas.microsoft.com/office/drawing/2014/main" id="{B78A1E89-ADF6-0147-C0F1-BB9C68931244}"/>
              </a:ext>
            </a:extLst>
          </p:cNvPr>
          <p:cNvSpPr/>
          <p:nvPr/>
        </p:nvSpPr>
        <p:spPr>
          <a:xfrm rot="5400000">
            <a:off x="11385634" y="4154781"/>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Arrow: Right 7">
            <a:extLst>
              <a:ext uri="{FF2B5EF4-FFF2-40B4-BE49-F238E27FC236}">
                <a16:creationId xmlns:a16="http://schemas.microsoft.com/office/drawing/2014/main" id="{99118331-254B-73E4-6AD6-23CC05CEB159}"/>
              </a:ext>
            </a:extLst>
          </p:cNvPr>
          <p:cNvSpPr/>
          <p:nvPr/>
        </p:nvSpPr>
        <p:spPr>
          <a:xfrm rot="2873019">
            <a:off x="11333800" y="362162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A935FC2C-6F4F-4DFA-3C41-E712A1987AF6}"/>
              </a:ext>
            </a:extLst>
          </p:cNvPr>
          <p:cNvSpPr/>
          <p:nvPr/>
        </p:nvSpPr>
        <p:spPr>
          <a:xfrm>
            <a:off x="2208220" y="2761030"/>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Arrow: Right 14">
            <a:extLst>
              <a:ext uri="{FF2B5EF4-FFF2-40B4-BE49-F238E27FC236}">
                <a16:creationId xmlns:a16="http://schemas.microsoft.com/office/drawing/2014/main" id="{A407A4B1-69A7-E541-53B9-2C0CC1381276}"/>
              </a:ext>
            </a:extLst>
          </p:cNvPr>
          <p:cNvSpPr/>
          <p:nvPr/>
        </p:nvSpPr>
        <p:spPr>
          <a:xfrm rot="2873019">
            <a:off x="1715408" y="2520199"/>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Arrow: Right 15">
            <a:extLst>
              <a:ext uri="{FF2B5EF4-FFF2-40B4-BE49-F238E27FC236}">
                <a16:creationId xmlns:a16="http://schemas.microsoft.com/office/drawing/2014/main" id="{9F7318C0-E957-D821-219D-C8A1E72388EC}"/>
              </a:ext>
            </a:extLst>
          </p:cNvPr>
          <p:cNvSpPr/>
          <p:nvPr/>
        </p:nvSpPr>
        <p:spPr>
          <a:xfrm rot="2873019">
            <a:off x="4156303" y="2563127"/>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Arrow: Right 16">
            <a:extLst>
              <a:ext uri="{FF2B5EF4-FFF2-40B4-BE49-F238E27FC236}">
                <a16:creationId xmlns:a16="http://schemas.microsoft.com/office/drawing/2014/main" id="{CC051D02-7A8C-FCA9-60C0-928D72DE07D0}"/>
              </a:ext>
            </a:extLst>
          </p:cNvPr>
          <p:cNvSpPr/>
          <p:nvPr/>
        </p:nvSpPr>
        <p:spPr>
          <a:xfrm rot="2873019">
            <a:off x="4661458" y="255360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Arrow: Right 5">
            <a:extLst>
              <a:ext uri="{FF2B5EF4-FFF2-40B4-BE49-F238E27FC236}">
                <a16:creationId xmlns:a16="http://schemas.microsoft.com/office/drawing/2014/main" id="{DDBAC6F5-7C8F-96BE-0556-5D6286F31634}"/>
              </a:ext>
            </a:extLst>
          </p:cNvPr>
          <p:cNvSpPr/>
          <p:nvPr/>
        </p:nvSpPr>
        <p:spPr>
          <a:xfrm rot="2873019">
            <a:off x="1723478" y="300976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Arrow: Right 11">
            <a:extLst>
              <a:ext uri="{FF2B5EF4-FFF2-40B4-BE49-F238E27FC236}">
                <a16:creationId xmlns:a16="http://schemas.microsoft.com/office/drawing/2014/main" id="{9707EE6A-B994-F6EE-3306-664AD41C5F0C}"/>
              </a:ext>
            </a:extLst>
          </p:cNvPr>
          <p:cNvSpPr/>
          <p:nvPr/>
        </p:nvSpPr>
        <p:spPr>
          <a:xfrm>
            <a:off x="2219449" y="3174241"/>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Arrow: Right 12">
            <a:extLst>
              <a:ext uri="{FF2B5EF4-FFF2-40B4-BE49-F238E27FC236}">
                <a16:creationId xmlns:a16="http://schemas.microsoft.com/office/drawing/2014/main" id="{ACB968DE-AE8B-A96A-65C1-2C2E633B0DE1}"/>
              </a:ext>
            </a:extLst>
          </p:cNvPr>
          <p:cNvSpPr/>
          <p:nvPr/>
        </p:nvSpPr>
        <p:spPr>
          <a:xfrm rot="2873019">
            <a:off x="4178761" y="3000794"/>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rrow: Right 13">
            <a:extLst>
              <a:ext uri="{FF2B5EF4-FFF2-40B4-BE49-F238E27FC236}">
                <a16:creationId xmlns:a16="http://schemas.microsoft.com/office/drawing/2014/main" id="{6C2331AD-6946-CEA2-9CC0-5A263CBCFD2C}"/>
              </a:ext>
            </a:extLst>
          </p:cNvPr>
          <p:cNvSpPr/>
          <p:nvPr/>
        </p:nvSpPr>
        <p:spPr>
          <a:xfrm rot="2873019">
            <a:off x="4683916" y="2991269"/>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Arrow: Right 17">
            <a:extLst>
              <a:ext uri="{FF2B5EF4-FFF2-40B4-BE49-F238E27FC236}">
                <a16:creationId xmlns:a16="http://schemas.microsoft.com/office/drawing/2014/main" id="{2FA63632-7DCC-055B-2681-84644F234872}"/>
              </a:ext>
            </a:extLst>
          </p:cNvPr>
          <p:cNvSpPr/>
          <p:nvPr/>
        </p:nvSpPr>
        <p:spPr>
          <a:xfrm rot="2873019">
            <a:off x="1256753" y="3457141"/>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Arrow: Right 19">
            <a:extLst>
              <a:ext uri="{FF2B5EF4-FFF2-40B4-BE49-F238E27FC236}">
                <a16:creationId xmlns:a16="http://schemas.microsoft.com/office/drawing/2014/main" id="{F840F98F-581D-A118-E6BE-523E99F22C27}"/>
              </a:ext>
            </a:extLst>
          </p:cNvPr>
          <p:cNvSpPr/>
          <p:nvPr/>
        </p:nvSpPr>
        <p:spPr>
          <a:xfrm>
            <a:off x="1715408" y="3621620"/>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Arrow: Right 20">
            <a:extLst>
              <a:ext uri="{FF2B5EF4-FFF2-40B4-BE49-F238E27FC236}">
                <a16:creationId xmlns:a16="http://schemas.microsoft.com/office/drawing/2014/main" id="{904D85D5-D3C7-7485-183F-78915777788B}"/>
              </a:ext>
            </a:extLst>
          </p:cNvPr>
          <p:cNvSpPr/>
          <p:nvPr/>
        </p:nvSpPr>
        <p:spPr>
          <a:xfrm rot="5400000">
            <a:off x="2011455" y="3413379"/>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Arrow: Right 21">
            <a:extLst>
              <a:ext uri="{FF2B5EF4-FFF2-40B4-BE49-F238E27FC236}">
                <a16:creationId xmlns:a16="http://schemas.microsoft.com/office/drawing/2014/main" id="{D8C7B1A9-D1A8-0EA6-9F65-7FE6CB68EF06}"/>
              </a:ext>
            </a:extLst>
          </p:cNvPr>
          <p:cNvSpPr/>
          <p:nvPr/>
        </p:nvSpPr>
        <p:spPr>
          <a:xfrm rot="2873019">
            <a:off x="2252724" y="3457140"/>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Arrow: Right 22">
            <a:extLst>
              <a:ext uri="{FF2B5EF4-FFF2-40B4-BE49-F238E27FC236}">
                <a16:creationId xmlns:a16="http://schemas.microsoft.com/office/drawing/2014/main" id="{71E2CF39-E332-C386-4A39-3D8163A2986B}"/>
              </a:ext>
            </a:extLst>
          </p:cNvPr>
          <p:cNvSpPr/>
          <p:nvPr/>
        </p:nvSpPr>
        <p:spPr>
          <a:xfrm rot="2873019">
            <a:off x="2718366" y="3457140"/>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Arrow: Right 23">
            <a:extLst>
              <a:ext uri="{FF2B5EF4-FFF2-40B4-BE49-F238E27FC236}">
                <a16:creationId xmlns:a16="http://schemas.microsoft.com/office/drawing/2014/main" id="{705156A5-008A-5411-6780-79356DB53FE8}"/>
              </a:ext>
            </a:extLst>
          </p:cNvPr>
          <p:cNvSpPr/>
          <p:nvPr/>
        </p:nvSpPr>
        <p:spPr>
          <a:xfrm>
            <a:off x="2704197" y="3676085"/>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Arrow: Right 24">
            <a:extLst>
              <a:ext uri="{FF2B5EF4-FFF2-40B4-BE49-F238E27FC236}">
                <a16:creationId xmlns:a16="http://schemas.microsoft.com/office/drawing/2014/main" id="{A32BF6DE-8095-4BFF-8CB1-F94E690E7000}"/>
              </a:ext>
            </a:extLst>
          </p:cNvPr>
          <p:cNvSpPr/>
          <p:nvPr/>
        </p:nvSpPr>
        <p:spPr>
          <a:xfrm>
            <a:off x="3195746" y="3650195"/>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25ABDBE4-4EAA-A311-FBD6-737658F355AE}"/>
              </a:ext>
            </a:extLst>
          </p:cNvPr>
          <p:cNvSpPr/>
          <p:nvPr/>
        </p:nvSpPr>
        <p:spPr>
          <a:xfrm>
            <a:off x="3666784" y="3650194"/>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Arrow: Right 26">
            <a:extLst>
              <a:ext uri="{FF2B5EF4-FFF2-40B4-BE49-F238E27FC236}">
                <a16:creationId xmlns:a16="http://schemas.microsoft.com/office/drawing/2014/main" id="{C8BB6D23-6833-1954-FEF3-7CCFEB447B75}"/>
              </a:ext>
            </a:extLst>
          </p:cNvPr>
          <p:cNvSpPr/>
          <p:nvPr/>
        </p:nvSpPr>
        <p:spPr>
          <a:xfrm rot="5400000">
            <a:off x="4928845" y="3413379"/>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Arrow: Right 27">
            <a:extLst>
              <a:ext uri="{FF2B5EF4-FFF2-40B4-BE49-F238E27FC236}">
                <a16:creationId xmlns:a16="http://schemas.microsoft.com/office/drawing/2014/main" id="{A5ECAAE0-04B8-2E86-369C-0E337DB434E7}"/>
              </a:ext>
            </a:extLst>
          </p:cNvPr>
          <p:cNvSpPr/>
          <p:nvPr/>
        </p:nvSpPr>
        <p:spPr>
          <a:xfrm rot="5400000">
            <a:off x="4433110" y="3413379"/>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679614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2D611-A72E-0473-374A-EB223F4799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572E6B-1301-753B-4CDF-B87275204A07}"/>
              </a:ext>
            </a:extLst>
          </p:cNvPr>
          <p:cNvSpPr>
            <a:spLocks noGrp="1"/>
          </p:cNvSpPr>
          <p:nvPr>
            <p:ph type="title"/>
          </p:nvPr>
        </p:nvSpPr>
        <p:spPr/>
        <p:txBody>
          <a:bodyPr>
            <a:normAutofit fontScale="90000"/>
          </a:bodyPr>
          <a:lstStyle/>
          <a:p>
            <a:r>
              <a:rPr lang="en-US"/>
              <a:t>Smith-Waterman alignment</a:t>
            </a:r>
          </a:p>
        </p:txBody>
      </p:sp>
      <p:sp>
        <p:nvSpPr>
          <p:cNvPr id="4" name="Slide Number Placeholder 3">
            <a:extLst>
              <a:ext uri="{FF2B5EF4-FFF2-40B4-BE49-F238E27FC236}">
                <a16:creationId xmlns:a16="http://schemas.microsoft.com/office/drawing/2014/main" id="{29A48A0A-CF56-43F5-3448-8450237CE890}"/>
              </a:ext>
            </a:extLst>
          </p:cNvPr>
          <p:cNvSpPr>
            <a:spLocks noGrp="1"/>
          </p:cNvSpPr>
          <p:nvPr>
            <p:ph type="sldNum" sz="quarter" idx="12"/>
          </p:nvPr>
        </p:nvSpPr>
        <p:spPr/>
        <p:txBody>
          <a:bodyPr/>
          <a:lstStyle/>
          <a:p>
            <a:fld id="{B82CCC60-E8CD-4174-8B1A-7DF615B22EEF}" type="slidenum">
              <a:rPr lang="en-US" smtClean="0"/>
              <a:pPr/>
              <a:t>26</a:t>
            </a:fld>
            <a:endParaRPr lang="en-US"/>
          </a:p>
        </p:txBody>
      </p:sp>
      <p:graphicFrame>
        <p:nvGraphicFramePr>
          <p:cNvPr id="9" name="Table 8">
            <a:extLst>
              <a:ext uri="{FF2B5EF4-FFF2-40B4-BE49-F238E27FC236}">
                <a16:creationId xmlns:a16="http://schemas.microsoft.com/office/drawing/2014/main" id="{768D74DC-2248-9360-5901-728A124D5893}"/>
              </a:ext>
            </a:extLst>
          </p:cNvPr>
          <p:cNvGraphicFramePr>
            <a:graphicFrameLocks noGrp="1"/>
          </p:cNvGraphicFramePr>
          <p:nvPr>
            <p:extLst>
              <p:ext uri="{D42A27DB-BD31-4B8C-83A1-F6EECF244321}">
                <p14:modId xmlns:p14="http://schemas.microsoft.com/office/powerpoint/2010/main" val="3138559170"/>
              </p:ext>
            </p:extLst>
          </p:nvPr>
        </p:nvGraphicFramePr>
        <p:xfrm>
          <a:off x="412842" y="1741270"/>
          <a:ext cx="4888120" cy="4915141"/>
        </p:xfrm>
        <a:graphic>
          <a:graphicData uri="http://schemas.openxmlformats.org/drawingml/2006/table">
            <a:tbl>
              <a:tblPr>
                <a:tableStyleId>{5C22544A-7EE6-4342-B048-85BDC9FD1C3A}</a:tableStyleId>
              </a:tblPr>
              <a:tblGrid>
                <a:gridCol w="488812">
                  <a:extLst>
                    <a:ext uri="{9D8B030D-6E8A-4147-A177-3AD203B41FA5}">
                      <a16:colId xmlns:a16="http://schemas.microsoft.com/office/drawing/2014/main" val="499789085"/>
                    </a:ext>
                  </a:extLst>
                </a:gridCol>
                <a:gridCol w="488812">
                  <a:extLst>
                    <a:ext uri="{9D8B030D-6E8A-4147-A177-3AD203B41FA5}">
                      <a16:colId xmlns:a16="http://schemas.microsoft.com/office/drawing/2014/main" val="2105533424"/>
                    </a:ext>
                  </a:extLst>
                </a:gridCol>
                <a:gridCol w="488812">
                  <a:extLst>
                    <a:ext uri="{9D8B030D-6E8A-4147-A177-3AD203B41FA5}">
                      <a16:colId xmlns:a16="http://schemas.microsoft.com/office/drawing/2014/main" val="149591861"/>
                    </a:ext>
                  </a:extLst>
                </a:gridCol>
                <a:gridCol w="488812">
                  <a:extLst>
                    <a:ext uri="{9D8B030D-6E8A-4147-A177-3AD203B41FA5}">
                      <a16:colId xmlns:a16="http://schemas.microsoft.com/office/drawing/2014/main" val="1620141554"/>
                    </a:ext>
                  </a:extLst>
                </a:gridCol>
                <a:gridCol w="488812">
                  <a:extLst>
                    <a:ext uri="{9D8B030D-6E8A-4147-A177-3AD203B41FA5}">
                      <a16:colId xmlns:a16="http://schemas.microsoft.com/office/drawing/2014/main" val="3662352121"/>
                    </a:ext>
                  </a:extLst>
                </a:gridCol>
                <a:gridCol w="488812">
                  <a:extLst>
                    <a:ext uri="{9D8B030D-6E8A-4147-A177-3AD203B41FA5}">
                      <a16:colId xmlns:a16="http://schemas.microsoft.com/office/drawing/2014/main" val="2418474277"/>
                    </a:ext>
                  </a:extLst>
                </a:gridCol>
                <a:gridCol w="488812">
                  <a:extLst>
                    <a:ext uri="{9D8B030D-6E8A-4147-A177-3AD203B41FA5}">
                      <a16:colId xmlns:a16="http://schemas.microsoft.com/office/drawing/2014/main" val="2269938636"/>
                    </a:ext>
                  </a:extLst>
                </a:gridCol>
                <a:gridCol w="488812">
                  <a:extLst>
                    <a:ext uri="{9D8B030D-6E8A-4147-A177-3AD203B41FA5}">
                      <a16:colId xmlns:a16="http://schemas.microsoft.com/office/drawing/2014/main" val="1461158529"/>
                    </a:ext>
                  </a:extLst>
                </a:gridCol>
                <a:gridCol w="488812">
                  <a:extLst>
                    <a:ext uri="{9D8B030D-6E8A-4147-A177-3AD203B41FA5}">
                      <a16:colId xmlns:a16="http://schemas.microsoft.com/office/drawing/2014/main" val="3455786437"/>
                    </a:ext>
                  </a:extLst>
                </a:gridCol>
                <a:gridCol w="488812">
                  <a:extLst>
                    <a:ext uri="{9D8B030D-6E8A-4147-A177-3AD203B41FA5}">
                      <a16:colId xmlns:a16="http://schemas.microsoft.com/office/drawing/2014/main" val="2314278537"/>
                    </a:ext>
                  </a:extLst>
                </a:gridCol>
              </a:tblGrid>
              <a:tr h="446831">
                <a:tc>
                  <a:txBody>
                    <a:bodyPr/>
                    <a:lstStyle/>
                    <a:p>
                      <a:pPr algn="ctr"/>
                      <a:endParaRPr lang="en-US"/>
                    </a:p>
                  </a:txBody>
                  <a:tcPr/>
                </a:tc>
                <a:tc>
                  <a:txBody>
                    <a:bodyPr/>
                    <a:lstStyle/>
                    <a:p>
                      <a:pPr algn="ctr"/>
                      <a:endParaRPr lang="en-US"/>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A</a:t>
                      </a:r>
                    </a:p>
                  </a:txBody>
                  <a:tcPr>
                    <a:lnB w="12700" cap="flat" cmpd="sng" algn="ctr">
                      <a:solidFill>
                        <a:schemeClr val="tx1"/>
                      </a:solidFill>
                      <a:prstDash val="solid"/>
                      <a:round/>
                      <a:headEnd type="none" w="med" len="med"/>
                      <a:tailEnd type="none" w="med" len="med"/>
                    </a:lnB>
                  </a:tcPr>
                </a:tc>
                <a:tc>
                  <a:txBody>
                    <a:bodyPr/>
                    <a:lstStyle/>
                    <a:p>
                      <a:pPr algn="ctr"/>
                      <a:r>
                        <a:rPr lang="en-US"/>
                        <a:t>C</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45030461"/>
                  </a:ext>
                </a:extLst>
              </a:tr>
              <a:tr h="446831">
                <a:tc>
                  <a:txBody>
                    <a:bodyPr/>
                    <a:lstStyle/>
                    <a:p>
                      <a:pPr algn="ctr"/>
                      <a:endParaRPr lang="en-US"/>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08086283"/>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7236300"/>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28280586"/>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36395574"/>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8353299"/>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6672769"/>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0034413"/>
                  </a:ext>
                </a:extLst>
              </a:tr>
              <a:tr h="446831">
                <a:tc>
                  <a:txBody>
                    <a:bodyPr/>
                    <a:lstStyle/>
                    <a:p>
                      <a:pPr algn="ctr"/>
                      <a:r>
                        <a:rPr lang="en-US"/>
                        <a:t>C</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7693103"/>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5683901"/>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9542823"/>
                  </a:ext>
                </a:extLst>
              </a:tr>
            </a:tbl>
          </a:graphicData>
        </a:graphic>
      </p:graphicFrame>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C8585D25-FE6A-9D7F-B0B0-BADAD049DDB9}"/>
                  </a:ext>
                </a:extLst>
              </p:cNvPr>
              <p:cNvSpPr>
                <a:spLocks noGrp="1"/>
              </p:cNvSpPr>
              <p:nvPr>
                <p:ph idx="1"/>
              </p:nvPr>
            </p:nvSpPr>
            <p:spPr>
              <a:xfrm>
                <a:off x="5790591" y="1596540"/>
                <a:ext cx="5955494" cy="4759811"/>
              </a:xfrm>
            </p:spPr>
            <p:txBody>
              <a:bodyPr>
                <a:normAutofit/>
              </a:bodyPr>
              <a:lstStyle/>
              <a:p>
                <a:r>
                  <a:rPr lang="en-US"/>
                  <a:t>Align sequences:</a:t>
                </a:r>
                <a:br>
                  <a:rPr lang="en-US"/>
                </a:br>
                <a:r>
                  <a:rPr lang="en-US">
                    <a:latin typeface="Courier New" panose="02070309020205020404" pitchFamily="49" charset="0"/>
                    <a:cs typeface="Courier New" panose="02070309020205020404" pitchFamily="49" charset="0"/>
                  </a:rPr>
                  <a:t>TGTTACGG </a:t>
                </a:r>
                <a:r>
                  <a:rPr lang="en-US"/>
                  <a:t>and</a:t>
                </a:r>
                <a:br>
                  <a:rPr lang="en-US"/>
                </a:br>
                <a:r>
                  <a:rPr lang="en-US">
                    <a:latin typeface="Courier New" panose="02070309020205020404" pitchFamily="49" charset="0"/>
                    <a:cs typeface="Courier New" panose="02070309020205020404" pitchFamily="49" charset="0"/>
                  </a:rPr>
                  <a:t>GGTTGACTA</a:t>
                </a:r>
              </a:p>
              <a:p>
                <a:r>
                  <a:rPr lang="en-US"/>
                  <a:t>Start filling in the table:</a:t>
                </a:r>
                <a:br>
                  <a:rPr lang="en-US"/>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i="1" smtClean="0">
                        <a:latin typeface="Cambria Math" panose="02040503050406030204" pitchFamily="18" charset="0"/>
                      </a:rPr>
                      <m:t>=</m:t>
                    </m:r>
                    <m:r>
                      <a:rPr lang="en-US" b="0" i="1" smtClean="0">
                        <a:latin typeface="Cambria Math" panose="02040503050406030204" pitchFamily="18" charset="0"/>
                      </a:rPr>
                      <m:t>𝑚𝑎𝑥</m:t>
                    </m:r>
                    <m:d>
                      <m:dPr>
                        <m:begChr m:val="{"/>
                        <m:endChr m:val=""/>
                        <m:ctrlPr>
                          <a:rPr lang="en-US" b="0" i="1" smtClean="0">
                            <a:latin typeface="Cambria Math" panose="02040503050406030204" pitchFamily="18" charset="0"/>
                          </a:rPr>
                        </m:ctrlPr>
                      </m:dPr>
                      <m:e>
                        <m:m>
                          <m:mPr>
                            <m:mcs>
                              <m:mc>
                                <m:mcPr>
                                  <m:count m:val="1"/>
                                  <m:mcJc m:val="center"/>
                                </m:mcPr>
                              </m:mc>
                            </m:mcs>
                            <m:ctrlPr>
                              <a:rPr lang="en-US" b="0" i="1" smtClean="0">
                                <a:latin typeface="Cambria Math" panose="02040503050406030204" pitchFamily="18" charset="0"/>
                              </a:rPr>
                            </m:ctrlPr>
                          </m:mPr>
                          <m:m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𝑖</m:t>
                                  </m:r>
                                  <m:r>
                                    <a:rPr lang="en-US" b="0" i="1" smtClean="0">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𝑗</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𝑏</m:t>
                                  </m:r>
                                </m:e>
                                <m:sub>
                                  <m:r>
                                    <a:rPr lang="en-US" b="0" i="1" smtClean="0">
                                      <a:latin typeface="Cambria Math" panose="02040503050406030204" pitchFamily="18" charset="0"/>
                                    </a:rPr>
                                    <m:t>𝑗</m:t>
                                  </m:r>
                                </m:sub>
                              </m:sSub>
                              <m:r>
                                <a:rPr lang="en-US" b="0" i="1" smtClean="0">
                                  <a:latin typeface="Cambria Math" panose="02040503050406030204" pitchFamily="18" charset="0"/>
                                </a:rPr>
                                <m:t>)</m:t>
                              </m:r>
                            </m:e>
                          </m:mr>
                          <m:m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𝐺</m:t>
                              </m:r>
                            </m:e>
                          </m:mr>
                          <m:mr>
                            <m:e>
                              <m:m>
                                <m:mPr>
                                  <m:mcs>
                                    <m:mc>
                                      <m:mcPr>
                                        <m:count m:val="1"/>
                                        <m:mcJc m:val="center"/>
                                      </m:mcPr>
                                    </m:mc>
                                  </m:mcs>
                                  <m:ctrlPr>
                                    <a:rPr lang="en-US" b="0" i="1" smtClean="0">
                                      <a:latin typeface="Cambria Math" panose="02040503050406030204" pitchFamily="18" charset="0"/>
                                    </a:rPr>
                                  </m:ctrlPr>
                                </m:mPr>
                                <m:m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𝑖</m:t>
                                        </m:r>
                                        <m:r>
                                          <a:rPr lang="en-US" b="0" i="1" smtClean="0">
                                            <a:latin typeface="Cambria Math" panose="02040503050406030204" pitchFamily="18" charset="0"/>
                                          </a:rPr>
                                          <m:t>−1</m:t>
                                        </m:r>
                                        <m:r>
                                          <a:rPr lang="en-US" i="1">
                                            <a:latin typeface="Cambria Math" panose="02040503050406030204" pitchFamily="18" charset="0"/>
                                          </a:rPr>
                                          <m:t>,</m:t>
                                        </m:r>
                                        <m:r>
                                          <a:rPr lang="en-US" i="1">
                                            <a:latin typeface="Cambria Math" panose="02040503050406030204" pitchFamily="18" charset="0"/>
                                          </a:rPr>
                                          <m:t>𝑗</m:t>
                                        </m:r>
                                      </m:sub>
                                    </m:sSub>
                                    <m:r>
                                      <a:rPr lang="en-US" b="0" i="1" smtClean="0">
                                        <a:latin typeface="Cambria Math" panose="02040503050406030204" pitchFamily="18" charset="0"/>
                                      </a:rPr>
                                      <m:t>−</m:t>
                                    </m:r>
                                    <m:r>
                                      <a:rPr lang="en-US" b="0" i="1" smtClean="0">
                                        <a:latin typeface="Cambria Math" panose="02040503050406030204" pitchFamily="18" charset="0"/>
                                      </a:rPr>
                                      <m:t>𝐺</m:t>
                                    </m:r>
                                  </m:e>
                                </m:mr>
                                <m:mr>
                                  <m:e>
                                    <m:r>
                                      <a:rPr lang="en-US" b="0" i="1" smtClean="0">
                                        <a:latin typeface="Cambria Math" panose="02040503050406030204" pitchFamily="18" charset="0"/>
                                      </a:rPr>
                                      <m:t>0</m:t>
                                    </m:r>
                                  </m:e>
                                </m:mr>
                              </m:m>
                            </m:e>
                          </m:mr>
                        </m:m>
                      </m:e>
                    </m:d>
                  </m:oMath>
                </a14:m>
                <a:endParaRPr lang="en-US" i="1"/>
              </a:p>
            </p:txBody>
          </p:sp>
        </mc:Choice>
        <mc:Fallback xmlns="">
          <p:sp>
            <p:nvSpPr>
              <p:cNvPr id="10" name="Content Placeholder 2">
                <a:extLst>
                  <a:ext uri="{FF2B5EF4-FFF2-40B4-BE49-F238E27FC236}">
                    <a16:creationId xmlns:a16="http://schemas.microsoft.com/office/drawing/2014/main" id="{C8585D25-FE6A-9D7F-B0B0-BADAD049DDB9}"/>
                  </a:ext>
                </a:extLst>
              </p:cNvPr>
              <p:cNvSpPr>
                <a:spLocks noGrp="1" noRot="1" noChangeAspect="1" noMove="1" noResize="1" noEditPoints="1" noAdjustHandles="1" noChangeArrowheads="1" noChangeShapeType="1" noTextEdit="1"/>
              </p:cNvSpPr>
              <p:nvPr>
                <p:ph idx="1"/>
              </p:nvPr>
            </p:nvSpPr>
            <p:spPr>
              <a:xfrm>
                <a:off x="5790591" y="1596540"/>
                <a:ext cx="5955494" cy="4759811"/>
              </a:xfrm>
              <a:blipFill>
                <a:blip r:embed="rId2"/>
                <a:stretch>
                  <a:fillRect l="-1842" t="-1280"/>
                </a:stretch>
              </a:blipFill>
            </p:spPr>
            <p:txBody>
              <a:bodyPr/>
              <a:lstStyle/>
              <a:p>
                <a:r>
                  <a:rPr lang="en-US">
                    <a:noFill/>
                  </a:rPr>
                  <a:t> </a:t>
                </a:r>
              </a:p>
            </p:txBody>
          </p:sp>
        </mc:Fallback>
      </mc:AlternateContent>
      <p:sp>
        <p:nvSpPr>
          <p:cNvPr id="5" name="Arrow: Right 4">
            <a:extLst>
              <a:ext uri="{FF2B5EF4-FFF2-40B4-BE49-F238E27FC236}">
                <a16:creationId xmlns:a16="http://schemas.microsoft.com/office/drawing/2014/main" id="{20D5F0CC-FC74-BE50-D3E6-8F262CAAD60D}"/>
              </a:ext>
            </a:extLst>
          </p:cNvPr>
          <p:cNvSpPr/>
          <p:nvPr/>
        </p:nvSpPr>
        <p:spPr>
          <a:xfrm>
            <a:off x="11353342" y="4568529"/>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Arrow: Right 6">
            <a:extLst>
              <a:ext uri="{FF2B5EF4-FFF2-40B4-BE49-F238E27FC236}">
                <a16:creationId xmlns:a16="http://schemas.microsoft.com/office/drawing/2014/main" id="{A854D918-9AD9-52E0-81A2-6316EA9E63D5}"/>
              </a:ext>
            </a:extLst>
          </p:cNvPr>
          <p:cNvSpPr/>
          <p:nvPr/>
        </p:nvSpPr>
        <p:spPr>
          <a:xfrm rot="5400000">
            <a:off x="11385634" y="4154781"/>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Arrow: Right 7">
            <a:extLst>
              <a:ext uri="{FF2B5EF4-FFF2-40B4-BE49-F238E27FC236}">
                <a16:creationId xmlns:a16="http://schemas.microsoft.com/office/drawing/2014/main" id="{B9600A27-796C-36BD-A717-06793DB5C172}"/>
              </a:ext>
            </a:extLst>
          </p:cNvPr>
          <p:cNvSpPr/>
          <p:nvPr/>
        </p:nvSpPr>
        <p:spPr>
          <a:xfrm rot="2873019">
            <a:off x="11333800" y="362162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D6DD2147-4A3B-DFED-02B4-A74AA6B3CB16}"/>
              </a:ext>
            </a:extLst>
          </p:cNvPr>
          <p:cNvSpPr/>
          <p:nvPr/>
        </p:nvSpPr>
        <p:spPr>
          <a:xfrm>
            <a:off x="2208220" y="2761030"/>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Arrow: Right 14">
            <a:extLst>
              <a:ext uri="{FF2B5EF4-FFF2-40B4-BE49-F238E27FC236}">
                <a16:creationId xmlns:a16="http://schemas.microsoft.com/office/drawing/2014/main" id="{8760041E-9874-27F7-7215-7BFF6AB69F33}"/>
              </a:ext>
            </a:extLst>
          </p:cNvPr>
          <p:cNvSpPr/>
          <p:nvPr/>
        </p:nvSpPr>
        <p:spPr>
          <a:xfrm rot="2873019">
            <a:off x="1715408" y="2520199"/>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Arrow: Right 15">
            <a:extLst>
              <a:ext uri="{FF2B5EF4-FFF2-40B4-BE49-F238E27FC236}">
                <a16:creationId xmlns:a16="http://schemas.microsoft.com/office/drawing/2014/main" id="{44B75851-7D10-6061-2960-749C3AA2B027}"/>
              </a:ext>
            </a:extLst>
          </p:cNvPr>
          <p:cNvSpPr/>
          <p:nvPr/>
        </p:nvSpPr>
        <p:spPr>
          <a:xfrm rot="2873019">
            <a:off x="4156303" y="2563127"/>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Arrow: Right 16">
            <a:extLst>
              <a:ext uri="{FF2B5EF4-FFF2-40B4-BE49-F238E27FC236}">
                <a16:creationId xmlns:a16="http://schemas.microsoft.com/office/drawing/2014/main" id="{4466B9F2-C3AC-00D9-39D1-163711E5D83B}"/>
              </a:ext>
            </a:extLst>
          </p:cNvPr>
          <p:cNvSpPr/>
          <p:nvPr/>
        </p:nvSpPr>
        <p:spPr>
          <a:xfrm rot="2873019">
            <a:off x="4661458" y="255360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Arrow: Right 5">
            <a:extLst>
              <a:ext uri="{FF2B5EF4-FFF2-40B4-BE49-F238E27FC236}">
                <a16:creationId xmlns:a16="http://schemas.microsoft.com/office/drawing/2014/main" id="{37F0B769-17E5-CAE0-6CBE-46B95EAB59D1}"/>
              </a:ext>
            </a:extLst>
          </p:cNvPr>
          <p:cNvSpPr/>
          <p:nvPr/>
        </p:nvSpPr>
        <p:spPr>
          <a:xfrm rot="2873019">
            <a:off x="1723478" y="300976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Arrow: Right 11">
            <a:extLst>
              <a:ext uri="{FF2B5EF4-FFF2-40B4-BE49-F238E27FC236}">
                <a16:creationId xmlns:a16="http://schemas.microsoft.com/office/drawing/2014/main" id="{19D3CF6C-6F98-BC9A-49B6-3C0418518C10}"/>
              </a:ext>
            </a:extLst>
          </p:cNvPr>
          <p:cNvSpPr/>
          <p:nvPr/>
        </p:nvSpPr>
        <p:spPr>
          <a:xfrm>
            <a:off x="2219449" y="3174241"/>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Arrow: Right 12">
            <a:extLst>
              <a:ext uri="{FF2B5EF4-FFF2-40B4-BE49-F238E27FC236}">
                <a16:creationId xmlns:a16="http://schemas.microsoft.com/office/drawing/2014/main" id="{5ACD6124-AD67-6682-4CAE-B233F9B16644}"/>
              </a:ext>
            </a:extLst>
          </p:cNvPr>
          <p:cNvSpPr/>
          <p:nvPr/>
        </p:nvSpPr>
        <p:spPr>
          <a:xfrm rot="2873019">
            <a:off x="4178761" y="3000794"/>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rrow: Right 13">
            <a:extLst>
              <a:ext uri="{FF2B5EF4-FFF2-40B4-BE49-F238E27FC236}">
                <a16:creationId xmlns:a16="http://schemas.microsoft.com/office/drawing/2014/main" id="{408BE539-060D-EC8A-7633-79D639E1681A}"/>
              </a:ext>
            </a:extLst>
          </p:cNvPr>
          <p:cNvSpPr/>
          <p:nvPr/>
        </p:nvSpPr>
        <p:spPr>
          <a:xfrm rot="2873019">
            <a:off x="4683916" y="2991269"/>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Arrow: Right 17">
            <a:extLst>
              <a:ext uri="{FF2B5EF4-FFF2-40B4-BE49-F238E27FC236}">
                <a16:creationId xmlns:a16="http://schemas.microsoft.com/office/drawing/2014/main" id="{EC035327-8B44-3FA8-E953-8037802FAEF5}"/>
              </a:ext>
            </a:extLst>
          </p:cNvPr>
          <p:cNvSpPr/>
          <p:nvPr/>
        </p:nvSpPr>
        <p:spPr>
          <a:xfrm rot="2873019">
            <a:off x="1256753" y="3457141"/>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Arrow: Right 19">
            <a:extLst>
              <a:ext uri="{FF2B5EF4-FFF2-40B4-BE49-F238E27FC236}">
                <a16:creationId xmlns:a16="http://schemas.microsoft.com/office/drawing/2014/main" id="{F745BF09-0498-3947-0A1A-3061CE14564E}"/>
              </a:ext>
            </a:extLst>
          </p:cNvPr>
          <p:cNvSpPr/>
          <p:nvPr/>
        </p:nvSpPr>
        <p:spPr>
          <a:xfrm>
            <a:off x="1715408" y="3621620"/>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Arrow: Right 20">
            <a:extLst>
              <a:ext uri="{FF2B5EF4-FFF2-40B4-BE49-F238E27FC236}">
                <a16:creationId xmlns:a16="http://schemas.microsoft.com/office/drawing/2014/main" id="{EC5ADD3B-865B-AC4E-FB19-9B407B7B9FAC}"/>
              </a:ext>
            </a:extLst>
          </p:cNvPr>
          <p:cNvSpPr/>
          <p:nvPr/>
        </p:nvSpPr>
        <p:spPr>
          <a:xfrm rot="5400000">
            <a:off x="2011455" y="3413379"/>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Arrow: Right 21">
            <a:extLst>
              <a:ext uri="{FF2B5EF4-FFF2-40B4-BE49-F238E27FC236}">
                <a16:creationId xmlns:a16="http://schemas.microsoft.com/office/drawing/2014/main" id="{723E63C5-C6C3-8D4E-7405-C797C859A3CF}"/>
              </a:ext>
            </a:extLst>
          </p:cNvPr>
          <p:cNvSpPr/>
          <p:nvPr/>
        </p:nvSpPr>
        <p:spPr>
          <a:xfrm rot="2873019">
            <a:off x="2252724" y="3457140"/>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Arrow: Right 22">
            <a:extLst>
              <a:ext uri="{FF2B5EF4-FFF2-40B4-BE49-F238E27FC236}">
                <a16:creationId xmlns:a16="http://schemas.microsoft.com/office/drawing/2014/main" id="{FC7A5AF0-40DF-FB53-3B92-8719C8D58173}"/>
              </a:ext>
            </a:extLst>
          </p:cNvPr>
          <p:cNvSpPr/>
          <p:nvPr/>
        </p:nvSpPr>
        <p:spPr>
          <a:xfrm rot="2873019">
            <a:off x="2718366" y="3457140"/>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Arrow: Right 23">
            <a:extLst>
              <a:ext uri="{FF2B5EF4-FFF2-40B4-BE49-F238E27FC236}">
                <a16:creationId xmlns:a16="http://schemas.microsoft.com/office/drawing/2014/main" id="{4AD0D286-3BDB-E33B-1B52-CC3487A64C0D}"/>
              </a:ext>
            </a:extLst>
          </p:cNvPr>
          <p:cNvSpPr/>
          <p:nvPr/>
        </p:nvSpPr>
        <p:spPr>
          <a:xfrm>
            <a:off x="2704197" y="3676085"/>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Arrow: Right 24">
            <a:extLst>
              <a:ext uri="{FF2B5EF4-FFF2-40B4-BE49-F238E27FC236}">
                <a16:creationId xmlns:a16="http://schemas.microsoft.com/office/drawing/2014/main" id="{D329975A-03E1-8C21-6762-DFF838403CB3}"/>
              </a:ext>
            </a:extLst>
          </p:cNvPr>
          <p:cNvSpPr/>
          <p:nvPr/>
        </p:nvSpPr>
        <p:spPr>
          <a:xfrm>
            <a:off x="3195746" y="3650195"/>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67C3688A-F489-F856-EC0B-B2F36921462C}"/>
              </a:ext>
            </a:extLst>
          </p:cNvPr>
          <p:cNvSpPr/>
          <p:nvPr/>
        </p:nvSpPr>
        <p:spPr>
          <a:xfrm>
            <a:off x="3666784" y="3650194"/>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Arrow: Right 26">
            <a:extLst>
              <a:ext uri="{FF2B5EF4-FFF2-40B4-BE49-F238E27FC236}">
                <a16:creationId xmlns:a16="http://schemas.microsoft.com/office/drawing/2014/main" id="{F3F8E2CE-57D8-225C-5564-2C8077069C94}"/>
              </a:ext>
            </a:extLst>
          </p:cNvPr>
          <p:cNvSpPr/>
          <p:nvPr/>
        </p:nvSpPr>
        <p:spPr>
          <a:xfrm rot="5400000">
            <a:off x="4928845" y="3413379"/>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Arrow: Right 27">
            <a:extLst>
              <a:ext uri="{FF2B5EF4-FFF2-40B4-BE49-F238E27FC236}">
                <a16:creationId xmlns:a16="http://schemas.microsoft.com/office/drawing/2014/main" id="{82980448-6332-67DE-0019-D4CBA932A8D7}"/>
              </a:ext>
            </a:extLst>
          </p:cNvPr>
          <p:cNvSpPr/>
          <p:nvPr/>
        </p:nvSpPr>
        <p:spPr>
          <a:xfrm rot="5400000">
            <a:off x="4433110" y="3413379"/>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Arrow: Right 30">
            <a:extLst>
              <a:ext uri="{FF2B5EF4-FFF2-40B4-BE49-F238E27FC236}">
                <a16:creationId xmlns:a16="http://schemas.microsoft.com/office/drawing/2014/main" id="{19E1A295-2E53-B3E4-6F0D-A7F87B46FAF7}"/>
              </a:ext>
            </a:extLst>
          </p:cNvPr>
          <p:cNvSpPr/>
          <p:nvPr/>
        </p:nvSpPr>
        <p:spPr>
          <a:xfrm rot="2873019">
            <a:off x="1248926" y="3914577"/>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Arrow: Right 31">
            <a:extLst>
              <a:ext uri="{FF2B5EF4-FFF2-40B4-BE49-F238E27FC236}">
                <a16:creationId xmlns:a16="http://schemas.microsoft.com/office/drawing/2014/main" id="{85128D43-ECD3-CE7F-A2A0-2748AF1F15A3}"/>
              </a:ext>
            </a:extLst>
          </p:cNvPr>
          <p:cNvSpPr/>
          <p:nvPr/>
        </p:nvSpPr>
        <p:spPr>
          <a:xfrm>
            <a:off x="1707581" y="4079056"/>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Arrow: Right 33">
            <a:extLst>
              <a:ext uri="{FF2B5EF4-FFF2-40B4-BE49-F238E27FC236}">
                <a16:creationId xmlns:a16="http://schemas.microsoft.com/office/drawing/2014/main" id="{86A2215F-B2DF-178F-C01C-E4315214DC86}"/>
              </a:ext>
            </a:extLst>
          </p:cNvPr>
          <p:cNvSpPr/>
          <p:nvPr/>
        </p:nvSpPr>
        <p:spPr>
          <a:xfrm rot="2873019">
            <a:off x="2244897" y="3914576"/>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Arrow: Right 34">
            <a:extLst>
              <a:ext uri="{FF2B5EF4-FFF2-40B4-BE49-F238E27FC236}">
                <a16:creationId xmlns:a16="http://schemas.microsoft.com/office/drawing/2014/main" id="{7762D4DB-DC3C-46A3-DF7A-1D9E434F17FA}"/>
              </a:ext>
            </a:extLst>
          </p:cNvPr>
          <p:cNvSpPr/>
          <p:nvPr/>
        </p:nvSpPr>
        <p:spPr>
          <a:xfrm rot="2873019">
            <a:off x="2710539" y="3914576"/>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Arrow: Right 36">
            <a:extLst>
              <a:ext uri="{FF2B5EF4-FFF2-40B4-BE49-F238E27FC236}">
                <a16:creationId xmlns:a16="http://schemas.microsoft.com/office/drawing/2014/main" id="{8C4E8E9D-B0D0-6AA6-D80A-A763084C521A}"/>
              </a:ext>
            </a:extLst>
          </p:cNvPr>
          <p:cNvSpPr/>
          <p:nvPr/>
        </p:nvSpPr>
        <p:spPr>
          <a:xfrm>
            <a:off x="3187919" y="4107631"/>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Arrow: Right 37">
            <a:extLst>
              <a:ext uri="{FF2B5EF4-FFF2-40B4-BE49-F238E27FC236}">
                <a16:creationId xmlns:a16="http://schemas.microsoft.com/office/drawing/2014/main" id="{1958EEA9-C756-DC70-DE1D-7B50AAA35815}"/>
              </a:ext>
            </a:extLst>
          </p:cNvPr>
          <p:cNvSpPr/>
          <p:nvPr/>
        </p:nvSpPr>
        <p:spPr>
          <a:xfrm>
            <a:off x="3658957" y="4107630"/>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Arrow: Right 38">
            <a:extLst>
              <a:ext uri="{FF2B5EF4-FFF2-40B4-BE49-F238E27FC236}">
                <a16:creationId xmlns:a16="http://schemas.microsoft.com/office/drawing/2014/main" id="{789E5C98-2ED5-128C-650A-E0CD420535AE}"/>
              </a:ext>
            </a:extLst>
          </p:cNvPr>
          <p:cNvSpPr/>
          <p:nvPr/>
        </p:nvSpPr>
        <p:spPr>
          <a:xfrm rot="5400000">
            <a:off x="4921018" y="3870815"/>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Arrow: Right 40">
            <a:extLst>
              <a:ext uri="{FF2B5EF4-FFF2-40B4-BE49-F238E27FC236}">
                <a16:creationId xmlns:a16="http://schemas.microsoft.com/office/drawing/2014/main" id="{E047AADC-8145-4499-7290-8EDA208CF77F}"/>
              </a:ext>
            </a:extLst>
          </p:cNvPr>
          <p:cNvSpPr/>
          <p:nvPr/>
        </p:nvSpPr>
        <p:spPr>
          <a:xfrm>
            <a:off x="4172419" y="4096726"/>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Arrow: Right 41">
            <a:extLst>
              <a:ext uri="{FF2B5EF4-FFF2-40B4-BE49-F238E27FC236}">
                <a16:creationId xmlns:a16="http://schemas.microsoft.com/office/drawing/2014/main" id="{FE58C165-DC82-DA8A-AC63-BBE8C26B161E}"/>
              </a:ext>
            </a:extLst>
          </p:cNvPr>
          <p:cNvSpPr/>
          <p:nvPr/>
        </p:nvSpPr>
        <p:spPr>
          <a:xfrm>
            <a:off x="4677574" y="4535391"/>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Arrow: Right 43">
            <a:extLst>
              <a:ext uri="{FF2B5EF4-FFF2-40B4-BE49-F238E27FC236}">
                <a16:creationId xmlns:a16="http://schemas.microsoft.com/office/drawing/2014/main" id="{EA352435-EDBD-DC68-85C2-544567E7D5AA}"/>
              </a:ext>
            </a:extLst>
          </p:cNvPr>
          <p:cNvSpPr/>
          <p:nvPr/>
        </p:nvSpPr>
        <p:spPr>
          <a:xfrm rot="2873019">
            <a:off x="4660527" y="4303388"/>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Arrow: Right 44">
            <a:extLst>
              <a:ext uri="{FF2B5EF4-FFF2-40B4-BE49-F238E27FC236}">
                <a16:creationId xmlns:a16="http://schemas.microsoft.com/office/drawing/2014/main" id="{A78CEFFF-63A4-546B-139A-EB572623CB00}"/>
              </a:ext>
            </a:extLst>
          </p:cNvPr>
          <p:cNvSpPr/>
          <p:nvPr/>
        </p:nvSpPr>
        <p:spPr>
          <a:xfrm rot="2873019">
            <a:off x="4189489" y="4361567"/>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Arrow: Right 45">
            <a:extLst>
              <a:ext uri="{FF2B5EF4-FFF2-40B4-BE49-F238E27FC236}">
                <a16:creationId xmlns:a16="http://schemas.microsoft.com/office/drawing/2014/main" id="{F745610C-33D8-DECB-1122-FAE35541F940}"/>
              </a:ext>
            </a:extLst>
          </p:cNvPr>
          <p:cNvSpPr/>
          <p:nvPr/>
        </p:nvSpPr>
        <p:spPr>
          <a:xfrm>
            <a:off x="3693518" y="451937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Arrow: Right 46">
            <a:extLst>
              <a:ext uri="{FF2B5EF4-FFF2-40B4-BE49-F238E27FC236}">
                <a16:creationId xmlns:a16="http://schemas.microsoft.com/office/drawing/2014/main" id="{36BA4034-4D8D-E7FD-98A7-48D6FAB7B03B}"/>
              </a:ext>
            </a:extLst>
          </p:cNvPr>
          <p:cNvSpPr/>
          <p:nvPr/>
        </p:nvSpPr>
        <p:spPr>
          <a:xfrm rot="2873019">
            <a:off x="3632883" y="4313671"/>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Arrow: Right 47">
            <a:extLst>
              <a:ext uri="{FF2B5EF4-FFF2-40B4-BE49-F238E27FC236}">
                <a16:creationId xmlns:a16="http://schemas.microsoft.com/office/drawing/2014/main" id="{CE8E23C9-DB50-0AA2-031D-BC233D300CD2}"/>
              </a:ext>
            </a:extLst>
          </p:cNvPr>
          <p:cNvSpPr/>
          <p:nvPr/>
        </p:nvSpPr>
        <p:spPr>
          <a:xfrm rot="2873019">
            <a:off x="3204966" y="4354893"/>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Arrow: Right 48">
            <a:extLst>
              <a:ext uri="{FF2B5EF4-FFF2-40B4-BE49-F238E27FC236}">
                <a16:creationId xmlns:a16="http://schemas.microsoft.com/office/drawing/2014/main" id="{4B455D3D-9EC9-E601-9E75-B3917497A112}"/>
              </a:ext>
            </a:extLst>
          </p:cNvPr>
          <p:cNvSpPr/>
          <p:nvPr/>
        </p:nvSpPr>
        <p:spPr>
          <a:xfrm rot="5400000">
            <a:off x="2984540" y="4306820"/>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Arrow: Right 49">
            <a:extLst>
              <a:ext uri="{FF2B5EF4-FFF2-40B4-BE49-F238E27FC236}">
                <a16:creationId xmlns:a16="http://schemas.microsoft.com/office/drawing/2014/main" id="{9CF9646F-B12F-EB17-9D51-200132B8A8D6}"/>
              </a:ext>
            </a:extLst>
          </p:cNvPr>
          <p:cNvSpPr/>
          <p:nvPr/>
        </p:nvSpPr>
        <p:spPr>
          <a:xfrm>
            <a:off x="2219449" y="4535391"/>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Arrow: Right 50">
            <a:extLst>
              <a:ext uri="{FF2B5EF4-FFF2-40B4-BE49-F238E27FC236}">
                <a16:creationId xmlns:a16="http://schemas.microsoft.com/office/drawing/2014/main" id="{BE23D18A-5218-B510-5D98-9CFEEA18F1C0}"/>
              </a:ext>
            </a:extLst>
          </p:cNvPr>
          <p:cNvSpPr/>
          <p:nvPr/>
        </p:nvSpPr>
        <p:spPr>
          <a:xfrm rot="2873019">
            <a:off x="2691544" y="4327697"/>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Arrow: Right 51">
            <a:extLst>
              <a:ext uri="{FF2B5EF4-FFF2-40B4-BE49-F238E27FC236}">
                <a16:creationId xmlns:a16="http://schemas.microsoft.com/office/drawing/2014/main" id="{2A2F3712-3F5A-835E-AF8A-264F418F0F67}"/>
              </a:ext>
            </a:extLst>
          </p:cNvPr>
          <p:cNvSpPr/>
          <p:nvPr/>
        </p:nvSpPr>
        <p:spPr>
          <a:xfrm rot="2873019">
            <a:off x="1752858" y="4354607"/>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Arrow: Right 52">
            <a:extLst>
              <a:ext uri="{FF2B5EF4-FFF2-40B4-BE49-F238E27FC236}">
                <a16:creationId xmlns:a16="http://schemas.microsoft.com/office/drawing/2014/main" id="{2D3772EC-1E3B-6223-AC82-BABC611E2FEE}"/>
              </a:ext>
            </a:extLst>
          </p:cNvPr>
          <p:cNvSpPr/>
          <p:nvPr/>
        </p:nvSpPr>
        <p:spPr>
          <a:xfrm rot="5400000">
            <a:off x="1516313" y="4310400"/>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Arrow: Right 2">
            <a:extLst>
              <a:ext uri="{FF2B5EF4-FFF2-40B4-BE49-F238E27FC236}">
                <a16:creationId xmlns:a16="http://schemas.microsoft.com/office/drawing/2014/main" id="{9580E8D1-B280-A284-5E6B-1FFE6017D797}"/>
              </a:ext>
            </a:extLst>
          </p:cNvPr>
          <p:cNvSpPr/>
          <p:nvPr/>
        </p:nvSpPr>
        <p:spPr>
          <a:xfrm rot="2873019">
            <a:off x="4671232" y="4803059"/>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Arrow: Right 18">
            <a:extLst>
              <a:ext uri="{FF2B5EF4-FFF2-40B4-BE49-F238E27FC236}">
                <a16:creationId xmlns:a16="http://schemas.microsoft.com/office/drawing/2014/main" id="{F8F76369-5DE0-6130-33E7-9F15361F7391}"/>
              </a:ext>
            </a:extLst>
          </p:cNvPr>
          <p:cNvSpPr/>
          <p:nvPr/>
        </p:nvSpPr>
        <p:spPr>
          <a:xfrm rot="5400000">
            <a:off x="4449874" y="4751892"/>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Arrow: Right 28">
            <a:extLst>
              <a:ext uri="{FF2B5EF4-FFF2-40B4-BE49-F238E27FC236}">
                <a16:creationId xmlns:a16="http://schemas.microsoft.com/office/drawing/2014/main" id="{45C05FDE-2FFB-4272-FDE1-70CE98377CB1}"/>
              </a:ext>
            </a:extLst>
          </p:cNvPr>
          <p:cNvSpPr/>
          <p:nvPr/>
        </p:nvSpPr>
        <p:spPr>
          <a:xfrm>
            <a:off x="4156303" y="497902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Arrow: Right 29">
            <a:extLst>
              <a:ext uri="{FF2B5EF4-FFF2-40B4-BE49-F238E27FC236}">
                <a16:creationId xmlns:a16="http://schemas.microsoft.com/office/drawing/2014/main" id="{989E3876-4587-FD1C-52B3-DBB572D10355}"/>
              </a:ext>
            </a:extLst>
          </p:cNvPr>
          <p:cNvSpPr/>
          <p:nvPr/>
        </p:nvSpPr>
        <p:spPr>
          <a:xfrm>
            <a:off x="3716581" y="4967538"/>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Arrow: Right 32">
            <a:extLst>
              <a:ext uri="{FF2B5EF4-FFF2-40B4-BE49-F238E27FC236}">
                <a16:creationId xmlns:a16="http://schemas.microsoft.com/office/drawing/2014/main" id="{57276C0C-409F-B588-BD62-F62BCB7DF0D7}"/>
              </a:ext>
            </a:extLst>
          </p:cNvPr>
          <p:cNvSpPr/>
          <p:nvPr/>
        </p:nvSpPr>
        <p:spPr>
          <a:xfrm rot="2873019">
            <a:off x="3178589" y="4756891"/>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Arrow: Right 35">
            <a:extLst>
              <a:ext uri="{FF2B5EF4-FFF2-40B4-BE49-F238E27FC236}">
                <a16:creationId xmlns:a16="http://schemas.microsoft.com/office/drawing/2014/main" id="{9E409BED-FE58-4916-05E0-46B8FD8E0CD1}"/>
              </a:ext>
            </a:extLst>
          </p:cNvPr>
          <p:cNvSpPr/>
          <p:nvPr/>
        </p:nvSpPr>
        <p:spPr>
          <a:xfrm rot="5400000">
            <a:off x="2984540" y="4749771"/>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Arrow: Right 39">
            <a:extLst>
              <a:ext uri="{FF2B5EF4-FFF2-40B4-BE49-F238E27FC236}">
                <a16:creationId xmlns:a16="http://schemas.microsoft.com/office/drawing/2014/main" id="{8B907DE0-816F-06E9-27E0-B5406F06151D}"/>
              </a:ext>
            </a:extLst>
          </p:cNvPr>
          <p:cNvSpPr/>
          <p:nvPr/>
        </p:nvSpPr>
        <p:spPr>
          <a:xfrm rot="5400000">
            <a:off x="1992591" y="4744105"/>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Arrow: Right 42">
            <a:extLst>
              <a:ext uri="{FF2B5EF4-FFF2-40B4-BE49-F238E27FC236}">
                <a16:creationId xmlns:a16="http://schemas.microsoft.com/office/drawing/2014/main" id="{802DDC32-67B9-E405-3DA4-3FD2C4947C6C}"/>
              </a:ext>
            </a:extLst>
          </p:cNvPr>
          <p:cNvSpPr/>
          <p:nvPr/>
        </p:nvSpPr>
        <p:spPr>
          <a:xfrm rot="2873019">
            <a:off x="2234413" y="4803058"/>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Arrow: Right 54">
            <a:extLst>
              <a:ext uri="{FF2B5EF4-FFF2-40B4-BE49-F238E27FC236}">
                <a16:creationId xmlns:a16="http://schemas.microsoft.com/office/drawing/2014/main" id="{B7FBD1D1-B91E-635E-3311-C424AFA35612}"/>
              </a:ext>
            </a:extLst>
          </p:cNvPr>
          <p:cNvSpPr/>
          <p:nvPr/>
        </p:nvSpPr>
        <p:spPr>
          <a:xfrm>
            <a:off x="4677574" y="5430740"/>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Arrow: Right 55">
            <a:extLst>
              <a:ext uri="{FF2B5EF4-FFF2-40B4-BE49-F238E27FC236}">
                <a16:creationId xmlns:a16="http://schemas.microsoft.com/office/drawing/2014/main" id="{293EE0BC-B979-F0AC-9F10-45681517DDBF}"/>
              </a:ext>
            </a:extLst>
          </p:cNvPr>
          <p:cNvSpPr/>
          <p:nvPr/>
        </p:nvSpPr>
        <p:spPr>
          <a:xfrm>
            <a:off x="4185103" y="5430586"/>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Arrow: Right 56">
            <a:extLst>
              <a:ext uri="{FF2B5EF4-FFF2-40B4-BE49-F238E27FC236}">
                <a16:creationId xmlns:a16="http://schemas.microsoft.com/office/drawing/2014/main" id="{A0E9413E-D75B-5A71-2118-E2679DD45CC7}"/>
              </a:ext>
            </a:extLst>
          </p:cNvPr>
          <p:cNvSpPr/>
          <p:nvPr/>
        </p:nvSpPr>
        <p:spPr>
          <a:xfrm rot="2873019">
            <a:off x="3693518" y="5240963"/>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Arrow: Right 57">
            <a:extLst>
              <a:ext uri="{FF2B5EF4-FFF2-40B4-BE49-F238E27FC236}">
                <a16:creationId xmlns:a16="http://schemas.microsoft.com/office/drawing/2014/main" id="{4B51E9F1-D57D-CE03-8D9C-B380B9BBA94F}"/>
              </a:ext>
            </a:extLst>
          </p:cNvPr>
          <p:cNvSpPr/>
          <p:nvPr/>
        </p:nvSpPr>
        <p:spPr>
          <a:xfrm rot="5400000">
            <a:off x="3470019" y="5212651"/>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Arrow: Right 58">
            <a:extLst>
              <a:ext uri="{FF2B5EF4-FFF2-40B4-BE49-F238E27FC236}">
                <a16:creationId xmlns:a16="http://schemas.microsoft.com/office/drawing/2014/main" id="{751C747A-A6B9-B236-7F4B-05226364E8BD}"/>
              </a:ext>
            </a:extLst>
          </p:cNvPr>
          <p:cNvSpPr/>
          <p:nvPr/>
        </p:nvSpPr>
        <p:spPr>
          <a:xfrm rot="5400000">
            <a:off x="2964625" y="5207267"/>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Arrow: Right 60">
            <a:extLst>
              <a:ext uri="{FF2B5EF4-FFF2-40B4-BE49-F238E27FC236}">
                <a16:creationId xmlns:a16="http://schemas.microsoft.com/office/drawing/2014/main" id="{534516B8-2F69-14F6-D83A-2C0ADD251300}"/>
              </a:ext>
            </a:extLst>
          </p:cNvPr>
          <p:cNvSpPr/>
          <p:nvPr/>
        </p:nvSpPr>
        <p:spPr>
          <a:xfrm rot="5400000">
            <a:off x="2003075" y="5192075"/>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Arrow: Right 61">
            <a:extLst>
              <a:ext uri="{FF2B5EF4-FFF2-40B4-BE49-F238E27FC236}">
                <a16:creationId xmlns:a16="http://schemas.microsoft.com/office/drawing/2014/main" id="{10B7B466-DD70-1886-09A9-7C4FD9DBD5A0}"/>
              </a:ext>
            </a:extLst>
          </p:cNvPr>
          <p:cNvSpPr/>
          <p:nvPr/>
        </p:nvSpPr>
        <p:spPr>
          <a:xfrm rot="2873019">
            <a:off x="2244897" y="5251028"/>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Arrow: Right 62">
            <a:extLst>
              <a:ext uri="{FF2B5EF4-FFF2-40B4-BE49-F238E27FC236}">
                <a16:creationId xmlns:a16="http://schemas.microsoft.com/office/drawing/2014/main" id="{65E8B98B-F928-75E5-B682-52F189B24BE6}"/>
              </a:ext>
            </a:extLst>
          </p:cNvPr>
          <p:cNvSpPr/>
          <p:nvPr/>
        </p:nvSpPr>
        <p:spPr>
          <a:xfrm rot="5400000">
            <a:off x="2480494" y="5192075"/>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Arrow: Right 63">
            <a:extLst>
              <a:ext uri="{FF2B5EF4-FFF2-40B4-BE49-F238E27FC236}">
                <a16:creationId xmlns:a16="http://schemas.microsoft.com/office/drawing/2014/main" id="{8FBFBDEE-09C5-F436-83E4-68FE201CD07B}"/>
              </a:ext>
            </a:extLst>
          </p:cNvPr>
          <p:cNvSpPr/>
          <p:nvPr/>
        </p:nvSpPr>
        <p:spPr>
          <a:xfrm rot="2873019">
            <a:off x="4199153" y="5686333"/>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Arrow: Right 64">
            <a:extLst>
              <a:ext uri="{FF2B5EF4-FFF2-40B4-BE49-F238E27FC236}">
                <a16:creationId xmlns:a16="http://schemas.microsoft.com/office/drawing/2014/main" id="{A62F03F8-01B2-B85D-8696-AC337C75BCD1}"/>
              </a:ext>
            </a:extLst>
          </p:cNvPr>
          <p:cNvSpPr/>
          <p:nvPr/>
        </p:nvSpPr>
        <p:spPr>
          <a:xfrm rot="5400000">
            <a:off x="3975654" y="5658021"/>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Arrow: Right 65">
            <a:extLst>
              <a:ext uri="{FF2B5EF4-FFF2-40B4-BE49-F238E27FC236}">
                <a16:creationId xmlns:a16="http://schemas.microsoft.com/office/drawing/2014/main" id="{01F51098-39F9-F211-C5C4-B3E26682E377}"/>
              </a:ext>
            </a:extLst>
          </p:cNvPr>
          <p:cNvSpPr/>
          <p:nvPr/>
        </p:nvSpPr>
        <p:spPr>
          <a:xfrm rot="2873019">
            <a:off x="4636218" y="5686333"/>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Arrow: Right 66">
            <a:extLst>
              <a:ext uri="{FF2B5EF4-FFF2-40B4-BE49-F238E27FC236}">
                <a16:creationId xmlns:a16="http://schemas.microsoft.com/office/drawing/2014/main" id="{3CFE15CE-D612-961B-42C4-CDCB578AFC7A}"/>
              </a:ext>
            </a:extLst>
          </p:cNvPr>
          <p:cNvSpPr/>
          <p:nvPr/>
        </p:nvSpPr>
        <p:spPr>
          <a:xfrm rot="5400000">
            <a:off x="3470019" y="5669671"/>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Arrow: Right 69">
            <a:extLst>
              <a:ext uri="{FF2B5EF4-FFF2-40B4-BE49-F238E27FC236}">
                <a16:creationId xmlns:a16="http://schemas.microsoft.com/office/drawing/2014/main" id="{E6FFD07E-7C62-AE57-CD8A-ADB482B8DE66}"/>
              </a:ext>
            </a:extLst>
          </p:cNvPr>
          <p:cNvSpPr/>
          <p:nvPr/>
        </p:nvSpPr>
        <p:spPr>
          <a:xfrm rot="2873019">
            <a:off x="2734993" y="5669518"/>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Arrow: Right 71">
            <a:extLst>
              <a:ext uri="{FF2B5EF4-FFF2-40B4-BE49-F238E27FC236}">
                <a16:creationId xmlns:a16="http://schemas.microsoft.com/office/drawing/2014/main" id="{D7B08FF4-5879-BA14-D0ED-FAE3C7ED8BF3}"/>
              </a:ext>
            </a:extLst>
          </p:cNvPr>
          <p:cNvSpPr/>
          <p:nvPr/>
        </p:nvSpPr>
        <p:spPr>
          <a:xfrm rot="2873019">
            <a:off x="2225790" y="569327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Arrow: Right 72">
            <a:extLst>
              <a:ext uri="{FF2B5EF4-FFF2-40B4-BE49-F238E27FC236}">
                <a16:creationId xmlns:a16="http://schemas.microsoft.com/office/drawing/2014/main" id="{D9C910C1-8640-57C6-4802-B9585210E0FC}"/>
              </a:ext>
            </a:extLst>
          </p:cNvPr>
          <p:cNvSpPr/>
          <p:nvPr/>
        </p:nvSpPr>
        <p:spPr>
          <a:xfrm rot="2873019">
            <a:off x="1256753" y="5686334"/>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Arrow: Right 84">
            <a:extLst>
              <a:ext uri="{FF2B5EF4-FFF2-40B4-BE49-F238E27FC236}">
                <a16:creationId xmlns:a16="http://schemas.microsoft.com/office/drawing/2014/main" id="{FE1A9EC1-1D2A-4468-1EEB-F9929D65DC53}"/>
              </a:ext>
            </a:extLst>
          </p:cNvPr>
          <p:cNvSpPr/>
          <p:nvPr/>
        </p:nvSpPr>
        <p:spPr>
          <a:xfrm rot="2873019">
            <a:off x="1721750" y="6117814"/>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Arrow: Right 85">
            <a:extLst>
              <a:ext uri="{FF2B5EF4-FFF2-40B4-BE49-F238E27FC236}">
                <a16:creationId xmlns:a16="http://schemas.microsoft.com/office/drawing/2014/main" id="{31318C25-0957-C133-ED6F-DB2B07ECF836}"/>
              </a:ext>
            </a:extLst>
          </p:cNvPr>
          <p:cNvSpPr/>
          <p:nvPr/>
        </p:nvSpPr>
        <p:spPr>
          <a:xfrm>
            <a:off x="1731484" y="587698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Arrow: Right 86">
            <a:extLst>
              <a:ext uri="{FF2B5EF4-FFF2-40B4-BE49-F238E27FC236}">
                <a16:creationId xmlns:a16="http://schemas.microsoft.com/office/drawing/2014/main" id="{C2881D71-57EE-865B-2E76-2B3703F4EE2A}"/>
              </a:ext>
            </a:extLst>
          </p:cNvPr>
          <p:cNvSpPr/>
          <p:nvPr/>
        </p:nvSpPr>
        <p:spPr>
          <a:xfrm rot="5400000">
            <a:off x="1503572" y="6095023"/>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Arrow: Right 87">
            <a:extLst>
              <a:ext uri="{FF2B5EF4-FFF2-40B4-BE49-F238E27FC236}">
                <a16:creationId xmlns:a16="http://schemas.microsoft.com/office/drawing/2014/main" id="{9DA9E98C-BE49-8262-00B7-D6CC5B51F51F}"/>
              </a:ext>
            </a:extLst>
          </p:cNvPr>
          <p:cNvSpPr/>
          <p:nvPr/>
        </p:nvSpPr>
        <p:spPr>
          <a:xfrm rot="5400000">
            <a:off x="2478766" y="6091754"/>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Arrow: Right 88">
            <a:extLst>
              <a:ext uri="{FF2B5EF4-FFF2-40B4-BE49-F238E27FC236}">
                <a16:creationId xmlns:a16="http://schemas.microsoft.com/office/drawing/2014/main" id="{C515C65F-D4E2-19BA-1BCA-42217EE86C6C}"/>
              </a:ext>
            </a:extLst>
          </p:cNvPr>
          <p:cNvSpPr/>
          <p:nvPr/>
        </p:nvSpPr>
        <p:spPr>
          <a:xfrm rot="5400000">
            <a:off x="2975482" y="6109833"/>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Arrow: Right 89">
            <a:extLst>
              <a:ext uri="{FF2B5EF4-FFF2-40B4-BE49-F238E27FC236}">
                <a16:creationId xmlns:a16="http://schemas.microsoft.com/office/drawing/2014/main" id="{26DB36B1-B1E2-F54C-CAF8-4CC7B3809998}"/>
              </a:ext>
            </a:extLst>
          </p:cNvPr>
          <p:cNvSpPr/>
          <p:nvPr/>
        </p:nvSpPr>
        <p:spPr>
          <a:xfrm rot="5400000">
            <a:off x="4449874" y="6109585"/>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Arrow: Right 90">
            <a:extLst>
              <a:ext uri="{FF2B5EF4-FFF2-40B4-BE49-F238E27FC236}">
                <a16:creationId xmlns:a16="http://schemas.microsoft.com/office/drawing/2014/main" id="{967B3C90-57F8-2079-245F-947CACE6CE5F}"/>
              </a:ext>
            </a:extLst>
          </p:cNvPr>
          <p:cNvSpPr/>
          <p:nvPr/>
        </p:nvSpPr>
        <p:spPr>
          <a:xfrm rot="5400000">
            <a:off x="3949220" y="6109585"/>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Arrow: Right 91">
            <a:extLst>
              <a:ext uri="{FF2B5EF4-FFF2-40B4-BE49-F238E27FC236}">
                <a16:creationId xmlns:a16="http://schemas.microsoft.com/office/drawing/2014/main" id="{3688098B-6C08-8378-6006-3D4DBB235901}"/>
              </a:ext>
            </a:extLst>
          </p:cNvPr>
          <p:cNvSpPr/>
          <p:nvPr/>
        </p:nvSpPr>
        <p:spPr>
          <a:xfrm rot="2873019">
            <a:off x="4661251" y="6114726"/>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Arrow: Right 92">
            <a:extLst>
              <a:ext uri="{FF2B5EF4-FFF2-40B4-BE49-F238E27FC236}">
                <a16:creationId xmlns:a16="http://schemas.microsoft.com/office/drawing/2014/main" id="{ABDA2327-59C2-9965-96D6-4F92245A3C7C}"/>
              </a:ext>
            </a:extLst>
          </p:cNvPr>
          <p:cNvSpPr/>
          <p:nvPr/>
        </p:nvSpPr>
        <p:spPr>
          <a:xfrm rot="2873019">
            <a:off x="3179314" y="6126049"/>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Arrow: Right 93">
            <a:extLst>
              <a:ext uri="{FF2B5EF4-FFF2-40B4-BE49-F238E27FC236}">
                <a16:creationId xmlns:a16="http://schemas.microsoft.com/office/drawing/2014/main" id="{61DE188F-1D73-D546-CF6A-ACECF3C73753}"/>
              </a:ext>
            </a:extLst>
          </p:cNvPr>
          <p:cNvSpPr/>
          <p:nvPr/>
        </p:nvSpPr>
        <p:spPr>
          <a:xfrm rot="2873019">
            <a:off x="2683601" y="6106394"/>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2373654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BC4099-9158-3538-040A-B65BCBA502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5CEF88-028A-3E2C-DF00-C533DD40C92B}"/>
              </a:ext>
            </a:extLst>
          </p:cNvPr>
          <p:cNvSpPr>
            <a:spLocks noGrp="1"/>
          </p:cNvSpPr>
          <p:nvPr>
            <p:ph type="title"/>
          </p:nvPr>
        </p:nvSpPr>
        <p:spPr/>
        <p:txBody>
          <a:bodyPr>
            <a:normAutofit fontScale="90000"/>
          </a:bodyPr>
          <a:lstStyle/>
          <a:p>
            <a:r>
              <a:rPr lang="en-US"/>
              <a:t>Smith-Waterman alignment</a:t>
            </a:r>
          </a:p>
        </p:txBody>
      </p:sp>
      <p:sp>
        <p:nvSpPr>
          <p:cNvPr id="4" name="Slide Number Placeholder 3">
            <a:extLst>
              <a:ext uri="{FF2B5EF4-FFF2-40B4-BE49-F238E27FC236}">
                <a16:creationId xmlns:a16="http://schemas.microsoft.com/office/drawing/2014/main" id="{B323AA8F-F094-D5D5-1600-25DEE9FA760B}"/>
              </a:ext>
            </a:extLst>
          </p:cNvPr>
          <p:cNvSpPr>
            <a:spLocks noGrp="1"/>
          </p:cNvSpPr>
          <p:nvPr>
            <p:ph type="sldNum" sz="quarter" idx="12"/>
          </p:nvPr>
        </p:nvSpPr>
        <p:spPr/>
        <p:txBody>
          <a:bodyPr/>
          <a:lstStyle/>
          <a:p>
            <a:fld id="{B82CCC60-E8CD-4174-8B1A-7DF615B22EEF}" type="slidenum">
              <a:rPr lang="en-US" smtClean="0"/>
              <a:pPr/>
              <a:t>27</a:t>
            </a:fld>
            <a:endParaRPr lang="en-US"/>
          </a:p>
        </p:txBody>
      </p:sp>
      <p:graphicFrame>
        <p:nvGraphicFramePr>
          <p:cNvPr id="9" name="Table 8">
            <a:extLst>
              <a:ext uri="{FF2B5EF4-FFF2-40B4-BE49-F238E27FC236}">
                <a16:creationId xmlns:a16="http://schemas.microsoft.com/office/drawing/2014/main" id="{CB45F618-752E-85E3-295D-7250BDB01AD3}"/>
              </a:ext>
            </a:extLst>
          </p:cNvPr>
          <p:cNvGraphicFramePr>
            <a:graphicFrameLocks noGrp="1"/>
          </p:cNvGraphicFramePr>
          <p:nvPr>
            <p:extLst>
              <p:ext uri="{D42A27DB-BD31-4B8C-83A1-F6EECF244321}">
                <p14:modId xmlns:p14="http://schemas.microsoft.com/office/powerpoint/2010/main" val="4219219775"/>
              </p:ext>
            </p:extLst>
          </p:nvPr>
        </p:nvGraphicFramePr>
        <p:xfrm>
          <a:off x="412842" y="1741270"/>
          <a:ext cx="4888120" cy="4915141"/>
        </p:xfrm>
        <a:graphic>
          <a:graphicData uri="http://schemas.openxmlformats.org/drawingml/2006/table">
            <a:tbl>
              <a:tblPr>
                <a:tableStyleId>{5C22544A-7EE6-4342-B048-85BDC9FD1C3A}</a:tableStyleId>
              </a:tblPr>
              <a:tblGrid>
                <a:gridCol w="488812">
                  <a:extLst>
                    <a:ext uri="{9D8B030D-6E8A-4147-A177-3AD203B41FA5}">
                      <a16:colId xmlns:a16="http://schemas.microsoft.com/office/drawing/2014/main" val="499789085"/>
                    </a:ext>
                  </a:extLst>
                </a:gridCol>
                <a:gridCol w="488812">
                  <a:extLst>
                    <a:ext uri="{9D8B030D-6E8A-4147-A177-3AD203B41FA5}">
                      <a16:colId xmlns:a16="http://schemas.microsoft.com/office/drawing/2014/main" val="2105533424"/>
                    </a:ext>
                  </a:extLst>
                </a:gridCol>
                <a:gridCol w="488812">
                  <a:extLst>
                    <a:ext uri="{9D8B030D-6E8A-4147-A177-3AD203B41FA5}">
                      <a16:colId xmlns:a16="http://schemas.microsoft.com/office/drawing/2014/main" val="149591861"/>
                    </a:ext>
                  </a:extLst>
                </a:gridCol>
                <a:gridCol w="488812">
                  <a:extLst>
                    <a:ext uri="{9D8B030D-6E8A-4147-A177-3AD203B41FA5}">
                      <a16:colId xmlns:a16="http://schemas.microsoft.com/office/drawing/2014/main" val="1620141554"/>
                    </a:ext>
                  </a:extLst>
                </a:gridCol>
                <a:gridCol w="488812">
                  <a:extLst>
                    <a:ext uri="{9D8B030D-6E8A-4147-A177-3AD203B41FA5}">
                      <a16:colId xmlns:a16="http://schemas.microsoft.com/office/drawing/2014/main" val="3662352121"/>
                    </a:ext>
                  </a:extLst>
                </a:gridCol>
                <a:gridCol w="488812">
                  <a:extLst>
                    <a:ext uri="{9D8B030D-6E8A-4147-A177-3AD203B41FA5}">
                      <a16:colId xmlns:a16="http://schemas.microsoft.com/office/drawing/2014/main" val="2418474277"/>
                    </a:ext>
                  </a:extLst>
                </a:gridCol>
                <a:gridCol w="488812">
                  <a:extLst>
                    <a:ext uri="{9D8B030D-6E8A-4147-A177-3AD203B41FA5}">
                      <a16:colId xmlns:a16="http://schemas.microsoft.com/office/drawing/2014/main" val="2269938636"/>
                    </a:ext>
                  </a:extLst>
                </a:gridCol>
                <a:gridCol w="488812">
                  <a:extLst>
                    <a:ext uri="{9D8B030D-6E8A-4147-A177-3AD203B41FA5}">
                      <a16:colId xmlns:a16="http://schemas.microsoft.com/office/drawing/2014/main" val="1461158529"/>
                    </a:ext>
                  </a:extLst>
                </a:gridCol>
                <a:gridCol w="488812">
                  <a:extLst>
                    <a:ext uri="{9D8B030D-6E8A-4147-A177-3AD203B41FA5}">
                      <a16:colId xmlns:a16="http://schemas.microsoft.com/office/drawing/2014/main" val="3455786437"/>
                    </a:ext>
                  </a:extLst>
                </a:gridCol>
                <a:gridCol w="488812">
                  <a:extLst>
                    <a:ext uri="{9D8B030D-6E8A-4147-A177-3AD203B41FA5}">
                      <a16:colId xmlns:a16="http://schemas.microsoft.com/office/drawing/2014/main" val="2314278537"/>
                    </a:ext>
                  </a:extLst>
                </a:gridCol>
              </a:tblGrid>
              <a:tr h="446831">
                <a:tc>
                  <a:txBody>
                    <a:bodyPr/>
                    <a:lstStyle/>
                    <a:p>
                      <a:pPr algn="ctr"/>
                      <a:endParaRPr lang="en-US"/>
                    </a:p>
                  </a:txBody>
                  <a:tcPr/>
                </a:tc>
                <a:tc>
                  <a:txBody>
                    <a:bodyPr/>
                    <a:lstStyle/>
                    <a:p>
                      <a:pPr algn="ctr"/>
                      <a:endParaRPr lang="en-US"/>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A</a:t>
                      </a:r>
                    </a:p>
                  </a:txBody>
                  <a:tcPr>
                    <a:lnB w="12700" cap="flat" cmpd="sng" algn="ctr">
                      <a:solidFill>
                        <a:schemeClr val="tx1"/>
                      </a:solidFill>
                      <a:prstDash val="solid"/>
                      <a:round/>
                      <a:headEnd type="none" w="med" len="med"/>
                      <a:tailEnd type="none" w="med" len="med"/>
                    </a:lnB>
                  </a:tcPr>
                </a:tc>
                <a:tc>
                  <a:txBody>
                    <a:bodyPr/>
                    <a:lstStyle/>
                    <a:p>
                      <a:pPr algn="ctr"/>
                      <a:r>
                        <a:rPr lang="en-US"/>
                        <a:t>C</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45030461"/>
                  </a:ext>
                </a:extLst>
              </a:tr>
              <a:tr h="446831">
                <a:tc>
                  <a:txBody>
                    <a:bodyPr/>
                    <a:lstStyle/>
                    <a:p>
                      <a:pPr algn="ctr"/>
                      <a:endParaRPr lang="en-US"/>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08086283"/>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7236300"/>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28280586"/>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36395574"/>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8353299"/>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6672769"/>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0034413"/>
                  </a:ext>
                </a:extLst>
              </a:tr>
              <a:tr h="446831">
                <a:tc>
                  <a:txBody>
                    <a:bodyPr/>
                    <a:lstStyle/>
                    <a:p>
                      <a:pPr algn="ctr"/>
                      <a:r>
                        <a:rPr lang="en-US"/>
                        <a:t>C</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solidFill>
                            <a:schemeClr val="tx1"/>
                          </a:solidFill>
                          <a:highlight>
                            <a:srgbClr val="FFFF00"/>
                          </a:highlight>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7693103"/>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5683901"/>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9542823"/>
                  </a:ext>
                </a:extLst>
              </a:tr>
            </a:tbl>
          </a:graphicData>
        </a:graphic>
      </p:graphicFrame>
      <p:sp>
        <p:nvSpPr>
          <p:cNvPr id="10" name="Content Placeholder 2">
            <a:extLst>
              <a:ext uri="{FF2B5EF4-FFF2-40B4-BE49-F238E27FC236}">
                <a16:creationId xmlns:a16="http://schemas.microsoft.com/office/drawing/2014/main" id="{6FEDD041-ED18-7AF9-BD5A-E4BBEE7B26C6}"/>
              </a:ext>
            </a:extLst>
          </p:cNvPr>
          <p:cNvSpPr>
            <a:spLocks noGrp="1"/>
          </p:cNvSpPr>
          <p:nvPr>
            <p:ph idx="1"/>
          </p:nvPr>
        </p:nvSpPr>
        <p:spPr>
          <a:xfrm>
            <a:off x="5790591" y="1596540"/>
            <a:ext cx="5955494" cy="4759811"/>
          </a:xfrm>
        </p:spPr>
        <p:txBody>
          <a:bodyPr>
            <a:normAutofit/>
          </a:bodyPr>
          <a:lstStyle/>
          <a:p>
            <a:r>
              <a:rPr lang="en-US"/>
              <a:t>Align sequences:</a:t>
            </a:r>
            <a:br>
              <a:rPr lang="en-US"/>
            </a:br>
            <a:r>
              <a:rPr lang="en-US">
                <a:latin typeface="Courier New" panose="02070309020205020404" pitchFamily="49" charset="0"/>
                <a:cs typeface="Courier New" panose="02070309020205020404" pitchFamily="49" charset="0"/>
              </a:rPr>
              <a:t>TGTTACGG </a:t>
            </a:r>
            <a:r>
              <a:rPr lang="en-US"/>
              <a:t>and</a:t>
            </a:r>
            <a:br>
              <a:rPr lang="en-US"/>
            </a:br>
            <a:r>
              <a:rPr lang="en-US">
                <a:latin typeface="Courier New" panose="02070309020205020404" pitchFamily="49" charset="0"/>
                <a:cs typeface="Courier New" panose="02070309020205020404" pitchFamily="49" charset="0"/>
              </a:rPr>
              <a:t>GGTTGACTA</a:t>
            </a:r>
          </a:p>
          <a:p>
            <a:r>
              <a:rPr lang="en-US"/>
              <a:t>Pick the cell with the highest score</a:t>
            </a:r>
          </a:p>
          <a:p>
            <a:r>
              <a:rPr lang="en-US"/>
              <a:t>Traceback exploring all return paths of the same score</a:t>
            </a:r>
          </a:p>
          <a:p>
            <a:pPr lvl="1"/>
            <a:r>
              <a:rPr lang="en-US"/>
              <a:t>at every step choose the highest score</a:t>
            </a:r>
          </a:p>
          <a:p>
            <a:pPr lvl="1"/>
            <a:r>
              <a:rPr lang="en-US"/>
              <a:t>stop at 0</a:t>
            </a:r>
            <a:br>
              <a:rPr lang="en-US"/>
            </a:br>
            <a:endParaRPr lang="en-US" i="1"/>
          </a:p>
        </p:txBody>
      </p:sp>
      <p:sp>
        <p:nvSpPr>
          <p:cNvPr id="6" name="Arrow: Right 5">
            <a:extLst>
              <a:ext uri="{FF2B5EF4-FFF2-40B4-BE49-F238E27FC236}">
                <a16:creationId xmlns:a16="http://schemas.microsoft.com/office/drawing/2014/main" id="{5F814722-A202-F5FE-71F9-E712756759E7}"/>
              </a:ext>
            </a:extLst>
          </p:cNvPr>
          <p:cNvSpPr/>
          <p:nvPr/>
        </p:nvSpPr>
        <p:spPr>
          <a:xfrm rot="13851021">
            <a:off x="1723478" y="300976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Arrow: Right 21">
            <a:extLst>
              <a:ext uri="{FF2B5EF4-FFF2-40B4-BE49-F238E27FC236}">
                <a16:creationId xmlns:a16="http://schemas.microsoft.com/office/drawing/2014/main" id="{4311840A-9B84-2D2D-C9EA-BB55BAB56235}"/>
              </a:ext>
            </a:extLst>
          </p:cNvPr>
          <p:cNvSpPr/>
          <p:nvPr/>
        </p:nvSpPr>
        <p:spPr>
          <a:xfrm rot="13651325">
            <a:off x="2252724" y="3457140"/>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Arrow: Right 34">
            <a:extLst>
              <a:ext uri="{FF2B5EF4-FFF2-40B4-BE49-F238E27FC236}">
                <a16:creationId xmlns:a16="http://schemas.microsoft.com/office/drawing/2014/main" id="{57DACBA3-0D6D-B3E5-0E2F-B75C658EBCF2}"/>
              </a:ext>
            </a:extLst>
          </p:cNvPr>
          <p:cNvSpPr/>
          <p:nvPr/>
        </p:nvSpPr>
        <p:spPr>
          <a:xfrm rot="13721196">
            <a:off x="2710539" y="3914576"/>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Arrow: Right 48">
            <a:extLst>
              <a:ext uri="{FF2B5EF4-FFF2-40B4-BE49-F238E27FC236}">
                <a16:creationId xmlns:a16="http://schemas.microsoft.com/office/drawing/2014/main" id="{B019C353-6451-CFE4-D294-0B75177D4B48}"/>
              </a:ext>
            </a:extLst>
          </p:cNvPr>
          <p:cNvSpPr/>
          <p:nvPr/>
        </p:nvSpPr>
        <p:spPr>
          <a:xfrm rot="16200000">
            <a:off x="2984540" y="4306820"/>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Arrow: Right 32">
            <a:extLst>
              <a:ext uri="{FF2B5EF4-FFF2-40B4-BE49-F238E27FC236}">
                <a16:creationId xmlns:a16="http://schemas.microsoft.com/office/drawing/2014/main" id="{14D44DF3-3B2E-FBEC-CA89-01A0B8352CC6}"/>
              </a:ext>
            </a:extLst>
          </p:cNvPr>
          <p:cNvSpPr/>
          <p:nvPr/>
        </p:nvSpPr>
        <p:spPr>
          <a:xfrm rot="13361285">
            <a:off x="3178589" y="4756891"/>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Arrow: Right 56">
            <a:extLst>
              <a:ext uri="{FF2B5EF4-FFF2-40B4-BE49-F238E27FC236}">
                <a16:creationId xmlns:a16="http://schemas.microsoft.com/office/drawing/2014/main" id="{A65AF508-20C9-F44E-5604-BB3D1F5AC92E}"/>
              </a:ext>
            </a:extLst>
          </p:cNvPr>
          <p:cNvSpPr/>
          <p:nvPr/>
        </p:nvSpPr>
        <p:spPr>
          <a:xfrm rot="13580438">
            <a:off x="3693518" y="5240963"/>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7861421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EE5C8-9B77-E0FB-F0AA-8C0F398BE2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81A68F-502A-5378-30ED-90383CDF76D6}"/>
              </a:ext>
            </a:extLst>
          </p:cNvPr>
          <p:cNvSpPr>
            <a:spLocks noGrp="1"/>
          </p:cNvSpPr>
          <p:nvPr>
            <p:ph type="title"/>
          </p:nvPr>
        </p:nvSpPr>
        <p:spPr/>
        <p:txBody>
          <a:bodyPr>
            <a:normAutofit fontScale="90000"/>
          </a:bodyPr>
          <a:lstStyle/>
          <a:p>
            <a:r>
              <a:rPr lang="en-US"/>
              <a:t>Smith-Waterman alignment</a:t>
            </a:r>
          </a:p>
        </p:txBody>
      </p:sp>
      <p:sp>
        <p:nvSpPr>
          <p:cNvPr id="4" name="Slide Number Placeholder 3">
            <a:extLst>
              <a:ext uri="{FF2B5EF4-FFF2-40B4-BE49-F238E27FC236}">
                <a16:creationId xmlns:a16="http://schemas.microsoft.com/office/drawing/2014/main" id="{9D7C8ABE-9880-8315-3051-ED152DC8404D}"/>
              </a:ext>
            </a:extLst>
          </p:cNvPr>
          <p:cNvSpPr>
            <a:spLocks noGrp="1"/>
          </p:cNvSpPr>
          <p:nvPr>
            <p:ph type="sldNum" sz="quarter" idx="12"/>
          </p:nvPr>
        </p:nvSpPr>
        <p:spPr/>
        <p:txBody>
          <a:bodyPr/>
          <a:lstStyle/>
          <a:p>
            <a:fld id="{B82CCC60-E8CD-4174-8B1A-7DF615B22EEF}" type="slidenum">
              <a:rPr lang="en-US" smtClean="0"/>
              <a:pPr/>
              <a:t>28</a:t>
            </a:fld>
            <a:endParaRPr lang="en-US"/>
          </a:p>
        </p:txBody>
      </p:sp>
      <p:graphicFrame>
        <p:nvGraphicFramePr>
          <p:cNvPr id="9" name="Table 8">
            <a:extLst>
              <a:ext uri="{FF2B5EF4-FFF2-40B4-BE49-F238E27FC236}">
                <a16:creationId xmlns:a16="http://schemas.microsoft.com/office/drawing/2014/main" id="{1CB29717-4E47-0960-F7E8-A8EE9007CD41}"/>
              </a:ext>
            </a:extLst>
          </p:cNvPr>
          <p:cNvGraphicFramePr>
            <a:graphicFrameLocks noGrp="1"/>
          </p:cNvGraphicFramePr>
          <p:nvPr/>
        </p:nvGraphicFramePr>
        <p:xfrm>
          <a:off x="412842" y="1741270"/>
          <a:ext cx="4888120" cy="4915141"/>
        </p:xfrm>
        <a:graphic>
          <a:graphicData uri="http://schemas.openxmlformats.org/drawingml/2006/table">
            <a:tbl>
              <a:tblPr>
                <a:tableStyleId>{5C22544A-7EE6-4342-B048-85BDC9FD1C3A}</a:tableStyleId>
              </a:tblPr>
              <a:tblGrid>
                <a:gridCol w="488812">
                  <a:extLst>
                    <a:ext uri="{9D8B030D-6E8A-4147-A177-3AD203B41FA5}">
                      <a16:colId xmlns:a16="http://schemas.microsoft.com/office/drawing/2014/main" val="499789085"/>
                    </a:ext>
                  </a:extLst>
                </a:gridCol>
                <a:gridCol w="488812">
                  <a:extLst>
                    <a:ext uri="{9D8B030D-6E8A-4147-A177-3AD203B41FA5}">
                      <a16:colId xmlns:a16="http://schemas.microsoft.com/office/drawing/2014/main" val="2105533424"/>
                    </a:ext>
                  </a:extLst>
                </a:gridCol>
                <a:gridCol w="488812">
                  <a:extLst>
                    <a:ext uri="{9D8B030D-6E8A-4147-A177-3AD203B41FA5}">
                      <a16:colId xmlns:a16="http://schemas.microsoft.com/office/drawing/2014/main" val="149591861"/>
                    </a:ext>
                  </a:extLst>
                </a:gridCol>
                <a:gridCol w="488812">
                  <a:extLst>
                    <a:ext uri="{9D8B030D-6E8A-4147-A177-3AD203B41FA5}">
                      <a16:colId xmlns:a16="http://schemas.microsoft.com/office/drawing/2014/main" val="1620141554"/>
                    </a:ext>
                  </a:extLst>
                </a:gridCol>
                <a:gridCol w="488812">
                  <a:extLst>
                    <a:ext uri="{9D8B030D-6E8A-4147-A177-3AD203B41FA5}">
                      <a16:colId xmlns:a16="http://schemas.microsoft.com/office/drawing/2014/main" val="3662352121"/>
                    </a:ext>
                  </a:extLst>
                </a:gridCol>
                <a:gridCol w="488812">
                  <a:extLst>
                    <a:ext uri="{9D8B030D-6E8A-4147-A177-3AD203B41FA5}">
                      <a16:colId xmlns:a16="http://schemas.microsoft.com/office/drawing/2014/main" val="2418474277"/>
                    </a:ext>
                  </a:extLst>
                </a:gridCol>
                <a:gridCol w="488812">
                  <a:extLst>
                    <a:ext uri="{9D8B030D-6E8A-4147-A177-3AD203B41FA5}">
                      <a16:colId xmlns:a16="http://schemas.microsoft.com/office/drawing/2014/main" val="2269938636"/>
                    </a:ext>
                  </a:extLst>
                </a:gridCol>
                <a:gridCol w="488812">
                  <a:extLst>
                    <a:ext uri="{9D8B030D-6E8A-4147-A177-3AD203B41FA5}">
                      <a16:colId xmlns:a16="http://schemas.microsoft.com/office/drawing/2014/main" val="1461158529"/>
                    </a:ext>
                  </a:extLst>
                </a:gridCol>
                <a:gridCol w="488812">
                  <a:extLst>
                    <a:ext uri="{9D8B030D-6E8A-4147-A177-3AD203B41FA5}">
                      <a16:colId xmlns:a16="http://schemas.microsoft.com/office/drawing/2014/main" val="3455786437"/>
                    </a:ext>
                  </a:extLst>
                </a:gridCol>
                <a:gridCol w="488812">
                  <a:extLst>
                    <a:ext uri="{9D8B030D-6E8A-4147-A177-3AD203B41FA5}">
                      <a16:colId xmlns:a16="http://schemas.microsoft.com/office/drawing/2014/main" val="2314278537"/>
                    </a:ext>
                  </a:extLst>
                </a:gridCol>
              </a:tblGrid>
              <a:tr h="446831">
                <a:tc>
                  <a:txBody>
                    <a:bodyPr/>
                    <a:lstStyle/>
                    <a:p>
                      <a:pPr algn="ctr"/>
                      <a:endParaRPr lang="en-US"/>
                    </a:p>
                  </a:txBody>
                  <a:tcPr/>
                </a:tc>
                <a:tc>
                  <a:txBody>
                    <a:bodyPr/>
                    <a:lstStyle/>
                    <a:p>
                      <a:pPr algn="ctr"/>
                      <a:endParaRPr lang="en-US"/>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T</a:t>
                      </a:r>
                    </a:p>
                  </a:txBody>
                  <a:tcPr>
                    <a:lnB w="12700" cap="flat" cmpd="sng" algn="ctr">
                      <a:solidFill>
                        <a:schemeClr val="tx1"/>
                      </a:solidFill>
                      <a:prstDash val="solid"/>
                      <a:round/>
                      <a:headEnd type="none" w="med" len="med"/>
                      <a:tailEnd type="none" w="med" len="med"/>
                    </a:lnB>
                  </a:tcPr>
                </a:tc>
                <a:tc>
                  <a:txBody>
                    <a:bodyPr/>
                    <a:lstStyle/>
                    <a:p>
                      <a:pPr algn="ctr"/>
                      <a:r>
                        <a:rPr lang="en-US"/>
                        <a:t>A</a:t>
                      </a:r>
                    </a:p>
                  </a:txBody>
                  <a:tcPr>
                    <a:lnB w="12700" cap="flat" cmpd="sng" algn="ctr">
                      <a:solidFill>
                        <a:schemeClr val="tx1"/>
                      </a:solidFill>
                      <a:prstDash val="solid"/>
                      <a:round/>
                      <a:headEnd type="none" w="med" len="med"/>
                      <a:tailEnd type="none" w="med" len="med"/>
                    </a:lnB>
                  </a:tcPr>
                </a:tc>
                <a:tc>
                  <a:txBody>
                    <a:bodyPr/>
                    <a:lstStyle/>
                    <a:p>
                      <a:pPr algn="ctr"/>
                      <a:r>
                        <a:rPr lang="en-US"/>
                        <a:t>C</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tc>
                  <a:txBody>
                    <a:bodyPr/>
                    <a:lstStyle/>
                    <a:p>
                      <a:pPr algn="ctr"/>
                      <a:r>
                        <a:rPr lang="en-US"/>
                        <a:t>G</a:t>
                      </a:r>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45030461"/>
                  </a:ext>
                </a:extLst>
              </a:tr>
              <a:tr h="446831">
                <a:tc>
                  <a:txBody>
                    <a:bodyPr/>
                    <a:lstStyle/>
                    <a:p>
                      <a:pPr algn="ctr"/>
                      <a:endParaRPr lang="en-US"/>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08086283"/>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7236300"/>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28280586"/>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36395574"/>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8353299"/>
                  </a:ext>
                </a:extLst>
              </a:tr>
              <a:tr h="446831">
                <a:tc>
                  <a:txBody>
                    <a:bodyPr/>
                    <a:lstStyle/>
                    <a:p>
                      <a:pPr algn="ctr"/>
                      <a:r>
                        <a:rPr lang="en-US"/>
                        <a:t>G</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6672769"/>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0034413"/>
                  </a:ext>
                </a:extLst>
              </a:tr>
              <a:tr h="446831">
                <a:tc>
                  <a:txBody>
                    <a:bodyPr/>
                    <a:lstStyle/>
                    <a:p>
                      <a:pPr algn="ctr"/>
                      <a:r>
                        <a:rPr lang="en-US"/>
                        <a:t>C</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solidFill>
                            <a:schemeClr val="tx1"/>
                          </a:solidFill>
                          <a:highlight>
                            <a:srgbClr val="FFFF00"/>
                          </a:highlight>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7693103"/>
                  </a:ext>
                </a:extLst>
              </a:tr>
              <a:tr h="446831">
                <a:tc>
                  <a:txBody>
                    <a:bodyPr/>
                    <a:lstStyle/>
                    <a:p>
                      <a:pPr algn="ctr"/>
                      <a:r>
                        <a:rPr lang="en-US"/>
                        <a:t>T</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5683901"/>
                  </a:ext>
                </a:extLst>
              </a:tr>
              <a:tr h="446831">
                <a:tc>
                  <a:txBody>
                    <a:bodyPr/>
                    <a:lstStyle/>
                    <a:p>
                      <a:pPr algn="ctr"/>
                      <a:r>
                        <a:rPr lang="en-US"/>
                        <a:t>A</a:t>
                      </a:r>
                    </a:p>
                  </a:txBody>
                  <a:tcPr>
                    <a:lnR w="12700" cap="flat" cmpd="sng" algn="ctr">
                      <a:solidFill>
                        <a:schemeClr val="tx1"/>
                      </a:solidFill>
                      <a:prstDash val="solid"/>
                      <a:round/>
                      <a:headEnd type="none" w="med" len="med"/>
                      <a:tailEnd type="none" w="med" len="med"/>
                    </a:lnR>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9542823"/>
                  </a:ext>
                </a:extLst>
              </a:tr>
            </a:tbl>
          </a:graphicData>
        </a:graphic>
      </p:graphicFrame>
      <p:sp>
        <p:nvSpPr>
          <p:cNvPr id="10" name="Content Placeholder 2">
            <a:extLst>
              <a:ext uri="{FF2B5EF4-FFF2-40B4-BE49-F238E27FC236}">
                <a16:creationId xmlns:a16="http://schemas.microsoft.com/office/drawing/2014/main" id="{6FEC417F-788A-8A9E-F188-2395F1260EA7}"/>
              </a:ext>
            </a:extLst>
          </p:cNvPr>
          <p:cNvSpPr>
            <a:spLocks noGrp="1"/>
          </p:cNvSpPr>
          <p:nvPr>
            <p:ph idx="1"/>
          </p:nvPr>
        </p:nvSpPr>
        <p:spPr>
          <a:xfrm>
            <a:off x="5790591" y="1596540"/>
            <a:ext cx="5955494" cy="4759811"/>
          </a:xfrm>
        </p:spPr>
        <p:txBody>
          <a:bodyPr>
            <a:normAutofit/>
          </a:bodyPr>
          <a:lstStyle/>
          <a:p>
            <a:r>
              <a:rPr lang="en-US"/>
              <a:t>Align sequences:</a:t>
            </a:r>
            <a:br>
              <a:rPr lang="en-US"/>
            </a:br>
            <a:r>
              <a:rPr lang="en-US">
                <a:latin typeface="Courier New" panose="02070309020205020404" pitchFamily="49" charset="0"/>
                <a:cs typeface="Courier New" panose="02070309020205020404" pitchFamily="49" charset="0"/>
              </a:rPr>
              <a:t>TGTTACGG </a:t>
            </a:r>
            <a:r>
              <a:rPr lang="en-US"/>
              <a:t>and</a:t>
            </a:r>
            <a:br>
              <a:rPr lang="en-US"/>
            </a:br>
            <a:r>
              <a:rPr lang="en-US">
                <a:latin typeface="Courier New" panose="02070309020205020404" pitchFamily="49" charset="0"/>
                <a:cs typeface="Courier New" panose="02070309020205020404" pitchFamily="49" charset="0"/>
              </a:rPr>
              <a:t>GGTTGACTA</a:t>
            </a:r>
          </a:p>
          <a:p>
            <a:r>
              <a:rPr lang="en-US"/>
              <a:t>Alignment result:</a:t>
            </a:r>
            <a:br>
              <a:rPr lang="en-US"/>
            </a:br>
            <a:r>
              <a:rPr lang="en-US">
                <a:latin typeface="Courier New" panose="02070309020205020404" pitchFamily="49" charset="0"/>
                <a:cs typeface="Courier New" panose="02070309020205020404" pitchFamily="49" charset="0"/>
              </a:rPr>
              <a:t>T</a:t>
            </a:r>
            <a:r>
              <a:rPr lang="en-US">
                <a:solidFill>
                  <a:srgbClr val="FF0000"/>
                </a:solidFill>
                <a:latin typeface="Courier New" panose="02070309020205020404" pitchFamily="49" charset="0"/>
                <a:cs typeface="Courier New" panose="02070309020205020404" pitchFamily="49" charset="0"/>
              </a:rPr>
              <a:t>GTT-AC</a:t>
            </a:r>
            <a:r>
              <a:rPr lang="en-US">
                <a:latin typeface="Courier New" panose="02070309020205020404" pitchFamily="49" charset="0"/>
                <a:cs typeface="Courier New" panose="02070309020205020404" pitchFamily="49" charset="0"/>
              </a:rPr>
              <a:t>GG </a:t>
            </a:r>
            <a:br>
              <a:rPr lang="en-US">
                <a:latin typeface="Courier New" panose="02070309020205020404" pitchFamily="49" charset="0"/>
                <a:cs typeface="Courier New" panose="02070309020205020404" pitchFamily="49" charset="0"/>
              </a:rPr>
            </a:br>
            <a:r>
              <a:rPr lang="en-US">
                <a:latin typeface="Courier New" panose="02070309020205020404" pitchFamily="49" charset="0"/>
                <a:cs typeface="Courier New" panose="02070309020205020404" pitchFamily="49" charset="0"/>
              </a:rPr>
              <a:t> ||| ||</a:t>
            </a:r>
            <a:br>
              <a:rPr lang="en-US">
                <a:latin typeface="Courier New" panose="02070309020205020404" pitchFamily="49" charset="0"/>
                <a:cs typeface="Courier New" panose="02070309020205020404" pitchFamily="49" charset="0"/>
              </a:rPr>
            </a:br>
            <a:r>
              <a:rPr lang="en-US">
                <a:latin typeface="Courier New" panose="02070309020205020404" pitchFamily="49" charset="0"/>
                <a:cs typeface="Courier New" panose="02070309020205020404" pitchFamily="49" charset="0"/>
              </a:rPr>
              <a:t>G</a:t>
            </a:r>
            <a:r>
              <a:rPr lang="en-US">
                <a:solidFill>
                  <a:srgbClr val="FF0000"/>
                </a:solidFill>
                <a:latin typeface="Courier New" panose="02070309020205020404" pitchFamily="49" charset="0"/>
                <a:cs typeface="Courier New" panose="02070309020205020404" pitchFamily="49" charset="0"/>
              </a:rPr>
              <a:t>GTTGAC</a:t>
            </a:r>
            <a:r>
              <a:rPr lang="en-US">
                <a:latin typeface="Courier New" panose="02070309020205020404" pitchFamily="49" charset="0"/>
                <a:cs typeface="Courier New" panose="02070309020205020404" pitchFamily="49" charset="0"/>
              </a:rPr>
              <a:t>TA</a:t>
            </a:r>
            <a:endParaRPr lang="en-US" i="1"/>
          </a:p>
        </p:txBody>
      </p:sp>
      <p:sp>
        <p:nvSpPr>
          <p:cNvPr id="6" name="Arrow: Right 5">
            <a:extLst>
              <a:ext uri="{FF2B5EF4-FFF2-40B4-BE49-F238E27FC236}">
                <a16:creationId xmlns:a16="http://schemas.microsoft.com/office/drawing/2014/main" id="{48EF223B-2791-461D-855B-4B79FD1AE2CB}"/>
              </a:ext>
            </a:extLst>
          </p:cNvPr>
          <p:cNvSpPr/>
          <p:nvPr/>
        </p:nvSpPr>
        <p:spPr>
          <a:xfrm rot="13851021">
            <a:off x="1723478" y="3009762"/>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Arrow: Right 21">
            <a:extLst>
              <a:ext uri="{FF2B5EF4-FFF2-40B4-BE49-F238E27FC236}">
                <a16:creationId xmlns:a16="http://schemas.microsoft.com/office/drawing/2014/main" id="{FBDF3C95-A033-465F-8955-5DE1FABF00D4}"/>
              </a:ext>
            </a:extLst>
          </p:cNvPr>
          <p:cNvSpPr/>
          <p:nvPr/>
        </p:nvSpPr>
        <p:spPr>
          <a:xfrm rot="13651325">
            <a:off x="2252724" y="3457140"/>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Arrow: Right 34">
            <a:extLst>
              <a:ext uri="{FF2B5EF4-FFF2-40B4-BE49-F238E27FC236}">
                <a16:creationId xmlns:a16="http://schemas.microsoft.com/office/drawing/2014/main" id="{673EC962-155B-C255-0110-42A89D783040}"/>
              </a:ext>
            </a:extLst>
          </p:cNvPr>
          <p:cNvSpPr/>
          <p:nvPr/>
        </p:nvSpPr>
        <p:spPr>
          <a:xfrm rot="13721196">
            <a:off x="2710539" y="3914576"/>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Arrow: Right 48">
            <a:extLst>
              <a:ext uri="{FF2B5EF4-FFF2-40B4-BE49-F238E27FC236}">
                <a16:creationId xmlns:a16="http://schemas.microsoft.com/office/drawing/2014/main" id="{086E1883-9C7C-99AC-CDAB-5525B426602D}"/>
              </a:ext>
            </a:extLst>
          </p:cNvPr>
          <p:cNvSpPr/>
          <p:nvPr/>
        </p:nvSpPr>
        <p:spPr>
          <a:xfrm rot="16200000">
            <a:off x="2984540" y="4306820"/>
            <a:ext cx="241130" cy="152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Arrow: Right 32">
            <a:extLst>
              <a:ext uri="{FF2B5EF4-FFF2-40B4-BE49-F238E27FC236}">
                <a16:creationId xmlns:a16="http://schemas.microsoft.com/office/drawing/2014/main" id="{62EF1E2D-A56B-B44E-3240-EFDAAB45BC19}"/>
              </a:ext>
            </a:extLst>
          </p:cNvPr>
          <p:cNvSpPr/>
          <p:nvPr/>
        </p:nvSpPr>
        <p:spPr>
          <a:xfrm rot="13361285">
            <a:off x="3178589" y="4756891"/>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Arrow: Right 56">
            <a:extLst>
              <a:ext uri="{FF2B5EF4-FFF2-40B4-BE49-F238E27FC236}">
                <a16:creationId xmlns:a16="http://schemas.microsoft.com/office/drawing/2014/main" id="{E168D723-1D3C-2A8E-7F38-83AECB3239FB}"/>
              </a:ext>
            </a:extLst>
          </p:cNvPr>
          <p:cNvSpPr/>
          <p:nvPr/>
        </p:nvSpPr>
        <p:spPr>
          <a:xfrm rot="13580438">
            <a:off x="3693518" y="5240963"/>
            <a:ext cx="305410" cy="1527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433070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10F9D-EC02-4155-020F-899473096852}"/>
              </a:ext>
            </a:extLst>
          </p:cNvPr>
          <p:cNvSpPr>
            <a:spLocks noGrp="1"/>
          </p:cNvSpPr>
          <p:nvPr>
            <p:ph type="title"/>
          </p:nvPr>
        </p:nvSpPr>
        <p:spPr/>
        <p:txBody>
          <a:bodyPr>
            <a:normAutofit fontScale="90000"/>
          </a:bodyPr>
          <a:lstStyle/>
          <a:p>
            <a:r>
              <a:rPr lang="en-US" dirty="0"/>
              <a:t>Alignment of two genomes</a:t>
            </a:r>
          </a:p>
        </p:txBody>
      </p:sp>
      <p:sp>
        <p:nvSpPr>
          <p:cNvPr id="3" name="Content Placeholder 2">
            <a:extLst>
              <a:ext uri="{FF2B5EF4-FFF2-40B4-BE49-F238E27FC236}">
                <a16:creationId xmlns:a16="http://schemas.microsoft.com/office/drawing/2014/main" id="{7A96AF36-04A2-FCFE-A6EC-5DD8D73DE073}"/>
              </a:ext>
            </a:extLst>
          </p:cNvPr>
          <p:cNvSpPr>
            <a:spLocks noGrp="1"/>
          </p:cNvSpPr>
          <p:nvPr>
            <p:ph idx="1"/>
          </p:nvPr>
        </p:nvSpPr>
        <p:spPr/>
        <p:txBody>
          <a:bodyPr>
            <a:normAutofit fontScale="92500" lnSpcReduction="10000"/>
          </a:bodyPr>
          <a:lstStyle/>
          <a:p>
            <a:r>
              <a:rPr lang="en-US" dirty="0"/>
              <a:t>Consider two genomes, each in many contiguous pieces (contigs), </a:t>
            </a:r>
            <a:r>
              <a:rPr lang="en-US" i="1" dirty="0"/>
              <a:t>M</a:t>
            </a:r>
            <a:r>
              <a:rPr lang="en-US" dirty="0"/>
              <a:t> and </a:t>
            </a:r>
            <a:r>
              <a:rPr lang="en-US" i="1" dirty="0"/>
              <a:t>N, </a:t>
            </a:r>
            <a:r>
              <a:rPr lang="en-US" dirty="0"/>
              <a:t>of average size </a:t>
            </a:r>
            <a:r>
              <a:rPr lang="en-US" i="1" dirty="0"/>
              <a:t>m</a:t>
            </a:r>
            <a:r>
              <a:rPr lang="en-US" dirty="0"/>
              <a:t> and </a:t>
            </a:r>
            <a:r>
              <a:rPr lang="en-US" i="1" dirty="0"/>
              <a:t>n</a:t>
            </a:r>
          </a:p>
          <a:p>
            <a:r>
              <a:rPr lang="en-US" dirty="0"/>
              <a:t>Each Smith-Waterman contig-to-contig alignment would include doing </a:t>
            </a:r>
            <a:r>
              <a:rPr lang="en-US" i="1" dirty="0"/>
              <a:t>O(m*n) </a:t>
            </a:r>
            <a:r>
              <a:rPr lang="en-US" dirty="0"/>
              <a:t>operations, and we must do it </a:t>
            </a:r>
            <a:r>
              <a:rPr lang="en-US" i="1" dirty="0"/>
              <a:t>M*N</a:t>
            </a:r>
            <a:r>
              <a:rPr lang="en-US" dirty="0"/>
              <a:t> times, so the total cost is </a:t>
            </a:r>
            <a:r>
              <a:rPr lang="en-US" i="1" dirty="0"/>
              <a:t>O(M*N*m*n)</a:t>
            </a:r>
          </a:p>
          <a:p>
            <a:r>
              <a:rPr lang="en-US" dirty="0"/>
              <a:t>A solution is to seed the alignments with short exact matches:</a:t>
            </a:r>
          </a:p>
          <a:p>
            <a:pPr lvl="1"/>
            <a:r>
              <a:rPr lang="en-US" dirty="0"/>
              <a:t>Maximal Exact Matches (MEMs), based on suffix tree or suffix array</a:t>
            </a:r>
          </a:p>
          <a:p>
            <a:pPr lvl="1"/>
            <a:r>
              <a:rPr lang="en-US" dirty="0"/>
              <a:t>Minimizers</a:t>
            </a:r>
          </a:p>
          <a:p>
            <a:r>
              <a:rPr lang="en-US" dirty="0"/>
              <a:t>Then do Smith-Waterman in-between the seeds</a:t>
            </a:r>
          </a:p>
        </p:txBody>
      </p:sp>
      <p:sp>
        <p:nvSpPr>
          <p:cNvPr id="4" name="Slide Number Placeholder 3">
            <a:extLst>
              <a:ext uri="{FF2B5EF4-FFF2-40B4-BE49-F238E27FC236}">
                <a16:creationId xmlns:a16="http://schemas.microsoft.com/office/drawing/2014/main" id="{CBC08F6C-ADEA-8F0E-9D57-B6452A26839F}"/>
              </a:ext>
            </a:extLst>
          </p:cNvPr>
          <p:cNvSpPr>
            <a:spLocks noGrp="1"/>
          </p:cNvSpPr>
          <p:nvPr>
            <p:ph type="sldNum" sz="quarter" idx="12"/>
          </p:nvPr>
        </p:nvSpPr>
        <p:spPr/>
        <p:txBody>
          <a:bodyPr/>
          <a:lstStyle/>
          <a:p>
            <a:fld id="{B82CCC60-E8CD-4174-8B1A-7DF615B22EEF}" type="slidenum">
              <a:rPr lang="en-US" smtClean="0"/>
              <a:pPr/>
              <a:t>29</a:t>
            </a:fld>
            <a:endParaRPr lang="en-US"/>
          </a:p>
        </p:txBody>
      </p:sp>
      <p:cxnSp>
        <p:nvCxnSpPr>
          <p:cNvPr id="5" name="Straight Connector 4">
            <a:extLst>
              <a:ext uri="{FF2B5EF4-FFF2-40B4-BE49-F238E27FC236}">
                <a16:creationId xmlns:a16="http://schemas.microsoft.com/office/drawing/2014/main" id="{EF226F8D-7FAE-FDE8-A8BC-C1522336F7EF}"/>
              </a:ext>
            </a:extLst>
          </p:cNvPr>
          <p:cNvCxnSpPr/>
          <p:nvPr/>
        </p:nvCxnSpPr>
        <p:spPr>
          <a:xfrm>
            <a:off x="1177320" y="6322480"/>
            <a:ext cx="8398775"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AD12D24A-FBC7-0E5C-4BB2-0135DAE38578}"/>
              </a:ext>
            </a:extLst>
          </p:cNvPr>
          <p:cNvCxnSpPr/>
          <p:nvPr/>
        </p:nvCxnSpPr>
        <p:spPr>
          <a:xfrm>
            <a:off x="1177320" y="5667484"/>
            <a:ext cx="8398775"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74F60212-DD96-ACD8-FFD1-E2D4C79D2B4B}"/>
              </a:ext>
            </a:extLst>
          </p:cNvPr>
          <p:cNvSpPr/>
          <p:nvPr/>
        </p:nvSpPr>
        <p:spPr>
          <a:xfrm>
            <a:off x="2033080" y="5638919"/>
            <a:ext cx="982494" cy="571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78B94EE0-767F-BF26-FC6B-94A37845B8D9}"/>
              </a:ext>
            </a:extLst>
          </p:cNvPr>
          <p:cNvSpPr/>
          <p:nvPr/>
        </p:nvSpPr>
        <p:spPr>
          <a:xfrm>
            <a:off x="2033080" y="6299221"/>
            <a:ext cx="982494" cy="571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807BF79-2374-43DC-561E-C364ECFFC78D}"/>
              </a:ext>
            </a:extLst>
          </p:cNvPr>
          <p:cNvSpPr/>
          <p:nvPr/>
        </p:nvSpPr>
        <p:spPr>
          <a:xfrm>
            <a:off x="3958786" y="5638919"/>
            <a:ext cx="1255239" cy="5712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6573539B-BD33-2022-9B81-61A997DDBE3D}"/>
              </a:ext>
            </a:extLst>
          </p:cNvPr>
          <p:cNvSpPr/>
          <p:nvPr/>
        </p:nvSpPr>
        <p:spPr>
          <a:xfrm>
            <a:off x="4121468" y="6293919"/>
            <a:ext cx="1255239" cy="5712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6B65F94-4CA1-41AC-740C-292CD9974682}"/>
              </a:ext>
            </a:extLst>
          </p:cNvPr>
          <p:cNvSpPr/>
          <p:nvPr/>
        </p:nvSpPr>
        <p:spPr>
          <a:xfrm>
            <a:off x="7743217" y="5638919"/>
            <a:ext cx="994383" cy="571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50FEA522-36E8-5D8D-981A-46364EF75899}"/>
              </a:ext>
            </a:extLst>
          </p:cNvPr>
          <p:cNvSpPr/>
          <p:nvPr/>
        </p:nvSpPr>
        <p:spPr>
          <a:xfrm>
            <a:off x="7574605" y="6284580"/>
            <a:ext cx="994383" cy="571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2D2B855-7910-50D0-352D-8D91653E4A7A}"/>
              </a:ext>
            </a:extLst>
          </p:cNvPr>
          <p:cNvCxnSpPr>
            <a:cxnSpLocks/>
            <a:stCxn id="7" idx="2"/>
            <a:endCxn id="8" idx="2"/>
          </p:cNvCxnSpPr>
          <p:nvPr/>
        </p:nvCxnSpPr>
        <p:spPr>
          <a:xfrm>
            <a:off x="2524327" y="5696049"/>
            <a:ext cx="0" cy="66030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5658FACF-CDFB-8D55-21BE-78CC37F935E2}"/>
              </a:ext>
            </a:extLst>
          </p:cNvPr>
          <p:cNvCxnSpPr>
            <a:cxnSpLocks/>
            <a:stCxn id="9" idx="2"/>
            <a:endCxn id="10" idx="0"/>
          </p:cNvCxnSpPr>
          <p:nvPr/>
        </p:nvCxnSpPr>
        <p:spPr>
          <a:xfrm>
            <a:off x="4586406" y="5696041"/>
            <a:ext cx="162682" cy="597878"/>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2C32FCD0-7ACF-3EA5-17CE-F0BA71B69C01}"/>
              </a:ext>
            </a:extLst>
          </p:cNvPr>
          <p:cNvCxnSpPr>
            <a:cxnSpLocks/>
            <a:stCxn id="11" idx="2"/>
            <a:endCxn id="12" idx="0"/>
          </p:cNvCxnSpPr>
          <p:nvPr/>
        </p:nvCxnSpPr>
        <p:spPr>
          <a:xfrm flipH="1">
            <a:off x="8071797" y="5696034"/>
            <a:ext cx="168612" cy="588546"/>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4785759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33E81F-715D-37C0-6B15-A63FCE622226}"/>
              </a:ext>
            </a:extLst>
          </p:cNvPr>
          <p:cNvSpPr>
            <a:spLocks noGrp="1"/>
          </p:cNvSpPr>
          <p:nvPr>
            <p:ph type="title"/>
          </p:nvPr>
        </p:nvSpPr>
        <p:spPr/>
        <p:txBody>
          <a:bodyPr>
            <a:normAutofit fontScale="90000"/>
          </a:bodyPr>
          <a:lstStyle/>
          <a:p>
            <a:r>
              <a:rPr lang="en-US" dirty="0"/>
              <a:t>K-</a:t>
            </a:r>
            <a:r>
              <a:rPr lang="en-US" dirty="0" err="1"/>
              <a:t>mers</a:t>
            </a:r>
            <a:endParaRPr lang="en-US" dirty="0"/>
          </a:p>
        </p:txBody>
      </p:sp>
      <p:sp>
        <p:nvSpPr>
          <p:cNvPr id="3" name="Content Placeholder 2">
            <a:extLst>
              <a:ext uri="{FF2B5EF4-FFF2-40B4-BE49-F238E27FC236}">
                <a16:creationId xmlns:a16="http://schemas.microsoft.com/office/drawing/2014/main" id="{6DA8EA48-CBB3-7385-C2F3-9314513B9812}"/>
              </a:ext>
            </a:extLst>
          </p:cNvPr>
          <p:cNvSpPr>
            <a:spLocks noGrp="1"/>
          </p:cNvSpPr>
          <p:nvPr>
            <p:ph idx="1"/>
          </p:nvPr>
        </p:nvSpPr>
        <p:spPr>
          <a:xfrm>
            <a:off x="598620" y="1596540"/>
            <a:ext cx="10972800" cy="4581150"/>
          </a:xfrm>
        </p:spPr>
        <p:txBody>
          <a:bodyPr/>
          <a:lstStyle/>
          <a:p>
            <a:r>
              <a:rPr lang="en-US" dirty="0"/>
              <a:t>K-mer is a subsequence of length </a:t>
            </a:r>
            <a:r>
              <a:rPr lang="en-US" i="1" dirty="0"/>
              <a:t>K</a:t>
            </a:r>
            <a:r>
              <a:rPr lang="en-US" dirty="0"/>
              <a:t> of a genomic sequence</a:t>
            </a:r>
          </a:p>
          <a:p>
            <a:r>
              <a:rPr lang="en-US" dirty="0"/>
              <a:t>A genomic sequence of length </a:t>
            </a:r>
            <a:r>
              <a:rPr lang="en-US" i="1" dirty="0"/>
              <a:t>L</a:t>
            </a:r>
            <a:r>
              <a:rPr lang="en-US" dirty="0"/>
              <a:t> has </a:t>
            </a:r>
            <a:r>
              <a:rPr lang="en-US" i="1" dirty="0"/>
              <a:t>L-K+1</a:t>
            </a:r>
            <a:r>
              <a:rPr lang="en-US" dirty="0"/>
              <a:t>, K-</a:t>
            </a:r>
            <a:r>
              <a:rPr lang="en-US" dirty="0" err="1"/>
              <a:t>mers</a:t>
            </a:r>
            <a:endParaRPr lang="en-US" dirty="0"/>
          </a:p>
          <a:p>
            <a:r>
              <a:rPr lang="en-US" dirty="0"/>
              <a:t>A K-mer is </a:t>
            </a:r>
            <a:r>
              <a:rPr lang="en-US" u="sng" dirty="0"/>
              <a:t>canonical</a:t>
            </a:r>
            <a:r>
              <a:rPr lang="en-US" dirty="0"/>
              <a:t> if it comes before its reverse complement in lexicographic order</a:t>
            </a:r>
          </a:p>
          <a:p>
            <a:r>
              <a:rPr lang="en-US" dirty="0"/>
              <a:t>These two 10-mers are the same, the canonical one is in the red</a:t>
            </a:r>
            <a:br>
              <a:rPr lang="en-US" dirty="0"/>
            </a:br>
            <a:r>
              <a:rPr lang="en-US" dirty="0">
                <a:solidFill>
                  <a:schemeClr val="tx1"/>
                </a:solidFill>
              </a:rPr>
              <a:t>GCTAGAGACT</a:t>
            </a:r>
            <a:br>
              <a:rPr lang="en-US" dirty="0"/>
            </a:br>
            <a:r>
              <a:rPr lang="en-US" dirty="0">
                <a:solidFill>
                  <a:srgbClr val="FF0000"/>
                </a:solidFill>
              </a:rPr>
              <a:t>AGTCTCTAGC</a:t>
            </a:r>
          </a:p>
        </p:txBody>
      </p:sp>
      <p:sp>
        <p:nvSpPr>
          <p:cNvPr id="4" name="Slide Number Placeholder 3">
            <a:extLst>
              <a:ext uri="{FF2B5EF4-FFF2-40B4-BE49-F238E27FC236}">
                <a16:creationId xmlns:a16="http://schemas.microsoft.com/office/drawing/2014/main" id="{A9928FA5-D05E-67B6-9BCE-32B3D93F2439}"/>
              </a:ext>
            </a:extLst>
          </p:cNvPr>
          <p:cNvSpPr>
            <a:spLocks noGrp="1"/>
          </p:cNvSpPr>
          <p:nvPr>
            <p:ph type="sldNum" sz="quarter" idx="12"/>
          </p:nvPr>
        </p:nvSpPr>
        <p:spPr/>
        <p:txBody>
          <a:bodyPr/>
          <a:lstStyle/>
          <a:p>
            <a:fld id="{B82CCC60-E8CD-4174-8B1A-7DF615B22EEF}" type="slidenum">
              <a:rPr lang="en-US" smtClean="0"/>
              <a:pPr/>
              <a:t>30</a:t>
            </a:fld>
            <a:endParaRPr lang="en-US"/>
          </a:p>
        </p:txBody>
      </p:sp>
    </p:spTree>
    <p:extLst>
      <p:ext uri="{BB962C8B-B14F-4D97-AF65-F5344CB8AC3E}">
        <p14:creationId xmlns:p14="http://schemas.microsoft.com/office/powerpoint/2010/main" val="255361043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9ADC2-643A-9942-2E97-D4A4359CED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4DB271-2E63-2B77-628C-C862E45AC111}"/>
              </a:ext>
            </a:extLst>
          </p:cNvPr>
          <p:cNvSpPr>
            <a:spLocks noGrp="1"/>
          </p:cNvSpPr>
          <p:nvPr>
            <p:ph type="title"/>
          </p:nvPr>
        </p:nvSpPr>
        <p:spPr/>
        <p:txBody>
          <a:bodyPr>
            <a:normAutofit fontScale="90000"/>
          </a:bodyPr>
          <a:lstStyle/>
          <a:p>
            <a:r>
              <a:rPr lang="en-US" dirty="0"/>
              <a:t>Using K-</a:t>
            </a:r>
            <a:r>
              <a:rPr lang="en-US" dirty="0" err="1"/>
              <a:t>mers</a:t>
            </a:r>
            <a:r>
              <a:rPr lang="en-US" dirty="0"/>
              <a:t> to seed alignments</a:t>
            </a:r>
          </a:p>
        </p:txBody>
      </p:sp>
      <p:sp>
        <p:nvSpPr>
          <p:cNvPr id="4" name="Slide Number Placeholder 3">
            <a:extLst>
              <a:ext uri="{FF2B5EF4-FFF2-40B4-BE49-F238E27FC236}">
                <a16:creationId xmlns:a16="http://schemas.microsoft.com/office/drawing/2014/main" id="{AA566007-3041-1D4A-F8C9-9FD64CACC0DA}"/>
              </a:ext>
            </a:extLst>
          </p:cNvPr>
          <p:cNvSpPr>
            <a:spLocks noGrp="1"/>
          </p:cNvSpPr>
          <p:nvPr>
            <p:ph type="sldNum" sz="quarter" idx="12"/>
          </p:nvPr>
        </p:nvSpPr>
        <p:spPr/>
        <p:txBody>
          <a:bodyPr/>
          <a:lstStyle/>
          <a:p>
            <a:fld id="{B82CCC60-E8CD-4174-8B1A-7DF615B22EEF}" type="slidenum">
              <a:rPr lang="en-US" smtClean="0"/>
              <a:pPr/>
              <a:t>31</a:t>
            </a:fld>
            <a:endParaRPr lang="en-US"/>
          </a:p>
        </p:txBody>
      </p:sp>
      <p:sp>
        <p:nvSpPr>
          <p:cNvPr id="7" name="TextBox 6">
            <a:extLst>
              <a:ext uri="{FF2B5EF4-FFF2-40B4-BE49-F238E27FC236}">
                <a16:creationId xmlns:a16="http://schemas.microsoft.com/office/drawing/2014/main" id="{F4CE4227-3FCB-F36B-90B0-190EEA43EA6B}"/>
              </a:ext>
            </a:extLst>
          </p:cNvPr>
          <p:cNvSpPr txBox="1"/>
          <p:nvPr/>
        </p:nvSpPr>
        <p:spPr>
          <a:xfrm>
            <a:off x="2791144" y="1976283"/>
            <a:ext cx="5339923" cy="523220"/>
          </a:xfrm>
          <a:prstGeom prst="rect">
            <a:avLst/>
          </a:prstGeom>
          <a:noFill/>
        </p:spPr>
        <p:txBody>
          <a:bodyPr wrap="none" rtlCol="0">
            <a:spAutoFit/>
          </a:bodyPr>
          <a:lstStyle/>
          <a:p>
            <a:r>
              <a:rPr lang="en-US" sz="2800" b="1" dirty="0">
                <a:latin typeface="Courier New" panose="02070309020205020404" pitchFamily="49" charset="0"/>
                <a:cs typeface="Courier New" panose="02070309020205020404" pitchFamily="49" charset="0"/>
              </a:rPr>
              <a:t>  AGATAGATAGACAACATAGACT</a:t>
            </a:r>
          </a:p>
        </p:txBody>
      </p:sp>
      <p:sp>
        <p:nvSpPr>
          <p:cNvPr id="9" name="TextBox 8">
            <a:extLst>
              <a:ext uri="{FF2B5EF4-FFF2-40B4-BE49-F238E27FC236}">
                <a16:creationId xmlns:a16="http://schemas.microsoft.com/office/drawing/2014/main" id="{1EE8C5C9-9A98-D81B-AD5B-F1C4A5CFFF08}"/>
              </a:ext>
            </a:extLst>
          </p:cNvPr>
          <p:cNvSpPr txBox="1"/>
          <p:nvPr/>
        </p:nvSpPr>
        <p:spPr>
          <a:xfrm>
            <a:off x="2791144" y="2358088"/>
            <a:ext cx="2547492" cy="523220"/>
          </a:xfrm>
          <a:prstGeom prst="rect">
            <a:avLst/>
          </a:prstGeom>
          <a:noFill/>
        </p:spPr>
        <p:txBody>
          <a:bodyPr wrap="none" rtlCol="0">
            <a:spAutoFit/>
          </a:bodyPr>
          <a:lstStyle/>
          <a:p>
            <a:r>
              <a:rPr lang="en-US" sz="2800" b="1" dirty="0">
                <a:latin typeface="Courier New" panose="02070309020205020404" pitchFamily="49" charset="0"/>
                <a:cs typeface="Courier New" panose="02070309020205020404" pitchFamily="49" charset="0"/>
              </a:rPr>
              <a:t>1 AGATAGA</a:t>
            </a:r>
            <a:r>
              <a:rPr lang="en-US" sz="2800" b="1" dirty="0">
                <a:solidFill>
                  <a:srgbClr val="FF0000"/>
                </a:solidFill>
                <a:latin typeface="Courier New" panose="02070309020205020404" pitchFamily="49" charset="0"/>
                <a:cs typeface="Courier New" panose="02070309020205020404" pitchFamily="49" charset="0"/>
              </a:rPr>
              <a:t>A</a:t>
            </a:r>
            <a:r>
              <a:rPr lang="en-US" sz="2800" b="1" dirty="0">
                <a:latin typeface="Courier New" panose="02070309020205020404" pitchFamily="49" charset="0"/>
                <a:cs typeface="Courier New" panose="02070309020205020404" pitchFamily="49" charset="0"/>
              </a:rPr>
              <a:t>A</a:t>
            </a:r>
          </a:p>
        </p:txBody>
      </p:sp>
      <p:sp>
        <p:nvSpPr>
          <p:cNvPr id="12" name="TextBox 11">
            <a:extLst>
              <a:ext uri="{FF2B5EF4-FFF2-40B4-BE49-F238E27FC236}">
                <a16:creationId xmlns:a16="http://schemas.microsoft.com/office/drawing/2014/main" id="{FDCD169C-DFF6-7A29-FDA9-B9AB15A20F24}"/>
              </a:ext>
            </a:extLst>
          </p:cNvPr>
          <p:cNvSpPr txBox="1"/>
          <p:nvPr/>
        </p:nvSpPr>
        <p:spPr>
          <a:xfrm>
            <a:off x="4064890" y="2739893"/>
            <a:ext cx="2547492" cy="523220"/>
          </a:xfrm>
          <a:prstGeom prst="rect">
            <a:avLst/>
          </a:prstGeom>
          <a:noFill/>
        </p:spPr>
        <p:txBody>
          <a:bodyPr wrap="none" rtlCol="0">
            <a:spAutoFit/>
          </a:bodyPr>
          <a:lstStyle/>
          <a:p>
            <a:r>
              <a:rPr lang="en-US" sz="2800" b="1" dirty="0">
                <a:latin typeface="Courier New" panose="02070309020205020404" pitchFamily="49" charset="0"/>
                <a:cs typeface="Courier New" panose="02070309020205020404" pitchFamily="49" charset="0"/>
              </a:rPr>
              <a:t>7 ATA</a:t>
            </a:r>
            <a:r>
              <a:rPr lang="en-US" sz="2800" b="1" dirty="0">
                <a:solidFill>
                  <a:srgbClr val="FF0000"/>
                </a:solidFill>
                <a:latin typeface="Courier New" panose="02070309020205020404" pitchFamily="49" charset="0"/>
                <a:cs typeface="Courier New" panose="02070309020205020404" pitchFamily="49" charset="0"/>
              </a:rPr>
              <a:t>C</a:t>
            </a:r>
            <a:r>
              <a:rPr lang="en-US" sz="2800" b="1" dirty="0">
                <a:latin typeface="Courier New" panose="02070309020205020404" pitchFamily="49" charset="0"/>
                <a:cs typeface="Courier New" panose="02070309020205020404" pitchFamily="49" charset="0"/>
              </a:rPr>
              <a:t>ACAAC</a:t>
            </a:r>
          </a:p>
        </p:txBody>
      </p:sp>
      <p:sp>
        <p:nvSpPr>
          <p:cNvPr id="14" name="TextBox 13">
            <a:extLst>
              <a:ext uri="{FF2B5EF4-FFF2-40B4-BE49-F238E27FC236}">
                <a16:creationId xmlns:a16="http://schemas.microsoft.com/office/drawing/2014/main" id="{1738258E-BA84-CCFA-E7E3-B442833B10CC}"/>
              </a:ext>
            </a:extLst>
          </p:cNvPr>
          <p:cNvSpPr txBox="1"/>
          <p:nvPr/>
        </p:nvSpPr>
        <p:spPr>
          <a:xfrm>
            <a:off x="5583575" y="3075751"/>
            <a:ext cx="2547492" cy="523220"/>
          </a:xfrm>
          <a:prstGeom prst="rect">
            <a:avLst/>
          </a:prstGeom>
          <a:noFill/>
        </p:spPr>
        <p:txBody>
          <a:bodyPr wrap="none" rtlCol="0">
            <a:spAutoFit/>
          </a:bodyPr>
          <a:lstStyle/>
          <a:p>
            <a:r>
              <a:rPr lang="en-US" sz="2800" b="1" dirty="0">
                <a:latin typeface="Courier New" panose="02070309020205020404" pitchFamily="49" charset="0"/>
                <a:cs typeface="Courier New" panose="02070309020205020404" pitchFamily="49" charset="0"/>
              </a:rPr>
              <a:t>15 CA</a:t>
            </a:r>
            <a:r>
              <a:rPr lang="en-US" sz="2800" b="1" dirty="0">
                <a:solidFill>
                  <a:srgbClr val="FF0000"/>
                </a:solidFill>
                <a:latin typeface="Courier New" panose="02070309020205020404" pitchFamily="49" charset="0"/>
                <a:cs typeface="Courier New" panose="02070309020205020404" pitchFamily="49" charset="0"/>
              </a:rPr>
              <a:t>C</a:t>
            </a:r>
            <a:r>
              <a:rPr lang="en-US" sz="2800" b="1" dirty="0">
                <a:latin typeface="Courier New" panose="02070309020205020404" pitchFamily="49" charset="0"/>
                <a:cs typeface="Courier New" panose="02070309020205020404" pitchFamily="49" charset="0"/>
              </a:rPr>
              <a:t>AGACT</a:t>
            </a:r>
          </a:p>
        </p:txBody>
      </p:sp>
    </p:spTree>
    <p:extLst>
      <p:ext uri="{BB962C8B-B14F-4D97-AF65-F5344CB8AC3E}">
        <p14:creationId xmlns:p14="http://schemas.microsoft.com/office/powerpoint/2010/main" val="88840284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D8C3D0-D610-446D-E230-C1B3434B23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503876-C4B5-D466-4B53-697540F19473}"/>
              </a:ext>
            </a:extLst>
          </p:cNvPr>
          <p:cNvSpPr>
            <a:spLocks noGrp="1"/>
          </p:cNvSpPr>
          <p:nvPr>
            <p:ph type="title"/>
          </p:nvPr>
        </p:nvSpPr>
        <p:spPr/>
        <p:txBody>
          <a:bodyPr>
            <a:normAutofit fontScale="90000"/>
          </a:bodyPr>
          <a:lstStyle/>
          <a:p>
            <a:r>
              <a:rPr lang="en-US" dirty="0"/>
              <a:t>Using K-</a:t>
            </a:r>
            <a:r>
              <a:rPr lang="en-US" dirty="0" err="1"/>
              <a:t>mers</a:t>
            </a:r>
            <a:r>
              <a:rPr lang="en-US" dirty="0"/>
              <a:t> to seed alignments</a:t>
            </a:r>
          </a:p>
        </p:txBody>
      </p:sp>
      <p:sp>
        <p:nvSpPr>
          <p:cNvPr id="4" name="Slide Number Placeholder 3">
            <a:extLst>
              <a:ext uri="{FF2B5EF4-FFF2-40B4-BE49-F238E27FC236}">
                <a16:creationId xmlns:a16="http://schemas.microsoft.com/office/drawing/2014/main" id="{0C7667C5-D108-9CD9-3AD6-F3F418852FC0}"/>
              </a:ext>
            </a:extLst>
          </p:cNvPr>
          <p:cNvSpPr>
            <a:spLocks noGrp="1"/>
          </p:cNvSpPr>
          <p:nvPr>
            <p:ph type="sldNum" sz="quarter" idx="12"/>
          </p:nvPr>
        </p:nvSpPr>
        <p:spPr/>
        <p:txBody>
          <a:bodyPr/>
          <a:lstStyle/>
          <a:p>
            <a:fld id="{B82CCC60-E8CD-4174-8B1A-7DF615B22EEF}" type="slidenum">
              <a:rPr lang="en-US" smtClean="0"/>
              <a:pPr/>
              <a:t>32</a:t>
            </a:fld>
            <a:endParaRPr lang="en-US"/>
          </a:p>
        </p:txBody>
      </p:sp>
      <p:sp>
        <p:nvSpPr>
          <p:cNvPr id="7" name="TextBox 6">
            <a:extLst>
              <a:ext uri="{FF2B5EF4-FFF2-40B4-BE49-F238E27FC236}">
                <a16:creationId xmlns:a16="http://schemas.microsoft.com/office/drawing/2014/main" id="{E6B04B52-F418-F2BA-8889-666480AB888C}"/>
              </a:ext>
            </a:extLst>
          </p:cNvPr>
          <p:cNvSpPr txBox="1"/>
          <p:nvPr/>
        </p:nvSpPr>
        <p:spPr>
          <a:xfrm>
            <a:off x="2003213" y="1597466"/>
            <a:ext cx="4092787" cy="5355312"/>
          </a:xfrm>
          <a:prstGeom prst="rect">
            <a:avLst/>
          </a:prstGeom>
          <a:noFill/>
        </p:spPr>
        <p:txBody>
          <a:bodyPr wrap="none" rtlCol="0">
            <a:spAutoFit/>
          </a:bodyPr>
          <a:lstStyle/>
          <a:p>
            <a:r>
              <a:rPr lang="en-US" b="1" dirty="0">
                <a:latin typeface="Courier New" panose="02070309020205020404" pitchFamily="49" charset="0"/>
                <a:cs typeface="Courier New" panose="02070309020205020404" pitchFamily="49" charset="0"/>
              </a:rPr>
              <a:t>  AGATAGATAGACAACATAGACT</a:t>
            </a:r>
          </a:p>
          <a:p>
            <a:r>
              <a:rPr lang="en-US" b="1" dirty="0">
                <a:latin typeface="Courier New" panose="02070309020205020404" pitchFamily="49" charset="0"/>
                <a:cs typeface="Courier New" panose="02070309020205020404" pitchFamily="49" charset="0"/>
              </a:rPr>
              <a:t>1 AGATA (1,5)</a:t>
            </a:r>
          </a:p>
          <a:p>
            <a:r>
              <a:rPr lang="en-US" b="1" dirty="0">
                <a:latin typeface="Courier New" panose="02070309020205020404" pitchFamily="49" charset="0"/>
                <a:cs typeface="Courier New" panose="02070309020205020404" pitchFamily="49" charset="0"/>
              </a:rPr>
              <a:t>2  GATAG</a:t>
            </a:r>
          </a:p>
          <a:p>
            <a:pPr marL="457200" indent="-457200">
              <a:buAutoNum type="arabicPlain" startAt="3"/>
            </a:pPr>
            <a:r>
              <a:rPr lang="en-US" b="1" dirty="0">
                <a:latin typeface="Courier New" panose="02070309020205020404" pitchFamily="49" charset="0"/>
                <a:cs typeface="Courier New" panose="02070309020205020404" pitchFamily="49" charset="0"/>
              </a:rPr>
              <a:t> ATAGA (7,15)</a:t>
            </a:r>
          </a:p>
          <a:p>
            <a:pPr marL="457200" indent="-457200">
              <a:buAutoNum type="arabicPlain" startAt="3"/>
            </a:pPr>
            <a:r>
              <a:rPr lang="en-US" b="1" dirty="0">
                <a:latin typeface="Courier New" panose="02070309020205020404" pitchFamily="49" charset="0"/>
                <a:cs typeface="Courier New" panose="02070309020205020404" pitchFamily="49" charset="0"/>
              </a:rPr>
              <a:t>  TAGAT</a:t>
            </a:r>
          </a:p>
          <a:p>
            <a:pPr marL="457200" indent="-457200">
              <a:buAutoNum type="arabicPlain" startAt="3"/>
            </a:pPr>
            <a:r>
              <a:rPr lang="en-US" b="1" dirty="0">
                <a:latin typeface="Courier New" panose="02070309020205020404" pitchFamily="49" charset="0"/>
                <a:cs typeface="Courier New" panose="02070309020205020404" pitchFamily="49" charset="0"/>
              </a:rPr>
              <a:t>   AGATA (1,5)</a:t>
            </a:r>
          </a:p>
          <a:p>
            <a:pPr marL="457200" indent="-457200">
              <a:buAutoNum type="arabicPlain" startAt="3"/>
            </a:pPr>
            <a:r>
              <a:rPr lang="en-US" b="1" dirty="0">
                <a:latin typeface="Courier New" panose="02070309020205020404" pitchFamily="49" charset="0"/>
                <a:cs typeface="Courier New" panose="02070309020205020404" pitchFamily="49" charset="0"/>
              </a:rPr>
              <a:t>    GATAG</a:t>
            </a:r>
          </a:p>
          <a:p>
            <a:pPr marL="457200" indent="-457200">
              <a:buAutoNum type="arabicPlain" startAt="3"/>
            </a:pPr>
            <a:r>
              <a:rPr lang="en-US" b="1" dirty="0">
                <a:latin typeface="Courier New" panose="02070309020205020404" pitchFamily="49" charset="0"/>
                <a:cs typeface="Courier New" panose="02070309020205020404" pitchFamily="49" charset="0"/>
              </a:rPr>
              <a:t>     ATAGA (3,16)</a:t>
            </a:r>
          </a:p>
          <a:p>
            <a:pPr marL="457200" indent="-457200">
              <a:buAutoNum type="arabicPlain" startAt="3"/>
            </a:pPr>
            <a:r>
              <a:rPr lang="en-US" b="1" dirty="0">
                <a:latin typeface="Courier New" panose="02070309020205020404" pitchFamily="49" charset="0"/>
                <a:cs typeface="Courier New" panose="02070309020205020404" pitchFamily="49" charset="0"/>
              </a:rPr>
              <a:t>      TAGAC (17)</a:t>
            </a:r>
          </a:p>
          <a:p>
            <a:pPr marL="457200" indent="-457200">
              <a:buAutoNum type="arabicPlain" startAt="3"/>
            </a:pPr>
            <a:r>
              <a:rPr lang="en-US" b="1" dirty="0">
                <a:latin typeface="Courier New" panose="02070309020205020404" pitchFamily="49" charset="0"/>
                <a:cs typeface="Courier New" panose="02070309020205020404" pitchFamily="49" charset="0"/>
              </a:rPr>
              <a:t>       AGACA</a:t>
            </a:r>
          </a:p>
          <a:p>
            <a:pPr marL="457200" indent="-457200">
              <a:buAutoNum type="arabicPlain" startAt="3"/>
            </a:pPr>
            <a:r>
              <a:rPr lang="en-US" b="1" dirty="0">
                <a:latin typeface="Courier New" panose="02070309020205020404" pitchFamily="49" charset="0"/>
                <a:cs typeface="Courier New" panose="02070309020205020404" pitchFamily="49" charset="0"/>
              </a:rPr>
              <a:t>        GACAA</a:t>
            </a:r>
          </a:p>
          <a:p>
            <a:pPr marL="457200" indent="-457200">
              <a:buAutoNum type="arabicPlain" startAt="3"/>
            </a:pPr>
            <a:r>
              <a:rPr lang="en-US" b="1" dirty="0">
                <a:latin typeface="Courier New" panose="02070309020205020404" pitchFamily="49" charset="0"/>
                <a:cs typeface="Courier New" panose="02070309020205020404" pitchFamily="49" charset="0"/>
              </a:rPr>
              <a:t>         ACAAC</a:t>
            </a:r>
          </a:p>
          <a:p>
            <a:pPr marL="457200" indent="-457200">
              <a:buAutoNum type="arabicPlain" startAt="3"/>
            </a:pPr>
            <a:r>
              <a:rPr lang="en-US" b="1" dirty="0">
                <a:latin typeface="Courier New" panose="02070309020205020404" pitchFamily="49" charset="0"/>
                <a:cs typeface="Courier New" panose="02070309020205020404" pitchFamily="49" charset="0"/>
              </a:rPr>
              <a:t>          CAACA</a:t>
            </a:r>
          </a:p>
          <a:p>
            <a:pPr marL="457200" indent="-457200">
              <a:buAutoNum type="arabicPlain" startAt="3"/>
            </a:pPr>
            <a:r>
              <a:rPr lang="en-US" b="1" dirty="0">
                <a:latin typeface="Courier New" panose="02070309020205020404" pitchFamily="49" charset="0"/>
                <a:cs typeface="Courier New" panose="02070309020205020404" pitchFamily="49" charset="0"/>
              </a:rPr>
              <a:t>           AACAT</a:t>
            </a:r>
          </a:p>
          <a:p>
            <a:pPr marL="457200" indent="-457200">
              <a:buAutoNum type="arabicPlain" startAt="3"/>
            </a:pPr>
            <a:r>
              <a:rPr lang="en-US" b="1" dirty="0">
                <a:latin typeface="Courier New" panose="02070309020205020404" pitchFamily="49" charset="0"/>
                <a:cs typeface="Courier New" panose="02070309020205020404" pitchFamily="49" charset="0"/>
              </a:rPr>
              <a:t>            ACATA</a:t>
            </a:r>
          </a:p>
          <a:p>
            <a:pPr marL="457200" indent="-457200">
              <a:buAutoNum type="arabicPlain" startAt="3"/>
            </a:pPr>
            <a:r>
              <a:rPr lang="en-US" b="1" dirty="0">
                <a:latin typeface="Courier New" panose="02070309020205020404" pitchFamily="49" charset="0"/>
                <a:cs typeface="Courier New" panose="02070309020205020404" pitchFamily="49" charset="0"/>
              </a:rPr>
              <a:t>             CATAG</a:t>
            </a:r>
          </a:p>
          <a:p>
            <a:pPr marL="457200" indent="-457200">
              <a:buAutoNum type="arabicPlain" startAt="3"/>
            </a:pPr>
            <a:r>
              <a:rPr lang="en-US" b="1" dirty="0">
                <a:latin typeface="Courier New" panose="02070309020205020404" pitchFamily="49" charset="0"/>
                <a:cs typeface="Courier New" panose="02070309020205020404" pitchFamily="49" charset="0"/>
              </a:rPr>
              <a:t>              ATAGA (7,3)</a:t>
            </a:r>
          </a:p>
          <a:p>
            <a:pPr marL="457200" indent="-457200">
              <a:buAutoNum type="arabicPlain" startAt="3"/>
            </a:pPr>
            <a:r>
              <a:rPr lang="en-US" b="1" dirty="0">
                <a:latin typeface="Courier New" panose="02070309020205020404" pitchFamily="49" charset="0"/>
                <a:cs typeface="Courier New" panose="02070309020205020404" pitchFamily="49" charset="0"/>
              </a:rPr>
              <a:t>               TAGAC (8)</a:t>
            </a:r>
          </a:p>
          <a:p>
            <a:pPr marL="457200" indent="-457200">
              <a:buAutoNum type="arabicPlain" startAt="3"/>
            </a:pPr>
            <a:r>
              <a:rPr lang="en-US" b="1" dirty="0">
                <a:latin typeface="Courier New" panose="02070309020205020404" pitchFamily="49" charset="0"/>
                <a:cs typeface="Courier New" panose="02070309020205020404" pitchFamily="49" charset="0"/>
              </a:rPr>
              <a:t>                AGACT</a:t>
            </a:r>
          </a:p>
        </p:txBody>
      </p:sp>
      <p:sp>
        <p:nvSpPr>
          <p:cNvPr id="3" name="TextBox 2">
            <a:extLst>
              <a:ext uri="{FF2B5EF4-FFF2-40B4-BE49-F238E27FC236}">
                <a16:creationId xmlns:a16="http://schemas.microsoft.com/office/drawing/2014/main" id="{95F1E610-59A7-B651-52AA-DE01EE9833FA}"/>
              </a:ext>
            </a:extLst>
          </p:cNvPr>
          <p:cNvSpPr txBox="1"/>
          <p:nvPr/>
        </p:nvSpPr>
        <p:spPr>
          <a:xfrm>
            <a:off x="8405364" y="1774447"/>
            <a:ext cx="2117887" cy="523220"/>
          </a:xfrm>
          <a:prstGeom prst="rect">
            <a:avLst/>
          </a:prstGeom>
          <a:noFill/>
        </p:spPr>
        <p:txBody>
          <a:bodyPr wrap="none" rtlCol="0">
            <a:spAutoFit/>
          </a:bodyPr>
          <a:lstStyle/>
          <a:p>
            <a:r>
              <a:rPr lang="en-US" sz="2800" b="1" dirty="0">
                <a:latin typeface="Courier New" panose="02070309020205020404" pitchFamily="49" charset="0"/>
                <a:cs typeface="Courier New" panose="02070309020205020404" pitchFamily="49" charset="0"/>
              </a:rPr>
              <a:t>AGATAGA</a:t>
            </a:r>
            <a:r>
              <a:rPr lang="en-US" sz="2800" b="1" dirty="0">
                <a:solidFill>
                  <a:srgbClr val="FF0000"/>
                </a:solidFill>
                <a:latin typeface="Courier New" panose="02070309020205020404" pitchFamily="49" charset="0"/>
                <a:cs typeface="Courier New" panose="02070309020205020404" pitchFamily="49" charset="0"/>
              </a:rPr>
              <a:t>A</a:t>
            </a:r>
            <a:r>
              <a:rPr lang="en-US" sz="2800" b="1" dirty="0">
                <a:latin typeface="Courier New" panose="02070309020205020404" pitchFamily="49" charset="0"/>
                <a:cs typeface="Courier New" panose="02070309020205020404" pitchFamily="49" charset="0"/>
              </a:rPr>
              <a:t>A</a:t>
            </a:r>
          </a:p>
        </p:txBody>
      </p:sp>
      <p:sp>
        <p:nvSpPr>
          <p:cNvPr id="5" name="TextBox 4">
            <a:extLst>
              <a:ext uri="{FF2B5EF4-FFF2-40B4-BE49-F238E27FC236}">
                <a16:creationId xmlns:a16="http://schemas.microsoft.com/office/drawing/2014/main" id="{D88777E9-7A87-8783-2435-F783CEAE0394}"/>
              </a:ext>
            </a:extLst>
          </p:cNvPr>
          <p:cNvSpPr txBox="1"/>
          <p:nvPr/>
        </p:nvSpPr>
        <p:spPr>
          <a:xfrm>
            <a:off x="8405364" y="2195776"/>
            <a:ext cx="2117887" cy="523220"/>
          </a:xfrm>
          <a:prstGeom prst="rect">
            <a:avLst/>
          </a:prstGeom>
          <a:noFill/>
        </p:spPr>
        <p:txBody>
          <a:bodyPr wrap="none" rtlCol="0">
            <a:spAutoFit/>
          </a:bodyPr>
          <a:lstStyle/>
          <a:p>
            <a:r>
              <a:rPr lang="en-US" sz="2800" b="1" dirty="0">
                <a:latin typeface="Courier New" panose="02070309020205020404" pitchFamily="49" charset="0"/>
                <a:cs typeface="Courier New" panose="02070309020205020404" pitchFamily="49" charset="0"/>
              </a:rPr>
              <a:t>ATA</a:t>
            </a:r>
            <a:r>
              <a:rPr lang="en-US" sz="2800" b="1" dirty="0">
                <a:solidFill>
                  <a:srgbClr val="FF0000"/>
                </a:solidFill>
                <a:latin typeface="Courier New" panose="02070309020205020404" pitchFamily="49" charset="0"/>
                <a:cs typeface="Courier New" panose="02070309020205020404" pitchFamily="49" charset="0"/>
              </a:rPr>
              <a:t>C</a:t>
            </a:r>
            <a:r>
              <a:rPr lang="en-US" sz="2800" b="1" dirty="0">
                <a:latin typeface="Courier New" panose="02070309020205020404" pitchFamily="49" charset="0"/>
                <a:cs typeface="Courier New" panose="02070309020205020404" pitchFamily="49" charset="0"/>
              </a:rPr>
              <a:t>ACAAC</a:t>
            </a:r>
          </a:p>
        </p:txBody>
      </p:sp>
      <p:sp>
        <p:nvSpPr>
          <p:cNvPr id="6" name="TextBox 5">
            <a:extLst>
              <a:ext uri="{FF2B5EF4-FFF2-40B4-BE49-F238E27FC236}">
                <a16:creationId xmlns:a16="http://schemas.microsoft.com/office/drawing/2014/main" id="{6B265877-06BF-6B49-EDE7-AF0C04337667}"/>
              </a:ext>
            </a:extLst>
          </p:cNvPr>
          <p:cNvSpPr txBox="1"/>
          <p:nvPr/>
        </p:nvSpPr>
        <p:spPr>
          <a:xfrm>
            <a:off x="8405364" y="2617105"/>
            <a:ext cx="1903085" cy="523220"/>
          </a:xfrm>
          <a:prstGeom prst="rect">
            <a:avLst/>
          </a:prstGeom>
          <a:noFill/>
        </p:spPr>
        <p:txBody>
          <a:bodyPr wrap="none" rtlCol="0">
            <a:spAutoFit/>
          </a:bodyPr>
          <a:lstStyle/>
          <a:p>
            <a:r>
              <a:rPr lang="en-US" sz="2800" b="1" dirty="0">
                <a:latin typeface="Courier New" panose="02070309020205020404" pitchFamily="49" charset="0"/>
                <a:cs typeface="Courier New" panose="02070309020205020404" pitchFamily="49" charset="0"/>
              </a:rPr>
              <a:t>CA</a:t>
            </a:r>
            <a:r>
              <a:rPr lang="en-US" sz="2800" b="1" dirty="0">
                <a:solidFill>
                  <a:srgbClr val="FF0000"/>
                </a:solidFill>
                <a:latin typeface="Courier New" panose="02070309020205020404" pitchFamily="49" charset="0"/>
                <a:cs typeface="Courier New" panose="02070309020205020404" pitchFamily="49" charset="0"/>
              </a:rPr>
              <a:t>C</a:t>
            </a:r>
            <a:r>
              <a:rPr lang="en-US" sz="2800" b="1" dirty="0">
                <a:latin typeface="Courier New" panose="02070309020205020404" pitchFamily="49" charset="0"/>
                <a:cs typeface="Courier New" panose="02070309020205020404" pitchFamily="49" charset="0"/>
              </a:rPr>
              <a:t>AGACT</a:t>
            </a:r>
          </a:p>
        </p:txBody>
      </p:sp>
    </p:spTree>
    <p:extLst>
      <p:ext uri="{BB962C8B-B14F-4D97-AF65-F5344CB8AC3E}">
        <p14:creationId xmlns:p14="http://schemas.microsoft.com/office/powerpoint/2010/main" val="34276828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CEEEDB-8E6F-9589-0DC0-59EBD0AD3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354BEA-D15E-7E85-658C-A1E3886BF82F}"/>
              </a:ext>
            </a:extLst>
          </p:cNvPr>
          <p:cNvSpPr>
            <a:spLocks noGrp="1"/>
          </p:cNvSpPr>
          <p:nvPr>
            <p:ph type="title"/>
          </p:nvPr>
        </p:nvSpPr>
        <p:spPr/>
        <p:txBody>
          <a:bodyPr>
            <a:normAutofit fontScale="90000"/>
          </a:bodyPr>
          <a:lstStyle/>
          <a:p>
            <a:r>
              <a:rPr lang="en-US" dirty="0"/>
              <a:t>Using K-</a:t>
            </a:r>
            <a:r>
              <a:rPr lang="en-US" dirty="0" err="1"/>
              <a:t>mers</a:t>
            </a:r>
            <a:r>
              <a:rPr lang="en-US" dirty="0"/>
              <a:t> to seed alignments</a:t>
            </a:r>
          </a:p>
        </p:txBody>
      </p:sp>
      <p:sp>
        <p:nvSpPr>
          <p:cNvPr id="4" name="Slide Number Placeholder 3">
            <a:extLst>
              <a:ext uri="{FF2B5EF4-FFF2-40B4-BE49-F238E27FC236}">
                <a16:creationId xmlns:a16="http://schemas.microsoft.com/office/drawing/2014/main" id="{A0B04BC1-3680-5640-1958-1494B4A265EF}"/>
              </a:ext>
            </a:extLst>
          </p:cNvPr>
          <p:cNvSpPr>
            <a:spLocks noGrp="1"/>
          </p:cNvSpPr>
          <p:nvPr>
            <p:ph type="sldNum" sz="quarter" idx="12"/>
          </p:nvPr>
        </p:nvSpPr>
        <p:spPr/>
        <p:txBody>
          <a:bodyPr/>
          <a:lstStyle/>
          <a:p>
            <a:fld id="{B82CCC60-E8CD-4174-8B1A-7DF615B22EEF}" type="slidenum">
              <a:rPr lang="en-US" smtClean="0"/>
              <a:pPr/>
              <a:t>33</a:t>
            </a:fld>
            <a:endParaRPr lang="en-US"/>
          </a:p>
        </p:txBody>
      </p:sp>
      <p:sp>
        <p:nvSpPr>
          <p:cNvPr id="7" name="TextBox 6">
            <a:extLst>
              <a:ext uri="{FF2B5EF4-FFF2-40B4-BE49-F238E27FC236}">
                <a16:creationId xmlns:a16="http://schemas.microsoft.com/office/drawing/2014/main" id="{1D237F36-4596-6B10-9E97-61F7E38BDB21}"/>
              </a:ext>
            </a:extLst>
          </p:cNvPr>
          <p:cNvSpPr txBox="1"/>
          <p:nvPr/>
        </p:nvSpPr>
        <p:spPr>
          <a:xfrm>
            <a:off x="1394964" y="1322164"/>
            <a:ext cx="4608954" cy="5632311"/>
          </a:xfrm>
          <a:prstGeom prst="rect">
            <a:avLst/>
          </a:prstGeom>
          <a:noFill/>
        </p:spPr>
        <p:txBody>
          <a:bodyPr wrap="none" rtlCol="0">
            <a:spAutoFit/>
          </a:bodyPr>
          <a:lstStyle/>
          <a:p>
            <a:r>
              <a:rPr lang="en-US" sz="2400" b="1" dirty="0">
                <a:latin typeface="Courier New" panose="02070309020205020404" pitchFamily="49" charset="0"/>
                <a:cs typeface="Courier New" panose="02070309020205020404" pitchFamily="49" charset="0"/>
              </a:rPr>
              <a:t>  AGATAGATAGACAACATAGACT</a:t>
            </a:r>
          </a:p>
          <a:p>
            <a:r>
              <a:rPr lang="en-US" sz="2400" b="1" dirty="0">
                <a:latin typeface="Courier New" panose="02070309020205020404" pitchFamily="49" charset="0"/>
                <a:cs typeface="Courier New" panose="02070309020205020404" pitchFamily="49" charset="0"/>
              </a:rPr>
              <a:t>AGATA (1,5)</a:t>
            </a:r>
          </a:p>
          <a:p>
            <a:r>
              <a:rPr lang="en-US" sz="2400" b="1" dirty="0">
                <a:latin typeface="Courier New" panose="02070309020205020404" pitchFamily="49" charset="0"/>
                <a:cs typeface="Courier New" panose="02070309020205020404" pitchFamily="49" charset="0"/>
              </a:rPr>
              <a:t>GATAG (2)</a:t>
            </a:r>
          </a:p>
          <a:p>
            <a:r>
              <a:rPr lang="en-US" sz="2400" b="1" dirty="0">
                <a:latin typeface="Courier New" panose="02070309020205020404" pitchFamily="49" charset="0"/>
                <a:cs typeface="Courier New" panose="02070309020205020404" pitchFamily="49" charset="0"/>
              </a:rPr>
              <a:t>ATAGA (3,7,16)</a:t>
            </a:r>
          </a:p>
          <a:p>
            <a:r>
              <a:rPr lang="en-US" sz="2400" b="1" dirty="0">
                <a:latin typeface="Courier New" panose="02070309020205020404" pitchFamily="49" charset="0"/>
                <a:cs typeface="Courier New" panose="02070309020205020404" pitchFamily="49" charset="0"/>
              </a:rPr>
              <a:t>TAGAT (4)</a:t>
            </a:r>
          </a:p>
          <a:p>
            <a:r>
              <a:rPr lang="en-US" sz="2400" b="1" dirty="0">
                <a:latin typeface="Courier New" panose="02070309020205020404" pitchFamily="49" charset="0"/>
                <a:cs typeface="Courier New" panose="02070309020205020404" pitchFamily="49" charset="0"/>
              </a:rPr>
              <a:t>GATAG (6)</a:t>
            </a:r>
          </a:p>
          <a:p>
            <a:r>
              <a:rPr lang="en-US" sz="2400" b="1" dirty="0">
                <a:latin typeface="Courier New" panose="02070309020205020404" pitchFamily="49" charset="0"/>
                <a:cs typeface="Courier New" panose="02070309020205020404" pitchFamily="49" charset="0"/>
              </a:rPr>
              <a:t>TAGAC (8,17)</a:t>
            </a:r>
          </a:p>
          <a:p>
            <a:r>
              <a:rPr lang="en-US" sz="2400" b="1" dirty="0">
                <a:latin typeface="Courier New" panose="02070309020205020404" pitchFamily="49" charset="0"/>
                <a:cs typeface="Courier New" panose="02070309020205020404" pitchFamily="49" charset="0"/>
              </a:rPr>
              <a:t>AGACA (9)</a:t>
            </a:r>
          </a:p>
          <a:p>
            <a:r>
              <a:rPr lang="en-US" sz="2400" b="1" dirty="0">
                <a:latin typeface="Courier New" panose="02070309020205020404" pitchFamily="49" charset="0"/>
                <a:cs typeface="Courier New" panose="02070309020205020404" pitchFamily="49" charset="0"/>
              </a:rPr>
              <a:t>GACAA (10)</a:t>
            </a:r>
          </a:p>
          <a:p>
            <a:r>
              <a:rPr lang="en-US" sz="2400" b="1" dirty="0">
                <a:latin typeface="Courier New" panose="02070309020205020404" pitchFamily="49" charset="0"/>
                <a:cs typeface="Courier New" panose="02070309020205020404" pitchFamily="49" charset="0"/>
              </a:rPr>
              <a:t>ACAAC (11)</a:t>
            </a:r>
          </a:p>
          <a:p>
            <a:r>
              <a:rPr lang="en-US" sz="2400" b="1" dirty="0">
                <a:latin typeface="Courier New" panose="02070309020205020404" pitchFamily="49" charset="0"/>
                <a:cs typeface="Courier New" panose="02070309020205020404" pitchFamily="49" charset="0"/>
              </a:rPr>
              <a:t>CAACA (12)</a:t>
            </a:r>
          </a:p>
          <a:p>
            <a:r>
              <a:rPr lang="en-US" sz="2400" b="1" dirty="0">
                <a:latin typeface="Courier New" panose="02070309020205020404" pitchFamily="49" charset="0"/>
                <a:cs typeface="Courier New" panose="02070309020205020404" pitchFamily="49" charset="0"/>
              </a:rPr>
              <a:t>AACAT (13)</a:t>
            </a:r>
          </a:p>
          <a:p>
            <a:r>
              <a:rPr lang="en-US" sz="2400" b="1" dirty="0">
                <a:latin typeface="Courier New" panose="02070309020205020404" pitchFamily="49" charset="0"/>
                <a:cs typeface="Courier New" panose="02070309020205020404" pitchFamily="49" charset="0"/>
              </a:rPr>
              <a:t>ACATA (14)</a:t>
            </a:r>
          </a:p>
          <a:p>
            <a:r>
              <a:rPr lang="en-US" sz="2400" b="1" dirty="0">
                <a:latin typeface="Courier New" panose="02070309020205020404" pitchFamily="49" charset="0"/>
                <a:cs typeface="Courier New" panose="02070309020205020404" pitchFamily="49" charset="0"/>
              </a:rPr>
              <a:t>CATAG (15)</a:t>
            </a:r>
          </a:p>
          <a:p>
            <a:r>
              <a:rPr lang="en-US" sz="2400" b="1" dirty="0">
                <a:latin typeface="Courier New" panose="02070309020205020404" pitchFamily="49" charset="0"/>
                <a:cs typeface="Courier New" panose="02070309020205020404" pitchFamily="49" charset="0"/>
              </a:rPr>
              <a:t>AGACT (18)</a:t>
            </a:r>
          </a:p>
        </p:txBody>
      </p:sp>
      <p:sp>
        <p:nvSpPr>
          <p:cNvPr id="3" name="TextBox 2">
            <a:extLst>
              <a:ext uri="{FF2B5EF4-FFF2-40B4-BE49-F238E27FC236}">
                <a16:creationId xmlns:a16="http://schemas.microsoft.com/office/drawing/2014/main" id="{60BB331B-8B26-B760-5CCD-760973AD0A7E}"/>
              </a:ext>
            </a:extLst>
          </p:cNvPr>
          <p:cNvSpPr txBox="1"/>
          <p:nvPr/>
        </p:nvSpPr>
        <p:spPr>
          <a:xfrm>
            <a:off x="8405364" y="1774447"/>
            <a:ext cx="2117887" cy="523220"/>
          </a:xfrm>
          <a:prstGeom prst="rect">
            <a:avLst/>
          </a:prstGeom>
          <a:noFill/>
        </p:spPr>
        <p:txBody>
          <a:bodyPr wrap="none" rtlCol="0">
            <a:spAutoFit/>
          </a:bodyPr>
          <a:lstStyle/>
          <a:p>
            <a:r>
              <a:rPr lang="en-US" sz="2800" b="1" dirty="0">
                <a:latin typeface="Courier New" panose="02070309020205020404" pitchFamily="49" charset="0"/>
                <a:cs typeface="Courier New" panose="02070309020205020404" pitchFamily="49" charset="0"/>
              </a:rPr>
              <a:t>AGATAGA</a:t>
            </a:r>
            <a:r>
              <a:rPr lang="en-US" sz="2800" b="1" dirty="0">
                <a:solidFill>
                  <a:srgbClr val="FF0000"/>
                </a:solidFill>
                <a:latin typeface="Courier New" panose="02070309020205020404" pitchFamily="49" charset="0"/>
                <a:cs typeface="Courier New" panose="02070309020205020404" pitchFamily="49" charset="0"/>
              </a:rPr>
              <a:t>A</a:t>
            </a:r>
            <a:r>
              <a:rPr lang="en-US" sz="2800" b="1" dirty="0">
                <a:latin typeface="Courier New" panose="02070309020205020404" pitchFamily="49" charset="0"/>
                <a:cs typeface="Courier New" panose="02070309020205020404" pitchFamily="49" charset="0"/>
              </a:rPr>
              <a:t>A</a:t>
            </a:r>
          </a:p>
        </p:txBody>
      </p:sp>
      <p:sp>
        <p:nvSpPr>
          <p:cNvPr id="5" name="TextBox 4">
            <a:extLst>
              <a:ext uri="{FF2B5EF4-FFF2-40B4-BE49-F238E27FC236}">
                <a16:creationId xmlns:a16="http://schemas.microsoft.com/office/drawing/2014/main" id="{60C3B65C-0F43-7B22-7552-F273B5E4AFA2}"/>
              </a:ext>
            </a:extLst>
          </p:cNvPr>
          <p:cNvSpPr txBox="1"/>
          <p:nvPr/>
        </p:nvSpPr>
        <p:spPr>
          <a:xfrm>
            <a:off x="8405364" y="2195776"/>
            <a:ext cx="2117887" cy="523220"/>
          </a:xfrm>
          <a:prstGeom prst="rect">
            <a:avLst/>
          </a:prstGeom>
          <a:noFill/>
        </p:spPr>
        <p:txBody>
          <a:bodyPr wrap="none" rtlCol="0">
            <a:spAutoFit/>
          </a:bodyPr>
          <a:lstStyle/>
          <a:p>
            <a:r>
              <a:rPr lang="en-US" sz="2800" b="1" dirty="0">
                <a:latin typeface="Courier New" panose="02070309020205020404" pitchFamily="49" charset="0"/>
                <a:cs typeface="Courier New" panose="02070309020205020404" pitchFamily="49" charset="0"/>
              </a:rPr>
              <a:t>ATA</a:t>
            </a:r>
            <a:r>
              <a:rPr lang="en-US" sz="2800" b="1" dirty="0">
                <a:solidFill>
                  <a:srgbClr val="FF0000"/>
                </a:solidFill>
                <a:latin typeface="Courier New" panose="02070309020205020404" pitchFamily="49" charset="0"/>
                <a:cs typeface="Courier New" panose="02070309020205020404" pitchFamily="49" charset="0"/>
              </a:rPr>
              <a:t>C</a:t>
            </a:r>
            <a:r>
              <a:rPr lang="en-US" sz="2800" b="1" dirty="0">
                <a:latin typeface="Courier New" panose="02070309020205020404" pitchFamily="49" charset="0"/>
                <a:cs typeface="Courier New" panose="02070309020205020404" pitchFamily="49" charset="0"/>
              </a:rPr>
              <a:t>ACAAC</a:t>
            </a:r>
          </a:p>
        </p:txBody>
      </p:sp>
      <p:sp>
        <p:nvSpPr>
          <p:cNvPr id="6" name="TextBox 5">
            <a:extLst>
              <a:ext uri="{FF2B5EF4-FFF2-40B4-BE49-F238E27FC236}">
                <a16:creationId xmlns:a16="http://schemas.microsoft.com/office/drawing/2014/main" id="{97114593-17A0-B753-B44F-AD009E8B388D}"/>
              </a:ext>
            </a:extLst>
          </p:cNvPr>
          <p:cNvSpPr txBox="1"/>
          <p:nvPr/>
        </p:nvSpPr>
        <p:spPr>
          <a:xfrm>
            <a:off x="8405364" y="2617105"/>
            <a:ext cx="1903085" cy="523220"/>
          </a:xfrm>
          <a:prstGeom prst="rect">
            <a:avLst/>
          </a:prstGeom>
          <a:noFill/>
        </p:spPr>
        <p:txBody>
          <a:bodyPr wrap="none" rtlCol="0">
            <a:spAutoFit/>
          </a:bodyPr>
          <a:lstStyle/>
          <a:p>
            <a:r>
              <a:rPr lang="en-US" sz="2800" b="1" dirty="0">
                <a:latin typeface="Courier New" panose="02070309020205020404" pitchFamily="49" charset="0"/>
                <a:cs typeface="Courier New" panose="02070309020205020404" pitchFamily="49" charset="0"/>
              </a:rPr>
              <a:t>CA</a:t>
            </a:r>
            <a:r>
              <a:rPr lang="en-US" sz="2800" b="1" dirty="0">
                <a:solidFill>
                  <a:srgbClr val="FF0000"/>
                </a:solidFill>
                <a:latin typeface="Courier New" panose="02070309020205020404" pitchFamily="49" charset="0"/>
                <a:cs typeface="Courier New" panose="02070309020205020404" pitchFamily="49" charset="0"/>
              </a:rPr>
              <a:t>C</a:t>
            </a:r>
            <a:r>
              <a:rPr lang="en-US" sz="2800" b="1" dirty="0">
                <a:latin typeface="Courier New" panose="02070309020205020404" pitchFamily="49" charset="0"/>
                <a:cs typeface="Courier New" panose="02070309020205020404" pitchFamily="49" charset="0"/>
              </a:rPr>
              <a:t>AGACT</a:t>
            </a:r>
          </a:p>
        </p:txBody>
      </p:sp>
    </p:spTree>
    <p:extLst>
      <p:ext uri="{BB962C8B-B14F-4D97-AF65-F5344CB8AC3E}">
        <p14:creationId xmlns:p14="http://schemas.microsoft.com/office/powerpoint/2010/main" val="17099663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EC3D1-4845-BD27-0935-33A8FC803E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4553CF-003C-61BC-C262-4780C8BFF66F}"/>
              </a:ext>
            </a:extLst>
          </p:cNvPr>
          <p:cNvSpPr>
            <a:spLocks noGrp="1"/>
          </p:cNvSpPr>
          <p:nvPr>
            <p:ph type="title"/>
          </p:nvPr>
        </p:nvSpPr>
        <p:spPr/>
        <p:txBody>
          <a:bodyPr>
            <a:normAutofit fontScale="90000"/>
          </a:bodyPr>
          <a:lstStyle/>
          <a:p>
            <a:r>
              <a:rPr lang="en-US" dirty="0"/>
              <a:t>Using K-</a:t>
            </a:r>
            <a:r>
              <a:rPr lang="en-US" dirty="0" err="1"/>
              <a:t>mers</a:t>
            </a:r>
            <a:r>
              <a:rPr lang="en-US" dirty="0"/>
              <a:t> to seed alignments</a:t>
            </a:r>
          </a:p>
        </p:txBody>
      </p:sp>
      <p:sp>
        <p:nvSpPr>
          <p:cNvPr id="4" name="Slide Number Placeholder 3">
            <a:extLst>
              <a:ext uri="{FF2B5EF4-FFF2-40B4-BE49-F238E27FC236}">
                <a16:creationId xmlns:a16="http://schemas.microsoft.com/office/drawing/2014/main" id="{B53CAEFD-95A1-6EB2-CB45-7A8A10E19129}"/>
              </a:ext>
            </a:extLst>
          </p:cNvPr>
          <p:cNvSpPr>
            <a:spLocks noGrp="1"/>
          </p:cNvSpPr>
          <p:nvPr>
            <p:ph type="sldNum" sz="quarter" idx="12"/>
          </p:nvPr>
        </p:nvSpPr>
        <p:spPr/>
        <p:txBody>
          <a:bodyPr/>
          <a:lstStyle/>
          <a:p>
            <a:fld id="{B82CCC60-E8CD-4174-8B1A-7DF615B22EEF}" type="slidenum">
              <a:rPr lang="en-US" smtClean="0"/>
              <a:pPr/>
              <a:t>34</a:t>
            </a:fld>
            <a:endParaRPr lang="en-US"/>
          </a:p>
        </p:txBody>
      </p:sp>
      <p:sp>
        <p:nvSpPr>
          <p:cNvPr id="3" name="TextBox 2">
            <a:extLst>
              <a:ext uri="{FF2B5EF4-FFF2-40B4-BE49-F238E27FC236}">
                <a16:creationId xmlns:a16="http://schemas.microsoft.com/office/drawing/2014/main" id="{0357EF48-7E81-E6B4-5F8D-678ADE1D300C}"/>
              </a:ext>
            </a:extLst>
          </p:cNvPr>
          <p:cNvSpPr txBox="1"/>
          <p:nvPr/>
        </p:nvSpPr>
        <p:spPr>
          <a:xfrm>
            <a:off x="8405364" y="1774447"/>
            <a:ext cx="2709396" cy="1384995"/>
          </a:xfrm>
          <a:prstGeom prst="rect">
            <a:avLst/>
          </a:prstGeom>
          <a:noFill/>
        </p:spPr>
        <p:txBody>
          <a:bodyPr wrap="none" rtlCol="0">
            <a:spAutoFit/>
          </a:bodyPr>
          <a:lstStyle/>
          <a:p>
            <a:r>
              <a:rPr lang="en-US" sz="2800" b="1" dirty="0">
                <a:solidFill>
                  <a:srgbClr val="00B0F0"/>
                </a:solidFill>
                <a:latin typeface="Courier New" panose="02070309020205020404" pitchFamily="49" charset="0"/>
                <a:cs typeface="Courier New" panose="02070309020205020404" pitchFamily="49" charset="0"/>
              </a:rPr>
              <a:t>AGATAG</a:t>
            </a:r>
            <a:r>
              <a:rPr lang="en-US" sz="2800" b="1" dirty="0">
                <a:latin typeface="Courier New" panose="02070309020205020404" pitchFamily="49" charset="0"/>
                <a:cs typeface="Courier New" panose="02070309020205020404" pitchFamily="49" charset="0"/>
              </a:rPr>
              <a:t>A</a:t>
            </a:r>
            <a:r>
              <a:rPr lang="en-US" sz="2800" b="1" dirty="0">
                <a:solidFill>
                  <a:srgbClr val="FF0000"/>
                </a:solidFill>
                <a:latin typeface="Courier New" panose="02070309020205020404" pitchFamily="49" charset="0"/>
                <a:cs typeface="Courier New" panose="02070309020205020404" pitchFamily="49" charset="0"/>
              </a:rPr>
              <a:t>A</a:t>
            </a:r>
            <a:r>
              <a:rPr lang="en-US" sz="2800" b="1" dirty="0">
                <a:latin typeface="Courier New" panose="02070309020205020404" pitchFamily="49" charset="0"/>
                <a:cs typeface="Courier New" panose="02070309020205020404" pitchFamily="49" charset="0"/>
              </a:rPr>
              <a:t>A</a:t>
            </a:r>
          </a:p>
          <a:p>
            <a:r>
              <a:rPr lang="en-US" sz="2800" b="1" dirty="0">
                <a:cs typeface="Courier New" panose="02070309020205020404" pitchFamily="49" charset="0"/>
              </a:rPr>
              <a:t>Implied position:</a:t>
            </a:r>
          </a:p>
          <a:p>
            <a:r>
              <a:rPr lang="en-US" sz="2800" b="1" dirty="0">
                <a:latin typeface="Courier New" panose="02070309020205020404" pitchFamily="49" charset="0"/>
                <a:cs typeface="Courier New" panose="02070309020205020404" pitchFamily="49" charset="0"/>
              </a:rPr>
              <a:t>1,1,5</a:t>
            </a:r>
          </a:p>
        </p:txBody>
      </p:sp>
      <p:sp>
        <p:nvSpPr>
          <p:cNvPr id="5" name="TextBox 4">
            <a:extLst>
              <a:ext uri="{FF2B5EF4-FFF2-40B4-BE49-F238E27FC236}">
                <a16:creationId xmlns:a16="http://schemas.microsoft.com/office/drawing/2014/main" id="{7D9D080A-814F-AB25-8F6F-429A6DF38BDC}"/>
              </a:ext>
            </a:extLst>
          </p:cNvPr>
          <p:cNvSpPr txBox="1"/>
          <p:nvPr/>
        </p:nvSpPr>
        <p:spPr>
          <a:xfrm>
            <a:off x="8405364" y="4673889"/>
            <a:ext cx="2117887" cy="523220"/>
          </a:xfrm>
          <a:prstGeom prst="rect">
            <a:avLst/>
          </a:prstGeom>
          <a:noFill/>
        </p:spPr>
        <p:txBody>
          <a:bodyPr wrap="none" rtlCol="0">
            <a:spAutoFit/>
          </a:bodyPr>
          <a:lstStyle/>
          <a:p>
            <a:r>
              <a:rPr lang="en-US" sz="2800" b="1" dirty="0">
                <a:latin typeface="Courier New" panose="02070309020205020404" pitchFamily="49" charset="0"/>
                <a:cs typeface="Courier New" panose="02070309020205020404" pitchFamily="49" charset="0"/>
              </a:rPr>
              <a:t>ATA</a:t>
            </a:r>
            <a:r>
              <a:rPr lang="en-US" sz="2800" b="1" dirty="0">
                <a:solidFill>
                  <a:srgbClr val="FF0000"/>
                </a:solidFill>
                <a:latin typeface="Courier New" panose="02070309020205020404" pitchFamily="49" charset="0"/>
                <a:cs typeface="Courier New" panose="02070309020205020404" pitchFamily="49" charset="0"/>
              </a:rPr>
              <a:t>C</a:t>
            </a:r>
            <a:r>
              <a:rPr lang="en-US" sz="2800" b="1" dirty="0">
                <a:latin typeface="Courier New" panose="02070309020205020404" pitchFamily="49" charset="0"/>
                <a:cs typeface="Courier New" panose="02070309020205020404" pitchFamily="49" charset="0"/>
              </a:rPr>
              <a:t>ACAAC</a:t>
            </a:r>
          </a:p>
        </p:txBody>
      </p:sp>
      <p:sp>
        <p:nvSpPr>
          <p:cNvPr id="6" name="TextBox 5">
            <a:extLst>
              <a:ext uri="{FF2B5EF4-FFF2-40B4-BE49-F238E27FC236}">
                <a16:creationId xmlns:a16="http://schemas.microsoft.com/office/drawing/2014/main" id="{37B9B05B-398F-EDC7-3FF8-D54A62FAA951}"/>
              </a:ext>
            </a:extLst>
          </p:cNvPr>
          <p:cNvSpPr txBox="1"/>
          <p:nvPr/>
        </p:nvSpPr>
        <p:spPr>
          <a:xfrm>
            <a:off x="8405364" y="3195299"/>
            <a:ext cx="1903085" cy="523220"/>
          </a:xfrm>
          <a:prstGeom prst="rect">
            <a:avLst/>
          </a:prstGeom>
          <a:noFill/>
        </p:spPr>
        <p:txBody>
          <a:bodyPr wrap="none" rtlCol="0">
            <a:spAutoFit/>
          </a:bodyPr>
          <a:lstStyle/>
          <a:p>
            <a:r>
              <a:rPr lang="en-US" sz="2800" b="1" dirty="0">
                <a:latin typeface="Courier New" panose="02070309020205020404" pitchFamily="49" charset="0"/>
                <a:cs typeface="Courier New" panose="02070309020205020404" pitchFamily="49" charset="0"/>
              </a:rPr>
              <a:t>CA</a:t>
            </a:r>
            <a:r>
              <a:rPr lang="en-US" sz="2800" b="1" dirty="0">
                <a:solidFill>
                  <a:srgbClr val="FF0000"/>
                </a:solidFill>
                <a:latin typeface="Courier New" panose="02070309020205020404" pitchFamily="49" charset="0"/>
                <a:cs typeface="Courier New" panose="02070309020205020404" pitchFamily="49" charset="0"/>
              </a:rPr>
              <a:t>C</a:t>
            </a:r>
            <a:r>
              <a:rPr lang="en-US" sz="2800" b="1" dirty="0">
                <a:latin typeface="Courier New" panose="02070309020205020404" pitchFamily="49" charset="0"/>
                <a:cs typeface="Courier New" panose="02070309020205020404" pitchFamily="49" charset="0"/>
              </a:rPr>
              <a:t>AGACT</a:t>
            </a:r>
          </a:p>
        </p:txBody>
      </p:sp>
      <p:sp>
        <p:nvSpPr>
          <p:cNvPr id="10" name="TextBox 9">
            <a:extLst>
              <a:ext uri="{FF2B5EF4-FFF2-40B4-BE49-F238E27FC236}">
                <a16:creationId xmlns:a16="http://schemas.microsoft.com/office/drawing/2014/main" id="{37B0CF4A-3A25-58A0-9AFC-CA67747DD49C}"/>
              </a:ext>
            </a:extLst>
          </p:cNvPr>
          <p:cNvSpPr txBox="1"/>
          <p:nvPr/>
        </p:nvSpPr>
        <p:spPr>
          <a:xfrm>
            <a:off x="1394964" y="1322164"/>
            <a:ext cx="4608954" cy="5632311"/>
          </a:xfrm>
          <a:prstGeom prst="rect">
            <a:avLst/>
          </a:prstGeom>
          <a:noFill/>
        </p:spPr>
        <p:txBody>
          <a:bodyPr wrap="none" rtlCol="0">
            <a:spAutoFit/>
          </a:bodyPr>
          <a:lstStyle/>
          <a:p>
            <a:r>
              <a:rPr lang="en-US" sz="2400" b="1" dirty="0">
                <a:latin typeface="Courier New" panose="02070309020205020404" pitchFamily="49" charset="0"/>
                <a:cs typeface="Courier New" panose="02070309020205020404" pitchFamily="49" charset="0"/>
              </a:rPr>
              <a:t>  AGATAGATAGACAACATAGACT</a:t>
            </a:r>
          </a:p>
          <a:p>
            <a:r>
              <a:rPr lang="en-US" sz="2400" b="1" dirty="0">
                <a:solidFill>
                  <a:srgbClr val="00B0F0"/>
                </a:solidFill>
                <a:latin typeface="Courier New" panose="02070309020205020404" pitchFamily="49" charset="0"/>
                <a:cs typeface="Courier New" panose="02070309020205020404" pitchFamily="49" charset="0"/>
              </a:rPr>
              <a:t>AGATA</a:t>
            </a:r>
            <a:r>
              <a:rPr lang="en-US" sz="2400" b="1" dirty="0">
                <a:latin typeface="Courier New" panose="02070309020205020404" pitchFamily="49" charset="0"/>
                <a:cs typeface="Courier New" panose="02070309020205020404" pitchFamily="49" charset="0"/>
              </a:rPr>
              <a:t> (1,5)</a:t>
            </a:r>
          </a:p>
          <a:p>
            <a:r>
              <a:rPr lang="en-US" sz="2400" b="1" dirty="0">
                <a:solidFill>
                  <a:srgbClr val="00B0F0"/>
                </a:solidFill>
                <a:latin typeface="Courier New" panose="02070309020205020404" pitchFamily="49" charset="0"/>
                <a:cs typeface="Courier New" panose="02070309020205020404" pitchFamily="49" charset="0"/>
              </a:rPr>
              <a:t>GATAG</a:t>
            </a:r>
            <a:r>
              <a:rPr lang="en-US" sz="2400" b="1" dirty="0">
                <a:latin typeface="Courier New" panose="02070309020205020404" pitchFamily="49" charset="0"/>
                <a:cs typeface="Courier New" panose="02070309020205020404" pitchFamily="49" charset="0"/>
              </a:rPr>
              <a:t> (2)</a:t>
            </a:r>
          </a:p>
          <a:p>
            <a:r>
              <a:rPr lang="en-US" sz="2400" b="1" dirty="0">
                <a:latin typeface="Courier New" panose="02070309020205020404" pitchFamily="49" charset="0"/>
                <a:cs typeface="Courier New" panose="02070309020205020404" pitchFamily="49" charset="0"/>
              </a:rPr>
              <a:t>ATAGA (3,7,16)</a:t>
            </a:r>
          </a:p>
          <a:p>
            <a:r>
              <a:rPr lang="en-US" sz="2400" b="1" dirty="0">
                <a:latin typeface="Courier New" panose="02070309020205020404" pitchFamily="49" charset="0"/>
                <a:cs typeface="Courier New" panose="02070309020205020404" pitchFamily="49" charset="0"/>
              </a:rPr>
              <a:t>TAGAT (4)</a:t>
            </a:r>
          </a:p>
          <a:p>
            <a:r>
              <a:rPr lang="en-US" sz="2400" b="1" dirty="0">
                <a:latin typeface="Courier New" panose="02070309020205020404" pitchFamily="49" charset="0"/>
                <a:cs typeface="Courier New" panose="02070309020205020404" pitchFamily="49" charset="0"/>
              </a:rPr>
              <a:t>GATAG (6)</a:t>
            </a:r>
          </a:p>
          <a:p>
            <a:r>
              <a:rPr lang="en-US" sz="2400" b="1" dirty="0">
                <a:latin typeface="Courier New" panose="02070309020205020404" pitchFamily="49" charset="0"/>
                <a:cs typeface="Courier New" panose="02070309020205020404" pitchFamily="49" charset="0"/>
              </a:rPr>
              <a:t>TAGAC (8,17)</a:t>
            </a:r>
          </a:p>
          <a:p>
            <a:r>
              <a:rPr lang="en-US" sz="2400" b="1" dirty="0">
                <a:latin typeface="Courier New" panose="02070309020205020404" pitchFamily="49" charset="0"/>
                <a:cs typeface="Courier New" panose="02070309020205020404" pitchFamily="49" charset="0"/>
              </a:rPr>
              <a:t>AGACA (9)</a:t>
            </a:r>
          </a:p>
          <a:p>
            <a:r>
              <a:rPr lang="en-US" sz="2400" b="1" dirty="0">
                <a:latin typeface="Courier New" panose="02070309020205020404" pitchFamily="49" charset="0"/>
                <a:cs typeface="Courier New" panose="02070309020205020404" pitchFamily="49" charset="0"/>
              </a:rPr>
              <a:t>GACAA (10)</a:t>
            </a:r>
          </a:p>
          <a:p>
            <a:r>
              <a:rPr lang="en-US" sz="2400" b="1" dirty="0">
                <a:latin typeface="Courier New" panose="02070309020205020404" pitchFamily="49" charset="0"/>
                <a:cs typeface="Courier New" panose="02070309020205020404" pitchFamily="49" charset="0"/>
              </a:rPr>
              <a:t>ACAAC (11)</a:t>
            </a:r>
          </a:p>
          <a:p>
            <a:r>
              <a:rPr lang="en-US" sz="2400" b="1" dirty="0">
                <a:latin typeface="Courier New" panose="02070309020205020404" pitchFamily="49" charset="0"/>
                <a:cs typeface="Courier New" panose="02070309020205020404" pitchFamily="49" charset="0"/>
              </a:rPr>
              <a:t>CAACA (12)</a:t>
            </a:r>
          </a:p>
          <a:p>
            <a:r>
              <a:rPr lang="en-US" sz="2400" b="1" dirty="0">
                <a:latin typeface="Courier New" panose="02070309020205020404" pitchFamily="49" charset="0"/>
                <a:cs typeface="Courier New" panose="02070309020205020404" pitchFamily="49" charset="0"/>
              </a:rPr>
              <a:t>AACAT (13)</a:t>
            </a:r>
          </a:p>
          <a:p>
            <a:r>
              <a:rPr lang="en-US" sz="2400" b="1" dirty="0">
                <a:latin typeface="Courier New" panose="02070309020205020404" pitchFamily="49" charset="0"/>
                <a:cs typeface="Courier New" panose="02070309020205020404" pitchFamily="49" charset="0"/>
              </a:rPr>
              <a:t>ACATA (14)</a:t>
            </a:r>
          </a:p>
          <a:p>
            <a:r>
              <a:rPr lang="en-US" sz="2400" b="1" dirty="0">
                <a:latin typeface="Courier New" panose="02070309020205020404" pitchFamily="49" charset="0"/>
                <a:cs typeface="Courier New" panose="02070309020205020404" pitchFamily="49" charset="0"/>
              </a:rPr>
              <a:t>CATAG (15)</a:t>
            </a:r>
          </a:p>
          <a:p>
            <a:r>
              <a:rPr lang="en-US" sz="2400" b="1" dirty="0">
                <a:latin typeface="Courier New" panose="02070309020205020404" pitchFamily="49" charset="0"/>
                <a:cs typeface="Courier New" panose="02070309020205020404" pitchFamily="49" charset="0"/>
              </a:rPr>
              <a:t>AGACT (18)</a:t>
            </a:r>
          </a:p>
        </p:txBody>
      </p:sp>
    </p:spTree>
    <p:extLst>
      <p:ext uri="{BB962C8B-B14F-4D97-AF65-F5344CB8AC3E}">
        <p14:creationId xmlns:p14="http://schemas.microsoft.com/office/powerpoint/2010/main" val="34956507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6D7E98-0701-9085-304A-7B9DA0A874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85EDB7-6A3E-53FE-B564-631478D13136}"/>
              </a:ext>
            </a:extLst>
          </p:cNvPr>
          <p:cNvSpPr>
            <a:spLocks noGrp="1"/>
          </p:cNvSpPr>
          <p:nvPr>
            <p:ph type="title"/>
          </p:nvPr>
        </p:nvSpPr>
        <p:spPr/>
        <p:txBody>
          <a:bodyPr>
            <a:normAutofit fontScale="90000"/>
          </a:bodyPr>
          <a:lstStyle/>
          <a:p>
            <a:r>
              <a:rPr lang="en-US" dirty="0"/>
              <a:t>Using K-</a:t>
            </a:r>
            <a:r>
              <a:rPr lang="en-US" dirty="0" err="1"/>
              <a:t>mers</a:t>
            </a:r>
            <a:r>
              <a:rPr lang="en-US" dirty="0"/>
              <a:t> to seed alignments</a:t>
            </a:r>
          </a:p>
        </p:txBody>
      </p:sp>
      <p:sp>
        <p:nvSpPr>
          <p:cNvPr id="4" name="Slide Number Placeholder 3">
            <a:extLst>
              <a:ext uri="{FF2B5EF4-FFF2-40B4-BE49-F238E27FC236}">
                <a16:creationId xmlns:a16="http://schemas.microsoft.com/office/drawing/2014/main" id="{06194C80-C47D-661D-7456-BBCBD2D844D3}"/>
              </a:ext>
            </a:extLst>
          </p:cNvPr>
          <p:cNvSpPr>
            <a:spLocks noGrp="1"/>
          </p:cNvSpPr>
          <p:nvPr>
            <p:ph type="sldNum" sz="quarter" idx="12"/>
          </p:nvPr>
        </p:nvSpPr>
        <p:spPr/>
        <p:txBody>
          <a:bodyPr/>
          <a:lstStyle/>
          <a:p>
            <a:fld id="{B82CCC60-E8CD-4174-8B1A-7DF615B22EEF}" type="slidenum">
              <a:rPr lang="en-US" smtClean="0"/>
              <a:pPr/>
              <a:t>35</a:t>
            </a:fld>
            <a:endParaRPr lang="en-US"/>
          </a:p>
        </p:txBody>
      </p:sp>
      <p:sp>
        <p:nvSpPr>
          <p:cNvPr id="3" name="TextBox 2">
            <a:extLst>
              <a:ext uri="{FF2B5EF4-FFF2-40B4-BE49-F238E27FC236}">
                <a16:creationId xmlns:a16="http://schemas.microsoft.com/office/drawing/2014/main" id="{40FB7C42-764C-F5ED-BA2E-5F37CAACA1FF}"/>
              </a:ext>
            </a:extLst>
          </p:cNvPr>
          <p:cNvSpPr txBox="1"/>
          <p:nvPr/>
        </p:nvSpPr>
        <p:spPr>
          <a:xfrm>
            <a:off x="8405364" y="1774447"/>
            <a:ext cx="2852063" cy="1384995"/>
          </a:xfrm>
          <a:prstGeom prst="rect">
            <a:avLst/>
          </a:prstGeom>
          <a:noFill/>
        </p:spPr>
        <p:txBody>
          <a:bodyPr wrap="none" rtlCol="0">
            <a:spAutoFit/>
          </a:bodyPr>
          <a:lstStyle/>
          <a:p>
            <a:r>
              <a:rPr lang="en-US" sz="2800" b="1" dirty="0">
                <a:solidFill>
                  <a:srgbClr val="00B0F0"/>
                </a:solidFill>
                <a:latin typeface="Courier New" panose="02070309020205020404" pitchFamily="49" charset="0"/>
                <a:cs typeface="Courier New" panose="02070309020205020404" pitchFamily="49" charset="0"/>
              </a:rPr>
              <a:t>AGATAG</a:t>
            </a:r>
            <a:r>
              <a:rPr lang="en-US" sz="2800" b="1" dirty="0">
                <a:latin typeface="Courier New" panose="02070309020205020404" pitchFamily="49" charset="0"/>
                <a:cs typeface="Courier New" panose="02070309020205020404" pitchFamily="49" charset="0"/>
              </a:rPr>
              <a:t>A</a:t>
            </a:r>
            <a:r>
              <a:rPr lang="en-US" sz="2800" b="1" dirty="0">
                <a:solidFill>
                  <a:srgbClr val="FF0000"/>
                </a:solidFill>
                <a:latin typeface="Courier New" panose="02070309020205020404" pitchFamily="49" charset="0"/>
                <a:cs typeface="Courier New" panose="02070309020205020404" pitchFamily="49" charset="0"/>
              </a:rPr>
              <a:t>A</a:t>
            </a:r>
            <a:r>
              <a:rPr lang="en-US" sz="2800" b="1" dirty="0">
                <a:latin typeface="Courier New" panose="02070309020205020404" pitchFamily="49" charset="0"/>
                <a:cs typeface="Courier New" panose="02070309020205020404" pitchFamily="49" charset="0"/>
              </a:rPr>
              <a:t>A</a:t>
            </a:r>
          </a:p>
          <a:p>
            <a:r>
              <a:rPr lang="en-US" sz="2800" b="1" dirty="0">
                <a:cs typeface="Courier New" panose="02070309020205020404" pitchFamily="49" charset="0"/>
              </a:rPr>
              <a:t>Implied positions:</a:t>
            </a:r>
          </a:p>
          <a:p>
            <a:r>
              <a:rPr lang="en-US" sz="2800" b="1" dirty="0">
                <a:latin typeface="Courier New" panose="02070309020205020404" pitchFamily="49" charset="0"/>
                <a:cs typeface="Courier New" panose="02070309020205020404" pitchFamily="49" charset="0"/>
              </a:rPr>
              <a:t>1,1,5</a:t>
            </a:r>
          </a:p>
        </p:txBody>
      </p:sp>
      <p:sp>
        <p:nvSpPr>
          <p:cNvPr id="5" name="TextBox 4">
            <a:extLst>
              <a:ext uri="{FF2B5EF4-FFF2-40B4-BE49-F238E27FC236}">
                <a16:creationId xmlns:a16="http://schemas.microsoft.com/office/drawing/2014/main" id="{66FC5A99-BE90-C167-D83A-0082042FEEC0}"/>
              </a:ext>
            </a:extLst>
          </p:cNvPr>
          <p:cNvSpPr txBox="1"/>
          <p:nvPr/>
        </p:nvSpPr>
        <p:spPr>
          <a:xfrm>
            <a:off x="8405364" y="4673889"/>
            <a:ext cx="2852063" cy="1384995"/>
          </a:xfrm>
          <a:prstGeom prst="rect">
            <a:avLst/>
          </a:prstGeom>
          <a:noFill/>
        </p:spPr>
        <p:txBody>
          <a:bodyPr wrap="none" rtlCol="0">
            <a:spAutoFit/>
          </a:bodyPr>
          <a:lstStyle/>
          <a:p>
            <a:r>
              <a:rPr lang="en-US" sz="2800" b="1" dirty="0">
                <a:latin typeface="Courier New" panose="02070309020205020404" pitchFamily="49" charset="0"/>
                <a:cs typeface="Courier New" panose="02070309020205020404" pitchFamily="49" charset="0"/>
              </a:rPr>
              <a:t>ATA</a:t>
            </a:r>
            <a:r>
              <a:rPr lang="en-US" sz="2800" b="1" dirty="0">
                <a:solidFill>
                  <a:srgbClr val="FF0000"/>
                </a:solidFill>
                <a:latin typeface="Courier New" panose="02070309020205020404" pitchFamily="49" charset="0"/>
                <a:cs typeface="Courier New" panose="02070309020205020404" pitchFamily="49" charset="0"/>
              </a:rPr>
              <a:t>C</a:t>
            </a:r>
            <a:r>
              <a:rPr lang="en-US" sz="2800" b="1" dirty="0">
                <a:solidFill>
                  <a:srgbClr val="7030A0"/>
                </a:solidFill>
                <a:latin typeface="Courier New" panose="02070309020205020404" pitchFamily="49" charset="0"/>
                <a:cs typeface="Courier New" panose="02070309020205020404" pitchFamily="49" charset="0"/>
              </a:rPr>
              <a:t>ACAAC</a:t>
            </a:r>
          </a:p>
          <a:p>
            <a:r>
              <a:rPr lang="en-US" sz="2800" b="1" dirty="0">
                <a:cs typeface="Courier New" panose="02070309020205020404" pitchFamily="49" charset="0"/>
              </a:rPr>
              <a:t>Implied positions:</a:t>
            </a:r>
          </a:p>
          <a:p>
            <a:r>
              <a:rPr lang="en-US" sz="2800" b="1" dirty="0">
                <a:latin typeface="Courier New" panose="02070309020205020404" pitchFamily="49" charset="0"/>
                <a:cs typeface="Courier New" panose="02070309020205020404" pitchFamily="49" charset="0"/>
              </a:rPr>
              <a:t>7</a:t>
            </a:r>
          </a:p>
        </p:txBody>
      </p:sp>
      <p:sp>
        <p:nvSpPr>
          <p:cNvPr id="6" name="TextBox 5">
            <a:extLst>
              <a:ext uri="{FF2B5EF4-FFF2-40B4-BE49-F238E27FC236}">
                <a16:creationId xmlns:a16="http://schemas.microsoft.com/office/drawing/2014/main" id="{BF5A72E8-1D6A-2170-A5C2-1ED2FD98045C}"/>
              </a:ext>
            </a:extLst>
          </p:cNvPr>
          <p:cNvSpPr txBox="1"/>
          <p:nvPr/>
        </p:nvSpPr>
        <p:spPr>
          <a:xfrm>
            <a:off x="8405364" y="3195299"/>
            <a:ext cx="2852063" cy="1384995"/>
          </a:xfrm>
          <a:prstGeom prst="rect">
            <a:avLst/>
          </a:prstGeom>
          <a:noFill/>
        </p:spPr>
        <p:txBody>
          <a:bodyPr wrap="none" rtlCol="0">
            <a:spAutoFit/>
          </a:bodyPr>
          <a:lstStyle/>
          <a:p>
            <a:r>
              <a:rPr lang="en-US" sz="2800" b="1" dirty="0">
                <a:latin typeface="Courier New" panose="02070309020205020404" pitchFamily="49" charset="0"/>
                <a:cs typeface="Courier New" panose="02070309020205020404" pitchFamily="49" charset="0"/>
              </a:rPr>
              <a:t>CA</a:t>
            </a:r>
            <a:r>
              <a:rPr lang="en-US" sz="2800" b="1" dirty="0">
                <a:solidFill>
                  <a:srgbClr val="FF0000"/>
                </a:solidFill>
                <a:latin typeface="Courier New" panose="02070309020205020404" pitchFamily="49" charset="0"/>
                <a:cs typeface="Courier New" panose="02070309020205020404" pitchFamily="49" charset="0"/>
              </a:rPr>
              <a:t>C</a:t>
            </a:r>
            <a:r>
              <a:rPr lang="en-US" sz="2800" b="1" dirty="0">
                <a:solidFill>
                  <a:srgbClr val="00B050"/>
                </a:solidFill>
                <a:latin typeface="Courier New" panose="02070309020205020404" pitchFamily="49" charset="0"/>
                <a:cs typeface="Courier New" panose="02070309020205020404" pitchFamily="49" charset="0"/>
              </a:rPr>
              <a:t>AGACT</a:t>
            </a:r>
          </a:p>
          <a:p>
            <a:r>
              <a:rPr lang="en-US" sz="2800" b="1" dirty="0">
                <a:cs typeface="Courier New" panose="02070309020205020404" pitchFamily="49" charset="0"/>
              </a:rPr>
              <a:t>Implied positions:</a:t>
            </a:r>
          </a:p>
          <a:p>
            <a:r>
              <a:rPr lang="en-US" sz="2800" b="1" dirty="0">
                <a:cs typeface="Courier New" panose="02070309020205020404" pitchFamily="49" charset="0"/>
              </a:rPr>
              <a:t>15</a:t>
            </a:r>
          </a:p>
        </p:txBody>
      </p:sp>
      <p:sp>
        <p:nvSpPr>
          <p:cNvPr id="8" name="TextBox 7">
            <a:extLst>
              <a:ext uri="{FF2B5EF4-FFF2-40B4-BE49-F238E27FC236}">
                <a16:creationId xmlns:a16="http://schemas.microsoft.com/office/drawing/2014/main" id="{CFBDBE79-EE3F-98FA-4C8A-E4513049DB3E}"/>
              </a:ext>
            </a:extLst>
          </p:cNvPr>
          <p:cNvSpPr txBox="1"/>
          <p:nvPr/>
        </p:nvSpPr>
        <p:spPr>
          <a:xfrm>
            <a:off x="1394964" y="1322164"/>
            <a:ext cx="4608954" cy="5632311"/>
          </a:xfrm>
          <a:prstGeom prst="rect">
            <a:avLst/>
          </a:prstGeom>
          <a:noFill/>
        </p:spPr>
        <p:txBody>
          <a:bodyPr wrap="none" rtlCol="0">
            <a:spAutoFit/>
          </a:bodyPr>
          <a:lstStyle/>
          <a:p>
            <a:r>
              <a:rPr lang="en-US" sz="2400" b="1" dirty="0">
                <a:latin typeface="Courier New" panose="02070309020205020404" pitchFamily="49" charset="0"/>
                <a:cs typeface="Courier New" panose="02070309020205020404" pitchFamily="49" charset="0"/>
              </a:rPr>
              <a:t>  AGATAGATAGACAACATAGACT</a:t>
            </a:r>
          </a:p>
          <a:p>
            <a:r>
              <a:rPr lang="en-US" sz="2400" b="1" dirty="0">
                <a:latin typeface="Courier New" panose="02070309020205020404" pitchFamily="49" charset="0"/>
                <a:cs typeface="Courier New" panose="02070309020205020404" pitchFamily="49" charset="0"/>
              </a:rPr>
              <a:t>AGATA (1,5)</a:t>
            </a:r>
          </a:p>
          <a:p>
            <a:r>
              <a:rPr lang="en-US" sz="2400" b="1" dirty="0">
                <a:latin typeface="Courier New" panose="02070309020205020404" pitchFamily="49" charset="0"/>
                <a:cs typeface="Courier New" panose="02070309020205020404" pitchFamily="49" charset="0"/>
              </a:rPr>
              <a:t>GATAG (2)</a:t>
            </a:r>
          </a:p>
          <a:p>
            <a:r>
              <a:rPr lang="en-US" sz="2400" b="1" dirty="0">
                <a:latin typeface="Courier New" panose="02070309020205020404" pitchFamily="49" charset="0"/>
                <a:cs typeface="Courier New" panose="02070309020205020404" pitchFamily="49" charset="0"/>
              </a:rPr>
              <a:t>ATAGA (3,7,16)</a:t>
            </a:r>
          </a:p>
          <a:p>
            <a:r>
              <a:rPr lang="en-US" sz="2400" b="1" dirty="0">
                <a:latin typeface="Courier New" panose="02070309020205020404" pitchFamily="49" charset="0"/>
                <a:cs typeface="Courier New" panose="02070309020205020404" pitchFamily="49" charset="0"/>
              </a:rPr>
              <a:t>TAGAT (4)</a:t>
            </a:r>
          </a:p>
          <a:p>
            <a:r>
              <a:rPr lang="en-US" sz="2400" b="1" dirty="0">
                <a:latin typeface="Courier New" panose="02070309020205020404" pitchFamily="49" charset="0"/>
                <a:cs typeface="Courier New" panose="02070309020205020404" pitchFamily="49" charset="0"/>
              </a:rPr>
              <a:t>GATAG (6)</a:t>
            </a:r>
          </a:p>
          <a:p>
            <a:r>
              <a:rPr lang="en-US" sz="2400" b="1" dirty="0">
                <a:latin typeface="Courier New" panose="02070309020205020404" pitchFamily="49" charset="0"/>
                <a:cs typeface="Courier New" panose="02070309020205020404" pitchFamily="49" charset="0"/>
              </a:rPr>
              <a:t>TAGAC (8,17)</a:t>
            </a:r>
          </a:p>
          <a:p>
            <a:r>
              <a:rPr lang="en-US" sz="2400" b="1" dirty="0">
                <a:latin typeface="Courier New" panose="02070309020205020404" pitchFamily="49" charset="0"/>
                <a:cs typeface="Courier New" panose="02070309020205020404" pitchFamily="49" charset="0"/>
              </a:rPr>
              <a:t>AGACA (9)</a:t>
            </a:r>
          </a:p>
          <a:p>
            <a:r>
              <a:rPr lang="en-US" sz="2400" b="1" dirty="0">
                <a:latin typeface="Courier New" panose="02070309020205020404" pitchFamily="49" charset="0"/>
                <a:cs typeface="Courier New" panose="02070309020205020404" pitchFamily="49" charset="0"/>
              </a:rPr>
              <a:t>GACAA (10)</a:t>
            </a:r>
          </a:p>
          <a:p>
            <a:r>
              <a:rPr lang="en-US" sz="2400" b="1" dirty="0">
                <a:latin typeface="Courier New" panose="02070309020205020404" pitchFamily="49" charset="0"/>
                <a:cs typeface="Courier New" panose="02070309020205020404" pitchFamily="49" charset="0"/>
              </a:rPr>
              <a:t>ACAAC (11)</a:t>
            </a:r>
          </a:p>
          <a:p>
            <a:r>
              <a:rPr lang="en-US" sz="2400" b="1" dirty="0">
                <a:latin typeface="Courier New" panose="02070309020205020404" pitchFamily="49" charset="0"/>
                <a:cs typeface="Courier New" panose="02070309020205020404" pitchFamily="49" charset="0"/>
              </a:rPr>
              <a:t>CAACA (12)</a:t>
            </a:r>
          </a:p>
          <a:p>
            <a:r>
              <a:rPr lang="en-US" sz="2400" b="1" dirty="0">
                <a:latin typeface="Courier New" panose="02070309020205020404" pitchFamily="49" charset="0"/>
                <a:cs typeface="Courier New" panose="02070309020205020404" pitchFamily="49" charset="0"/>
              </a:rPr>
              <a:t>AACAT (13)</a:t>
            </a:r>
          </a:p>
          <a:p>
            <a:r>
              <a:rPr lang="en-US" sz="2400" b="1" dirty="0">
                <a:latin typeface="Courier New" panose="02070309020205020404" pitchFamily="49" charset="0"/>
                <a:cs typeface="Courier New" panose="02070309020205020404" pitchFamily="49" charset="0"/>
              </a:rPr>
              <a:t>ACATA (14)</a:t>
            </a:r>
          </a:p>
          <a:p>
            <a:r>
              <a:rPr lang="en-US" sz="2400" b="1" dirty="0">
                <a:latin typeface="Courier New" panose="02070309020205020404" pitchFamily="49" charset="0"/>
                <a:cs typeface="Courier New" panose="02070309020205020404" pitchFamily="49" charset="0"/>
              </a:rPr>
              <a:t>CATAG (15)</a:t>
            </a:r>
          </a:p>
          <a:p>
            <a:r>
              <a:rPr lang="en-US" sz="2400" b="1" dirty="0">
                <a:latin typeface="Courier New" panose="02070309020205020404" pitchFamily="49" charset="0"/>
                <a:cs typeface="Courier New" panose="02070309020205020404" pitchFamily="49" charset="0"/>
              </a:rPr>
              <a:t>AGACT (18)</a:t>
            </a:r>
          </a:p>
        </p:txBody>
      </p:sp>
    </p:spTree>
    <p:extLst>
      <p:ext uri="{BB962C8B-B14F-4D97-AF65-F5344CB8AC3E}">
        <p14:creationId xmlns:p14="http://schemas.microsoft.com/office/powerpoint/2010/main" val="363178025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764CC9-A35E-F9BA-55D6-C09648F0A38E}"/>
              </a:ext>
            </a:extLst>
          </p:cNvPr>
          <p:cNvSpPr>
            <a:spLocks noGrp="1"/>
          </p:cNvSpPr>
          <p:nvPr>
            <p:ph type="title"/>
          </p:nvPr>
        </p:nvSpPr>
        <p:spPr/>
        <p:txBody>
          <a:bodyPr>
            <a:normAutofit fontScale="90000"/>
          </a:bodyPr>
          <a:lstStyle/>
          <a:p>
            <a:r>
              <a:rPr lang="en-US" dirty="0"/>
              <a:t>Method of minimizers</a:t>
            </a:r>
          </a:p>
        </p:txBody>
      </p:sp>
      <p:sp>
        <p:nvSpPr>
          <p:cNvPr id="3" name="Content Placeholder 2">
            <a:extLst>
              <a:ext uri="{FF2B5EF4-FFF2-40B4-BE49-F238E27FC236}">
                <a16:creationId xmlns:a16="http://schemas.microsoft.com/office/drawing/2014/main" id="{8EFC8377-CEA9-6B41-CC7E-811083DFA542}"/>
              </a:ext>
            </a:extLst>
          </p:cNvPr>
          <p:cNvSpPr>
            <a:spLocks noGrp="1"/>
          </p:cNvSpPr>
          <p:nvPr>
            <p:ph idx="1"/>
          </p:nvPr>
        </p:nvSpPr>
        <p:spPr>
          <a:xfrm>
            <a:off x="598620" y="1596540"/>
            <a:ext cx="10972800" cy="4971408"/>
          </a:xfrm>
        </p:spPr>
        <p:txBody>
          <a:bodyPr>
            <a:normAutofit fontScale="92500" lnSpcReduction="20000"/>
          </a:bodyPr>
          <a:lstStyle/>
          <a:p>
            <a:r>
              <a:rPr lang="en-US" dirty="0"/>
              <a:t>Using all K-</a:t>
            </a:r>
            <a:r>
              <a:rPr lang="en-US" dirty="0" err="1"/>
              <a:t>mers</a:t>
            </a:r>
            <a:r>
              <a:rPr lang="en-US" dirty="0"/>
              <a:t> is expensive!!!</a:t>
            </a:r>
          </a:p>
          <a:p>
            <a:endParaRPr lang="en-US" dirty="0"/>
          </a:p>
          <a:p>
            <a:r>
              <a:rPr lang="en-US" dirty="0"/>
              <a:t>You can think of reducing the number (use every other one?)</a:t>
            </a:r>
          </a:p>
          <a:p>
            <a:endParaRPr lang="en-US" dirty="0"/>
          </a:p>
          <a:p>
            <a:r>
              <a:rPr lang="en-US" dirty="0"/>
              <a:t>An effective way to use fewer K-mer alignment seeds is method of minimizers</a:t>
            </a:r>
          </a:p>
          <a:p>
            <a:endParaRPr lang="en-US" dirty="0"/>
          </a:p>
          <a:p>
            <a:r>
              <a:rPr lang="en-US" dirty="0"/>
              <a:t>Smaller memory footprint and much faster for large data sets (e.g. computing overlaps between reads, or mapping the reads to a genome)</a:t>
            </a:r>
          </a:p>
          <a:p>
            <a:endParaRPr lang="en-US" dirty="0"/>
          </a:p>
          <a:p>
            <a:r>
              <a:rPr lang="en-US" dirty="0"/>
              <a:t>Does not require computing an index</a:t>
            </a:r>
          </a:p>
          <a:p>
            <a:endParaRPr lang="en-US" dirty="0"/>
          </a:p>
          <a:p>
            <a:r>
              <a:rPr lang="en-US" dirty="0">
                <a:solidFill>
                  <a:srgbClr val="FF0000"/>
                </a:solidFill>
              </a:rPr>
              <a:t>Less sensitive</a:t>
            </a:r>
          </a:p>
          <a:p>
            <a:endParaRPr lang="en-US" dirty="0"/>
          </a:p>
        </p:txBody>
      </p:sp>
      <p:sp>
        <p:nvSpPr>
          <p:cNvPr id="4" name="Slide Number Placeholder 3">
            <a:extLst>
              <a:ext uri="{FF2B5EF4-FFF2-40B4-BE49-F238E27FC236}">
                <a16:creationId xmlns:a16="http://schemas.microsoft.com/office/drawing/2014/main" id="{C6BD571F-31D0-E52B-136D-A22A766B4DC2}"/>
              </a:ext>
            </a:extLst>
          </p:cNvPr>
          <p:cNvSpPr>
            <a:spLocks noGrp="1"/>
          </p:cNvSpPr>
          <p:nvPr>
            <p:ph type="sldNum" sz="quarter" idx="12"/>
          </p:nvPr>
        </p:nvSpPr>
        <p:spPr/>
        <p:txBody>
          <a:bodyPr/>
          <a:lstStyle/>
          <a:p>
            <a:fld id="{B82CCC60-E8CD-4174-8B1A-7DF615B22EEF}" type="slidenum">
              <a:rPr lang="en-US" smtClean="0"/>
              <a:pPr/>
              <a:t>36</a:t>
            </a:fld>
            <a:endParaRPr lang="en-US"/>
          </a:p>
        </p:txBody>
      </p:sp>
    </p:spTree>
    <p:extLst>
      <p:ext uri="{BB962C8B-B14F-4D97-AF65-F5344CB8AC3E}">
        <p14:creationId xmlns:p14="http://schemas.microsoft.com/office/powerpoint/2010/main" val="37928637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80A61B-6CC6-5D7C-F8B9-9A9038E0E79D}"/>
              </a:ext>
            </a:extLst>
          </p:cNvPr>
          <p:cNvSpPr>
            <a:spLocks noGrp="1"/>
          </p:cNvSpPr>
          <p:nvPr>
            <p:ph type="title"/>
          </p:nvPr>
        </p:nvSpPr>
        <p:spPr/>
        <p:txBody>
          <a:bodyPr>
            <a:normAutofit fontScale="90000"/>
          </a:bodyPr>
          <a:lstStyle/>
          <a:p>
            <a:r>
              <a:rPr lang="en-US" dirty="0"/>
              <a:t>Numerical value of a K-mer</a:t>
            </a:r>
          </a:p>
        </p:txBody>
      </p:sp>
      <p:sp>
        <p:nvSpPr>
          <p:cNvPr id="3" name="Content Placeholder 2">
            <a:extLst>
              <a:ext uri="{FF2B5EF4-FFF2-40B4-BE49-F238E27FC236}">
                <a16:creationId xmlns:a16="http://schemas.microsoft.com/office/drawing/2014/main" id="{96D0D50A-9942-12DC-F2BC-CF535D24DEFF}"/>
              </a:ext>
            </a:extLst>
          </p:cNvPr>
          <p:cNvSpPr>
            <a:spLocks noGrp="1"/>
          </p:cNvSpPr>
          <p:nvPr>
            <p:ph idx="1"/>
          </p:nvPr>
        </p:nvSpPr>
        <p:spPr>
          <a:xfrm>
            <a:off x="609600" y="2054655"/>
            <a:ext cx="5467350" cy="4393770"/>
          </a:xfrm>
        </p:spPr>
        <p:txBody>
          <a:bodyPr>
            <a:normAutofit fontScale="92500" lnSpcReduction="10000"/>
          </a:bodyPr>
          <a:lstStyle/>
          <a:p>
            <a:r>
              <a:rPr lang="en-US" dirty="0"/>
              <a:t>A K-mer uniquely corresponds to an integer:</a:t>
            </a:r>
          </a:p>
          <a:p>
            <a:pPr lvl="1"/>
            <a:r>
              <a:rPr lang="en-US" dirty="0"/>
              <a:t>A=0</a:t>
            </a:r>
          </a:p>
          <a:p>
            <a:pPr lvl="1"/>
            <a:r>
              <a:rPr lang="en-US" dirty="0"/>
              <a:t>C=1</a:t>
            </a:r>
          </a:p>
          <a:p>
            <a:pPr lvl="1"/>
            <a:r>
              <a:rPr lang="en-US" dirty="0"/>
              <a:t>G=2</a:t>
            </a:r>
          </a:p>
          <a:p>
            <a:pPr lvl="1"/>
            <a:r>
              <a:rPr lang="en-US" dirty="0"/>
              <a:t>T=3</a:t>
            </a:r>
          </a:p>
          <a:p>
            <a:r>
              <a:rPr lang="en-US" dirty="0"/>
              <a:t>Use base 4: AGT=0+2*4+3*16</a:t>
            </a:r>
          </a:p>
          <a:p>
            <a:r>
              <a:rPr lang="en-US" dirty="0"/>
              <a:t>Equivalent to Minimum Perfect Hash</a:t>
            </a:r>
            <a:br>
              <a:rPr lang="en-US" dirty="0"/>
            </a:br>
            <a:r>
              <a:rPr lang="en-US" dirty="0"/>
              <a:t>K-</a:t>
            </a:r>
            <a:r>
              <a:rPr lang="en-US" dirty="0" err="1"/>
              <a:t>mers</a:t>
            </a:r>
            <a:r>
              <a:rPr lang="en-US" dirty="0"/>
              <a:t> </a:t>
            </a:r>
            <a:r>
              <a:rPr lang="en-US" dirty="0">
                <a:sym typeface="Wingdings" panose="05000000000000000000" pitchFamily="2" charset="2"/>
              </a:rPr>
              <a:t> integers</a:t>
            </a:r>
            <a:br>
              <a:rPr lang="en-US" dirty="0"/>
            </a:br>
            <a:endParaRPr lang="en-US" dirty="0"/>
          </a:p>
        </p:txBody>
      </p:sp>
      <p:sp>
        <p:nvSpPr>
          <p:cNvPr id="4" name="Slide Number Placeholder 3">
            <a:extLst>
              <a:ext uri="{FF2B5EF4-FFF2-40B4-BE49-F238E27FC236}">
                <a16:creationId xmlns:a16="http://schemas.microsoft.com/office/drawing/2014/main" id="{69D597F5-9D03-44CD-2E7A-A593BF85EFFA}"/>
              </a:ext>
            </a:extLst>
          </p:cNvPr>
          <p:cNvSpPr>
            <a:spLocks noGrp="1"/>
          </p:cNvSpPr>
          <p:nvPr>
            <p:ph type="sldNum" sz="quarter" idx="12"/>
          </p:nvPr>
        </p:nvSpPr>
        <p:spPr/>
        <p:txBody>
          <a:bodyPr/>
          <a:lstStyle/>
          <a:p>
            <a:fld id="{B82CCC60-E8CD-4174-8B1A-7DF615B22EEF}" type="slidenum">
              <a:rPr lang="en-US" smtClean="0"/>
              <a:pPr/>
              <a:t>37</a:t>
            </a:fld>
            <a:endParaRPr lang="en-US"/>
          </a:p>
        </p:txBody>
      </p:sp>
      <p:sp>
        <p:nvSpPr>
          <p:cNvPr id="5" name="TextBox 4">
            <a:extLst>
              <a:ext uri="{FF2B5EF4-FFF2-40B4-BE49-F238E27FC236}">
                <a16:creationId xmlns:a16="http://schemas.microsoft.com/office/drawing/2014/main" id="{D4656A6D-21D1-3154-8232-A2C844FF4C7B}"/>
              </a:ext>
            </a:extLst>
          </p:cNvPr>
          <p:cNvSpPr txBox="1"/>
          <p:nvPr/>
        </p:nvSpPr>
        <p:spPr>
          <a:xfrm>
            <a:off x="6229350" y="2316227"/>
            <a:ext cx="5467351" cy="3416320"/>
          </a:xfrm>
          <a:prstGeom prst="rect">
            <a:avLst/>
          </a:prstGeom>
          <a:noFill/>
        </p:spPr>
        <p:txBody>
          <a:bodyPr wrap="square" rtlCol="0">
            <a:spAutoFit/>
          </a:bodyPr>
          <a:lstStyle/>
          <a:p>
            <a:r>
              <a:rPr lang="en-US" dirty="0"/>
              <a:t>def kmer2int(</a:t>
            </a:r>
            <a:r>
              <a:rPr lang="en-US" dirty="0" err="1"/>
              <a:t>kmer</a:t>
            </a:r>
            <a:r>
              <a:rPr lang="en-US" dirty="0"/>
              <a:t>):</a:t>
            </a:r>
          </a:p>
          <a:p>
            <a:r>
              <a:rPr lang="en-US" dirty="0"/>
              <a:t>  </a:t>
            </a:r>
            <a:r>
              <a:rPr lang="en-US" dirty="0" err="1"/>
              <a:t>nt_map</a:t>
            </a:r>
            <a:r>
              <a:rPr lang="en-US" dirty="0"/>
              <a:t> = {'A': 0, 'C': 1, 'G': 2, 'T': 3}</a:t>
            </a:r>
          </a:p>
          <a:p>
            <a:r>
              <a:rPr lang="en-US" dirty="0"/>
              <a:t>  </a:t>
            </a:r>
            <a:r>
              <a:rPr lang="en-US" dirty="0" err="1"/>
              <a:t>val</a:t>
            </a:r>
            <a:r>
              <a:rPr lang="en-US" dirty="0"/>
              <a:t> = 0</a:t>
            </a:r>
          </a:p>
          <a:p>
            <a:r>
              <a:rPr lang="en-US" dirty="0"/>
              <a:t>  pow=1</a:t>
            </a:r>
          </a:p>
          <a:p>
            <a:r>
              <a:rPr lang="en-US" dirty="0"/>
              <a:t>  for </a:t>
            </a:r>
            <a:r>
              <a:rPr lang="en-US" dirty="0" err="1"/>
              <a:t>i</a:t>
            </a:r>
            <a:r>
              <a:rPr lang="en-US" dirty="0"/>
              <a:t>, </a:t>
            </a:r>
            <a:r>
              <a:rPr lang="en-US" dirty="0" err="1"/>
              <a:t>nt</a:t>
            </a:r>
            <a:r>
              <a:rPr lang="en-US" dirty="0"/>
              <a:t> in enumerate(</a:t>
            </a:r>
            <a:r>
              <a:rPr lang="en-US" dirty="0" err="1"/>
              <a:t>kmer</a:t>
            </a:r>
            <a:r>
              <a:rPr lang="en-US" dirty="0"/>
              <a:t>):</a:t>
            </a:r>
          </a:p>
          <a:p>
            <a:r>
              <a:rPr lang="en-US" dirty="0"/>
              <a:t>    </a:t>
            </a:r>
            <a:r>
              <a:rPr lang="en-US" dirty="0" err="1"/>
              <a:t>val</a:t>
            </a:r>
            <a:r>
              <a:rPr lang="en-US" dirty="0"/>
              <a:t> += </a:t>
            </a:r>
            <a:r>
              <a:rPr lang="en-US" dirty="0" err="1"/>
              <a:t>nt_map</a:t>
            </a:r>
            <a:r>
              <a:rPr lang="en-US" dirty="0"/>
              <a:t>[</a:t>
            </a:r>
            <a:r>
              <a:rPr lang="en-US" dirty="0" err="1"/>
              <a:t>nt</a:t>
            </a:r>
            <a:r>
              <a:rPr lang="en-US" dirty="0"/>
              <a:t>] * pow</a:t>
            </a:r>
          </a:p>
          <a:p>
            <a:r>
              <a:rPr lang="en-US" dirty="0"/>
              <a:t>    pow=pow*4</a:t>
            </a:r>
          </a:p>
          <a:p>
            <a:r>
              <a:rPr lang="en-US" dirty="0"/>
              <a:t>  return </a:t>
            </a:r>
            <a:r>
              <a:rPr lang="en-US" dirty="0" err="1"/>
              <a:t>val</a:t>
            </a:r>
            <a:endParaRPr lang="en-US" dirty="0"/>
          </a:p>
          <a:p>
            <a:endParaRPr lang="en-US" dirty="0"/>
          </a:p>
          <a:p>
            <a:r>
              <a:rPr lang="en-US" dirty="0"/>
              <a:t># Example usage</a:t>
            </a:r>
          </a:p>
          <a:p>
            <a:r>
              <a:rPr lang="en-US" dirty="0" err="1"/>
              <a:t>kmer</a:t>
            </a:r>
            <a:r>
              <a:rPr lang="en-US" dirty="0"/>
              <a:t> = "ACGT"</a:t>
            </a:r>
          </a:p>
          <a:p>
            <a:r>
              <a:rPr lang="en-US" dirty="0"/>
              <a:t>print(</a:t>
            </a:r>
            <a:r>
              <a:rPr lang="en-US" dirty="0" err="1"/>
              <a:t>f"The</a:t>
            </a:r>
            <a:r>
              <a:rPr lang="en-US" dirty="0"/>
              <a:t> numerical of '{</a:t>
            </a:r>
            <a:r>
              <a:rPr lang="en-US" dirty="0" err="1"/>
              <a:t>kmer</a:t>
            </a:r>
            <a:r>
              <a:rPr lang="en-US" dirty="0"/>
              <a:t>}' is: {kmer2int(</a:t>
            </a:r>
            <a:r>
              <a:rPr lang="en-US" dirty="0" err="1"/>
              <a:t>kmer</a:t>
            </a:r>
            <a:r>
              <a:rPr lang="en-US" dirty="0"/>
              <a:t>)}")</a:t>
            </a:r>
          </a:p>
        </p:txBody>
      </p:sp>
    </p:spTree>
    <p:extLst>
      <p:ext uri="{BB962C8B-B14F-4D97-AF65-F5344CB8AC3E}">
        <p14:creationId xmlns:p14="http://schemas.microsoft.com/office/powerpoint/2010/main" val="12696270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3C23F-BD3B-36EF-6F05-0C07FC351C6C}"/>
              </a:ext>
            </a:extLst>
          </p:cNvPr>
          <p:cNvSpPr>
            <a:spLocks noGrp="1"/>
          </p:cNvSpPr>
          <p:nvPr>
            <p:ph type="title"/>
          </p:nvPr>
        </p:nvSpPr>
        <p:spPr/>
        <p:txBody>
          <a:bodyPr>
            <a:normAutofit fontScale="90000"/>
          </a:bodyPr>
          <a:lstStyle/>
          <a:p>
            <a:r>
              <a:rPr lang="en-US" dirty="0"/>
              <a:t>Minimizers</a:t>
            </a:r>
          </a:p>
        </p:txBody>
      </p:sp>
      <p:sp>
        <p:nvSpPr>
          <p:cNvPr id="3" name="Content Placeholder 2">
            <a:extLst>
              <a:ext uri="{FF2B5EF4-FFF2-40B4-BE49-F238E27FC236}">
                <a16:creationId xmlns:a16="http://schemas.microsoft.com/office/drawing/2014/main" id="{35CB269E-0902-4C5B-58BC-AF7402D1EE34}"/>
              </a:ext>
            </a:extLst>
          </p:cNvPr>
          <p:cNvSpPr>
            <a:spLocks noGrp="1"/>
          </p:cNvSpPr>
          <p:nvPr>
            <p:ph idx="1"/>
          </p:nvPr>
        </p:nvSpPr>
        <p:spPr>
          <a:xfrm>
            <a:off x="598620" y="1718487"/>
            <a:ext cx="10972800" cy="4459203"/>
          </a:xfrm>
        </p:spPr>
        <p:txBody>
          <a:bodyPr>
            <a:normAutofit/>
          </a:bodyPr>
          <a:lstStyle/>
          <a:p>
            <a:r>
              <a:rPr lang="en-US" dirty="0"/>
              <a:t>Minimizers are a subset of  K-</a:t>
            </a:r>
            <a:r>
              <a:rPr lang="en-US" dirty="0" err="1"/>
              <a:t>mers</a:t>
            </a:r>
            <a:r>
              <a:rPr lang="en-US" dirty="0"/>
              <a:t> from a string, with the guarantee that similar set of K-</a:t>
            </a:r>
            <a:r>
              <a:rPr lang="en-US" dirty="0" err="1"/>
              <a:t>mers</a:t>
            </a:r>
            <a:r>
              <a:rPr lang="en-US" dirty="0"/>
              <a:t> will be chosen on similar strings. </a:t>
            </a:r>
          </a:p>
          <a:p>
            <a:r>
              <a:rPr lang="en-US" dirty="0"/>
              <a:t>Parameterized by:</a:t>
            </a:r>
          </a:p>
          <a:p>
            <a:pPr lvl="1"/>
            <a:r>
              <a:rPr lang="en-US" dirty="0"/>
              <a:t>K-mer length </a:t>
            </a:r>
            <a:r>
              <a:rPr lang="en-US" i="1" dirty="0"/>
              <a:t>k</a:t>
            </a:r>
            <a:r>
              <a:rPr lang="en-US" dirty="0"/>
              <a:t> </a:t>
            </a:r>
          </a:p>
          <a:p>
            <a:pPr lvl="1"/>
            <a:r>
              <a:rPr lang="en-US" dirty="0"/>
              <a:t>window length </a:t>
            </a:r>
            <a:r>
              <a:rPr lang="en-US" i="1" dirty="0"/>
              <a:t>w</a:t>
            </a:r>
            <a:r>
              <a:rPr lang="en-US" dirty="0"/>
              <a:t> </a:t>
            </a:r>
          </a:p>
          <a:p>
            <a:pPr lvl="1"/>
            <a:r>
              <a:rPr lang="en-US" dirty="0"/>
              <a:t>ordering of </a:t>
            </a:r>
            <a:r>
              <a:rPr lang="en-US" i="1" dirty="0"/>
              <a:t>k</a:t>
            </a:r>
            <a:r>
              <a:rPr lang="en-US" dirty="0"/>
              <a:t>-</a:t>
            </a:r>
            <a:r>
              <a:rPr lang="en-US" dirty="0" err="1"/>
              <a:t>mers</a:t>
            </a:r>
            <a:r>
              <a:rPr lang="en-US" dirty="0"/>
              <a:t> (by numerical value or lexicographical)</a:t>
            </a:r>
          </a:p>
          <a:p>
            <a:r>
              <a:rPr lang="en-US" dirty="0"/>
              <a:t>Can minimize numerical value or lexicographic value</a:t>
            </a:r>
          </a:p>
          <a:p>
            <a:r>
              <a:rPr lang="en-US" dirty="0"/>
              <a:t>Make sure to use canonical k-</a:t>
            </a:r>
            <a:r>
              <a:rPr lang="en-US" dirty="0" err="1"/>
              <a:t>mers</a:t>
            </a:r>
            <a:r>
              <a:rPr lang="en-US" dirty="0"/>
              <a:t> or take minimum value of k-mer and its reverse complement!!!</a:t>
            </a:r>
          </a:p>
        </p:txBody>
      </p:sp>
      <p:sp>
        <p:nvSpPr>
          <p:cNvPr id="4" name="Slide Number Placeholder 3">
            <a:extLst>
              <a:ext uri="{FF2B5EF4-FFF2-40B4-BE49-F238E27FC236}">
                <a16:creationId xmlns:a16="http://schemas.microsoft.com/office/drawing/2014/main" id="{6A96695D-92C3-E33C-6ACA-0D23CE619906}"/>
              </a:ext>
            </a:extLst>
          </p:cNvPr>
          <p:cNvSpPr>
            <a:spLocks noGrp="1"/>
          </p:cNvSpPr>
          <p:nvPr>
            <p:ph type="sldNum" sz="quarter" idx="12"/>
          </p:nvPr>
        </p:nvSpPr>
        <p:spPr/>
        <p:txBody>
          <a:bodyPr/>
          <a:lstStyle/>
          <a:p>
            <a:fld id="{B82CCC60-E8CD-4174-8B1A-7DF615B22EEF}" type="slidenum">
              <a:rPr lang="en-US" smtClean="0"/>
              <a:pPr/>
              <a:t>38</a:t>
            </a:fld>
            <a:endParaRPr lang="en-US"/>
          </a:p>
        </p:txBody>
      </p:sp>
    </p:spTree>
    <p:extLst>
      <p:ext uri="{BB962C8B-B14F-4D97-AF65-F5344CB8AC3E}">
        <p14:creationId xmlns:p14="http://schemas.microsoft.com/office/powerpoint/2010/main" val="1031262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3450C2-AC8D-D199-12D8-012C96C7C77C}"/>
              </a:ext>
            </a:extLst>
          </p:cNvPr>
          <p:cNvSpPr>
            <a:spLocks noGrp="1"/>
          </p:cNvSpPr>
          <p:nvPr>
            <p:ph type="title"/>
          </p:nvPr>
        </p:nvSpPr>
        <p:spPr/>
        <p:txBody>
          <a:bodyPr>
            <a:normAutofit fontScale="90000"/>
          </a:bodyPr>
          <a:lstStyle/>
          <a:p>
            <a:r>
              <a:rPr lang="en-US" dirty="0"/>
              <a:t>Example of minimizers</a:t>
            </a:r>
          </a:p>
        </p:txBody>
      </p:sp>
      <p:sp>
        <p:nvSpPr>
          <p:cNvPr id="3" name="Content Placeholder 2">
            <a:extLst>
              <a:ext uri="{FF2B5EF4-FFF2-40B4-BE49-F238E27FC236}">
                <a16:creationId xmlns:a16="http://schemas.microsoft.com/office/drawing/2014/main" id="{C0DFBE18-01DB-F9CC-3786-D04A6C242299}"/>
              </a:ext>
            </a:extLst>
          </p:cNvPr>
          <p:cNvSpPr>
            <a:spLocks noGrp="1"/>
          </p:cNvSpPr>
          <p:nvPr>
            <p:ph idx="1"/>
          </p:nvPr>
        </p:nvSpPr>
        <p:spPr>
          <a:xfrm>
            <a:off x="598620" y="1596540"/>
            <a:ext cx="10972800" cy="4870935"/>
          </a:xfrm>
        </p:spPr>
        <p:txBody>
          <a:bodyPr>
            <a:normAutofit/>
          </a:bodyPr>
          <a:lstStyle/>
          <a:p>
            <a:r>
              <a:rPr lang="en-US" dirty="0"/>
              <a:t>Consider genomic string:</a:t>
            </a:r>
            <a:br>
              <a:rPr lang="en-US" dirty="0"/>
            </a:br>
            <a:r>
              <a:rPr lang="en-US" b="1" dirty="0">
                <a:solidFill>
                  <a:schemeClr val="tx1"/>
                </a:solidFill>
                <a:latin typeface="Courier New" panose="02070309020205020404" pitchFamily="49" charset="0"/>
                <a:cs typeface="Courier New" panose="02070309020205020404" pitchFamily="49" charset="0"/>
              </a:rPr>
              <a:t>GCCCATGACTCGCATGCTGACATGCTGCTAGCT</a:t>
            </a:r>
          </a:p>
          <a:p>
            <a:r>
              <a:rPr lang="en-US" dirty="0">
                <a:solidFill>
                  <a:schemeClr val="tx1"/>
                </a:solidFill>
                <a:cs typeface="Courier New" panose="02070309020205020404" pitchFamily="49" charset="0"/>
              </a:rPr>
              <a:t>Let </a:t>
            </a:r>
            <a:r>
              <a:rPr lang="en-US" i="1" dirty="0">
                <a:solidFill>
                  <a:schemeClr val="tx1"/>
                </a:solidFill>
                <a:cs typeface="Courier New" panose="02070309020205020404" pitchFamily="49" charset="0"/>
              </a:rPr>
              <a:t>k=10</a:t>
            </a:r>
            <a:r>
              <a:rPr lang="en-US" dirty="0">
                <a:solidFill>
                  <a:schemeClr val="tx1"/>
                </a:solidFill>
                <a:cs typeface="Courier New" panose="02070309020205020404" pitchFamily="49" charset="0"/>
              </a:rPr>
              <a:t>, </a:t>
            </a:r>
            <a:r>
              <a:rPr lang="en-US" i="1" dirty="0">
                <a:solidFill>
                  <a:schemeClr val="tx1"/>
                </a:solidFill>
                <a:cs typeface="Courier New" panose="02070309020205020404" pitchFamily="49" charset="0"/>
              </a:rPr>
              <a:t>w=5</a:t>
            </a:r>
          </a:p>
          <a:p>
            <a:r>
              <a:rPr lang="en-US" dirty="0">
                <a:solidFill>
                  <a:schemeClr val="tx1"/>
                </a:solidFill>
                <a:cs typeface="Courier New" panose="02070309020205020404" pitchFamily="49" charset="0"/>
              </a:rPr>
              <a:t>Minimize </a:t>
            </a:r>
            <a:r>
              <a:rPr lang="en-US" u="sng" dirty="0">
                <a:solidFill>
                  <a:schemeClr val="tx1"/>
                </a:solidFill>
                <a:cs typeface="Courier New" panose="02070309020205020404" pitchFamily="49" charset="0"/>
              </a:rPr>
              <a:t>numerical</a:t>
            </a:r>
            <a:r>
              <a:rPr lang="en-US" dirty="0">
                <a:solidFill>
                  <a:schemeClr val="tx1"/>
                </a:solidFill>
                <a:cs typeface="Courier New" panose="02070309020205020404" pitchFamily="49" charset="0"/>
              </a:rPr>
              <a:t> values</a:t>
            </a:r>
          </a:p>
          <a:p>
            <a:r>
              <a:rPr lang="en-US" dirty="0">
                <a:solidFill>
                  <a:schemeClr val="tx1"/>
                </a:solidFill>
                <a:cs typeface="Courier New" panose="02070309020205020404" pitchFamily="49" charset="0"/>
              </a:rPr>
              <a:t>The first 5 K-</a:t>
            </a:r>
            <a:r>
              <a:rPr lang="en-US" dirty="0" err="1">
                <a:solidFill>
                  <a:schemeClr val="tx1"/>
                </a:solidFill>
                <a:cs typeface="Courier New" panose="02070309020205020404" pitchFamily="49" charset="0"/>
              </a:rPr>
              <a:t>mers</a:t>
            </a:r>
            <a:r>
              <a:rPr lang="en-US" i="1" dirty="0">
                <a:solidFill>
                  <a:schemeClr val="tx1"/>
                </a:solidFill>
                <a:cs typeface="Courier New" panose="02070309020205020404" pitchFamily="49" charset="0"/>
              </a:rPr>
              <a:t>:</a:t>
            </a:r>
            <a:br>
              <a:rPr lang="en-US" i="1" dirty="0">
                <a:solidFill>
                  <a:schemeClr val="tx1"/>
                </a:solidFill>
                <a:cs typeface="Courier New" panose="02070309020205020404" pitchFamily="49" charset="0"/>
              </a:rPr>
            </a:br>
            <a:r>
              <a:rPr lang="en-US" b="1" dirty="0">
                <a:solidFill>
                  <a:schemeClr val="tx1"/>
                </a:solidFill>
                <a:latin typeface="Courier New" panose="02070309020205020404" pitchFamily="49" charset="0"/>
                <a:cs typeface="Courier New" panose="02070309020205020404" pitchFamily="49" charset="0"/>
              </a:rPr>
              <a:t>GCCCATGACT = 863318</a:t>
            </a:r>
            <a:br>
              <a:rPr lang="en-US" b="1" i="1" dirty="0">
                <a:solidFill>
                  <a:schemeClr val="tx1"/>
                </a:solidFill>
                <a:latin typeface="Courier New" panose="02070309020205020404" pitchFamily="49" charset="0"/>
                <a:cs typeface="Courier New" panose="02070309020205020404" pitchFamily="49" charset="0"/>
              </a:rPr>
            </a:br>
            <a:r>
              <a:rPr lang="en-US" b="1" i="1" dirty="0">
                <a:solidFill>
                  <a:schemeClr val="tx1"/>
                </a:solidFill>
                <a:latin typeface="Courier New" panose="02070309020205020404" pitchFamily="49" charset="0"/>
                <a:cs typeface="Courier New" panose="02070309020205020404" pitchFamily="49" charset="0"/>
              </a:rPr>
              <a:t> </a:t>
            </a:r>
            <a:r>
              <a:rPr lang="en-US" b="1" dirty="0">
                <a:solidFill>
                  <a:schemeClr val="tx1"/>
                </a:solidFill>
                <a:latin typeface="Courier New" panose="02070309020205020404" pitchFamily="49" charset="0"/>
                <a:cs typeface="Courier New" panose="02070309020205020404" pitchFamily="49" charset="0"/>
              </a:rPr>
              <a:t>CCCATGACTC = 477973</a:t>
            </a:r>
            <a:br>
              <a:rPr lang="en-US" b="1" dirty="0">
                <a:solidFill>
                  <a:schemeClr val="tx1"/>
                </a:solidFill>
                <a:latin typeface="Courier New" panose="02070309020205020404" pitchFamily="49" charset="0"/>
                <a:cs typeface="Courier New" panose="02070309020205020404" pitchFamily="49" charset="0"/>
              </a:rPr>
            </a:br>
            <a:r>
              <a:rPr lang="en-US" b="1" dirty="0">
                <a:solidFill>
                  <a:schemeClr val="tx1"/>
                </a:solidFill>
                <a:latin typeface="Courier New" panose="02070309020205020404" pitchFamily="49" charset="0"/>
                <a:cs typeface="Courier New" panose="02070309020205020404" pitchFamily="49" charset="0"/>
              </a:rPr>
              <a:t>  CCATGACTCG = 643781</a:t>
            </a:r>
            <a:br>
              <a:rPr lang="en-US" b="1" dirty="0">
                <a:solidFill>
                  <a:schemeClr val="tx1"/>
                </a:solidFill>
                <a:latin typeface="Courier New" panose="02070309020205020404" pitchFamily="49" charset="0"/>
                <a:cs typeface="Courier New" panose="02070309020205020404" pitchFamily="49" charset="0"/>
              </a:rPr>
            </a:br>
            <a:r>
              <a:rPr lang="en-US" b="1" dirty="0">
                <a:solidFill>
                  <a:schemeClr val="tx1"/>
                </a:solidFill>
                <a:latin typeface="Courier New" panose="02070309020205020404" pitchFamily="49" charset="0"/>
                <a:cs typeface="Courier New" panose="02070309020205020404" pitchFamily="49" charset="0"/>
              </a:rPr>
              <a:t>   CATGACTCGCA = 423089</a:t>
            </a:r>
            <a:br>
              <a:rPr lang="en-US" b="1" dirty="0">
                <a:solidFill>
                  <a:schemeClr val="tx1"/>
                </a:solidFill>
                <a:latin typeface="Courier New" panose="02070309020205020404" pitchFamily="49" charset="0"/>
                <a:cs typeface="Courier New" panose="02070309020205020404" pitchFamily="49" charset="0"/>
              </a:rPr>
            </a:br>
            <a:r>
              <a:rPr lang="en-US" b="1" dirty="0">
                <a:solidFill>
                  <a:schemeClr val="tx1"/>
                </a:solidFill>
                <a:latin typeface="Courier New" panose="02070309020205020404" pitchFamily="49" charset="0"/>
                <a:cs typeface="Courier New" panose="02070309020205020404" pitchFamily="49" charset="0"/>
              </a:rPr>
              <a:t>    ATGACTCGCAT = 3251500</a:t>
            </a:r>
          </a:p>
        </p:txBody>
      </p:sp>
      <p:sp>
        <p:nvSpPr>
          <p:cNvPr id="4" name="Slide Number Placeholder 3">
            <a:extLst>
              <a:ext uri="{FF2B5EF4-FFF2-40B4-BE49-F238E27FC236}">
                <a16:creationId xmlns:a16="http://schemas.microsoft.com/office/drawing/2014/main" id="{B36EE644-6A9D-C198-0D56-02E44EB64DFF}"/>
              </a:ext>
            </a:extLst>
          </p:cNvPr>
          <p:cNvSpPr>
            <a:spLocks noGrp="1"/>
          </p:cNvSpPr>
          <p:nvPr>
            <p:ph type="sldNum" sz="quarter" idx="12"/>
          </p:nvPr>
        </p:nvSpPr>
        <p:spPr/>
        <p:txBody>
          <a:bodyPr/>
          <a:lstStyle/>
          <a:p>
            <a:fld id="{B82CCC60-E8CD-4174-8B1A-7DF615B22EEF}" type="slidenum">
              <a:rPr lang="en-US" smtClean="0"/>
              <a:pPr/>
              <a:t>39</a:t>
            </a:fld>
            <a:endParaRPr lang="en-US"/>
          </a:p>
        </p:txBody>
      </p:sp>
    </p:spTree>
    <p:extLst>
      <p:ext uri="{BB962C8B-B14F-4D97-AF65-F5344CB8AC3E}">
        <p14:creationId xmlns:p14="http://schemas.microsoft.com/office/powerpoint/2010/main" val="187265000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49C3A-095E-3930-0850-8520AFD893C6}"/>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8F030898-220E-9C95-B171-44B84D69CD96}"/>
              </a:ext>
            </a:extLst>
          </p:cNvPr>
          <p:cNvPicPr>
            <a:picLocks noChangeAspect="1"/>
          </p:cNvPicPr>
          <p:nvPr/>
        </p:nvPicPr>
        <p:blipFill>
          <a:blip r:embed="rId2"/>
          <a:stretch>
            <a:fillRect/>
          </a:stretch>
        </p:blipFill>
        <p:spPr>
          <a:xfrm>
            <a:off x="2964820" y="2083749"/>
            <a:ext cx="4199773" cy="4609507"/>
          </a:xfrm>
          <a:prstGeom prst="rect">
            <a:avLst/>
          </a:prstGeom>
        </p:spPr>
      </p:pic>
      <p:sp>
        <p:nvSpPr>
          <p:cNvPr id="2" name="Title 1">
            <a:extLst>
              <a:ext uri="{FF2B5EF4-FFF2-40B4-BE49-F238E27FC236}">
                <a16:creationId xmlns:a16="http://schemas.microsoft.com/office/drawing/2014/main" id="{38D2F37F-86EE-B089-66FC-A84B0E3263E2}"/>
              </a:ext>
            </a:extLst>
          </p:cNvPr>
          <p:cNvSpPr>
            <a:spLocks noGrp="1"/>
          </p:cNvSpPr>
          <p:nvPr>
            <p:ph type="title"/>
          </p:nvPr>
        </p:nvSpPr>
        <p:spPr/>
        <p:txBody>
          <a:bodyPr>
            <a:normAutofit fontScale="90000"/>
          </a:bodyPr>
          <a:lstStyle/>
          <a:p>
            <a:r>
              <a:rPr lang="en-US" dirty="0"/>
              <a:t>Example of minimizers</a:t>
            </a:r>
          </a:p>
        </p:txBody>
      </p:sp>
      <p:sp>
        <p:nvSpPr>
          <p:cNvPr id="3" name="Content Placeholder 2">
            <a:extLst>
              <a:ext uri="{FF2B5EF4-FFF2-40B4-BE49-F238E27FC236}">
                <a16:creationId xmlns:a16="http://schemas.microsoft.com/office/drawing/2014/main" id="{46AA6BD9-A30D-A7B3-46A4-9EDB8102CB58}"/>
              </a:ext>
            </a:extLst>
          </p:cNvPr>
          <p:cNvSpPr>
            <a:spLocks noGrp="1"/>
          </p:cNvSpPr>
          <p:nvPr>
            <p:ph idx="1"/>
          </p:nvPr>
        </p:nvSpPr>
        <p:spPr>
          <a:xfrm>
            <a:off x="66675" y="1596540"/>
            <a:ext cx="11220450" cy="4994760"/>
          </a:xfrm>
        </p:spPr>
        <p:txBody>
          <a:bodyPr>
            <a:normAutofit/>
          </a:bodyPr>
          <a:lstStyle/>
          <a:p>
            <a:r>
              <a:rPr lang="en-US" dirty="0"/>
              <a:t>Consider genomic string: </a:t>
            </a:r>
            <a:r>
              <a:rPr lang="en-US" b="1" dirty="0">
                <a:solidFill>
                  <a:schemeClr val="tx1"/>
                </a:solidFill>
                <a:latin typeface="Courier New" panose="02070309020205020404" pitchFamily="49" charset="0"/>
                <a:cs typeface="Courier New" panose="02070309020205020404" pitchFamily="49" charset="0"/>
              </a:rPr>
              <a:t>GCCCATGACTCGCATGCTGACATGCTGCTAGCT</a:t>
            </a:r>
          </a:p>
          <a:p>
            <a:r>
              <a:rPr lang="en-US" dirty="0">
                <a:solidFill>
                  <a:schemeClr val="tx1"/>
                </a:solidFill>
                <a:cs typeface="Courier New" panose="02070309020205020404" pitchFamily="49" charset="0"/>
              </a:rPr>
              <a:t>Let </a:t>
            </a:r>
            <a:r>
              <a:rPr lang="en-US" i="1" dirty="0">
                <a:solidFill>
                  <a:schemeClr val="tx1"/>
                </a:solidFill>
                <a:cs typeface="Courier New" panose="02070309020205020404" pitchFamily="49" charset="0"/>
              </a:rPr>
              <a:t>k=10</a:t>
            </a:r>
            <a:r>
              <a:rPr lang="en-US" dirty="0">
                <a:solidFill>
                  <a:schemeClr val="tx1"/>
                </a:solidFill>
                <a:cs typeface="Courier New" panose="02070309020205020404" pitchFamily="49" charset="0"/>
              </a:rPr>
              <a:t>, </a:t>
            </a:r>
            <a:r>
              <a:rPr lang="en-US" i="1" dirty="0">
                <a:solidFill>
                  <a:schemeClr val="tx1"/>
                </a:solidFill>
                <a:cs typeface="Courier New" panose="02070309020205020404" pitchFamily="49" charset="0"/>
              </a:rPr>
              <a:t>w=5</a:t>
            </a:r>
          </a:p>
          <a:p>
            <a:pPr marL="0" indent="0">
              <a:buNone/>
            </a:pPr>
            <a:br>
              <a:rPr lang="en-US" i="1" dirty="0">
                <a:solidFill>
                  <a:schemeClr val="tx1"/>
                </a:solidFill>
                <a:cs typeface="Courier New" panose="02070309020205020404" pitchFamily="49" charset="0"/>
              </a:rPr>
            </a:br>
            <a:endParaRPr lang="en-US" i="1" dirty="0">
              <a:solidFill>
                <a:schemeClr val="tx1"/>
              </a:solidFill>
              <a:cs typeface="Courier New" panose="02070309020205020404" pitchFamily="49" charset="0"/>
            </a:endParaRPr>
          </a:p>
        </p:txBody>
      </p:sp>
      <p:sp>
        <p:nvSpPr>
          <p:cNvPr id="4" name="Slide Number Placeholder 3">
            <a:extLst>
              <a:ext uri="{FF2B5EF4-FFF2-40B4-BE49-F238E27FC236}">
                <a16:creationId xmlns:a16="http://schemas.microsoft.com/office/drawing/2014/main" id="{21D6917E-F82B-7390-C87C-EFB58390C01F}"/>
              </a:ext>
            </a:extLst>
          </p:cNvPr>
          <p:cNvSpPr>
            <a:spLocks noGrp="1"/>
          </p:cNvSpPr>
          <p:nvPr>
            <p:ph type="sldNum" sz="quarter" idx="12"/>
          </p:nvPr>
        </p:nvSpPr>
        <p:spPr/>
        <p:txBody>
          <a:bodyPr/>
          <a:lstStyle/>
          <a:p>
            <a:fld id="{B82CCC60-E8CD-4174-8B1A-7DF615B22EEF}" type="slidenum">
              <a:rPr lang="en-US" smtClean="0"/>
              <a:pPr/>
              <a:t>40</a:t>
            </a:fld>
            <a:endParaRPr lang="en-US"/>
          </a:p>
        </p:txBody>
      </p:sp>
      <p:sp>
        <p:nvSpPr>
          <p:cNvPr id="8" name="Arrow: Right 7">
            <a:extLst>
              <a:ext uri="{FF2B5EF4-FFF2-40B4-BE49-F238E27FC236}">
                <a16:creationId xmlns:a16="http://schemas.microsoft.com/office/drawing/2014/main" id="{BA6AAA38-B78C-E682-FC99-4D07100511E4}"/>
              </a:ext>
            </a:extLst>
          </p:cNvPr>
          <p:cNvSpPr/>
          <p:nvPr/>
        </p:nvSpPr>
        <p:spPr>
          <a:xfrm flipH="1">
            <a:off x="7566023" y="2775425"/>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7" name="Rectangle 6">
            <a:extLst>
              <a:ext uri="{FF2B5EF4-FFF2-40B4-BE49-F238E27FC236}">
                <a16:creationId xmlns:a16="http://schemas.microsoft.com/office/drawing/2014/main" id="{59EECABD-098E-914E-A9BD-9443BDDEAA3C}"/>
              </a:ext>
            </a:extLst>
          </p:cNvPr>
          <p:cNvSpPr/>
          <p:nvPr/>
        </p:nvSpPr>
        <p:spPr>
          <a:xfrm>
            <a:off x="2964820" y="2083750"/>
            <a:ext cx="4199773" cy="96425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961880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8982F-D55B-5CE3-D472-AB83FA55E58A}"/>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5F881EA-AE90-223D-2275-207A35A87ABE}"/>
              </a:ext>
            </a:extLst>
          </p:cNvPr>
          <p:cNvPicPr>
            <a:picLocks noChangeAspect="1"/>
          </p:cNvPicPr>
          <p:nvPr/>
        </p:nvPicPr>
        <p:blipFill>
          <a:blip r:embed="rId2"/>
          <a:stretch>
            <a:fillRect/>
          </a:stretch>
        </p:blipFill>
        <p:spPr>
          <a:xfrm>
            <a:off x="2964820" y="2083749"/>
            <a:ext cx="4199773" cy="4609507"/>
          </a:xfrm>
          <a:prstGeom prst="rect">
            <a:avLst/>
          </a:prstGeom>
        </p:spPr>
      </p:pic>
      <p:sp>
        <p:nvSpPr>
          <p:cNvPr id="2" name="Title 1">
            <a:extLst>
              <a:ext uri="{FF2B5EF4-FFF2-40B4-BE49-F238E27FC236}">
                <a16:creationId xmlns:a16="http://schemas.microsoft.com/office/drawing/2014/main" id="{0E7A7B02-B866-1FE2-E041-F78259637C9B}"/>
              </a:ext>
            </a:extLst>
          </p:cNvPr>
          <p:cNvSpPr>
            <a:spLocks noGrp="1"/>
          </p:cNvSpPr>
          <p:nvPr>
            <p:ph type="title"/>
          </p:nvPr>
        </p:nvSpPr>
        <p:spPr/>
        <p:txBody>
          <a:bodyPr>
            <a:normAutofit fontScale="90000"/>
          </a:bodyPr>
          <a:lstStyle/>
          <a:p>
            <a:r>
              <a:rPr lang="en-US" dirty="0"/>
              <a:t>Example of minimizers</a:t>
            </a:r>
          </a:p>
        </p:txBody>
      </p:sp>
      <p:sp>
        <p:nvSpPr>
          <p:cNvPr id="3" name="Content Placeholder 2">
            <a:extLst>
              <a:ext uri="{FF2B5EF4-FFF2-40B4-BE49-F238E27FC236}">
                <a16:creationId xmlns:a16="http://schemas.microsoft.com/office/drawing/2014/main" id="{7C60FE71-1951-737E-BAA6-27AB98F3FC99}"/>
              </a:ext>
            </a:extLst>
          </p:cNvPr>
          <p:cNvSpPr>
            <a:spLocks noGrp="1"/>
          </p:cNvSpPr>
          <p:nvPr>
            <p:ph idx="1"/>
          </p:nvPr>
        </p:nvSpPr>
        <p:spPr>
          <a:xfrm>
            <a:off x="66675" y="1596540"/>
            <a:ext cx="11220450" cy="4994760"/>
          </a:xfrm>
        </p:spPr>
        <p:txBody>
          <a:bodyPr>
            <a:normAutofit/>
          </a:bodyPr>
          <a:lstStyle/>
          <a:p>
            <a:r>
              <a:rPr lang="en-US" dirty="0"/>
              <a:t>Consider genomic string: </a:t>
            </a:r>
            <a:r>
              <a:rPr lang="en-US" b="1" dirty="0">
                <a:solidFill>
                  <a:schemeClr val="tx1"/>
                </a:solidFill>
                <a:latin typeface="Courier New" panose="02070309020205020404" pitchFamily="49" charset="0"/>
                <a:cs typeface="Courier New" panose="02070309020205020404" pitchFamily="49" charset="0"/>
              </a:rPr>
              <a:t>GCCCATGACTCGCATGCTGACATGCTGCTAGCT</a:t>
            </a:r>
          </a:p>
          <a:p>
            <a:r>
              <a:rPr lang="en-US" dirty="0">
                <a:solidFill>
                  <a:schemeClr val="tx1"/>
                </a:solidFill>
                <a:cs typeface="Courier New" panose="02070309020205020404" pitchFamily="49" charset="0"/>
              </a:rPr>
              <a:t>Let </a:t>
            </a:r>
            <a:r>
              <a:rPr lang="en-US" i="1" dirty="0">
                <a:solidFill>
                  <a:schemeClr val="tx1"/>
                </a:solidFill>
                <a:cs typeface="Courier New" panose="02070309020205020404" pitchFamily="49" charset="0"/>
              </a:rPr>
              <a:t>k=10</a:t>
            </a:r>
            <a:r>
              <a:rPr lang="en-US" dirty="0">
                <a:solidFill>
                  <a:schemeClr val="tx1"/>
                </a:solidFill>
                <a:cs typeface="Courier New" panose="02070309020205020404" pitchFamily="49" charset="0"/>
              </a:rPr>
              <a:t>, </a:t>
            </a:r>
            <a:r>
              <a:rPr lang="en-US" i="1" dirty="0">
                <a:solidFill>
                  <a:schemeClr val="tx1"/>
                </a:solidFill>
                <a:cs typeface="Courier New" panose="02070309020205020404" pitchFamily="49" charset="0"/>
              </a:rPr>
              <a:t>w=5</a:t>
            </a:r>
          </a:p>
          <a:p>
            <a:pPr marL="0" indent="0">
              <a:buNone/>
            </a:pPr>
            <a:br>
              <a:rPr lang="en-US" i="1" dirty="0">
                <a:solidFill>
                  <a:schemeClr val="tx1"/>
                </a:solidFill>
                <a:cs typeface="Courier New" panose="02070309020205020404" pitchFamily="49" charset="0"/>
              </a:rPr>
            </a:br>
            <a:endParaRPr lang="en-US" i="1" dirty="0">
              <a:solidFill>
                <a:schemeClr val="tx1"/>
              </a:solidFill>
              <a:cs typeface="Courier New" panose="02070309020205020404" pitchFamily="49" charset="0"/>
            </a:endParaRPr>
          </a:p>
        </p:txBody>
      </p:sp>
      <p:sp>
        <p:nvSpPr>
          <p:cNvPr id="4" name="Slide Number Placeholder 3">
            <a:extLst>
              <a:ext uri="{FF2B5EF4-FFF2-40B4-BE49-F238E27FC236}">
                <a16:creationId xmlns:a16="http://schemas.microsoft.com/office/drawing/2014/main" id="{C73EE21E-6818-1D06-4AC3-8F777B58CAE3}"/>
              </a:ext>
            </a:extLst>
          </p:cNvPr>
          <p:cNvSpPr>
            <a:spLocks noGrp="1"/>
          </p:cNvSpPr>
          <p:nvPr>
            <p:ph type="sldNum" sz="quarter" idx="12"/>
          </p:nvPr>
        </p:nvSpPr>
        <p:spPr/>
        <p:txBody>
          <a:bodyPr/>
          <a:lstStyle/>
          <a:p>
            <a:fld id="{B82CCC60-E8CD-4174-8B1A-7DF615B22EEF}" type="slidenum">
              <a:rPr lang="en-US" smtClean="0"/>
              <a:pPr/>
              <a:t>41</a:t>
            </a:fld>
            <a:endParaRPr lang="en-US"/>
          </a:p>
        </p:txBody>
      </p:sp>
      <p:sp>
        <p:nvSpPr>
          <p:cNvPr id="8" name="Arrow: Right 7">
            <a:extLst>
              <a:ext uri="{FF2B5EF4-FFF2-40B4-BE49-F238E27FC236}">
                <a16:creationId xmlns:a16="http://schemas.microsoft.com/office/drawing/2014/main" id="{B5921CAA-8555-32BB-65AE-BFE639048FFC}"/>
              </a:ext>
            </a:extLst>
          </p:cNvPr>
          <p:cNvSpPr/>
          <p:nvPr/>
        </p:nvSpPr>
        <p:spPr>
          <a:xfrm flipH="1">
            <a:off x="7566023" y="2775425"/>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7" name="Rectangle 6">
            <a:extLst>
              <a:ext uri="{FF2B5EF4-FFF2-40B4-BE49-F238E27FC236}">
                <a16:creationId xmlns:a16="http://schemas.microsoft.com/office/drawing/2014/main" id="{0C9C273A-3FF7-7AA2-45DC-7FA58CA181D2}"/>
              </a:ext>
            </a:extLst>
          </p:cNvPr>
          <p:cNvSpPr/>
          <p:nvPr/>
        </p:nvSpPr>
        <p:spPr>
          <a:xfrm>
            <a:off x="2919711" y="2293300"/>
            <a:ext cx="4199773" cy="96425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202716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1B26E2-BC52-B624-672D-2C03F202D67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E4AE810-7E7A-BAFB-61CD-8CB59C0015A8}"/>
              </a:ext>
            </a:extLst>
          </p:cNvPr>
          <p:cNvPicPr>
            <a:picLocks noChangeAspect="1"/>
          </p:cNvPicPr>
          <p:nvPr/>
        </p:nvPicPr>
        <p:blipFill>
          <a:blip r:embed="rId2"/>
          <a:stretch>
            <a:fillRect/>
          </a:stretch>
        </p:blipFill>
        <p:spPr>
          <a:xfrm>
            <a:off x="2964820" y="2083749"/>
            <a:ext cx="4199773" cy="4609507"/>
          </a:xfrm>
          <a:prstGeom prst="rect">
            <a:avLst/>
          </a:prstGeom>
        </p:spPr>
      </p:pic>
      <p:sp>
        <p:nvSpPr>
          <p:cNvPr id="2" name="Title 1">
            <a:extLst>
              <a:ext uri="{FF2B5EF4-FFF2-40B4-BE49-F238E27FC236}">
                <a16:creationId xmlns:a16="http://schemas.microsoft.com/office/drawing/2014/main" id="{97FB8C68-EA70-2F36-D91D-2609D1489009}"/>
              </a:ext>
            </a:extLst>
          </p:cNvPr>
          <p:cNvSpPr>
            <a:spLocks noGrp="1"/>
          </p:cNvSpPr>
          <p:nvPr>
            <p:ph type="title"/>
          </p:nvPr>
        </p:nvSpPr>
        <p:spPr/>
        <p:txBody>
          <a:bodyPr>
            <a:normAutofit fontScale="90000"/>
          </a:bodyPr>
          <a:lstStyle/>
          <a:p>
            <a:r>
              <a:rPr lang="en-US" dirty="0"/>
              <a:t>Example of minimizers</a:t>
            </a:r>
          </a:p>
        </p:txBody>
      </p:sp>
      <p:sp>
        <p:nvSpPr>
          <p:cNvPr id="3" name="Content Placeholder 2">
            <a:extLst>
              <a:ext uri="{FF2B5EF4-FFF2-40B4-BE49-F238E27FC236}">
                <a16:creationId xmlns:a16="http://schemas.microsoft.com/office/drawing/2014/main" id="{C3202985-738E-9F0C-4175-C4E83211BFED}"/>
              </a:ext>
            </a:extLst>
          </p:cNvPr>
          <p:cNvSpPr>
            <a:spLocks noGrp="1"/>
          </p:cNvSpPr>
          <p:nvPr>
            <p:ph idx="1"/>
          </p:nvPr>
        </p:nvSpPr>
        <p:spPr>
          <a:xfrm>
            <a:off x="66675" y="1596540"/>
            <a:ext cx="11220450" cy="4994760"/>
          </a:xfrm>
        </p:spPr>
        <p:txBody>
          <a:bodyPr>
            <a:normAutofit/>
          </a:bodyPr>
          <a:lstStyle/>
          <a:p>
            <a:r>
              <a:rPr lang="en-US" dirty="0"/>
              <a:t>Consider genomic string: </a:t>
            </a:r>
            <a:r>
              <a:rPr lang="en-US" b="1" dirty="0">
                <a:solidFill>
                  <a:schemeClr val="tx1"/>
                </a:solidFill>
                <a:latin typeface="Courier New" panose="02070309020205020404" pitchFamily="49" charset="0"/>
                <a:cs typeface="Courier New" panose="02070309020205020404" pitchFamily="49" charset="0"/>
              </a:rPr>
              <a:t>GCCCATGACTCGCATGCTGACATGCTGCTAGCT</a:t>
            </a:r>
          </a:p>
          <a:p>
            <a:r>
              <a:rPr lang="en-US" dirty="0">
                <a:solidFill>
                  <a:schemeClr val="tx1"/>
                </a:solidFill>
                <a:cs typeface="Courier New" panose="02070309020205020404" pitchFamily="49" charset="0"/>
              </a:rPr>
              <a:t>Let </a:t>
            </a:r>
            <a:r>
              <a:rPr lang="en-US" i="1" dirty="0">
                <a:solidFill>
                  <a:schemeClr val="tx1"/>
                </a:solidFill>
                <a:cs typeface="Courier New" panose="02070309020205020404" pitchFamily="49" charset="0"/>
              </a:rPr>
              <a:t>k=10</a:t>
            </a:r>
            <a:r>
              <a:rPr lang="en-US" dirty="0">
                <a:solidFill>
                  <a:schemeClr val="tx1"/>
                </a:solidFill>
                <a:cs typeface="Courier New" panose="02070309020205020404" pitchFamily="49" charset="0"/>
              </a:rPr>
              <a:t>, </a:t>
            </a:r>
            <a:r>
              <a:rPr lang="en-US" i="1" dirty="0">
                <a:solidFill>
                  <a:schemeClr val="tx1"/>
                </a:solidFill>
                <a:cs typeface="Courier New" panose="02070309020205020404" pitchFamily="49" charset="0"/>
              </a:rPr>
              <a:t>w=5</a:t>
            </a:r>
          </a:p>
          <a:p>
            <a:pPr marL="0" indent="0">
              <a:buNone/>
            </a:pPr>
            <a:br>
              <a:rPr lang="en-US" i="1" dirty="0">
                <a:solidFill>
                  <a:schemeClr val="tx1"/>
                </a:solidFill>
                <a:cs typeface="Courier New" panose="02070309020205020404" pitchFamily="49" charset="0"/>
              </a:rPr>
            </a:br>
            <a:endParaRPr lang="en-US" i="1" dirty="0">
              <a:solidFill>
                <a:schemeClr val="tx1"/>
              </a:solidFill>
              <a:cs typeface="Courier New" panose="02070309020205020404" pitchFamily="49" charset="0"/>
            </a:endParaRPr>
          </a:p>
        </p:txBody>
      </p:sp>
      <p:sp>
        <p:nvSpPr>
          <p:cNvPr id="4" name="Slide Number Placeholder 3">
            <a:extLst>
              <a:ext uri="{FF2B5EF4-FFF2-40B4-BE49-F238E27FC236}">
                <a16:creationId xmlns:a16="http://schemas.microsoft.com/office/drawing/2014/main" id="{6A73ED39-0499-9452-86AB-44A97D821868}"/>
              </a:ext>
            </a:extLst>
          </p:cNvPr>
          <p:cNvSpPr>
            <a:spLocks noGrp="1"/>
          </p:cNvSpPr>
          <p:nvPr>
            <p:ph type="sldNum" sz="quarter" idx="12"/>
          </p:nvPr>
        </p:nvSpPr>
        <p:spPr/>
        <p:txBody>
          <a:bodyPr/>
          <a:lstStyle/>
          <a:p>
            <a:fld id="{B82CCC60-E8CD-4174-8B1A-7DF615B22EEF}" type="slidenum">
              <a:rPr lang="en-US" smtClean="0"/>
              <a:pPr/>
              <a:t>42</a:t>
            </a:fld>
            <a:endParaRPr lang="en-US"/>
          </a:p>
        </p:txBody>
      </p:sp>
      <p:sp>
        <p:nvSpPr>
          <p:cNvPr id="8" name="Arrow: Right 7">
            <a:extLst>
              <a:ext uri="{FF2B5EF4-FFF2-40B4-BE49-F238E27FC236}">
                <a16:creationId xmlns:a16="http://schemas.microsoft.com/office/drawing/2014/main" id="{BAEB9CB4-167E-16E0-9662-292C0BDB53B0}"/>
              </a:ext>
            </a:extLst>
          </p:cNvPr>
          <p:cNvSpPr/>
          <p:nvPr/>
        </p:nvSpPr>
        <p:spPr>
          <a:xfrm flipH="1">
            <a:off x="7566023" y="2775425"/>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7" name="Rectangle 6">
            <a:extLst>
              <a:ext uri="{FF2B5EF4-FFF2-40B4-BE49-F238E27FC236}">
                <a16:creationId xmlns:a16="http://schemas.microsoft.com/office/drawing/2014/main" id="{5AD270B8-1474-FB82-DC9F-042E8E3996E5}"/>
              </a:ext>
            </a:extLst>
          </p:cNvPr>
          <p:cNvSpPr/>
          <p:nvPr/>
        </p:nvSpPr>
        <p:spPr>
          <a:xfrm>
            <a:off x="2915777" y="2464750"/>
            <a:ext cx="4199773" cy="96425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9287809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8AECF-567A-D067-48A9-CEE215238D92}"/>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C84A741-F0A4-F07E-1056-F712C5466977}"/>
              </a:ext>
            </a:extLst>
          </p:cNvPr>
          <p:cNvPicPr>
            <a:picLocks noChangeAspect="1"/>
          </p:cNvPicPr>
          <p:nvPr/>
        </p:nvPicPr>
        <p:blipFill>
          <a:blip r:embed="rId2"/>
          <a:stretch>
            <a:fillRect/>
          </a:stretch>
        </p:blipFill>
        <p:spPr>
          <a:xfrm>
            <a:off x="2964820" y="2083749"/>
            <a:ext cx="4199773" cy="4609507"/>
          </a:xfrm>
          <a:prstGeom prst="rect">
            <a:avLst/>
          </a:prstGeom>
        </p:spPr>
      </p:pic>
      <p:sp>
        <p:nvSpPr>
          <p:cNvPr id="2" name="Title 1">
            <a:extLst>
              <a:ext uri="{FF2B5EF4-FFF2-40B4-BE49-F238E27FC236}">
                <a16:creationId xmlns:a16="http://schemas.microsoft.com/office/drawing/2014/main" id="{45B629BC-A2E8-9D6A-0C00-4B41542EA6AA}"/>
              </a:ext>
            </a:extLst>
          </p:cNvPr>
          <p:cNvSpPr>
            <a:spLocks noGrp="1"/>
          </p:cNvSpPr>
          <p:nvPr>
            <p:ph type="title"/>
          </p:nvPr>
        </p:nvSpPr>
        <p:spPr/>
        <p:txBody>
          <a:bodyPr>
            <a:normAutofit fontScale="90000"/>
          </a:bodyPr>
          <a:lstStyle/>
          <a:p>
            <a:r>
              <a:rPr lang="en-US" dirty="0"/>
              <a:t>Example of minimizers</a:t>
            </a:r>
          </a:p>
        </p:txBody>
      </p:sp>
      <p:sp>
        <p:nvSpPr>
          <p:cNvPr id="3" name="Content Placeholder 2">
            <a:extLst>
              <a:ext uri="{FF2B5EF4-FFF2-40B4-BE49-F238E27FC236}">
                <a16:creationId xmlns:a16="http://schemas.microsoft.com/office/drawing/2014/main" id="{B96BBDF2-22DF-2AA2-C631-ADEBDDA27488}"/>
              </a:ext>
            </a:extLst>
          </p:cNvPr>
          <p:cNvSpPr>
            <a:spLocks noGrp="1"/>
          </p:cNvSpPr>
          <p:nvPr>
            <p:ph idx="1"/>
          </p:nvPr>
        </p:nvSpPr>
        <p:spPr>
          <a:xfrm>
            <a:off x="66675" y="1596540"/>
            <a:ext cx="11220450" cy="4994760"/>
          </a:xfrm>
        </p:spPr>
        <p:txBody>
          <a:bodyPr>
            <a:normAutofit/>
          </a:bodyPr>
          <a:lstStyle/>
          <a:p>
            <a:r>
              <a:rPr lang="en-US" dirty="0"/>
              <a:t>Consider genomic string: </a:t>
            </a:r>
            <a:r>
              <a:rPr lang="en-US" b="1" dirty="0">
                <a:solidFill>
                  <a:schemeClr val="tx1"/>
                </a:solidFill>
                <a:latin typeface="Courier New" panose="02070309020205020404" pitchFamily="49" charset="0"/>
                <a:cs typeface="Courier New" panose="02070309020205020404" pitchFamily="49" charset="0"/>
              </a:rPr>
              <a:t>GCCCATGACTCGCATGCTGACATGCTGCTAGCT</a:t>
            </a:r>
          </a:p>
          <a:p>
            <a:r>
              <a:rPr lang="en-US" dirty="0">
                <a:solidFill>
                  <a:schemeClr val="tx1"/>
                </a:solidFill>
                <a:cs typeface="Courier New" panose="02070309020205020404" pitchFamily="49" charset="0"/>
              </a:rPr>
              <a:t>Let </a:t>
            </a:r>
            <a:r>
              <a:rPr lang="en-US" i="1" dirty="0">
                <a:solidFill>
                  <a:schemeClr val="tx1"/>
                </a:solidFill>
                <a:cs typeface="Courier New" panose="02070309020205020404" pitchFamily="49" charset="0"/>
              </a:rPr>
              <a:t>k=10</a:t>
            </a:r>
            <a:r>
              <a:rPr lang="en-US" dirty="0">
                <a:solidFill>
                  <a:schemeClr val="tx1"/>
                </a:solidFill>
                <a:cs typeface="Courier New" panose="02070309020205020404" pitchFamily="49" charset="0"/>
              </a:rPr>
              <a:t>, </a:t>
            </a:r>
            <a:r>
              <a:rPr lang="en-US" i="1" dirty="0">
                <a:solidFill>
                  <a:schemeClr val="tx1"/>
                </a:solidFill>
                <a:cs typeface="Courier New" panose="02070309020205020404" pitchFamily="49" charset="0"/>
              </a:rPr>
              <a:t>w=5</a:t>
            </a:r>
          </a:p>
          <a:p>
            <a:pPr marL="0" indent="0">
              <a:buNone/>
            </a:pPr>
            <a:br>
              <a:rPr lang="en-US" i="1" dirty="0">
                <a:solidFill>
                  <a:schemeClr val="tx1"/>
                </a:solidFill>
                <a:cs typeface="Courier New" panose="02070309020205020404" pitchFamily="49" charset="0"/>
              </a:rPr>
            </a:br>
            <a:endParaRPr lang="en-US" i="1" dirty="0">
              <a:solidFill>
                <a:schemeClr val="tx1"/>
              </a:solidFill>
              <a:cs typeface="Courier New" panose="02070309020205020404" pitchFamily="49" charset="0"/>
            </a:endParaRPr>
          </a:p>
        </p:txBody>
      </p:sp>
      <p:sp>
        <p:nvSpPr>
          <p:cNvPr id="4" name="Slide Number Placeholder 3">
            <a:extLst>
              <a:ext uri="{FF2B5EF4-FFF2-40B4-BE49-F238E27FC236}">
                <a16:creationId xmlns:a16="http://schemas.microsoft.com/office/drawing/2014/main" id="{C6656633-994A-3BE9-97C3-0348FACE75F0}"/>
              </a:ext>
            </a:extLst>
          </p:cNvPr>
          <p:cNvSpPr>
            <a:spLocks noGrp="1"/>
          </p:cNvSpPr>
          <p:nvPr>
            <p:ph type="sldNum" sz="quarter" idx="12"/>
          </p:nvPr>
        </p:nvSpPr>
        <p:spPr/>
        <p:txBody>
          <a:bodyPr/>
          <a:lstStyle/>
          <a:p>
            <a:fld id="{B82CCC60-E8CD-4174-8B1A-7DF615B22EEF}" type="slidenum">
              <a:rPr lang="en-US" smtClean="0"/>
              <a:pPr/>
              <a:t>43</a:t>
            </a:fld>
            <a:endParaRPr lang="en-US"/>
          </a:p>
        </p:txBody>
      </p:sp>
      <p:sp>
        <p:nvSpPr>
          <p:cNvPr id="8" name="Arrow: Right 7">
            <a:extLst>
              <a:ext uri="{FF2B5EF4-FFF2-40B4-BE49-F238E27FC236}">
                <a16:creationId xmlns:a16="http://schemas.microsoft.com/office/drawing/2014/main" id="{3238B74A-AE8C-3BA4-63FA-10823895082A}"/>
              </a:ext>
            </a:extLst>
          </p:cNvPr>
          <p:cNvSpPr/>
          <p:nvPr/>
        </p:nvSpPr>
        <p:spPr>
          <a:xfrm flipH="1">
            <a:off x="7566023" y="2775425"/>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7" name="Rectangle 6">
            <a:extLst>
              <a:ext uri="{FF2B5EF4-FFF2-40B4-BE49-F238E27FC236}">
                <a16:creationId xmlns:a16="http://schemas.microsoft.com/office/drawing/2014/main" id="{C7322FA9-4843-9367-6B84-07D5468DE688}"/>
              </a:ext>
            </a:extLst>
          </p:cNvPr>
          <p:cNvSpPr/>
          <p:nvPr/>
        </p:nvSpPr>
        <p:spPr>
          <a:xfrm>
            <a:off x="2920522" y="2658426"/>
            <a:ext cx="4199773" cy="96425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067973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4F2E1A-868E-01F7-7755-194E374D6B5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F1F3BAB1-2542-A305-B4D6-E0B0406944B0}"/>
              </a:ext>
            </a:extLst>
          </p:cNvPr>
          <p:cNvPicPr>
            <a:picLocks noChangeAspect="1"/>
          </p:cNvPicPr>
          <p:nvPr/>
        </p:nvPicPr>
        <p:blipFill>
          <a:blip r:embed="rId2"/>
          <a:stretch>
            <a:fillRect/>
          </a:stretch>
        </p:blipFill>
        <p:spPr>
          <a:xfrm>
            <a:off x="2964820" y="2083749"/>
            <a:ext cx="4199773" cy="4609507"/>
          </a:xfrm>
          <a:prstGeom prst="rect">
            <a:avLst/>
          </a:prstGeom>
        </p:spPr>
      </p:pic>
      <p:sp>
        <p:nvSpPr>
          <p:cNvPr id="2" name="Title 1">
            <a:extLst>
              <a:ext uri="{FF2B5EF4-FFF2-40B4-BE49-F238E27FC236}">
                <a16:creationId xmlns:a16="http://schemas.microsoft.com/office/drawing/2014/main" id="{53374D2E-B2B9-9399-FAC1-427F3FA39BC9}"/>
              </a:ext>
            </a:extLst>
          </p:cNvPr>
          <p:cNvSpPr>
            <a:spLocks noGrp="1"/>
          </p:cNvSpPr>
          <p:nvPr>
            <p:ph type="title"/>
          </p:nvPr>
        </p:nvSpPr>
        <p:spPr/>
        <p:txBody>
          <a:bodyPr>
            <a:normAutofit fontScale="90000"/>
          </a:bodyPr>
          <a:lstStyle/>
          <a:p>
            <a:r>
              <a:rPr lang="en-US" dirty="0"/>
              <a:t>Example of minimizers</a:t>
            </a:r>
          </a:p>
        </p:txBody>
      </p:sp>
      <p:sp>
        <p:nvSpPr>
          <p:cNvPr id="3" name="Content Placeholder 2">
            <a:extLst>
              <a:ext uri="{FF2B5EF4-FFF2-40B4-BE49-F238E27FC236}">
                <a16:creationId xmlns:a16="http://schemas.microsoft.com/office/drawing/2014/main" id="{FDB8203C-F2B5-EE27-752C-0083C968BBA3}"/>
              </a:ext>
            </a:extLst>
          </p:cNvPr>
          <p:cNvSpPr>
            <a:spLocks noGrp="1"/>
          </p:cNvSpPr>
          <p:nvPr>
            <p:ph idx="1"/>
          </p:nvPr>
        </p:nvSpPr>
        <p:spPr>
          <a:xfrm>
            <a:off x="66675" y="1596540"/>
            <a:ext cx="11220450" cy="4994760"/>
          </a:xfrm>
        </p:spPr>
        <p:txBody>
          <a:bodyPr>
            <a:normAutofit/>
          </a:bodyPr>
          <a:lstStyle/>
          <a:p>
            <a:r>
              <a:rPr lang="en-US" dirty="0"/>
              <a:t>Consider genomic string: </a:t>
            </a:r>
            <a:r>
              <a:rPr lang="en-US" b="1" dirty="0">
                <a:solidFill>
                  <a:schemeClr val="tx1"/>
                </a:solidFill>
                <a:latin typeface="Courier New" panose="02070309020205020404" pitchFamily="49" charset="0"/>
                <a:cs typeface="Courier New" panose="02070309020205020404" pitchFamily="49" charset="0"/>
              </a:rPr>
              <a:t>GCCCATGACTCGCATGCTGACATGCTGCTAGCT</a:t>
            </a:r>
          </a:p>
          <a:p>
            <a:r>
              <a:rPr lang="en-US" dirty="0">
                <a:solidFill>
                  <a:schemeClr val="tx1"/>
                </a:solidFill>
                <a:cs typeface="Courier New" panose="02070309020205020404" pitchFamily="49" charset="0"/>
              </a:rPr>
              <a:t>Let </a:t>
            </a:r>
            <a:r>
              <a:rPr lang="en-US" i="1" dirty="0">
                <a:solidFill>
                  <a:schemeClr val="tx1"/>
                </a:solidFill>
                <a:cs typeface="Courier New" panose="02070309020205020404" pitchFamily="49" charset="0"/>
              </a:rPr>
              <a:t>k=10</a:t>
            </a:r>
            <a:r>
              <a:rPr lang="en-US" dirty="0">
                <a:solidFill>
                  <a:schemeClr val="tx1"/>
                </a:solidFill>
                <a:cs typeface="Courier New" panose="02070309020205020404" pitchFamily="49" charset="0"/>
              </a:rPr>
              <a:t>, </a:t>
            </a:r>
            <a:r>
              <a:rPr lang="en-US" i="1" dirty="0">
                <a:solidFill>
                  <a:schemeClr val="tx1"/>
                </a:solidFill>
                <a:cs typeface="Courier New" panose="02070309020205020404" pitchFamily="49" charset="0"/>
              </a:rPr>
              <a:t>w=5</a:t>
            </a:r>
          </a:p>
          <a:p>
            <a:pPr marL="0" indent="0">
              <a:buNone/>
            </a:pPr>
            <a:br>
              <a:rPr lang="en-US" i="1" dirty="0">
                <a:solidFill>
                  <a:schemeClr val="tx1"/>
                </a:solidFill>
                <a:cs typeface="Courier New" panose="02070309020205020404" pitchFamily="49" charset="0"/>
              </a:rPr>
            </a:br>
            <a:endParaRPr lang="en-US" i="1" dirty="0">
              <a:solidFill>
                <a:schemeClr val="tx1"/>
              </a:solidFill>
              <a:cs typeface="Courier New" panose="02070309020205020404" pitchFamily="49" charset="0"/>
            </a:endParaRPr>
          </a:p>
        </p:txBody>
      </p:sp>
      <p:sp>
        <p:nvSpPr>
          <p:cNvPr id="4" name="Slide Number Placeholder 3">
            <a:extLst>
              <a:ext uri="{FF2B5EF4-FFF2-40B4-BE49-F238E27FC236}">
                <a16:creationId xmlns:a16="http://schemas.microsoft.com/office/drawing/2014/main" id="{88DC9ABF-EF2E-3045-3016-9E3CA1B596E7}"/>
              </a:ext>
            </a:extLst>
          </p:cNvPr>
          <p:cNvSpPr>
            <a:spLocks noGrp="1"/>
          </p:cNvSpPr>
          <p:nvPr>
            <p:ph type="sldNum" sz="quarter" idx="12"/>
          </p:nvPr>
        </p:nvSpPr>
        <p:spPr/>
        <p:txBody>
          <a:bodyPr/>
          <a:lstStyle/>
          <a:p>
            <a:fld id="{B82CCC60-E8CD-4174-8B1A-7DF615B22EEF}" type="slidenum">
              <a:rPr lang="en-US" smtClean="0"/>
              <a:pPr/>
              <a:t>44</a:t>
            </a:fld>
            <a:endParaRPr lang="en-US"/>
          </a:p>
        </p:txBody>
      </p:sp>
      <p:sp>
        <p:nvSpPr>
          <p:cNvPr id="8" name="Arrow: Right 7">
            <a:extLst>
              <a:ext uri="{FF2B5EF4-FFF2-40B4-BE49-F238E27FC236}">
                <a16:creationId xmlns:a16="http://schemas.microsoft.com/office/drawing/2014/main" id="{B955D2B8-75A1-0633-1115-48BB4290AB22}"/>
              </a:ext>
            </a:extLst>
          </p:cNvPr>
          <p:cNvSpPr/>
          <p:nvPr/>
        </p:nvSpPr>
        <p:spPr>
          <a:xfrm flipH="1">
            <a:off x="7566023" y="2775425"/>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7" name="Rectangle 6">
            <a:extLst>
              <a:ext uri="{FF2B5EF4-FFF2-40B4-BE49-F238E27FC236}">
                <a16:creationId xmlns:a16="http://schemas.microsoft.com/office/drawing/2014/main" id="{F8D36420-2CCA-B4D5-62FE-728748C57A06}"/>
              </a:ext>
            </a:extLst>
          </p:cNvPr>
          <p:cNvSpPr/>
          <p:nvPr/>
        </p:nvSpPr>
        <p:spPr>
          <a:xfrm>
            <a:off x="2914510" y="2862822"/>
            <a:ext cx="4199773" cy="96425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234429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E8338C-86BD-98DA-F2B1-D60DE3E85E79}"/>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26D72904-27FD-9854-9622-8A9FC1B211B8}"/>
              </a:ext>
            </a:extLst>
          </p:cNvPr>
          <p:cNvPicPr>
            <a:picLocks noChangeAspect="1"/>
          </p:cNvPicPr>
          <p:nvPr/>
        </p:nvPicPr>
        <p:blipFill>
          <a:blip r:embed="rId2"/>
          <a:stretch>
            <a:fillRect/>
          </a:stretch>
        </p:blipFill>
        <p:spPr>
          <a:xfrm>
            <a:off x="2964820" y="2083749"/>
            <a:ext cx="4199773" cy="4609507"/>
          </a:xfrm>
          <a:prstGeom prst="rect">
            <a:avLst/>
          </a:prstGeom>
        </p:spPr>
      </p:pic>
      <p:sp>
        <p:nvSpPr>
          <p:cNvPr id="2" name="Title 1">
            <a:extLst>
              <a:ext uri="{FF2B5EF4-FFF2-40B4-BE49-F238E27FC236}">
                <a16:creationId xmlns:a16="http://schemas.microsoft.com/office/drawing/2014/main" id="{CA2161D3-3C50-042D-4155-AFC44AB82008}"/>
              </a:ext>
            </a:extLst>
          </p:cNvPr>
          <p:cNvSpPr>
            <a:spLocks noGrp="1"/>
          </p:cNvSpPr>
          <p:nvPr>
            <p:ph type="title"/>
          </p:nvPr>
        </p:nvSpPr>
        <p:spPr/>
        <p:txBody>
          <a:bodyPr>
            <a:normAutofit fontScale="90000"/>
          </a:bodyPr>
          <a:lstStyle/>
          <a:p>
            <a:r>
              <a:rPr lang="en-US" dirty="0"/>
              <a:t>Example of minimizers</a:t>
            </a:r>
          </a:p>
        </p:txBody>
      </p:sp>
      <p:sp>
        <p:nvSpPr>
          <p:cNvPr id="3" name="Content Placeholder 2">
            <a:extLst>
              <a:ext uri="{FF2B5EF4-FFF2-40B4-BE49-F238E27FC236}">
                <a16:creationId xmlns:a16="http://schemas.microsoft.com/office/drawing/2014/main" id="{DE503CA9-7067-5356-3FAC-4A42063527B0}"/>
              </a:ext>
            </a:extLst>
          </p:cNvPr>
          <p:cNvSpPr>
            <a:spLocks noGrp="1"/>
          </p:cNvSpPr>
          <p:nvPr>
            <p:ph idx="1"/>
          </p:nvPr>
        </p:nvSpPr>
        <p:spPr>
          <a:xfrm>
            <a:off x="66675" y="1596540"/>
            <a:ext cx="11220450" cy="4994760"/>
          </a:xfrm>
        </p:spPr>
        <p:txBody>
          <a:bodyPr>
            <a:normAutofit/>
          </a:bodyPr>
          <a:lstStyle/>
          <a:p>
            <a:r>
              <a:rPr lang="en-US" dirty="0"/>
              <a:t>Consider genomic string: </a:t>
            </a:r>
            <a:r>
              <a:rPr lang="en-US" b="1" dirty="0">
                <a:solidFill>
                  <a:schemeClr val="tx1"/>
                </a:solidFill>
                <a:latin typeface="Courier New" panose="02070309020205020404" pitchFamily="49" charset="0"/>
                <a:cs typeface="Courier New" panose="02070309020205020404" pitchFamily="49" charset="0"/>
              </a:rPr>
              <a:t>GCCCATGACTCGCATGCTGACATGCTGCTAGCT</a:t>
            </a:r>
          </a:p>
          <a:p>
            <a:r>
              <a:rPr lang="en-US" dirty="0">
                <a:solidFill>
                  <a:schemeClr val="tx1"/>
                </a:solidFill>
                <a:cs typeface="Courier New" panose="02070309020205020404" pitchFamily="49" charset="0"/>
              </a:rPr>
              <a:t>Let </a:t>
            </a:r>
            <a:r>
              <a:rPr lang="en-US" i="1" dirty="0">
                <a:solidFill>
                  <a:schemeClr val="tx1"/>
                </a:solidFill>
                <a:cs typeface="Courier New" panose="02070309020205020404" pitchFamily="49" charset="0"/>
              </a:rPr>
              <a:t>k=10</a:t>
            </a:r>
            <a:r>
              <a:rPr lang="en-US" dirty="0">
                <a:solidFill>
                  <a:schemeClr val="tx1"/>
                </a:solidFill>
                <a:cs typeface="Courier New" panose="02070309020205020404" pitchFamily="49" charset="0"/>
              </a:rPr>
              <a:t>, </a:t>
            </a:r>
            <a:r>
              <a:rPr lang="en-US" i="1" dirty="0">
                <a:solidFill>
                  <a:schemeClr val="tx1"/>
                </a:solidFill>
                <a:cs typeface="Courier New" panose="02070309020205020404" pitchFamily="49" charset="0"/>
              </a:rPr>
              <a:t>w=5</a:t>
            </a:r>
          </a:p>
          <a:p>
            <a:pPr marL="0" indent="0">
              <a:buNone/>
            </a:pPr>
            <a:br>
              <a:rPr lang="en-US" i="1" dirty="0">
                <a:solidFill>
                  <a:schemeClr val="tx1"/>
                </a:solidFill>
                <a:cs typeface="Courier New" panose="02070309020205020404" pitchFamily="49" charset="0"/>
              </a:rPr>
            </a:br>
            <a:endParaRPr lang="en-US" i="1" dirty="0">
              <a:solidFill>
                <a:schemeClr val="tx1"/>
              </a:solidFill>
              <a:cs typeface="Courier New" panose="02070309020205020404" pitchFamily="49" charset="0"/>
            </a:endParaRPr>
          </a:p>
        </p:txBody>
      </p:sp>
      <p:sp>
        <p:nvSpPr>
          <p:cNvPr id="4" name="Slide Number Placeholder 3">
            <a:extLst>
              <a:ext uri="{FF2B5EF4-FFF2-40B4-BE49-F238E27FC236}">
                <a16:creationId xmlns:a16="http://schemas.microsoft.com/office/drawing/2014/main" id="{D5D3F608-0662-8B6A-83F1-92EFD117E019}"/>
              </a:ext>
            </a:extLst>
          </p:cNvPr>
          <p:cNvSpPr>
            <a:spLocks noGrp="1"/>
          </p:cNvSpPr>
          <p:nvPr>
            <p:ph type="sldNum" sz="quarter" idx="12"/>
          </p:nvPr>
        </p:nvSpPr>
        <p:spPr/>
        <p:txBody>
          <a:bodyPr/>
          <a:lstStyle/>
          <a:p>
            <a:fld id="{B82CCC60-E8CD-4174-8B1A-7DF615B22EEF}" type="slidenum">
              <a:rPr lang="en-US" smtClean="0"/>
              <a:pPr/>
              <a:t>45</a:t>
            </a:fld>
            <a:endParaRPr lang="en-US"/>
          </a:p>
        </p:txBody>
      </p:sp>
      <p:sp>
        <p:nvSpPr>
          <p:cNvPr id="8" name="Arrow: Right 7">
            <a:extLst>
              <a:ext uri="{FF2B5EF4-FFF2-40B4-BE49-F238E27FC236}">
                <a16:creationId xmlns:a16="http://schemas.microsoft.com/office/drawing/2014/main" id="{A6F3D9A3-968E-A9E7-AE8D-B229D23EF6B5}"/>
              </a:ext>
            </a:extLst>
          </p:cNvPr>
          <p:cNvSpPr/>
          <p:nvPr/>
        </p:nvSpPr>
        <p:spPr>
          <a:xfrm flipH="1">
            <a:off x="7566023" y="2775425"/>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7" name="Rectangle 6">
            <a:extLst>
              <a:ext uri="{FF2B5EF4-FFF2-40B4-BE49-F238E27FC236}">
                <a16:creationId xmlns:a16="http://schemas.microsoft.com/office/drawing/2014/main" id="{C10239F8-555C-63DC-F7D7-3E565E9F8B9A}"/>
              </a:ext>
            </a:extLst>
          </p:cNvPr>
          <p:cNvSpPr/>
          <p:nvPr/>
        </p:nvSpPr>
        <p:spPr>
          <a:xfrm>
            <a:off x="2919711" y="3033292"/>
            <a:ext cx="4199773" cy="96425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Arrow: Right 4">
            <a:extLst>
              <a:ext uri="{FF2B5EF4-FFF2-40B4-BE49-F238E27FC236}">
                <a16:creationId xmlns:a16="http://schemas.microsoft.com/office/drawing/2014/main" id="{926AEE3E-AA73-B3B9-A47C-599837309EAF}"/>
              </a:ext>
            </a:extLst>
          </p:cNvPr>
          <p:cNvSpPr/>
          <p:nvPr/>
        </p:nvSpPr>
        <p:spPr>
          <a:xfrm flipH="1">
            <a:off x="7566023" y="2957988"/>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Tree>
    <p:extLst>
      <p:ext uri="{BB962C8B-B14F-4D97-AF65-F5344CB8AC3E}">
        <p14:creationId xmlns:p14="http://schemas.microsoft.com/office/powerpoint/2010/main" val="149174632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7F86F-34E6-F388-8793-5D40729C024F}"/>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A6C7E7C-3B8A-25B2-4DED-F00039FDF690}"/>
              </a:ext>
            </a:extLst>
          </p:cNvPr>
          <p:cNvPicPr>
            <a:picLocks noChangeAspect="1"/>
          </p:cNvPicPr>
          <p:nvPr/>
        </p:nvPicPr>
        <p:blipFill>
          <a:blip r:embed="rId2"/>
          <a:stretch>
            <a:fillRect/>
          </a:stretch>
        </p:blipFill>
        <p:spPr>
          <a:xfrm>
            <a:off x="2964820" y="2083749"/>
            <a:ext cx="4199773" cy="4609507"/>
          </a:xfrm>
          <a:prstGeom prst="rect">
            <a:avLst/>
          </a:prstGeom>
        </p:spPr>
      </p:pic>
      <p:sp>
        <p:nvSpPr>
          <p:cNvPr id="2" name="Title 1">
            <a:extLst>
              <a:ext uri="{FF2B5EF4-FFF2-40B4-BE49-F238E27FC236}">
                <a16:creationId xmlns:a16="http://schemas.microsoft.com/office/drawing/2014/main" id="{9264B33F-7010-445C-061F-59E4E0306B7E}"/>
              </a:ext>
            </a:extLst>
          </p:cNvPr>
          <p:cNvSpPr>
            <a:spLocks noGrp="1"/>
          </p:cNvSpPr>
          <p:nvPr>
            <p:ph type="title"/>
          </p:nvPr>
        </p:nvSpPr>
        <p:spPr/>
        <p:txBody>
          <a:bodyPr>
            <a:normAutofit fontScale="90000"/>
          </a:bodyPr>
          <a:lstStyle/>
          <a:p>
            <a:r>
              <a:rPr lang="en-US" dirty="0"/>
              <a:t>Example of minimizers</a:t>
            </a:r>
          </a:p>
        </p:txBody>
      </p:sp>
      <p:sp>
        <p:nvSpPr>
          <p:cNvPr id="3" name="Content Placeholder 2">
            <a:extLst>
              <a:ext uri="{FF2B5EF4-FFF2-40B4-BE49-F238E27FC236}">
                <a16:creationId xmlns:a16="http://schemas.microsoft.com/office/drawing/2014/main" id="{6A557881-4C1E-D8CE-0704-47C138135237}"/>
              </a:ext>
            </a:extLst>
          </p:cNvPr>
          <p:cNvSpPr>
            <a:spLocks noGrp="1"/>
          </p:cNvSpPr>
          <p:nvPr>
            <p:ph idx="1"/>
          </p:nvPr>
        </p:nvSpPr>
        <p:spPr>
          <a:xfrm>
            <a:off x="66675" y="1596540"/>
            <a:ext cx="11220450" cy="4994760"/>
          </a:xfrm>
        </p:spPr>
        <p:txBody>
          <a:bodyPr>
            <a:normAutofit/>
          </a:bodyPr>
          <a:lstStyle/>
          <a:p>
            <a:r>
              <a:rPr lang="en-US" dirty="0"/>
              <a:t>Consider genomic string: </a:t>
            </a:r>
            <a:r>
              <a:rPr lang="en-US" b="1" dirty="0">
                <a:solidFill>
                  <a:schemeClr val="tx1"/>
                </a:solidFill>
                <a:latin typeface="Courier New" panose="02070309020205020404" pitchFamily="49" charset="0"/>
                <a:cs typeface="Courier New" panose="02070309020205020404" pitchFamily="49" charset="0"/>
              </a:rPr>
              <a:t>GCCCATGACTCGCATGCTGACATGCTGCTAGCT</a:t>
            </a:r>
          </a:p>
          <a:p>
            <a:r>
              <a:rPr lang="en-US" dirty="0">
                <a:solidFill>
                  <a:schemeClr val="tx1"/>
                </a:solidFill>
                <a:cs typeface="Courier New" panose="02070309020205020404" pitchFamily="49" charset="0"/>
              </a:rPr>
              <a:t>Let </a:t>
            </a:r>
            <a:r>
              <a:rPr lang="en-US" i="1" dirty="0">
                <a:solidFill>
                  <a:schemeClr val="tx1"/>
                </a:solidFill>
                <a:cs typeface="Courier New" panose="02070309020205020404" pitchFamily="49" charset="0"/>
              </a:rPr>
              <a:t>k=10</a:t>
            </a:r>
            <a:r>
              <a:rPr lang="en-US" dirty="0">
                <a:solidFill>
                  <a:schemeClr val="tx1"/>
                </a:solidFill>
                <a:cs typeface="Courier New" panose="02070309020205020404" pitchFamily="49" charset="0"/>
              </a:rPr>
              <a:t>, </a:t>
            </a:r>
            <a:r>
              <a:rPr lang="en-US" i="1" dirty="0">
                <a:solidFill>
                  <a:schemeClr val="tx1"/>
                </a:solidFill>
                <a:cs typeface="Courier New" panose="02070309020205020404" pitchFamily="49" charset="0"/>
              </a:rPr>
              <a:t>w=5</a:t>
            </a:r>
          </a:p>
          <a:p>
            <a:pPr marL="0" indent="0">
              <a:buNone/>
            </a:pPr>
            <a:br>
              <a:rPr lang="en-US" i="1" dirty="0">
                <a:solidFill>
                  <a:schemeClr val="tx1"/>
                </a:solidFill>
                <a:cs typeface="Courier New" panose="02070309020205020404" pitchFamily="49" charset="0"/>
              </a:rPr>
            </a:br>
            <a:endParaRPr lang="en-US" i="1" dirty="0">
              <a:solidFill>
                <a:schemeClr val="tx1"/>
              </a:solidFill>
              <a:cs typeface="Courier New" panose="02070309020205020404" pitchFamily="49" charset="0"/>
            </a:endParaRPr>
          </a:p>
        </p:txBody>
      </p:sp>
      <p:sp>
        <p:nvSpPr>
          <p:cNvPr id="4" name="Slide Number Placeholder 3">
            <a:extLst>
              <a:ext uri="{FF2B5EF4-FFF2-40B4-BE49-F238E27FC236}">
                <a16:creationId xmlns:a16="http://schemas.microsoft.com/office/drawing/2014/main" id="{903F46AF-AD8F-B4BD-129C-9D727576218A}"/>
              </a:ext>
            </a:extLst>
          </p:cNvPr>
          <p:cNvSpPr>
            <a:spLocks noGrp="1"/>
          </p:cNvSpPr>
          <p:nvPr>
            <p:ph type="sldNum" sz="quarter" idx="12"/>
          </p:nvPr>
        </p:nvSpPr>
        <p:spPr/>
        <p:txBody>
          <a:bodyPr/>
          <a:lstStyle/>
          <a:p>
            <a:fld id="{B82CCC60-E8CD-4174-8B1A-7DF615B22EEF}" type="slidenum">
              <a:rPr lang="en-US" smtClean="0"/>
              <a:pPr/>
              <a:t>46</a:t>
            </a:fld>
            <a:endParaRPr lang="en-US"/>
          </a:p>
        </p:txBody>
      </p:sp>
      <p:sp>
        <p:nvSpPr>
          <p:cNvPr id="8" name="Arrow: Right 7">
            <a:extLst>
              <a:ext uri="{FF2B5EF4-FFF2-40B4-BE49-F238E27FC236}">
                <a16:creationId xmlns:a16="http://schemas.microsoft.com/office/drawing/2014/main" id="{14AB8327-B305-5BDE-7D96-715E37D2D2F2}"/>
              </a:ext>
            </a:extLst>
          </p:cNvPr>
          <p:cNvSpPr/>
          <p:nvPr/>
        </p:nvSpPr>
        <p:spPr>
          <a:xfrm flipH="1">
            <a:off x="7566023" y="2775425"/>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7" name="Rectangle 6">
            <a:extLst>
              <a:ext uri="{FF2B5EF4-FFF2-40B4-BE49-F238E27FC236}">
                <a16:creationId xmlns:a16="http://schemas.microsoft.com/office/drawing/2014/main" id="{5764F6D3-B511-FDFD-463F-BAAD69DA7B1F}"/>
              </a:ext>
            </a:extLst>
          </p:cNvPr>
          <p:cNvSpPr/>
          <p:nvPr/>
        </p:nvSpPr>
        <p:spPr>
          <a:xfrm>
            <a:off x="2919711" y="3235325"/>
            <a:ext cx="4199773" cy="96425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Arrow: Right 4">
            <a:extLst>
              <a:ext uri="{FF2B5EF4-FFF2-40B4-BE49-F238E27FC236}">
                <a16:creationId xmlns:a16="http://schemas.microsoft.com/office/drawing/2014/main" id="{A8CFA757-91BD-AA64-3D6C-063C79950F7D}"/>
              </a:ext>
            </a:extLst>
          </p:cNvPr>
          <p:cNvSpPr/>
          <p:nvPr/>
        </p:nvSpPr>
        <p:spPr>
          <a:xfrm flipH="1">
            <a:off x="7566023" y="3717450"/>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6" name="Arrow: Right 5">
            <a:extLst>
              <a:ext uri="{FF2B5EF4-FFF2-40B4-BE49-F238E27FC236}">
                <a16:creationId xmlns:a16="http://schemas.microsoft.com/office/drawing/2014/main" id="{F2BC8256-2204-5096-4BAC-18757528F956}"/>
              </a:ext>
            </a:extLst>
          </p:cNvPr>
          <p:cNvSpPr/>
          <p:nvPr/>
        </p:nvSpPr>
        <p:spPr>
          <a:xfrm flipH="1">
            <a:off x="7566023" y="2919050"/>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Tree>
    <p:extLst>
      <p:ext uri="{BB962C8B-B14F-4D97-AF65-F5344CB8AC3E}">
        <p14:creationId xmlns:p14="http://schemas.microsoft.com/office/powerpoint/2010/main" val="9735954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4EE39F-B011-4B40-F423-07EB3F488255}"/>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55B20081-A05A-C702-EF7C-B65C54515D48}"/>
              </a:ext>
            </a:extLst>
          </p:cNvPr>
          <p:cNvPicPr>
            <a:picLocks noChangeAspect="1"/>
          </p:cNvPicPr>
          <p:nvPr/>
        </p:nvPicPr>
        <p:blipFill>
          <a:blip r:embed="rId2"/>
          <a:stretch>
            <a:fillRect/>
          </a:stretch>
        </p:blipFill>
        <p:spPr>
          <a:xfrm>
            <a:off x="2964820" y="2083749"/>
            <a:ext cx="4199773" cy="4609507"/>
          </a:xfrm>
          <a:prstGeom prst="rect">
            <a:avLst/>
          </a:prstGeom>
        </p:spPr>
      </p:pic>
      <p:sp>
        <p:nvSpPr>
          <p:cNvPr id="2" name="Title 1">
            <a:extLst>
              <a:ext uri="{FF2B5EF4-FFF2-40B4-BE49-F238E27FC236}">
                <a16:creationId xmlns:a16="http://schemas.microsoft.com/office/drawing/2014/main" id="{EB678440-81BC-590D-924A-7FE787332E49}"/>
              </a:ext>
            </a:extLst>
          </p:cNvPr>
          <p:cNvSpPr>
            <a:spLocks noGrp="1"/>
          </p:cNvSpPr>
          <p:nvPr>
            <p:ph type="title"/>
          </p:nvPr>
        </p:nvSpPr>
        <p:spPr/>
        <p:txBody>
          <a:bodyPr>
            <a:normAutofit fontScale="90000"/>
          </a:bodyPr>
          <a:lstStyle/>
          <a:p>
            <a:r>
              <a:rPr lang="en-US" dirty="0"/>
              <a:t>Example of minimizers</a:t>
            </a:r>
          </a:p>
        </p:txBody>
      </p:sp>
      <p:sp>
        <p:nvSpPr>
          <p:cNvPr id="3" name="Content Placeholder 2">
            <a:extLst>
              <a:ext uri="{FF2B5EF4-FFF2-40B4-BE49-F238E27FC236}">
                <a16:creationId xmlns:a16="http://schemas.microsoft.com/office/drawing/2014/main" id="{CDAC1FEF-D07F-9686-35FE-21BE025EC114}"/>
              </a:ext>
            </a:extLst>
          </p:cNvPr>
          <p:cNvSpPr>
            <a:spLocks noGrp="1"/>
          </p:cNvSpPr>
          <p:nvPr>
            <p:ph idx="1"/>
          </p:nvPr>
        </p:nvSpPr>
        <p:spPr>
          <a:xfrm>
            <a:off x="66675" y="1596540"/>
            <a:ext cx="11220450" cy="4994760"/>
          </a:xfrm>
        </p:spPr>
        <p:txBody>
          <a:bodyPr>
            <a:normAutofit/>
          </a:bodyPr>
          <a:lstStyle/>
          <a:p>
            <a:r>
              <a:rPr lang="en-US" dirty="0"/>
              <a:t>Consider genomic string: </a:t>
            </a:r>
            <a:r>
              <a:rPr lang="en-US" b="1" dirty="0">
                <a:solidFill>
                  <a:schemeClr val="tx1"/>
                </a:solidFill>
                <a:latin typeface="Courier New" panose="02070309020205020404" pitchFamily="49" charset="0"/>
                <a:cs typeface="Courier New" panose="02070309020205020404" pitchFamily="49" charset="0"/>
              </a:rPr>
              <a:t>GCCCATGACTCGCATGCTGACATGCTGCTAGCT</a:t>
            </a:r>
          </a:p>
          <a:p>
            <a:r>
              <a:rPr lang="en-US" dirty="0">
                <a:solidFill>
                  <a:schemeClr val="tx1"/>
                </a:solidFill>
                <a:cs typeface="Courier New" panose="02070309020205020404" pitchFamily="49" charset="0"/>
              </a:rPr>
              <a:t>Let </a:t>
            </a:r>
            <a:r>
              <a:rPr lang="en-US" i="1" dirty="0">
                <a:solidFill>
                  <a:schemeClr val="tx1"/>
                </a:solidFill>
                <a:cs typeface="Courier New" panose="02070309020205020404" pitchFamily="49" charset="0"/>
              </a:rPr>
              <a:t>k=10</a:t>
            </a:r>
            <a:r>
              <a:rPr lang="en-US" dirty="0">
                <a:solidFill>
                  <a:schemeClr val="tx1"/>
                </a:solidFill>
                <a:cs typeface="Courier New" panose="02070309020205020404" pitchFamily="49" charset="0"/>
              </a:rPr>
              <a:t>, </a:t>
            </a:r>
            <a:r>
              <a:rPr lang="en-US" i="1" dirty="0">
                <a:solidFill>
                  <a:schemeClr val="tx1"/>
                </a:solidFill>
                <a:cs typeface="Courier New" panose="02070309020205020404" pitchFamily="49" charset="0"/>
              </a:rPr>
              <a:t>w=5</a:t>
            </a:r>
          </a:p>
          <a:p>
            <a:pPr marL="0" indent="0">
              <a:buNone/>
            </a:pPr>
            <a:br>
              <a:rPr lang="en-US" i="1" dirty="0">
                <a:solidFill>
                  <a:schemeClr val="tx1"/>
                </a:solidFill>
                <a:cs typeface="Courier New" panose="02070309020205020404" pitchFamily="49" charset="0"/>
              </a:rPr>
            </a:br>
            <a:endParaRPr lang="en-US" i="1" dirty="0">
              <a:solidFill>
                <a:schemeClr val="tx1"/>
              </a:solidFill>
              <a:cs typeface="Courier New" panose="02070309020205020404" pitchFamily="49" charset="0"/>
            </a:endParaRPr>
          </a:p>
        </p:txBody>
      </p:sp>
      <p:sp>
        <p:nvSpPr>
          <p:cNvPr id="4" name="Slide Number Placeholder 3">
            <a:extLst>
              <a:ext uri="{FF2B5EF4-FFF2-40B4-BE49-F238E27FC236}">
                <a16:creationId xmlns:a16="http://schemas.microsoft.com/office/drawing/2014/main" id="{31DF8430-629B-D8D4-07BA-8CDAD5E33F3F}"/>
              </a:ext>
            </a:extLst>
          </p:cNvPr>
          <p:cNvSpPr>
            <a:spLocks noGrp="1"/>
          </p:cNvSpPr>
          <p:nvPr>
            <p:ph type="sldNum" sz="quarter" idx="12"/>
          </p:nvPr>
        </p:nvSpPr>
        <p:spPr/>
        <p:txBody>
          <a:bodyPr/>
          <a:lstStyle/>
          <a:p>
            <a:fld id="{B82CCC60-E8CD-4174-8B1A-7DF615B22EEF}" type="slidenum">
              <a:rPr lang="en-US" smtClean="0"/>
              <a:pPr/>
              <a:t>47</a:t>
            </a:fld>
            <a:endParaRPr lang="en-US"/>
          </a:p>
        </p:txBody>
      </p:sp>
      <p:sp>
        <p:nvSpPr>
          <p:cNvPr id="8" name="Arrow: Right 7">
            <a:extLst>
              <a:ext uri="{FF2B5EF4-FFF2-40B4-BE49-F238E27FC236}">
                <a16:creationId xmlns:a16="http://schemas.microsoft.com/office/drawing/2014/main" id="{ED241AFB-B4AC-0336-9531-8073D32A5AFB}"/>
              </a:ext>
            </a:extLst>
          </p:cNvPr>
          <p:cNvSpPr/>
          <p:nvPr/>
        </p:nvSpPr>
        <p:spPr>
          <a:xfrm flipH="1">
            <a:off x="7566023" y="2775425"/>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7" name="Rectangle 6">
            <a:extLst>
              <a:ext uri="{FF2B5EF4-FFF2-40B4-BE49-F238E27FC236}">
                <a16:creationId xmlns:a16="http://schemas.microsoft.com/office/drawing/2014/main" id="{45965F81-2510-358D-B5A5-3F422695D70E}"/>
              </a:ext>
            </a:extLst>
          </p:cNvPr>
          <p:cNvSpPr/>
          <p:nvPr/>
        </p:nvSpPr>
        <p:spPr>
          <a:xfrm>
            <a:off x="2919711" y="3417888"/>
            <a:ext cx="4199773" cy="96425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Arrow: Right 4">
            <a:extLst>
              <a:ext uri="{FF2B5EF4-FFF2-40B4-BE49-F238E27FC236}">
                <a16:creationId xmlns:a16="http://schemas.microsoft.com/office/drawing/2014/main" id="{11F781C4-4BAE-4AFA-B80F-106FE3A8EF08}"/>
              </a:ext>
            </a:extLst>
          </p:cNvPr>
          <p:cNvSpPr/>
          <p:nvPr/>
        </p:nvSpPr>
        <p:spPr>
          <a:xfrm flipH="1">
            <a:off x="7566023" y="3717450"/>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6" name="Arrow: Right 5">
            <a:extLst>
              <a:ext uri="{FF2B5EF4-FFF2-40B4-BE49-F238E27FC236}">
                <a16:creationId xmlns:a16="http://schemas.microsoft.com/office/drawing/2014/main" id="{B8ECE4C0-DF03-D3A5-8852-30C0D0543414}"/>
              </a:ext>
            </a:extLst>
          </p:cNvPr>
          <p:cNvSpPr/>
          <p:nvPr/>
        </p:nvSpPr>
        <p:spPr>
          <a:xfrm flipH="1">
            <a:off x="7566023" y="2919050"/>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Tree>
    <p:extLst>
      <p:ext uri="{BB962C8B-B14F-4D97-AF65-F5344CB8AC3E}">
        <p14:creationId xmlns:p14="http://schemas.microsoft.com/office/powerpoint/2010/main" val="66387511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676704-EB2F-28A5-1784-61A92B749BB2}"/>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09DEF229-596A-8834-2971-348ED04911DE}"/>
              </a:ext>
            </a:extLst>
          </p:cNvPr>
          <p:cNvPicPr>
            <a:picLocks noChangeAspect="1"/>
          </p:cNvPicPr>
          <p:nvPr/>
        </p:nvPicPr>
        <p:blipFill>
          <a:blip r:embed="rId2"/>
          <a:stretch>
            <a:fillRect/>
          </a:stretch>
        </p:blipFill>
        <p:spPr>
          <a:xfrm>
            <a:off x="2964820" y="2083749"/>
            <a:ext cx="4199773" cy="4609507"/>
          </a:xfrm>
          <a:prstGeom prst="rect">
            <a:avLst/>
          </a:prstGeom>
        </p:spPr>
      </p:pic>
      <p:sp>
        <p:nvSpPr>
          <p:cNvPr id="2" name="Title 1">
            <a:extLst>
              <a:ext uri="{FF2B5EF4-FFF2-40B4-BE49-F238E27FC236}">
                <a16:creationId xmlns:a16="http://schemas.microsoft.com/office/drawing/2014/main" id="{236A7429-8A18-3558-DAAF-DF4D392AF46B}"/>
              </a:ext>
            </a:extLst>
          </p:cNvPr>
          <p:cNvSpPr>
            <a:spLocks noGrp="1"/>
          </p:cNvSpPr>
          <p:nvPr>
            <p:ph type="title"/>
          </p:nvPr>
        </p:nvSpPr>
        <p:spPr/>
        <p:txBody>
          <a:bodyPr>
            <a:normAutofit fontScale="90000"/>
          </a:bodyPr>
          <a:lstStyle/>
          <a:p>
            <a:r>
              <a:rPr lang="en-US" dirty="0"/>
              <a:t>Example of minimizers</a:t>
            </a:r>
          </a:p>
        </p:txBody>
      </p:sp>
      <p:sp>
        <p:nvSpPr>
          <p:cNvPr id="3" name="Content Placeholder 2">
            <a:extLst>
              <a:ext uri="{FF2B5EF4-FFF2-40B4-BE49-F238E27FC236}">
                <a16:creationId xmlns:a16="http://schemas.microsoft.com/office/drawing/2014/main" id="{AFDF224E-53ED-8D16-24B1-4AA1947DB28F}"/>
              </a:ext>
            </a:extLst>
          </p:cNvPr>
          <p:cNvSpPr>
            <a:spLocks noGrp="1"/>
          </p:cNvSpPr>
          <p:nvPr>
            <p:ph idx="1"/>
          </p:nvPr>
        </p:nvSpPr>
        <p:spPr>
          <a:xfrm>
            <a:off x="66675" y="1596540"/>
            <a:ext cx="11220450" cy="4994760"/>
          </a:xfrm>
        </p:spPr>
        <p:txBody>
          <a:bodyPr>
            <a:normAutofit/>
          </a:bodyPr>
          <a:lstStyle/>
          <a:p>
            <a:r>
              <a:rPr lang="en-US" dirty="0"/>
              <a:t>Consider genomic string: </a:t>
            </a:r>
            <a:r>
              <a:rPr lang="en-US" b="1" dirty="0">
                <a:solidFill>
                  <a:schemeClr val="tx1"/>
                </a:solidFill>
                <a:latin typeface="Courier New" panose="02070309020205020404" pitchFamily="49" charset="0"/>
                <a:cs typeface="Courier New" panose="02070309020205020404" pitchFamily="49" charset="0"/>
              </a:rPr>
              <a:t>GCCCATGACTCGCATGCTGACATGCTGCTAGCT</a:t>
            </a:r>
          </a:p>
          <a:p>
            <a:r>
              <a:rPr lang="en-US" dirty="0">
                <a:solidFill>
                  <a:schemeClr val="tx1"/>
                </a:solidFill>
                <a:cs typeface="Courier New" panose="02070309020205020404" pitchFamily="49" charset="0"/>
              </a:rPr>
              <a:t>Let </a:t>
            </a:r>
            <a:r>
              <a:rPr lang="en-US" i="1" dirty="0">
                <a:solidFill>
                  <a:schemeClr val="tx1"/>
                </a:solidFill>
                <a:cs typeface="Courier New" panose="02070309020205020404" pitchFamily="49" charset="0"/>
              </a:rPr>
              <a:t>k=10</a:t>
            </a:r>
            <a:r>
              <a:rPr lang="en-US" dirty="0">
                <a:solidFill>
                  <a:schemeClr val="tx1"/>
                </a:solidFill>
                <a:cs typeface="Courier New" panose="02070309020205020404" pitchFamily="49" charset="0"/>
              </a:rPr>
              <a:t>, </a:t>
            </a:r>
            <a:r>
              <a:rPr lang="en-US" i="1" dirty="0">
                <a:solidFill>
                  <a:schemeClr val="tx1"/>
                </a:solidFill>
                <a:cs typeface="Courier New" panose="02070309020205020404" pitchFamily="49" charset="0"/>
              </a:rPr>
              <a:t>w=5</a:t>
            </a:r>
          </a:p>
          <a:p>
            <a:pPr marL="0" indent="0">
              <a:buNone/>
            </a:pPr>
            <a:br>
              <a:rPr lang="en-US" i="1" dirty="0">
                <a:solidFill>
                  <a:schemeClr val="tx1"/>
                </a:solidFill>
                <a:cs typeface="Courier New" panose="02070309020205020404" pitchFamily="49" charset="0"/>
              </a:rPr>
            </a:br>
            <a:endParaRPr lang="en-US" i="1" dirty="0">
              <a:solidFill>
                <a:schemeClr val="tx1"/>
              </a:solidFill>
              <a:cs typeface="Courier New" panose="02070309020205020404" pitchFamily="49" charset="0"/>
            </a:endParaRPr>
          </a:p>
        </p:txBody>
      </p:sp>
      <p:sp>
        <p:nvSpPr>
          <p:cNvPr id="4" name="Slide Number Placeholder 3">
            <a:extLst>
              <a:ext uri="{FF2B5EF4-FFF2-40B4-BE49-F238E27FC236}">
                <a16:creationId xmlns:a16="http://schemas.microsoft.com/office/drawing/2014/main" id="{C5037C36-02FF-2623-2A00-8C8CF5EA6DA7}"/>
              </a:ext>
            </a:extLst>
          </p:cNvPr>
          <p:cNvSpPr>
            <a:spLocks noGrp="1"/>
          </p:cNvSpPr>
          <p:nvPr>
            <p:ph type="sldNum" sz="quarter" idx="12"/>
          </p:nvPr>
        </p:nvSpPr>
        <p:spPr/>
        <p:txBody>
          <a:bodyPr/>
          <a:lstStyle/>
          <a:p>
            <a:fld id="{B82CCC60-E8CD-4174-8B1A-7DF615B22EEF}" type="slidenum">
              <a:rPr lang="en-US" smtClean="0"/>
              <a:pPr/>
              <a:t>48</a:t>
            </a:fld>
            <a:endParaRPr lang="en-US"/>
          </a:p>
        </p:txBody>
      </p:sp>
      <p:sp>
        <p:nvSpPr>
          <p:cNvPr id="8" name="Arrow: Right 7">
            <a:extLst>
              <a:ext uri="{FF2B5EF4-FFF2-40B4-BE49-F238E27FC236}">
                <a16:creationId xmlns:a16="http://schemas.microsoft.com/office/drawing/2014/main" id="{264CD268-C74A-D96A-75CE-597821F876E5}"/>
              </a:ext>
            </a:extLst>
          </p:cNvPr>
          <p:cNvSpPr/>
          <p:nvPr/>
        </p:nvSpPr>
        <p:spPr>
          <a:xfrm flipH="1">
            <a:off x="7566023" y="2775425"/>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7" name="Rectangle 6">
            <a:extLst>
              <a:ext uri="{FF2B5EF4-FFF2-40B4-BE49-F238E27FC236}">
                <a16:creationId xmlns:a16="http://schemas.microsoft.com/office/drawing/2014/main" id="{603F935D-50BF-59EE-ADFB-531924408B13}"/>
              </a:ext>
            </a:extLst>
          </p:cNvPr>
          <p:cNvSpPr/>
          <p:nvPr/>
        </p:nvSpPr>
        <p:spPr>
          <a:xfrm>
            <a:off x="2924456" y="3600451"/>
            <a:ext cx="4199773" cy="96425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Arrow: Right 4">
            <a:extLst>
              <a:ext uri="{FF2B5EF4-FFF2-40B4-BE49-F238E27FC236}">
                <a16:creationId xmlns:a16="http://schemas.microsoft.com/office/drawing/2014/main" id="{50606A8A-ADE6-BC2E-C2C5-04A76CB60E58}"/>
              </a:ext>
            </a:extLst>
          </p:cNvPr>
          <p:cNvSpPr/>
          <p:nvPr/>
        </p:nvSpPr>
        <p:spPr>
          <a:xfrm flipH="1">
            <a:off x="7566023" y="3717450"/>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6" name="Arrow: Right 5">
            <a:extLst>
              <a:ext uri="{FF2B5EF4-FFF2-40B4-BE49-F238E27FC236}">
                <a16:creationId xmlns:a16="http://schemas.microsoft.com/office/drawing/2014/main" id="{A5FD7830-A7D6-82AA-AEAE-D15F46A29F7A}"/>
              </a:ext>
            </a:extLst>
          </p:cNvPr>
          <p:cNvSpPr/>
          <p:nvPr/>
        </p:nvSpPr>
        <p:spPr>
          <a:xfrm flipH="1">
            <a:off x="7566023" y="4294349"/>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10" name="Arrow: Right 9">
            <a:extLst>
              <a:ext uri="{FF2B5EF4-FFF2-40B4-BE49-F238E27FC236}">
                <a16:creationId xmlns:a16="http://schemas.microsoft.com/office/drawing/2014/main" id="{232E0FB9-C9B6-21AE-C5F6-01D3D1E0EB4C}"/>
              </a:ext>
            </a:extLst>
          </p:cNvPr>
          <p:cNvSpPr/>
          <p:nvPr/>
        </p:nvSpPr>
        <p:spPr>
          <a:xfrm flipH="1">
            <a:off x="7566023" y="2919050"/>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Tree>
    <p:extLst>
      <p:ext uri="{BB962C8B-B14F-4D97-AF65-F5344CB8AC3E}">
        <p14:creationId xmlns:p14="http://schemas.microsoft.com/office/powerpoint/2010/main" val="363427069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0D8DE-601E-30E7-015A-8B652A12BB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FD3824-2ED0-EE3F-ED84-C3F5197F11F3}"/>
              </a:ext>
            </a:extLst>
          </p:cNvPr>
          <p:cNvSpPr>
            <a:spLocks noGrp="1"/>
          </p:cNvSpPr>
          <p:nvPr>
            <p:ph type="title"/>
          </p:nvPr>
        </p:nvSpPr>
        <p:spPr/>
        <p:txBody>
          <a:bodyPr>
            <a:normAutofit fontScale="90000"/>
          </a:bodyPr>
          <a:lstStyle/>
          <a:p>
            <a:r>
              <a:rPr lang="en-US" dirty="0"/>
              <a:t>Example of minimizers</a:t>
            </a:r>
          </a:p>
        </p:txBody>
      </p:sp>
      <p:sp>
        <p:nvSpPr>
          <p:cNvPr id="3" name="Content Placeholder 2">
            <a:extLst>
              <a:ext uri="{FF2B5EF4-FFF2-40B4-BE49-F238E27FC236}">
                <a16:creationId xmlns:a16="http://schemas.microsoft.com/office/drawing/2014/main" id="{141DB9FD-46EA-DE75-53E6-AD27F8A40124}"/>
              </a:ext>
            </a:extLst>
          </p:cNvPr>
          <p:cNvSpPr>
            <a:spLocks noGrp="1"/>
          </p:cNvSpPr>
          <p:nvPr>
            <p:ph idx="1"/>
          </p:nvPr>
        </p:nvSpPr>
        <p:spPr>
          <a:xfrm>
            <a:off x="66675" y="1596540"/>
            <a:ext cx="11220450" cy="4994760"/>
          </a:xfrm>
        </p:spPr>
        <p:txBody>
          <a:bodyPr>
            <a:normAutofit/>
          </a:bodyPr>
          <a:lstStyle/>
          <a:p>
            <a:r>
              <a:rPr lang="en-US" dirty="0"/>
              <a:t>Consider genomic string: </a:t>
            </a:r>
            <a:r>
              <a:rPr lang="en-US" b="1" dirty="0">
                <a:solidFill>
                  <a:schemeClr val="tx1"/>
                </a:solidFill>
                <a:latin typeface="Courier New" panose="02070309020205020404" pitchFamily="49" charset="0"/>
                <a:cs typeface="Courier New" panose="02070309020205020404" pitchFamily="49" charset="0"/>
              </a:rPr>
              <a:t>GCCCATGACTCGCATGCTGACATGCTGCTAGCT</a:t>
            </a:r>
          </a:p>
          <a:p>
            <a:r>
              <a:rPr lang="en-US" dirty="0">
                <a:solidFill>
                  <a:schemeClr val="tx1"/>
                </a:solidFill>
                <a:cs typeface="Courier New" panose="02070309020205020404" pitchFamily="49" charset="0"/>
              </a:rPr>
              <a:t>Let </a:t>
            </a:r>
            <a:r>
              <a:rPr lang="en-US" i="1" dirty="0">
                <a:solidFill>
                  <a:schemeClr val="tx1"/>
                </a:solidFill>
                <a:cs typeface="Courier New" panose="02070309020205020404" pitchFamily="49" charset="0"/>
              </a:rPr>
              <a:t>k=10</a:t>
            </a:r>
            <a:r>
              <a:rPr lang="en-US" dirty="0">
                <a:solidFill>
                  <a:schemeClr val="tx1"/>
                </a:solidFill>
                <a:cs typeface="Courier New" panose="02070309020205020404" pitchFamily="49" charset="0"/>
              </a:rPr>
              <a:t>, </a:t>
            </a:r>
            <a:r>
              <a:rPr lang="en-US" i="1" dirty="0">
                <a:solidFill>
                  <a:schemeClr val="tx1"/>
                </a:solidFill>
                <a:cs typeface="Courier New" panose="02070309020205020404" pitchFamily="49" charset="0"/>
              </a:rPr>
              <a:t>w=5</a:t>
            </a:r>
          </a:p>
          <a:p>
            <a:pPr marL="0" indent="0">
              <a:buNone/>
            </a:pPr>
            <a:br>
              <a:rPr lang="en-US" i="1" dirty="0">
                <a:solidFill>
                  <a:schemeClr val="tx1"/>
                </a:solidFill>
                <a:cs typeface="Courier New" panose="02070309020205020404" pitchFamily="49" charset="0"/>
              </a:rPr>
            </a:br>
            <a:endParaRPr lang="en-US" i="1" dirty="0">
              <a:solidFill>
                <a:schemeClr val="tx1"/>
              </a:solidFill>
              <a:cs typeface="Courier New" panose="02070309020205020404" pitchFamily="49" charset="0"/>
            </a:endParaRPr>
          </a:p>
        </p:txBody>
      </p:sp>
      <p:sp>
        <p:nvSpPr>
          <p:cNvPr id="4" name="Slide Number Placeholder 3">
            <a:extLst>
              <a:ext uri="{FF2B5EF4-FFF2-40B4-BE49-F238E27FC236}">
                <a16:creationId xmlns:a16="http://schemas.microsoft.com/office/drawing/2014/main" id="{21E64378-0DB7-758D-03D5-364CB2ECA4E0}"/>
              </a:ext>
            </a:extLst>
          </p:cNvPr>
          <p:cNvSpPr>
            <a:spLocks noGrp="1"/>
          </p:cNvSpPr>
          <p:nvPr>
            <p:ph type="sldNum" sz="quarter" idx="12"/>
          </p:nvPr>
        </p:nvSpPr>
        <p:spPr/>
        <p:txBody>
          <a:bodyPr/>
          <a:lstStyle/>
          <a:p>
            <a:fld id="{B82CCC60-E8CD-4174-8B1A-7DF615B22EEF}" type="slidenum">
              <a:rPr lang="en-US" smtClean="0"/>
              <a:pPr/>
              <a:t>49</a:t>
            </a:fld>
            <a:endParaRPr lang="en-US"/>
          </a:p>
        </p:txBody>
      </p:sp>
      <p:sp>
        <p:nvSpPr>
          <p:cNvPr id="8" name="Arrow: Right 7">
            <a:extLst>
              <a:ext uri="{FF2B5EF4-FFF2-40B4-BE49-F238E27FC236}">
                <a16:creationId xmlns:a16="http://schemas.microsoft.com/office/drawing/2014/main" id="{33380615-B6A7-9543-D2C2-3BDF9E565509}"/>
              </a:ext>
            </a:extLst>
          </p:cNvPr>
          <p:cNvSpPr/>
          <p:nvPr/>
        </p:nvSpPr>
        <p:spPr>
          <a:xfrm flipH="1">
            <a:off x="7566023" y="2775425"/>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5" name="Arrow: Right 4">
            <a:extLst>
              <a:ext uri="{FF2B5EF4-FFF2-40B4-BE49-F238E27FC236}">
                <a16:creationId xmlns:a16="http://schemas.microsoft.com/office/drawing/2014/main" id="{5645E92F-68A7-425F-8481-8D88A5AF6D15}"/>
              </a:ext>
            </a:extLst>
          </p:cNvPr>
          <p:cNvSpPr/>
          <p:nvPr/>
        </p:nvSpPr>
        <p:spPr>
          <a:xfrm flipH="1">
            <a:off x="7566023" y="3717450"/>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6" name="Arrow: Right 5">
            <a:extLst>
              <a:ext uri="{FF2B5EF4-FFF2-40B4-BE49-F238E27FC236}">
                <a16:creationId xmlns:a16="http://schemas.microsoft.com/office/drawing/2014/main" id="{4B270D3A-38F2-6CC5-085D-2861A0E7E21F}"/>
              </a:ext>
            </a:extLst>
          </p:cNvPr>
          <p:cNvSpPr/>
          <p:nvPr/>
        </p:nvSpPr>
        <p:spPr>
          <a:xfrm flipH="1">
            <a:off x="7566023" y="4294349"/>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10" name="Arrow: Right 9">
            <a:extLst>
              <a:ext uri="{FF2B5EF4-FFF2-40B4-BE49-F238E27FC236}">
                <a16:creationId xmlns:a16="http://schemas.microsoft.com/office/drawing/2014/main" id="{B762DC8F-0C98-ECC4-6F73-EBC002EDFA24}"/>
              </a:ext>
            </a:extLst>
          </p:cNvPr>
          <p:cNvSpPr/>
          <p:nvPr/>
        </p:nvSpPr>
        <p:spPr>
          <a:xfrm flipH="1">
            <a:off x="7566023" y="6117786"/>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11" name="Arrow: Right 10">
            <a:extLst>
              <a:ext uri="{FF2B5EF4-FFF2-40B4-BE49-F238E27FC236}">
                <a16:creationId xmlns:a16="http://schemas.microsoft.com/office/drawing/2014/main" id="{BCC43EC5-37CC-9EF5-F06F-0965E73573C8}"/>
              </a:ext>
            </a:extLst>
          </p:cNvPr>
          <p:cNvSpPr/>
          <p:nvPr/>
        </p:nvSpPr>
        <p:spPr>
          <a:xfrm flipH="1">
            <a:off x="7566023" y="5142787"/>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12" name="Arrow: Right 11">
            <a:extLst>
              <a:ext uri="{FF2B5EF4-FFF2-40B4-BE49-F238E27FC236}">
                <a16:creationId xmlns:a16="http://schemas.microsoft.com/office/drawing/2014/main" id="{B4882255-520E-BB0C-E2BD-023ACAD95B50}"/>
              </a:ext>
            </a:extLst>
          </p:cNvPr>
          <p:cNvSpPr/>
          <p:nvPr/>
        </p:nvSpPr>
        <p:spPr>
          <a:xfrm flipH="1">
            <a:off x="7566023" y="4629312"/>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13" name="Arrow: Right 12">
            <a:extLst>
              <a:ext uri="{FF2B5EF4-FFF2-40B4-BE49-F238E27FC236}">
                <a16:creationId xmlns:a16="http://schemas.microsoft.com/office/drawing/2014/main" id="{EEC0678B-9160-2FAD-56BB-B63B7C31ED41}"/>
              </a:ext>
            </a:extLst>
          </p:cNvPr>
          <p:cNvSpPr/>
          <p:nvPr/>
        </p:nvSpPr>
        <p:spPr>
          <a:xfrm flipH="1">
            <a:off x="7566023" y="2919050"/>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pic>
        <p:nvPicPr>
          <p:cNvPr id="7" name="Picture 6">
            <a:extLst>
              <a:ext uri="{FF2B5EF4-FFF2-40B4-BE49-F238E27FC236}">
                <a16:creationId xmlns:a16="http://schemas.microsoft.com/office/drawing/2014/main" id="{0E128B83-0295-9295-3944-9EADCF2C33FA}"/>
              </a:ext>
            </a:extLst>
          </p:cNvPr>
          <p:cNvPicPr>
            <a:picLocks noChangeAspect="1"/>
          </p:cNvPicPr>
          <p:nvPr/>
        </p:nvPicPr>
        <p:blipFill>
          <a:blip r:embed="rId2"/>
          <a:stretch>
            <a:fillRect/>
          </a:stretch>
        </p:blipFill>
        <p:spPr>
          <a:xfrm>
            <a:off x="2964820" y="2083749"/>
            <a:ext cx="4199773" cy="4609507"/>
          </a:xfrm>
          <a:prstGeom prst="rect">
            <a:avLst/>
          </a:prstGeom>
        </p:spPr>
      </p:pic>
    </p:spTree>
    <p:extLst>
      <p:ext uri="{BB962C8B-B14F-4D97-AF65-F5344CB8AC3E}">
        <p14:creationId xmlns:p14="http://schemas.microsoft.com/office/powerpoint/2010/main" val="249036936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11D8F-F840-E728-B36D-3154F2311A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736D74-149D-7D67-3A25-9AE48A0ED6D4}"/>
              </a:ext>
            </a:extLst>
          </p:cNvPr>
          <p:cNvSpPr>
            <a:spLocks noGrp="1"/>
          </p:cNvSpPr>
          <p:nvPr>
            <p:ph type="title"/>
          </p:nvPr>
        </p:nvSpPr>
        <p:spPr/>
        <p:txBody>
          <a:bodyPr>
            <a:normAutofit fontScale="90000"/>
          </a:bodyPr>
          <a:lstStyle/>
          <a:p>
            <a:r>
              <a:rPr lang="en-US" dirty="0"/>
              <a:t>Seeding alignments with minimizers</a:t>
            </a:r>
          </a:p>
        </p:txBody>
      </p:sp>
      <p:sp>
        <p:nvSpPr>
          <p:cNvPr id="3" name="Content Placeholder 2">
            <a:extLst>
              <a:ext uri="{FF2B5EF4-FFF2-40B4-BE49-F238E27FC236}">
                <a16:creationId xmlns:a16="http://schemas.microsoft.com/office/drawing/2014/main" id="{D8775618-8D8D-9CE8-2F9F-7B2D7E16B127}"/>
              </a:ext>
            </a:extLst>
          </p:cNvPr>
          <p:cNvSpPr>
            <a:spLocks noGrp="1"/>
          </p:cNvSpPr>
          <p:nvPr>
            <p:ph idx="1"/>
          </p:nvPr>
        </p:nvSpPr>
        <p:spPr>
          <a:xfrm>
            <a:off x="257175" y="1493869"/>
            <a:ext cx="12211050" cy="1322872"/>
          </a:xfrm>
        </p:spPr>
        <p:txBody>
          <a:bodyPr>
            <a:normAutofit/>
          </a:bodyPr>
          <a:lstStyle/>
          <a:p>
            <a:r>
              <a:rPr lang="en-US" dirty="0"/>
              <a:t>Consider genomic strings: </a:t>
            </a:r>
            <a:r>
              <a:rPr lang="en-US" dirty="0">
                <a:solidFill>
                  <a:schemeClr val="tx1"/>
                </a:solidFill>
                <a:latin typeface="Courier New" panose="02070309020205020404" pitchFamily="49" charset="0"/>
                <a:cs typeface="Courier New" panose="02070309020205020404" pitchFamily="49" charset="0"/>
              </a:rPr>
              <a:t>GCCCATGACTCGCATGCTGACATGCTGCTAGCT</a:t>
            </a:r>
            <a:br>
              <a:rPr lang="en-US" dirty="0">
                <a:solidFill>
                  <a:schemeClr val="tx1"/>
                </a:solidFill>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                  </a:t>
            </a: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CCCATGACTCGCA</a:t>
            </a:r>
            <a:r>
              <a:rPr lang="en-US" dirty="0">
                <a:solidFill>
                  <a:srgbClr val="FF0000"/>
                </a:solidFill>
                <a:latin typeface="Courier New" panose="02070309020205020404" pitchFamily="49" charset="0"/>
                <a:cs typeface="Courier New" panose="02070309020205020404" pitchFamily="49" charset="0"/>
              </a:rPr>
              <a:t>-</a:t>
            </a:r>
            <a:r>
              <a:rPr lang="en-US" dirty="0">
                <a:solidFill>
                  <a:schemeClr val="tx1"/>
                </a:solidFill>
                <a:latin typeface="Courier New" panose="02070309020205020404" pitchFamily="49" charset="0"/>
                <a:cs typeface="Courier New" panose="02070309020205020404" pitchFamily="49" charset="0"/>
              </a:rPr>
              <a:t>G</a:t>
            </a: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TGACATGCTGCTAG</a:t>
            </a: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T</a:t>
            </a:r>
          </a:p>
          <a:p>
            <a:endParaRPr lang="en-US" dirty="0"/>
          </a:p>
        </p:txBody>
      </p:sp>
    </p:spTree>
    <p:extLst>
      <p:ext uri="{BB962C8B-B14F-4D97-AF65-F5344CB8AC3E}">
        <p14:creationId xmlns:p14="http://schemas.microsoft.com/office/powerpoint/2010/main" val="10498663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E3A049-CDF5-B88D-F616-BDCA61EE0DB3}"/>
              </a:ext>
            </a:extLst>
          </p:cNvPr>
          <p:cNvSpPr>
            <a:spLocks noGrp="1"/>
          </p:cNvSpPr>
          <p:nvPr>
            <p:ph type="title"/>
          </p:nvPr>
        </p:nvSpPr>
        <p:spPr/>
        <p:txBody>
          <a:bodyPr>
            <a:normAutofit fontScale="90000"/>
          </a:bodyPr>
          <a:lstStyle/>
          <a:p>
            <a:r>
              <a:rPr lang="en-US" dirty="0"/>
              <a:t>Seeding alignments with minimizers</a:t>
            </a:r>
          </a:p>
        </p:txBody>
      </p:sp>
      <p:sp>
        <p:nvSpPr>
          <p:cNvPr id="3" name="Content Placeholder 2">
            <a:extLst>
              <a:ext uri="{FF2B5EF4-FFF2-40B4-BE49-F238E27FC236}">
                <a16:creationId xmlns:a16="http://schemas.microsoft.com/office/drawing/2014/main" id="{6DFEC6F4-70CB-8F7B-270F-3FA6FD6FCDC6}"/>
              </a:ext>
            </a:extLst>
          </p:cNvPr>
          <p:cNvSpPr>
            <a:spLocks noGrp="1"/>
          </p:cNvSpPr>
          <p:nvPr>
            <p:ph idx="1"/>
          </p:nvPr>
        </p:nvSpPr>
        <p:spPr>
          <a:xfrm>
            <a:off x="257175" y="1493869"/>
            <a:ext cx="12211050" cy="1322872"/>
          </a:xfrm>
        </p:spPr>
        <p:txBody>
          <a:bodyPr>
            <a:normAutofit/>
          </a:bodyPr>
          <a:lstStyle/>
          <a:p>
            <a:r>
              <a:rPr lang="en-US" dirty="0"/>
              <a:t>Consider genomic strings: </a:t>
            </a:r>
            <a:r>
              <a:rPr lang="en-US" dirty="0">
                <a:solidFill>
                  <a:schemeClr val="tx1"/>
                </a:solidFill>
                <a:latin typeface="Courier New" panose="02070309020205020404" pitchFamily="49" charset="0"/>
                <a:cs typeface="Courier New" panose="02070309020205020404" pitchFamily="49" charset="0"/>
              </a:rPr>
              <a:t>GCCCATGACTCGCATGCTGACATGCTGCTAGCT</a:t>
            </a:r>
            <a:br>
              <a:rPr lang="en-US" dirty="0">
                <a:solidFill>
                  <a:schemeClr val="tx1"/>
                </a:solidFill>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                  </a:t>
            </a: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CCCATGACTCGCA</a:t>
            </a:r>
            <a:r>
              <a:rPr lang="en-US" dirty="0">
                <a:solidFill>
                  <a:srgbClr val="FF0000"/>
                </a:solidFill>
                <a:latin typeface="Courier New" panose="02070309020205020404" pitchFamily="49" charset="0"/>
                <a:cs typeface="Courier New" panose="02070309020205020404" pitchFamily="49" charset="0"/>
              </a:rPr>
              <a:t>-</a:t>
            </a:r>
            <a:r>
              <a:rPr lang="en-US" dirty="0">
                <a:solidFill>
                  <a:schemeClr val="tx1"/>
                </a:solidFill>
                <a:latin typeface="Courier New" panose="02070309020205020404" pitchFamily="49" charset="0"/>
                <a:cs typeface="Courier New" panose="02070309020205020404" pitchFamily="49" charset="0"/>
              </a:rPr>
              <a:t>G</a:t>
            </a: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TGACATGCTGCTAG</a:t>
            </a: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T</a:t>
            </a:r>
          </a:p>
          <a:p>
            <a:endParaRPr lang="en-US" dirty="0"/>
          </a:p>
        </p:txBody>
      </p:sp>
      <p:sp>
        <p:nvSpPr>
          <p:cNvPr id="4" name="Slide Number Placeholder 3">
            <a:extLst>
              <a:ext uri="{FF2B5EF4-FFF2-40B4-BE49-F238E27FC236}">
                <a16:creationId xmlns:a16="http://schemas.microsoft.com/office/drawing/2014/main" id="{FF392A97-FB83-BECC-D2AC-28D7C8D671BD}"/>
              </a:ext>
            </a:extLst>
          </p:cNvPr>
          <p:cNvSpPr>
            <a:spLocks noGrp="1"/>
          </p:cNvSpPr>
          <p:nvPr>
            <p:ph type="sldNum" sz="quarter" idx="12"/>
          </p:nvPr>
        </p:nvSpPr>
        <p:spPr/>
        <p:txBody>
          <a:bodyPr/>
          <a:lstStyle/>
          <a:p>
            <a:fld id="{B82CCC60-E8CD-4174-8B1A-7DF615B22EEF}" type="slidenum">
              <a:rPr lang="en-US" smtClean="0"/>
              <a:pPr/>
              <a:t>51</a:t>
            </a:fld>
            <a:endParaRPr lang="en-US"/>
          </a:p>
        </p:txBody>
      </p:sp>
      <p:sp>
        <p:nvSpPr>
          <p:cNvPr id="25" name="Arrow: Right 24">
            <a:extLst>
              <a:ext uri="{FF2B5EF4-FFF2-40B4-BE49-F238E27FC236}">
                <a16:creationId xmlns:a16="http://schemas.microsoft.com/office/drawing/2014/main" id="{6EF11CDF-3D2D-09C8-8A82-006A44E94DAC}"/>
              </a:ext>
            </a:extLst>
          </p:cNvPr>
          <p:cNvSpPr/>
          <p:nvPr/>
        </p:nvSpPr>
        <p:spPr>
          <a:xfrm flipH="1">
            <a:off x="10449904" y="2972203"/>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26" name="Arrow: Right 25">
            <a:extLst>
              <a:ext uri="{FF2B5EF4-FFF2-40B4-BE49-F238E27FC236}">
                <a16:creationId xmlns:a16="http://schemas.microsoft.com/office/drawing/2014/main" id="{2F630970-63EC-4F7C-1960-4C2B4F83BCD1}"/>
              </a:ext>
            </a:extLst>
          </p:cNvPr>
          <p:cNvSpPr/>
          <p:nvPr/>
        </p:nvSpPr>
        <p:spPr>
          <a:xfrm flipH="1">
            <a:off x="10449904" y="3155546"/>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27" name="Arrow: Right 26">
            <a:extLst>
              <a:ext uri="{FF2B5EF4-FFF2-40B4-BE49-F238E27FC236}">
                <a16:creationId xmlns:a16="http://schemas.microsoft.com/office/drawing/2014/main" id="{26EF2BF7-5B0C-7C20-F690-84EBE875002D}"/>
              </a:ext>
            </a:extLst>
          </p:cNvPr>
          <p:cNvSpPr/>
          <p:nvPr/>
        </p:nvSpPr>
        <p:spPr>
          <a:xfrm flipH="1">
            <a:off x="10449904" y="3343881"/>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28" name="Arrow: Right 27">
            <a:extLst>
              <a:ext uri="{FF2B5EF4-FFF2-40B4-BE49-F238E27FC236}">
                <a16:creationId xmlns:a16="http://schemas.microsoft.com/office/drawing/2014/main" id="{AED9829C-19C0-B0FE-B2B4-872744300684}"/>
              </a:ext>
            </a:extLst>
          </p:cNvPr>
          <p:cNvSpPr/>
          <p:nvPr/>
        </p:nvSpPr>
        <p:spPr>
          <a:xfrm flipH="1">
            <a:off x="10449904" y="4260045"/>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29" name="Arrow: Right 28">
            <a:extLst>
              <a:ext uri="{FF2B5EF4-FFF2-40B4-BE49-F238E27FC236}">
                <a16:creationId xmlns:a16="http://schemas.microsoft.com/office/drawing/2014/main" id="{24A8AF75-95AE-62BF-2985-3B651EB970C3}"/>
              </a:ext>
            </a:extLst>
          </p:cNvPr>
          <p:cNvSpPr/>
          <p:nvPr/>
        </p:nvSpPr>
        <p:spPr>
          <a:xfrm flipH="1">
            <a:off x="10449904" y="5184414"/>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5" name="Arrow: Right 4">
            <a:extLst>
              <a:ext uri="{FF2B5EF4-FFF2-40B4-BE49-F238E27FC236}">
                <a16:creationId xmlns:a16="http://schemas.microsoft.com/office/drawing/2014/main" id="{D80D5E50-4E95-9F06-6C5B-4CF2AAF5030C}"/>
              </a:ext>
            </a:extLst>
          </p:cNvPr>
          <p:cNvSpPr/>
          <p:nvPr/>
        </p:nvSpPr>
        <p:spPr>
          <a:xfrm flipH="1">
            <a:off x="4737935" y="2999615"/>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7" name="Arrow: Right 6">
            <a:extLst>
              <a:ext uri="{FF2B5EF4-FFF2-40B4-BE49-F238E27FC236}">
                <a16:creationId xmlns:a16="http://schemas.microsoft.com/office/drawing/2014/main" id="{71890E15-5375-48C5-39C7-A7410B930357}"/>
              </a:ext>
            </a:extLst>
          </p:cNvPr>
          <p:cNvSpPr/>
          <p:nvPr/>
        </p:nvSpPr>
        <p:spPr>
          <a:xfrm flipH="1">
            <a:off x="4737935" y="3941640"/>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8" name="Arrow: Right 7">
            <a:extLst>
              <a:ext uri="{FF2B5EF4-FFF2-40B4-BE49-F238E27FC236}">
                <a16:creationId xmlns:a16="http://schemas.microsoft.com/office/drawing/2014/main" id="{8829DCA8-C4BB-E3C6-00C1-3193C4351B35}"/>
              </a:ext>
            </a:extLst>
          </p:cNvPr>
          <p:cNvSpPr/>
          <p:nvPr/>
        </p:nvSpPr>
        <p:spPr>
          <a:xfrm flipH="1">
            <a:off x="4737935" y="4518539"/>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9" name="Arrow: Right 8">
            <a:extLst>
              <a:ext uri="{FF2B5EF4-FFF2-40B4-BE49-F238E27FC236}">
                <a16:creationId xmlns:a16="http://schemas.microsoft.com/office/drawing/2014/main" id="{EC71EF05-39B4-5426-337E-5A12D4C96D54}"/>
              </a:ext>
            </a:extLst>
          </p:cNvPr>
          <p:cNvSpPr/>
          <p:nvPr/>
        </p:nvSpPr>
        <p:spPr>
          <a:xfrm flipH="1">
            <a:off x="4737935" y="6341976"/>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10" name="Arrow: Right 9">
            <a:extLst>
              <a:ext uri="{FF2B5EF4-FFF2-40B4-BE49-F238E27FC236}">
                <a16:creationId xmlns:a16="http://schemas.microsoft.com/office/drawing/2014/main" id="{33CC639B-B138-4074-740C-BCDE2BAC88B7}"/>
              </a:ext>
            </a:extLst>
          </p:cNvPr>
          <p:cNvSpPr/>
          <p:nvPr/>
        </p:nvSpPr>
        <p:spPr>
          <a:xfrm flipH="1">
            <a:off x="4737935" y="5366977"/>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11" name="Arrow: Right 10">
            <a:extLst>
              <a:ext uri="{FF2B5EF4-FFF2-40B4-BE49-F238E27FC236}">
                <a16:creationId xmlns:a16="http://schemas.microsoft.com/office/drawing/2014/main" id="{B07742AF-2E6E-4DA5-A414-2406089EB003}"/>
              </a:ext>
            </a:extLst>
          </p:cNvPr>
          <p:cNvSpPr/>
          <p:nvPr/>
        </p:nvSpPr>
        <p:spPr>
          <a:xfrm flipH="1">
            <a:off x="4737935" y="4853502"/>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12" name="Arrow: Right 11">
            <a:extLst>
              <a:ext uri="{FF2B5EF4-FFF2-40B4-BE49-F238E27FC236}">
                <a16:creationId xmlns:a16="http://schemas.microsoft.com/office/drawing/2014/main" id="{1D536D68-6094-47D0-44B1-9C3C3390A075}"/>
              </a:ext>
            </a:extLst>
          </p:cNvPr>
          <p:cNvSpPr/>
          <p:nvPr/>
        </p:nvSpPr>
        <p:spPr>
          <a:xfrm flipH="1">
            <a:off x="4737935" y="3175519"/>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16" name="Arrow: Right 15">
            <a:extLst>
              <a:ext uri="{FF2B5EF4-FFF2-40B4-BE49-F238E27FC236}">
                <a16:creationId xmlns:a16="http://schemas.microsoft.com/office/drawing/2014/main" id="{6FCB9F6F-DB62-7444-8E6E-FF4A5EF62304}"/>
              </a:ext>
            </a:extLst>
          </p:cNvPr>
          <p:cNvSpPr/>
          <p:nvPr/>
        </p:nvSpPr>
        <p:spPr>
          <a:xfrm flipH="1">
            <a:off x="10449904" y="6136970"/>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pic>
        <p:nvPicPr>
          <p:cNvPr id="13" name="Picture 12">
            <a:extLst>
              <a:ext uri="{FF2B5EF4-FFF2-40B4-BE49-F238E27FC236}">
                <a16:creationId xmlns:a16="http://schemas.microsoft.com/office/drawing/2014/main" id="{035E2BB0-C694-DBA3-D2DC-FD9DAE3214A8}"/>
              </a:ext>
            </a:extLst>
          </p:cNvPr>
          <p:cNvPicPr>
            <a:picLocks noChangeAspect="1"/>
          </p:cNvPicPr>
          <p:nvPr/>
        </p:nvPicPr>
        <p:blipFill>
          <a:blip r:embed="rId2"/>
          <a:stretch>
            <a:fillRect/>
          </a:stretch>
        </p:blipFill>
        <p:spPr>
          <a:xfrm>
            <a:off x="538163" y="2320417"/>
            <a:ext cx="4134242" cy="4537583"/>
          </a:xfrm>
          <a:prstGeom prst="rect">
            <a:avLst/>
          </a:prstGeom>
        </p:spPr>
      </p:pic>
      <p:pic>
        <p:nvPicPr>
          <p:cNvPr id="21" name="Picture 20">
            <a:extLst>
              <a:ext uri="{FF2B5EF4-FFF2-40B4-BE49-F238E27FC236}">
                <a16:creationId xmlns:a16="http://schemas.microsoft.com/office/drawing/2014/main" id="{A09D5DB8-17D2-BACF-35FE-FFFC50BDFCC7}"/>
              </a:ext>
            </a:extLst>
          </p:cNvPr>
          <p:cNvPicPr>
            <a:picLocks noChangeAspect="1"/>
          </p:cNvPicPr>
          <p:nvPr/>
        </p:nvPicPr>
        <p:blipFill>
          <a:blip r:embed="rId3"/>
          <a:stretch>
            <a:fillRect/>
          </a:stretch>
        </p:blipFill>
        <p:spPr>
          <a:xfrm>
            <a:off x="6305241" y="2320417"/>
            <a:ext cx="4119688" cy="4306294"/>
          </a:xfrm>
          <a:prstGeom prst="rect">
            <a:avLst/>
          </a:prstGeom>
        </p:spPr>
      </p:pic>
    </p:spTree>
    <p:extLst>
      <p:ext uri="{BB962C8B-B14F-4D97-AF65-F5344CB8AC3E}">
        <p14:creationId xmlns:p14="http://schemas.microsoft.com/office/powerpoint/2010/main" val="339014962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84A0A8-C1EC-3C10-6366-63E0FC770E72}"/>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F61CC7E8-3AD6-81BF-A9A5-C7F1555484E4}"/>
              </a:ext>
            </a:extLst>
          </p:cNvPr>
          <p:cNvPicPr>
            <a:picLocks noChangeAspect="1"/>
          </p:cNvPicPr>
          <p:nvPr/>
        </p:nvPicPr>
        <p:blipFill>
          <a:blip r:embed="rId2"/>
          <a:stretch>
            <a:fillRect/>
          </a:stretch>
        </p:blipFill>
        <p:spPr>
          <a:xfrm>
            <a:off x="6308476" y="2289461"/>
            <a:ext cx="4119688" cy="4306294"/>
          </a:xfrm>
          <a:prstGeom prst="rect">
            <a:avLst/>
          </a:prstGeom>
        </p:spPr>
      </p:pic>
      <p:pic>
        <p:nvPicPr>
          <p:cNvPr id="19" name="Picture 18">
            <a:extLst>
              <a:ext uri="{FF2B5EF4-FFF2-40B4-BE49-F238E27FC236}">
                <a16:creationId xmlns:a16="http://schemas.microsoft.com/office/drawing/2014/main" id="{C74AA37F-1822-F664-3B13-B83855D289FC}"/>
              </a:ext>
            </a:extLst>
          </p:cNvPr>
          <p:cNvPicPr>
            <a:picLocks noChangeAspect="1"/>
          </p:cNvPicPr>
          <p:nvPr/>
        </p:nvPicPr>
        <p:blipFill>
          <a:blip r:embed="rId3"/>
          <a:stretch>
            <a:fillRect/>
          </a:stretch>
        </p:blipFill>
        <p:spPr>
          <a:xfrm>
            <a:off x="481241" y="2320417"/>
            <a:ext cx="4160007" cy="4565861"/>
          </a:xfrm>
          <a:prstGeom prst="rect">
            <a:avLst/>
          </a:prstGeom>
        </p:spPr>
      </p:pic>
      <p:sp>
        <p:nvSpPr>
          <p:cNvPr id="2" name="Title 1">
            <a:extLst>
              <a:ext uri="{FF2B5EF4-FFF2-40B4-BE49-F238E27FC236}">
                <a16:creationId xmlns:a16="http://schemas.microsoft.com/office/drawing/2014/main" id="{738288DA-450F-0614-2AD4-09CD47F9838E}"/>
              </a:ext>
            </a:extLst>
          </p:cNvPr>
          <p:cNvSpPr>
            <a:spLocks noGrp="1"/>
          </p:cNvSpPr>
          <p:nvPr>
            <p:ph type="title"/>
          </p:nvPr>
        </p:nvSpPr>
        <p:spPr/>
        <p:txBody>
          <a:bodyPr>
            <a:normAutofit fontScale="90000"/>
          </a:bodyPr>
          <a:lstStyle/>
          <a:p>
            <a:r>
              <a:rPr lang="en-US" dirty="0"/>
              <a:t>Seeding alignments with minimizers</a:t>
            </a:r>
          </a:p>
        </p:txBody>
      </p:sp>
      <p:sp>
        <p:nvSpPr>
          <p:cNvPr id="3" name="Content Placeholder 2">
            <a:extLst>
              <a:ext uri="{FF2B5EF4-FFF2-40B4-BE49-F238E27FC236}">
                <a16:creationId xmlns:a16="http://schemas.microsoft.com/office/drawing/2014/main" id="{99FDF478-640A-2CD0-0D10-DF2E28CD56D9}"/>
              </a:ext>
            </a:extLst>
          </p:cNvPr>
          <p:cNvSpPr>
            <a:spLocks noGrp="1"/>
          </p:cNvSpPr>
          <p:nvPr>
            <p:ph idx="1"/>
          </p:nvPr>
        </p:nvSpPr>
        <p:spPr>
          <a:xfrm>
            <a:off x="257175" y="1493869"/>
            <a:ext cx="12211050" cy="1322872"/>
          </a:xfrm>
        </p:spPr>
        <p:txBody>
          <a:bodyPr>
            <a:normAutofit/>
          </a:bodyPr>
          <a:lstStyle/>
          <a:p>
            <a:r>
              <a:rPr lang="en-US" dirty="0"/>
              <a:t>Consider genomic strings: </a:t>
            </a:r>
            <a:r>
              <a:rPr lang="en-US" dirty="0">
                <a:solidFill>
                  <a:schemeClr val="tx1"/>
                </a:solidFill>
                <a:latin typeface="Courier New" panose="02070309020205020404" pitchFamily="49" charset="0"/>
                <a:cs typeface="Courier New" panose="02070309020205020404" pitchFamily="49" charset="0"/>
              </a:rPr>
              <a:t>GCCCATGACTCGCATGCTGACATGCTGCTAGCT</a:t>
            </a:r>
            <a:br>
              <a:rPr lang="en-US" dirty="0">
                <a:solidFill>
                  <a:schemeClr val="tx1"/>
                </a:solidFill>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                  </a:t>
            </a: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CCCATGACTCGCA</a:t>
            </a:r>
            <a:r>
              <a:rPr lang="en-US" dirty="0">
                <a:solidFill>
                  <a:srgbClr val="FF0000"/>
                </a:solidFill>
                <a:latin typeface="Courier New" panose="02070309020205020404" pitchFamily="49" charset="0"/>
                <a:cs typeface="Courier New" panose="02070309020205020404" pitchFamily="49" charset="0"/>
              </a:rPr>
              <a:t>-</a:t>
            </a:r>
            <a:r>
              <a:rPr lang="en-US" dirty="0">
                <a:solidFill>
                  <a:schemeClr val="tx1"/>
                </a:solidFill>
                <a:latin typeface="Courier New" panose="02070309020205020404" pitchFamily="49" charset="0"/>
                <a:cs typeface="Courier New" panose="02070309020205020404" pitchFamily="49" charset="0"/>
              </a:rPr>
              <a:t>G</a:t>
            </a: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TGACATGCTGCTAG</a:t>
            </a: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T</a:t>
            </a:r>
          </a:p>
          <a:p>
            <a:endParaRPr lang="en-US" dirty="0"/>
          </a:p>
        </p:txBody>
      </p:sp>
      <p:sp>
        <p:nvSpPr>
          <p:cNvPr id="4" name="Slide Number Placeholder 3">
            <a:extLst>
              <a:ext uri="{FF2B5EF4-FFF2-40B4-BE49-F238E27FC236}">
                <a16:creationId xmlns:a16="http://schemas.microsoft.com/office/drawing/2014/main" id="{73CE87EF-2347-C0E7-AC4B-FE166741806D}"/>
              </a:ext>
            </a:extLst>
          </p:cNvPr>
          <p:cNvSpPr>
            <a:spLocks noGrp="1"/>
          </p:cNvSpPr>
          <p:nvPr>
            <p:ph type="sldNum" sz="quarter" idx="12"/>
          </p:nvPr>
        </p:nvSpPr>
        <p:spPr/>
        <p:txBody>
          <a:bodyPr/>
          <a:lstStyle/>
          <a:p>
            <a:fld id="{B82CCC60-E8CD-4174-8B1A-7DF615B22EEF}" type="slidenum">
              <a:rPr lang="en-US" smtClean="0"/>
              <a:pPr/>
              <a:t>52</a:t>
            </a:fld>
            <a:endParaRPr lang="en-US"/>
          </a:p>
        </p:txBody>
      </p:sp>
      <p:sp>
        <p:nvSpPr>
          <p:cNvPr id="25" name="Arrow: Right 24">
            <a:extLst>
              <a:ext uri="{FF2B5EF4-FFF2-40B4-BE49-F238E27FC236}">
                <a16:creationId xmlns:a16="http://schemas.microsoft.com/office/drawing/2014/main" id="{6E9E63AD-B71B-D44E-C561-03BE70EC50BD}"/>
              </a:ext>
            </a:extLst>
          </p:cNvPr>
          <p:cNvSpPr/>
          <p:nvPr/>
        </p:nvSpPr>
        <p:spPr>
          <a:xfrm flipH="1">
            <a:off x="10449904" y="2972203"/>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26" name="Arrow: Right 25">
            <a:extLst>
              <a:ext uri="{FF2B5EF4-FFF2-40B4-BE49-F238E27FC236}">
                <a16:creationId xmlns:a16="http://schemas.microsoft.com/office/drawing/2014/main" id="{E6B00C5B-7ADA-7E9A-1718-249F27379500}"/>
              </a:ext>
            </a:extLst>
          </p:cNvPr>
          <p:cNvSpPr/>
          <p:nvPr/>
        </p:nvSpPr>
        <p:spPr>
          <a:xfrm flipH="1">
            <a:off x="10449904" y="3155546"/>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27" name="Arrow: Right 26">
            <a:extLst>
              <a:ext uri="{FF2B5EF4-FFF2-40B4-BE49-F238E27FC236}">
                <a16:creationId xmlns:a16="http://schemas.microsoft.com/office/drawing/2014/main" id="{5A5022E8-E86D-0C93-4BED-0AB14BE1CEA4}"/>
              </a:ext>
            </a:extLst>
          </p:cNvPr>
          <p:cNvSpPr/>
          <p:nvPr/>
        </p:nvSpPr>
        <p:spPr>
          <a:xfrm flipH="1">
            <a:off x="10449904" y="3343881"/>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28" name="Arrow: Right 27">
            <a:extLst>
              <a:ext uri="{FF2B5EF4-FFF2-40B4-BE49-F238E27FC236}">
                <a16:creationId xmlns:a16="http://schemas.microsoft.com/office/drawing/2014/main" id="{AE906631-228D-D99C-EDF6-9396A37FF1F1}"/>
              </a:ext>
            </a:extLst>
          </p:cNvPr>
          <p:cNvSpPr/>
          <p:nvPr/>
        </p:nvSpPr>
        <p:spPr>
          <a:xfrm flipH="1">
            <a:off x="10449904" y="4260045"/>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29" name="Arrow: Right 28">
            <a:extLst>
              <a:ext uri="{FF2B5EF4-FFF2-40B4-BE49-F238E27FC236}">
                <a16:creationId xmlns:a16="http://schemas.microsoft.com/office/drawing/2014/main" id="{4C526DBA-49AD-527A-8FBC-1493684F21D1}"/>
              </a:ext>
            </a:extLst>
          </p:cNvPr>
          <p:cNvSpPr/>
          <p:nvPr/>
        </p:nvSpPr>
        <p:spPr>
          <a:xfrm flipH="1">
            <a:off x="10449904" y="5184414"/>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5" name="Arrow: Right 4">
            <a:extLst>
              <a:ext uri="{FF2B5EF4-FFF2-40B4-BE49-F238E27FC236}">
                <a16:creationId xmlns:a16="http://schemas.microsoft.com/office/drawing/2014/main" id="{30FB8107-BF26-81D3-F02A-F3D0D121BBFB}"/>
              </a:ext>
            </a:extLst>
          </p:cNvPr>
          <p:cNvSpPr/>
          <p:nvPr/>
        </p:nvSpPr>
        <p:spPr>
          <a:xfrm flipH="1">
            <a:off x="4737935" y="2999615"/>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7" name="Arrow: Right 6">
            <a:extLst>
              <a:ext uri="{FF2B5EF4-FFF2-40B4-BE49-F238E27FC236}">
                <a16:creationId xmlns:a16="http://schemas.microsoft.com/office/drawing/2014/main" id="{331CBC05-B86E-9B5F-0602-97B0552851F0}"/>
              </a:ext>
            </a:extLst>
          </p:cNvPr>
          <p:cNvSpPr/>
          <p:nvPr/>
        </p:nvSpPr>
        <p:spPr>
          <a:xfrm flipH="1">
            <a:off x="4737935" y="3941640"/>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8" name="Arrow: Right 7">
            <a:extLst>
              <a:ext uri="{FF2B5EF4-FFF2-40B4-BE49-F238E27FC236}">
                <a16:creationId xmlns:a16="http://schemas.microsoft.com/office/drawing/2014/main" id="{55D51D81-3744-F270-50EA-B4E1C2F63EC9}"/>
              </a:ext>
            </a:extLst>
          </p:cNvPr>
          <p:cNvSpPr/>
          <p:nvPr/>
        </p:nvSpPr>
        <p:spPr>
          <a:xfrm flipH="1">
            <a:off x="4737935" y="4518539"/>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9" name="Arrow: Right 8">
            <a:extLst>
              <a:ext uri="{FF2B5EF4-FFF2-40B4-BE49-F238E27FC236}">
                <a16:creationId xmlns:a16="http://schemas.microsoft.com/office/drawing/2014/main" id="{2F661A74-A12C-6994-E74C-23D947E53CF2}"/>
              </a:ext>
            </a:extLst>
          </p:cNvPr>
          <p:cNvSpPr/>
          <p:nvPr/>
        </p:nvSpPr>
        <p:spPr>
          <a:xfrm flipH="1">
            <a:off x="4737935" y="6341976"/>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10" name="Arrow: Right 9">
            <a:extLst>
              <a:ext uri="{FF2B5EF4-FFF2-40B4-BE49-F238E27FC236}">
                <a16:creationId xmlns:a16="http://schemas.microsoft.com/office/drawing/2014/main" id="{431A72C8-8C1B-AC69-0B45-C2046BD40C08}"/>
              </a:ext>
            </a:extLst>
          </p:cNvPr>
          <p:cNvSpPr/>
          <p:nvPr/>
        </p:nvSpPr>
        <p:spPr>
          <a:xfrm flipH="1">
            <a:off x="4737935" y="5366977"/>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11" name="Arrow: Right 10">
            <a:extLst>
              <a:ext uri="{FF2B5EF4-FFF2-40B4-BE49-F238E27FC236}">
                <a16:creationId xmlns:a16="http://schemas.microsoft.com/office/drawing/2014/main" id="{E4DB3641-AA04-81E8-7CCE-5E11F4CFE16C}"/>
              </a:ext>
            </a:extLst>
          </p:cNvPr>
          <p:cNvSpPr/>
          <p:nvPr/>
        </p:nvSpPr>
        <p:spPr>
          <a:xfrm flipH="1">
            <a:off x="4737935" y="4853502"/>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12" name="Arrow: Right 11">
            <a:extLst>
              <a:ext uri="{FF2B5EF4-FFF2-40B4-BE49-F238E27FC236}">
                <a16:creationId xmlns:a16="http://schemas.microsoft.com/office/drawing/2014/main" id="{E9AECF0D-5F62-E413-AFE2-028C18F774C3}"/>
              </a:ext>
            </a:extLst>
          </p:cNvPr>
          <p:cNvSpPr/>
          <p:nvPr/>
        </p:nvSpPr>
        <p:spPr>
          <a:xfrm flipH="1">
            <a:off x="4737935" y="3175519"/>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16" name="Arrow: Right 15">
            <a:extLst>
              <a:ext uri="{FF2B5EF4-FFF2-40B4-BE49-F238E27FC236}">
                <a16:creationId xmlns:a16="http://schemas.microsoft.com/office/drawing/2014/main" id="{432C0F67-864F-AD32-8149-03DDDE1340C3}"/>
              </a:ext>
            </a:extLst>
          </p:cNvPr>
          <p:cNvSpPr/>
          <p:nvPr/>
        </p:nvSpPr>
        <p:spPr>
          <a:xfrm flipH="1">
            <a:off x="10449904" y="6136970"/>
            <a:ext cx="1501776" cy="365126"/>
          </a:xfrm>
          <a:prstGeom prst="rightArrow">
            <a:avLst/>
          </a:prstGeom>
          <a:solidFill>
            <a:schemeClr val="tx2">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7030A0"/>
                </a:solidFill>
              </a:rPr>
              <a:t>minimizer</a:t>
            </a:r>
          </a:p>
        </p:txBody>
      </p:sp>
      <p:sp>
        <p:nvSpPr>
          <p:cNvPr id="13" name="Rectangle 12">
            <a:extLst>
              <a:ext uri="{FF2B5EF4-FFF2-40B4-BE49-F238E27FC236}">
                <a16:creationId xmlns:a16="http://schemas.microsoft.com/office/drawing/2014/main" id="{F17E4A0D-94B2-68DA-82F3-EBB415C948AF}"/>
              </a:ext>
            </a:extLst>
          </p:cNvPr>
          <p:cNvSpPr/>
          <p:nvPr/>
        </p:nvSpPr>
        <p:spPr>
          <a:xfrm>
            <a:off x="544896" y="3107206"/>
            <a:ext cx="4096352" cy="149943"/>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47E30DA-7765-2E55-DF32-424A704C7799}"/>
              </a:ext>
            </a:extLst>
          </p:cNvPr>
          <p:cNvSpPr/>
          <p:nvPr/>
        </p:nvSpPr>
        <p:spPr>
          <a:xfrm>
            <a:off x="6336398" y="3079794"/>
            <a:ext cx="4096352" cy="149943"/>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56062EF-0CBF-F7B5-DC9F-DE1EAF6F99A7}"/>
              </a:ext>
            </a:extLst>
          </p:cNvPr>
          <p:cNvSpPr/>
          <p:nvPr/>
        </p:nvSpPr>
        <p:spPr>
          <a:xfrm>
            <a:off x="544896" y="5549540"/>
            <a:ext cx="4096352" cy="149943"/>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F18F69E-7E25-FC8B-B9BA-B5F8C07997C0}"/>
              </a:ext>
            </a:extLst>
          </p:cNvPr>
          <p:cNvSpPr/>
          <p:nvPr/>
        </p:nvSpPr>
        <p:spPr>
          <a:xfrm>
            <a:off x="6336398" y="5314142"/>
            <a:ext cx="4096352" cy="149943"/>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277849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1AE030-83E7-5045-6624-73AD0235AE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5EE8F7-1559-D79C-E2C6-2D592088A7E4}"/>
              </a:ext>
            </a:extLst>
          </p:cNvPr>
          <p:cNvSpPr>
            <a:spLocks noGrp="1"/>
          </p:cNvSpPr>
          <p:nvPr>
            <p:ph type="title"/>
          </p:nvPr>
        </p:nvSpPr>
        <p:spPr/>
        <p:txBody>
          <a:bodyPr>
            <a:normAutofit fontScale="90000"/>
          </a:bodyPr>
          <a:lstStyle/>
          <a:p>
            <a:r>
              <a:rPr lang="en-US" dirty="0"/>
              <a:t>Seeding alignments with minimizers</a:t>
            </a:r>
          </a:p>
        </p:txBody>
      </p:sp>
      <p:sp>
        <p:nvSpPr>
          <p:cNvPr id="3" name="Content Placeholder 2">
            <a:extLst>
              <a:ext uri="{FF2B5EF4-FFF2-40B4-BE49-F238E27FC236}">
                <a16:creationId xmlns:a16="http://schemas.microsoft.com/office/drawing/2014/main" id="{6204A6D4-1E43-BA0D-9EDF-D8365EDB55AB}"/>
              </a:ext>
            </a:extLst>
          </p:cNvPr>
          <p:cNvSpPr>
            <a:spLocks noGrp="1"/>
          </p:cNvSpPr>
          <p:nvPr>
            <p:ph idx="1"/>
          </p:nvPr>
        </p:nvSpPr>
        <p:spPr>
          <a:xfrm>
            <a:off x="257175" y="1798668"/>
            <a:ext cx="10734675" cy="3859181"/>
          </a:xfrm>
        </p:spPr>
        <p:txBody>
          <a:bodyPr>
            <a:normAutofit/>
          </a:bodyPr>
          <a:lstStyle/>
          <a:p>
            <a:r>
              <a:rPr lang="en-US" dirty="0"/>
              <a:t>Alignment: </a:t>
            </a:r>
            <a:br>
              <a:rPr lang="en-US" dirty="0"/>
            </a:br>
            <a:r>
              <a:rPr lang="en-US" dirty="0">
                <a:solidFill>
                  <a:schemeClr val="tx1"/>
                </a:solidFill>
                <a:latin typeface="Courier New" panose="02070309020205020404" pitchFamily="49" charset="0"/>
                <a:cs typeface="Courier New" panose="02070309020205020404" pitchFamily="49" charset="0"/>
              </a:rPr>
              <a:t>GCCC</a:t>
            </a:r>
            <a:r>
              <a:rPr lang="en-US" b="1" dirty="0">
                <a:solidFill>
                  <a:schemeClr val="tx1"/>
                </a:solidFill>
                <a:latin typeface="Courier New" panose="02070309020205020404" pitchFamily="49" charset="0"/>
                <a:cs typeface="Courier New" panose="02070309020205020404" pitchFamily="49" charset="0"/>
              </a:rPr>
              <a:t>ATGACTCGCA</a:t>
            </a:r>
            <a:r>
              <a:rPr lang="en-US" dirty="0">
                <a:solidFill>
                  <a:schemeClr val="tx1"/>
                </a:solidFill>
                <a:latin typeface="Courier New" panose="02070309020205020404" pitchFamily="49" charset="0"/>
                <a:cs typeface="Courier New" panose="02070309020205020404" pitchFamily="49" charset="0"/>
              </a:rPr>
              <a:t>TGCTGAC</a:t>
            </a:r>
            <a:r>
              <a:rPr lang="en-US" b="1" dirty="0">
                <a:solidFill>
                  <a:schemeClr val="tx1"/>
                </a:solidFill>
                <a:latin typeface="Courier New" panose="02070309020205020404" pitchFamily="49" charset="0"/>
                <a:cs typeface="Courier New" panose="02070309020205020404" pitchFamily="49" charset="0"/>
              </a:rPr>
              <a:t>ATGCTGCTA</a:t>
            </a:r>
            <a:r>
              <a:rPr lang="en-US" dirty="0">
                <a:solidFill>
                  <a:schemeClr val="tx1"/>
                </a:solidFill>
                <a:latin typeface="Courier New" panose="02070309020205020404" pitchFamily="49" charset="0"/>
                <a:cs typeface="Courier New" panose="02070309020205020404" pitchFamily="49" charset="0"/>
              </a:rPr>
              <a:t>GCT</a:t>
            </a:r>
            <a:br>
              <a:rPr lang="en-US" dirty="0">
                <a:solidFill>
                  <a:schemeClr val="tx1"/>
                </a:solidFill>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 ||||||||||||| | |||||||||||||| |                  </a:t>
            </a:r>
            <a:br>
              <a:rPr lang="en-US" dirty="0">
                <a:solidFill>
                  <a:schemeClr val="tx1"/>
                </a:solidFill>
                <a:latin typeface="Courier New" panose="02070309020205020404" pitchFamily="49" charset="0"/>
                <a:cs typeface="Courier New" panose="02070309020205020404" pitchFamily="49" charset="0"/>
              </a:rPr>
            </a:b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CCC</a:t>
            </a:r>
            <a:r>
              <a:rPr lang="en-US" b="1" dirty="0">
                <a:solidFill>
                  <a:schemeClr val="tx1"/>
                </a:solidFill>
                <a:latin typeface="Courier New" panose="02070309020205020404" pitchFamily="49" charset="0"/>
                <a:cs typeface="Courier New" panose="02070309020205020404" pitchFamily="49" charset="0"/>
              </a:rPr>
              <a:t>ATGACTCGCA</a:t>
            </a:r>
            <a:r>
              <a:rPr lang="en-US" dirty="0">
                <a:solidFill>
                  <a:srgbClr val="FF0000"/>
                </a:solidFill>
                <a:latin typeface="Courier New" panose="02070309020205020404" pitchFamily="49" charset="0"/>
                <a:cs typeface="Courier New" panose="02070309020205020404" pitchFamily="49" charset="0"/>
              </a:rPr>
              <a:t>-</a:t>
            </a:r>
            <a:r>
              <a:rPr lang="en-US" dirty="0">
                <a:solidFill>
                  <a:schemeClr val="tx1"/>
                </a:solidFill>
                <a:latin typeface="Courier New" panose="02070309020205020404" pitchFamily="49" charset="0"/>
                <a:cs typeface="Courier New" panose="02070309020205020404" pitchFamily="49" charset="0"/>
              </a:rPr>
              <a:t>G</a:t>
            </a: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TGAC</a:t>
            </a:r>
            <a:r>
              <a:rPr lang="en-US" b="1" dirty="0">
                <a:solidFill>
                  <a:schemeClr val="tx1"/>
                </a:solidFill>
                <a:latin typeface="Courier New" panose="02070309020205020404" pitchFamily="49" charset="0"/>
                <a:cs typeface="Courier New" panose="02070309020205020404" pitchFamily="49" charset="0"/>
              </a:rPr>
              <a:t>ATGCTGCTA</a:t>
            </a:r>
            <a:r>
              <a:rPr lang="en-US" dirty="0">
                <a:solidFill>
                  <a:schemeClr val="tx1"/>
                </a:solidFill>
                <a:latin typeface="Courier New" panose="02070309020205020404" pitchFamily="49" charset="0"/>
                <a:cs typeface="Courier New" panose="02070309020205020404" pitchFamily="49" charset="0"/>
              </a:rPr>
              <a:t>G</a:t>
            </a: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T</a:t>
            </a:r>
          </a:p>
          <a:p>
            <a:endParaRPr lang="en-US" dirty="0">
              <a:solidFill>
                <a:schemeClr val="tx1"/>
              </a:solidFill>
              <a:cs typeface="Courier New" panose="02070309020205020404" pitchFamily="49" charset="0"/>
            </a:endParaRPr>
          </a:p>
          <a:p>
            <a:r>
              <a:rPr lang="en-US" dirty="0">
                <a:solidFill>
                  <a:schemeClr val="tx1"/>
                </a:solidFill>
                <a:cs typeface="Courier New" panose="02070309020205020404" pitchFamily="49" charset="0"/>
              </a:rPr>
              <a:t>You can do Smith-Waterman in-between the exact matches!</a:t>
            </a:r>
          </a:p>
          <a:p>
            <a:endParaRPr lang="en-US" dirty="0"/>
          </a:p>
        </p:txBody>
      </p:sp>
    </p:spTree>
    <p:extLst>
      <p:ext uri="{BB962C8B-B14F-4D97-AF65-F5344CB8AC3E}">
        <p14:creationId xmlns:p14="http://schemas.microsoft.com/office/powerpoint/2010/main" val="27698623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78AA5B-5242-520C-D3A1-3A44B8367B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F62160-C2DE-CAB2-BBE2-2ED729FCAF42}"/>
              </a:ext>
            </a:extLst>
          </p:cNvPr>
          <p:cNvSpPr>
            <a:spLocks noGrp="1"/>
          </p:cNvSpPr>
          <p:nvPr>
            <p:ph type="title"/>
          </p:nvPr>
        </p:nvSpPr>
        <p:spPr/>
        <p:txBody>
          <a:bodyPr>
            <a:normAutofit fontScale="90000"/>
          </a:bodyPr>
          <a:lstStyle/>
          <a:p>
            <a:r>
              <a:rPr lang="en-US" dirty="0"/>
              <a:t>Seeding alignments with minimizers</a:t>
            </a:r>
          </a:p>
        </p:txBody>
      </p:sp>
      <p:sp>
        <p:nvSpPr>
          <p:cNvPr id="3" name="Content Placeholder 2">
            <a:extLst>
              <a:ext uri="{FF2B5EF4-FFF2-40B4-BE49-F238E27FC236}">
                <a16:creationId xmlns:a16="http://schemas.microsoft.com/office/drawing/2014/main" id="{72B6891A-94D6-3A18-13AD-6D5C56EB46D0}"/>
              </a:ext>
            </a:extLst>
          </p:cNvPr>
          <p:cNvSpPr>
            <a:spLocks noGrp="1"/>
          </p:cNvSpPr>
          <p:nvPr>
            <p:ph idx="1"/>
          </p:nvPr>
        </p:nvSpPr>
        <p:spPr>
          <a:xfrm>
            <a:off x="257175" y="1798668"/>
            <a:ext cx="10734675" cy="3859181"/>
          </a:xfrm>
        </p:spPr>
        <p:txBody>
          <a:bodyPr>
            <a:normAutofit/>
          </a:bodyPr>
          <a:lstStyle/>
          <a:p>
            <a:r>
              <a:rPr lang="en-US" dirty="0"/>
              <a:t>Alignment: </a:t>
            </a:r>
            <a:br>
              <a:rPr lang="en-US" dirty="0"/>
            </a:br>
            <a:r>
              <a:rPr lang="en-US" dirty="0">
                <a:solidFill>
                  <a:schemeClr val="tx1"/>
                </a:solidFill>
                <a:latin typeface="Courier New" panose="02070309020205020404" pitchFamily="49" charset="0"/>
                <a:cs typeface="Courier New" panose="02070309020205020404" pitchFamily="49" charset="0"/>
              </a:rPr>
              <a:t>GCCC</a:t>
            </a:r>
            <a:r>
              <a:rPr lang="en-US" b="1" dirty="0">
                <a:solidFill>
                  <a:schemeClr val="tx1"/>
                </a:solidFill>
                <a:latin typeface="Courier New" panose="02070309020205020404" pitchFamily="49" charset="0"/>
                <a:cs typeface="Courier New" panose="02070309020205020404" pitchFamily="49" charset="0"/>
              </a:rPr>
              <a:t>ATGACTCGCA</a:t>
            </a:r>
            <a:r>
              <a:rPr lang="en-US" dirty="0">
                <a:solidFill>
                  <a:schemeClr val="tx1"/>
                </a:solidFill>
                <a:latin typeface="Courier New" panose="02070309020205020404" pitchFamily="49" charset="0"/>
                <a:cs typeface="Courier New" panose="02070309020205020404" pitchFamily="49" charset="0"/>
              </a:rPr>
              <a:t>TGCTGAC</a:t>
            </a:r>
            <a:r>
              <a:rPr lang="en-US" b="1" dirty="0">
                <a:solidFill>
                  <a:schemeClr val="tx1"/>
                </a:solidFill>
                <a:latin typeface="Courier New" panose="02070309020205020404" pitchFamily="49" charset="0"/>
                <a:cs typeface="Courier New" panose="02070309020205020404" pitchFamily="49" charset="0"/>
              </a:rPr>
              <a:t>ATGCTGCTA</a:t>
            </a:r>
            <a:r>
              <a:rPr lang="en-US" dirty="0">
                <a:solidFill>
                  <a:schemeClr val="tx1"/>
                </a:solidFill>
                <a:latin typeface="Courier New" panose="02070309020205020404" pitchFamily="49" charset="0"/>
                <a:cs typeface="Courier New" panose="02070309020205020404" pitchFamily="49" charset="0"/>
              </a:rPr>
              <a:t>GCT</a:t>
            </a:r>
            <a:br>
              <a:rPr lang="en-US" dirty="0">
                <a:solidFill>
                  <a:schemeClr val="tx1"/>
                </a:solidFill>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 ||||||||||||| | |||||||||||||| |                  </a:t>
            </a:r>
            <a:br>
              <a:rPr lang="en-US" dirty="0">
                <a:solidFill>
                  <a:schemeClr val="tx1"/>
                </a:solidFill>
                <a:latin typeface="Courier New" panose="02070309020205020404" pitchFamily="49" charset="0"/>
                <a:cs typeface="Courier New" panose="02070309020205020404" pitchFamily="49" charset="0"/>
              </a:rPr>
            </a:b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CCC</a:t>
            </a:r>
            <a:r>
              <a:rPr lang="en-US" b="1" dirty="0">
                <a:solidFill>
                  <a:schemeClr val="tx1"/>
                </a:solidFill>
                <a:latin typeface="Courier New" panose="02070309020205020404" pitchFamily="49" charset="0"/>
                <a:cs typeface="Courier New" panose="02070309020205020404" pitchFamily="49" charset="0"/>
              </a:rPr>
              <a:t>ATGACTCGCA</a:t>
            </a:r>
            <a:r>
              <a:rPr lang="en-US" dirty="0">
                <a:solidFill>
                  <a:srgbClr val="FF0000"/>
                </a:solidFill>
                <a:latin typeface="Courier New" panose="02070309020205020404" pitchFamily="49" charset="0"/>
                <a:cs typeface="Courier New" panose="02070309020205020404" pitchFamily="49" charset="0"/>
              </a:rPr>
              <a:t>-</a:t>
            </a:r>
            <a:r>
              <a:rPr lang="en-US" dirty="0">
                <a:solidFill>
                  <a:schemeClr val="tx1"/>
                </a:solidFill>
                <a:latin typeface="Courier New" panose="02070309020205020404" pitchFamily="49" charset="0"/>
                <a:cs typeface="Courier New" panose="02070309020205020404" pitchFamily="49" charset="0"/>
              </a:rPr>
              <a:t>G</a:t>
            </a: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TGAC</a:t>
            </a:r>
            <a:r>
              <a:rPr lang="en-US" b="1" dirty="0">
                <a:solidFill>
                  <a:schemeClr val="tx1"/>
                </a:solidFill>
                <a:latin typeface="Courier New" panose="02070309020205020404" pitchFamily="49" charset="0"/>
                <a:cs typeface="Courier New" panose="02070309020205020404" pitchFamily="49" charset="0"/>
              </a:rPr>
              <a:t>ATGCTGCTA</a:t>
            </a:r>
            <a:r>
              <a:rPr lang="en-US" dirty="0">
                <a:solidFill>
                  <a:schemeClr val="tx1"/>
                </a:solidFill>
                <a:latin typeface="Courier New" panose="02070309020205020404" pitchFamily="49" charset="0"/>
                <a:cs typeface="Courier New" panose="02070309020205020404" pitchFamily="49" charset="0"/>
              </a:rPr>
              <a:t>G</a:t>
            </a: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T</a:t>
            </a:r>
          </a:p>
          <a:p>
            <a:endParaRPr lang="en-US" dirty="0">
              <a:solidFill>
                <a:schemeClr val="tx1"/>
              </a:solidFill>
              <a:cs typeface="Courier New" panose="02070309020205020404" pitchFamily="49" charset="0"/>
            </a:endParaRPr>
          </a:p>
          <a:p>
            <a:r>
              <a:rPr lang="en-US" dirty="0">
                <a:solidFill>
                  <a:schemeClr val="tx1"/>
                </a:solidFill>
                <a:cs typeface="Courier New" panose="02070309020205020404" pitchFamily="49" charset="0"/>
              </a:rPr>
              <a:t>You can do Smith-Waterman in-between the exact matches!</a:t>
            </a:r>
          </a:p>
          <a:p>
            <a:endParaRPr lang="en-US" dirty="0"/>
          </a:p>
        </p:txBody>
      </p:sp>
      <p:sp>
        <p:nvSpPr>
          <p:cNvPr id="4" name="Rectangle 3">
            <a:extLst>
              <a:ext uri="{FF2B5EF4-FFF2-40B4-BE49-F238E27FC236}">
                <a16:creationId xmlns:a16="http://schemas.microsoft.com/office/drawing/2014/main" id="{310C7246-F72B-D09D-0C32-7E1A5484540B}"/>
              </a:ext>
            </a:extLst>
          </p:cNvPr>
          <p:cNvSpPr/>
          <p:nvPr/>
        </p:nvSpPr>
        <p:spPr>
          <a:xfrm>
            <a:off x="3441290" y="2231923"/>
            <a:ext cx="1966452" cy="127819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4743181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53179-599C-5E71-A452-60D3875610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A43F82-8849-2719-E35E-8ECCCB1C9302}"/>
              </a:ext>
            </a:extLst>
          </p:cNvPr>
          <p:cNvSpPr>
            <a:spLocks noGrp="1"/>
          </p:cNvSpPr>
          <p:nvPr>
            <p:ph type="title"/>
          </p:nvPr>
        </p:nvSpPr>
        <p:spPr/>
        <p:txBody>
          <a:bodyPr>
            <a:normAutofit fontScale="90000"/>
          </a:bodyPr>
          <a:lstStyle/>
          <a:p>
            <a:r>
              <a:rPr lang="en-US" dirty="0"/>
              <a:t>Using minimizers to compute candidate</a:t>
            </a:r>
            <a:br>
              <a:rPr lang="en-US" dirty="0"/>
            </a:br>
            <a:r>
              <a:rPr lang="en-US" dirty="0"/>
              <a:t> alignments</a:t>
            </a:r>
          </a:p>
        </p:txBody>
      </p:sp>
      <p:sp>
        <p:nvSpPr>
          <p:cNvPr id="3" name="Content Placeholder 2">
            <a:extLst>
              <a:ext uri="{FF2B5EF4-FFF2-40B4-BE49-F238E27FC236}">
                <a16:creationId xmlns:a16="http://schemas.microsoft.com/office/drawing/2014/main" id="{1CA5109D-FCF8-034E-52A5-044C722FD57E}"/>
              </a:ext>
            </a:extLst>
          </p:cNvPr>
          <p:cNvSpPr>
            <a:spLocks noGrp="1"/>
          </p:cNvSpPr>
          <p:nvPr>
            <p:ph idx="1"/>
          </p:nvPr>
        </p:nvSpPr>
        <p:spPr>
          <a:xfrm>
            <a:off x="598620" y="1734192"/>
            <a:ext cx="10972800" cy="1552918"/>
          </a:xfrm>
        </p:spPr>
        <p:txBody>
          <a:bodyPr>
            <a:normAutofit fontScale="85000" lnSpcReduction="20000"/>
          </a:bodyPr>
          <a:lstStyle/>
          <a:p>
            <a:r>
              <a:rPr lang="en-US" dirty="0"/>
              <a:t>Read R1 minimizers M1 at O1, M2 at O2 M3 at O3</a:t>
            </a:r>
          </a:p>
          <a:p>
            <a:r>
              <a:rPr lang="en-US" dirty="0"/>
              <a:t>Read R2 minimizers M4 at O4, M1 at O5 M2 at O6</a:t>
            </a:r>
          </a:p>
          <a:p>
            <a:r>
              <a:rPr lang="en-US" dirty="0"/>
              <a:t>Read R3 minimizers M3 at O7, M5 at O8</a:t>
            </a:r>
          </a:p>
          <a:p>
            <a:r>
              <a:rPr lang="en-US" dirty="0"/>
              <a:t>Build MRO file:</a:t>
            </a:r>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B0050B5B-2AC8-3AE2-160C-A965D0E55C9F}"/>
              </a:ext>
            </a:extLst>
          </p:cNvPr>
          <p:cNvSpPr>
            <a:spLocks noGrp="1"/>
          </p:cNvSpPr>
          <p:nvPr>
            <p:ph type="sldNum" sz="quarter" idx="12"/>
          </p:nvPr>
        </p:nvSpPr>
        <p:spPr/>
        <p:txBody>
          <a:bodyPr/>
          <a:lstStyle/>
          <a:p>
            <a:fld id="{B82CCC60-E8CD-4174-8B1A-7DF615B22EEF}" type="slidenum">
              <a:rPr lang="en-US" smtClean="0"/>
              <a:pPr/>
              <a:t>55</a:t>
            </a:fld>
            <a:endParaRPr lang="en-US"/>
          </a:p>
        </p:txBody>
      </p:sp>
      <p:sp>
        <p:nvSpPr>
          <p:cNvPr id="5" name="TextBox 4">
            <a:extLst>
              <a:ext uri="{FF2B5EF4-FFF2-40B4-BE49-F238E27FC236}">
                <a16:creationId xmlns:a16="http://schemas.microsoft.com/office/drawing/2014/main" id="{8EC15084-AACC-B389-7652-627CE06B74EE}"/>
              </a:ext>
            </a:extLst>
          </p:cNvPr>
          <p:cNvSpPr txBox="1"/>
          <p:nvPr/>
        </p:nvSpPr>
        <p:spPr>
          <a:xfrm>
            <a:off x="315310" y="3882877"/>
            <a:ext cx="1608083" cy="2308324"/>
          </a:xfrm>
          <a:prstGeom prst="rect">
            <a:avLst/>
          </a:prstGeom>
          <a:noFill/>
        </p:spPr>
        <p:txBody>
          <a:bodyPr wrap="square" rtlCol="0">
            <a:spAutoFit/>
          </a:bodyPr>
          <a:lstStyle/>
          <a:p>
            <a:pPr lvl="1"/>
            <a:r>
              <a:rPr lang="en-US" dirty="0"/>
              <a:t>M1 R1 O1</a:t>
            </a:r>
          </a:p>
          <a:p>
            <a:pPr lvl="1"/>
            <a:r>
              <a:rPr lang="en-US" dirty="0"/>
              <a:t>M2 R1 O2</a:t>
            </a:r>
          </a:p>
          <a:p>
            <a:pPr lvl="1"/>
            <a:r>
              <a:rPr lang="en-US" dirty="0"/>
              <a:t>M3 R1 O3</a:t>
            </a:r>
          </a:p>
          <a:p>
            <a:pPr lvl="1"/>
            <a:r>
              <a:rPr lang="en-US" dirty="0"/>
              <a:t>M4 R2 O4</a:t>
            </a:r>
          </a:p>
          <a:p>
            <a:pPr lvl="1"/>
            <a:r>
              <a:rPr lang="en-US" dirty="0"/>
              <a:t>M1 R2 O5</a:t>
            </a:r>
          </a:p>
          <a:p>
            <a:pPr lvl="1"/>
            <a:r>
              <a:rPr lang="en-US" dirty="0"/>
              <a:t>M2 R2 O6</a:t>
            </a:r>
          </a:p>
          <a:p>
            <a:pPr lvl="1"/>
            <a:r>
              <a:rPr lang="en-US" dirty="0"/>
              <a:t>M3 R3 O7</a:t>
            </a:r>
          </a:p>
          <a:p>
            <a:pPr lvl="1"/>
            <a:r>
              <a:rPr lang="en-US" dirty="0"/>
              <a:t>M5 R3 O8</a:t>
            </a:r>
          </a:p>
        </p:txBody>
      </p:sp>
      <p:sp>
        <p:nvSpPr>
          <p:cNvPr id="6" name="TextBox 5">
            <a:extLst>
              <a:ext uri="{FF2B5EF4-FFF2-40B4-BE49-F238E27FC236}">
                <a16:creationId xmlns:a16="http://schemas.microsoft.com/office/drawing/2014/main" id="{F7B2C357-0B9D-F810-6C21-76FB5F0C1958}"/>
              </a:ext>
            </a:extLst>
          </p:cNvPr>
          <p:cNvSpPr txBox="1"/>
          <p:nvPr/>
        </p:nvSpPr>
        <p:spPr>
          <a:xfrm>
            <a:off x="2017987" y="4746467"/>
            <a:ext cx="1831014" cy="369332"/>
          </a:xfrm>
          <a:prstGeom prst="rect">
            <a:avLst/>
          </a:prstGeom>
          <a:noFill/>
        </p:spPr>
        <p:txBody>
          <a:bodyPr wrap="none" rtlCol="0">
            <a:spAutoFit/>
          </a:bodyPr>
          <a:lstStyle/>
          <a:p>
            <a:r>
              <a:rPr lang="en-US" dirty="0"/>
              <a:t>Sort by minimizer</a:t>
            </a:r>
          </a:p>
        </p:txBody>
      </p:sp>
      <p:sp>
        <p:nvSpPr>
          <p:cNvPr id="7" name="TextBox 6">
            <a:extLst>
              <a:ext uri="{FF2B5EF4-FFF2-40B4-BE49-F238E27FC236}">
                <a16:creationId xmlns:a16="http://schemas.microsoft.com/office/drawing/2014/main" id="{B7C70D1A-650C-616E-03B4-8EABABCBE0E0}"/>
              </a:ext>
            </a:extLst>
          </p:cNvPr>
          <p:cNvSpPr txBox="1"/>
          <p:nvPr/>
        </p:nvSpPr>
        <p:spPr>
          <a:xfrm>
            <a:off x="3494689" y="3771028"/>
            <a:ext cx="1608083" cy="2308324"/>
          </a:xfrm>
          <a:prstGeom prst="rect">
            <a:avLst/>
          </a:prstGeom>
          <a:noFill/>
        </p:spPr>
        <p:txBody>
          <a:bodyPr wrap="square" rtlCol="0">
            <a:spAutoFit/>
          </a:bodyPr>
          <a:lstStyle/>
          <a:p>
            <a:pPr lvl="1"/>
            <a:r>
              <a:rPr lang="en-US" dirty="0"/>
              <a:t>M1 R1 O1</a:t>
            </a:r>
          </a:p>
          <a:p>
            <a:pPr lvl="1"/>
            <a:r>
              <a:rPr lang="en-US" dirty="0"/>
              <a:t>M1 R2 O5</a:t>
            </a:r>
          </a:p>
          <a:p>
            <a:pPr lvl="1"/>
            <a:r>
              <a:rPr lang="en-US" dirty="0"/>
              <a:t>M2 R1 O2</a:t>
            </a:r>
          </a:p>
          <a:p>
            <a:pPr lvl="1"/>
            <a:r>
              <a:rPr lang="en-US" dirty="0"/>
              <a:t>M2 R2 O6</a:t>
            </a:r>
          </a:p>
          <a:p>
            <a:pPr lvl="1"/>
            <a:r>
              <a:rPr lang="en-US" dirty="0"/>
              <a:t>M3 R1 O3</a:t>
            </a:r>
          </a:p>
          <a:p>
            <a:pPr lvl="1"/>
            <a:r>
              <a:rPr lang="en-US" dirty="0"/>
              <a:t>M3 R3 O7</a:t>
            </a:r>
          </a:p>
          <a:p>
            <a:pPr lvl="1"/>
            <a:r>
              <a:rPr lang="en-US" dirty="0"/>
              <a:t>M4 R2 O4</a:t>
            </a:r>
          </a:p>
          <a:p>
            <a:pPr lvl="1"/>
            <a:r>
              <a:rPr lang="en-US" dirty="0"/>
              <a:t>M5 R3 O8</a:t>
            </a:r>
          </a:p>
        </p:txBody>
      </p:sp>
      <p:sp>
        <p:nvSpPr>
          <p:cNvPr id="8" name="TextBox 7">
            <a:extLst>
              <a:ext uri="{FF2B5EF4-FFF2-40B4-BE49-F238E27FC236}">
                <a16:creationId xmlns:a16="http://schemas.microsoft.com/office/drawing/2014/main" id="{BD4396DA-E715-81D6-ADB2-726D80BCB27C}"/>
              </a:ext>
            </a:extLst>
          </p:cNvPr>
          <p:cNvSpPr txBox="1"/>
          <p:nvPr/>
        </p:nvSpPr>
        <p:spPr>
          <a:xfrm>
            <a:off x="5227646" y="4699059"/>
            <a:ext cx="1446422" cy="369332"/>
          </a:xfrm>
          <a:prstGeom prst="rect">
            <a:avLst/>
          </a:prstGeom>
          <a:noFill/>
        </p:spPr>
        <p:txBody>
          <a:bodyPr wrap="none" rtlCol="0">
            <a:spAutoFit/>
          </a:bodyPr>
          <a:lstStyle/>
          <a:p>
            <a:r>
              <a:rPr lang="en-US" dirty="0"/>
              <a:t>Collect reads </a:t>
            </a:r>
          </a:p>
        </p:txBody>
      </p:sp>
      <p:sp>
        <p:nvSpPr>
          <p:cNvPr id="9" name="TextBox 8">
            <a:extLst>
              <a:ext uri="{FF2B5EF4-FFF2-40B4-BE49-F238E27FC236}">
                <a16:creationId xmlns:a16="http://schemas.microsoft.com/office/drawing/2014/main" id="{F4D14CE9-32CF-24E7-EF81-2D90E7085DE6}"/>
              </a:ext>
            </a:extLst>
          </p:cNvPr>
          <p:cNvSpPr txBox="1"/>
          <p:nvPr/>
        </p:nvSpPr>
        <p:spPr>
          <a:xfrm>
            <a:off x="6387664" y="4186526"/>
            <a:ext cx="3245067" cy="1477328"/>
          </a:xfrm>
          <a:prstGeom prst="rect">
            <a:avLst/>
          </a:prstGeom>
          <a:noFill/>
        </p:spPr>
        <p:txBody>
          <a:bodyPr wrap="square" rtlCol="0">
            <a:spAutoFit/>
          </a:bodyPr>
          <a:lstStyle/>
          <a:p>
            <a:pPr lvl="1"/>
            <a:r>
              <a:rPr lang="en-US" dirty="0"/>
              <a:t>M1 R1 O1, R2 O5</a:t>
            </a:r>
          </a:p>
          <a:p>
            <a:pPr lvl="1"/>
            <a:r>
              <a:rPr lang="en-US" dirty="0"/>
              <a:t>M2 R1 O2, R2 O6</a:t>
            </a:r>
          </a:p>
          <a:p>
            <a:pPr lvl="1"/>
            <a:r>
              <a:rPr lang="en-US" dirty="0"/>
              <a:t>M3 R1 O3, R3 O7</a:t>
            </a:r>
          </a:p>
          <a:p>
            <a:pPr lvl="1"/>
            <a:r>
              <a:rPr lang="en-US" dirty="0"/>
              <a:t>M4 R2 O4</a:t>
            </a:r>
          </a:p>
          <a:p>
            <a:pPr lvl="1"/>
            <a:r>
              <a:rPr lang="en-US" dirty="0"/>
              <a:t>M5 R3 O8</a:t>
            </a:r>
          </a:p>
        </p:txBody>
      </p:sp>
      <p:sp>
        <p:nvSpPr>
          <p:cNvPr id="10" name="TextBox 9">
            <a:extLst>
              <a:ext uri="{FF2B5EF4-FFF2-40B4-BE49-F238E27FC236}">
                <a16:creationId xmlns:a16="http://schemas.microsoft.com/office/drawing/2014/main" id="{57D5D8E6-CFBF-ECEB-E48F-28F71D8E35D5}"/>
              </a:ext>
            </a:extLst>
          </p:cNvPr>
          <p:cNvSpPr txBox="1"/>
          <p:nvPr/>
        </p:nvSpPr>
        <p:spPr>
          <a:xfrm>
            <a:off x="8909520" y="4637064"/>
            <a:ext cx="1833643" cy="369332"/>
          </a:xfrm>
          <a:prstGeom prst="rect">
            <a:avLst/>
          </a:prstGeom>
          <a:noFill/>
        </p:spPr>
        <p:txBody>
          <a:bodyPr wrap="none" rtlCol="0">
            <a:spAutoFit/>
          </a:bodyPr>
          <a:lstStyle/>
          <a:p>
            <a:r>
              <a:rPr lang="en-US" dirty="0"/>
              <a:t>Check alignments</a:t>
            </a:r>
          </a:p>
        </p:txBody>
      </p:sp>
    </p:spTree>
    <p:extLst>
      <p:ext uri="{BB962C8B-B14F-4D97-AF65-F5344CB8AC3E}">
        <p14:creationId xmlns:p14="http://schemas.microsoft.com/office/powerpoint/2010/main" val="418441375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51</TotalTime>
  <Words>3713</Words>
  <Application>Microsoft Office PowerPoint</Application>
  <PresentationFormat>Widescreen</PresentationFormat>
  <Paragraphs>1087</Paragraphs>
  <Slides>55</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55</vt:i4>
      </vt:variant>
    </vt:vector>
  </HeadingPairs>
  <TitlesOfParts>
    <vt:vector size="62" baseType="lpstr">
      <vt:lpstr>Arial</vt:lpstr>
      <vt:lpstr>Calibri</vt:lpstr>
      <vt:lpstr>Cambria Math</vt:lpstr>
      <vt:lpstr>Courier New</vt:lpstr>
      <vt:lpstr>Trebuchet MS</vt:lpstr>
      <vt:lpstr>Wingdings</vt:lpstr>
      <vt:lpstr>Office Theme</vt:lpstr>
      <vt:lpstr>PowerPoint Presentation</vt:lpstr>
      <vt:lpstr>Coverage</vt:lpstr>
      <vt:lpstr>How much coverage is sufficient?</vt:lpstr>
      <vt:lpstr>Poisson distribution</vt:lpstr>
      <vt:lpstr>Example of a Poisson process</vt:lpstr>
      <vt:lpstr>Poisson distribution</vt:lpstr>
      <vt:lpstr>Poisson distribution and coverage</vt:lpstr>
      <vt:lpstr>Fraction of the genome covered</vt:lpstr>
      <vt:lpstr>Number of contigs and average length</vt:lpstr>
      <vt:lpstr>Genome is fully covered. Can this be assembled?</vt:lpstr>
      <vt:lpstr>Real life correction to contig length</vt:lpstr>
      <vt:lpstr>Reads are Strings </vt:lpstr>
      <vt:lpstr>Exact matching</vt:lpstr>
      <vt:lpstr>Exact matching</vt:lpstr>
      <vt:lpstr>What is an alignment (overlap)?</vt:lpstr>
      <vt:lpstr>Example of an alignment (overlap)</vt:lpstr>
      <vt:lpstr>Types of mis-matches</vt:lpstr>
      <vt:lpstr>Smith-Waterman alignment</vt:lpstr>
      <vt:lpstr>Dynamic Programming</vt:lpstr>
      <vt:lpstr>Smith-Waterman alignment</vt:lpstr>
      <vt:lpstr>Smith-Waterman alignment</vt:lpstr>
      <vt:lpstr>Smith-Waterman alignment</vt:lpstr>
      <vt:lpstr>Smith-Waterman alignment</vt:lpstr>
      <vt:lpstr>Smith-Waterman alignment</vt:lpstr>
      <vt:lpstr>Smith-Waterman alignment</vt:lpstr>
      <vt:lpstr>Smith-Waterman alignment</vt:lpstr>
      <vt:lpstr>Smith-Waterman alignment</vt:lpstr>
      <vt:lpstr>Smith-Waterman alignment</vt:lpstr>
      <vt:lpstr>Alignment of two genomes</vt:lpstr>
      <vt:lpstr>K-mers</vt:lpstr>
      <vt:lpstr>Using K-mers to seed alignments</vt:lpstr>
      <vt:lpstr>Using K-mers to seed alignments</vt:lpstr>
      <vt:lpstr>Using K-mers to seed alignments</vt:lpstr>
      <vt:lpstr>Using K-mers to seed alignments</vt:lpstr>
      <vt:lpstr>Using K-mers to seed alignments</vt:lpstr>
      <vt:lpstr>Method of minimizers</vt:lpstr>
      <vt:lpstr>Numerical value of a K-mer</vt:lpstr>
      <vt:lpstr>Minimizers</vt:lpstr>
      <vt:lpstr>Example of minimizers</vt:lpstr>
      <vt:lpstr>Example of minimizers</vt:lpstr>
      <vt:lpstr>Example of minimizers</vt:lpstr>
      <vt:lpstr>Example of minimizers</vt:lpstr>
      <vt:lpstr>Example of minimizers</vt:lpstr>
      <vt:lpstr>Example of minimizers</vt:lpstr>
      <vt:lpstr>Example of minimizers</vt:lpstr>
      <vt:lpstr>Example of minimizers</vt:lpstr>
      <vt:lpstr>Example of minimizers</vt:lpstr>
      <vt:lpstr>Example of minimizers</vt:lpstr>
      <vt:lpstr>Example of minimizers</vt:lpstr>
      <vt:lpstr>Seeding alignments with minimizers</vt:lpstr>
      <vt:lpstr>Seeding alignments with minimizers</vt:lpstr>
      <vt:lpstr>Seeding alignments with minimizers</vt:lpstr>
      <vt:lpstr>Seeding alignments with minimizers</vt:lpstr>
      <vt:lpstr>Seeding alignments with minimizers</vt:lpstr>
      <vt:lpstr>Using minimizers to compute candidate  alignments</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Julian</dc:creator>
  <cp:lastModifiedBy>Alexey Zimin</cp:lastModifiedBy>
  <cp:revision>1</cp:revision>
  <dcterms:created xsi:type="dcterms:W3CDTF">2013-08-21T19:17:07Z</dcterms:created>
  <dcterms:modified xsi:type="dcterms:W3CDTF">2026-09-11T18:29:21Z</dcterms:modified>
</cp:coreProperties>
</file>