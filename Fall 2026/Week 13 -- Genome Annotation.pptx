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72" r:id="rId2"/>
    <p:sldId id="273" r:id="rId3"/>
    <p:sldId id="400" r:id="rId4"/>
    <p:sldId id="800" r:id="rId5"/>
    <p:sldId id="801" r:id="rId6"/>
    <p:sldId id="270" r:id="rId7"/>
    <p:sldId id="821" r:id="rId8"/>
    <p:sldId id="822" r:id="rId9"/>
    <p:sldId id="824" r:id="rId10"/>
    <p:sldId id="823" r:id="rId11"/>
    <p:sldId id="825" r:id="rId12"/>
    <p:sldId id="826" r:id="rId13"/>
    <p:sldId id="802" r:id="rId14"/>
    <p:sldId id="827" r:id="rId15"/>
    <p:sldId id="321" r:id="rId16"/>
    <p:sldId id="277" r:id="rId17"/>
    <p:sldId id="309" r:id="rId18"/>
    <p:sldId id="314" r:id="rId19"/>
    <p:sldId id="311" r:id="rId20"/>
    <p:sldId id="317" r:id="rId21"/>
    <p:sldId id="803" r:id="rId22"/>
    <p:sldId id="828" r:id="rId23"/>
    <p:sldId id="82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8ACF"/>
    <a:srgbClr val="BE0260"/>
    <a:srgbClr val="D0005E"/>
    <a:srgbClr val="D68B1C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2D5653-5080-4186-AC40-A2C3C8EFD16E}" v="1" dt="2026-04-10T12:22:17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4" autoAdjust="0"/>
    <p:restoredTop sz="94660"/>
  </p:normalViewPr>
  <p:slideViewPr>
    <p:cSldViewPr snapToGrid="0">
      <p:cViewPr varScale="1">
        <p:scale>
          <a:sx n="79" d="100"/>
          <a:sy n="79" d="100"/>
        </p:scale>
        <p:origin x="787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1C363C82-C939-44FC-A8A5-AEBBD531DAF7}"/>
    <pc:docChg chg="undo custSel addSld delSld modSld sldOrd">
      <pc:chgData name="Aleksey Zimin" userId="7f2637d0bc515791" providerId="LiveId" clId="{1C363C82-C939-44FC-A8A5-AEBBD531DAF7}" dt="2026-04-10T12:22:17.112" v="4549"/>
      <pc:docMkLst>
        <pc:docMk/>
      </pc:docMkLst>
      <pc:sldChg chg="add">
        <pc:chgData name="Aleksey Zimin" userId="7f2637d0bc515791" providerId="LiveId" clId="{1C363C82-C939-44FC-A8A5-AEBBD531DAF7}" dt="2026-04-10T12:22:17.112" v="4549"/>
        <pc:sldMkLst>
          <pc:docMk/>
          <pc:sldMk cId="688577973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</a:t>
            </a:r>
          </a:p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042EB-4C0B-4B2B-93C3-10ED0970E4ED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D5F6E-2DCB-415D-84E7-B628E9D8A108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EB858-4317-451A-9BDC-D8E69797B57B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E8256-B7B8-467E-945E-1804BD8DFB73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45277-C60E-4927-8CB2-AE9BADDF2A63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8DC06-1A19-4D6C-907F-9D8FBE516A80}" type="datetime1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4EFA-2CDE-4AB2-8AA6-ADD562640288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1FBDB-D8A3-4751-A420-ED431DCF85DE}" type="datetime1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5CE40-1F6D-474A-9698-308C593AA8EB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85AC7-D432-4E89-B645-4D4C4EDA1755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AF69-2F49-428E-86F6-1ABE6AB4111A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90C14-22D4-4580-ADA1-EC9983590833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3E996-B09A-4A96-BC8E-13DD70580EE9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e-Sequence-Ontology/Specifications/blob/master/gff3.md" TargetMode="External"/><Relationship Id="rId2" Type="http://schemas.openxmlformats.org/officeDocument/2006/relationships/hyperlink" Target="https://mblab.wustl.edu/GTF2.ht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BE0260"/>
                </a:solidFill>
              </a:rPr>
              <a:t>Genome Annotation</a:t>
            </a:r>
            <a:br>
              <a:rPr lang="en-US" sz="3200" b="1" dirty="0">
                <a:solidFill>
                  <a:srgbClr val="BE0260"/>
                </a:solidFill>
              </a:rPr>
            </a:b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386775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r>
              <a:rPr lang="en-US" sz="2400" dirty="0"/>
              <a:t>BME580.417(707)</a:t>
            </a:r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Genome annotation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7CF0-2D45-44CE-885B-429A57BA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F32045-ACFE-C90B-55E9-64B7BCB7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851" y="1919965"/>
            <a:ext cx="11525020" cy="46796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Protein coding gene annotation solves two main  problems: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Locate </a:t>
            </a:r>
            <a:r>
              <a:rPr lang="en-US" i="1" dirty="0">
                <a:solidFill>
                  <a:schemeClr val="tx1"/>
                </a:solidFill>
              </a:rPr>
              <a:t>transcripts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Locate </a:t>
            </a:r>
            <a:r>
              <a:rPr lang="en-US" i="1" dirty="0">
                <a:solidFill>
                  <a:schemeClr val="tx1"/>
                </a:solidFill>
              </a:rPr>
              <a:t>protein coding regions 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u="sng" dirty="0">
                <a:solidFill>
                  <a:schemeClr val="tx1"/>
                </a:solidFill>
              </a:rPr>
              <a:t>O</a:t>
            </a:r>
            <a:r>
              <a:rPr lang="en-US" i="1" dirty="0">
                <a:solidFill>
                  <a:schemeClr val="tx1"/>
                </a:solidFill>
              </a:rPr>
              <a:t>pen </a:t>
            </a:r>
            <a:r>
              <a:rPr lang="en-US" i="1" u="sng" dirty="0">
                <a:solidFill>
                  <a:schemeClr val="tx1"/>
                </a:solidFill>
              </a:rPr>
              <a:t>R</a:t>
            </a:r>
            <a:r>
              <a:rPr lang="en-US" i="1" dirty="0">
                <a:solidFill>
                  <a:schemeClr val="tx1"/>
                </a:solidFill>
              </a:rPr>
              <a:t>eading </a:t>
            </a:r>
            <a:r>
              <a:rPr lang="en-US" i="1" u="sng" dirty="0">
                <a:solidFill>
                  <a:schemeClr val="tx1"/>
                </a:solidFill>
              </a:rPr>
              <a:t>F</a:t>
            </a:r>
            <a:r>
              <a:rPr lang="en-US" i="1" dirty="0">
                <a:solidFill>
                  <a:schemeClr val="tx1"/>
                </a:solidFill>
              </a:rPr>
              <a:t>rames</a:t>
            </a:r>
            <a:r>
              <a:rPr lang="en-US" dirty="0">
                <a:solidFill>
                  <a:schemeClr val="tx1"/>
                </a:solidFill>
              </a:rPr>
              <a:t>, or </a:t>
            </a:r>
            <a:r>
              <a:rPr lang="en-US" i="1" u="sng" dirty="0">
                <a:solidFill>
                  <a:schemeClr val="tx1"/>
                </a:solidFill>
              </a:rPr>
              <a:t>C</a:t>
            </a:r>
            <a:r>
              <a:rPr lang="en-US" i="1" dirty="0">
                <a:solidFill>
                  <a:schemeClr val="tx1"/>
                </a:solidFill>
              </a:rPr>
              <a:t>o</a:t>
            </a:r>
            <a:r>
              <a:rPr lang="en-US" i="1" u="sng" dirty="0">
                <a:solidFill>
                  <a:schemeClr val="tx1"/>
                </a:solidFill>
              </a:rPr>
              <a:t>D</a:t>
            </a:r>
            <a:r>
              <a:rPr lang="en-US" i="1" dirty="0">
                <a:solidFill>
                  <a:schemeClr val="tx1"/>
                </a:solidFill>
              </a:rPr>
              <a:t>ing </a:t>
            </a:r>
            <a:r>
              <a:rPr lang="en-US" i="1" u="sng" dirty="0">
                <a:solidFill>
                  <a:schemeClr val="tx1"/>
                </a:solidFill>
              </a:rPr>
              <a:t>S</a:t>
            </a:r>
            <a:r>
              <a:rPr lang="en-US" i="1" dirty="0">
                <a:solidFill>
                  <a:schemeClr val="tx1"/>
                </a:solidFill>
              </a:rPr>
              <a:t>equences</a:t>
            </a:r>
            <a:r>
              <a:rPr lang="en-US" dirty="0">
                <a:solidFill>
                  <a:schemeClr val="tx1"/>
                </a:solidFill>
              </a:rPr>
              <a:t>) within transcripts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Other kinds of annotations: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Long non-coding RNA annotations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Repeat annotation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Short RNA annotations (tRNA, miRNA,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0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Protein coding and lncRNA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14CA-1925-432B-8D1D-70918684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194" y="1723832"/>
            <a:ext cx="4425052" cy="4632518"/>
          </a:xfrm>
        </p:spPr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Protein coding and lncRNA annotation locates on the genome the coordinates of: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genes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transcripts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protein coding sequences</a:t>
            </a:r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Usually reported in GFF3 or GTF format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7CF0-2D45-44CE-885B-429A57BA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D59F4DCE-F2EB-4F96-A6DD-2CF1C8E885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5023672" y="1690688"/>
            <a:ext cx="7482545" cy="498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50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B028F6D4-4FAB-5DAF-76E6-FC8BA837107B}"/>
              </a:ext>
            </a:extLst>
          </p:cNvPr>
          <p:cNvSpPr txBox="1"/>
          <p:nvPr/>
        </p:nvSpPr>
        <p:spPr>
          <a:xfrm>
            <a:off x="25161" y="1690688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5B709A6-71FE-8AE7-AC93-90D8598C67F2}"/>
              </a:ext>
            </a:extLst>
          </p:cNvPr>
          <p:cNvSpPr txBox="1"/>
          <p:nvPr/>
        </p:nvSpPr>
        <p:spPr>
          <a:xfrm>
            <a:off x="-5641" y="5203932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71DDDD-FE34-BFF8-E3AF-A064C1026623}"/>
              </a:ext>
            </a:extLst>
          </p:cNvPr>
          <p:cNvSpPr txBox="1"/>
          <p:nvPr/>
        </p:nvSpPr>
        <p:spPr>
          <a:xfrm>
            <a:off x="-5641" y="4550976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90E5EF-EB02-9D95-EAF2-124E359C8CEE}"/>
              </a:ext>
            </a:extLst>
          </p:cNvPr>
          <p:cNvSpPr txBox="1"/>
          <p:nvPr/>
        </p:nvSpPr>
        <p:spPr>
          <a:xfrm>
            <a:off x="0" y="3403465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B661731-4E9B-FD60-663E-792A37529949}"/>
              </a:ext>
            </a:extLst>
          </p:cNvPr>
          <p:cNvSpPr txBox="1"/>
          <p:nvPr/>
        </p:nvSpPr>
        <p:spPr>
          <a:xfrm>
            <a:off x="0" y="2726883"/>
            <a:ext cx="11955294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Genome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E4CD6-2875-FDFF-7915-3B5BC5ED0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 structure on the genome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131A-8F86-E8C2-F884-2B211290AF52}"/>
              </a:ext>
            </a:extLst>
          </p:cNvPr>
          <p:cNvSpPr txBox="1"/>
          <p:nvPr/>
        </p:nvSpPr>
        <p:spPr>
          <a:xfrm>
            <a:off x="1231391" y="1690688"/>
            <a:ext cx="9729217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955FC-436E-ABF6-AE14-A372900D7D37}"/>
              </a:ext>
            </a:extLst>
          </p:cNvPr>
          <p:cNvSpPr txBox="1"/>
          <p:nvPr/>
        </p:nvSpPr>
        <p:spPr>
          <a:xfrm>
            <a:off x="1255776" y="4552627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63514-D8A9-C932-48C1-F4561C3CC214}"/>
              </a:ext>
            </a:extLst>
          </p:cNvPr>
          <p:cNvSpPr txBox="1"/>
          <p:nvPr/>
        </p:nvSpPr>
        <p:spPr>
          <a:xfrm>
            <a:off x="2651760" y="4552627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35B60-FA54-FCB1-742D-B12EE37E77DD}"/>
              </a:ext>
            </a:extLst>
          </p:cNvPr>
          <p:cNvSpPr txBox="1"/>
          <p:nvPr/>
        </p:nvSpPr>
        <p:spPr>
          <a:xfrm>
            <a:off x="4072128" y="4557601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BB656-58F9-7621-B1CE-332DF54FEA8E}"/>
              </a:ext>
            </a:extLst>
          </p:cNvPr>
          <p:cNvSpPr txBox="1"/>
          <p:nvPr/>
        </p:nvSpPr>
        <p:spPr>
          <a:xfrm>
            <a:off x="6219995" y="4552627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D9D4C-CA1B-2EDF-A1FE-946CD0FCF595}"/>
              </a:ext>
            </a:extLst>
          </p:cNvPr>
          <p:cNvSpPr txBox="1"/>
          <p:nvPr/>
        </p:nvSpPr>
        <p:spPr>
          <a:xfrm>
            <a:off x="8839200" y="4552627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C13542-4436-33FE-8C48-A5674CFAA7D4}"/>
              </a:ext>
            </a:extLst>
          </p:cNvPr>
          <p:cNvSpPr txBox="1"/>
          <p:nvPr/>
        </p:nvSpPr>
        <p:spPr>
          <a:xfrm>
            <a:off x="1243584" y="5217519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E4C5-C7A3-E092-294C-0D9DD1F37B42}"/>
              </a:ext>
            </a:extLst>
          </p:cNvPr>
          <p:cNvSpPr txBox="1"/>
          <p:nvPr/>
        </p:nvSpPr>
        <p:spPr>
          <a:xfrm>
            <a:off x="2651760" y="5217519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EB241-1E1B-C811-B334-4FEB236BCD15}"/>
              </a:ext>
            </a:extLst>
          </p:cNvPr>
          <p:cNvSpPr txBox="1"/>
          <p:nvPr/>
        </p:nvSpPr>
        <p:spPr>
          <a:xfrm>
            <a:off x="4084320" y="5217519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5’UTR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BEBE1D-4A2E-4D05-67A7-FFB4902707D7}"/>
              </a:ext>
            </a:extLst>
          </p:cNvPr>
          <p:cNvSpPr txBox="1"/>
          <p:nvPr/>
        </p:nvSpPr>
        <p:spPr>
          <a:xfrm>
            <a:off x="6230112" y="5217519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6D510E-FE24-4A85-C78F-9F091043147F}"/>
              </a:ext>
            </a:extLst>
          </p:cNvPr>
          <p:cNvSpPr txBox="1"/>
          <p:nvPr/>
        </p:nvSpPr>
        <p:spPr>
          <a:xfrm>
            <a:off x="8851392" y="5180374"/>
            <a:ext cx="1219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FFBC8-C0D0-936E-682D-2BF90662D638}"/>
              </a:ext>
            </a:extLst>
          </p:cNvPr>
          <p:cNvSpPr txBox="1"/>
          <p:nvPr/>
        </p:nvSpPr>
        <p:spPr>
          <a:xfrm>
            <a:off x="10070592" y="5185017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CE45AD-F52B-FFC3-1723-E991FA166FCC}"/>
              </a:ext>
            </a:extLst>
          </p:cNvPr>
          <p:cNvSpPr txBox="1"/>
          <p:nvPr/>
        </p:nvSpPr>
        <p:spPr>
          <a:xfrm>
            <a:off x="4974336" y="5217519"/>
            <a:ext cx="6278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CF03DF-1787-C9C4-3011-3A1E0B1F5466}"/>
              </a:ext>
            </a:extLst>
          </p:cNvPr>
          <p:cNvCxnSpPr>
            <a:cxnSpLocks/>
          </p:cNvCxnSpPr>
          <p:nvPr/>
        </p:nvCxnSpPr>
        <p:spPr>
          <a:xfrm flipV="1">
            <a:off x="5004557" y="5573264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0072C10-6691-3471-5CFE-C3D2214AE3AA}"/>
              </a:ext>
            </a:extLst>
          </p:cNvPr>
          <p:cNvSpPr txBox="1"/>
          <p:nvPr/>
        </p:nvSpPr>
        <p:spPr>
          <a:xfrm>
            <a:off x="4282440" y="5975600"/>
            <a:ext cx="1359408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Start codon (ATG)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6BAFE07-0244-24EF-14C3-2083ABAA9386}"/>
              </a:ext>
            </a:extLst>
          </p:cNvPr>
          <p:cNvCxnSpPr>
            <a:cxnSpLocks/>
          </p:cNvCxnSpPr>
          <p:nvPr/>
        </p:nvCxnSpPr>
        <p:spPr>
          <a:xfrm flipV="1">
            <a:off x="10058400" y="5573264"/>
            <a:ext cx="0" cy="402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72C458D-7A2E-36C9-00EB-45D4A5F4735D}"/>
              </a:ext>
            </a:extLst>
          </p:cNvPr>
          <p:cNvSpPr txBox="1"/>
          <p:nvPr/>
        </p:nvSpPr>
        <p:spPr>
          <a:xfrm>
            <a:off x="9141795" y="5975600"/>
            <a:ext cx="174345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Stop codon (TAA,TAG,TGA)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0666F-C125-07AA-33E8-B22D4B7CA9A0}"/>
              </a:ext>
            </a:extLst>
          </p:cNvPr>
          <p:cNvSpPr txBox="1"/>
          <p:nvPr/>
        </p:nvSpPr>
        <p:spPr>
          <a:xfrm>
            <a:off x="2651760" y="2723357"/>
            <a:ext cx="142036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EEB11A-41C6-6C5D-AAC0-F384D098C6F9}"/>
              </a:ext>
            </a:extLst>
          </p:cNvPr>
          <p:cNvSpPr txBox="1"/>
          <p:nvPr/>
        </p:nvSpPr>
        <p:spPr>
          <a:xfrm>
            <a:off x="4386072" y="2726883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8D6555-9BA8-CCD9-A7E5-48E989E13DAD}"/>
              </a:ext>
            </a:extLst>
          </p:cNvPr>
          <p:cNvSpPr txBox="1"/>
          <p:nvPr/>
        </p:nvSpPr>
        <p:spPr>
          <a:xfrm>
            <a:off x="6547104" y="2722815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627425-EEC5-95A0-A126-679328A84F98}"/>
              </a:ext>
            </a:extLst>
          </p:cNvPr>
          <p:cNvSpPr txBox="1"/>
          <p:nvPr/>
        </p:nvSpPr>
        <p:spPr>
          <a:xfrm>
            <a:off x="8839200" y="2744061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EC6DA1-2F32-A483-1838-C18C430274AA}"/>
              </a:ext>
            </a:extLst>
          </p:cNvPr>
          <p:cNvSpPr txBox="1"/>
          <p:nvPr/>
        </p:nvSpPr>
        <p:spPr>
          <a:xfrm>
            <a:off x="2651760" y="3408953"/>
            <a:ext cx="78943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2D3A9B-39F7-6DF3-EF5A-D85A6D18D325}"/>
              </a:ext>
            </a:extLst>
          </p:cNvPr>
          <p:cNvSpPr txBox="1"/>
          <p:nvPr/>
        </p:nvSpPr>
        <p:spPr>
          <a:xfrm>
            <a:off x="6555924" y="3410604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3CB083-08CD-24AE-556A-8DAC4DF69925}"/>
              </a:ext>
            </a:extLst>
          </p:cNvPr>
          <p:cNvSpPr txBox="1"/>
          <p:nvPr/>
        </p:nvSpPr>
        <p:spPr>
          <a:xfrm>
            <a:off x="8851392" y="3371808"/>
            <a:ext cx="7692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977E3B-E257-CF0B-1C79-B99F5A174935}"/>
              </a:ext>
            </a:extLst>
          </p:cNvPr>
          <p:cNvSpPr txBox="1"/>
          <p:nvPr/>
        </p:nvSpPr>
        <p:spPr>
          <a:xfrm>
            <a:off x="9620655" y="3376451"/>
            <a:ext cx="133995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B66C70-34DF-B19E-BFEA-59E92456DB49}"/>
              </a:ext>
            </a:extLst>
          </p:cNvPr>
          <p:cNvSpPr txBox="1"/>
          <p:nvPr/>
        </p:nvSpPr>
        <p:spPr>
          <a:xfrm>
            <a:off x="4386072" y="3408953"/>
            <a:ext cx="153009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BB6665-B8E1-73E2-5DF4-F742D56DDA36}"/>
              </a:ext>
            </a:extLst>
          </p:cNvPr>
          <p:cNvSpPr txBox="1"/>
          <p:nvPr/>
        </p:nvSpPr>
        <p:spPr>
          <a:xfrm>
            <a:off x="3441193" y="3408953"/>
            <a:ext cx="63093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</p:spTree>
    <p:extLst>
      <p:ext uri="{BB962C8B-B14F-4D97-AF65-F5344CB8AC3E}">
        <p14:creationId xmlns:p14="http://schemas.microsoft.com/office/powerpoint/2010/main" val="1942387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4CD6-2875-FDFF-7915-3B5BC5ED0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284648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Gene structure in transcript(spliced) coords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131A-8F86-E8C2-F884-2B211290AF52}"/>
              </a:ext>
            </a:extLst>
          </p:cNvPr>
          <p:cNvSpPr txBox="1"/>
          <p:nvPr/>
        </p:nvSpPr>
        <p:spPr>
          <a:xfrm>
            <a:off x="1231392" y="1690688"/>
            <a:ext cx="693724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89CC-F401-9C7F-BE81-57FCE2113215}"/>
              </a:ext>
            </a:extLst>
          </p:cNvPr>
          <p:cNvSpPr txBox="1"/>
          <p:nvPr/>
        </p:nvSpPr>
        <p:spPr>
          <a:xfrm>
            <a:off x="1243584" y="2504873"/>
            <a:ext cx="6937248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4955FC-436E-ABF6-AE14-A372900D7D37}"/>
              </a:ext>
            </a:extLst>
          </p:cNvPr>
          <p:cNvSpPr txBox="1"/>
          <p:nvPr/>
        </p:nvSpPr>
        <p:spPr>
          <a:xfrm>
            <a:off x="1243584" y="3217540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063514-D8A9-C932-48C1-F4561C3CC214}"/>
              </a:ext>
            </a:extLst>
          </p:cNvPr>
          <p:cNvSpPr txBox="1"/>
          <p:nvPr/>
        </p:nvSpPr>
        <p:spPr>
          <a:xfrm>
            <a:off x="2218944" y="3217540"/>
            <a:ext cx="975360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A35B60-FA54-FCB1-742D-B12EE37E77DD}"/>
              </a:ext>
            </a:extLst>
          </p:cNvPr>
          <p:cNvSpPr txBox="1"/>
          <p:nvPr/>
        </p:nvSpPr>
        <p:spPr>
          <a:xfrm>
            <a:off x="3182112" y="3217540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1BB656-58F9-7621-B1CE-332DF54FEA8E}"/>
              </a:ext>
            </a:extLst>
          </p:cNvPr>
          <p:cNvSpPr txBox="1"/>
          <p:nvPr/>
        </p:nvSpPr>
        <p:spPr>
          <a:xfrm>
            <a:off x="4700016" y="3217540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FD9D4C-CA1B-2EDF-A1FE-946CD0FCF595}"/>
              </a:ext>
            </a:extLst>
          </p:cNvPr>
          <p:cNvSpPr txBox="1"/>
          <p:nvPr/>
        </p:nvSpPr>
        <p:spPr>
          <a:xfrm>
            <a:off x="6047232" y="3217540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C13542-4436-33FE-8C48-A5674CFAA7D4}"/>
              </a:ext>
            </a:extLst>
          </p:cNvPr>
          <p:cNvSpPr txBox="1"/>
          <p:nvPr/>
        </p:nvSpPr>
        <p:spPr>
          <a:xfrm>
            <a:off x="1231392" y="3882432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094E4C5-C7A3-E092-294C-0D9DD1F37B42}"/>
              </a:ext>
            </a:extLst>
          </p:cNvPr>
          <p:cNvSpPr txBox="1"/>
          <p:nvPr/>
        </p:nvSpPr>
        <p:spPr>
          <a:xfrm>
            <a:off x="2206752" y="3882432"/>
            <a:ext cx="97536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2EB241-1E1B-C811-B334-4FEB236BCD15}"/>
              </a:ext>
            </a:extLst>
          </p:cNvPr>
          <p:cNvSpPr txBox="1"/>
          <p:nvPr/>
        </p:nvSpPr>
        <p:spPr>
          <a:xfrm>
            <a:off x="3169920" y="3882432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5’UTR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BEBE1D-4A2E-4D05-67A7-FFB4902707D7}"/>
              </a:ext>
            </a:extLst>
          </p:cNvPr>
          <p:cNvSpPr txBox="1"/>
          <p:nvPr/>
        </p:nvSpPr>
        <p:spPr>
          <a:xfrm>
            <a:off x="4687824" y="3882432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6D510E-FE24-4A85-C78F-9F091043147F}"/>
              </a:ext>
            </a:extLst>
          </p:cNvPr>
          <p:cNvSpPr txBox="1"/>
          <p:nvPr/>
        </p:nvSpPr>
        <p:spPr>
          <a:xfrm>
            <a:off x="6047232" y="3882432"/>
            <a:ext cx="1219200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1FFBC8-C0D0-936E-682D-2BF90662D638}"/>
              </a:ext>
            </a:extLst>
          </p:cNvPr>
          <p:cNvSpPr txBox="1"/>
          <p:nvPr/>
        </p:nvSpPr>
        <p:spPr>
          <a:xfrm>
            <a:off x="7266432" y="3882432"/>
            <a:ext cx="89001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CE45AD-F52B-FFC3-1723-E991FA166FCC}"/>
              </a:ext>
            </a:extLst>
          </p:cNvPr>
          <p:cNvSpPr txBox="1"/>
          <p:nvPr/>
        </p:nvSpPr>
        <p:spPr>
          <a:xfrm>
            <a:off x="4059936" y="3882432"/>
            <a:ext cx="6278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82D4F-9EB4-8634-B4E5-461C363FB9B9}"/>
              </a:ext>
            </a:extLst>
          </p:cNvPr>
          <p:cNvSpPr txBox="1"/>
          <p:nvPr/>
        </p:nvSpPr>
        <p:spPr>
          <a:xfrm>
            <a:off x="1750978" y="4696617"/>
            <a:ext cx="6405469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 or mRNA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14A2BF-5F93-1EED-292F-E462EA8AD84E}"/>
              </a:ext>
            </a:extLst>
          </p:cNvPr>
          <p:cNvSpPr txBox="1"/>
          <p:nvPr/>
        </p:nvSpPr>
        <p:spPr>
          <a:xfrm>
            <a:off x="1749552" y="5259991"/>
            <a:ext cx="142036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7136E-96D2-CB98-2400-988B2BCB7E8E}"/>
              </a:ext>
            </a:extLst>
          </p:cNvPr>
          <p:cNvSpPr txBox="1"/>
          <p:nvPr/>
        </p:nvSpPr>
        <p:spPr>
          <a:xfrm>
            <a:off x="3157728" y="5259449"/>
            <a:ext cx="153009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C4D0D-D6FA-0A7F-829C-7E82559C185F}"/>
              </a:ext>
            </a:extLst>
          </p:cNvPr>
          <p:cNvSpPr txBox="1"/>
          <p:nvPr/>
        </p:nvSpPr>
        <p:spPr>
          <a:xfrm>
            <a:off x="4687824" y="5259449"/>
            <a:ext cx="1347216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FE5945-15D9-B68F-3770-5E0275482CBC}"/>
              </a:ext>
            </a:extLst>
          </p:cNvPr>
          <p:cNvSpPr txBox="1"/>
          <p:nvPr/>
        </p:nvSpPr>
        <p:spPr>
          <a:xfrm>
            <a:off x="6035039" y="5259449"/>
            <a:ext cx="212140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9C22BE-FD0D-C687-06F7-28D353DAE1AC}"/>
              </a:ext>
            </a:extLst>
          </p:cNvPr>
          <p:cNvSpPr txBox="1"/>
          <p:nvPr/>
        </p:nvSpPr>
        <p:spPr>
          <a:xfrm>
            <a:off x="1749552" y="5945587"/>
            <a:ext cx="78943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5’ UTR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411EF-72E1-9DD7-B084-9C023D0A26F0}"/>
              </a:ext>
            </a:extLst>
          </p:cNvPr>
          <p:cNvSpPr txBox="1"/>
          <p:nvPr/>
        </p:nvSpPr>
        <p:spPr>
          <a:xfrm>
            <a:off x="4712208" y="5941059"/>
            <a:ext cx="135940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BB117-F22D-DDA6-9B90-2F9CB1BE3742}"/>
              </a:ext>
            </a:extLst>
          </p:cNvPr>
          <p:cNvSpPr txBox="1"/>
          <p:nvPr/>
        </p:nvSpPr>
        <p:spPr>
          <a:xfrm>
            <a:off x="6071616" y="5941059"/>
            <a:ext cx="76926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CF067C-4392-AC1D-E2E4-9BE7EE559AB6}"/>
              </a:ext>
            </a:extLst>
          </p:cNvPr>
          <p:cNvSpPr txBox="1"/>
          <p:nvPr/>
        </p:nvSpPr>
        <p:spPr>
          <a:xfrm>
            <a:off x="6840879" y="5941059"/>
            <a:ext cx="1339953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3’ UTR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F5AFF6-AAC4-FD7D-0B80-980ADCE458AF}"/>
              </a:ext>
            </a:extLst>
          </p:cNvPr>
          <p:cNvSpPr txBox="1"/>
          <p:nvPr/>
        </p:nvSpPr>
        <p:spPr>
          <a:xfrm>
            <a:off x="3182112" y="5941059"/>
            <a:ext cx="1530096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71FDA3-1AFE-58F5-6A1B-43D1BBDAAA01}"/>
              </a:ext>
            </a:extLst>
          </p:cNvPr>
          <p:cNvSpPr txBox="1"/>
          <p:nvPr/>
        </p:nvSpPr>
        <p:spPr>
          <a:xfrm>
            <a:off x="2538985" y="5945587"/>
            <a:ext cx="630935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</a:t>
            </a:r>
          </a:p>
        </p:txBody>
      </p:sp>
    </p:spTree>
    <p:extLst>
      <p:ext uri="{BB962C8B-B14F-4D97-AF65-F5344CB8AC3E}">
        <p14:creationId xmlns:p14="http://schemas.microsoft.com/office/powerpoint/2010/main" val="869239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357"/>
          <p:cNvSpPr txBox="1"/>
          <p:nvPr/>
        </p:nvSpPr>
        <p:spPr>
          <a:xfrm>
            <a:off x="180940" y="18979"/>
            <a:ext cx="6862916" cy="11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9000" b="1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 algn="l" defTabSz="410766" hangingPunct="0"/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G</a:t>
            </a:r>
            <a:r>
              <a:rPr lang="en-US"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FF/GTF</a:t>
            </a:r>
            <a:r>
              <a:rPr sz="3600" b="0" kern="0" dirty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rPr>
              <a:t> files provide a map for all known genome features</a:t>
            </a:r>
          </a:p>
        </p:txBody>
      </p:sp>
      <p:graphicFrame>
        <p:nvGraphicFramePr>
          <p:cNvPr id="358" name="Table 358"/>
          <p:cNvGraphicFramePr/>
          <p:nvPr>
            <p:extLst>
              <p:ext uri="{D42A27DB-BD31-4B8C-83A1-F6EECF244321}">
                <p14:modId xmlns:p14="http://schemas.microsoft.com/office/powerpoint/2010/main" val="1414254673"/>
              </p:ext>
            </p:extLst>
          </p:nvPr>
        </p:nvGraphicFramePr>
        <p:xfrm>
          <a:off x="303278" y="1547491"/>
          <a:ext cx="6147561" cy="3763018"/>
        </p:xfrm>
        <a:graphic>
          <a:graphicData uri="http://schemas.openxmlformats.org/drawingml/2006/table">
            <a:tbl>
              <a:tblPr firstRow="1" firstCol="1"/>
              <a:tblGrid>
                <a:gridCol w="991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Column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b="1"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 err="1">
                          <a:sym typeface="Helvetica Neue Medium"/>
                        </a:rPr>
                        <a:t>Seqname</a:t>
                      </a:r>
                      <a:endParaRPr sz="1600">
                        <a:sym typeface="Helvetica Neue Medium"/>
                      </a:endParaRP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Name of chromosome, scaffold or contig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Source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Name of the datasource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Feature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Feature type (e.g. gene, exon, transcript, CDS, five_prime_UTR)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Start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Start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End position of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Empty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‘.’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Strand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Defined as + (forward) or - (reverse)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Frame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/>
                        <a:t>Either ‘0’, ‘1’, or ‘2’ - indicating reading frame by base position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282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</a:pPr>
                      <a:r>
                        <a:rPr sz="1600">
                          <a:sym typeface="Helvetica Neue Medium"/>
                        </a:rPr>
                        <a:t>Attribute</a:t>
                      </a:r>
                    </a:p>
                  </a:txBody>
                  <a:tcPr marL="25400" marR="25400" marT="25400" marB="25400" anchor="ctr" horzOverflow="overflow"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600" dirty="0"/>
                        <a:t>A semicolon separated list of other info about the feature</a:t>
                      </a:r>
                    </a:p>
                  </a:txBody>
                  <a:tcPr marL="25400" marR="25400" marT="25400" marB="25400" anchor="ctr" horzOverflow="overflow">
                    <a:lnR w="12700">
                      <a:solidFill>
                        <a:srgbClr val="4D4D4D"/>
                      </a:solidFill>
                      <a:miter lim="400000"/>
                    </a:lnR>
                    <a:lnB w="12700">
                      <a:solidFill>
                        <a:srgbClr val="4D4D4D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85234F3-B2E6-5841-AF5C-70B4F0B320BD}"/>
              </a:ext>
            </a:extLst>
          </p:cNvPr>
          <p:cNvSpPr/>
          <p:nvPr/>
        </p:nvSpPr>
        <p:spPr>
          <a:xfrm>
            <a:off x="304039" y="5383485"/>
            <a:ext cx="668197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GFF has many versions, but the two most popular 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GTF2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(Gene Transfer Format):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2"/>
              </a:rPr>
              <a:t>https://mblab.wustl.edu/GTF2.html</a:t>
            </a:r>
            <a:endParaRPr lang="en-US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22222"/>
                </a:solidFill>
                <a:latin typeface="arial" panose="020B0604020202020204" pitchFamily="34" charset="0"/>
              </a:rPr>
              <a:t>GFF3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 (</a:t>
            </a:r>
            <a:r>
              <a:rPr lang="en-US" dirty="0"/>
              <a:t>Generic Feature Format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</a:rPr>
              <a:t>): 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hlinkClick r:id="rId3"/>
              </a:rPr>
              <a:t>https://github.com/The-Sequence-Ontology/Specifications/blob/master/gff3.md</a:t>
            </a:r>
            <a:endParaRPr lang="en-US" dirty="0"/>
          </a:p>
        </p:txBody>
      </p:sp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:a16="http://schemas.microsoft.com/office/drawing/2014/main" id="{086458E7-D221-7E7A-B73C-78B2F3AE858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99" b="24212"/>
          <a:stretch/>
        </p:blipFill>
        <p:spPr>
          <a:xfrm>
            <a:off x="6601340" y="1428890"/>
            <a:ext cx="7482545" cy="5202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3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AE243-F4C6-EEE9-457D-AEB33C438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1DFBF-892C-C987-38E3-973DFB4FA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Locating transcripts on the genome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4FD93-A619-1933-64A3-B9E11B6C0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EDCF22-AF22-1068-3C6F-EDD26F770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851" y="1919965"/>
            <a:ext cx="11525020" cy="46796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Two ways to find protein coding and long non-coding RNA transcripts on the genome: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Align RNA-seq data(HISAT,STAR) + assemble(StringTie)</a:t>
            </a:r>
            <a:endParaRPr lang="en-US" i="1" dirty="0">
              <a:solidFill>
                <a:schemeClr val="tx1"/>
              </a:solidFill>
            </a:endParaRPr>
          </a:p>
          <a:p>
            <a:pPr lvl="1"/>
            <a:r>
              <a:rPr lang="en-US" i="1" dirty="0">
                <a:solidFill>
                  <a:schemeClr val="tx1"/>
                </a:solidFill>
              </a:rPr>
              <a:t>Ab initio </a:t>
            </a:r>
            <a:r>
              <a:rPr lang="en-US" dirty="0">
                <a:solidFill>
                  <a:schemeClr val="tx1"/>
                </a:solidFill>
              </a:rPr>
              <a:t>(AUGUSTUS, SNAP, </a:t>
            </a:r>
            <a:r>
              <a:rPr lang="en-US" dirty="0" err="1">
                <a:solidFill>
                  <a:schemeClr val="tx1"/>
                </a:solidFill>
              </a:rPr>
              <a:t>GeneMark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2"/>
            <a:r>
              <a:rPr lang="en-US" dirty="0">
                <a:solidFill>
                  <a:schemeClr val="tx1"/>
                </a:solidFill>
              </a:rPr>
              <a:t>Only for protein coding transcripts, only find CDS (</a:t>
            </a:r>
            <a:r>
              <a:rPr lang="en-US" dirty="0" err="1">
                <a:solidFill>
                  <a:schemeClr val="tx1"/>
                </a:solidFill>
              </a:rPr>
              <a:t>CoDing</a:t>
            </a:r>
            <a:r>
              <a:rPr lang="en-US" dirty="0">
                <a:solidFill>
                  <a:schemeClr val="tx1"/>
                </a:solidFill>
              </a:rPr>
              <a:t> Sequence)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Other RNA annotations: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Repeat annotation (</a:t>
            </a:r>
            <a:r>
              <a:rPr lang="en-US" dirty="0" err="1">
                <a:solidFill>
                  <a:schemeClr val="tx1"/>
                </a:solidFill>
              </a:rPr>
              <a:t>RepeatFinder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Short RNA annotations (tRNA, miRNA,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 -- (</a:t>
            </a:r>
            <a:r>
              <a:rPr lang="en-US" dirty="0" err="1">
                <a:solidFill>
                  <a:schemeClr val="tx1"/>
                </a:solidFill>
              </a:rPr>
              <a:t>tRNAScan</a:t>
            </a:r>
            <a:r>
              <a:rPr lang="en-US" dirty="0">
                <a:solidFill>
                  <a:schemeClr val="tx1"/>
                </a:solidFill>
              </a:rPr>
              <a:t>, Infernal)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02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633F-277A-8AAC-EA33-CF7258CCC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in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0F7B-2DE6-2347-2CFD-77843B6CA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Alternative isoforms:</a:t>
            </a:r>
          </a:p>
          <a:p>
            <a:pPr lvl="1"/>
            <a:r>
              <a:rPr lang="en-US" dirty="0"/>
              <a:t>Identifying all of them from the data can be algorithmically challenging</a:t>
            </a:r>
          </a:p>
          <a:p>
            <a:pPr lvl="1"/>
            <a:r>
              <a:rPr lang="en-US" dirty="0"/>
              <a:t>Not all isoforms are expressed in all tissues under all conditions, which requires many RNA-seq experiments to produce comprehensive annotation</a:t>
            </a:r>
          </a:p>
          <a:p>
            <a:r>
              <a:rPr lang="en-US" dirty="0"/>
              <a:t>Coding vs. non-coding, and if coding where is the CDS:</a:t>
            </a:r>
          </a:p>
          <a:p>
            <a:pPr lvl="1"/>
            <a:r>
              <a:rPr lang="en-US" dirty="0"/>
              <a:t>How do we tell which assembled transcripts are coding for functional proteins?</a:t>
            </a:r>
          </a:p>
          <a:p>
            <a:pPr lvl="1"/>
            <a:r>
              <a:rPr lang="en-US" dirty="0"/>
              <a:t>Typically one can find several different ORFs in different frames on a transcript -- which frame is the right one?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E1196-78B2-554A-CDB3-F101EC5F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4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4982-C3E1-8544-9877-802798B6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28A8-9EE5-C36B-AC9B-0D90709CB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 amino-acid translation table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3AFCD-B4B9-C053-E602-E471A861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026" name="Picture 2" descr="DNA and RNA codon tables - Wikipedia">
            <a:extLst>
              <a:ext uri="{FF2B5EF4-FFF2-40B4-BE49-F238E27FC236}">
                <a16:creationId xmlns:a16="http://schemas.microsoft.com/office/drawing/2014/main" id="{AE6F8313-4AAE-EC06-873F-3C569D0C0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177398"/>
            <a:ext cx="5767388" cy="568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243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DF957-9525-00EB-EEE4-B8794BCD5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101D-1C18-1675-89BE-4B2894CFA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Where is the ORF?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A9D0-2EA6-5437-760B-132A254E6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/>
          </a:bodyPr>
          <a:lstStyle/>
          <a:p>
            <a:r>
              <a:rPr lang="en-US" dirty="0"/>
              <a:t>Finding the ORF requires:</a:t>
            </a:r>
          </a:p>
          <a:p>
            <a:pPr lvl="1"/>
            <a:r>
              <a:rPr lang="en-US" dirty="0"/>
              <a:t>Identifying the frame (out of 3 if strand is known)</a:t>
            </a:r>
          </a:p>
          <a:p>
            <a:pPr lvl="1"/>
            <a:r>
              <a:rPr lang="en-US" dirty="0"/>
              <a:t>Identifying start</a:t>
            </a:r>
          </a:p>
          <a:p>
            <a:pPr lvl="1"/>
            <a:r>
              <a:rPr lang="en-US" dirty="0"/>
              <a:t>The two conditions above specify the stop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Sequence: AACATGGGATGGAATAATTCGTGAAG</a:t>
            </a:r>
            <a:br>
              <a:rPr lang="en-US" dirty="0"/>
            </a:br>
            <a:r>
              <a:rPr lang="en-US" dirty="0"/>
              <a:t>Frame 0:    AAC </a:t>
            </a:r>
            <a:r>
              <a:rPr lang="en-US" dirty="0">
                <a:solidFill>
                  <a:srgbClr val="FF0000"/>
                </a:solidFill>
              </a:rPr>
              <a:t>ATG GGA TGG AAT </a:t>
            </a:r>
            <a:r>
              <a:rPr lang="en-US" dirty="0" err="1">
                <a:solidFill>
                  <a:srgbClr val="FF0000"/>
                </a:solidFill>
              </a:rPr>
              <a:t>AAT</a:t>
            </a:r>
            <a:r>
              <a:rPr lang="en-US" dirty="0">
                <a:solidFill>
                  <a:srgbClr val="FF0000"/>
                </a:solidFill>
              </a:rPr>
              <a:t> TCG TGA </a:t>
            </a:r>
            <a:r>
              <a:rPr lang="en-US" dirty="0"/>
              <a:t>AG</a:t>
            </a:r>
            <a:br>
              <a:rPr lang="en-US" dirty="0"/>
            </a:br>
            <a:r>
              <a:rPr lang="en-US" dirty="0"/>
              <a:t>Protein:                M      G    W      N     </a:t>
            </a:r>
            <a:r>
              <a:rPr lang="en-US" dirty="0" err="1"/>
              <a:t>N</a:t>
            </a:r>
            <a:r>
              <a:rPr lang="en-US" dirty="0"/>
              <a:t>      S     *  </a:t>
            </a:r>
            <a:br>
              <a:rPr lang="en-US" dirty="0"/>
            </a:br>
            <a:r>
              <a:rPr lang="en-US" dirty="0"/>
              <a:t>Frame 1:    AA </a:t>
            </a:r>
            <a:r>
              <a:rPr lang="en-US" dirty="0">
                <a:solidFill>
                  <a:schemeClr val="tx1"/>
                </a:solidFill>
              </a:rPr>
              <a:t>CAT GGG </a:t>
            </a:r>
            <a:r>
              <a:rPr lang="en-US" dirty="0">
                <a:solidFill>
                  <a:srgbClr val="FF0000"/>
                </a:solidFill>
              </a:rPr>
              <a:t>ATG GAA TAA </a:t>
            </a:r>
            <a:r>
              <a:rPr lang="en-US" dirty="0">
                <a:solidFill>
                  <a:schemeClr val="tx1"/>
                </a:solidFill>
              </a:rPr>
              <a:t>TTC GTG AAG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Protein:                               M     E      *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A043-8AA1-E7CD-DA41-39CA014C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534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2B833-5782-E54B-04E4-35528083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9267-0207-BDF0-BEBC-FFACDFC33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find the right ORF?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ADDD-C145-EBBD-C59B-EE01B7F9D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ORF finder software -- TransDecoder, input spliced transcripts, output ORFs</a:t>
            </a:r>
          </a:p>
          <a:p>
            <a:pPr lvl="1"/>
            <a:r>
              <a:rPr lang="en-US" dirty="0"/>
              <a:t>Makes mistakes in cases when there are two ORFs of comparable length in two different frames</a:t>
            </a:r>
          </a:p>
          <a:p>
            <a:pPr lvl="1"/>
            <a:r>
              <a:rPr lang="en-US" dirty="0"/>
              <a:t>Will find ORFs in non-coding transcripts</a:t>
            </a:r>
          </a:p>
          <a:p>
            <a:r>
              <a:rPr lang="en-US" i="1" dirty="0"/>
              <a:t>Ab initio </a:t>
            </a:r>
            <a:r>
              <a:rPr lang="en-US" dirty="0"/>
              <a:t>gene finders -- AUGUSTUS, </a:t>
            </a:r>
            <a:r>
              <a:rPr lang="en-US" dirty="0" err="1"/>
              <a:t>GeneMark</a:t>
            </a:r>
            <a:r>
              <a:rPr lang="en-US" dirty="0"/>
              <a:t>, SNAP  </a:t>
            </a:r>
          </a:p>
          <a:p>
            <a:pPr lvl="1"/>
            <a:r>
              <a:rPr lang="en-US" dirty="0"/>
              <a:t>Work on </a:t>
            </a:r>
            <a:r>
              <a:rPr lang="en-US" dirty="0" err="1"/>
              <a:t>unspliced</a:t>
            </a:r>
            <a:r>
              <a:rPr lang="en-US" dirty="0"/>
              <a:t> DNA</a:t>
            </a:r>
          </a:p>
          <a:p>
            <a:pPr lvl="1"/>
            <a:r>
              <a:rPr lang="en-US" dirty="0"/>
              <a:t>Many false positives</a:t>
            </a:r>
          </a:p>
          <a:p>
            <a:pPr lvl="1"/>
            <a:r>
              <a:rPr lang="en-US" dirty="0"/>
              <a:t>CDSs they find may not be intron-chain compatible with transcripts -- which one is correct?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70357-F2DF-4E1A-164C-95D9A334E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8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172F4-113A-52C3-4F1C-9BC42DF37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E204-FEB1-BFBA-5569-CDB00A76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we find the right ORF?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E7C372-2CEF-93C7-7F6C-829F5BA03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44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Protein homology:</a:t>
            </a:r>
          </a:p>
          <a:p>
            <a:pPr lvl="1"/>
            <a:r>
              <a:rPr lang="en-US" dirty="0"/>
              <a:t>Proteins are conserved over large evolutionary distances</a:t>
            </a:r>
          </a:p>
          <a:p>
            <a:r>
              <a:rPr lang="en-US" dirty="0"/>
              <a:t>Proteins can be aligned to the DNA:</a:t>
            </a:r>
          </a:p>
          <a:p>
            <a:pPr lvl="1"/>
            <a:r>
              <a:rPr lang="en-US" dirty="0"/>
              <a:t>Alignments must be done in Amino Acid space because  </a:t>
            </a:r>
            <a:br>
              <a:rPr lang="en-US" dirty="0"/>
            </a:br>
            <a:r>
              <a:rPr lang="en-US" dirty="0"/>
              <a:t>DNA-&gt;Protein is unique, but Protein-&gt;DNA is not</a:t>
            </a:r>
          </a:p>
          <a:p>
            <a:pPr lvl="1"/>
            <a:r>
              <a:rPr lang="en-US" dirty="0"/>
              <a:t>Translate genome to AA in six frames (three forward and three reverse) and then align AA sequences</a:t>
            </a:r>
          </a:p>
          <a:p>
            <a:pPr lvl="1"/>
            <a:r>
              <a:rPr lang="en-US" dirty="0"/>
              <a:t>Can use Smith-Waterman, minimizers, suffix arrays</a:t>
            </a:r>
          </a:p>
          <a:p>
            <a:pPr lvl="1"/>
            <a:r>
              <a:rPr lang="en-US" dirty="0"/>
              <a:t>Once AA are aligned, can go back to DNA coordinates</a:t>
            </a:r>
          </a:p>
          <a:p>
            <a:r>
              <a:rPr lang="en-US" dirty="0"/>
              <a:t>Protein alignment can provide the ORF and can tell which transcripts are protein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1B558-C7F8-031B-6066-3875E12E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8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69490"/>
            <a:ext cx="7024430" cy="1221640"/>
          </a:xfrm>
        </p:spPr>
        <p:txBody>
          <a:bodyPr>
            <a:normAutofit/>
          </a:bodyPr>
          <a:lstStyle/>
          <a:p>
            <a:r>
              <a:rPr lang="en-US" dirty="0"/>
              <a:t>What is an annotation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14CA-1925-432B-8D1D-70918684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2054654"/>
            <a:ext cx="11300170" cy="4428446"/>
          </a:xfrm>
        </p:spPr>
        <p:txBody>
          <a:bodyPr>
            <a:normAutofit/>
          </a:bodyPr>
          <a:lstStyle/>
          <a:p>
            <a:r>
              <a:rPr lang="en-US" dirty="0"/>
              <a:t>Annotation pipeline is a software product that employs a collection of programs that locate functional elements on the genome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Input: Genome, RNA-seq data, Protein sequences from related species</a:t>
            </a:r>
          </a:p>
          <a:p>
            <a:endParaRPr lang="en-US" dirty="0"/>
          </a:p>
          <a:p>
            <a:r>
              <a:rPr lang="en-US" dirty="0"/>
              <a:t>Output: Gene annotation in GFF/GTF format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81A2B-A5E9-40CE-AF20-F1C916E0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2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6889-FB3D-DB77-A92B-F3258AD65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3C711-C118-0D61-F466-5805FDE5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69490"/>
            <a:ext cx="7024430" cy="1221640"/>
          </a:xfrm>
        </p:spPr>
        <p:txBody>
          <a:bodyPr>
            <a:normAutofit/>
          </a:bodyPr>
          <a:lstStyle/>
          <a:p>
            <a:r>
              <a:rPr lang="en-US" dirty="0"/>
              <a:t>Eukaryotic annotation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49EC0-02D7-EF98-6348-140979B00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2054654"/>
            <a:ext cx="11300170" cy="4428446"/>
          </a:xfrm>
        </p:spPr>
        <p:txBody>
          <a:bodyPr>
            <a:normAutofit/>
          </a:bodyPr>
          <a:lstStyle/>
          <a:p>
            <a:r>
              <a:rPr lang="en-US" dirty="0"/>
              <a:t>Evidence-based (alignments of transcripts and proteins):</a:t>
            </a:r>
          </a:p>
          <a:p>
            <a:pPr lvl="1"/>
            <a:r>
              <a:rPr lang="en-US" dirty="0"/>
              <a:t>EviAnn by Zimin et al.</a:t>
            </a:r>
          </a:p>
          <a:p>
            <a:r>
              <a:rPr lang="en-US" i="1" dirty="0"/>
              <a:t>Ab initio</a:t>
            </a:r>
            <a:r>
              <a:rPr lang="en-US" dirty="0"/>
              <a:t>-based </a:t>
            </a:r>
          </a:p>
          <a:p>
            <a:pPr lvl="1"/>
            <a:r>
              <a:rPr lang="en-US" dirty="0"/>
              <a:t>BRAKER3 by </a:t>
            </a:r>
            <a:r>
              <a:rPr lang="en-US" dirty="0" err="1"/>
              <a:t>Borodovsky</a:t>
            </a:r>
            <a:r>
              <a:rPr lang="en-US" dirty="0"/>
              <a:t> et al.</a:t>
            </a:r>
          </a:p>
          <a:p>
            <a:r>
              <a:rPr lang="en-US" dirty="0"/>
              <a:t>Mix of evidence and </a:t>
            </a:r>
            <a:r>
              <a:rPr lang="en-US" i="1" dirty="0"/>
              <a:t>ab initio:</a:t>
            </a:r>
          </a:p>
          <a:p>
            <a:pPr lvl="1"/>
            <a:r>
              <a:rPr lang="en-US" dirty="0"/>
              <a:t>MAKER{2,3} by Yandell et al.</a:t>
            </a:r>
          </a:p>
          <a:p>
            <a:pPr lvl="1"/>
            <a:r>
              <a:rPr lang="en-US" dirty="0" err="1"/>
              <a:t>EGAPx</a:t>
            </a:r>
            <a:r>
              <a:rPr lang="en-US" dirty="0"/>
              <a:t> by NCBI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F1AE6-CAD6-3AE9-E314-F3F57A10B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16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69490"/>
            <a:ext cx="7024430" cy="1221640"/>
          </a:xfrm>
        </p:spPr>
        <p:txBody>
          <a:bodyPr>
            <a:normAutofit/>
          </a:bodyPr>
          <a:lstStyle/>
          <a:p>
            <a:r>
              <a:rPr lang="en-US" dirty="0"/>
              <a:t>Basic design of EviAnn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81A2B-A5E9-40CE-AF20-F1C916E0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0814" y="6345277"/>
            <a:ext cx="2844800" cy="365125"/>
          </a:xfrm>
        </p:spPr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0492C0-5509-39E4-50E9-279D31BB2E6D}"/>
              </a:ext>
            </a:extLst>
          </p:cNvPr>
          <p:cNvSpPr txBox="1"/>
          <p:nvPr/>
        </p:nvSpPr>
        <p:spPr>
          <a:xfrm>
            <a:off x="8730534" y="5359561"/>
            <a:ext cx="3201462" cy="923330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Combine, filter, then annotate CDS only</a:t>
            </a:r>
          </a:p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BDA33B-07C3-94CD-E5C8-D45F7B7FFB4B}"/>
              </a:ext>
            </a:extLst>
          </p:cNvPr>
          <p:cNvSpPr/>
          <p:nvPr/>
        </p:nvSpPr>
        <p:spPr>
          <a:xfrm>
            <a:off x="266388" y="4678341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F3CFC2-4C51-F583-7C84-5F01D591AB6C}"/>
              </a:ext>
            </a:extLst>
          </p:cNvPr>
          <p:cNvSpPr txBox="1"/>
          <p:nvPr/>
        </p:nvSpPr>
        <p:spPr>
          <a:xfrm>
            <a:off x="188147" y="4249623"/>
            <a:ext cx="2936210" cy="646331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Screen splice sites</a:t>
            </a:r>
          </a:p>
          <a:p>
            <a:pPr algn="ctr"/>
            <a:endParaRPr lang="en-US" i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C8B360D-2160-8959-8275-8E633EE01F35}"/>
              </a:ext>
            </a:extLst>
          </p:cNvPr>
          <p:cNvSpPr/>
          <p:nvPr/>
        </p:nvSpPr>
        <p:spPr>
          <a:xfrm>
            <a:off x="4553059" y="4805107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36C2FA-609E-EFF4-8279-85C449C1F38B}"/>
              </a:ext>
            </a:extLst>
          </p:cNvPr>
          <p:cNvSpPr txBox="1"/>
          <p:nvPr/>
        </p:nvSpPr>
        <p:spPr>
          <a:xfrm>
            <a:off x="4459396" y="3900147"/>
            <a:ext cx="2959558" cy="1200329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Annotate protein coding, train Weight Array Matrix </a:t>
            </a:r>
            <a:r>
              <a:rPr lang="en-US"/>
              <a:t>(WAM) for </a:t>
            </a:r>
            <a:r>
              <a:rPr lang="en-US" dirty="0"/>
              <a:t>splice sites</a:t>
            </a:r>
          </a:p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187E1F7-5873-70F4-BB18-F79A46CA33AA}"/>
              </a:ext>
            </a:extLst>
          </p:cNvPr>
          <p:cNvSpPr/>
          <p:nvPr/>
        </p:nvSpPr>
        <p:spPr>
          <a:xfrm>
            <a:off x="8866404" y="4614721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714757-2126-58A9-C363-88CBA2999728}"/>
              </a:ext>
            </a:extLst>
          </p:cNvPr>
          <p:cNvSpPr txBox="1"/>
          <p:nvPr/>
        </p:nvSpPr>
        <p:spPr>
          <a:xfrm>
            <a:off x="4484823" y="1724149"/>
            <a:ext cx="2936210" cy="1477328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Compare intron chains</a:t>
            </a:r>
            <a:endParaRPr lang="en-US" sz="1200" dirty="0"/>
          </a:p>
          <a:p>
            <a:pPr algn="ctr"/>
            <a:r>
              <a:rPr lang="en-US" sz="1200" dirty="0"/>
              <a:t>genome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transcript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                  CDS alignment</a:t>
            </a:r>
          </a:p>
          <a:p>
            <a:pPr algn="ctr"/>
            <a:endParaRPr lang="en-US" sz="12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D9E3534-39F4-229D-A3C6-B4AF432261AE}"/>
              </a:ext>
            </a:extLst>
          </p:cNvPr>
          <p:cNvGrpSpPr/>
          <p:nvPr/>
        </p:nvGrpSpPr>
        <p:grpSpPr>
          <a:xfrm>
            <a:off x="541597" y="4678631"/>
            <a:ext cx="2177785" cy="133768"/>
            <a:chOff x="4221377" y="3255491"/>
            <a:chExt cx="2177785" cy="133768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EBF9BF-ECA1-D916-0B41-B0AF363FFB1E}"/>
                </a:ext>
              </a:extLst>
            </p:cNvPr>
            <p:cNvSpPr/>
            <p:nvPr/>
          </p:nvSpPr>
          <p:spPr>
            <a:xfrm>
              <a:off x="4221377" y="3259104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1D7AC87-99E2-AE92-8572-D69F917399A2}"/>
                </a:ext>
              </a:extLst>
            </p:cNvPr>
            <p:cNvSpPr/>
            <p:nvPr/>
          </p:nvSpPr>
          <p:spPr>
            <a:xfrm>
              <a:off x="4897820" y="3256999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6A2AE70-8C6B-7C26-8932-BD027FA79D10}"/>
                </a:ext>
              </a:extLst>
            </p:cNvPr>
            <p:cNvSpPr/>
            <p:nvPr/>
          </p:nvSpPr>
          <p:spPr>
            <a:xfrm>
              <a:off x="5474993" y="3255491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587243B-A16E-C83A-77FA-17D7CBCC1FC6}"/>
                </a:ext>
              </a:extLst>
            </p:cNvPr>
            <p:cNvSpPr/>
            <p:nvPr/>
          </p:nvSpPr>
          <p:spPr>
            <a:xfrm>
              <a:off x="6016390" y="3260130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8780E6F-6086-3863-11B6-594750584099}"/>
                </a:ext>
              </a:extLst>
            </p:cNvPr>
            <p:cNvSpPr/>
            <p:nvPr/>
          </p:nvSpPr>
          <p:spPr>
            <a:xfrm>
              <a:off x="4610024" y="3273715"/>
              <a:ext cx="287795" cy="115544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4CEDC2CC-F699-2322-1537-38E98001C4E0}"/>
                </a:ext>
              </a:extLst>
            </p:cNvPr>
            <p:cNvSpPr/>
            <p:nvPr/>
          </p:nvSpPr>
          <p:spPr>
            <a:xfrm>
              <a:off x="5273530" y="3265647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7F3F5E-C6E6-BE61-CF53-34DCDBC49DDD}"/>
                </a:ext>
              </a:extLst>
            </p:cNvPr>
            <p:cNvSpPr/>
            <p:nvPr/>
          </p:nvSpPr>
          <p:spPr>
            <a:xfrm>
              <a:off x="5857765" y="3273715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1434B18-8ED0-6372-0AB1-FF64346EA523}"/>
              </a:ext>
            </a:extLst>
          </p:cNvPr>
          <p:cNvSpPr txBox="1"/>
          <p:nvPr/>
        </p:nvSpPr>
        <p:spPr>
          <a:xfrm>
            <a:off x="839994" y="1726657"/>
            <a:ext cx="2967659" cy="135421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Transcripts built from RNA-seq and other data (HISAT2+StringTie2)</a:t>
            </a:r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dirty="0"/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71B13CE-3CD8-C4AD-BD54-A3C42D8A1BAC}"/>
              </a:ext>
            </a:extLst>
          </p:cNvPr>
          <p:cNvCxnSpPr>
            <a:cxnSpLocks/>
            <a:stCxn id="62" idx="3"/>
            <a:endCxn id="34" idx="1"/>
          </p:cNvCxnSpPr>
          <p:nvPr/>
        </p:nvCxnSpPr>
        <p:spPr>
          <a:xfrm>
            <a:off x="3807653" y="2403766"/>
            <a:ext cx="677170" cy="5904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83363293-D73A-3A8E-4DD5-6275E41E1208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1656252" y="3201477"/>
            <a:ext cx="2844458" cy="104814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D5AA79B-C807-C038-E458-FA62AD1EE33D}"/>
              </a:ext>
            </a:extLst>
          </p:cNvPr>
          <p:cNvCxnSpPr>
            <a:cxnSpLocks/>
            <a:stCxn id="30" idx="2"/>
            <a:endCxn id="258" idx="0"/>
          </p:cNvCxnSpPr>
          <p:nvPr/>
        </p:nvCxnSpPr>
        <p:spPr>
          <a:xfrm>
            <a:off x="1656252" y="4895954"/>
            <a:ext cx="778" cy="46779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970A3D8A-66BD-4ED6-E7DB-C74350F74579}"/>
              </a:ext>
            </a:extLst>
          </p:cNvPr>
          <p:cNvSpPr txBox="1"/>
          <p:nvPr/>
        </p:nvSpPr>
        <p:spPr>
          <a:xfrm>
            <a:off x="8098203" y="1714812"/>
            <a:ext cx="3105506" cy="1354217"/>
          </a:xfrm>
          <a:prstGeom prst="rect">
            <a:avLst/>
          </a:prstGeom>
          <a:noFill/>
          <a:ln w="12700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CDSs from alignment of proteins from several related species (miniprot)</a:t>
            </a:r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dirty="0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F4B356C-1E55-E9A2-884E-2A641C679625}"/>
              </a:ext>
            </a:extLst>
          </p:cNvPr>
          <p:cNvCxnSpPr>
            <a:cxnSpLocks/>
            <a:stCxn id="130" idx="1"/>
            <a:endCxn id="34" idx="3"/>
          </p:cNvCxnSpPr>
          <p:nvPr/>
        </p:nvCxnSpPr>
        <p:spPr>
          <a:xfrm flipH="1">
            <a:off x="7421033" y="2391921"/>
            <a:ext cx="677170" cy="7089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5BC17B0C-0851-9487-1A01-E7F44B12C521}"/>
              </a:ext>
            </a:extLst>
          </p:cNvPr>
          <p:cNvCxnSpPr>
            <a:cxnSpLocks/>
            <a:stCxn id="32" idx="2"/>
            <a:endCxn id="138" idx="0"/>
          </p:cNvCxnSpPr>
          <p:nvPr/>
        </p:nvCxnSpPr>
        <p:spPr>
          <a:xfrm>
            <a:off x="5939175" y="5100476"/>
            <a:ext cx="21576" cy="72075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98D065F5-BD5B-6C17-391D-9EBE9B744CCC}"/>
              </a:ext>
            </a:extLst>
          </p:cNvPr>
          <p:cNvSpPr txBox="1"/>
          <p:nvPr/>
        </p:nvSpPr>
        <p:spPr>
          <a:xfrm>
            <a:off x="4226576" y="5821226"/>
            <a:ext cx="3468349" cy="646331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Combine results, detect pseudogenes, output annotation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3C25379-4AC3-C2D6-88F0-0C0DB1DE70FE}"/>
              </a:ext>
            </a:extLst>
          </p:cNvPr>
          <p:cNvSpPr txBox="1"/>
          <p:nvPr/>
        </p:nvSpPr>
        <p:spPr>
          <a:xfrm>
            <a:off x="8730534" y="4212831"/>
            <a:ext cx="3201462" cy="646331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Screen splice sites</a:t>
            </a:r>
          </a:p>
          <a:p>
            <a:pPr algn="ctr"/>
            <a:endParaRPr lang="en-US" dirty="0"/>
          </a:p>
        </p:txBody>
      </p: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800BFA5D-9540-C0A2-B93B-14E29961A5BE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7421033" y="3193818"/>
            <a:ext cx="2910232" cy="1019013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F7F53893-25D6-45E4-E0AE-FC01B7A07D2C}"/>
              </a:ext>
            </a:extLst>
          </p:cNvPr>
          <p:cNvCxnSpPr>
            <a:cxnSpLocks/>
            <a:stCxn id="139" idx="2"/>
            <a:endCxn id="3" idx="0"/>
          </p:cNvCxnSpPr>
          <p:nvPr/>
        </p:nvCxnSpPr>
        <p:spPr>
          <a:xfrm>
            <a:off x="10331265" y="4859162"/>
            <a:ext cx="0" cy="500399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698744C2-9962-47CA-1F69-3BE4B6F24246}"/>
              </a:ext>
            </a:extLst>
          </p:cNvPr>
          <p:cNvCxnSpPr>
            <a:cxnSpLocks/>
            <a:stCxn id="34" idx="2"/>
            <a:endCxn id="32" idx="0"/>
          </p:cNvCxnSpPr>
          <p:nvPr/>
        </p:nvCxnSpPr>
        <p:spPr>
          <a:xfrm flipH="1">
            <a:off x="5939175" y="3201477"/>
            <a:ext cx="13753" cy="69867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874A50D-6647-4389-31DA-3040BD1D0294}"/>
              </a:ext>
            </a:extLst>
          </p:cNvPr>
          <p:cNvGrpSpPr/>
          <p:nvPr/>
        </p:nvGrpSpPr>
        <p:grpSpPr>
          <a:xfrm>
            <a:off x="4796038" y="2605063"/>
            <a:ext cx="2177785" cy="133768"/>
            <a:chOff x="4221377" y="3255491"/>
            <a:chExt cx="2177785" cy="133768"/>
          </a:xfrm>
        </p:grpSpPr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21EA4098-6B32-E106-BD48-5AFCD7CB6535}"/>
                </a:ext>
              </a:extLst>
            </p:cNvPr>
            <p:cNvSpPr/>
            <p:nvPr/>
          </p:nvSpPr>
          <p:spPr>
            <a:xfrm>
              <a:off x="4221377" y="3259104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2B4B9CE8-7189-E236-073A-81C543F3961E}"/>
                </a:ext>
              </a:extLst>
            </p:cNvPr>
            <p:cNvSpPr/>
            <p:nvPr/>
          </p:nvSpPr>
          <p:spPr>
            <a:xfrm>
              <a:off x="4897820" y="3256999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07584E0F-E086-F1FA-25FB-29A29A07472F}"/>
                </a:ext>
              </a:extLst>
            </p:cNvPr>
            <p:cNvSpPr/>
            <p:nvPr/>
          </p:nvSpPr>
          <p:spPr>
            <a:xfrm>
              <a:off x="5474993" y="3255491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CE3831DB-4A2F-5891-B7B3-F99266858756}"/>
                </a:ext>
              </a:extLst>
            </p:cNvPr>
            <p:cNvSpPr/>
            <p:nvPr/>
          </p:nvSpPr>
          <p:spPr>
            <a:xfrm>
              <a:off x="6016390" y="3260130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6EC2C36C-2EB6-E404-20C2-6D77279300B9}"/>
                </a:ext>
              </a:extLst>
            </p:cNvPr>
            <p:cNvSpPr/>
            <p:nvPr/>
          </p:nvSpPr>
          <p:spPr>
            <a:xfrm>
              <a:off x="4610024" y="3273715"/>
              <a:ext cx="287795" cy="115544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A9E7A1B1-C4F3-B553-6960-EFC877A31FB6}"/>
                </a:ext>
              </a:extLst>
            </p:cNvPr>
            <p:cNvSpPr/>
            <p:nvPr/>
          </p:nvSpPr>
          <p:spPr>
            <a:xfrm>
              <a:off x="5273530" y="3265647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070FBDAE-095F-02D0-8081-F5DF79BA4A13}"/>
                </a:ext>
              </a:extLst>
            </p:cNvPr>
            <p:cNvSpPr/>
            <p:nvPr/>
          </p:nvSpPr>
          <p:spPr>
            <a:xfrm>
              <a:off x="5857765" y="3273715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EE4A576E-0486-6B6D-971E-DB3C20576FA6}"/>
              </a:ext>
            </a:extLst>
          </p:cNvPr>
          <p:cNvGrpSpPr/>
          <p:nvPr/>
        </p:nvGrpSpPr>
        <p:grpSpPr>
          <a:xfrm>
            <a:off x="5566534" y="2968852"/>
            <a:ext cx="1288595" cy="138404"/>
            <a:chOff x="4991492" y="3446473"/>
            <a:chExt cx="1288595" cy="138404"/>
          </a:xfrm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2604DF07-39C2-A80A-0C0C-0D1EB12EB55E}"/>
                </a:ext>
              </a:extLst>
            </p:cNvPr>
            <p:cNvSpPr/>
            <p:nvPr/>
          </p:nvSpPr>
          <p:spPr>
            <a:xfrm>
              <a:off x="4991492" y="3452617"/>
              <a:ext cx="289100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D931AE82-E1A5-A84C-EEF2-93753061EC30}"/>
                </a:ext>
              </a:extLst>
            </p:cNvPr>
            <p:cNvSpPr/>
            <p:nvPr/>
          </p:nvSpPr>
          <p:spPr>
            <a:xfrm>
              <a:off x="5474993" y="3446473"/>
              <a:ext cx="382772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CBC9A18-407A-4672-6E0D-0E4435BB2780}"/>
                </a:ext>
              </a:extLst>
            </p:cNvPr>
            <p:cNvSpPr/>
            <p:nvPr/>
          </p:nvSpPr>
          <p:spPr>
            <a:xfrm>
              <a:off x="6016390" y="3455748"/>
              <a:ext cx="263697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A92091CC-1107-D59E-5992-736E6BC18CB5}"/>
                </a:ext>
              </a:extLst>
            </p:cNvPr>
            <p:cNvSpPr/>
            <p:nvPr/>
          </p:nvSpPr>
          <p:spPr>
            <a:xfrm>
              <a:off x="5273530" y="3461265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2D1252E-813A-6927-7684-34F8A9D69D72}"/>
                </a:ext>
              </a:extLst>
            </p:cNvPr>
            <p:cNvSpPr/>
            <p:nvPr/>
          </p:nvSpPr>
          <p:spPr>
            <a:xfrm>
              <a:off x="5857765" y="3469333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2" name="Rectangle 161">
            <a:extLst>
              <a:ext uri="{FF2B5EF4-FFF2-40B4-BE49-F238E27FC236}">
                <a16:creationId xmlns:a16="http://schemas.microsoft.com/office/drawing/2014/main" id="{1728542F-3CE0-1B42-C0CF-DBEC68AC13AC}"/>
              </a:ext>
            </a:extLst>
          </p:cNvPr>
          <p:cNvSpPr/>
          <p:nvPr/>
        </p:nvSpPr>
        <p:spPr>
          <a:xfrm>
            <a:off x="4541361" y="2283763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8E6BC49-EDE6-1E5C-3C31-0C2581580F58}"/>
              </a:ext>
            </a:extLst>
          </p:cNvPr>
          <p:cNvSpPr/>
          <p:nvPr/>
        </p:nvSpPr>
        <p:spPr>
          <a:xfrm>
            <a:off x="6583515" y="2283763"/>
            <a:ext cx="271614" cy="694364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C3F2D58F-1F54-7FDC-1BDE-13FB01DCA945}"/>
              </a:ext>
            </a:extLst>
          </p:cNvPr>
          <p:cNvSpPr/>
          <p:nvPr/>
        </p:nvSpPr>
        <p:spPr>
          <a:xfrm>
            <a:off x="6050627" y="2283763"/>
            <a:ext cx="389263" cy="685089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8E34BA3D-D39D-7944-ECA7-E85CEFB497BC}"/>
              </a:ext>
            </a:extLst>
          </p:cNvPr>
          <p:cNvSpPr/>
          <p:nvPr/>
        </p:nvSpPr>
        <p:spPr>
          <a:xfrm>
            <a:off x="5566534" y="2283763"/>
            <a:ext cx="296255" cy="694364"/>
          </a:xfrm>
          <a:prstGeom prst="rect">
            <a:avLst/>
          </a:prstGeom>
          <a:solidFill>
            <a:schemeClr val="accent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C76DBD99-50C6-A252-4787-F5AC67BD7624}"/>
              </a:ext>
            </a:extLst>
          </p:cNvPr>
          <p:cNvGrpSpPr/>
          <p:nvPr/>
        </p:nvGrpSpPr>
        <p:grpSpPr>
          <a:xfrm>
            <a:off x="9751467" y="4610535"/>
            <a:ext cx="1288595" cy="138404"/>
            <a:chOff x="4991492" y="3446473"/>
            <a:chExt cx="1288595" cy="138404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EB6D43F1-9456-0C3F-4182-5CE3A2BEDDC5}"/>
                </a:ext>
              </a:extLst>
            </p:cNvPr>
            <p:cNvSpPr/>
            <p:nvPr/>
          </p:nvSpPr>
          <p:spPr>
            <a:xfrm>
              <a:off x="4991492" y="3452617"/>
              <a:ext cx="289100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166DE81-5422-CD22-01D7-4FEB43CC17E5}"/>
                </a:ext>
              </a:extLst>
            </p:cNvPr>
            <p:cNvSpPr/>
            <p:nvPr/>
          </p:nvSpPr>
          <p:spPr>
            <a:xfrm>
              <a:off x="5474993" y="3446473"/>
              <a:ext cx="382772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FC318A10-6AE1-E9FC-B9A6-7B5590B09DE0}"/>
                </a:ext>
              </a:extLst>
            </p:cNvPr>
            <p:cNvSpPr/>
            <p:nvPr/>
          </p:nvSpPr>
          <p:spPr>
            <a:xfrm>
              <a:off x="6016390" y="3455748"/>
              <a:ext cx="263697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9FA4218D-7DCF-4EDB-83EB-ECFE0FA4527D}"/>
                </a:ext>
              </a:extLst>
            </p:cNvPr>
            <p:cNvSpPr/>
            <p:nvPr/>
          </p:nvSpPr>
          <p:spPr>
            <a:xfrm>
              <a:off x="5273530" y="3461265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1449A47-B6E4-DAD0-42A2-CC38E7DB84BE}"/>
                </a:ext>
              </a:extLst>
            </p:cNvPr>
            <p:cNvSpPr/>
            <p:nvPr/>
          </p:nvSpPr>
          <p:spPr>
            <a:xfrm>
              <a:off x="5857765" y="3469333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5106483E-72DA-5CA1-0C69-2394B6D483E5}"/>
              </a:ext>
            </a:extLst>
          </p:cNvPr>
          <p:cNvGrpSpPr/>
          <p:nvPr/>
        </p:nvGrpSpPr>
        <p:grpSpPr>
          <a:xfrm>
            <a:off x="4851331" y="4807381"/>
            <a:ext cx="2177785" cy="133768"/>
            <a:chOff x="4221377" y="3255491"/>
            <a:chExt cx="2177785" cy="133768"/>
          </a:xfrm>
        </p:grpSpPr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E2B1D6D-6A44-24B5-2923-52EEF1587C2B}"/>
                </a:ext>
              </a:extLst>
            </p:cNvPr>
            <p:cNvSpPr/>
            <p:nvPr/>
          </p:nvSpPr>
          <p:spPr>
            <a:xfrm>
              <a:off x="4221377" y="3259104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1BF053F-3DEC-408F-69EC-83B844874F88}"/>
                </a:ext>
              </a:extLst>
            </p:cNvPr>
            <p:cNvSpPr/>
            <p:nvPr/>
          </p:nvSpPr>
          <p:spPr>
            <a:xfrm>
              <a:off x="4897820" y="3256999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16C9918A-1DEB-DCB3-C6D2-18C29A191BD9}"/>
                </a:ext>
              </a:extLst>
            </p:cNvPr>
            <p:cNvSpPr/>
            <p:nvPr/>
          </p:nvSpPr>
          <p:spPr>
            <a:xfrm>
              <a:off x="5474993" y="3255491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68B53682-E2D9-5B2E-4C45-8466AE379DFC}"/>
                </a:ext>
              </a:extLst>
            </p:cNvPr>
            <p:cNvSpPr/>
            <p:nvPr/>
          </p:nvSpPr>
          <p:spPr>
            <a:xfrm>
              <a:off x="6016390" y="3260130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F43FDD-98F3-93DC-1714-5348BB0D17E7}"/>
                </a:ext>
              </a:extLst>
            </p:cNvPr>
            <p:cNvSpPr/>
            <p:nvPr/>
          </p:nvSpPr>
          <p:spPr>
            <a:xfrm>
              <a:off x="4610024" y="3273715"/>
              <a:ext cx="287795" cy="115544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0E55207-6CC8-34B2-B118-219CAF771157}"/>
                </a:ext>
              </a:extLst>
            </p:cNvPr>
            <p:cNvSpPr/>
            <p:nvPr/>
          </p:nvSpPr>
          <p:spPr>
            <a:xfrm>
              <a:off x="5273530" y="3265647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97394E82-AC6F-4B18-B46E-9165180F46F8}"/>
                </a:ext>
              </a:extLst>
            </p:cNvPr>
            <p:cNvSpPr/>
            <p:nvPr/>
          </p:nvSpPr>
          <p:spPr>
            <a:xfrm>
              <a:off x="5857765" y="3273715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D86357E-875F-CDEC-B333-4BDAC6A5050F}"/>
              </a:ext>
            </a:extLst>
          </p:cNvPr>
          <p:cNvGrpSpPr/>
          <p:nvPr/>
        </p:nvGrpSpPr>
        <p:grpSpPr>
          <a:xfrm>
            <a:off x="5619274" y="4802279"/>
            <a:ext cx="1288595" cy="138404"/>
            <a:chOff x="4991492" y="3446473"/>
            <a:chExt cx="1288595" cy="138404"/>
          </a:xfrm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DC9BFF43-9A0C-9C0B-3C3C-E9B6FE40DAF0}"/>
                </a:ext>
              </a:extLst>
            </p:cNvPr>
            <p:cNvSpPr/>
            <p:nvPr/>
          </p:nvSpPr>
          <p:spPr>
            <a:xfrm>
              <a:off x="4991492" y="3452617"/>
              <a:ext cx="289100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16A4B253-D63F-6058-FCCB-060629CF046B}"/>
                </a:ext>
              </a:extLst>
            </p:cNvPr>
            <p:cNvSpPr/>
            <p:nvPr/>
          </p:nvSpPr>
          <p:spPr>
            <a:xfrm>
              <a:off x="5474993" y="3446473"/>
              <a:ext cx="382772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03A6DD69-6E82-47D3-5B72-4002BF669C14}"/>
                </a:ext>
              </a:extLst>
            </p:cNvPr>
            <p:cNvSpPr/>
            <p:nvPr/>
          </p:nvSpPr>
          <p:spPr>
            <a:xfrm>
              <a:off x="6016390" y="3455748"/>
              <a:ext cx="263697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50D68627-66A6-68F5-B395-797CB7FA5F11}"/>
                </a:ext>
              </a:extLst>
            </p:cNvPr>
            <p:cNvSpPr/>
            <p:nvPr/>
          </p:nvSpPr>
          <p:spPr>
            <a:xfrm>
              <a:off x="5273530" y="3461265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B9C13C19-A77E-A51C-289C-27A9231CACBC}"/>
                </a:ext>
              </a:extLst>
            </p:cNvPr>
            <p:cNvSpPr/>
            <p:nvPr/>
          </p:nvSpPr>
          <p:spPr>
            <a:xfrm>
              <a:off x="5857765" y="3469333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DCFE17B5-432A-9633-1864-67BA995555F1}"/>
              </a:ext>
            </a:extLst>
          </p:cNvPr>
          <p:cNvGrpSpPr/>
          <p:nvPr/>
        </p:nvGrpSpPr>
        <p:grpSpPr>
          <a:xfrm>
            <a:off x="1157042" y="2893601"/>
            <a:ext cx="2177785" cy="133768"/>
            <a:chOff x="4221377" y="3255491"/>
            <a:chExt cx="2177785" cy="133768"/>
          </a:xfrm>
        </p:grpSpPr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C1D21461-3F6C-7504-9401-FF6E74191DD2}"/>
                </a:ext>
              </a:extLst>
            </p:cNvPr>
            <p:cNvSpPr/>
            <p:nvPr/>
          </p:nvSpPr>
          <p:spPr>
            <a:xfrm>
              <a:off x="4221377" y="3259104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A7B61C99-184D-556B-4486-EA950A5CAD57}"/>
                </a:ext>
              </a:extLst>
            </p:cNvPr>
            <p:cNvSpPr/>
            <p:nvPr/>
          </p:nvSpPr>
          <p:spPr>
            <a:xfrm>
              <a:off x="4897820" y="3256999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4C4481C2-6E8F-A4C0-B425-2415BC050670}"/>
                </a:ext>
              </a:extLst>
            </p:cNvPr>
            <p:cNvSpPr/>
            <p:nvPr/>
          </p:nvSpPr>
          <p:spPr>
            <a:xfrm>
              <a:off x="5474993" y="3255491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C6AF9ECB-3CAD-7354-9232-40E4F6A4C104}"/>
                </a:ext>
              </a:extLst>
            </p:cNvPr>
            <p:cNvSpPr/>
            <p:nvPr/>
          </p:nvSpPr>
          <p:spPr>
            <a:xfrm>
              <a:off x="6016390" y="3260130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1A266A90-EF4A-1FC5-3382-0A547C8FCF95}"/>
                </a:ext>
              </a:extLst>
            </p:cNvPr>
            <p:cNvSpPr/>
            <p:nvPr/>
          </p:nvSpPr>
          <p:spPr>
            <a:xfrm>
              <a:off x="4610024" y="3273715"/>
              <a:ext cx="287795" cy="115544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7C22D789-02A4-2EBF-777F-52C9AC8A6EB1}"/>
                </a:ext>
              </a:extLst>
            </p:cNvPr>
            <p:cNvSpPr/>
            <p:nvPr/>
          </p:nvSpPr>
          <p:spPr>
            <a:xfrm>
              <a:off x="5273530" y="3265647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555AE75-98D7-5AE1-2065-E39AA5E6ADF6}"/>
                </a:ext>
              </a:extLst>
            </p:cNvPr>
            <p:cNvSpPr/>
            <p:nvPr/>
          </p:nvSpPr>
          <p:spPr>
            <a:xfrm>
              <a:off x="5857765" y="3273715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2" name="Rectangle 231">
            <a:extLst>
              <a:ext uri="{FF2B5EF4-FFF2-40B4-BE49-F238E27FC236}">
                <a16:creationId xmlns:a16="http://schemas.microsoft.com/office/drawing/2014/main" id="{35474037-2521-40D6-A0B6-B0AEC189497C}"/>
              </a:ext>
            </a:extLst>
          </p:cNvPr>
          <p:cNvSpPr/>
          <p:nvPr/>
        </p:nvSpPr>
        <p:spPr>
          <a:xfrm>
            <a:off x="916187" y="2682966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CDE5CA41-6212-8B75-70E2-712A6E0D811B}"/>
              </a:ext>
            </a:extLst>
          </p:cNvPr>
          <p:cNvGrpSpPr/>
          <p:nvPr/>
        </p:nvGrpSpPr>
        <p:grpSpPr>
          <a:xfrm>
            <a:off x="9151696" y="2866435"/>
            <a:ext cx="1288595" cy="138404"/>
            <a:chOff x="4991492" y="3446473"/>
            <a:chExt cx="1288595" cy="138404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6833E4AF-58B2-08FB-3203-D0298F42ED2B}"/>
                </a:ext>
              </a:extLst>
            </p:cNvPr>
            <p:cNvSpPr/>
            <p:nvPr/>
          </p:nvSpPr>
          <p:spPr>
            <a:xfrm>
              <a:off x="4991492" y="3452617"/>
              <a:ext cx="289100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0E595403-7756-6C41-520D-AEB2A16E5B5F}"/>
                </a:ext>
              </a:extLst>
            </p:cNvPr>
            <p:cNvSpPr/>
            <p:nvPr/>
          </p:nvSpPr>
          <p:spPr>
            <a:xfrm>
              <a:off x="5474993" y="3446473"/>
              <a:ext cx="382772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4CFC673B-4DA9-06E0-D5E6-FB84DC2FA370}"/>
                </a:ext>
              </a:extLst>
            </p:cNvPr>
            <p:cNvSpPr/>
            <p:nvPr/>
          </p:nvSpPr>
          <p:spPr>
            <a:xfrm>
              <a:off x="6016390" y="3455748"/>
              <a:ext cx="263697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E7833A4-A2A3-2AF8-570C-B84F4328E686}"/>
                </a:ext>
              </a:extLst>
            </p:cNvPr>
            <p:cNvSpPr/>
            <p:nvPr/>
          </p:nvSpPr>
          <p:spPr>
            <a:xfrm>
              <a:off x="5273530" y="3461265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75218B69-FAE3-DF65-22B4-F7A372C955F1}"/>
                </a:ext>
              </a:extLst>
            </p:cNvPr>
            <p:cNvSpPr/>
            <p:nvPr/>
          </p:nvSpPr>
          <p:spPr>
            <a:xfrm>
              <a:off x="5857765" y="3469333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9" name="Rectangle 238">
            <a:extLst>
              <a:ext uri="{FF2B5EF4-FFF2-40B4-BE49-F238E27FC236}">
                <a16:creationId xmlns:a16="http://schemas.microsoft.com/office/drawing/2014/main" id="{E10882CB-0398-B099-1FB8-7AE8F2C4CCC8}"/>
              </a:ext>
            </a:extLst>
          </p:cNvPr>
          <p:cNvSpPr/>
          <p:nvPr/>
        </p:nvSpPr>
        <p:spPr>
          <a:xfrm>
            <a:off x="8299078" y="2656529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4206C6B0-8B5E-9B98-35FE-EE8F5BA2E3D8}"/>
              </a:ext>
            </a:extLst>
          </p:cNvPr>
          <p:cNvSpPr txBox="1"/>
          <p:nvPr/>
        </p:nvSpPr>
        <p:spPr>
          <a:xfrm rot="20572126">
            <a:off x="2027161" y="3401012"/>
            <a:ext cx="16197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No matching CDS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D31EB058-0161-432E-F3D9-9C82C0A76BF2}"/>
              </a:ext>
            </a:extLst>
          </p:cNvPr>
          <p:cNvSpPr/>
          <p:nvPr/>
        </p:nvSpPr>
        <p:spPr>
          <a:xfrm>
            <a:off x="267166" y="6051745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060F3F38-9259-4E04-F821-D9060DE8BEC2}"/>
              </a:ext>
            </a:extLst>
          </p:cNvPr>
          <p:cNvSpPr txBox="1"/>
          <p:nvPr/>
        </p:nvSpPr>
        <p:spPr>
          <a:xfrm>
            <a:off x="188925" y="5363746"/>
            <a:ext cx="2936210" cy="923330"/>
          </a:xfrm>
          <a:prstGeom prst="rect">
            <a:avLst/>
          </a:prstGeom>
          <a:noFill/>
          <a:ln w="412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Look for an ORF, annotate if found, or annotate as lncRNA</a:t>
            </a:r>
          </a:p>
          <a:p>
            <a:pPr algn="ctr"/>
            <a:endParaRPr lang="en-US" i="1" dirty="0"/>
          </a:p>
        </p:txBody>
      </p: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782FE21-B07A-2426-CDF5-A9F51283EE76}"/>
              </a:ext>
            </a:extLst>
          </p:cNvPr>
          <p:cNvGrpSpPr/>
          <p:nvPr/>
        </p:nvGrpSpPr>
        <p:grpSpPr>
          <a:xfrm>
            <a:off x="542375" y="6052035"/>
            <a:ext cx="2177785" cy="133768"/>
            <a:chOff x="4221377" y="3255491"/>
            <a:chExt cx="2177785" cy="133768"/>
          </a:xfrm>
        </p:grpSpPr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F400E5D6-7E93-1B1D-308A-CB0E67547E55}"/>
                </a:ext>
              </a:extLst>
            </p:cNvPr>
            <p:cNvSpPr/>
            <p:nvPr/>
          </p:nvSpPr>
          <p:spPr>
            <a:xfrm>
              <a:off x="4221377" y="3259104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FC4CC43F-E4E5-6AAD-719C-65DD5C24B8B7}"/>
                </a:ext>
              </a:extLst>
            </p:cNvPr>
            <p:cNvSpPr/>
            <p:nvPr/>
          </p:nvSpPr>
          <p:spPr>
            <a:xfrm>
              <a:off x="4897820" y="3256999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62A87CBE-4894-C9F3-66B0-B1074F233765}"/>
                </a:ext>
              </a:extLst>
            </p:cNvPr>
            <p:cNvSpPr/>
            <p:nvPr/>
          </p:nvSpPr>
          <p:spPr>
            <a:xfrm>
              <a:off x="5474993" y="3255491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BA285B82-5E84-61BE-1EC8-52E667C8AE14}"/>
                </a:ext>
              </a:extLst>
            </p:cNvPr>
            <p:cNvSpPr/>
            <p:nvPr/>
          </p:nvSpPr>
          <p:spPr>
            <a:xfrm>
              <a:off x="6016390" y="3260130"/>
              <a:ext cx="382772" cy="45719"/>
            </a:xfrm>
            <a:prstGeom prst="rect">
              <a:avLst/>
            </a:prstGeom>
            <a:solidFill>
              <a:schemeClr val="accent4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830A8730-4580-CB29-954E-6EF1DDC55D60}"/>
                </a:ext>
              </a:extLst>
            </p:cNvPr>
            <p:cNvSpPr/>
            <p:nvPr/>
          </p:nvSpPr>
          <p:spPr>
            <a:xfrm>
              <a:off x="4610024" y="3273715"/>
              <a:ext cx="287795" cy="115544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544E3E47-7791-752E-8C0E-26A1404CD5DF}"/>
                </a:ext>
              </a:extLst>
            </p:cNvPr>
            <p:cNvSpPr/>
            <p:nvPr/>
          </p:nvSpPr>
          <p:spPr>
            <a:xfrm>
              <a:off x="5273530" y="3265647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21276212-34F5-DD93-65EB-2DE392AD8957}"/>
                </a:ext>
              </a:extLst>
            </p:cNvPr>
            <p:cNvSpPr/>
            <p:nvPr/>
          </p:nvSpPr>
          <p:spPr>
            <a:xfrm>
              <a:off x="5857765" y="3273715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8" name="Oval 267">
            <a:extLst>
              <a:ext uri="{FF2B5EF4-FFF2-40B4-BE49-F238E27FC236}">
                <a16:creationId xmlns:a16="http://schemas.microsoft.com/office/drawing/2014/main" id="{3BAF88F3-F92A-2C7A-DA7D-D52B688643E4}"/>
              </a:ext>
            </a:extLst>
          </p:cNvPr>
          <p:cNvSpPr/>
          <p:nvPr/>
        </p:nvSpPr>
        <p:spPr>
          <a:xfrm>
            <a:off x="829095" y="4605318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9" name="Straight Arrow Connector 268">
            <a:extLst>
              <a:ext uri="{FF2B5EF4-FFF2-40B4-BE49-F238E27FC236}">
                <a16:creationId xmlns:a16="http://schemas.microsoft.com/office/drawing/2014/main" id="{A72E13CF-E330-D399-9372-6AE8718934F8}"/>
              </a:ext>
            </a:extLst>
          </p:cNvPr>
          <p:cNvCxnSpPr>
            <a:cxnSpLocks/>
            <a:stCxn id="32" idx="1"/>
            <a:endCxn id="30" idx="3"/>
          </p:cNvCxnSpPr>
          <p:nvPr/>
        </p:nvCxnSpPr>
        <p:spPr>
          <a:xfrm flipH="1">
            <a:off x="3124357" y="4500312"/>
            <a:ext cx="1335039" cy="7247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>
            <a:extLst>
              <a:ext uri="{FF2B5EF4-FFF2-40B4-BE49-F238E27FC236}">
                <a16:creationId xmlns:a16="http://schemas.microsoft.com/office/drawing/2014/main" id="{11D28E6B-8692-A4AA-BD4D-2278B271A01A}"/>
              </a:ext>
            </a:extLst>
          </p:cNvPr>
          <p:cNvSpPr txBox="1"/>
          <p:nvPr/>
        </p:nvSpPr>
        <p:spPr>
          <a:xfrm rot="21316665">
            <a:off x="3081214" y="4223387"/>
            <a:ext cx="14482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> order WAM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E3AE7E0F-1AA5-EDA2-6968-649A0A7534F7}"/>
              </a:ext>
            </a:extLst>
          </p:cNvPr>
          <p:cNvSpPr/>
          <p:nvPr/>
        </p:nvSpPr>
        <p:spPr>
          <a:xfrm>
            <a:off x="8954824" y="6037804"/>
            <a:ext cx="2819372" cy="49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51C0EBC4-ECE7-BBB5-CDF4-CEE2A2680AC1}"/>
              </a:ext>
            </a:extLst>
          </p:cNvPr>
          <p:cNvGrpSpPr/>
          <p:nvPr/>
        </p:nvGrpSpPr>
        <p:grpSpPr>
          <a:xfrm>
            <a:off x="9839887" y="6033618"/>
            <a:ext cx="1288595" cy="138404"/>
            <a:chOff x="4991492" y="3446473"/>
            <a:chExt cx="1288595" cy="138404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3BCD8136-11F2-41A1-03B7-77B6A9CD1FE1}"/>
                </a:ext>
              </a:extLst>
            </p:cNvPr>
            <p:cNvSpPr/>
            <p:nvPr/>
          </p:nvSpPr>
          <p:spPr>
            <a:xfrm>
              <a:off x="4991492" y="3452617"/>
              <a:ext cx="289100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C6A7F2CF-2F6C-FD68-AEEC-F06B7E5BA010}"/>
                </a:ext>
              </a:extLst>
            </p:cNvPr>
            <p:cNvSpPr/>
            <p:nvPr/>
          </p:nvSpPr>
          <p:spPr>
            <a:xfrm>
              <a:off x="5474993" y="3446473"/>
              <a:ext cx="382772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4D8AB9C5-92E7-88B8-5CCC-3AA20AF08A50}"/>
                </a:ext>
              </a:extLst>
            </p:cNvPr>
            <p:cNvSpPr/>
            <p:nvPr/>
          </p:nvSpPr>
          <p:spPr>
            <a:xfrm>
              <a:off x="6016390" y="3455748"/>
              <a:ext cx="263697" cy="45719"/>
            </a:xfrm>
            <a:prstGeom prst="rect">
              <a:avLst/>
            </a:prstGeom>
            <a:solidFill>
              <a:schemeClr val="accent6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29917AC3-D99B-F39A-03F6-E4FFB3534B1D}"/>
                </a:ext>
              </a:extLst>
            </p:cNvPr>
            <p:cNvSpPr/>
            <p:nvPr/>
          </p:nvSpPr>
          <p:spPr>
            <a:xfrm>
              <a:off x="5273530" y="3461265"/>
              <a:ext cx="201463" cy="123612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EAF1DD3-7930-B894-89C7-DB0207E3158E}"/>
                </a:ext>
              </a:extLst>
            </p:cNvPr>
            <p:cNvSpPr/>
            <p:nvPr/>
          </p:nvSpPr>
          <p:spPr>
            <a:xfrm>
              <a:off x="5857765" y="3469333"/>
              <a:ext cx="158625" cy="115543"/>
            </a:xfrm>
            <a:custGeom>
              <a:avLst/>
              <a:gdLst>
                <a:gd name="connsiteX0" fmla="*/ 0 w 276446"/>
                <a:gd name="connsiteY0" fmla="*/ 5317 h 111652"/>
                <a:gd name="connsiteX1" fmla="*/ 138223 w 276446"/>
                <a:gd name="connsiteY1" fmla="*/ 111642 h 111652"/>
                <a:gd name="connsiteX2" fmla="*/ 276446 w 276446"/>
                <a:gd name="connsiteY2" fmla="*/ 0 h 111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6446" h="111652">
                  <a:moveTo>
                    <a:pt x="0" y="5317"/>
                  </a:moveTo>
                  <a:cubicBezTo>
                    <a:pt x="46074" y="58922"/>
                    <a:pt x="92149" y="112528"/>
                    <a:pt x="138223" y="111642"/>
                  </a:cubicBezTo>
                  <a:cubicBezTo>
                    <a:pt x="184297" y="110756"/>
                    <a:pt x="254295" y="27467"/>
                    <a:pt x="276446" y="0"/>
                  </a:cubicBezTo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87" name="Straight Arrow Connector 286">
            <a:extLst>
              <a:ext uri="{FF2B5EF4-FFF2-40B4-BE49-F238E27FC236}">
                <a16:creationId xmlns:a16="http://schemas.microsoft.com/office/drawing/2014/main" id="{6FBBE759-B7A7-1CC1-73BC-FC41EC9CCA2C}"/>
              </a:ext>
            </a:extLst>
          </p:cNvPr>
          <p:cNvCxnSpPr>
            <a:cxnSpLocks/>
            <a:stCxn id="32" idx="3"/>
            <a:endCxn id="139" idx="1"/>
          </p:cNvCxnSpPr>
          <p:nvPr/>
        </p:nvCxnSpPr>
        <p:spPr>
          <a:xfrm>
            <a:off x="7418954" y="4500312"/>
            <a:ext cx="1311580" cy="35685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TextBox 287">
            <a:extLst>
              <a:ext uri="{FF2B5EF4-FFF2-40B4-BE49-F238E27FC236}">
                <a16:creationId xmlns:a16="http://schemas.microsoft.com/office/drawing/2014/main" id="{DAFC08C6-300D-91EC-7BF7-1A04F8E07C6F}"/>
              </a:ext>
            </a:extLst>
          </p:cNvPr>
          <p:cNvSpPr txBox="1"/>
          <p:nvPr/>
        </p:nvSpPr>
        <p:spPr>
          <a:xfrm rot="152748">
            <a:off x="7346531" y="4164480"/>
            <a:ext cx="1543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2</a:t>
            </a:r>
            <a:r>
              <a:rPr lang="en-US" sz="1600" baseline="30000" dirty="0"/>
              <a:t>nd</a:t>
            </a:r>
            <a:r>
              <a:rPr lang="en-US" sz="1600" dirty="0"/>
              <a:t> order WAM</a:t>
            </a: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99FBD04-BA3E-B37F-325B-726394F1A785}"/>
              </a:ext>
            </a:extLst>
          </p:cNvPr>
          <p:cNvSpPr txBox="1"/>
          <p:nvPr/>
        </p:nvSpPr>
        <p:spPr>
          <a:xfrm rot="1006045">
            <a:off x="7699281" y="3317655"/>
            <a:ext cx="2092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No matching transcript</a:t>
            </a:r>
          </a:p>
        </p:txBody>
      </p: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3BC606B3-5791-4E17-D6BD-F2F6732699D8}"/>
              </a:ext>
            </a:extLst>
          </p:cNvPr>
          <p:cNvCxnSpPr>
            <a:cxnSpLocks/>
            <a:stCxn id="258" idx="3"/>
            <a:endCxn id="138" idx="1"/>
          </p:cNvCxnSpPr>
          <p:nvPr/>
        </p:nvCxnSpPr>
        <p:spPr>
          <a:xfrm>
            <a:off x="3125135" y="5825411"/>
            <a:ext cx="1101441" cy="31898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EA4CED1D-5835-349C-DDF3-A643B6D7A343}"/>
              </a:ext>
            </a:extLst>
          </p:cNvPr>
          <p:cNvCxnSpPr>
            <a:cxnSpLocks/>
            <a:stCxn id="3" idx="1"/>
            <a:endCxn id="138" idx="3"/>
          </p:cNvCxnSpPr>
          <p:nvPr/>
        </p:nvCxnSpPr>
        <p:spPr>
          <a:xfrm flipH="1">
            <a:off x="7694925" y="5821226"/>
            <a:ext cx="1035609" cy="32316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9EAE88A3-9E1A-F1CA-993A-8D50E0407C8E}"/>
              </a:ext>
            </a:extLst>
          </p:cNvPr>
          <p:cNvSpPr txBox="1"/>
          <p:nvPr/>
        </p:nvSpPr>
        <p:spPr>
          <a:xfrm>
            <a:off x="4541361" y="3175091"/>
            <a:ext cx="30421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Transcript and (partially) matching CDS</a:t>
            </a: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6F6B1CAB-B1DE-05AA-F264-8FB2EA4204C5}"/>
              </a:ext>
            </a:extLst>
          </p:cNvPr>
          <p:cNvSpPr/>
          <p:nvPr/>
        </p:nvSpPr>
        <p:spPr>
          <a:xfrm>
            <a:off x="1103542" y="4615513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E462DB41-783B-9F92-2058-4D50AF290954}"/>
              </a:ext>
            </a:extLst>
          </p:cNvPr>
          <p:cNvSpPr/>
          <p:nvPr/>
        </p:nvSpPr>
        <p:spPr>
          <a:xfrm>
            <a:off x="1500415" y="4609768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622AF051-B336-4F3C-1504-AB1786567132}"/>
              </a:ext>
            </a:extLst>
          </p:cNvPr>
          <p:cNvSpPr/>
          <p:nvPr/>
        </p:nvSpPr>
        <p:spPr>
          <a:xfrm>
            <a:off x="1708338" y="4605318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05F75AB6-E4B3-0C8A-A95E-97E2EC899455}"/>
              </a:ext>
            </a:extLst>
          </p:cNvPr>
          <p:cNvSpPr/>
          <p:nvPr/>
        </p:nvSpPr>
        <p:spPr>
          <a:xfrm>
            <a:off x="2070211" y="4605318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89749DD7-D390-50A5-5135-25352743B337}"/>
              </a:ext>
            </a:extLst>
          </p:cNvPr>
          <p:cNvSpPr/>
          <p:nvPr/>
        </p:nvSpPr>
        <p:spPr>
          <a:xfrm>
            <a:off x="2281459" y="4615513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CAFEC7D7-14AE-E1FF-5154-07A05BD860BD}"/>
              </a:ext>
            </a:extLst>
          </p:cNvPr>
          <p:cNvSpPr/>
          <p:nvPr/>
        </p:nvSpPr>
        <p:spPr>
          <a:xfrm>
            <a:off x="9951847" y="4542813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A484EA51-6402-276F-C60D-C773440015A5}"/>
              </a:ext>
            </a:extLst>
          </p:cNvPr>
          <p:cNvSpPr/>
          <p:nvPr/>
        </p:nvSpPr>
        <p:spPr>
          <a:xfrm>
            <a:off x="10517785" y="4537875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426E9E95-D6CB-DB88-835B-5B4F2DA00202}"/>
              </a:ext>
            </a:extLst>
          </p:cNvPr>
          <p:cNvSpPr/>
          <p:nvPr/>
        </p:nvSpPr>
        <p:spPr>
          <a:xfrm>
            <a:off x="10155912" y="4537875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Oval 300">
            <a:extLst>
              <a:ext uri="{FF2B5EF4-FFF2-40B4-BE49-F238E27FC236}">
                <a16:creationId xmlns:a16="http://schemas.microsoft.com/office/drawing/2014/main" id="{BD86E2F0-98C2-D969-57E3-3D15E2A12BFF}"/>
              </a:ext>
            </a:extLst>
          </p:cNvPr>
          <p:cNvSpPr/>
          <p:nvPr/>
        </p:nvSpPr>
        <p:spPr>
          <a:xfrm>
            <a:off x="10699224" y="4537125"/>
            <a:ext cx="180434" cy="17477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7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6459-8636-46A5-97C6-EE5A44542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69490"/>
            <a:ext cx="6566315" cy="1221640"/>
          </a:xfrm>
        </p:spPr>
        <p:txBody>
          <a:bodyPr>
            <a:normAutofit/>
          </a:bodyPr>
          <a:lstStyle/>
          <a:p>
            <a:r>
              <a:rPr lang="en-US" dirty="0"/>
              <a:t>Test data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914CA-1925-432B-8D1D-709186845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066" y="1762950"/>
            <a:ext cx="11015836" cy="4958526"/>
          </a:xfrm>
        </p:spPr>
        <p:txBody>
          <a:bodyPr>
            <a:normAutofit/>
          </a:bodyPr>
          <a:lstStyle/>
          <a:p>
            <a:r>
              <a:rPr lang="en-US" i="1" dirty="0"/>
              <a:t>A. thaliana, D. melanogaster</a:t>
            </a:r>
            <a:r>
              <a:rPr lang="en-US" dirty="0"/>
              <a:t>: 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5-6 RNA-seq experiments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Proteins from 5-10 close relatives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Compare EviAnn, BRAKER3, MAKER2+SNAP, </a:t>
            </a:r>
            <a:r>
              <a:rPr lang="en-US" dirty="0" err="1"/>
              <a:t>EGAPx</a:t>
            </a:r>
            <a:endParaRPr lang="en-US" dirty="0"/>
          </a:p>
          <a:p>
            <a:pPr lvl="1"/>
            <a:r>
              <a:rPr lang="en-US" u="sng" dirty="0"/>
              <a:t>EviAnn, BRAKER3 and </a:t>
            </a:r>
            <a:r>
              <a:rPr lang="en-US" u="sng" dirty="0" err="1"/>
              <a:t>EGAPx</a:t>
            </a:r>
            <a:r>
              <a:rPr lang="en-US" dirty="0"/>
              <a:t>: aligned BAM files + proteins </a:t>
            </a:r>
          </a:p>
          <a:p>
            <a:pPr lvl="1"/>
            <a:r>
              <a:rPr lang="en-US" u="sng" dirty="0"/>
              <a:t>MAKER2</a:t>
            </a:r>
            <a:r>
              <a:rPr lang="en-US" dirty="0"/>
              <a:t>: transcript assemblies by StringTie2 as evidence + proteins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1B06-ADFB-4FCC-93E0-75C1413C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57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Evaluations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Picture 8" descr="A picture containing diagram&#10;&#10;Description automatically generated">
            <a:extLst>
              <a:ext uri="{FF2B5EF4-FFF2-40B4-BE49-F238E27FC236}">
                <a16:creationId xmlns:a16="http://schemas.microsoft.com/office/drawing/2014/main" id="{A249EB7B-8436-47AF-AEC3-F0E2C7A8A7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496" y="4701439"/>
            <a:ext cx="5115535" cy="1237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3E8D3F-80CB-4BE0-9E27-0EFE00D693A7}"/>
                  </a:ext>
                </a:extLst>
              </p:cNvPr>
              <p:cNvSpPr txBox="1"/>
              <p:nvPr/>
            </p:nvSpPr>
            <p:spPr>
              <a:xfrm>
                <a:off x="6379450" y="1777659"/>
                <a:ext cx="5503301" cy="671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/>
                  <a:t>Sn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𝑚𝑎𝑡𝑐h𝑖𝑛𝑔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𝑅𝑒𝑓𝑆𝑒𝑞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𝑎𝑛𝑛𝑜𝑡𝑎𝑡𝑖𝑜𝑛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𝑅𝑒𝑓𝑆𝑒𝑞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𝑎𝑛𝑛𝑜𝑡𝑎𝑡𝑖𝑜𝑛</m:t>
                        </m:r>
                      </m:den>
                    </m:f>
                  </m:oMath>
                </a14:m>
                <a:r>
                  <a:rPr lang="en-US" sz="2400" dirty="0"/>
                  <a:t>%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3E8D3F-80CB-4BE0-9E27-0EFE00D69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1777659"/>
                <a:ext cx="5503301" cy="671338"/>
              </a:xfrm>
              <a:prstGeom prst="rect">
                <a:avLst/>
              </a:prstGeom>
              <a:blipFill>
                <a:blip r:embed="rId3"/>
                <a:stretch>
                  <a:fillRect l="-1661" r="-1107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3E835C-715E-42E5-BC6D-EF4C27C35140}"/>
                  </a:ext>
                </a:extLst>
              </p:cNvPr>
              <p:cNvSpPr txBox="1"/>
              <p:nvPr/>
            </p:nvSpPr>
            <p:spPr>
              <a:xfrm>
                <a:off x="6379450" y="2402279"/>
                <a:ext cx="5419945" cy="6713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i="1" dirty="0"/>
                  <a:t>Pr</a:t>
                </a:r>
                <a:r>
                  <a:rPr lang="en-US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#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𝑚𝑎𝑡𝑐h𝑖𝑛𝑔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𝑅𝑒𝑓𝑠𝑒𝑞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𝑎𝑛𝑛𝑜𝑡𝑎𝑡𝑖𝑜𝑛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#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𝑡𝑜𝑡𝑎𝑙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𝑎𝑛𝑛𝑜𝑡𝑎𝑡𝑒𝑑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𝑓𝑒𝑎𝑡𝑢𝑟𝑒𝑠</m:t>
                        </m:r>
                      </m:den>
                    </m:f>
                  </m:oMath>
                </a14:m>
                <a:r>
                  <a:rPr lang="en-US" sz="2400" dirty="0"/>
                  <a:t>%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E3E835C-715E-42E5-BC6D-EF4C27C35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9450" y="2402279"/>
                <a:ext cx="5419945" cy="671338"/>
              </a:xfrm>
              <a:prstGeom prst="rect">
                <a:avLst/>
              </a:prstGeom>
              <a:blipFill>
                <a:blip r:embed="rId4"/>
                <a:stretch>
                  <a:fillRect l="-1685" r="-674" b="-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C35D36E8-CBE9-4ABD-A7FE-A862D86803D8}"/>
              </a:ext>
            </a:extLst>
          </p:cNvPr>
          <p:cNvSpPr txBox="1"/>
          <p:nvPr/>
        </p:nvSpPr>
        <p:spPr>
          <a:xfrm>
            <a:off x="1639856" y="3966071"/>
            <a:ext cx="6772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Evaluate quality of </a:t>
            </a:r>
            <a:r>
              <a:rPr lang="en-US" sz="2400" i="1" dirty="0"/>
              <a:t>transcripts</a:t>
            </a:r>
            <a:r>
              <a:rPr lang="en-US" sz="2400" dirty="0"/>
              <a:t>, </a:t>
            </a:r>
            <a:r>
              <a:rPr lang="en-US" sz="2400" i="1" dirty="0"/>
              <a:t>gene loci </a:t>
            </a:r>
            <a:r>
              <a:rPr lang="en-US" sz="2400" dirty="0"/>
              <a:t>and </a:t>
            </a:r>
            <a:r>
              <a:rPr lang="en-US" sz="2400" i="1" dirty="0"/>
              <a:t>proteins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23DA9-8C01-9831-F902-EE3CAAE1B6A5}"/>
              </a:ext>
            </a:extLst>
          </p:cNvPr>
          <p:cNvSpPr txBox="1"/>
          <p:nvPr/>
        </p:nvSpPr>
        <p:spPr>
          <a:xfrm>
            <a:off x="309249" y="1777659"/>
            <a:ext cx="51297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gffcompare</a:t>
            </a:r>
            <a:r>
              <a:rPr lang="en-US" sz="2400" dirty="0"/>
              <a:t> to RefSeq annotations of:</a:t>
            </a:r>
          </a:p>
          <a:p>
            <a:r>
              <a:rPr lang="en-US" sz="2400" dirty="0"/>
              <a:t>-- protein coding genes</a:t>
            </a:r>
          </a:p>
          <a:p>
            <a:r>
              <a:rPr lang="en-US" sz="2400" dirty="0"/>
              <a:t>-- long non-coding RNA’s</a:t>
            </a:r>
          </a:p>
        </p:txBody>
      </p:sp>
    </p:spTree>
    <p:extLst>
      <p:ext uri="{BB962C8B-B14F-4D97-AF65-F5344CB8AC3E}">
        <p14:creationId xmlns:p14="http://schemas.microsoft.com/office/powerpoint/2010/main" val="1408559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i="1" dirty="0"/>
              <a:t>genes (gene loci)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B7E23-99C1-7316-DEEE-335399B19CC1}"/>
              </a:ext>
            </a:extLst>
          </p:cNvPr>
          <p:cNvSpPr txBox="1"/>
          <p:nvPr/>
        </p:nvSpPr>
        <p:spPr>
          <a:xfrm>
            <a:off x="293210" y="3072384"/>
            <a:ext cx="21939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gene or gene locus counts as annotated </a:t>
            </a:r>
            <a:r>
              <a:rPr lang="en-US" b="1" dirty="0"/>
              <a:t>correctly</a:t>
            </a:r>
            <a:r>
              <a:rPr lang="en-US" dirty="0"/>
              <a:t> if a </a:t>
            </a:r>
            <a:r>
              <a:rPr lang="en-US" b="1" dirty="0"/>
              <a:t>transcript or </a:t>
            </a:r>
            <a:r>
              <a:rPr lang="en-US" dirty="0"/>
              <a:t>a</a:t>
            </a:r>
            <a:r>
              <a:rPr lang="en-US" b="1" dirty="0"/>
              <a:t> CDS </a:t>
            </a:r>
            <a:r>
              <a:rPr lang="en-US" dirty="0"/>
              <a:t>match the reference at the locus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8A5C5A-E418-A15A-E3E1-80D201A8D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168" y="1371784"/>
            <a:ext cx="9688277" cy="462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Evaluation of </a:t>
            </a:r>
            <a:r>
              <a:rPr lang="en-US" i="1" dirty="0"/>
              <a:t>proteins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25CB1-4E62-EFE5-6A32-BFC592965CD3}"/>
              </a:ext>
            </a:extLst>
          </p:cNvPr>
          <p:cNvSpPr txBox="1"/>
          <p:nvPr/>
        </p:nvSpPr>
        <p:spPr>
          <a:xfrm>
            <a:off x="293210" y="3072384"/>
            <a:ext cx="2440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protein</a:t>
            </a:r>
            <a:r>
              <a:rPr lang="en-US" dirty="0"/>
              <a:t> is </a:t>
            </a:r>
            <a:r>
              <a:rPr lang="en-US" b="1" dirty="0"/>
              <a:t>correctly</a:t>
            </a:r>
            <a:r>
              <a:rPr lang="en-US" dirty="0"/>
              <a:t> annotated if CDS </a:t>
            </a:r>
            <a:r>
              <a:rPr lang="en-US" b="1" dirty="0"/>
              <a:t>matches</a:t>
            </a:r>
            <a:r>
              <a:rPr lang="en-US" dirty="0"/>
              <a:t> </a:t>
            </a:r>
            <a:r>
              <a:rPr lang="en-US" b="1" dirty="0"/>
              <a:t>exactly</a:t>
            </a:r>
            <a:r>
              <a:rPr lang="en-US" dirty="0"/>
              <a:t> to a reference protein.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2961CE-120F-81E7-4550-603691335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670" y="1310018"/>
            <a:ext cx="9707330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48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E2D58-63A0-4A8B-9C36-5D2450E45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10" y="395664"/>
            <a:ext cx="10972800" cy="458115"/>
          </a:xfrm>
        </p:spPr>
        <p:txBody>
          <a:bodyPr>
            <a:normAutofit fontScale="90000"/>
          </a:bodyPr>
          <a:lstStyle/>
          <a:p>
            <a:r>
              <a:rPr lang="en-US" dirty="0"/>
              <a:t>EviAnn timings (24-core Intel Xeon Gold)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DA60F-4A96-4183-90E2-1BF0FE228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F9A4AC-0E8F-7AF2-6AE7-ACB59F7D12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029636"/>
              </p:ext>
            </p:extLst>
          </p:nvPr>
        </p:nvGraphicFramePr>
        <p:xfrm>
          <a:off x="1237591" y="2514601"/>
          <a:ext cx="9608750" cy="2963623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2868446">
                  <a:extLst>
                    <a:ext uri="{9D8B030D-6E8A-4147-A177-3AD203B41FA5}">
                      <a16:colId xmlns:a16="http://schemas.microsoft.com/office/drawing/2014/main" val="653262675"/>
                    </a:ext>
                  </a:extLst>
                </a:gridCol>
                <a:gridCol w="2903349">
                  <a:extLst>
                    <a:ext uri="{9D8B030D-6E8A-4147-A177-3AD203B41FA5}">
                      <a16:colId xmlns:a16="http://schemas.microsoft.com/office/drawing/2014/main" val="3058211626"/>
                    </a:ext>
                  </a:extLst>
                </a:gridCol>
                <a:gridCol w="3836955">
                  <a:extLst>
                    <a:ext uri="{9D8B030D-6E8A-4147-A177-3AD203B41FA5}">
                      <a16:colId xmlns:a16="http://schemas.microsoft.com/office/drawing/2014/main" val="2138461192"/>
                    </a:ext>
                  </a:extLst>
                </a:gridCol>
              </a:tblGrid>
              <a:tr h="660637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</a:rPr>
                        <a:t>Wall-clock time in hours, </a:t>
                      </a:r>
                      <a:r>
                        <a:rPr lang="en-US" sz="2000" u="sng" dirty="0">
                          <a:effectLst/>
                        </a:rPr>
                        <a:t>excluding</a:t>
                      </a:r>
                      <a:r>
                        <a:rPr lang="en-US" sz="2000" dirty="0">
                          <a:effectLst/>
                        </a:rPr>
                        <a:t> the time spent on alignment of RNA-seq data.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92114"/>
                  </a:ext>
                </a:extLst>
              </a:tr>
              <a:tr h="7794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i="1" dirty="0">
                          <a:effectLst/>
                        </a:rPr>
                        <a:t>A.thaliana</a:t>
                      </a:r>
                      <a:endParaRPr lang="en-US" sz="24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i="1" dirty="0">
                          <a:effectLst/>
                        </a:rPr>
                        <a:t>D.melanogaster</a:t>
                      </a:r>
                      <a:endParaRPr lang="en-US" sz="240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56978648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EviAnn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effectLst/>
                        </a:rPr>
                        <a:t>0.3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b="1" dirty="0">
                          <a:effectLst/>
                        </a:rPr>
                        <a:t>0.3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0425669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BRAKER3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13.2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7.3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6452403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 err="1">
                          <a:effectLst/>
                        </a:rPr>
                        <a:t>EGAPx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6.8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8.4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126331"/>
                  </a:ext>
                </a:extLst>
              </a:tr>
              <a:tr h="38087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MAKER2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>
                          <a:effectLst/>
                        </a:rPr>
                        <a:t>168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</a:rPr>
                        <a:t>34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001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80933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6BFC-11D1-375A-F338-F23DA095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EviAnn Shortcomings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D492-7132-E3BA-E4AC-6A4420D0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1136180" cy="2223619"/>
          </a:xfrm>
        </p:spPr>
        <p:txBody>
          <a:bodyPr>
            <a:normAutofit/>
          </a:bodyPr>
          <a:lstStyle/>
          <a:p>
            <a:r>
              <a:rPr lang="en-US" dirty="0"/>
              <a:t>No proteins from close relatives (neighboring taxonomic Tribe of Family) available -- BRAKER3 will work better, e.g. </a:t>
            </a:r>
            <a:r>
              <a:rPr lang="en-US" i="1" dirty="0" err="1"/>
              <a:t>A.thaliana</a:t>
            </a:r>
            <a:r>
              <a:rPr lang="en-US" i="1" dirty="0"/>
              <a:t> </a:t>
            </a:r>
            <a:r>
              <a:rPr lang="en-US" dirty="0"/>
              <a:t>order removed: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2924E-9C77-FF01-88AB-A3E6100A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FBB739-224B-CE4A-4232-54FD5DEE5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750" y="2584260"/>
            <a:ext cx="8684166" cy="4273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61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46EE-C233-CF3D-2CF5-CD342BA3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Obtaining EviAnn and BRAKER3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3ECBE-A7DC-5D13-8F84-80D7C5DA5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6127301" cy="3918803"/>
          </a:xfrm>
        </p:spPr>
        <p:txBody>
          <a:bodyPr/>
          <a:lstStyle/>
          <a:p>
            <a:r>
              <a:rPr lang="en-US" dirty="0"/>
              <a:t>Both programs available from </a:t>
            </a:r>
            <a:r>
              <a:rPr lang="en-US" dirty="0" err="1"/>
              <a:t>Bioconda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 install </a:t>
            </a:r>
            <a:r>
              <a:rPr lang="en-US" dirty="0" err="1"/>
              <a:t>eviann</a:t>
            </a:r>
            <a:endParaRPr lang="en-US" dirty="0"/>
          </a:p>
          <a:p>
            <a:pPr lvl="1"/>
            <a:r>
              <a:rPr lang="en-US" dirty="0" err="1"/>
              <a:t>conda</a:t>
            </a:r>
            <a:r>
              <a:rPr lang="en-US" dirty="0"/>
              <a:t> install braker3</a:t>
            </a:r>
          </a:p>
          <a:p>
            <a:r>
              <a:rPr lang="en-US" dirty="0"/>
              <a:t>Or from github: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E7C0D-878C-56BE-CE6C-F29134AD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5025B-1540-3EF0-809D-A4657E784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640" y="0"/>
            <a:ext cx="5384800" cy="36483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525A91-208D-FC5E-742D-E9E76BD6D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81" y="3875732"/>
            <a:ext cx="5667319" cy="419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839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609FC-CE90-2D40-2F38-E5D5D612E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20" y="136524"/>
            <a:ext cx="6113465" cy="1001901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Summary: how to annotate a eukaryotic genome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3B30-06E1-AFF8-020E-40D313651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668073"/>
          </a:xfrm>
        </p:spPr>
        <p:txBody>
          <a:bodyPr>
            <a:normAutofit/>
          </a:bodyPr>
          <a:lstStyle/>
          <a:p>
            <a:r>
              <a:rPr lang="en-US" dirty="0"/>
              <a:t>Sequence &gt;5 RNA-seq datasets from different tissues</a:t>
            </a:r>
          </a:p>
          <a:p>
            <a:r>
              <a:rPr lang="en-US" dirty="0"/>
              <a:t>Check NCBI taxonomy for related species’ proteins:</a:t>
            </a:r>
          </a:p>
          <a:p>
            <a:pPr lvl="1"/>
            <a:r>
              <a:rPr lang="en-US" dirty="0"/>
              <a:t>Search for species in NCBI Taxonomy</a:t>
            </a:r>
          </a:p>
          <a:p>
            <a:pPr lvl="1"/>
            <a:r>
              <a:rPr lang="en-US" dirty="0"/>
              <a:t>Use EviAnn if &gt;~ 400K proteins are available from species of neighboring Tribe or Family </a:t>
            </a:r>
          </a:p>
          <a:p>
            <a:pPr lvl="1"/>
            <a:r>
              <a:rPr lang="en-US" dirty="0"/>
              <a:t>Use BRAKER3 </a:t>
            </a:r>
            <a:r>
              <a:rPr lang="en-US"/>
              <a:t>if ~&lt; </a:t>
            </a:r>
            <a:r>
              <a:rPr lang="en-US" dirty="0"/>
              <a:t>400K proteins are available from species of neighboring Tribe or Family</a:t>
            </a:r>
          </a:p>
          <a:p>
            <a:r>
              <a:rPr lang="en-US" dirty="0"/>
              <a:t>Or you can use both: </a:t>
            </a:r>
          </a:p>
          <a:p>
            <a:pPr lvl="1"/>
            <a:r>
              <a:rPr lang="en-US" dirty="0"/>
              <a:t>Run BRAKER3, then run EviAnn inputting BRAKER3 annotation with -c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69BF6-0E66-4273-F00C-963912C9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4916</TotalTime>
  <Words>1288</Words>
  <Application>Microsoft Office PowerPoint</Application>
  <PresentationFormat>Widescreen</PresentationFormat>
  <Paragraphs>243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</vt:lpstr>
      <vt:lpstr>Calibri</vt:lpstr>
      <vt:lpstr>Cambria Math</vt:lpstr>
      <vt:lpstr>Helvetica Neue Medium</vt:lpstr>
      <vt:lpstr>Trebuchet MS</vt:lpstr>
      <vt:lpstr>Office Theme</vt:lpstr>
      <vt:lpstr>PowerPoint Presentation</vt:lpstr>
      <vt:lpstr>Genome annotation</vt:lpstr>
      <vt:lpstr>Protein coding and lncRNA annotation</vt:lpstr>
      <vt:lpstr>Gene structure on the genome</vt:lpstr>
      <vt:lpstr>Gene structure in transcript(spliced) coords</vt:lpstr>
      <vt:lpstr>PowerPoint Presentation</vt:lpstr>
      <vt:lpstr>Locating transcripts on the genome</vt:lpstr>
      <vt:lpstr>Challenges in annotation</vt:lpstr>
      <vt:lpstr>Recall amino-acid translation table</vt:lpstr>
      <vt:lpstr>Where is the ORF?</vt:lpstr>
      <vt:lpstr>How do we find the right ORF?</vt:lpstr>
      <vt:lpstr>How do we find the right ORF?</vt:lpstr>
      <vt:lpstr>What is an annotation pipeline</vt:lpstr>
      <vt:lpstr>Eukaryotic annotation pipelines</vt:lpstr>
      <vt:lpstr>Basic design of EviAnn</vt:lpstr>
      <vt:lpstr>Test data sets</vt:lpstr>
      <vt:lpstr>Evaluations</vt:lpstr>
      <vt:lpstr>Evaluation of genes (gene loci)</vt:lpstr>
      <vt:lpstr>Evaluation of proteins</vt:lpstr>
      <vt:lpstr>EviAnn timings (24-core Intel Xeon Gold)</vt:lpstr>
      <vt:lpstr>EviAnn Shortcomings</vt:lpstr>
      <vt:lpstr>Obtaining EviAnn and BRAKER3</vt:lpstr>
      <vt:lpstr>Summary: how to annotate a eukaryotic genome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4</cp:revision>
  <dcterms:created xsi:type="dcterms:W3CDTF">2013-08-21T19:17:07Z</dcterms:created>
  <dcterms:modified xsi:type="dcterms:W3CDTF">2026-04-10T12:22:27Z</dcterms:modified>
</cp:coreProperties>
</file>