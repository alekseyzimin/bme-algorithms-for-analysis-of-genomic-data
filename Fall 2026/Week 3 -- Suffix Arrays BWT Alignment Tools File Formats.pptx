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72" r:id="rId2"/>
    <p:sldId id="527" r:id="rId3"/>
    <p:sldId id="488" r:id="rId4"/>
    <p:sldId id="489" r:id="rId5"/>
    <p:sldId id="490" r:id="rId6"/>
    <p:sldId id="491" r:id="rId7"/>
    <p:sldId id="492" r:id="rId8"/>
    <p:sldId id="493" r:id="rId9"/>
    <p:sldId id="498" r:id="rId10"/>
    <p:sldId id="494" r:id="rId11"/>
    <p:sldId id="497" r:id="rId12"/>
    <p:sldId id="496" r:id="rId13"/>
    <p:sldId id="502" r:id="rId14"/>
    <p:sldId id="499" r:id="rId15"/>
    <p:sldId id="503" r:id="rId16"/>
    <p:sldId id="505" r:id="rId17"/>
    <p:sldId id="510" r:id="rId18"/>
    <p:sldId id="508" r:id="rId19"/>
    <p:sldId id="528" r:id="rId20"/>
    <p:sldId id="529" r:id="rId21"/>
    <p:sldId id="533" r:id="rId22"/>
    <p:sldId id="530" r:id="rId23"/>
    <p:sldId id="531" r:id="rId24"/>
    <p:sldId id="534" r:id="rId25"/>
    <p:sldId id="535" r:id="rId26"/>
    <p:sldId id="536" r:id="rId27"/>
    <p:sldId id="542" r:id="rId28"/>
    <p:sldId id="538" r:id="rId29"/>
    <p:sldId id="543" r:id="rId30"/>
    <p:sldId id="544" r:id="rId31"/>
    <p:sldId id="545" r:id="rId32"/>
    <p:sldId id="571" r:id="rId33"/>
    <p:sldId id="572" r:id="rId34"/>
    <p:sldId id="573" r:id="rId35"/>
    <p:sldId id="574" r:id="rId36"/>
    <p:sldId id="575" r:id="rId37"/>
    <p:sldId id="577" r:id="rId38"/>
    <p:sldId id="576" r:id="rId39"/>
    <p:sldId id="578" r:id="rId40"/>
    <p:sldId id="579" r:id="rId41"/>
    <p:sldId id="580" r:id="rId42"/>
    <p:sldId id="270" r:id="rId43"/>
    <p:sldId id="581" r:id="rId44"/>
    <p:sldId id="583" r:id="rId45"/>
    <p:sldId id="582" r:id="rId46"/>
    <p:sldId id="584" r:id="rId47"/>
    <p:sldId id="401" r:id="rId48"/>
    <p:sldId id="402" r:id="rId49"/>
    <p:sldId id="403" r:id="rId50"/>
    <p:sldId id="273" r:id="rId51"/>
    <p:sldId id="602" r:id="rId52"/>
    <p:sldId id="280" r:id="rId53"/>
    <p:sldId id="588" r:id="rId54"/>
    <p:sldId id="589" r:id="rId55"/>
    <p:sldId id="590" r:id="rId56"/>
    <p:sldId id="586" r:id="rId57"/>
    <p:sldId id="276" r:id="rId58"/>
    <p:sldId id="281" r:id="rId59"/>
    <p:sldId id="587" r:id="rId60"/>
    <p:sldId id="261" r:id="rId61"/>
    <p:sldId id="585" r:id="rId62"/>
    <p:sldId id="263" r:id="rId63"/>
    <p:sldId id="603" r:id="rId64"/>
    <p:sldId id="264" r:id="rId65"/>
    <p:sldId id="604" r:id="rId66"/>
    <p:sldId id="265" r:id="rId67"/>
    <p:sldId id="266" r:id="rId68"/>
    <p:sldId id="262" r:id="rId69"/>
    <p:sldId id="605" r:id="rId70"/>
    <p:sldId id="606" r:id="rId71"/>
    <p:sldId id="610" r:id="rId72"/>
    <p:sldId id="607" r:id="rId73"/>
    <p:sldId id="608" r:id="rId74"/>
    <p:sldId id="609"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FA48F3-3F34-4258-A2BE-7AB2F925F76C}" v="1" dt="2026-09-14T14:04:20.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69" autoAdjust="0"/>
    <p:restoredTop sz="93721" autoAdjust="0"/>
  </p:normalViewPr>
  <p:slideViewPr>
    <p:cSldViewPr snapToGrid="0">
      <p:cViewPr varScale="1">
        <p:scale>
          <a:sx n="78" d="100"/>
          <a:sy n="78" d="100"/>
        </p:scale>
        <p:origin x="1500" y="7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delSld modSld">
      <pc:chgData name="Aleksey Zimin" userId="7f2637d0bc515791" providerId="LiveId" clId="{5F359FD6-B8E9-41DA-90EC-0BA4FD0F3073}" dt="2026-09-14T14:11:16.268" v="592" actId="20577"/>
      <pc:docMkLst>
        <pc:docMk/>
      </pc:docMkLst>
      <pc:sldChg chg="add del">
        <pc:chgData name="Aleksey Zimin" userId="7f2637d0bc515791" providerId="LiveId" clId="{5F359FD6-B8E9-41DA-90EC-0BA4FD0F3073}" dt="2026-09-11T20:44:41.652" v="4" actId="47"/>
        <pc:sldMkLst>
          <pc:docMk/>
          <pc:sldMk cId="2199591091" sldId="488"/>
        </pc:sldMkLst>
      </pc:sldChg>
      <pc:sldChg chg="add del">
        <pc:chgData name="Aleksey Zimin" userId="7f2637d0bc515791" providerId="LiveId" clId="{5F359FD6-B8E9-41DA-90EC-0BA4FD0F3073}" dt="2026-09-11T20:44:41.652" v="4" actId="47"/>
        <pc:sldMkLst>
          <pc:docMk/>
          <pc:sldMk cId="2369129492" sldId="489"/>
        </pc:sldMkLst>
      </pc:sldChg>
      <pc:sldChg chg="add del">
        <pc:chgData name="Aleksey Zimin" userId="7f2637d0bc515791" providerId="LiveId" clId="{5F359FD6-B8E9-41DA-90EC-0BA4FD0F3073}" dt="2026-09-11T20:44:41.652" v="4" actId="47"/>
        <pc:sldMkLst>
          <pc:docMk/>
          <pc:sldMk cId="1579698907" sldId="490"/>
        </pc:sldMkLst>
      </pc:sldChg>
      <pc:sldChg chg="add del">
        <pc:chgData name="Aleksey Zimin" userId="7f2637d0bc515791" providerId="LiveId" clId="{5F359FD6-B8E9-41DA-90EC-0BA4FD0F3073}" dt="2026-09-11T20:44:41.652" v="4" actId="47"/>
        <pc:sldMkLst>
          <pc:docMk/>
          <pc:sldMk cId="3858422880" sldId="491"/>
        </pc:sldMkLst>
      </pc:sldChg>
      <pc:sldChg chg="add del">
        <pc:chgData name="Aleksey Zimin" userId="7f2637d0bc515791" providerId="LiveId" clId="{5F359FD6-B8E9-41DA-90EC-0BA4FD0F3073}" dt="2026-09-11T20:44:41.652" v="4" actId="47"/>
        <pc:sldMkLst>
          <pc:docMk/>
          <pc:sldMk cId="3783351519" sldId="492"/>
        </pc:sldMkLst>
      </pc:sldChg>
      <pc:sldChg chg="add del">
        <pc:chgData name="Aleksey Zimin" userId="7f2637d0bc515791" providerId="LiveId" clId="{5F359FD6-B8E9-41DA-90EC-0BA4FD0F3073}" dt="2026-09-11T20:44:41.652" v="4" actId="47"/>
        <pc:sldMkLst>
          <pc:docMk/>
          <pc:sldMk cId="202182864" sldId="493"/>
        </pc:sldMkLst>
      </pc:sldChg>
      <pc:sldChg chg="add del">
        <pc:chgData name="Aleksey Zimin" userId="7f2637d0bc515791" providerId="LiveId" clId="{5F359FD6-B8E9-41DA-90EC-0BA4FD0F3073}" dt="2026-09-11T20:44:41.652" v="4" actId="47"/>
        <pc:sldMkLst>
          <pc:docMk/>
          <pc:sldMk cId="3969974295" sldId="494"/>
        </pc:sldMkLst>
      </pc:sldChg>
      <pc:sldChg chg="add del">
        <pc:chgData name="Aleksey Zimin" userId="7f2637d0bc515791" providerId="LiveId" clId="{5F359FD6-B8E9-41DA-90EC-0BA4FD0F3073}" dt="2026-09-11T20:44:41.652" v="4" actId="47"/>
        <pc:sldMkLst>
          <pc:docMk/>
          <pc:sldMk cId="4016439942" sldId="497"/>
        </pc:sldMkLst>
      </pc:sldChg>
      <pc:sldChg chg="add del">
        <pc:chgData name="Aleksey Zimin" userId="7f2637d0bc515791" providerId="LiveId" clId="{5F359FD6-B8E9-41DA-90EC-0BA4FD0F3073}" dt="2026-09-11T20:44:41.652" v="4" actId="47"/>
        <pc:sldMkLst>
          <pc:docMk/>
          <pc:sldMk cId="3383957545" sldId="498"/>
        </pc:sldMkLst>
      </pc:sldChg>
      <pc:sldChg chg="modSp mod">
        <pc:chgData name="Aleksey Zimin" userId="7f2637d0bc515791" providerId="LiveId" clId="{5F359FD6-B8E9-41DA-90EC-0BA4FD0F3073}" dt="2026-09-14T14:11:16.268" v="592" actId="20577"/>
        <pc:sldMkLst>
          <pc:docMk/>
          <pc:sldMk cId="665784781" sldId="527"/>
        </pc:sldMkLst>
        <pc:spChg chg="mod">
          <ac:chgData name="Aleksey Zimin" userId="7f2637d0bc515791" providerId="LiveId" clId="{5F359FD6-B8E9-41DA-90EC-0BA4FD0F3073}" dt="2026-09-14T14:11:16.268" v="592" actId="20577"/>
          <ac:spMkLst>
            <pc:docMk/>
            <pc:sldMk cId="665784781" sldId="527"/>
            <ac:spMk id="2" creationId="{4AD63F58-B2A5-38AB-B856-BCC82776C080}"/>
          </ac:spMkLst>
        </pc:spChg>
        <pc:spChg chg="mod">
          <ac:chgData name="Aleksey Zimin" userId="7f2637d0bc515791" providerId="LiveId" clId="{5F359FD6-B8E9-41DA-90EC-0BA4FD0F3073}" dt="2026-09-14T14:10:01.259" v="590" actId="114"/>
          <ac:spMkLst>
            <pc:docMk/>
            <pc:sldMk cId="665784781" sldId="527"/>
            <ac:spMk id="3" creationId="{D99A5D06-87D4-1599-AC41-7C811E5AE24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13FD6-7C7B-4426-BFC4-490AC0CFBE05}" type="slidenum">
              <a:rPr lang="en-US" smtClean="0"/>
              <a:t>2</a:t>
            </a:fld>
            <a:endParaRPr lang="en-US"/>
          </a:p>
        </p:txBody>
      </p:sp>
    </p:spTree>
    <p:extLst>
      <p:ext uri="{BB962C8B-B14F-4D97-AF65-F5344CB8AC3E}">
        <p14:creationId xmlns:p14="http://schemas.microsoft.com/office/powerpoint/2010/main" val="374032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9/14/2026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mummer4.github.io/"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3</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63F58-B2A5-38AB-B856-BCC82776C080}"/>
              </a:ext>
            </a:extLst>
          </p:cNvPr>
          <p:cNvSpPr>
            <a:spLocks noGrp="1"/>
          </p:cNvSpPr>
          <p:nvPr>
            <p:ph type="title"/>
          </p:nvPr>
        </p:nvSpPr>
        <p:spPr/>
        <p:txBody>
          <a:bodyPr>
            <a:normAutofit fontScale="90000"/>
          </a:bodyPr>
          <a:lstStyle/>
          <a:p>
            <a:r>
              <a:rPr lang="en-US" dirty="0"/>
              <a:t>Lab 2</a:t>
            </a:r>
            <a:r>
              <a:rPr lang="en-US"/>
              <a:t>: Minimizers</a:t>
            </a:r>
            <a:endParaRPr lang="en-US" dirty="0"/>
          </a:p>
        </p:txBody>
      </p:sp>
      <p:sp>
        <p:nvSpPr>
          <p:cNvPr id="3" name="Content Placeholder 2">
            <a:extLst>
              <a:ext uri="{FF2B5EF4-FFF2-40B4-BE49-F238E27FC236}">
                <a16:creationId xmlns:a16="http://schemas.microsoft.com/office/drawing/2014/main" id="{D99A5D06-87D4-1599-AC41-7C811E5AE247}"/>
              </a:ext>
            </a:extLst>
          </p:cNvPr>
          <p:cNvSpPr>
            <a:spLocks noGrp="1"/>
          </p:cNvSpPr>
          <p:nvPr>
            <p:ph idx="1"/>
          </p:nvPr>
        </p:nvSpPr>
        <p:spPr>
          <a:xfrm>
            <a:off x="598620" y="1734192"/>
            <a:ext cx="10972800" cy="4987284"/>
          </a:xfrm>
        </p:spPr>
        <p:txBody>
          <a:bodyPr>
            <a:normAutofit fontScale="55000" lnSpcReduction="20000"/>
          </a:bodyPr>
          <a:lstStyle/>
          <a:p>
            <a:r>
              <a:rPr lang="en-US" dirty="0"/>
              <a:t>DUE </a:t>
            </a:r>
            <a:r>
              <a:rPr lang="en-US" u="sng" dirty="0"/>
              <a:t>Friday September 25 at 8:00pm</a:t>
            </a:r>
          </a:p>
          <a:p>
            <a:r>
              <a:rPr lang="en-US" dirty="0"/>
              <a:t>Q1. CODE (100% undergrad, 90% grad): Write four python functions to compute minimizers and implied alignments for a genomic sequence:</a:t>
            </a:r>
          </a:p>
          <a:p>
            <a:pPr lvl="1"/>
            <a:r>
              <a:rPr lang="en-US" i="1" dirty="0" err="1"/>
              <a:t>reverse_complement</a:t>
            </a:r>
            <a:r>
              <a:rPr lang="en-US" i="1" dirty="0"/>
              <a:t>(seq): </a:t>
            </a:r>
            <a:r>
              <a:rPr lang="en-US" dirty="0"/>
              <a:t>returns reverse complement of a sequence seq</a:t>
            </a:r>
          </a:p>
          <a:p>
            <a:pPr lvl="1"/>
            <a:r>
              <a:rPr lang="en-US" i="1" dirty="0" err="1"/>
              <a:t>compute_num_value</a:t>
            </a:r>
            <a:r>
              <a:rPr lang="en-US" i="1" dirty="0"/>
              <a:t>(seq): </a:t>
            </a:r>
            <a:r>
              <a:rPr lang="en-US" dirty="0"/>
              <a:t>returns numerical value of sequence seq (A=0,C=1,G=2,T=3), base 4 starting with the first letter. For each k-mer compute numerical value forward and reverse, use minimum</a:t>
            </a:r>
          </a:p>
          <a:p>
            <a:pPr lvl="1"/>
            <a:r>
              <a:rPr lang="en-US" i="1" dirty="0" err="1"/>
              <a:t>compute_minimizers</a:t>
            </a:r>
            <a:r>
              <a:rPr lang="en-US" i="1" dirty="0"/>
              <a:t>(</a:t>
            </a:r>
            <a:r>
              <a:rPr lang="en-US" i="1" dirty="0" err="1"/>
              <a:t>seq,k,w</a:t>
            </a:r>
            <a:r>
              <a:rPr lang="en-US" i="1" dirty="0"/>
              <a:t>): </a:t>
            </a:r>
            <a:r>
              <a:rPr lang="en-US" dirty="0"/>
              <a:t>computes minimizers for sequence seq, k-mer k, and window w, returns a tuple of arrays containing 0-based leftmost position of each minimizer, and minimizer values</a:t>
            </a:r>
          </a:p>
          <a:p>
            <a:pPr lvl="1"/>
            <a:r>
              <a:rPr lang="en-US" i="1" dirty="0" err="1"/>
              <a:t>compute_implied_alignments</a:t>
            </a:r>
            <a:r>
              <a:rPr lang="en-US" i="1" dirty="0"/>
              <a:t>(seq1,seq2,k,w):  </a:t>
            </a:r>
            <a:r>
              <a:rPr lang="en-US" dirty="0"/>
              <a:t>computes implied alignments based on minimizer positions.  Seq1 is always forward, seq2 could be forward or reverse.  Returns tuple of arrays corresponding to implied offsets between seq1 and seq2 and implied orientations (-1 or 1):</a:t>
            </a:r>
            <a:br>
              <a:rPr lang="en-US" dirty="0"/>
            </a:br>
            <a:r>
              <a:rPr lang="en-US" dirty="0">
                <a:solidFill>
                  <a:schemeClr val="tx1"/>
                </a:solidFill>
                <a:latin typeface="Consolas" panose="020B0609020204030204" pitchFamily="49" charset="0"/>
              </a:rPr>
              <a:t>AG</a:t>
            </a:r>
            <a:r>
              <a:rPr lang="en-US" dirty="0">
                <a:latin typeface="Consolas" panose="020B0609020204030204" pitchFamily="49" charset="0"/>
              </a:rPr>
              <a:t>ATAGACC</a:t>
            </a:r>
            <a:br>
              <a:rPr lang="en-US" dirty="0">
                <a:latin typeface="Consolas" panose="020B0609020204030204" pitchFamily="49" charset="0"/>
              </a:rPr>
            </a:br>
            <a:r>
              <a:rPr lang="en-US" dirty="0">
                <a:latin typeface="Consolas" panose="020B0609020204030204" pitchFamily="49" charset="0"/>
              </a:rPr>
              <a:t>  ATAGACCAT  -- offset=2, orientation 1</a:t>
            </a:r>
            <a:br>
              <a:rPr lang="en-US" dirty="0">
                <a:latin typeface="Consolas" panose="020B0609020204030204" pitchFamily="49" charset="0"/>
              </a:rPr>
            </a:br>
            <a:r>
              <a:rPr lang="en-US" dirty="0">
                <a:latin typeface="Consolas" panose="020B0609020204030204" pitchFamily="49" charset="0"/>
              </a:rPr>
              <a:t>A</a:t>
            </a:r>
            <a:r>
              <a:rPr lang="en-US" dirty="0">
                <a:solidFill>
                  <a:schemeClr val="tx1"/>
                </a:solidFill>
                <a:latin typeface="Consolas" panose="020B0609020204030204" pitchFamily="49" charset="0"/>
              </a:rPr>
              <a:t>GA</a:t>
            </a:r>
            <a:r>
              <a:rPr lang="en-US" dirty="0">
                <a:latin typeface="Consolas" panose="020B0609020204030204" pitchFamily="49" charset="0"/>
              </a:rPr>
              <a:t>TAGACC</a:t>
            </a:r>
            <a:br>
              <a:rPr lang="en-US" dirty="0">
                <a:latin typeface="Consolas" panose="020B0609020204030204" pitchFamily="49" charset="0"/>
              </a:rPr>
            </a:br>
            <a:r>
              <a:rPr lang="en-US" dirty="0">
                <a:latin typeface="Consolas" panose="020B0609020204030204" pitchFamily="49" charset="0"/>
              </a:rPr>
              <a:t>AGGTCTATCTT -- offset=-1, orientation -1</a:t>
            </a:r>
            <a:endParaRPr lang="en-US" dirty="0"/>
          </a:p>
          <a:p>
            <a:pPr lvl="1"/>
            <a:r>
              <a:rPr lang="en-US" dirty="0"/>
              <a:t>Submit code through </a:t>
            </a:r>
            <a:r>
              <a:rPr lang="en-US" dirty="0" err="1"/>
              <a:t>autograder</a:t>
            </a:r>
            <a:r>
              <a:rPr lang="en-US" dirty="0"/>
              <a:t>, name code </a:t>
            </a:r>
            <a:r>
              <a:rPr lang="en-US" i="1" dirty="0"/>
              <a:t>minimizers.py</a:t>
            </a:r>
          </a:p>
          <a:p>
            <a:endParaRPr lang="en-US" dirty="0"/>
          </a:p>
          <a:p>
            <a:r>
              <a:rPr lang="en-US" dirty="0"/>
              <a:t>Q2. FIGURE (10% graduate students ONLY): </a:t>
            </a:r>
          </a:p>
          <a:p>
            <a:pPr lvl="1"/>
            <a:r>
              <a:rPr lang="en-US" dirty="0"/>
              <a:t>Generate random sequence G 100,000 bp long</a:t>
            </a:r>
          </a:p>
          <a:p>
            <a:pPr lvl="1"/>
            <a:r>
              <a:rPr lang="en-US" dirty="0"/>
              <a:t>Assume K=17, vary w from 1 to 16</a:t>
            </a:r>
          </a:p>
          <a:p>
            <a:pPr lvl="1"/>
            <a:r>
              <a:rPr lang="en-US" dirty="0"/>
              <a:t>How does the number of minimizers N vary with w?</a:t>
            </a:r>
          </a:p>
          <a:p>
            <a:pPr lvl="1"/>
            <a:r>
              <a:rPr lang="en-US" dirty="0"/>
              <a:t>Submit plot of N(w) – graduate students only, pdf, </a:t>
            </a:r>
            <a:r>
              <a:rPr lang="en-US" dirty="0" err="1"/>
              <a:t>png</a:t>
            </a:r>
            <a:r>
              <a:rPr lang="en-US" dirty="0"/>
              <a:t> or jpeg format, use log scale on y axis</a:t>
            </a:r>
          </a:p>
        </p:txBody>
      </p:sp>
      <p:sp>
        <p:nvSpPr>
          <p:cNvPr id="4" name="Slide Number Placeholder 3">
            <a:extLst>
              <a:ext uri="{FF2B5EF4-FFF2-40B4-BE49-F238E27FC236}">
                <a16:creationId xmlns:a16="http://schemas.microsoft.com/office/drawing/2014/main" id="{2F5FA659-6A92-A82E-81EE-70F3F6880088}"/>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665784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CB7FB-CFD4-AD4A-5D54-6E7D7EB47B00}"/>
              </a:ext>
            </a:extLst>
          </p:cNvPr>
          <p:cNvSpPr>
            <a:spLocks noGrp="1"/>
          </p:cNvSpPr>
          <p:nvPr>
            <p:ph type="title"/>
          </p:nvPr>
        </p:nvSpPr>
        <p:spPr/>
        <p:txBody>
          <a:bodyPr>
            <a:normAutofit fontScale="90000"/>
          </a:bodyPr>
          <a:lstStyle/>
          <a:p>
            <a:r>
              <a:rPr lang="en-US" dirty="0"/>
              <a:t>Data Structure: Suffix Array</a:t>
            </a:r>
          </a:p>
        </p:txBody>
      </p:sp>
      <p:sp>
        <p:nvSpPr>
          <p:cNvPr id="3" name="Content Placeholder 2">
            <a:extLst>
              <a:ext uri="{FF2B5EF4-FFF2-40B4-BE49-F238E27FC236}">
                <a16:creationId xmlns:a16="http://schemas.microsoft.com/office/drawing/2014/main" id="{450E1834-3654-E469-8AED-7D12808C1756}"/>
              </a:ext>
            </a:extLst>
          </p:cNvPr>
          <p:cNvSpPr>
            <a:spLocks noGrp="1"/>
          </p:cNvSpPr>
          <p:nvPr>
            <p:ph idx="1"/>
          </p:nvPr>
        </p:nvSpPr>
        <p:spPr/>
        <p:txBody>
          <a:bodyPr/>
          <a:lstStyle/>
          <a:p>
            <a:r>
              <a:rPr lang="en-US" dirty="0"/>
              <a:t>Introduced by Manber &amp; Myers (1990) </a:t>
            </a:r>
          </a:p>
          <a:p>
            <a:r>
              <a:rPr lang="en-US" dirty="0"/>
              <a:t>Cost to build: </a:t>
            </a:r>
            <a:r>
              <a:rPr lang="en-US" i="1" dirty="0"/>
              <a:t>O(n</a:t>
            </a:r>
            <a:r>
              <a:rPr lang="en-US" i="1" baseline="30000" dirty="0"/>
              <a:t>2</a:t>
            </a:r>
            <a:r>
              <a:rPr lang="en-US" i="1" dirty="0"/>
              <a:t> log n), </a:t>
            </a:r>
            <a:r>
              <a:rPr lang="en-US" dirty="0"/>
              <a:t>cost to look up: </a:t>
            </a:r>
            <a:r>
              <a:rPr lang="en-US" i="1" dirty="0"/>
              <a:t>O(</a:t>
            </a:r>
            <a:r>
              <a:rPr lang="en-US" i="1" dirty="0" err="1"/>
              <a:t>m+log</a:t>
            </a:r>
            <a:r>
              <a:rPr lang="en-US" i="1" dirty="0"/>
              <a:t> n), </a:t>
            </a:r>
            <a:r>
              <a:rPr lang="en-US" dirty="0"/>
              <a:t>where </a:t>
            </a:r>
            <a:r>
              <a:rPr lang="en-US" i="1" dirty="0"/>
              <a:t>m</a:t>
            </a:r>
            <a:r>
              <a:rPr lang="en-US" dirty="0"/>
              <a:t> is the length of the query sequence and </a:t>
            </a:r>
            <a:r>
              <a:rPr lang="en-US" i="1" dirty="0"/>
              <a:t>n </a:t>
            </a:r>
            <a:r>
              <a:rPr lang="en-US" dirty="0"/>
              <a:t>is the length of the reference</a:t>
            </a:r>
          </a:p>
          <a:p>
            <a:endParaRPr lang="en-US" dirty="0"/>
          </a:p>
        </p:txBody>
      </p:sp>
      <p:sp>
        <p:nvSpPr>
          <p:cNvPr id="4" name="Slide Number Placeholder 3">
            <a:extLst>
              <a:ext uri="{FF2B5EF4-FFF2-40B4-BE49-F238E27FC236}">
                <a16:creationId xmlns:a16="http://schemas.microsoft.com/office/drawing/2014/main" id="{00A2E757-60F9-7312-D633-BE006A2A2332}"/>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EEA6C23-2780-BB03-9643-CC03BC15DD2C}"/>
              </a:ext>
            </a:extLst>
          </p:cNvPr>
          <p:cNvPicPr>
            <a:picLocks noChangeAspect="1"/>
          </p:cNvPicPr>
          <p:nvPr/>
        </p:nvPicPr>
        <p:blipFill>
          <a:blip r:embed="rId2"/>
          <a:stretch>
            <a:fillRect/>
          </a:stretch>
        </p:blipFill>
        <p:spPr>
          <a:xfrm>
            <a:off x="1208220" y="3113560"/>
            <a:ext cx="8291261" cy="3744440"/>
          </a:xfrm>
          <a:prstGeom prst="rect">
            <a:avLst/>
          </a:prstGeom>
        </p:spPr>
      </p:pic>
    </p:spTree>
    <p:extLst>
      <p:ext uri="{BB962C8B-B14F-4D97-AF65-F5344CB8AC3E}">
        <p14:creationId xmlns:p14="http://schemas.microsoft.com/office/powerpoint/2010/main" val="219959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35656-63B8-0FF9-5F62-CAF6628D6E83}"/>
              </a:ext>
            </a:extLst>
          </p:cNvPr>
          <p:cNvSpPr>
            <a:spLocks noGrp="1"/>
          </p:cNvSpPr>
          <p:nvPr>
            <p:ph type="title"/>
          </p:nvPr>
        </p:nvSpPr>
        <p:spPr/>
        <p:txBody>
          <a:bodyPr>
            <a:normAutofit fontScale="90000"/>
          </a:bodyPr>
          <a:lstStyle/>
          <a:p>
            <a:r>
              <a:rPr lang="en-US" dirty="0"/>
              <a:t>Building a suffix array</a:t>
            </a:r>
          </a:p>
        </p:txBody>
      </p:sp>
      <p:sp>
        <p:nvSpPr>
          <p:cNvPr id="3" name="Content Placeholder 2">
            <a:extLst>
              <a:ext uri="{FF2B5EF4-FFF2-40B4-BE49-F238E27FC236}">
                <a16:creationId xmlns:a16="http://schemas.microsoft.com/office/drawing/2014/main" id="{03B24006-E873-E0CE-BEFA-1C0B9A2050D6}"/>
              </a:ext>
            </a:extLst>
          </p:cNvPr>
          <p:cNvSpPr>
            <a:spLocks noGrp="1"/>
          </p:cNvSpPr>
          <p:nvPr>
            <p:ph idx="1"/>
          </p:nvPr>
        </p:nvSpPr>
        <p:spPr>
          <a:xfrm>
            <a:off x="598620" y="1596540"/>
            <a:ext cx="10972800" cy="5124936"/>
          </a:xfrm>
        </p:spPr>
        <p:txBody>
          <a:bodyPr>
            <a:normAutofit lnSpcReduction="10000"/>
          </a:bodyPr>
          <a:lstStyle/>
          <a:p>
            <a:r>
              <a:rPr lang="en-US" dirty="0"/>
              <a:t>Genome string </a:t>
            </a:r>
            <a:r>
              <a:rPr lang="en-US" dirty="0">
                <a:latin typeface="Courier New" panose="02070309020205020404" pitchFamily="49" charset="0"/>
                <a:cs typeface="Courier New" panose="02070309020205020404" pitchFamily="49" charset="0"/>
              </a:rPr>
              <a:t>TAGCAATG$</a:t>
            </a:r>
          </a:p>
          <a:p>
            <a:pPr lvl="1"/>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denotes the end of the string</a:t>
            </a:r>
          </a:p>
          <a:p>
            <a:r>
              <a:rPr lang="en-US" dirty="0">
                <a:cs typeface="Courier New" panose="02070309020205020404" pitchFamily="49" charset="0"/>
              </a:rPr>
              <a:t>Suffixes:</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2 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6 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8 $</a:t>
            </a:r>
          </a:p>
        </p:txBody>
      </p:sp>
      <p:sp>
        <p:nvSpPr>
          <p:cNvPr id="4" name="Slide Number Placeholder 3">
            <a:extLst>
              <a:ext uri="{FF2B5EF4-FFF2-40B4-BE49-F238E27FC236}">
                <a16:creationId xmlns:a16="http://schemas.microsoft.com/office/drawing/2014/main" id="{C3EE3E95-9460-D959-F706-817427D6D1BA}"/>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236912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30ED-60D2-C4EB-193D-F63F64BCBA55}"/>
              </a:ext>
            </a:extLst>
          </p:cNvPr>
          <p:cNvSpPr>
            <a:spLocks noGrp="1"/>
          </p:cNvSpPr>
          <p:nvPr>
            <p:ph type="title"/>
          </p:nvPr>
        </p:nvSpPr>
        <p:spPr/>
        <p:txBody>
          <a:bodyPr>
            <a:normAutofit fontScale="90000"/>
          </a:bodyPr>
          <a:lstStyle/>
          <a:p>
            <a:r>
              <a:rPr lang="en-US" dirty="0"/>
              <a:t>Building a suffix array</a:t>
            </a:r>
          </a:p>
        </p:txBody>
      </p:sp>
      <p:sp>
        <p:nvSpPr>
          <p:cNvPr id="4" name="Slide Number Placeholder 3">
            <a:extLst>
              <a:ext uri="{FF2B5EF4-FFF2-40B4-BE49-F238E27FC236}">
                <a16:creationId xmlns:a16="http://schemas.microsoft.com/office/drawing/2014/main" id="{0B529E12-2F35-8043-01BD-60DDE73A3AB9}"/>
              </a:ext>
            </a:extLst>
          </p:cNvPr>
          <p:cNvSpPr>
            <a:spLocks noGrp="1"/>
          </p:cNvSpPr>
          <p:nvPr>
            <p:ph type="sldNum" sz="quarter" idx="12"/>
          </p:nvPr>
        </p:nvSpPr>
        <p:spPr/>
        <p:txBody>
          <a:bodyPr/>
          <a:lstStyle/>
          <a:p>
            <a:fld id="{B82CCC60-E8CD-4174-8B1A-7DF615B22EEF}" type="slidenum">
              <a:rPr lang="en-US" smtClean="0"/>
              <a:pPr/>
              <a:t>5</a:t>
            </a:fld>
            <a:endParaRPr lang="en-US"/>
          </a:p>
        </p:txBody>
      </p:sp>
      <p:sp>
        <p:nvSpPr>
          <p:cNvPr id="5" name="Content Placeholder 2">
            <a:extLst>
              <a:ext uri="{FF2B5EF4-FFF2-40B4-BE49-F238E27FC236}">
                <a16:creationId xmlns:a16="http://schemas.microsoft.com/office/drawing/2014/main" id="{5A61C954-995E-DEC2-DAB4-D64E53B24705}"/>
              </a:ext>
            </a:extLst>
          </p:cNvPr>
          <p:cNvSpPr txBox="1">
            <a:spLocks/>
          </p:cNvSpPr>
          <p:nvPr/>
        </p:nvSpPr>
        <p:spPr>
          <a:xfrm>
            <a:off x="598620" y="1596540"/>
            <a:ext cx="10972800" cy="5124936"/>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Lexicographic order</a:t>
            </a:r>
            <a:r>
              <a:rPr lang="en-US"/>
              <a:t>:  $&lt;</a:t>
            </a:r>
            <a:r>
              <a:rPr lang="en-US" dirty="0"/>
              <a:t>A&lt;C&lt;G&lt;T</a:t>
            </a:r>
            <a:endParaRPr lang="en-US" dirty="0">
              <a:cs typeface="Courier New" panose="02070309020205020404" pitchFamily="49" charset="0"/>
            </a:endParaRPr>
          </a:p>
          <a:p>
            <a:r>
              <a:rPr lang="en-US" dirty="0">
                <a:cs typeface="Courier New" panose="02070309020205020404" pitchFamily="49" charset="0"/>
              </a:rPr>
              <a:t>Sort suffixes, record indices in an array:</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2 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6 TG$</a:t>
            </a:r>
          </a:p>
          <a:p>
            <a:r>
              <a:rPr lang="en-US" dirty="0">
                <a:cs typeface="Courier New" panose="02070309020205020404" pitchFamily="49" charset="0"/>
              </a:rPr>
              <a:t>We cannot afford to store all these subsequences!  Store just the indices!</a:t>
            </a:r>
          </a:p>
        </p:txBody>
      </p:sp>
    </p:spTree>
    <p:extLst>
      <p:ext uri="{BB962C8B-B14F-4D97-AF65-F5344CB8AC3E}">
        <p14:creationId xmlns:p14="http://schemas.microsoft.com/office/powerpoint/2010/main" val="1579698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D3CD-7214-EC0D-4F57-22F0D6D01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3D082-12FC-2A19-7B5A-FB8E901FBEB2}"/>
              </a:ext>
            </a:extLst>
          </p:cNvPr>
          <p:cNvSpPr>
            <a:spLocks noGrp="1"/>
          </p:cNvSpPr>
          <p:nvPr>
            <p:ph type="title"/>
          </p:nvPr>
        </p:nvSpPr>
        <p:spPr/>
        <p:txBody>
          <a:bodyPr>
            <a:normAutofit fontScale="90000"/>
          </a:bodyPr>
          <a:lstStyle/>
          <a:p>
            <a:r>
              <a:rPr lang="en-US" dirty="0"/>
              <a:t>Looking up in suffix array</a:t>
            </a:r>
          </a:p>
        </p:txBody>
      </p:sp>
      <p:sp>
        <p:nvSpPr>
          <p:cNvPr id="4" name="Slide Number Placeholder 3">
            <a:extLst>
              <a:ext uri="{FF2B5EF4-FFF2-40B4-BE49-F238E27FC236}">
                <a16:creationId xmlns:a16="http://schemas.microsoft.com/office/drawing/2014/main" id="{853FF225-9776-034D-0110-411B4FFB961F}"/>
              </a:ext>
            </a:extLst>
          </p:cNvPr>
          <p:cNvSpPr>
            <a:spLocks noGrp="1"/>
          </p:cNvSpPr>
          <p:nvPr>
            <p:ph type="sldNum" sz="quarter" idx="12"/>
          </p:nvPr>
        </p:nvSpPr>
        <p:spPr/>
        <p:txBody>
          <a:bodyPr/>
          <a:lstStyle/>
          <a:p>
            <a:fld id="{B82CCC60-E8CD-4174-8B1A-7DF615B22EEF}" type="slidenum">
              <a:rPr lang="en-US" smtClean="0"/>
              <a:pPr/>
              <a:t>6</a:t>
            </a:fld>
            <a:endParaRPr lang="en-US"/>
          </a:p>
        </p:txBody>
      </p:sp>
      <p:sp>
        <p:nvSpPr>
          <p:cNvPr id="5" name="Content Placeholder 2">
            <a:extLst>
              <a:ext uri="{FF2B5EF4-FFF2-40B4-BE49-F238E27FC236}">
                <a16:creationId xmlns:a16="http://schemas.microsoft.com/office/drawing/2014/main" id="{E07D9BB4-B259-B17F-4451-13CDB8D9FAD0}"/>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Query sequence: </a:t>
            </a:r>
            <a:r>
              <a:rPr lang="en-US" dirty="0">
                <a:latin typeface="Courier New" panose="02070309020205020404" pitchFamily="49" charset="0"/>
                <a:cs typeface="Courier New" panose="02070309020205020404" pitchFamily="49" charset="0"/>
              </a:rPr>
              <a:t>GCAA</a:t>
            </a:r>
          </a:p>
          <a:p>
            <a:r>
              <a:rPr lang="en-US" dirty="0">
                <a:cs typeface="Courier New" panose="02070309020205020404" pitchFamily="49" charset="0"/>
              </a:rPr>
              <a:t>Binary search of the array, first look for strings starting with a </a:t>
            </a:r>
            <a:r>
              <a:rPr lang="en-US" dirty="0">
                <a:latin typeface="Courier New" panose="02070309020205020404" pitchFamily="49" charset="0"/>
                <a:cs typeface="Courier New" panose="02070309020205020404" pitchFamily="49" charset="0"/>
              </a:rPr>
              <a:t>G</a:t>
            </a:r>
            <a:r>
              <a:rPr lang="en-US" dirty="0">
                <a:cs typeface="Courier New" panose="02070309020205020404" pitchFamily="49" charset="0"/>
              </a:rPr>
              <a:t>:</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Hi-&gt;                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Starts with a G? -&gt; 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2 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Lo-&gt;                6 TG$</a:t>
            </a:r>
          </a:p>
        </p:txBody>
      </p:sp>
    </p:spTree>
    <p:extLst>
      <p:ext uri="{BB962C8B-B14F-4D97-AF65-F5344CB8AC3E}">
        <p14:creationId xmlns:p14="http://schemas.microsoft.com/office/powerpoint/2010/main" val="3858422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BC67-FA24-6517-D6F3-495162557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EED6F-EBF3-A740-3F90-FE75C7846FA2}"/>
              </a:ext>
            </a:extLst>
          </p:cNvPr>
          <p:cNvSpPr>
            <a:spLocks noGrp="1"/>
          </p:cNvSpPr>
          <p:nvPr>
            <p:ph type="title"/>
          </p:nvPr>
        </p:nvSpPr>
        <p:spPr/>
        <p:txBody>
          <a:bodyPr>
            <a:normAutofit fontScale="90000"/>
          </a:bodyPr>
          <a:lstStyle/>
          <a:p>
            <a:r>
              <a:rPr lang="en-US" dirty="0"/>
              <a:t>Looking up in suffix array</a:t>
            </a:r>
          </a:p>
        </p:txBody>
      </p:sp>
      <p:sp>
        <p:nvSpPr>
          <p:cNvPr id="4" name="Slide Number Placeholder 3">
            <a:extLst>
              <a:ext uri="{FF2B5EF4-FFF2-40B4-BE49-F238E27FC236}">
                <a16:creationId xmlns:a16="http://schemas.microsoft.com/office/drawing/2014/main" id="{65FE388A-F22B-14F3-84C6-B2C51302DE86}"/>
              </a:ext>
            </a:extLst>
          </p:cNvPr>
          <p:cNvSpPr>
            <a:spLocks noGrp="1"/>
          </p:cNvSpPr>
          <p:nvPr>
            <p:ph type="sldNum" sz="quarter" idx="12"/>
          </p:nvPr>
        </p:nvSpPr>
        <p:spPr/>
        <p:txBody>
          <a:bodyPr/>
          <a:lstStyle/>
          <a:p>
            <a:fld id="{B82CCC60-E8CD-4174-8B1A-7DF615B22EEF}" type="slidenum">
              <a:rPr lang="en-US" smtClean="0"/>
              <a:pPr/>
              <a:t>7</a:t>
            </a:fld>
            <a:endParaRPr lang="en-US"/>
          </a:p>
        </p:txBody>
      </p:sp>
      <p:sp>
        <p:nvSpPr>
          <p:cNvPr id="5" name="Content Placeholder 2">
            <a:extLst>
              <a:ext uri="{FF2B5EF4-FFF2-40B4-BE49-F238E27FC236}">
                <a16:creationId xmlns:a16="http://schemas.microsoft.com/office/drawing/2014/main" id="{0730A146-B934-D4F7-0B60-4E9A384591B8}"/>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Query sequence: </a:t>
            </a:r>
            <a:r>
              <a:rPr lang="en-US" dirty="0">
                <a:latin typeface="Courier New" panose="02070309020205020404" pitchFamily="49" charset="0"/>
                <a:cs typeface="Courier New" panose="02070309020205020404" pitchFamily="49" charset="0"/>
              </a:rPr>
              <a:t>GCAA</a:t>
            </a:r>
          </a:p>
          <a:p>
            <a:r>
              <a:rPr lang="en-US" dirty="0">
                <a:cs typeface="Courier New" panose="02070309020205020404" pitchFamily="49" charset="0"/>
              </a:rPr>
              <a:t>When a match is found, go up and down to find all matching positions:</a:t>
            </a:r>
            <a:br>
              <a:rPr lang="en-US" dirty="0">
                <a:cs typeface="Courier New" panose="02070309020205020404" pitchFamily="49" charset="0"/>
              </a:rPr>
            </a:b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Hi-&gt;                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7 </a:t>
            </a:r>
            <a:r>
              <a:rPr lang="en-US" b="1" dirty="0">
                <a:latin typeface="Courier New" panose="02070309020205020404" pitchFamily="49" charset="0"/>
                <a:cs typeface="Courier New" panose="02070309020205020404" pitchFamily="49" charset="0"/>
              </a:rPr>
              <a:t>G</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Starts with a G? -&gt; 2 </a:t>
            </a:r>
            <a:r>
              <a:rPr lang="en-US" b="1" dirty="0">
                <a:latin typeface="Courier New" panose="02070309020205020404" pitchFamily="49" charset="0"/>
                <a:cs typeface="Courier New" panose="02070309020205020404" pitchFamily="49" charset="0"/>
              </a:rPr>
              <a:t>G</a:t>
            </a:r>
            <a:r>
              <a:rPr lang="en-US" dirty="0">
                <a:latin typeface="Courier New" panose="02070309020205020404" pitchFamily="49" charset="0"/>
                <a:cs typeface="Courier New" panose="02070309020205020404" pitchFamily="49" charset="0"/>
              </a:rPr>
              <a:t>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Lo-&gt;                6 TG$</a:t>
            </a:r>
          </a:p>
        </p:txBody>
      </p:sp>
    </p:spTree>
    <p:extLst>
      <p:ext uri="{BB962C8B-B14F-4D97-AF65-F5344CB8AC3E}">
        <p14:creationId xmlns:p14="http://schemas.microsoft.com/office/powerpoint/2010/main" val="3783351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061C-7691-6849-AD79-B01F85680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803F9-B096-A6E5-63D2-14ED4AA6C5B8}"/>
              </a:ext>
            </a:extLst>
          </p:cNvPr>
          <p:cNvSpPr>
            <a:spLocks noGrp="1"/>
          </p:cNvSpPr>
          <p:nvPr>
            <p:ph type="title"/>
          </p:nvPr>
        </p:nvSpPr>
        <p:spPr/>
        <p:txBody>
          <a:bodyPr>
            <a:normAutofit fontScale="90000"/>
          </a:bodyPr>
          <a:lstStyle/>
          <a:p>
            <a:r>
              <a:rPr lang="en-US" dirty="0"/>
              <a:t>Looking up in suffix array</a:t>
            </a:r>
          </a:p>
        </p:txBody>
      </p:sp>
      <p:sp>
        <p:nvSpPr>
          <p:cNvPr id="4" name="Slide Number Placeholder 3">
            <a:extLst>
              <a:ext uri="{FF2B5EF4-FFF2-40B4-BE49-F238E27FC236}">
                <a16:creationId xmlns:a16="http://schemas.microsoft.com/office/drawing/2014/main" id="{FEAC9A78-690A-F743-90BB-19D058868BCE}"/>
              </a:ext>
            </a:extLst>
          </p:cNvPr>
          <p:cNvSpPr>
            <a:spLocks noGrp="1"/>
          </p:cNvSpPr>
          <p:nvPr>
            <p:ph type="sldNum" sz="quarter" idx="12"/>
          </p:nvPr>
        </p:nvSpPr>
        <p:spPr/>
        <p:txBody>
          <a:bodyPr/>
          <a:lstStyle/>
          <a:p>
            <a:fld id="{B82CCC60-E8CD-4174-8B1A-7DF615B22EEF}" type="slidenum">
              <a:rPr lang="en-US" smtClean="0"/>
              <a:pPr/>
              <a:t>8</a:t>
            </a:fld>
            <a:endParaRPr lang="en-US"/>
          </a:p>
        </p:txBody>
      </p:sp>
      <p:sp>
        <p:nvSpPr>
          <p:cNvPr id="5" name="Content Placeholder 2">
            <a:extLst>
              <a:ext uri="{FF2B5EF4-FFF2-40B4-BE49-F238E27FC236}">
                <a16:creationId xmlns:a16="http://schemas.microsoft.com/office/drawing/2014/main" id="{004BDAF6-69BF-6DB5-2595-5F9CE71A2793}"/>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Query sequence: </a:t>
            </a:r>
            <a:r>
              <a:rPr lang="en-US" dirty="0">
                <a:latin typeface="Courier New" panose="02070309020205020404" pitchFamily="49" charset="0"/>
                <a:cs typeface="Courier New" panose="02070309020205020404" pitchFamily="49" charset="0"/>
              </a:rPr>
              <a:t>GCAA</a:t>
            </a:r>
          </a:p>
          <a:p>
            <a:r>
              <a:rPr lang="en-US" dirty="0">
                <a:cs typeface="Courier New" panose="02070309020205020404" pitchFamily="49" charset="0"/>
              </a:rPr>
              <a:t>When a match is found, go up and down to find all matching positions :</a:t>
            </a:r>
            <a:br>
              <a:rPr lang="en-US" dirty="0">
                <a:cs typeface="Courier New" panose="02070309020205020404" pitchFamily="49" charset="0"/>
              </a:rPr>
            </a:b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Hi -&gt; Starts w GC?  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Lo -&gt; Starts w GC?  2 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6 TG$</a:t>
            </a:r>
          </a:p>
        </p:txBody>
      </p:sp>
    </p:spTree>
    <p:extLst>
      <p:ext uri="{BB962C8B-B14F-4D97-AF65-F5344CB8AC3E}">
        <p14:creationId xmlns:p14="http://schemas.microsoft.com/office/powerpoint/2010/main" val="202182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BCD84-FD98-5710-E907-940FA28F0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0A894-7548-EB16-033B-97C19685CDA2}"/>
              </a:ext>
            </a:extLst>
          </p:cNvPr>
          <p:cNvSpPr>
            <a:spLocks noGrp="1"/>
          </p:cNvSpPr>
          <p:nvPr>
            <p:ph type="title"/>
          </p:nvPr>
        </p:nvSpPr>
        <p:spPr/>
        <p:txBody>
          <a:bodyPr>
            <a:normAutofit fontScale="90000"/>
          </a:bodyPr>
          <a:lstStyle/>
          <a:p>
            <a:r>
              <a:rPr lang="en-US" dirty="0"/>
              <a:t>Looking up in suffix array</a:t>
            </a:r>
          </a:p>
        </p:txBody>
      </p:sp>
      <p:sp>
        <p:nvSpPr>
          <p:cNvPr id="4" name="Slide Number Placeholder 3">
            <a:extLst>
              <a:ext uri="{FF2B5EF4-FFF2-40B4-BE49-F238E27FC236}">
                <a16:creationId xmlns:a16="http://schemas.microsoft.com/office/drawing/2014/main" id="{314AF833-978F-5872-F22A-9A3D9D676C6E}"/>
              </a:ext>
            </a:extLst>
          </p:cNvPr>
          <p:cNvSpPr>
            <a:spLocks noGrp="1"/>
          </p:cNvSpPr>
          <p:nvPr>
            <p:ph type="sldNum" sz="quarter" idx="12"/>
          </p:nvPr>
        </p:nvSpPr>
        <p:spPr/>
        <p:txBody>
          <a:bodyPr/>
          <a:lstStyle/>
          <a:p>
            <a:fld id="{B82CCC60-E8CD-4174-8B1A-7DF615B22EEF}" type="slidenum">
              <a:rPr lang="en-US" smtClean="0"/>
              <a:pPr/>
              <a:t>9</a:t>
            </a:fld>
            <a:endParaRPr lang="en-US"/>
          </a:p>
        </p:txBody>
      </p:sp>
      <p:sp>
        <p:nvSpPr>
          <p:cNvPr id="5" name="Content Placeholder 2">
            <a:extLst>
              <a:ext uri="{FF2B5EF4-FFF2-40B4-BE49-F238E27FC236}">
                <a16:creationId xmlns:a16="http://schemas.microsoft.com/office/drawing/2014/main" id="{D66D9978-8264-27E0-C495-F7FEB840684D}"/>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Query sequence: </a:t>
            </a:r>
            <a:r>
              <a:rPr lang="en-US" dirty="0">
                <a:latin typeface="Courier New" panose="02070309020205020404" pitchFamily="49" charset="0"/>
                <a:cs typeface="Courier New" panose="02070309020205020404" pitchFamily="49" charset="0"/>
              </a:rPr>
              <a:t>GCAA</a:t>
            </a:r>
          </a:p>
          <a:p>
            <a:r>
              <a:rPr lang="en-US" dirty="0">
                <a:cs typeface="Courier New" panose="02070309020205020404" pitchFamily="49" charset="0"/>
              </a:rPr>
              <a:t>Found a perfect match:</a:t>
            </a:r>
            <a:br>
              <a:rPr lang="en-US" dirty="0">
                <a:cs typeface="Courier New" panose="02070309020205020404" pitchFamily="49" charset="0"/>
              </a:rPr>
            </a:b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Perfect match       2 </a:t>
            </a:r>
            <a:r>
              <a:rPr lang="en-US" b="1" dirty="0">
                <a:latin typeface="Courier New" panose="02070309020205020404" pitchFamily="49" charset="0"/>
                <a:cs typeface="Courier New" panose="02070309020205020404" pitchFamily="49" charset="0"/>
              </a:rPr>
              <a:t>GCAA</a:t>
            </a:r>
            <a:r>
              <a:rPr lang="en-US" dirty="0">
                <a:latin typeface="Courier New" panose="02070309020205020404" pitchFamily="49" charset="0"/>
                <a:cs typeface="Courier New" panose="02070309020205020404" pitchFamily="49" charset="0"/>
              </a:rPr>
              <a:t>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6 TG$</a:t>
            </a:r>
          </a:p>
        </p:txBody>
      </p:sp>
    </p:spTree>
    <p:extLst>
      <p:ext uri="{BB962C8B-B14F-4D97-AF65-F5344CB8AC3E}">
        <p14:creationId xmlns:p14="http://schemas.microsoft.com/office/powerpoint/2010/main" val="3383957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90EB-48EA-6542-0154-705119F2F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4D5EA-1BCE-4396-0A01-24E907E5095A}"/>
              </a:ext>
            </a:extLst>
          </p:cNvPr>
          <p:cNvSpPr>
            <a:spLocks noGrp="1"/>
          </p:cNvSpPr>
          <p:nvPr>
            <p:ph type="title"/>
          </p:nvPr>
        </p:nvSpPr>
        <p:spPr/>
        <p:txBody>
          <a:bodyPr>
            <a:normAutofit fontScale="90000"/>
          </a:bodyPr>
          <a:lstStyle/>
          <a:p>
            <a:r>
              <a:rPr lang="en-US" dirty="0"/>
              <a:t>Looking up in suffix array</a:t>
            </a:r>
          </a:p>
        </p:txBody>
      </p:sp>
      <p:sp>
        <p:nvSpPr>
          <p:cNvPr id="4" name="Slide Number Placeholder 3">
            <a:extLst>
              <a:ext uri="{FF2B5EF4-FFF2-40B4-BE49-F238E27FC236}">
                <a16:creationId xmlns:a16="http://schemas.microsoft.com/office/drawing/2014/main" id="{6CEF3504-BA04-5348-8102-CD19905AE2A2}"/>
              </a:ext>
            </a:extLst>
          </p:cNvPr>
          <p:cNvSpPr>
            <a:spLocks noGrp="1"/>
          </p:cNvSpPr>
          <p:nvPr>
            <p:ph type="sldNum" sz="quarter" idx="12"/>
          </p:nvPr>
        </p:nvSpPr>
        <p:spPr/>
        <p:txBody>
          <a:bodyPr/>
          <a:lstStyle/>
          <a:p>
            <a:fld id="{B82CCC60-E8CD-4174-8B1A-7DF615B22EEF}" type="slidenum">
              <a:rPr lang="en-US" smtClean="0"/>
              <a:pPr/>
              <a:t>10</a:t>
            </a:fld>
            <a:endParaRPr lang="en-US"/>
          </a:p>
        </p:txBody>
      </p:sp>
      <p:sp>
        <p:nvSpPr>
          <p:cNvPr id="5" name="Content Placeholder 2">
            <a:extLst>
              <a:ext uri="{FF2B5EF4-FFF2-40B4-BE49-F238E27FC236}">
                <a16:creationId xmlns:a16="http://schemas.microsoft.com/office/drawing/2014/main" id="{A9D804C9-FF80-AD0B-A4EB-0DD4289D2107}"/>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Found a perfect match or unable to find longer match</a:t>
            </a:r>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When a match is found, go up and down to find all matching positions:</a:t>
            </a:r>
            <a:br>
              <a:rPr lang="en-US" dirty="0">
                <a:cs typeface="Courier New" panose="02070309020205020404" pitchFamily="49" charset="0"/>
              </a:rPr>
            </a:b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Perfect match       2 </a:t>
            </a:r>
            <a:r>
              <a:rPr lang="en-US" b="1" dirty="0">
                <a:latin typeface="Courier New" panose="02070309020205020404" pitchFamily="49" charset="0"/>
                <a:cs typeface="Courier New" panose="02070309020205020404" pitchFamily="49" charset="0"/>
              </a:rPr>
              <a:t>GCAA</a:t>
            </a:r>
            <a:r>
              <a:rPr lang="en-US" dirty="0">
                <a:latin typeface="Courier New" panose="02070309020205020404" pitchFamily="49" charset="0"/>
                <a:cs typeface="Courier New" panose="02070309020205020404" pitchFamily="49" charset="0"/>
              </a:rPr>
              <a:t>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6 TG$</a:t>
            </a:r>
          </a:p>
        </p:txBody>
      </p:sp>
    </p:spTree>
    <p:extLst>
      <p:ext uri="{BB962C8B-B14F-4D97-AF65-F5344CB8AC3E}">
        <p14:creationId xmlns:p14="http://schemas.microsoft.com/office/powerpoint/2010/main" val="3969974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D8ECC-CC21-C7E1-611E-A09E85C2C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3F125-7631-1E5B-3E78-CA562AB7D9EB}"/>
              </a:ext>
            </a:extLst>
          </p:cNvPr>
          <p:cNvSpPr>
            <a:spLocks noGrp="1"/>
          </p:cNvSpPr>
          <p:nvPr>
            <p:ph type="title"/>
          </p:nvPr>
        </p:nvSpPr>
        <p:spPr/>
        <p:txBody>
          <a:bodyPr>
            <a:normAutofit fontScale="90000"/>
          </a:bodyPr>
          <a:lstStyle/>
          <a:p>
            <a:r>
              <a:rPr lang="en-US" dirty="0"/>
              <a:t>Perfect and imperfect matches</a:t>
            </a:r>
          </a:p>
        </p:txBody>
      </p:sp>
      <p:sp>
        <p:nvSpPr>
          <p:cNvPr id="3" name="Content Placeholder 2">
            <a:extLst>
              <a:ext uri="{FF2B5EF4-FFF2-40B4-BE49-F238E27FC236}">
                <a16:creationId xmlns:a16="http://schemas.microsoft.com/office/drawing/2014/main" id="{062F4894-49AA-587A-DB9C-A9ACA01AC7C4}"/>
              </a:ext>
            </a:extLst>
          </p:cNvPr>
          <p:cNvSpPr>
            <a:spLocks noGrp="1"/>
          </p:cNvSpPr>
          <p:nvPr>
            <p:ph idx="1"/>
          </p:nvPr>
        </p:nvSpPr>
        <p:spPr>
          <a:xfrm>
            <a:off x="598620" y="1596540"/>
            <a:ext cx="10972800" cy="5124936"/>
          </a:xfrm>
        </p:spPr>
        <p:txBody>
          <a:bodyPr>
            <a:normAutofit/>
          </a:bodyPr>
          <a:lstStyle/>
          <a:p>
            <a:r>
              <a:rPr lang="en-US" dirty="0">
                <a:cs typeface="Courier New" panose="02070309020205020404" pitchFamily="49" charset="0"/>
              </a:rPr>
              <a:t>String match:</a:t>
            </a:r>
            <a:br>
              <a:rPr lang="en-US" dirty="0">
                <a:cs typeface="Courier New" panose="02070309020205020404" pitchFamily="49" charset="0"/>
              </a:rPr>
            </a:br>
            <a:r>
              <a:rPr lang="en-US" dirty="0">
                <a:latin typeface="Courier New" panose="02070309020205020404" pitchFamily="49" charset="0"/>
                <a:cs typeface="Courier New" panose="02070309020205020404" pitchFamily="49" charset="0"/>
              </a:rPr>
              <a:t>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GCAA </a:t>
            </a:r>
            <a:r>
              <a:rPr lang="en-US" dirty="0">
                <a:cs typeface="Courier New" panose="02070309020205020404" pitchFamily="49" charset="0"/>
              </a:rPr>
              <a:t>at position 2</a:t>
            </a:r>
          </a:p>
          <a:p>
            <a:r>
              <a:rPr lang="en-US" dirty="0">
                <a:cs typeface="Courier New" panose="02070309020205020404" pitchFamily="49" charset="0"/>
              </a:rPr>
              <a:t>What about imperfect matches , e.g. </a:t>
            </a:r>
            <a:r>
              <a:rPr lang="en-US" dirty="0">
                <a:latin typeface="Courier New" panose="02070309020205020404" pitchFamily="49" charset="0"/>
                <a:cs typeface="Courier New" panose="02070309020205020404" pitchFamily="49" charset="0"/>
              </a:rPr>
              <a:t>GCAT?</a:t>
            </a:r>
            <a:br>
              <a:rPr lang="en-US" dirty="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F6045E6D-8A91-5846-2CDA-C1B0593409DD}"/>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4016439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803F3-7242-DE46-86F6-B142B6A7D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8D4EE-1AD2-914D-B3F5-DF033671BA5B}"/>
              </a:ext>
            </a:extLst>
          </p:cNvPr>
          <p:cNvSpPr>
            <a:spLocks noGrp="1"/>
          </p:cNvSpPr>
          <p:nvPr>
            <p:ph type="title"/>
          </p:nvPr>
        </p:nvSpPr>
        <p:spPr/>
        <p:txBody>
          <a:bodyPr>
            <a:normAutofit fontScale="90000"/>
          </a:bodyPr>
          <a:lstStyle/>
          <a:p>
            <a:r>
              <a:rPr lang="en-US" dirty="0"/>
              <a:t>Looking up in suffix array</a:t>
            </a:r>
          </a:p>
        </p:txBody>
      </p:sp>
      <p:sp>
        <p:nvSpPr>
          <p:cNvPr id="4" name="Slide Number Placeholder 3">
            <a:extLst>
              <a:ext uri="{FF2B5EF4-FFF2-40B4-BE49-F238E27FC236}">
                <a16:creationId xmlns:a16="http://schemas.microsoft.com/office/drawing/2014/main" id="{20280390-818E-6202-A358-D41315E94A3F}"/>
              </a:ext>
            </a:extLst>
          </p:cNvPr>
          <p:cNvSpPr>
            <a:spLocks noGrp="1"/>
          </p:cNvSpPr>
          <p:nvPr>
            <p:ph type="sldNum" sz="quarter" idx="12"/>
          </p:nvPr>
        </p:nvSpPr>
        <p:spPr/>
        <p:txBody>
          <a:bodyPr/>
          <a:lstStyle/>
          <a:p>
            <a:fld id="{B82CCC60-E8CD-4174-8B1A-7DF615B22EEF}" type="slidenum">
              <a:rPr lang="en-US" smtClean="0"/>
              <a:pPr/>
              <a:t>12</a:t>
            </a:fld>
            <a:endParaRPr lang="en-US"/>
          </a:p>
        </p:txBody>
      </p:sp>
      <p:sp>
        <p:nvSpPr>
          <p:cNvPr id="5" name="Content Placeholder 2">
            <a:extLst>
              <a:ext uri="{FF2B5EF4-FFF2-40B4-BE49-F238E27FC236}">
                <a16:creationId xmlns:a16="http://schemas.microsoft.com/office/drawing/2014/main" id="{97B43A5A-A5CB-3791-4A02-EF2B3ADC8BB0}"/>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Query sequence: </a:t>
            </a:r>
            <a:r>
              <a:rPr lang="en-US" dirty="0">
                <a:latin typeface="Courier New" panose="02070309020205020404" pitchFamily="49" charset="0"/>
                <a:cs typeface="Courier New" panose="02070309020205020404" pitchFamily="49" charset="0"/>
              </a:rPr>
              <a:t>GCAT</a:t>
            </a:r>
          </a:p>
          <a:p>
            <a:r>
              <a:rPr lang="en-US" dirty="0">
                <a:cs typeface="Courier New" panose="02070309020205020404" pitchFamily="49" charset="0"/>
              </a:rPr>
              <a:t>Found a partial match – is it long enough to keep?:</a:t>
            </a:r>
            <a:br>
              <a:rPr lang="en-US" dirty="0">
                <a:cs typeface="Courier New" panose="02070309020205020404" pitchFamily="49" charset="0"/>
              </a:rPr>
            </a:b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8 $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7 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Partial match       2 </a:t>
            </a:r>
            <a:r>
              <a:rPr lang="en-US" b="1" dirty="0">
                <a:latin typeface="Courier New" panose="02070309020205020404" pitchFamily="49" charset="0"/>
                <a:cs typeface="Courier New" panose="02070309020205020404" pitchFamily="49" charset="0"/>
              </a:rPr>
              <a:t>GCA</a:t>
            </a:r>
            <a:r>
              <a:rPr lang="en-US" b="1" dirty="0">
                <a:solidFill>
                  <a:srgbClr val="FF0000"/>
                </a:solidFill>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TAGCAATG$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6 TG$</a:t>
            </a:r>
          </a:p>
        </p:txBody>
      </p:sp>
    </p:spTree>
    <p:extLst>
      <p:ext uri="{BB962C8B-B14F-4D97-AF65-F5344CB8AC3E}">
        <p14:creationId xmlns:p14="http://schemas.microsoft.com/office/powerpoint/2010/main" val="1518123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179E8-B592-EF23-4104-C1404502C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16D4C-4F0E-5BF5-0168-9F3E48411646}"/>
              </a:ext>
            </a:extLst>
          </p:cNvPr>
          <p:cNvSpPr>
            <a:spLocks noGrp="1"/>
          </p:cNvSpPr>
          <p:nvPr>
            <p:ph type="title"/>
          </p:nvPr>
        </p:nvSpPr>
        <p:spPr/>
        <p:txBody>
          <a:bodyPr>
            <a:normAutofit fontScale="90000"/>
          </a:bodyPr>
          <a:lstStyle/>
          <a:p>
            <a:r>
              <a:rPr lang="en-US" dirty="0"/>
              <a:t>Example of alignment of two sequences</a:t>
            </a:r>
          </a:p>
        </p:txBody>
      </p:sp>
      <p:sp>
        <p:nvSpPr>
          <p:cNvPr id="4" name="Slide Number Placeholder 3">
            <a:extLst>
              <a:ext uri="{FF2B5EF4-FFF2-40B4-BE49-F238E27FC236}">
                <a16:creationId xmlns:a16="http://schemas.microsoft.com/office/drawing/2014/main" id="{ACE29D98-9D0B-333B-6740-7664378ACB4D}"/>
              </a:ext>
            </a:extLst>
          </p:cNvPr>
          <p:cNvSpPr>
            <a:spLocks noGrp="1"/>
          </p:cNvSpPr>
          <p:nvPr>
            <p:ph type="sldNum" sz="quarter" idx="12"/>
          </p:nvPr>
        </p:nvSpPr>
        <p:spPr/>
        <p:txBody>
          <a:bodyPr/>
          <a:lstStyle/>
          <a:p>
            <a:fld id="{B82CCC60-E8CD-4174-8B1A-7DF615B22EEF}" type="slidenum">
              <a:rPr lang="en-US" smtClean="0"/>
              <a:pPr/>
              <a:t>13</a:t>
            </a:fld>
            <a:endParaRPr lang="en-US"/>
          </a:p>
        </p:txBody>
      </p:sp>
      <p:sp>
        <p:nvSpPr>
          <p:cNvPr id="5" name="Content Placeholder 2">
            <a:extLst>
              <a:ext uri="{FF2B5EF4-FFF2-40B4-BE49-F238E27FC236}">
                <a16:creationId xmlns:a16="http://schemas.microsoft.com/office/drawing/2014/main" id="{7FF88977-DB15-2D8E-E33C-5BE6A18B0D28}"/>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ourier New" panose="02070309020205020404" pitchFamily="49" charset="0"/>
              </a:rPr>
              <a:t>Start at the beginning of the query, find the longest match(es)</a:t>
            </a:r>
          </a:p>
          <a:p>
            <a:pPr lvl="1"/>
            <a:r>
              <a:rPr lang="en-US" dirty="0">
                <a:cs typeface="Courier New" panose="02070309020205020404" pitchFamily="49" charset="0"/>
              </a:rPr>
              <a:t>Indexed reference</a:t>
            </a:r>
            <a:br>
              <a:rPr lang="en-US" dirty="0">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GCCCATGACTCGCATGCTGACATGCTGCTAGCT</a:t>
            </a:r>
          </a:p>
          <a:p>
            <a:pPr lvl="1"/>
            <a:r>
              <a:rPr lang="en-US" dirty="0">
                <a:solidFill>
                  <a:schemeClr val="tx1"/>
                </a:solidFill>
                <a:cs typeface="Courier New" panose="02070309020205020404" pitchFamily="49" charset="0"/>
              </a:rPr>
              <a:t>Query</a:t>
            </a:r>
            <a:r>
              <a:rPr lang="en-US" dirty="0">
                <a:cs typeface="Courier New" panose="02070309020205020404" pitchFamily="49" charset="0"/>
              </a:rPr>
              <a:t>  </a:t>
            </a:r>
            <a:br>
              <a:rPr lang="en-US" dirty="0">
                <a:cs typeface="Courier New" panose="02070309020205020404" pitchFamily="49" charset="0"/>
              </a:rPr>
            </a:br>
            <a:r>
              <a:rPr lang="en-US" dirty="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TCGCATGCTTCATGGTGCTTGCTA</a:t>
            </a:r>
          </a:p>
          <a:p>
            <a:pPr lvl="1"/>
            <a:endParaRPr lang="en-US" dirty="0">
              <a:cs typeface="Courier New" panose="02070309020205020404" pitchFamily="49" charset="0"/>
            </a:endParaRPr>
          </a:p>
        </p:txBody>
      </p:sp>
    </p:spTree>
    <p:extLst>
      <p:ext uri="{BB962C8B-B14F-4D97-AF65-F5344CB8AC3E}">
        <p14:creationId xmlns:p14="http://schemas.microsoft.com/office/powerpoint/2010/main" val="297384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99209-CBEB-C820-240D-0E77ECE6B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4B213-4335-576A-D37D-46DBA804AE23}"/>
              </a:ext>
            </a:extLst>
          </p:cNvPr>
          <p:cNvSpPr>
            <a:spLocks noGrp="1"/>
          </p:cNvSpPr>
          <p:nvPr>
            <p:ph type="title"/>
          </p:nvPr>
        </p:nvSpPr>
        <p:spPr/>
        <p:txBody>
          <a:bodyPr>
            <a:normAutofit fontScale="90000"/>
          </a:bodyPr>
          <a:lstStyle/>
          <a:p>
            <a:r>
              <a:rPr lang="en-US" dirty="0"/>
              <a:t>Alignment of two sequences</a:t>
            </a:r>
          </a:p>
        </p:txBody>
      </p:sp>
      <p:sp>
        <p:nvSpPr>
          <p:cNvPr id="4" name="Slide Number Placeholder 3">
            <a:extLst>
              <a:ext uri="{FF2B5EF4-FFF2-40B4-BE49-F238E27FC236}">
                <a16:creationId xmlns:a16="http://schemas.microsoft.com/office/drawing/2014/main" id="{248F5EE7-1BF1-4073-5D1D-E0206413FD13}"/>
              </a:ext>
            </a:extLst>
          </p:cNvPr>
          <p:cNvSpPr>
            <a:spLocks noGrp="1"/>
          </p:cNvSpPr>
          <p:nvPr>
            <p:ph type="sldNum" sz="quarter" idx="12"/>
          </p:nvPr>
        </p:nvSpPr>
        <p:spPr/>
        <p:txBody>
          <a:bodyPr/>
          <a:lstStyle/>
          <a:p>
            <a:fld id="{B82CCC60-E8CD-4174-8B1A-7DF615B22EEF}" type="slidenum">
              <a:rPr lang="en-US" smtClean="0"/>
              <a:pPr/>
              <a:t>14</a:t>
            </a:fld>
            <a:endParaRPr lang="en-US"/>
          </a:p>
        </p:txBody>
      </p:sp>
      <p:sp>
        <p:nvSpPr>
          <p:cNvPr id="5" name="Content Placeholder 2">
            <a:extLst>
              <a:ext uri="{FF2B5EF4-FFF2-40B4-BE49-F238E27FC236}">
                <a16:creationId xmlns:a16="http://schemas.microsoft.com/office/drawing/2014/main" id="{58706750-E360-1843-88BE-7561F32294F5}"/>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ourier New" panose="02070309020205020404" pitchFamily="49" charset="0"/>
              </a:rPr>
              <a:t>Start at the beginning of the query, find the longest match(es)</a:t>
            </a:r>
          </a:p>
          <a:p>
            <a:pPr lvl="1"/>
            <a:r>
              <a:rPr lang="en-US" dirty="0">
                <a:cs typeface="Courier New" panose="02070309020205020404" pitchFamily="49" charset="0"/>
              </a:rPr>
              <a:t>Indexed reference</a:t>
            </a:r>
            <a:br>
              <a:rPr lang="en-US" dirty="0">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GCCCATGACTCGCATGCTGACATGCTGCTAGCT</a:t>
            </a:r>
          </a:p>
          <a:p>
            <a:pPr marL="457200" lvl="1" indent="0">
              <a:buNone/>
            </a:pPr>
            <a:r>
              <a:rPr lang="en-US" dirty="0">
                <a:cs typeface="Courier New" panose="02070309020205020404" pitchFamily="49" charset="0"/>
              </a:rPr>
              <a:t>  </a:t>
            </a:r>
            <a:br>
              <a:rPr lang="en-US" dirty="0">
                <a:cs typeface="Courier New" panose="02070309020205020404" pitchFamily="49" charset="0"/>
              </a:rPr>
            </a:br>
            <a:r>
              <a:rPr lang="en-US" dirty="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TCGCATGCTTCATGGTGCTAGCTA</a:t>
            </a:r>
          </a:p>
          <a:p>
            <a:pPr lvl="1"/>
            <a:endParaRPr lang="en-US" dirty="0">
              <a:cs typeface="Courier New" panose="02070309020205020404" pitchFamily="49" charset="0"/>
            </a:endParaRPr>
          </a:p>
        </p:txBody>
      </p:sp>
      <p:sp>
        <p:nvSpPr>
          <p:cNvPr id="3" name="Rectangle 2">
            <a:extLst>
              <a:ext uri="{FF2B5EF4-FFF2-40B4-BE49-F238E27FC236}">
                <a16:creationId xmlns:a16="http://schemas.microsoft.com/office/drawing/2014/main" id="{86AF6AB1-E23F-8023-25DC-90674B481E44}"/>
              </a:ext>
            </a:extLst>
          </p:cNvPr>
          <p:cNvSpPr/>
          <p:nvPr/>
        </p:nvSpPr>
        <p:spPr>
          <a:xfrm>
            <a:off x="2256817" y="3579779"/>
            <a:ext cx="1961744"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B1B5D5-A43F-41F9-A31A-E47CAF1D3C97}"/>
              </a:ext>
            </a:extLst>
          </p:cNvPr>
          <p:cNvSpPr/>
          <p:nvPr/>
        </p:nvSpPr>
        <p:spPr>
          <a:xfrm>
            <a:off x="3313888" y="2641510"/>
            <a:ext cx="1961743"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E24AD2E2-2327-5EA7-AA5B-CD4751D6E1E3}"/>
              </a:ext>
            </a:extLst>
          </p:cNvPr>
          <p:cNvCxnSpPr>
            <a:cxnSpLocks/>
            <a:stCxn id="3" idx="0"/>
            <a:endCxn id="6" idx="2"/>
          </p:cNvCxnSpPr>
          <p:nvPr/>
        </p:nvCxnSpPr>
        <p:spPr>
          <a:xfrm flipV="1">
            <a:off x="3237689" y="2943067"/>
            <a:ext cx="1057071" cy="636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3623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7ED56-16F1-B0E2-3D9A-FD9113342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31643-6443-7684-F324-20BCB45DA273}"/>
              </a:ext>
            </a:extLst>
          </p:cNvPr>
          <p:cNvSpPr>
            <a:spLocks noGrp="1"/>
          </p:cNvSpPr>
          <p:nvPr>
            <p:ph type="title"/>
          </p:nvPr>
        </p:nvSpPr>
        <p:spPr/>
        <p:txBody>
          <a:bodyPr>
            <a:normAutofit fontScale="90000"/>
          </a:bodyPr>
          <a:lstStyle/>
          <a:p>
            <a:r>
              <a:rPr lang="en-US" dirty="0"/>
              <a:t>Alignment of two sequences</a:t>
            </a:r>
          </a:p>
        </p:txBody>
      </p:sp>
      <p:sp>
        <p:nvSpPr>
          <p:cNvPr id="4" name="Slide Number Placeholder 3">
            <a:extLst>
              <a:ext uri="{FF2B5EF4-FFF2-40B4-BE49-F238E27FC236}">
                <a16:creationId xmlns:a16="http://schemas.microsoft.com/office/drawing/2014/main" id="{C20AA70B-A2E0-340B-79CD-65D5F84351B7}"/>
              </a:ext>
            </a:extLst>
          </p:cNvPr>
          <p:cNvSpPr>
            <a:spLocks noGrp="1"/>
          </p:cNvSpPr>
          <p:nvPr>
            <p:ph type="sldNum" sz="quarter" idx="12"/>
          </p:nvPr>
        </p:nvSpPr>
        <p:spPr/>
        <p:txBody>
          <a:bodyPr/>
          <a:lstStyle/>
          <a:p>
            <a:fld id="{B82CCC60-E8CD-4174-8B1A-7DF615B22EEF}" type="slidenum">
              <a:rPr lang="en-US" smtClean="0"/>
              <a:pPr/>
              <a:t>15</a:t>
            </a:fld>
            <a:endParaRPr lang="en-US"/>
          </a:p>
        </p:txBody>
      </p:sp>
      <p:sp>
        <p:nvSpPr>
          <p:cNvPr id="5" name="Content Placeholder 2">
            <a:extLst>
              <a:ext uri="{FF2B5EF4-FFF2-40B4-BE49-F238E27FC236}">
                <a16:creationId xmlns:a16="http://schemas.microsoft.com/office/drawing/2014/main" id="{F39BF3E6-7AD7-65F0-0437-FAA69EE628ED}"/>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ourier New" panose="02070309020205020404" pitchFamily="49" charset="0"/>
              </a:rPr>
              <a:t>Start at the beginning of the query, find the longest match(es)</a:t>
            </a:r>
          </a:p>
          <a:p>
            <a:pPr lvl="1"/>
            <a:r>
              <a:rPr lang="en-US" dirty="0">
                <a:cs typeface="Courier New" panose="02070309020205020404" pitchFamily="49" charset="0"/>
              </a:rPr>
              <a:t>Indexed reference</a:t>
            </a:r>
            <a:br>
              <a:rPr lang="en-US" dirty="0">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GCCCATGACTCGCATGCTGACATGCTGCTAGCT</a:t>
            </a:r>
          </a:p>
          <a:p>
            <a:pPr marL="457200" lvl="1" indent="0">
              <a:buNone/>
            </a:pPr>
            <a:r>
              <a:rPr lang="en-US" dirty="0">
                <a:cs typeface="Courier New" panose="02070309020205020404" pitchFamily="49" charset="0"/>
              </a:rPr>
              <a:t>  </a:t>
            </a:r>
            <a:br>
              <a:rPr lang="en-US" dirty="0">
                <a:cs typeface="Courier New" panose="02070309020205020404" pitchFamily="49" charset="0"/>
              </a:rPr>
            </a:br>
            <a:r>
              <a:rPr lang="en-US" dirty="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TCGCATGCTTCATGGTGCTAGCTA</a:t>
            </a:r>
            <a:endParaRPr lang="en-US" dirty="0">
              <a:cs typeface="Courier New" panose="02070309020205020404" pitchFamily="49" charset="0"/>
            </a:endParaRPr>
          </a:p>
        </p:txBody>
      </p:sp>
      <p:sp>
        <p:nvSpPr>
          <p:cNvPr id="3" name="Rectangle 2">
            <a:extLst>
              <a:ext uri="{FF2B5EF4-FFF2-40B4-BE49-F238E27FC236}">
                <a16:creationId xmlns:a16="http://schemas.microsoft.com/office/drawing/2014/main" id="{85893DF1-FB58-981E-1503-1D04AD3C776A}"/>
              </a:ext>
            </a:extLst>
          </p:cNvPr>
          <p:cNvSpPr/>
          <p:nvPr/>
        </p:nvSpPr>
        <p:spPr>
          <a:xfrm>
            <a:off x="2256817" y="3579779"/>
            <a:ext cx="1961744"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6D1884-EBDC-9A1B-8EAE-6EE502EC51F4}"/>
              </a:ext>
            </a:extLst>
          </p:cNvPr>
          <p:cNvSpPr/>
          <p:nvPr/>
        </p:nvSpPr>
        <p:spPr>
          <a:xfrm>
            <a:off x="3313888" y="2641510"/>
            <a:ext cx="1961743"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B472E4D-F530-95D4-56CE-339FF5DDEE1A}"/>
              </a:ext>
            </a:extLst>
          </p:cNvPr>
          <p:cNvCxnSpPr>
            <a:cxnSpLocks/>
            <a:stCxn id="3" idx="0"/>
            <a:endCxn id="6" idx="2"/>
          </p:cNvCxnSpPr>
          <p:nvPr/>
        </p:nvCxnSpPr>
        <p:spPr>
          <a:xfrm flipV="1">
            <a:off x="3237689" y="2943067"/>
            <a:ext cx="1057071" cy="636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4E71871-9C29-7B5E-DA09-281C83958E4E}"/>
              </a:ext>
            </a:extLst>
          </p:cNvPr>
          <p:cNvSpPr/>
          <p:nvPr/>
        </p:nvSpPr>
        <p:spPr>
          <a:xfrm>
            <a:off x="4421707" y="3579779"/>
            <a:ext cx="838808" cy="301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9B18D77-CD00-3C53-1D42-84BF19ACDB02}"/>
              </a:ext>
            </a:extLst>
          </p:cNvPr>
          <p:cNvSpPr/>
          <p:nvPr/>
        </p:nvSpPr>
        <p:spPr>
          <a:xfrm>
            <a:off x="2065099" y="2641510"/>
            <a:ext cx="838808" cy="301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6" name="Rectangle 15">
            <a:extLst>
              <a:ext uri="{FF2B5EF4-FFF2-40B4-BE49-F238E27FC236}">
                <a16:creationId xmlns:a16="http://schemas.microsoft.com/office/drawing/2014/main" id="{4989C6BB-6081-5C59-0147-BE90E9DEC042}"/>
              </a:ext>
            </a:extLst>
          </p:cNvPr>
          <p:cNvSpPr/>
          <p:nvPr/>
        </p:nvSpPr>
        <p:spPr>
          <a:xfrm>
            <a:off x="5703429" y="2641509"/>
            <a:ext cx="838808" cy="301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09968358-036E-8F52-AE7B-90B2F4797C9C}"/>
              </a:ext>
            </a:extLst>
          </p:cNvPr>
          <p:cNvCxnSpPr>
            <a:cxnSpLocks/>
            <a:endCxn id="16" idx="2"/>
          </p:cNvCxnSpPr>
          <p:nvPr/>
        </p:nvCxnSpPr>
        <p:spPr>
          <a:xfrm flipV="1">
            <a:off x="4841111" y="2943066"/>
            <a:ext cx="1281722" cy="63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F3FFE6B-3A2B-0A8A-333E-EED7F60A3DE8}"/>
              </a:ext>
            </a:extLst>
          </p:cNvPr>
          <p:cNvCxnSpPr>
            <a:cxnSpLocks/>
            <a:stCxn id="13" idx="0"/>
          </p:cNvCxnSpPr>
          <p:nvPr/>
        </p:nvCxnSpPr>
        <p:spPr>
          <a:xfrm flipH="1" flipV="1">
            <a:off x="2466975" y="2943066"/>
            <a:ext cx="2374136" cy="63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42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02C7E-29C2-A1DD-91D6-2BAAB4810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CDF89-C308-29A7-3727-26A4322B71F6}"/>
              </a:ext>
            </a:extLst>
          </p:cNvPr>
          <p:cNvSpPr>
            <a:spLocks noGrp="1"/>
          </p:cNvSpPr>
          <p:nvPr>
            <p:ph type="title"/>
          </p:nvPr>
        </p:nvSpPr>
        <p:spPr/>
        <p:txBody>
          <a:bodyPr>
            <a:normAutofit fontScale="90000"/>
          </a:bodyPr>
          <a:lstStyle/>
          <a:p>
            <a:r>
              <a:rPr lang="en-US" dirty="0"/>
              <a:t>Alignment of two sequences</a:t>
            </a:r>
          </a:p>
        </p:txBody>
      </p:sp>
      <p:sp>
        <p:nvSpPr>
          <p:cNvPr id="4" name="Slide Number Placeholder 3">
            <a:extLst>
              <a:ext uri="{FF2B5EF4-FFF2-40B4-BE49-F238E27FC236}">
                <a16:creationId xmlns:a16="http://schemas.microsoft.com/office/drawing/2014/main" id="{E6CDED22-3704-B3B2-19AA-F903D14EE3CA}"/>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5" name="Content Placeholder 2">
            <a:extLst>
              <a:ext uri="{FF2B5EF4-FFF2-40B4-BE49-F238E27FC236}">
                <a16:creationId xmlns:a16="http://schemas.microsoft.com/office/drawing/2014/main" id="{9048B556-EEF4-F26D-155C-1DFB53C3E0D4}"/>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ourier New" panose="02070309020205020404" pitchFamily="49" charset="0"/>
              </a:rPr>
              <a:t>Use minimum matching length of 5 to avoid repetitive matches</a:t>
            </a:r>
          </a:p>
          <a:p>
            <a:pPr lvl="1"/>
            <a:r>
              <a:rPr lang="en-US" dirty="0">
                <a:cs typeface="Courier New" panose="02070309020205020404" pitchFamily="49" charset="0"/>
              </a:rPr>
              <a:t>Indexed reference</a:t>
            </a:r>
            <a:br>
              <a:rPr lang="en-US" dirty="0">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GCCCATGACTCGCATGCTGACATGCTGCTAGCT</a:t>
            </a:r>
          </a:p>
          <a:p>
            <a:pPr marL="457200" lvl="1" indent="0">
              <a:buNone/>
            </a:pPr>
            <a:r>
              <a:rPr lang="en-US" dirty="0">
                <a:cs typeface="Courier New" panose="02070309020205020404" pitchFamily="49" charset="0"/>
              </a:rPr>
              <a:t>  </a:t>
            </a:r>
            <a:br>
              <a:rPr lang="en-US" dirty="0">
                <a:cs typeface="Courier New" panose="02070309020205020404" pitchFamily="49" charset="0"/>
              </a:rPr>
            </a:br>
            <a:r>
              <a:rPr lang="en-US" dirty="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TCGCATGCTTCATGGTGCTAGCTA</a:t>
            </a:r>
          </a:p>
          <a:p>
            <a:pPr lvl="1"/>
            <a:endParaRPr lang="en-US" dirty="0">
              <a:cs typeface="Courier New" panose="02070309020205020404" pitchFamily="49" charset="0"/>
            </a:endParaRPr>
          </a:p>
        </p:txBody>
      </p:sp>
      <p:sp>
        <p:nvSpPr>
          <p:cNvPr id="3" name="Rectangle 2">
            <a:extLst>
              <a:ext uri="{FF2B5EF4-FFF2-40B4-BE49-F238E27FC236}">
                <a16:creationId xmlns:a16="http://schemas.microsoft.com/office/drawing/2014/main" id="{754775F1-E7C8-38B7-C07F-94A0224D7A64}"/>
              </a:ext>
            </a:extLst>
          </p:cNvPr>
          <p:cNvSpPr/>
          <p:nvPr/>
        </p:nvSpPr>
        <p:spPr>
          <a:xfrm>
            <a:off x="2256817" y="3579779"/>
            <a:ext cx="1961744"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0A208EC-73FD-CF24-9533-5E3053D1480D}"/>
              </a:ext>
            </a:extLst>
          </p:cNvPr>
          <p:cNvSpPr/>
          <p:nvPr/>
        </p:nvSpPr>
        <p:spPr>
          <a:xfrm>
            <a:off x="3313888" y="2641510"/>
            <a:ext cx="1961743"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B4B15D7-E238-288E-F276-AB88B165D2AE}"/>
              </a:ext>
            </a:extLst>
          </p:cNvPr>
          <p:cNvCxnSpPr>
            <a:cxnSpLocks/>
            <a:stCxn id="3" idx="0"/>
            <a:endCxn id="6" idx="2"/>
          </p:cNvCxnSpPr>
          <p:nvPr/>
        </p:nvCxnSpPr>
        <p:spPr>
          <a:xfrm flipV="1">
            <a:off x="3237689" y="2943067"/>
            <a:ext cx="1057071" cy="636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5107635-D333-DB00-1893-0290F9FCC778}"/>
              </a:ext>
            </a:extLst>
          </p:cNvPr>
          <p:cNvSpPr/>
          <p:nvPr/>
        </p:nvSpPr>
        <p:spPr>
          <a:xfrm>
            <a:off x="4429207" y="3570458"/>
            <a:ext cx="838808" cy="301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BFCFAD4-5FF0-CE48-D8EF-E7A30F8909EA}"/>
              </a:ext>
            </a:extLst>
          </p:cNvPr>
          <p:cNvSpPr/>
          <p:nvPr/>
        </p:nvSpPr>
        <p:spPr>
          <a:xfrm>
            <a:off x="2065099" y="2641510"/>
            <a:ext cx="838808" cy="301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6" name="Rectangle 15">
            <a:extLst>
              <a:ext uri="{FF2B5EF4-FFF2-40B4-BE49-F238E27FC236}">
                <a16:creationId xmlns:a16="http://schemas.microsoft.com/office/drawing/2014/main" id="{821F5AAF-1642-79FD-8857-337A6D576309}"/>
              </a:ext>
            </a:extLst>
          </p:cNvPr>
          <p:cNvSpPr/>
          <p:nvPr/>
        </p:nvSpPr>
        <p:spPr>
          <a:xfrm>
            <a:off x="5703429" y="2641509"/>
            <a:ext cx="838808" cy="301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789546C3-67D6-5910-00DB-57CF982D027A}"/>
              </a:ext>
            </a:extLst>
          </p:cNvPr>
          <p:cNvCxnSpPr>
            <a:cxnSpLocks/>
            <a:endCxn id="16" idx="2"/>
          </p:cNvCxnSpPr>
          <p:nvPr/>
        </p:nvCxnSpPr>
        <p:spPr>
          <a:xfrm flipV="1">
            <a:off x="4855397" y="2943066"/>
            <a:ext cx="1267436" cy="612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BB104AB-8C12-212B-BFF1-97B7D5F4270F}"/>
              </a:ext>
            </a:extLst>
          </p:cNvPr>
          <p:cNvCxnSpPr>
            <a:cxnSpLocks/>
            <a:stCxn id="13" idx="0"/>
          </p:cNvCxnSpPr>
          <p:nvPr/>
        </p:nvCxnSpPr>
        <p:spPr>
          <a:xfrm flipH="1" flipV="1">
            <a:off x="2285168" y="2933745"/>
            <a:ext cx="2563443" cy="63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4802755-544E-5774-881A-784341462FE6}"/>
              </a:ext>
            </a:extLst>
          </p:cNvPr>
          <p:cNvSpPr/>
          <p:nvPr/>
        </p:nvSpPr>
        <p:spPr>
          <a:xfrm>
            <a:off x="5479599" y="3579779"/>
            <a:ext cx="1711776"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3037BFB-033B-6C88-9FBA-DD67775AB590}"/>
              </a:ext>
            </a:extLst>
          </p:cNvPr>
          <p:cNvSpPr/>
          <p:nvPr/>
        </p:nvSpPr>
        <p:spPr>
          <a:xfrm>
            <a:off x="6748498" y="2646169"/>
            <a:ext cx="1711776"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6DDFA38B-792C-F5DA-8D2A-49880F7572DE}"/>
              </a:ext>
            </a:extLst>
          </p:cNvPr>
          <p:cNvCxnSpPr>
            <a:cxnSpLocks/>
            <a:stCxn id="22" idx="0"/>
            <a:endCxn id="23" idx="2"/>
          </p:cNvCxnSpPr>
          <p:nvPr/>
        </p:nvCxnSpPr>
        <p:spPr>
          <a:xfrm flipV="1">
            <a:off x="6335487" y="2947726"/>
            <a:ext cx="1268899" cy="632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920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BEF6-3174-3928-E0C2-EAA397D5B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C7338-0C3B-9784-CB8F-9BDCDE6E740F}"/>
              </a:ext>
            </a:extLst>
          </p:cNvPr>
          <p:cNvSpPr>
            <a:spLocks noGrp="1"/>
          </p:cNvSpPr>
          <p:nvPr>
            <p:ph type="title"/>
          </p:nvPr>
        </p:nvSpPr>
        <p:spPr/>
        <p:txBody>
          <a:bodyPr>
            <a:normAutofit fontScale="90000"/>
          </a:bodyPr>
          <a:lstStyle/>
          <a:p>
            <a:r>
              <a:rPr lang="en-US" dirty="0"/>
              <a:t>Alignment of two sequences</a:t>
            </a:r>
          </a:p>
        </p:txBody>
      </p:sp>
      <p:sp>
        <p:nvSpPr>
          <p:cNvPr id="4" name="Slide Number Placeholder 3">
            <a:extLst>
              <a:ext uri="{FF2B5EF4-FFF2-40B4-BE49-F238E27FC236}">
                <a16:creationId xmlns:a16="http://schemas.microsoft.com/office/drawing/2014/main" id="{01527FFA-E4FF-147F-5252-D4DC9A709432}"/>
              </a:ext>
            </a:extLst>
          </p:cNvPr>
          <p:cNvSpPr>
            <a:spLocks noGrp="1"/>
          </p:cNvSpPr>
          <p:nvPr>
            <p:ph type="sldNum" sz="quarter" idx="12"/>
          </p:nvPr>
        </p:nvSpPr>
        <p:spPr/>
        <p:txBody>
          <a:bodyPr/>
          <a:lstStyle/>
          <a:p>
            <a:fld id="{B82CCC60-E8CD-4174-8B1A-7DF615B22EEF}" type="slidenum">
              <a:rPr lang="en-US" smtClean="0"/>
              <a:pPr/>
              <a:t>17</a:t>
            </a:fld>
            <a:endParaRPr lang="en-US"/>
          </a:p>
        </p:txBody>
      </p:sp>
      <p:sp>
        <p:nvSpPr>
          <p:cNvPr id="5" name="Content Placeholder 2">
            <a:extLst>
              <a:ext uri="{FF2B5EF4-FFF2-40B4-BE49-F238E27FC236}">
                <a16:creationId xmlns:a16="http://schemas.microsoft.com/office/drawing/2014/main" id="{39CD1670-589C-0A7A-5DC8-234249C1ED8E}"/>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ourier New" panose="02070309020205020404" pitchFamily="49" charset="0"/>
              </a:rPr>
              <a:t>Use minimum matching length of 5 to avoid repetitive matches</a:t>
            </a:r>
          </a:p>
          <a:p>
            <a:pPr lvl="1"/>
            <a:r>
              <a:rPr lang="en-US" dirty="0">
                <a:cs typeface="Courier New" panose="02070309020205020404" pitchFamily="49" charset="0"/>
              </a:rPr>
              <a:t>Indexed reference</a:t>
            </a:r>
            <a:br>
              <a:rPr lang="en-US" dirty="0">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GCCCATGACTCGCATGCTGACATGCTGCTAGCT</a:t>
            </a:r>
          </a:p>
          <a:p>
            <a:pPr marL="457200" lvl="1" indent="0">
              <a:buNone/>
            </a:pPr>
            <a:r>
              <a:rPr lang="en-US" dirty="0">
                <a:cs typeface="Courier New" panose="02070309020205020404" pitchFamily="49" charset="0"/>
              </a:rPr>
              <a:t>  </a:t>
            </a:r>
            <a:br>
              <a:rPr lang="en-US" dirty="0">
                <a:cs typeface="Courier New" panose="02070309020205020404" pitchFamily="49" charset="0"/>
              </a:rPr>
            </a:br>
            <a:r>
              <a:rPr lang="en-US" dirty="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TCGCATGCTTCATGGTGCTAGCTA</a:t>
            </a:r>
          </a:p>
          <a:p>
            <a:pPr lvl="1"/>
            <a:endParaRPr lang="en-US" dirty="0">
              <a:cs typeface="Courier New" panose="02070309020205020404" pitchFamily="49" charset="0"/>
            </a:endParaRPr>
          </a:p>
        </p:txBody>
      </p:sp>
      <p:sp>
        <p:nvSpPr>
          <p:cNvPr id="3" name="Rectangle 2">
            <a:extLst>
              <a:ext uri="{FF2B5EF4-FFF2-40B4-BE49-F238E27FC236}">
                <a16:creationId xmlns:a16="http://schemas.microsoft.com/office/drawing/2014/main" id="{D322E683-1FF6-0AD0-3475-9636930C7569}"/>
              </a:ext>
            </a:extLst>
          </p:cNvPr>
          <p:cNvSpPr/>
          <p:nvPr/>
        </p:nvSpPr>
        <p:spPr>
          <a:xfrm>
            <a:off x="2256817" y="3579779"/>
            <a:ext cx="1961744"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F26A88F-68EC-8BF3-287B-B76EAF0F8A2F}"/>
              </a:ext>
            </a:extLst>
          </p:cNvPr>
          <p:cNvSpPr/>
          <p:nvPr/>
        </p:nvSpPr>
        <p:spPr>
          <a:xfrm>
            <a:off x="3313888" y="2641510"/>
            <a:ext cx="1961743"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F58682F-D139-25AD-4497-9CFCE60EBF4C}"/>
              </a:ext>
            </a:extLst>
          </p:cNvPr>
          <p:cNvCxnSpPr>
            <a:cxnSpLocks/>
            <a:stCxn id="3" idx="0"/>
            <a:endCxn id="6" idx="2"/>
          </p:cNvCxnSpPr>
          <p:nvPr/>
        </p:nvCxnSpPr>
        <p:spPr>
          <a:xfrm flipV="1">
            <a:off x="3237689" y="2943067"/>
            <a:ext cx="1057071" cy="636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2A2D362-6A4B-1391-AC3A-0480B2F078FD}"/>
              </a:ext>
            </a:extLst>
          </p:cNvPr>
          <p:cNvSpPr/>
          <p:nvPr/>
        </p:nvSpPr>
        <p:spPr>
          <a:xfrm>
            <a:off x="5479599" y="3579779"/>
            <a:ext cx="1711776"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83EC8A-B58A-CA74-D0E9-B583C8AD8E2E}"/>
              </a:ext>
            </a:extLst>
          </p:cNvPr>
          <p:cNvSpPr/>
          <p:nvPr/>
        </p:nvSpPr>
        <p:spPr>
          <a:xfrm>
            <a:off x="6748498" y="2646169"/>
            <a:ext cx="1711776"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061C6C5E-4225-88C1-595B-187CFA5FEA86}"/>
              </a:ext>
            </a:extLst>
          </p:cNvPr>
          <p:cNvCxnSpPr>
            <a:cxnSpLocks/>
            <a:stCxn id="22" idx="0"/>
            <a:endCxn id="23" idx="2"/>
          </p:cNvCxnSpPr>
          <p:nvPr/>
        </p:nvCxnSpPr>
        <p:spPr>
          <a:xfrm flipV="1">
            <a:off x="6335487" y="2947726"/>
            <a:ext cx="1268899" cy="632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86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BFA2E-1AB2-0A5F-5D23-3C94EB489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0AAF8-1A48-12EA-4C3C-3DD8520679A7}"/>
              </a:ext>
            </a:extLst>
          </p:cNvPr>
          <p:cNvSpPr>
            <a:spLocks noGrp="1"/>
          </p:cNvSpPr>
          <p:nvPr>
            <p:ph type="title"/>
          </p:nvPr>
        </p:nvSpPr>
        <p:spPr/>
        <p:txBody>
          <a:bodyPr>
            <a:normAutofit fontScale="90000"/>
          </a:bodyPr>
          <a:lstStyle/>
          <a:p>
            <a:r>
              <a:rPr lang="en-US" dirty="0"/>
              <a:t>Alignment of two sequences</a:t>
            </a:r>
          </a:p>
        </p:txBody>
      </p:sp>
      <p:sp>
        <p:nvSpPr>
          <p:cNvPr id="4" name="Slide Number Placeholder 3">
            <a:extLst>
              <a:ext uri="{FF2B5EF4-FFF2-40B4-BE49-F238E27FC236}">
                <a16:creationId xmlns:a16="http://schemas.microsoft.com/office/drawing/2014/main" id="{38EF6B26-9693-0D45-64D7-4586B9D1545B}"/>
              </a:ext>
            </a:extLst>
          </p:cNvPr>
          <p:cNvSpPr>
            <a:spLocks noGrp="1"/>
          </p:cNvSpPr>
          <p:nvPr>
            <p:ph type="sldNum" sz="quarter" idx="12"/>
          </p:nvPr>
        </p:nvSpPr>
        <p:spPr/>
        <p:txBody>
          <a:bodyPr/>
          <a:lstStyle/>
          <a:p>
            <a:fld id="{B82CCC60-E8CD-4174-8B1A-7DF615B22EEF}" type="slidenum">
              <a:rPr lang="en-US" smtClean="0"/>
              <a:pPr/>
              <a:t>18</a:t>
            </a:fld>
            <a:endParaRPr lang="en-US"/>
          </a:p>
        </p:txBody>
      </p:sp>
      <p:sp>
        <p:nvSpPr>
          <p:cNvPr id="5" name="Content Placeholder 2">
            <a:extLst>
              <a:ext uri="{FF2B5EF4-FFF2-40B4-BE49-F238E27FC236}">
                <a16:creationId xmlns:a16="http://schemas.microsoft.com/office/drawing/2014/main" id="{57041981-F1C9-9F86-60C8-66BDE56BF19C}"/>
              </a:ext>
            </a:extLst>
          </p:cNvPr>
          <p:cNvSpPr txBox="1">
            <a:spLocks/>
          </p:cNvSpPr>
          <p:nvPr/>
        </p:nvSpPr>
        <p:spPr>
          <a:xfrm>
            <a:off x="598620" y="1596540"/>
            <a:ext cx="10972800" cy="5124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ourier New" panose="02070309020205020404" pitchFamily="49" charset="0"/>
              </a:rPr>
              <a:t>Do Smith-Waterman between the matching seeds</a:t>
            </a:r>
          </a:p>
          <a:p>
            <a:pPr lvl="1"/>
            <a:r>
              <a:rPr lang="en-US" dirty="0">
                <a:cs typeface="Courier New" panose="02070309020205020404" pitchFamily="49" charset="0"/>
              </a:rPr>
              <a:t>Indexed reference</a:t>
            </a:r>
            <a:br>
              <a:rPr lang="en-US" dirty="0">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GCCCATGACTCGCATGCTGACATGCTGCTAGCT</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  ||||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TCGCATGCTT-CATGGTGCTAGCTA</a:t>
            </a:r>
          </a:p>
          <a:p>
            <a:r>
              <a:rPr lang="en-US" dirty="0">
                <a:solidFill>
                  <a:schemeClr val="tx1"/>
                </a:solidFill>
                <a:cs typeface="Courier New" panose="02070309020205020404" pitchFamily="49" charset="0"/>
              </a:rPr>
              <a:t>Compute alignment score based on Smith-Waterman alignment</a:t>
            </a:r>
          </a:p>
        </p:txBody>
      </p:sp>
      <p:sp>
        <p:nvSpPr>
          <p:cNvPr id="3" name="Rectangle 2">
            <a:extLst>
              <a:ext uri="{FF2B5EF4-FFF2-40B4-BE49-F238E27FC236}">
                <a16:creationId xmlns:a16="http://schemas.microsoft.com/office/drawing/2014/main" id="{47831D50-A25F-643D-E5AB-E8AC45A3A46D}"/>
              </a:ext>
            </a:extLst>
          </p:cNvPr>
          <p:cNvSpPr/>
          <p:nvPr/>
        </p:nvSpPr>
        <p:spPr>
          <a:xfrm>
            <a:off x="3313888" y="3503578"/>
            <a:ext cx="1961744"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B8F7AC5-0C51-5121-47D8-4DE56B165C15}"/>
              </a:ext>
            </a:extLst>
          </p:cNvPr>
          <p:cNvSpPr/>
          <p:nvPr/>
        </p:nvSpPr>
        <p:spPr>
          <a:xfrm>
            <a:off x="3313888" y="2641510"/>
            <a:ext cx="1961743"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0892F57-063A-35FD-0DA4-735E1F39F4C5}"/>
              </a:ext>
            </a:extLst>
          </p:cNvPr>
          <p:cNvCxnSpPr>
            <a:cxnSpLocks/>
            <a:stCxn id="3" idx="0"/>
            <a:endCxn id="6" idx="2"/>
          </p:cNvCxnSpPr>
          <p:nvPr/>
        </p:nvCxnSpPr>
        <p:spPr>
          <a:xfrm flipV="1">
            <a:off x="4294760" y="2943067"/>
            <a:ext cx="0" cy="560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8F37DA2-7440-54C0-5E4B-3FC11D44B4D7}"/>
              </a:ext>
            </a:extLst>
          </p:cNvPr>
          <p:cNvSpPr/>
          <p:nvPr/>
        </p:nvSpPr>
        <p:spPr>
          <a:xfrm>
            <a:off x="6750177" y="3503373"/>
            <a:ext cx="1727071"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7B2521F-3C4F-CED4-AB22-27FE910060BA}"/>
              </a:ext>
            </a:extLst>
          </p:cNvPr>
          <p:cNvSpPr/>
          <p:nvPr/>
        </p:nvSpPr>
        <p:spPr>
          <a:xfrm>
            <a:off x="6748498" y="2646169"/>
            <a:ext cx="1728750" cy="301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5D01D677-A450-1217-ABE6-8C5530DCC09D}"/>
              </a:ext>
            </a:extLst>
          </p:cNvPr>
          <p:cNvCxnSpPr>
            <a:cxnSpLocks/>
            <a:endCxn id="23" idx="2"/>
          </p:cNvCxnSpPr>
          <p:nvPr/>
        </p:nvCxnSpPr>
        <p:spPr>
          <a:xfrm flipV="1">
            <a:off x="7612873" y="2947726"/>
            <a:ext cx="0" cy="555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295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8C6B-F6B8-801D-0FC4-720C99A6EBFA}"/>
              </a:ext>
            </a:extLst>
          </p:cNvPr>
          <p:cNvSpPr>
            <a:spLocks noGrp="1"/>
          </p:cNvSpPr>
          <p:nvPr>
            <p:ph type="title"/>
          </p:nvPr>
        </p:nvSpPr>
        <p:spPr/>
        <p:txBody>
          <a:bodyPr>
            <a:normAutofit fontScale="90000"/>
          </a:bodyPr>
          <a:lstStyle/>
          <a:p>
            <a:r>
              <a:rPr lang="en-US" dirty="0"/>
              <a:t>Burrows-Wheeler Transform</a:t>
            </a:r>
          </a:p>
        </p:txBody>
      </p:sp>
      <p:sp>
        <p:nvSpPr>
          <p:cNvPr id="3" name="Content Placeholder 2">
            <a:extLst>
              <a:ext uri="{FF2B5EF4-FFF2-40B4-BE49-F238E27FC236}">
                <a16:creationId xmlns:a16="http://schemas.microsoft.com/office/drawing/2014/main" id="{F5D2362A-5464-1BDE-3F15-3142E777D7E9}"/>
              </a:ext>
            </a:extLst>
          </p:cNvPr>
          <p:cNvSpPr>
            <a:spLocks noGrp="1"/>
          </p:cNvSpPr>
          <p:nvPr>
            <p:ph idx="1"/>
          </p:nvPr>
        </p:nvSpPr>
        <p:spPr/>
        <p:txBody>
          <a:bodyPr/>
          <a:lstStyle/>
          <a:p>
            <a:r>
              <a:rPr lang="en-US" dirty="0"/>
              <a:t>Burrows-Wheeler Transform (BWT) is used to create efficient index of a sequence compared to just using the suffix array</a:t>
            </a:r>
          </a:p>
          <a:p>
            <a:r>
              <a:rPr lang="en-US" dirty="0"/>
              <a:t>BWT rearranges a character string into runs of similar characters, in a manner that can be reversed to recover the original string. </a:t>
            </a:r>
          </a:p>
          <a:p>
            <a:r>
              <a:rPr lang="en-US" dirty="0"/>
              <a:t>Used in bzip2 compression algorithm</a:t>
            </a:r>
          </a:p>
          <a:p>
            <a:r>
              <a:rPr lang="en-US" dirty="0"/>
              <a:t>Pairs with suffix array to create an efficient index into genome sequence</a:t>
            </a:r>
          </a:p>
        </p:txBody>
      </p:sp>
      <p:sp>
        <p:nvSpPr>
          <p:cNvPr id="4" name="Slide Number Placeholder 3">
            <a:extLst>
              <a:ext uri="{FF2B5EF4-FFF2-40B4-BE49-F238E27FC236}">
                <a16:creationId xmlns:a16="http://schemas.microsoft.com/office/drawing/2014/main" id="{AFD4E8E3-85EB-2CCC-748A-78F88A62DA03}"/>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100066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53DB5-50A9-43EB-055B-8BA9497B8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88A4B-6358-F206-A69E-88354BB31639}"/>
              </a:ext>
            </a:extLst>
          </p:cNvPr>
          <p:cNvSpPr>
            <a:spLocks noGrp="1"/>
          </p:cNvSpPr>
          <p:nvPr>
            <p:ph type="title"/>
          </p:nvPr>
        </p:nvSpPr>
        <p:spPr/>
        <p:txBody>
          <a:bodyPr>
            <a:normAutofit fontScale="90000"/>
          </a:bodyPr>
          <a:lstStyle/>
          <a:p>
            <a:r>
              <a:rPr lang="en-US" dirty="0"/>
              <a:t>Burrows-Wheeler Transform</a:t>
            </a:r>
          </a:p>
        </p:txBody>
      </p:sp>
      <p:sp>
        <p:nvSpPr>
          <p:cNvPr id="3" name="Content Placeholder 2">
            <a:extLst>
              <a:ext uri="{FF2B5EF4-FFF2-40B4-BE49-F238E27FC236}">
                <a16:creationId xmlns:a16="http://schemas.microsoft.com/office/drawing/2014/main" id="{8343E8C5-359A-A2F1-CE0D-F88F91630B2F}"/>
              </a:ext>
            </a:extLst>
          </p:cNvPr>
          <p:cNvSpPr>
            <a:spLocks noGrp="1"/>
          </p:cNvSpPr>
          <p:nvPr>
            <p:ph idx="1"/>
          </p:nvPr>
        </p:nvSpPr>
        <p:spPr>
          <a:xfrm>
            <a:off x="598620" y="1596540"/>
            <a:ext cx="3780433" cy="4972040"/>
          </a:xfrm>
        </p:spPr>
        <p:txBody>
          <a:bodyPr>
            <a:normAutofit/>
          </a:bodyPr>
          <a:lstStyle/>
          <a:p>
            <a:r>
              <a:rPr lang="en-US" dirty="0"/>
              <a:t>Example: BANANA$</a:t>
            </a:r>
          </a:p>
          <a:p>
            <a:r>
              <a:rPr lang="en-US" dirty="0"/>
              <a:t>All rotations:</a:t>
            </a:r>
            <a:br>
              <a:rPr lang="en-US" dirty="0"/>
            </a:br>
            <a:r>
              <a:rPr lang="en-US" dirty="0"/>
              <a:t>0 BANANA$</a:t>
            </a:r>
            <a:br>
              <a:rPr lang="en-US" dirty="0"/>
            </a:br>
            <a:r>
              <a:rPr lang="en-US" dirty="0"/>
              <a:t>1 ANANA$B</a:t>
            </a:r>
            <a:br>
              <a:rPr lang="en-US" dirty="0"/>
            </a:br>
            <a:r>
              <a:rPr lang="en-US" dirty="0"/>
              <a:t>2 NANA$BA</a:t>
            </a:r>
            <a:br>
              <a:rPr lang="en-US" dirty="0"/>
            </a:br>
            <a:r>
              <a:rPr lang="en-US" dirty="0"/>
              <a:t>3 ANA$BAN</a:t>
            </a:r>
            <a:br>
              <a:rPr lang="en-US" dirty="0"/>
            </a:br>
            <a:r>
              <a:rPr lang="en-US" dirty="0"/>
              <a:t>4 NA$BANA</a:t>
            </a:r>
            <a:br>
              <a:rPr lang="en-US" dirty="0"/>
            </a:br>
            <a:r>
              <a:rPr lang="en-US" dirty="0"/>
              <a:t>5 A$BANAN</a:t>
            </a:r>
            <a:br>
              <a:rPr lang="en-US" dirty="0"/>
            </a:br>
            <a:r>
              <a:rPr lang="en-US" dirty="0"/>
              <a:t>6 $BANANA</a:t>
            </a:r>
          </a:p>
          <a:p>
            <a:pPr marL="0" indent="0">
              <a:buNone/>
            </a:pPr>
            <a:endParaRPr lang="en-US" dirty="0"/>
          </a:p>
        </p:txBody>
      </p:sp>
      <p:sp>
        <p:nvSpPr>
          <p:cNvPr id="4" name="Slide Number Placeholder 3">
            <a:extLst>
              <a:ext uri="{FF2B5EF4-FFF2-40B4-BE49-F238E27FC236}">
                <a16:creationId xmlns:a16="http://schemas.microsoft.com/office/drawing/2014/main" id="{6DAD3408-71BD-A052-D5BE-8A609AEE6C30}"/>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7" name="Content Placeholder 2">
            <a:extLst>
              <a:ext uri="{FF2B5EF4-FFF2-40B4-BE49-F238E27FC236}">
                <a16:creationId xmlns:a16="http://schemas.microsoft.com/office/drawing/2014/main" id="{D19CE696-2F0D-90D8-049A-2D9476E463B6}"/>
              </a:ext>
            </a:extLst>
          </p:cNvPr>
          <p:cNvSpPr txBox="1">
            <a:spLocks/>
          </p:cNvSpPr>
          <p:nvPr/>
        </p:nvSpPr>
        <p:spPr>
          <a:xfrm>
            <a:off x="4559622" y="1684319"/>
            <a:ext cx="3780433" cy="49720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Sort in lexicographic order:</a:t>
            </a:r>
            <a:br>
              <a:rPr lang="en-US" dirty="0"/>
            </a:br>
            <a:r>
              <a:rPr lang="en-US" dirty="0"/>
              <a:t>6 $BANANA</a:t>
            </a:r>
            <a:br>
              <a:rPr lang="en-US" dirty="0"/>
            </a:br>
            <a:r>
              <a:rPr lang="en-US" dirty="0"/>
              <a:t>5 A$BANAN</a:t>
            </a:r>
            <a:br>
              <a:rPr lang="en-US" dirty="0"/>
            </a:br>
            <a:r>
              <a:rPr lang="en-US" dirty="0"/>
              <a:t>3 ANA$BAN</a:t>
            </a:r>
            <a:br>
              <a:rPr lang="en-US" dirty="0"/>
            </a:br>
            <a:r>
              <a:rPr lang="en-US" dirty="0"/>
              <a:t>1 ANANA$B</a:t>
            </a:r>
            <a:br>
              <a:rPr lang="en-US" dirty="0"/>
            </a:br>
            <a:r>
              <a:rPr lang="en-US" dirty="0"/>
              <a:t>0 BANANA$</a:t>
            </a:r>
            <a:br>
              <a:rPr lang="en-US" dirty="0"/>
            </a:br>
            <a:r>
              <a:rPr lang="en-US" dirty="0"/>
              <a:t>4 NA$BANA</a:t>
            </a:r>
            <a:br>
              <a:rPr lang="en-US" dirty="0"/>
            </a:br>
            <a:r>
              <a:rPr lang="en-US" dirty="0"/>
              <a:t>2 NANA$BA</a:t>
            </a:r>
            <a:br>
              <a:rPr lang="en-US" dirty="0"/>
            </a:br>
            <a:endParaRPr lang="en-US" dirty="0"/>
          </a:p>
        </p:txBody>
      </p:sp>
    </p:spTree>
    <p:extLst>
      <p:ext uri="{BB962C8B-B14F-4D97-AF65-F5344CB8AC3E}">
        <p14:creationId xmlns:p14="http://schemas.microsoft.com/office/powerpoint/2010/main" val="2605973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52009-9104-8303-67DB-797068A29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B3FBA-2717-46CA-C464-D8DD8DC08D01}"/>
              </a:ext>
            </a:extLst>
          </p:cNvPr>
          <p:cNvSpPr>
            <a:spLocks noGrp="1"/>
          </p:cNvSpPr>
          <p:nvPr>
            <p:ph type="title"/>
          </p:nvPr>
        </p:nvSpPr>
        <p:spPr/>
        <p:txBody>
          <a:bodyPr>
            <a:normAutofit fontScale="90000"/>
          </a:bodyPr>
          <a:lstStyle/>
          <a:p>
            <a:r>
              <a:rPr lang="en-US" dirty="0"/>
              <a:t>Burrows-Wheeler Transform</a:t>
            </a:r>
          </a:p>
        </p:txBody>
      </p:sp>
      <p:sp>
        <p:nvSpPr>
          <p:cNvPr id="3" name="Content Placeholder 2">
            <a:extLst>
              <a:ext uri="{FF2B5EF4-FFF2-40B4-BE49-F238E27FC236}">
                <a16:creationId xmlns:a16="http://schemas.microsoft.com/office/drawing/2014/main" id="{4206695A-66CA-02CA-49DF-0381283AD35D}"/>
              </a:ext>
            </a:extLst>
          </p:cNvPr>
          <p:cNvSpPr>
            <a:spLocks noGrp="1"/>
          </p:cNvSpPr>
          <p:nvPr>
            <p:ph idx="1"/>
          </p:nvPr>
        </p:nvSpPr>
        <p:spPr>
          <a:xfrm>
            <a:off x="598620" y="1596540"/>
            <a:ext cx="3780433" cy="4972040"/>
          </a:xfrm>
        </p:spPr>
        <p:txBody>
          <a:bodyPr>
            <a:normAutofit/>
          </a:bodyPr>
          <a:lstStyle/>
          <a:p>
            <a:r>
              <a:rPr lang="en-US" dirty="0"/>
              <a:t>Example: BANANA$</a:t>
            </a:r>
          </a:p>
          <a:p>
            <a:r>
              <a:rPr lang="en-US" dirty="0"/>
              <a:t>All rotations:</a:t>
            </a:r>
            <a:br>
              <a:rPr lang="en-US" dirty="0"/>
            </a:br>
            <a:r>
              <a:rPr lang="en-US" dirty="0"/>
              <a:t>0 BANANA$</a:t>
            </a:r>
            <a:br>
              <a:rPr lang="en-US" dirty="0"/>
            </a:br>
            <a:r>
              <a:rPr lang="en-US" dirty="0"/>
              <a:t>1 ANANA$B</a:t>
            </a:r>
            <a:br>
              <a:rPr lang="en-US" dirty="0"/>
            </a:br>
            <a:r>
              <a:rPr lang="en-US" dirty="0"/>
              <a:t>2 NANA$BA</a:t>
            </a:r>
            <a:br>
              <a:rPr lang="en-US" dirty="0"/>
            </a:br>
            <a:r>
              <a:rPr lang="en-US" dirty="0"/>
              <a:t>3 ANA$BAN</a:t>
            </a:r>
            <a:br>
              <a:rPr lang="en-US" dirty="0"/>
            </a:br>
            <a:r>
              <a:rPr lang="en-US" dirty="0"/>
              <a:t>4 NA$BANA</a:t>
            </a:r>
            <a:br>
              <a:rPr lang="en-US" dirty="0"/>
            </a:br>
            <a:r>
              <a:rPr lang="en-US" dirty="0"/>
              <a:t>5 A$BANAN</a:t>
            </a:r>
            <a:br>
              <a:rPr lang="en-US" dirty="0"/>
            </a:br>
            <a:r>
              <a:rPr lang="en-US" dirty="0"/>
              <a:t>6 $BANANA</a:t>
            </a:r>
          </a:p>
          <a:p>
            <a:pPr marL="0" indent="0">
              <a:buNone/>
            </a:pPr>
            <a:endParaRPr lang="en-US" dirty="0"/>
          </a:p>
        </p:txBody>
      </p:sp>
      <p:sp>
        <p:nvSpPr>
          <p:cNvPr id="4" name="Slide Number Placeholder 3">
            <a:extLst>
              <a:ext uri="{FF2B5EF4-FFF2-40B4-BE49-F238E27FC236}">
                <a16:creationId xmlns:a16="http://schemas.microsoft.com/office/drawing/2014/main" id="{9B7AF0BC-2CB4-CEBE-1187-C486EC705EE4}"/>
              </a:ext>
            </a:extLst>
          </p:cNvPr>
          <p:cNvSpPr>
            <a:spLocks noGrp="1"/>
          </p:cNvSpPr>
          <p:nvPr>
            <p:ph type="sldNum" sz="quarter" idx="12"/>
          </p:nvPr>
        </p:nvSpPr>
        <p:spPr/>
        <p:txBody>
          <a:bodyPr/>
          <a:lstStyle/>
          <a:p>
            <a:fld id="{B82CCC60-E8CD-4174-8B1A-7DF615B22EEF}" type="slidenum">
              <a:rPr lang="en-US" smtClean="0"/>
              <a:pPr/>
              <a:t>21</a:t>
            </a:fld>
            <a:endParaRPr lang="en-US"/>
          </a:p>
        </p:txBody>
      </p:sp>
      <p:sp>
        <p:nvSpPr>
          <p:cNvPr id="7" name="Content Placeholder 2">
            <a:extLst>
              <a:ext uri="{FF2B5EF4-FFF2-40B4-BE49-F238E27FC236}">
                <a16:creationId xmlns:a16="http://schemas.microsoft.com/office/drawing/2014/main" id="{119B691C-07E0-88C2-F9C7-5B942601AEC9}"/>
              </a:ext>
            </a:extLst>
          </p:cNvPr>
          <p:cNvSpPr txBox="1">
            <a:spLocks/>
          </p:cNvSpPr>
          <p:nvPr/>
        </p:nvSpPr>
        <p:spPr>
          <a:xfrm>
            <a:off x="4559622" y="1684319"/>
            <a:ext cx="3780433" cy="49720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Sort in lexicographic order:</a:t>
            </a:r>
            <a:br>
              <a:rPr lang="en-US" dirty="0"/>
            </a:br>
            <a:r>
              <a:rPr lang="en-US" dirty="0"/>
              <a:t>6 $BANAN A</a:t>
            </a:r>
            <a:br>
              <a:rPr lang="en-US" dirty="0"/>
            </a:br>
            <a:r>
              <a:rPr lang="en-US" dirty="0"/>
              <a:t>5 A$BANA N</a:t>
            </a:r>
            <a:br>
              <a:rPr lang="en-US" dirty="0"/>
            </a:br>
            <a:r>
              <a:rPr lang="en-US" dirty="0"/>
              <a:t>3 ANA$BA N</a:t>
            </a:r>
            <a:br>
              <a:rPr lang="en-US" dirty="0"/>
            </a:br>
            <a:r>
              <a:rPr lang="en-US" dirty="0"/>
              <a:t>1 ANANA$ B</a:t>
            </a:r>
            <a:br>
              <a:rPr lang="en-US" dirty="0"/>
            </a:br>
            <a:r>
              <a:rPr lang="en-US" dirty="0"/>
              <a:t>0 BANANA $</a:t>
            </a:r>
            <a:br>
              <a:rPr lang="en-US" dirty="0"/>
            </a:br>
            <a:r>
              <a:rPr lang="en-US" dirty="0"/>
              <a:t>4 NA$BAN A</a:t>
            </a:r>
            <a:br>
              <a:rPr lang="en-US" dirty="0"/>
            </a:br>
            <a:r>
              <a:rPr lang="en-US" dirty="0"/>
              <a:t>2 NANA$B A</a:t>
            </a:r>
            <a:br>
              <a:rPr lang="en-US" dirty="0"/>
            </a:br>
            <a:endParaRPr lang="en-US" dirty="0"/>
          </a:p>
        </p:txBody>
      </p:sp>
      <p:sp>
        <p:nvSpPr>
          <p:cNvPr id="6" name="Rectangle 5">
            <a:extLst>
              <a:ext uri="{FF2B5EF4-FFF2-40B4-BE49-F238E27FC236}">
                <a16:creationId xmlns:a16="http://schemas.microsoft.com/office/drawing/2014/main" id="{29A4C5B7-913B-361C-2990-1630DAFD4425}"/>
              </a:ext>
            </a:extLst>
          </p:cNvPr>
          <p:cNvSpPr/>
          <p:nvPr/>
        </p:nvSpPr>
        <p:spPr>
          <a:xfrm>
            <a:off x="6174297" y="2583809"/>
            <a:ext cx="310393" cy="30116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64AFBA4-9FA5-AEFB-8B45-029B46768764}"/>
              </a:ext>
            </a:extLst>
          </p:cNvPr>
          <p:cNvSpPr/>
          <p:nvPr/>
        </p:nvSpPr>
        <p:spPr>
          <a:xfrm>
            <a:off x="4577798" y="2583809"/>
            <a:ext cx="310393" cy="30116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A3B2893-089B-5052-DBA0-9622FD56E8CB}"/>
              </a:ext>
            </a:extLst>
          </p:cNvPr>
          <p:cNvSpPr txBox="1"/>
          <p:nvPr/>
        </p:nvSpPr>
        <p:spPr>
          <a:xfrm>
            <a:off x="8398517" y="1675868"/>
            <a:ext cx="3019831" cy="1815882"/>
          </a:xfrm>
          <a:prstGeom prst="rect">
            <a:avLst/>
          </a:prstGeom>
          <a:noFill/>
        </p:spPr>
        <p:txBody>
          <a:bodyPr wrap="square" rtlCol="0">
            <a:spAutoFit/>
          </a:bodyPr>
          <a:lstStyle/>
          <a:p>
            <a:r>
              <a:rPr lang="en-US" sz="2800" dirty="0"/>
              <a:t>Suffix Array:</a:t>
            </a:r>
          </a:p>
          <a:p>
            <a:r>
              <a:rPr lang="en-US" sz="2800" dirty="0"/>
              <a:t>6 5 3 1 0 4 2</a:t>
            </a:r>
          </a:p>
          <a:p>
            <a:r>
              <a:rPr lang="en-US" sz="2800" dirty="0"/>
              <a:t>BWT:</a:t>
            </a:r>
          </a:p>
          <a:p>
            <a:r>
              <a:rPr lang="en-US" sz="2800" dirty="0"/>
              <a:t>ANNB$AA</a:t>
            </a:r>
          </a:p>
        </p:txBody>
      </p:sp>
    </p:spTree>
    <p:extLst>
      <p:ext uri="{BB962C8B-B14F-4D97-AF65-F5344CB8AC3E}">
        <p14:creationId xmlns:p14="http://schemas.microsoft.com/office/powerpoint/2010/main" val="2621727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E3FA4-E998-2021-4287-DCFAA329B616}"/>
              </a:ext>
            </a:extLst>
          </p:cNvPr>
          <p:cNvSpPr>
            <a:spLocks noGrp="1"/>
          </p:cNvSpPr>
          <p:nvPr>
            <p:ph type="title"/>
          </p:nvPr>
        </p:nvSpPr>
        <p:spPr/>
        <p:txBody>
          <a:bodyPr>
            <a:normAutofit fontScale="90000"/>
          </a:bodyPr>
          <a:lstStyle/>
          <a:p>
            <a:r>
              <a:rPr lang="en-US" dirty="0"/>
              <a:t>BWT rationale</a:t>
            </a:r>
          </a:p>
        </p:txBody>
      </p:sp>
      <p:sp>
        <p:nvSpPr>
          <p:cNvPr id="3" name="Content Placeholder 2">
            <a:extLst>
              <a:ext uri="{FF2B5EF4-FFF2-40B4-BE49-F238E27FC236}">
                <a16:creationId xmlns:a16="http://schemas.microsoft.com/office/drawing/2014/main" id="{2A530FA9-1E66-7954-086A-F3891F38C829}"/>
              </a:ext>
            </a:extLst>
          </p:cNvPr>
          <p:cNvSpPr>
            <a:spLocks noGrp="1"/>
          </p:cNvSpPr>
          <p:nvPr>
            <p:ph idx="1"/>
          </p:nvPr>
        </p:nvSpPr>
        <p:spPr>
          <a:xfrm>
            <a:off x="598620" y="1596540"/>
            <a:ext cx="10972800" cy="2824457"/>
          </a:xfrm>
        </p:spPr>
        <p:txBody>
          <a:bodyPr/>
          <a:lstStyle/>
          <a:p>
            <a:r>
              <a:rPr lang="en-US" dirty="0"/>
              <a:t>If the original string had several substrings that occurred often, then the BWT-transformed string will have several places where a single character is repeated many times in a row, creating more-easily-compressible data. </a:t>
            </a:r>
          </a:p>
          <a:p>
            <a:r>
              <a:rPr lang="en-US" dirty="0"/>
              <a:t>Example:</a:t>
            </a:r>
          </a:p>
          <a:p>
            <a:endParaRPr lang="en-US" dirty="0"/>
          </a:p>
        </p:txBody>
      </p:sp>
      <p:sp>
        <p:nvSpPr>
          <p:cNvPr id="4" name="Slide Number Placeholder 3">
            <a:extLst>
              <a:ext uri="{FF2B5EF4-FFF2-40B4-BE49-F238E27FC236}">
                <a16:creationId xmlns:a16="http://schemas.microsoft.com/office/drawing/2014/main" id="{A72FEA28-B579-5435-FB06-E9A9C284691C}"/>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6" name="Picture 5">
            <a:extLst>
              <a:ext uri="{FF2B5EF4-FFF2-40B4-BE49-F238E27FC236}">
                <a16:creationId xmlns:a16="http://schemas.microsoft.com/office/drawing/2014/main" id="{2B610CA7-3FF0-C146-7B6B-9997027DFFA2}"/>
              </a:ext>
            </a:extLst>
          </p:cNvPr>
          <p:cNvPicPr>
            <a:picLocks noChangeAspect="1"/>
          </p:cNvPicPr>
          <p:nvPr/>
        </p:nvPicPr>
        <p:blipFill>
          <a:blip r:embed="rId2"/>
          <a:stretch>
            <a:fillRect/>
          </a:stretch>
        </p:blipFill>
        <p:spPr>
          <a:xfrm>
            <a:off x="-10980" y="4420997"/>
            <a:ext cx="12192000" cy="1325732"/>
          </a:xfrm>
          <a:prstGeom prst="rect">
            <a:avLst/>
          </a:prstGeom>
        </p:spPr>
      </p:pic>
    </p:spTree>
    <p:extLst>
      <p:ext uri="{BB962C8B-B14F-4D97-AF65-F5344CB8AC3E}">
        <p14:creationId xmlns:p14="http://schemas.microsoft.com/office/powerpoint/2010/main" val="3511612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A7FA-4312-93F7-BCD9-B6214CE6771C}"/>
              </a:ext>
            </a:extLst>
          </p:cNvPr>
          <p:cNvSpPr>
            <a:spLocks noGrp="1"/>
          </p:cNvSpPr>
          <p:nvPr>
            <p:ph type="title"/>
          </p:nvPr>
        </p:nvSpPr>
        <p:spPr/>
        <p:txBody>
          <a:bodyPr>
            <a:normAutofit fontScale="90000"/>
          </a:bodyPr>
          <a:lstStyle/>
          <a:p>
            <a:r>
              <a:rPr lang="en-US" dirty="0"/>
              <a:t>BWT reversibility</a:t>
            </a:r>
          </a:p>
        </p:txBody>
      </p:sp>
      <p:sp>
        <p:nvSpPr>
          <p:cNvPr id="4" name="Slide Number Placeholder 3">
            <a:extLst>
              <a:ext uri="{FF2B5EF4-FFF2-40B4-BE49-F238E27FC236}">
                <a16:creationId xmlns:a16="http://schemas.microsoft.com/office/drawing/2014/main" id="{D82B59DD-6F29-C129-14E3-CE8740DCDE15}"/>
              </a:ext>
            </a:extLst>
          </p:cNvPr>
          <p:cNvSpPr>
            <a:spLocks noGrp="1"/>
          </p:cNvSpPr>
          <p:nvPr>
            <p:ph type="sldNum" sz="quarter" idx="12"/>
          </p:nvPr>
        </p:nvSpPr>
        <p:spPr/>
        <p:txBody>
          <a:bodyPr/>
          <a:lstStyle/>
          <a:p>
            <a:fld id="{B82CCC60-E8CD-4174-8B1A-7DF615B22EEF}" type="slidenum">
              <a:rPr lang="en-US" smtClean="0"/>
              <a:pPr/>
              <a:t>23</a:t>
            </a:fld>
            <a:endParaRPr lang="en-US"/>
          </a:p>
        </p:txBody>
      </p:sp>
      <p:sp>
        <p:nvSpPr>
          <p:cNvPr id="10" name="TextBox 9">
            <a:extLst>
              <a:ext uri="{FF2B5EF4-FFF2-40B4-BE49-F238E27FC236}">
                <a16:creationId xmlns:a16="http://schemas.microsoft.com/office/drawing/2014/main" id="{3EC9ABE0-E1D0-1030-CD5E-1F7A708039CB}"/>
              </a:ext>
            </a:extLst>
          </p:cNvPr>
          <p:cNvSpPr txBox="1"/>
          <p:nvPr/>
        </p:nvSpPr>
        <p:spPr>
          <a:xfrm>
            <a:off x="740328" y="2491422"/>
            <a:ext cx="459298" cy="3108543"/>
          </a:xfrm>
          <a:prstGeom prst="rect">
            <a:avLst/>
          </a:prstGeom>
          <a:noFill/>
        </p:spPr>
        <p:txBody>
          <a:bodyPr wrap="square">
            <a:spAutoFit/>
          </a:bodyPr>
          <a:lstStyle/>
          <a:p>
            <a:r>
              <a:rPr lang="en-US" sz="2800" dirty="0"/>
              <a:t>A</a:t>
            </a:r>
            <a:br>
              <a:rPr lang="en-US" sz="2800" dirty="0"/>
            </a:br>
            <a:r>
              <a:rPr lang="en-US" sz="2800" dirty="0"/>
              <a:t>N</a:t>
            </a:r>
            <a:br>
              <a:rPr lang="en-US" sz="2800" dirty="0"/>
            </a:br>
            <a:r>
              <a:rPr lang="en-US" sz="2800" dirty="0" err="1"/>
              <a:t>N</a:t>
            </a:r>
            <a:br>
              <a:rPr lang="en-US" sz="2800" dirty="0"/>
            </a:br>
            <a:r>
              <a:rPr lang="en-US" sz="2800" dirty="0"/>
              <a:t>B</a:t>
            </a:r>
            <a:br>
              <a:rPr lang="en-US" sz="2800" dirty="0"/>
            </a:br>
            <a:r>
              <a:rPr lang="en-US" sz="2800" dirty="0"/>
              <a:t>$</a:t>
            </a:r>
            <a:br>
              <a:rPr lang="en-US" sz="2800" dirty="0"/>
            </a:br>
            <a:r>
              <a:rPr lang="en-US" sz="2800" dirty="0"/>
              <a:t>A</a:t>
            </a:r>
            <a:br>
              <a:rPr lang="en-US" sz="2800" dirty="0"/>
            </a:br>
            <a:r>
              <a:rPr lang="en-US" sz="2800" dirty="0" err="1"/>
              <a:t>A</a:t>
            </a:r>
            <a:endParaRPr lang="en-US" sz="2800" dirty="0"/>
          </a:p>
        </p:txBody>
      </p:sp>
      <p:sp>
        <p:nvSpPr>
          <p:cNvPr id="12" name="TextBox 11">
            <a:extLst>
              <a:ext uri="{FF2B5EF4-FFF2-40B4-BE49-F238E27FC236}">
                <a16:creationId xmlns:a16="http://schemas.microsoft.com/office/drawing/2014/main" id="{1394B47E-78D0-B01D-3A13-3BFF32574EF4}"/>
              </a:ext>
            </a:extLst>
          </p:cNvPr>
          <p:cNvSpPr txBox="1"/>
          <p:nvPr/>
        </p:nvSpPr>
        <p:spPr>
          <a:xfrm>
            <a:off x="1361114" y="3784083"/>
            <a:ext cx="887136" cy="523220"/>
          </a:xfrm>
          <a:prstGeom prst="rect">
            <a:avLst/>
          </a:prstGeom>
          <a:noFill/>
        </p:spPr>
        <p:txBody>
          <a:bodyPr wrap="square">
            <a:spAutoFit/>
          </a:bodyPr>
          <a:lstStyle/>
          <a:p>
            <a:r>
              <a:rPr lang="en-US" sz="2800" dirty="0"/>
              <a:t>Sort</a:t>
            </a:r>
          </a:p>
        </p:txBody>
      </p:sp>
      <p:sp>
        <p:nvSpPr>
          <p:cNvPr id="13" name="TextBox 12">
            <a:extLst>
              <a:ext uri="{FF2B5EF4-FFF2-40B4-BE49-F238E27FC236}">
                <a16:creationId xmlns:a16="http://schemas.microsoft.com/office/drawing/2014/main" id="{3629E110-3EAF-B27B-AE27-34C506E2DD3D}"/>
              </a:ext>
            </a:extLst>
          </p:cNvPr>
          <p:cNvSpPr txBox="1"/>
          <p:nvPr/>
        </p:nvSpPr>
        <p:spPr>
          <a:xfrm>
            <a:off x="2386669" y="2491421"/>
            <a:ext cx="459298" cy="3539430"/>
          </a:xfrm>
          <a:prstGeom prst="rect">
            <a:avLst/>
          </a:prstGeom>
          <a:noFill/>
        </p:spPr>
        <p:txBody>
          <a:bodyPr wrap="square">
            <a:spAutoFit/>
          </a:bodyPr>
          <a:lstStyle/>
          <a:p>
            <a:r>
              <a:rPr lang="en-US" sz="2800" b="1" dirty="0"/>
              <a:t>$</a:t>
            </a:r>
            <a:r>
              <a:rPr lang="en-US" sz="2800" dirty="0"/>
              <a:t>A</a:t>
            </a:r>
          </a:p>
          <a:p>
            <a:r>
              <a:rPr lang="en-US" sz="2800" dirty="0"/>
              <a:t>A</a:t>
            </a:r>
          </a:p>
          <a:p>
            <a:r>
              <a:rPr lang="en-US" sz="2800" dirty="0"/>
              <a:t>A</a:t>
            </a:r>
            <a:br>
              <a:rPr lang="en-US" sz="2800" dirty="0"/>
            </a:br>
            <a:r>
              <a:rPr lang="en-US" sz="2800" dirty="0"/>
              <a:t>BN</a:t>
            </a:r>
            <a:br>
              <a:rPr lang="en-US" sz="2800" dirty="0"/>
            </a:br>
            <a:r>
              <a:rPr lang="en-US" sz="2800" dirty="0"/>
              <a:t>N</a:t>
            </a:r>
            <a:br>
              <a:rPr lang="en-US" sz="2800" dirty="0"/>
            </a:br>
            <a:endParaRPr lang="en-US" sz="2800" dirty="0"/>
          </a:p>
        </p:txBody>
      </p:sp>
      <p:sp>
        <p:nvSpPr>
          <p:cNvPr id="14" name="TextBox 13">
            <a:extLst>
              <a:ext uri="{FF2B5EF4-FFF2-40B4-BE49-F238E27FC236}">
                <a16:creationId xmlns:a16="http://schemas.microsoft.com/office/drawing/2014/main" id="{CF9052F0-85E0-8BFC-2BFE-F37F53F6FEBC}"/>
              </a:ext>
            </a:extLst>
          </p:cNvPr>
          <p:cNvSpPr txBox="1"/>
          <p:nvPr/>
        </p:nvSpPr>
        <p:spPr>
          <a:xfrm>
            <a:off x="2984386" y="3784083"/>
            <a:ext cx="887136" cy="523220"/>
          </a:xfrm>
          <a:prstGeom prst="rect">
            <a:avLst/>
          </a:prstGeom>
          <a:noFill/>
        </p:spPr>
        <p:txBody>
          <a:bodyPr wrap="square">
            <a:spAutoFit/>
          </a:bodyPr>
          <a:lstStyle/>
          <a:p>
            <a:r>
              <a:rPr lang="en-US" sz="2800" dirty="0"/>
              <a:t>Add</a:t>
            </a:r>
          </a:p>
        </p:txBody>
      </p:sp>
      <p:sp>
        <p:nvSpPr>
          <p:cNvPr id="16" name="TextBox 15">
            <a:extLst>
              <a:ext uri="{FF2B5EF4-FFF2-40B4-BE49-F238E27FC236}">
                <a16:creationId xmlns:a16="http://schemas.microsoft.com/office/drawing/2014/main" id="{0F7DBBAF-585E-242C-83A3-062446FE491B}"/>
              </a:ext>
            </a:extLst>
          </p:cNvPr>
          <p:cNvSpPr txBox="1"/>
          <p:nvPr/>
        </p:nvSpPr>
        <p:spPr>
          <a:xfrm>
            <a:off x="3902982" y="2491421"/>
            <a:ext cx="1054911" cy="3539430"/>
          </a:xfrm>
          <a:prstGeom prst="rect">
            <a:avLst/>
          </a:prstGeom>
          <a:noFill/>
        </p:spPr>
        <p:txBody>
          <a:bodyPr wrap="square">
            <a:spAutoFit/>
          </a:bodyPr>
          <a:lstStyle/>
          <a:p>
            <a:r>
              <a:rPr lang="en-US" sz="2800" dirty="0"/>
              <a:t>A$</a:t>
            </a:r>
            <a:br>
              <a:rPr lang="en-US" sz="2800" dirty="0"/>
            </a:br>
            <a:r>
              <a:rPr lang="en-US" sz="2800" dirty="0"/>
              <a:t>NA</a:t>
            </a:r>
          </a:p>
          <a:p>
            <a:r>
              <a:rPr lang="en-US" sz="2800" dirty="0"/>
              <a:t>NA</a:t>
            </a:r>
          </a:p>
          <a:p>
            <a:r>
              <a:rPr lang="en-US" sz="2800" dirty="0"/>
              <a:t>BA</a:t>
            </a:r>
            <a:br>
              <a:rPr lang="en-US" sz="2800" dirty="0"/>
            </a:br>
            <a:r>
              <a:rPr lang="en-US" sz="2800" dirty="0"/>
              <a:t>$B</a:t>
            </a:r>
            <a:br>
              <a:rPr lang="en-US" sz="2800" dirty="0"/>
            </a:br>
            <a:r>
              <a:rPr lang="en-US" sz="2800" dirty="0"/>
              <a:t>AN</a:t>
            </a:r>
            <a:br>
              <a:rPr lang="en-US" sz="2800" dirty="0"/>
            </a:br>
            <a:r>
              <a:rPr lang="en-US" sz="2800" dirty="0" err="1"/>
              <a:t>AN</a:t>
            </a:r>
            <a:br>
              <a:rPr lang="en-US" sz="2800" dirty="0"/>
            </a:br>
            <a:endParaRPr lang="en-US" sz="2800" dirty="0"/>
          </a:p>
        </p:txBody>
      </p:sp>
      <p:sp>
        <p:nvSpPr>
          <p:cNvPr id="17" name="TextBox 16">
            <a:extLst>
              <a:ext uri="{FF2B5EF4-FFF2-40B4-BE49-F238E27FC236}">
                <a16:creationId xmlns:a16="http://schemas.microsoft.com/office/drawing/2014/main" id="{C4BDF628-A935-09E6-FBA6-C94F2E8300C5}"/>
              </a:ext>
            </a:extLst>
          </p:cNvPr>
          <p:cNvSpPr txBox="1"/>
          <p:nvPr/>
        </p:nvSpPr>
        <p:spPr>
          <a:xfrm>
            <a:off x="4545785" y="3737916"/>
            <a:ext cx="887136" cy="523220"/>
          </a:xfrm>
          <a:prstGeom prst="rect">
            <a:avLst/>
          </a:prstGeom>
          <a:noFill/>
        </p:spPr>
        <p:txBody>
          <a:bodyPr wrap="square">
            <a:spAutoFit/>
          </a:bodyPr>
          <a:lstStyle/>
          <a:p>
            <a:r>
              <a:rPr lang="en-US" sz="2800" dirty="0"/>
              <a:t>Sort</a:t>
            </a:r>
          </a:p>
        </p:txBody>
      </p:sp>
      <p:sp>
        <p:nvSpPr>
          <p:cNvPr id="18" name="TextBox 17">
            <a:extLst>
              <a:ext uri="{FF2B5EF4-FFF2-40B4-BE49-F238E27FC236}">
                <a16:creationId xmlns:a16="http://schemas.microsoft.com/office/drawing/2014/main" id="{771C24DA-C143-BBA0-CC11-4D229485B8FD}"/>
              </a:ext>
            </a:extLst>
          </p:cNvPr>
          <p:cNvSpPr txBox="1"/>
          <p:nvPr/>
        </p:nvSpPr>
        <p:spPr>
          <a:xfrm>
            <a:off x="5432921" y="2491421"/>
            <a:ext cx="1054911" cy="3539430"/>
          </a:xfrm>
          <a:prstGeom prst="rect">
            <a:avLst/>
          </a:prstGeom>
          <a:noFill/>
        </p:spPr>
        <p:txBody>
          <a:bodyPr wrap="square">
            <a:spAutoFit/>
          </a:bodyPr>
          <a:lstStyle/>
          <a:p>
            <a:r>
              <a:rPr lang="en-US" sz="2800" b="1" dirty="0"/>
              <a:t>$B</a:t>
            </a:r>
            <a:br>
              <a:rPr lang="en-US" sz="2800" dirty="0"/>
            </a:br>
            <a:r>
              <a:rPr lang="en-US" sz="2800" dirty="0"/>
              <a:t>A$</a:t>
            </a:r>
          </a:p>
          <a:p>
            <a:r>
              <a:rPr lang="en-US" sz="2800" dirty="0"/>
              <a:t>AN</a:t>
            </a:r>
          </a:p>
          <a:p>
            <a:r>
              <a:rPr lang="en-US" sz="2800" dirty="0"/>
              <a:t>AN</a:t>
            </a:r>
          </a:p>
          <a:p>
            <a:r>
              <a:rPr lang="en-US" sz="2800" dirty="0"/>
              <a:t>BA</a:t>
            </a:r>
            <a:br>
              <a:rPr lang="en-US" sz="2800" dirty="0"/>
            </a:br>
            <a:r>
              <a:rPr lang="en-US" sz="2800" dirty="0"/>
              <a:t>NA</a:t>
            </a:r>
            <a:br>
              <a:rPr lang="en-US" sz="2800" dirty="0"/>
            </a:br>
            <a:r>
              <a:rPr lang="en-US" sz="2800" dirty="0" err="1"/>
              <a:t>NA</a:t>
            </a:r>
            <a:br>
              <a:rPr lang="en-US" sz="2800" dirty="0"/>
            </a:br>
            <a:endParaRPr lang="en-US" sz="2800" dirty="0"/>
          </a:p>
        </p:txBody>
      </p:sp>
      <p:sp>
        <p:nvSpPr>
          <p:cNvPr id="19" name="TextBox 18">
            <a:extLst>
              <a:ext uri="{FF2B5EF4-FFF2-40B4-BE49-F238E27FC236}">
                <a16:creationId xmlns:a16="http://schemas.microsoft.com/office/drawing/2014/main" id="{63E7AB41-8E04-B090-5F11-788D621A10FC}"/>
              </a:ext>
            </a:extLst>
          </p:cNvPr>
          <p:cNvSpPr txBox="1"/>
          <p:nvPr/>
        </p:nvSpPr>
        <p:spPr>
          <a:xfrm>
            <a:off x="6096000" y="3737916"/>
            <a:ext cx="887136" cy="523220"/>
          </a:xfrm>
          <a:prstGeom prst="rect">
            <a:avLst/>
          </a:prstGeom>
          <a:noFill/>
        </p:spPr>
        <p:txBody>
          <a:bodyPr wrap="square">
            <a:spAutoFit/>
          </a:bodyPr>
          <a:lstStyle/>
          <a:p>
            <a:r>
              <a:rPr lang="en-US" sz="2800" dirty="0"/>
              <a:t>Add</a:t>
            </a:r>
          </a:p>
        </p:txBody>
      </p:sp>
      <p:sp>
        <p:nvSpPr>
          <p:cNvPr id="20" name="TextBox 19">
            <a:extLst>
              <a:ext uri="{FF2B5EF4-FFF2-40B4-BE49-F238E27FC236}">
                <a16:creationId xmlns:a16="http://schemas.microsoft.com/office/drawing/2014/main" id="{58E9C395-DF1A-72CB-9655-B13F742543DB}"/>
              </a:ext>
            </a:extLst>
          </p:cNvPr>
          <p:cNvSpPr txBox="1"/>
          <p:nvPr/>
        </p:nvSpPr>
        <p:spPr>
          <a:xfrm>
            <a:off x="7793022" y="3737916"/>
            <a:ext cx="887136" cy="523220"/>
          </a:xfrm>
          <a:prstGeom prst="rect">
            <a:avLst/>
          </a:prstGeom>
          <a:noFill/>
        </p:spPr>
        <p:txBody>
          <a:bodyPr wrap="square">
            <a:spAutoFit/>
          </a:bodyPr>
          <a:lstStyle/>
          <a:p>
            <a:r>
              <a:rPr lang="en-US" sz="2800" dirty="0"/>
              <a:t>Sort</a:t>
            </a:r>
          </a:p>
        </p:txBody>
      </p:sp>
      <p:sp>
        <p:nvSpPr>
          <p:cNvPr id="21" name="TextBox 20">
            <a:extLst>
              <a:ext uri="{FF2B5EF4-FFF2-40B4-BE49-F238E27FC236}">
                <a16:creationId xmlns:a16="http://schemas.microsoft.com/office/drawing/2014/main" id="{5B320A55-CC49-260B-597A-46742AB10001}"/>
              </a:ext>
            </a:extLst>
          </p:cNvPr>
          <p:cNvSpPr txBox="1"/>
          <p:nvPr/>
        </p:nvSpPr>
        <p:spPr>
          <a:xfrm>
            <a:off x="6889345" y="2491421"/>
            <a:ext cx="1054911" cy="3539430"/>
          </a:xfrm>
          <a:prstGeom prst="rect">
            <a:avLst/>
          </a:prstGeom>
          <a:noFill/>
        </p:spPr>
        <p:txBody>
          <a:bodyPr wrap="square">
            <a:spAutoFit/>
          </a:bodyPr>
          <a:lstStyle/>
          <a:p>
            <a:r>
              <a:rPr lang="en-US" sz="2800" dirty="0"/>
              <a:t>A$B</a:t>
            </a:r>
            <a:br>
              <a:rPr lang="en-US" sz="2800" dirty="0"/>
            </a:br>
            <a:r>
              <a:rPr lang="en-US" sz="2800" dirty="0"/>
              <a:t>NA$</a:t>
            </a:r>
          </a:p>
          <a:p>
            <a:r>
              <a:rPr lang="en-US" sz="2800" dirty="0"/>
              <a:t>NAN</a:t>
            </a:r>
          </a:p>
          <a:p>
            <a:r>
              <a:rPr lang="en-US" sz="2800" dirty="0"/>
              <a:t>BAN</a:t>
            </a:r>
          </a:p>
          <a:p>
            <a:r>
              <a:rPr lang="en-US" sz="2800" dirty="0"/>
              <a:t>$BA</a:t>
            </a:r>
            <a:br>
              <a:rPr lang="en-US" sz="2800" dirty="0"/>
            </a:br>
            <a:r>
              <a:rPr lang="en-US" sz="2800" dirty="0"/>
              <a:t>ANA</a:t>
            </a:r>
            <a:br>
              <a:rPr lang="en-US" sz="2800" dirty="0"/>
            </a:br>
            <a:r>
              <a:rPr lang="en-US" sz="2800" dirty="0" err="1"/>
              <a:t>ANA</a:t>
            </a:r>
            <a:br>
              <a:rPr lang="en-US" sz="2800" dirty="0"/>
            </a:br>
            <a:endParaRPr lang="en-US" sz="2800" dirty="0"/>
          </a:p>
        </p:txBody>
      </p:sp>
      <p:sp>
        <p:nvSpPr>
          <p:cNvPr id="22" name="TextBox 21">
            <a:extLst>
              <a:ext uri="{FF2B5EF4-FFF2-40B4-BE49-F238E27FC236}">
                <a16:creationId xmlns:a16="http://schemas.microsoft.com/office/drawing/2014/main" id="{6F2DFCCC-13A9-8968-5123-2E5C6A244839}"/>
              </a:ext>
            </a:extLst>
          </p:cNvPr>
          <p:cNvSpPr txBox="1"/>
          <p:nvPr/>
        </p:nvSpPr>
        <p:spPr>
          <a:xfrm>
            <a:off x="8604657" y="2491421"/>
            <a:ext cx="1054911" cy="3539430"/>
          </a:xfrm>
          <a:prstGeom prst="rect">
            <a:avLst/>
          </a:prstGeom>
          <a:noFill/>
        </p:spPr>
        <p:txBody>
          <a:bodyPr wrap="square">
            <a:spAutoFit/>
          </a:bodyPr>
          <a:lstStyle/>
          <a:p>
            <a:r>
              <a:rPr lang="en-US" sz="2800" b="1" dirty="0"/>
              <a:t>$BA</a:t>
            </a:r>
            <a:br>
              <a:rPr lang="en-US" sz="2800" dirty="0"/>
            </a:br>
            <a:r>
              <a:rPr lang="en-US" sz="2800" dirty="0"/>
              <a:t>A$B</a:t>
            </a:r>
          </a:p>
          <a:p>
            <a:r>
              <a:rPr lang="en-US" sz="2800" dirty="0"/>
              <a:t>ANA</a:t>
            </a:r>
          </a:p>
          <a:p>
            <a:r>
              <a:rPr lang="en-US" sz="2800" dirty="0"/>
              <a:t>ANA</a:t>
            </a:r>
          </a:p>
          <a:p>
            <a:r>
              <a:rPr lang="en-US" sz="2800" dirty="0"/>
              <a:t>BAN</a:t>
            </a:r>
            <a:br>
              <a:rPr lang="en-US" sz="2800" dirty="0"/>
            </a:br>
            <a:r>
              <a:rPr lang="en-US" sz="2800" dirty="0"/>
              <a:t>NA$</a:t>
            </a:r>
            <a:br>
              <a:rPr lang="en-US" sz="2800" dirty="0"/>
            </a:br>
            <a:r>
              <a:rPr lang="en-US" sz="2800" dirty="0"/>
              <a:t>NAN</a:t>
            </a:r>
            <a:br>
              <a:rPr lang="en-US" sz="2800" dirty="0"/>
            </a:br>
            <a:endParaRPr lang="en-US" sz="2800" dirty="0"/>
          </a:p>
        </p:txBody>
      </p:sp>
      <p:sp>
        <p:nvSpPr>
          <p:cNvPr id="24" name="TextBox 23">
            <a:extLst>
              <a:ext uri="{FF2B5EF4-FFF2-40B4-BE49-F238E27FC236}">
                <a16:creationId xmlns:a16="http://schemas.microsoft.com/office/drawing/2014/main" id="{E7817149-19C9-D324-2B96-262AA5B6A65F}"/>
              </a:ext>
            </a:extLst>
          </p:cNvPr>
          <p:cNvSpPr txBox="1"/>
          <p:nvPr/>
        </p:nvSpPr>
        <p:spPr>
          <a:xfrm>
            <a:off x="9469531" y="3784083"/>
            <a:ext cx="887136" cy="523220"/>
          </a:xfrm>
          <a:prstGeom prst="rect">
            <a:avLst/>
          </a:prstGeom>
          <a:noFill/>
        </p:spPr>
        <p:txBody>
          <a:bodyPr wrap="square">
            <a:spAutoFit/>
          </a:bodyPr>
          <a:lstStyle/>
          <a:p>
            <a:r>
              <a:rPr lang="en-US" sz="2800" dirty="0"/>
              <a:t>Add</a:t>
            </a:r>
          </a:p>
        </p:txBody>
      </p:sp>
      <p:sp>
        <p:nvSpPr>
          <p:cNvPr id="25" name="TextBox 24">
            <a:extLst>
              <a:ext uri="{FF2B5EF4-FFF2-40B4-BE49-F238E27FC236}">
                <a16:creationId xmlns:a16="http://schemas.microsoft.com/office/drawing/2014/main" id="{67E33221-BD95-CC36-FF18-87459952E567}"/>
              </a:ext>
            </a:extLst>
          </p:cNvPr>
          <p:cNvSpPr txBox="1"/>
          <p:nvPr/>
        </p:nvSpPr>
        <p:spPr>
          <a:xfrm>
            <a:off x="10319969" y="2491421"/>
            <a:ext cx="1533675" cy="3539430"/>
          </a:xfrm>
          <a:prstGeom prst="rect">
            <a:avLst/>
          </a:prstGeom>
          <a:noFill/>
        </p:spPr>
        <p:txBody>
          <a:bodyPr wrap="square">
            <a:spAutoFit/>
          </a:bodyPr>
          <a:lstStyle/>
          <a:p>
            <a:r>
              <a:rPr lang="en-US" sz="2800" dirty="0"/>
              <a:t>A$BA</a:t>
            </a:r>
            <a:br>
              <a:rPr lang="en-US" sz="2800" dirty="0"/>
            </a:br>
            <a:r>
              <a:rPr lang="en-US" sz="2800" dirty="0"/>
              <a:t>NA$B</a:t>
            </a:r>
          </a:p>
          <a:p>
            <a:r>
              <a:rPr lang="en-US" sz="2800" dirty="0"/>
              <a:t>NANA</a:t>
            </a:r>
          </a:p>
          <a:p>
            <a:r>
              <a:rPr lang="en-US" sz="2800" dirty="0"/>
              <a:t>BANA</a:t>
            </a:r>
          </a:p>
          <a:p>
            <a:r>
              <a:rPr lang="en-US" sz="2800" dirty="0"/>
              <a:t>$BAN</a:t>
            </a:r>
            <a:br>
              <a:rPr lang="en-US" sz="2800" dirty="0"/>
            </a:br>
            <a:r>
              <a:rPr lang="en-US" sz="2800" dirty="0"/>
              <a:t>ANA$</a:t>
            </a:r>
            <a:br>
              <a:rPr lang="en-US" sz="2800" dirty="0"/>
            </a:br>
            <a:r>
              <a:rPr lang="en-US" sz="2800" dirty="0"/>
              <a:t>ANAN</a:t>
            </a:r>
            <a:br>
              <a:rPr lang="en-US" sz="2800" dirty="0"/>
            </a:br>
            <a:endParaRPr lang="en-US" sz="2800" dirty="0"/>
          </a:p>
        </p:txBody>
      </p:sp>
    </p:spTree>
    <p:extLst>
      <p:ext uri="{BB962C8B-B14F-4D97-AF65-F5344CB8AC3E}">
        <p14:creationId xmlns:p14="http://schemas.microsoft.com/office/powerpoint/2010/main" val="4108398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007F2-72E2-B08A-13F6-3D0F7691D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573F2-23D4-2035-62E5-37EDA0F10558}"/>
              </a:ext>
            </a:extLst>
          </p:cNvPr>
          <p:cNvSpPr>
            <a:spLocks noGrp="1"/>
          </p:cNvSpPr>
          <p:nvPr>
            <p:ph type="title"/>
          </p:nvPr>
        </p:nvSpPr>
        <p:spPr/>
        <p:txBody>
          <a:bodyPr>
            <a:normAutofit fontScale="90000"/>
          </a:bodyPr>
          <a:lstStyle/>
          <a:p>
            <a:r>
              <a:rPr lang="en-US" dirty="0"/>
              <a:t>BWT reversibility</a:t>
            </a:r>
          </a:p>
        </p:txBody>
      </p:sp>
      <p:sp>
        <p:nvSpPr>
          <p:cNvPr id="4" name="Slide Number Placeholder 3">
            <a:extLst>
              <a:ext uri="{FF2B5EF4-FFF2-40B4-BE49-F238E27FC236}">
                <a16:creationId xmlns:a16="http://schemas.microsoft.com/office/drawing/2014/main" id="{BC50FF91-E3E6-E1F0-4696-6534D79E0301}"/>
              </a:ext>
            </a:extLst>
          </p:cNvPr>
          <p:cNvSpPr>
            <a:spLocks noGrp="1"/>
          </p:cNvSpPr>
          <p:nvPr>
            <p:ph type="sldNum" sz="quarter" idx="12"/>
          </p:nvPr>
        </p:nvSpPr>
        <p:spPr/>
        <p:txBody>
          <a:bodyPr/>
          <a:lstStyle/>
          <a:p>
            <a:fld id="{B82CCC60-E8CD-4174-8B1A-7DF615B22EEF}" type="slidenum">
              <a:rPr lang="en-US" smtClean="0"/>
              <a:pPr/>
              <a:t>24</a:t>
            </a:fld>
            <a:endParaRPr lang="en-US"/>
          </a:p>
        </p:txBody>
      </p:sp>
      <p:sp>
        <p:nvSpPr>
          <p:cNvPr id="12" name="TextBox 11">
            <a:extLst>
              <a:ext uri="{FF2B5EF4-FFF2-40B4-BE49-F238E27FC236}">
                <a16:creationId xmlns:a16="http://schemas.microsoft.com/office/drawing/2014/main" id="{B87F7AB5-CA88-137B-531A-9428B3A3179E}"/>
              </a:ext>
            </a:extLst>
          </p:cNvPr>
          <p:cNvSpPr txBox="1"/>
          <p:nvPr/>
        </p:nvSpPr>
        <p:spPr>
          <a:xfrm>
            <a:off x="1361114" y="3784083"/>
            <a:ext cx="887136" cy="523220"/>
          </a:xfrm>
          <a:prstGeom prst="rect">
            <a:avLst/>
          </a:prstGeom>
          <a:noFill/>
        </p:spPr>
        <p:txBody>
          <a:bodyPr wrap="square">
            <a:spAutoFit/>
          </a:bodyPr>
          <a:lstStyle/>
          <a:p>
            <a:r>
              <a:rPr lang="en-US" sz="2800" dirty="0"/>
              <a:t>Sort</a:t>
            </a:r>
          </a:p>
        </p:txBody>
      </p:sp>
      <p:sp>
        <p:nvSpPr>
          <p:cNvPr id="14" name="TextBox 13">
            <a:extLst>
              <a:ext uri="{FF2B5EF4-FFF2-40B4-BE49-F238E27FC236}">
                <a16:creationId xmlns:a16="http://schemas.microsoft.com/office/drawing/2014/main" id="{6909084A-979A-A2C8-1290-F8F8FE7B739A}"/>
              </a:ext>
            </a:extLst>
          </p:cNvPr>
          <p:cNvSpPr txBox="1"/>
          <p:nvPr/>
        </p:nvSpPr>
        <p:spPr>
          <a:xfrm>
            <a:off x="6733233" y="3784083"/>
            <a:ext cx="887136" cy="523220"/>
          </a:xfrm>
          <a:prstGeom prst="rect">
            <a:avLst/>
          </a:prstGeom>
          <a:noFill/>
        </p:spPr>
        <p:txBody>
          <a:bodyPr wrap="square">
            <a:spAutoFit/>
          </a:bodyPr>
          <a:lstStyle/>
          <a:p>
            <a:r>
              <a:rPr lang="en-US" sz="2800" dirty="0"/>
              <a:t>Add</a:t>
            </a:r>
          </a:p>
        </p:txBody>
      </p:sp>
      <p:sp>
        <p:nvSpPr>
          <p:cNvPr id="17" name="TextBox 16">
            <a:extLst>
              <a:ext uri="{FF2B5EF4-FFF2-40B4-BE49-F238E27FC236}">
                <a16:creationId xmlns:a16="http://schemas.microsoft.com/office/drawing/2014/main" id="{2E47B51E-D389-7DBE-A330-72B92CB1FED9}"/>
              </a:ext>
            </a:extLst>
          </p:cNvPr>
          <p:cNvSpPr txBox="1"/>
          <p:nvPr/>
        </p:nvSpPr>
        <p:spPr>
          <a:xfrm>
            <a:off x="4874962" y="3784083"/>
            <a:ext cx="887136" cy="523220"/>
          </a:xfrm>
          <a:prstGeom prst="rect">
            <a:avLst/>
          </a:prstGeom>
          <a:noFill/>
        </p:spPr>
        <p:txBody>
          <a:bodyPr wrap="square">
            <a:spAutoFit/>
          </a:bodyPr>
          <a:lstStyle/>
          <a:p>
            <a:r>
              <a:rPr lang="en-US" sz="2800" dirty="0"/>
              <a:t>Sort</a:t>
            </a:r>
          </a:p>
        </p:txBody>
      </p:sp>
      <p:sp>
        <p:nvSpPr>
          <p:cNvPr id="20" name="TextBox 19">
            <a:extLst>
              <a:ext uri="{FF2B5EF4-FFF2-40B4-BE49-F238E27FC236}">
                <a16:creationId xmlns:a16="http://schemas.microsoft.com/office/drawing/2014/main" id="{8D9DD3AB-56FF-CDE8-C2F6-1CFBCDC4D73B}"/>
              </a:ext>
            </a:extLst>
          </p:cNvPr>
          <p:cNvSpPr txBox="1"/>
          <p:nvPr/>
        </p:nvSpPr>
        <p:spPr>
          <a:xfrm>
            <a:off x="8882922" y="3784083"/>
            <a:ext cx="887136" cy="523220"/>
          </a:xfrm>
          <a:prstGeom prst="rect">
            <a:avLst/>
          </a:prstGeom>
          <a:noFill/>
        </p:spPr>
        <p:txBody>
          <a:bodyPr wrap="square">
            <a:spAutoFit/>
          </a:bodyPr>
          <a:lstStyle/>
          <a:p>
            <a:r>
              <a:rPr lang="en-US" sz="2800" dirty="0"/>
              <a:t>Sort</a:t>
            </a:r>
          </a:p>
        </p:txBody>
      </p:sp>
      <p:sp>
        <p:nvSpPr>
          <p:cNvPr id="24" name="TextBox 23">
            <a:extLst>
              <a:ext uri="{FF2B5EF4-FFF2-40B4-BE49-F238E27FC236}">
                <a16:creationId xmlns:a16="http://schemas.microsoft.com/office/drawing/2014/main" id="{19CEAE41-ACEE-A5A3-4754-667817545670}"/>
              </a:ext>
            </a:extLst>
          </p:cNvPr>
          <p:cNvSpPr txBox="1"/>
          <p:nvPr/>
        </p:nvSpPr>
        <p:spPr>
          <a:xfrm>
            <a:off x="3016691" y="3784083"/>
            <a:ext cx="887136" cy="523220"/>
          </a:xfrm>
          <a:prstGeom prst="rect">
            <a:avLst/>
          </a:prstGeom>
          <a:noFill/>
        </p:spPr>
        <p:txBody>
          <a:bodyPr wrap="square">
            <a:spAutoFit/>
          </a:bodyPr>
          <a:lstStyle/>
          <a:p>
            <a:r>
              <a:rPr lang="en-US" sz="2800" dirty="0"/>
              <a:t>Add</a:t>
            </a:r>
          </a:p>
        </p:txBody>
      </p:sp>
      <p:sp>
        <p:nvSpPr>
          <p:cNvPr id="25" name="TextBox 24">
            <a:extLst>
              <a:ext uri="{FF2B5EF4-FFF2-40B4-BE49-F238E27FC236}">
                <a16:creationId xmlns:a16="http://schemas.microsoft.com/office/drawing/2014/main" id="{E60A4FBA-B9FB-705E-7A55-46FD02AEB31C}"/>
              </a:ext>
            </a:extLst>
          </p:cNvPr>
          <p:cNvSpPr txBox="1"/>
          <p:nvPr/>
        </p:nvSpPr>
        <p:spPr>
          <a:xfrm>
            <a:off x="381704" y="2491421"/>
            <a:ext cx="1533675" cy="3539430"/>
          </a:xfrm>
          <a:prstGeom prst="rect">
            <a:avLst/>
          </a:prstGeom>
          <a:noFill/>
        </p:spPr>
        <p:txBody>
          <a:bodyPr wrap="square">
            <a:spAutoFit/>
          </a:bodyPr>
          <a:lstStyle/>
          <a:p>
            <a:r>
              <a:rPr lang="en-US" sz="2800" dirty="0"/>
              <a:t>A$BA</a:t>
            </a:r>
            <a:br>
              <a:rPr lang="en-US" sz="2800" dirty="0"/>
            </a:br>
            <a:r>
              <a:rPr lang="en-US" sz="2800" dirty="0"/>
              <a:t>NA$B</a:t>
            </a:r>
          </a:p>
          <a:p>
            <a:r>
              <a:rPr lang="en-US" sz="2800" dirty="0"/>
              <a:t>NANA</a:t>
            </a:r>
          </a:p>
          <a:p>
            <a:r>
              <a:rPr lang="en-US" sz="2800" dirty="0"/>
              <a:t>BANA</a:t>
            </a:r>
          </a:p>
          <a:p>
            <a:r>
              <a:rPr lang="en-US" sz="2800" dirty="0"/>
              <a:t>$BAN</a:t>
            </a:r>
            <a:br>
              <a:rPr lang="en-US" sz="2800" dirty="0"/>
            </a:br>
            <a:r>
              <a:rPr lang="en-US" sz="2800" dirty="0"/>
              <a:t>ANA$</a:t>
            </a:r>
            <a:br>
              <a:rPr lang="en-US" sz="2800" dirty="0"/>
            </a:br>
            <a:r>
              <a:rPr lang="en-US" sz="2800" dirty="0"/>
              <a:t>ANAN</a:t>
            </a:r>
            <a:br>
              <a:rPr lang="en-US" sz="2800" dirty="0"/>
            </a:br>
            <a:endParaRPr lang="en-US" sz="2800" dirty="0"/>
          </a:p>
        </p:txBody>
      </p:sp>
      <p:sp>
        <p:nvSpPr>
          <p:cNvPr id="3" name="TextBox 2">
            <a:extLst>
              <a:ext uri="{FF2B5EF4-FFF2-40B4-BE49-F238E27FC236}">
                <a16:creationId xmlns:a16="http://schemas.microsoft.com/office/drawing/2014/main" id="{7478B2F8-820B-D833-F9E9-6B33E9AB8B37}"/>
              </a:ext>
            </a:extLst>
          </p:cNvPr>
          <p:cNvSpPr txBox="1"/>
          <p:nvPr/>
        </p:nvSpPr>
        <p:spPr>
          <a:xfrm>
            <a:off x="2044516" y="2537588"/>
            <a:ext cx="1533675" cy="3539430"/>
          </a:xfrm>
          <a:prstGeom prst="rect">
            <a:avLst/>
          </a:prstGeom>
          <a:noFill/>
        </p:spPr>
        <p:txBody>
          <a:bodyPr wrap="square">
            <a:spAutoFit/>
          </a:bodyPr>
          <a:lstStyle/>
          <a:p>
            <a:r>
              <a:rPr lang="en-US" sz="2800" b="1" dirty="0"/>
              <a:t>$BAN</a:t>
            </a:r>
            <a:br>
              <a:rPr lang="en-US" sz="2800" dirty="0"/>
            </a:br>
            <a:r>
              <a:rPr lang="en-US" sz="2800" dirty="0"/>
              <a:t>A$BA</a:t>
            </a:r>
          </a:p>
          <a:p>
            <a:r>
              <a:rPr lang="en-US" sz="2800" dirty="0"/>
              <a:t>ANA$</a:t>
            </a:r>
          </a:p>
          <a:p>
            <a:r>
              <a:rPr lang="en-US" sz="2800" dirty="0"/>
              <a:t>ANAN</a:t>
            </a:r>
          </a:p>
          <a:p>
            <a:r>
              <a:rPr lang="en-US" sz="2800" dirty="0"/>
              <a:t>BANA</a:t>
            </a:r>
            <a:br>
              <a:rPr lang="en-US" sz="2800" dirty="0"/>
            </a:br>
            <a:r>
              <a:rPr lang="en-US" sz="2800" dirty="0"/>
              <a:t>NA$B</a:t>
            </a:r>
            <a:br>
              <a:rPr lang="en-US" sz="2800" dirty="0"/>
            </a:br>
            <a:r>
              <a:rPr lang="en-US" sz="2800" dirty="0"/>
              <a:t>NANA</a:t>
            </a:r>
            <a:br>
              <a:rPr lang="en-US" sz="2800" dirty="0"/>
            </a:br>
            <a:endParaRPr lang="en-US" sz="2800" dirty="0"/>
          </a:p>
        </p:txBody>
      </p:sp>
      <p:sp>
        <p:nvSpPr>
          <p:cNvPr id="6" name="TextBox 5">
            <a:extLst>
              <a:ext uri="{FF2B5EF4-FFF2-40B4-BE49-F238E27FC236}">
                <a16:creationId xmlns:a16="http://schemas.microsoft.com/office/drawing/2014/main" id="{57F18EEA-467F-F4E2-3B2F-53259FEF1F05}"/>
              </a:ext>
            </a:extLst>
          </p:cNvPr>
          <p:cNvSpPr txBox="1"/>
          <p:nvPr/>
        </p:nvSpPr>
        <p:spPr>
          <a:xfrm>
            <a:off x="3738718" y="2537588"/>
            <a:ext cx="1533675" cy="3539430"/>
          </a:xfrm>
          <a:prstGeom prst="rect">
            <a:avLst/>
          </a:prstGeom>
          <a:noFill/>
        </p:spPr>
        <p:txBody>
          <a:bodyPr wrap="square">
            <a:spAutoFit/>
          </a:bodyPr>
          <a:lstStyle/>
          <a:p>
            <a:r>
              <a:rPr lang="en-US" sz="2800" dirty="0"/>
              <a:t>A$BAN</a:t>
            </a:r>
            <a:br>
              <a:rPr lang="en-US" sz="2800" dirty="0"/>
            </a:br>
            <a:r>
              <a:rPr lang="en-US" sz="2800" dirty="0"/>
              <a:t>NA$BA</a:t>
            </a:r>
          </a:p>
          <a:p>
            <a:r>
              <a:rPr lang="en-US" sz="2800" dirty="0"/>
              <a:t>NANA$</a:t>
            </a:r>
          </a:p>
          <a:p>
            <a:r>
              <a:rPr lang="en-US" sz="2800" dirty="0"/>
              <a:t>BANAN</a:t>
            </a:r>
          </a:p>
          <a:p>
            <a:r>
              <a:rPr lang="en-US" sz="2800" dirty="0"/>
              <a:t>$BANA</a:t>
            </a:r>
            <a:br>
              <a:rPr lang="en-US" sz="2800" dirty="0"/>
            </a:br>
            <a:r>
              <a:rPr lang="en-US" sz="2800" dirty="0"/>
              <a:t>ANA$B</a:t>
            </a:r>
            <a:br>
              <a:rPr lang="en-US" sz="2800" dirty="0"/>
            </a:br>
            <a:r>
              <a:rPr lang="en-US" sz="2800" dirty="0"/>
              <a:t>ANANA</a:t>
            </a:r>
            <a:br>
              <a:rPr lang="en-US" sz="2800" dirty="0"/>
            </a:br>
            <a:endParaRPr lang="en-US" sz="2800" dirty="0"/>
          </a:p>
        </p:txBody>
      </p:sp>
      <p:sp>
        <p:nvSpPr>
          <p:cNvPr id="7" name="TextBox 6">
            <a:extLst>
              <a:ext uri="{FF2B5EF4-FFF2-40B4-BE49-F238E27FC236}">
                <a16:creationId xmlns:a16="http://schemas.microsoft.com/office/drawing/2014/main" id="{3A92FBA6-689D-F568-A119-627EEA83B05F}"/>
              </a:ext>
            </a:extLst>
          </p:cNvPr>
          <p:cNvSpPr txBox="1"/>
          <p:nvPr/>
        </p:nvSpPr>
        <p:spPr>
          <a:xfrm>
            <a:off x="7436198" y="2537588"/>
            <a:ext cx="1533675" cy="3539430"/>
          </a:xfrm>
          <a:prstGeom prst="rect">
            <a:avLst/>
          </a:prstGeom>
          <a:noFill/>
        </p:spPr>
        <p:txBody>
          <a:bodyPr wrap="square">
            <a:spAutoFit/>
          </a:bodyPr>
          <a:lstStyle/>
          <a:p>
            <a:r>
              <a:rPr lang="en-US" sz="2800" dirty="0"/>
              <a:t>A$BANA</a:t>
            </a:r>
          </a:p>
          <a:p>
            <a:r>
              <a:rPr lang="en-US" sz="2800" dirty="0"/>
              <a:t>NA$BAN</a:t>
            </a:r>
          </a:p>
          <a:p>
            <a:r>
              <a:rPr lang="en-US" sz="2800" dirty="0"/>
              <a:t>NANA$B</a:t>
            </a:r>
          </a:p>
          <a:p>
            <a:r>
              <a:rPr lang="en-US" sz="2800" dirty="0"/>
              <a:t>BANANA</a:t>
            </a:r>
          </a:p>
          <a:p>
            <a:r>
              <a:rPr lang="en-US" sz="2800" dirty="0"/>
              <a:t>$BANAN</a:t>
            </a:r>
            <a:br>
              <a:rPr lang="en-US" sz="2800" dirty="0"/>
            </a:br>
            <a:r>
              <a:rPr lang="en-US" sz="2800" dirty="0"/>
              <a:t>ANA$BA</a:t>
            </a:r>
            <a:br>
              <a:rPr lang="en-US" sz="2800" dirty="0"/>
            </a:br>
            <a:r>
              <a:rPr lang="en-US" sz="2800" dirty="0"/>
              <a:t>ANANA$</a:t>
            </a:r>
            <a:br>
              <a:rPr lang="en-US" sz="2800" dirty="0"/>
            </a:br>
            <a:endParaRPr lang="en-US" sz="2800" dirty="0"/>
          </a:p>
        </p:txBody>
      </p:sp>
      <p:sp>
        <p:nvSpPr>
          <p:cNvPr id="8" name="TextBox 7">
            <a:extLst>
              <a:ext uri="{FF2B5EF4-FFF2-40B4-BE49-F238E27FC236}">
                <a16:creationId xmlns:a16="http://schemas.microsoft.com/office/drawing/2014/main" id="{E3BE4387-2E67-9944-3B07-7C234340C350}"/>
              </a:ext>
            </a:extLst>
          </p:cNvPr>
          <p:cNvSpPr txBox="1"/>
          <p:nvPr/>
        </p:nvSpPr>
        <p:spPr>
          <a:xfrm>
            <a:off x="5545906" y="2537588"/>
            <a:ext cx="1533675" cy="3539430"/>
          </a:xfrm>
          <a:prstGeom prst="rect">
            <a:avLst/>
          </a:prstGeom>
          <a:noFill/>
        </p:spPr>
        <p:txBody>
          <a:bodyPr wrap="square">
            <a:spAutoFit/>
          </a:bodyPr>
          <a:lstStyle/>
          <a:p>
            <a:r>
              <a:rPr lang="en-US" sz="2800" b="1" dirty="0"/>
              <a:t>$BANA</a:t>
            </a:r>
          </a:p>
          <a:p>
            <a:r>
              <a:rPr lang="en-US" sz="2800" dirty="0"/>
              <a:t>A$BAN</a:t>
            </a:r>
          </a:p>
          <a:p>
            <a:r>
              <a:rPr lang="en-US" sz="2800" dirty="0"/>
              <a:t>ANA$B</a:t>
            </a:r>
          </a:p>
          <a:p>
            <a:r>
              <a:rPr lang="en-US" sz="2800" dirty="0"/>
              <a:t>ANANA</a:t>
            </a:r>
          </a:p>
          <a:p>
            <a:r>
              <a:rPr lang="en-US" sz="2800" dirty="0"/>
              <a:t>BANAN</a:t>
            </a:r>
            <a:br>
              <a:rPr lang="en-US" sz="2800" dirty="0"/>
            </a:br>
            <a:r>
              <a:rPr lang="en-US" sz="2800" dirty="0"/>
              <a:t>NA$BA</a:t>
            </a:r>
            <a:br>
              <a:rPr lang="en-US" sz="2800" dirty="0"/>
            </a:br>
            <a:r>
              <a:rPr lang="en-US" sz="2800" dirty="0"/>
              <a:t>NANA$</a:t>
            </a:r>
            <a:br>
              <a:rPr lang="en-US" sz="2800" dirty="0"/>
            </a:br>
            <a:endParaRPr lang="en-US" sz="2800" dirty="0"/>
          </a:p>
        </p:txBody>
      </p:sp>
      <p:sp>
        <p:nvSpPr>
          <p:cNvPr id="9" name="TextBox 8">
            <a:extLst>
              <a:ext uri="{FF2B5EF4-FFF2-40B4-BE49-F238E27FC236}">
                <a16:creationId xmlns:a16="http://schemas.microsoft.com/office/drawing/2014/main" id="{F74EF655-2349-7823-8546-7877258DF4CB}"/>
              </a:ext>
            </a:extLst>
          </p:cNvPr>
          <p:cNvSpPr txBox="1"/>
          <p:nvPr/>
        </p:nvSpPr>
        <p:spPr>
          <a:xfrm>
            <a:off x="9770058" y="2537588"/>
            <a:ext cx="1533675" cy="3539430"/>
          </a:xfrm>
          <a:prstGeom prst="rect">
            <a:avLst/>
          </a:prstGeom>
          <a:noFill/>
        </p:spPr>
        <p:txBody>
          <a:bodyPr wrap="square">
            <a:spAutoFit/>
          </a:bodyPr>
          <a:lstStyle/>
          <a:p>
            <a:r>
              <a:rPr lang="en-US" sz="2800" b="1" dirty="0"/>
              <a:t>$BANAN</a:t>
            </a:r>
          </a:p>
          <a:p>
            <a:r>
              <a:rPr lang="en-US" sz="2800" dirty="0"/>
              <a:t>A$BANA</a:t>
            </a:r>
          </a:p>
          <a:p>
            <a:r>
              <a:rPr lang="en-US" sz="2800" dirty="0"/>
              <a:t>ANA$BA</a:t>
            </a:r>
          </a:p>
          <a:p>
            <a:r>
              <a:rPr lang="en-US" sz="2800" dirty="0"/>
              <a:t>ANANA$</a:t>
            </a:r>
          </a:p>
          <a:p>
            <a:r>
              <a:rPr lang="en-US" sz="2800" dirty="0"/>
              <a:t>BANANA</a:t>
            </a:r>
            <a:br>
              <a:rPr lang="en-US" sz="2800" dirty="0"/>
            </a:br>
            <a:r>
              <a:rPr lang="en-US" sz="2800" dirty="0"/>
              <a:t>NA$BAN</a:t>
            </a:r>
            <a:br>
              <a:rPr lang="en-US" sz="2800" dirty="0"/>
            </a:br>
            <a:r>
              <a:rPr lang="en-US" sz="2800" dirty="0"/>
              <a:t>NANA$B</a:t>
            </a:r>
            <a:br>
              <a:rPr lang="en-US" sz="2800" dirty="0"/>
            </a:br>
            <a:endParaRPr lang="en-US" sz="2800" dirty="0"/>
          </a:p>
        </p:txBody>
      </p:sp>
    </p:spTree>
    <p:extLst>
      <p:ext uri="{BB962C8B-B14F-4D97-AF65-F5344CB8AC3E}">
        <p14:creationId xmlns:p14="http://schemas.microsoft.com/office/powerpoint/2010/main" val="399412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66F39-3305-2BE8-D2BD-8AD56D4CD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27C80-AA1E-F416-1824-7950A7E5EFED}"/>
              </a:ext>
            </a:extLst>
          </p:cNvPr>
          <p:cNvSpPr>
            <a:spLocks noGrp="1"/>
          </p:cNvSpPr>
          <p:nvPr>
            <p:ph type="title"/>
          </p:nvPr>
        </p:nvSpPr>
        <p:spPr/>
        <p:txBody>
          <a:bodyPr>
            <a:normAutofit fontScale="90000"/>
          </a:bodyPr>
          <a:lstStyle/>
          <a:p>
            <a:r>
              <a:rPr lang="en-US" dirty="0"/>
              <a:t>BWT reversibility</a:t>
            </a:r>
          </a:p>
        </p:txBody>
      </p:sp>
      <p:sp>
        <p:nvSpPr>
          <p:cNvPr id="4" name="Slide Number Placeholder 3">
            <a:extLst>
              <a:ext uri="{FF2B5EF4-FFF2-40B4-BE49-F238E27FC236}">
                <a16:creationId xmlns:a16="http://schemas.microsoft.com/office/drawing/2014/main" id="{2CC6B78E-84F2-0A23-5514-D494B16CE506}"/>
              </a:ext>
            </a:extLst>
          </p:cNvPr>
          <p:cNvSpPr>
            <a:spLocks noGrp="1"/>
          </p:cNvSpPr>
          <p:nvPr>
            <p:ph type="sldNum" sz="quarter" idx="12"/>
          </p:nvPr>
        </p:nvSpPr>
        <p:spPr/>
        <p:txBody>
          <a:bodyPr/>
          <a:lstStyle/>
          <a:p>
            <a:fld id="{B82CCC60-E8CD-4174-8B1A-7DF615B22EEF}" type="slidenum">
              <a:rPr lang="en-US" smtClean="0"/>
              <a:pPr/>
              <a:t>25</a:t>
            </a:fld>
            <a:endParaRPr lang="en-US"/>
          </a:p>
        </p:txBody>
      </p:sp>
      <p:sp>
        <p:nvSpPr>
          <p:cNvPr id="12" name="TextBox 11">
            <a:extLst>
              <a:ext uri="{FF2B5EF4-FFF2-40B4-BE49-F238E27FC236}">
                <a16:creationId xmlns:a16="http://schemas.microsoft.com/office/drawing/2014/main" id="{B1708988-4303-EB52-87F3-E3F22FA1C26B}"/>
              </a:ext>
            </a:extLst>
          </p:cNvPr>
          <p:cNvSpPr txBox="1"/>
          <p:nvPr/>
        </p:nvSpPr>
        <p:spPr>
          <a:xfrm>
            <a:off x="3003470" y="3796223"/>
            <a:ext cx="887136" cy="523220"/>
          </a:xfrm>
          <a:prstGeom prst="rect">
            <a:avLst/>
          </a:prstGeom>
          <a:noFill/>
        </p:spPr>
        <p:txBody>
          <a:bodyPr wrap="square">
            <a:spAutoFit/>
          </a:bodyPr>
          <a:lstStyle/>
          <a:p>
            <a:r>
              <a:rPr lang="en-US" sz="2800" dirty="0"/>
              <a:t>Sort</a:t>
            </a:r>
          </a:p>
        </p:txBody>
      </p:sp>
      <p:sp>
        <p:nvSpPr>
          <p:cNvPr id="24" name="TextBox 23">
            <a:extLst>
              <a:ext uri="{FF2B5EF4-FFF2-40B4-BE49-F238E27FC236}">
                <a16:creationId xmlns:a16="http://schemas.microsoft.com/office/drawing/2014/main" id="{B5467DAC-F1B0-551E-7BBE-F34E657844F1}"/>
              </a:ext>
            </a:extLst>
          </p:cNvPr>
          <p:cNvSpPr txBox="1"/>
          <p:nvPr/>
        </p:nvSpPr>
        <p:spPr>
          <a:xfrm>
            <a:off x="444699" y="3796223"/>
            <a:ext cx="887136" cy="523220"/>
          </a:xfrm>
          <a:prstGeom prst="rect">
            <a:avLst/>
          </a:prstGeom>
          <a:noFill/>
        </p:spPr>
        <p:txBody>
          <a:bodyPr wrap="square">
            <a:spAutoFit/>
          </a:bodyPr>
          <a:lstStyle/>
          <a:p>
            <a:r>
              <a:rPr lang="en-US" sz="2800" dirty="0"/>
              <a:t>Add</a:t>
            </a:r>
          </a:p>
        </p:txBody>
      </p:sp>
      <p:sp>
        <p:nvSpPr>
          <p:cNvPr id="9" name="TextBox 8">
            <a:extLst>
              <a:ext uri="{FF2B5EF4-FFF2-40B4-BE49-F238E27FC236}">
                <a16:creationId xmlns:a16="http://schemas.microsoft.com/office/drawing/2014/main" id="{B27FCFD2-B776-6410-2DB9-3CC7001EFC8D}"/>
              </a:ext>
            </a:extLst>
          </p:cNvPr>
          <p:cNvSpPr txBox="1"/>
          <p:nvPr/>
        </p:nvSpPr>
        <p:spPr>
          <a:xfrm>
            <a:off x="1423474" y="2638260"/>
            <a:ext cx="1764167" cy="3539430"/>
          </a:xfrm>
          <a:prstGeom prst="rect">
            <a:avLst/>
          </a:prstGeom>
          <a:noFill/>
        </p:spPr>
        <p:txBody>
          <a:bodyPr wrap="square">
            <a:spAutoFit/>
          </a:bodyPr>
          <a:lstStyle/>
          <a:p>
            <a:r>
              <a:rPr lang="en-US" sz="2800" dirty="0"/>
              <a:t>A$BANAN</a:t>
            </a:r>
          </a:p>
          <a:p>
            <a:r>
              <a:rPr lang="en-US" sz="2800" dirty="0"/>
              <a:t>NA$BANA</a:t>
            </a:r>
          </a:p>
          <a:p>
            <a:r>
              <a:rPr lang="en-US" sz="2800" dirty="0"/>
              <a:t>NANA$BA</a:t>
            </a:r>
          </a:p>
          <a:p>
            <a:r>
              <a:rPr lang="en-US" sz="2800" dirty="0"/>
              <a:t>BANANA$</a:t>
            </a:r>
          </a:p>
          <a:p>
            <a:r>
              <a:rPr lang="en-US" sz="2800" dirty="0"/>
              <a:t>$BANANA</a:t>
            </a:r>
            <a:br>
              <a:rPr lang="en-US" sz="2800" dirty="0"/>
            </a:br>
            <a:r>
              <a:rPr lang="en-US" sz="2800" dirty="0"/>
              <a:t>ANA$BAN</a:t>
            </a:r>
            <a:br>
              <a:rPr lang="en-US" sz="2800" dirty="0"/>
            </a:br>
            <a:r>
              <a:rPr lang="en-US" sz="2800" dirty="0"/>
              <a:t>ANANA$B</a:t>
            </a:r>
            <a:br>
              <a:rPr lang="en-US" sz="2800" dirty="0"/>
            </a:br>
            <a:endParaRPr lang="en-US" sz="2800" dirty="0"/>
          </a:p>
        </p:txBody>
      </p:sp>
      <p:sp>
        <p:nvSpPr>
          <p:cNvPr id="5" name="TextBox 4">
            <a:extLst>
              <a:ext uri="{FF2B5EF4-FFF2-40B4-BE49-F238E27FC236}">
                <a16:creationId xmlns:a16="http://schemas.microsoft.com/office/drawing/2014/main" id="{425FADEA-4332-FA9F-858F-5A4DB07B35DE}"/>
              </a:ext>
            </a:extLst>
          </p:cNvPr>
          <p:cNvSpPr txBox="1"/>
          <p:nvPr/>
        </p:nvSpPr>
        <p:spPr>
          <a:xfrm>
            <a:off x="3816225" y="2638260"/>
            <a:ext cx="1764167" cy="3539430"/>
          </a:xfrm>
          <a:prstGeom prst="rect">
            <a:avLst/>
          </a:prstGeom>
          <a:noFill/>
        </p:spPr>
        <p:txBody>
          <a:bodyPr wrap="square">
            <a:spAutoFit/>
          </a:bodyPr>
          <a:lstStyle/>
          <a:p>
            <a:r>
              <a:rPr lang="en-US" sz="2800" b="1" dirty="0"/>
              <a:t>$BANANA</a:t>
            </a:r>
          </a:p>
          <a:p>
            <a:r>
              <a:rPr lang="en-US" sz="2800" dirty="0"/>
              <a:t>A$BANAN</a:t>
            </a:r>
          </a:p>
          <a:p>
            <a:r>
              <a:rPr lang="en-US" sz="2800" dirty="0"/>
              <a:t>ANA$BAN</a:t>
            </a:r>
          </a:p>
          <a:p>
            <a:r>
              <a:rPr lang="en-US" sz="2800" dirty="0"/>
              <a:t>ANANA$B</a:t>
            </a:r>
          </a:p>
          <a:p>
            <a:r>
              <a:rPr lang="en-US" sz="2800" dirty="0"/>
              <a:t>BANANA$</a:t>
            </a:r>
            <a:br>
              <a:rPr lang="en-US" sz="2800" dirty="0"/>
            </a:br>
            <a:r>
              <a:rPr lang="en-US" sz="2800" dirty="0"/>
              <a:t>NA$BANA</a:t>
            </a:r>
            <a:br>
              <a:rPr lang="en-US" sz="2800" dirty="0"/>
            </a:br>
            <a:r>
              <a:rPr lang="en-US" sz="2800" dirty="0"/>
              <a:t>NANA$BA</a:t>
            </a:r>
            <a:br>
              <a:rPr lang="en-US" sz="2800" dirty="0"/>
            </a:br>
            <a:endParaRPr lang="en-US" sz="2800" dirty="0"/>
          </a:p>
        </p:txBody>
      </p:sp>
    </p:spTree>
    <p:extLst>
      <p:ext uri="{BB962C8B-B14F-4D97-AF65-F5344CB8AC3E}">
        <p14:creationId xmlns:p14="http://schemas.microsoft.com/office/powerpoint/2010/main" val="3197997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E4D62-C811-08DF-9CA3-129FB03EAC96}"/>
              </a:ext>
            </a:extLst>
          </p:cNvPr>
          <p:cNvSpPr>
            <a:spLocks noGrp="1"/>
          </p:cNvSpPr>
          <p:nvPr>
            <p:ph type="title"/>
          </p:nvPr>
        </p:nvSpPr>
        <p:spPr/>
        <p:txBody>
          <a:bodyPr>
            <a:normAutofit fontScale="90000"/>
          </a:bodyPr>
          <a:lstStyle/>
          <a:p>
            <a:r>
              <a:rPr lang="en-US" dirty="0"/>
              <a:t>Using BWT and SA for sequence alignments</a:t>
            </a:r>
          </a:p>
        </p:txBody>
      </p:sp>
      <p:sp>
        <p:nvSpPr>
          <p:cNvPr id="3" name="Content Placeholder 2">
            <a:extLst>
              <a:ext uri="{FF2B5EF4-FFF2-40B4-BE49-F238E27FC236}">
                <a16:creationId xmlns:a16="http://schemas.microsoft.com/office/drawing/2014/main" id="{5B389B47-CB4B-CCB8-A457-D90E52536E01}"/>
              </a:ext>
            </a:extLst>
          </p:cNvPr>
          <p:cNvSpPr>
            <a:spLocks noGrp="1"/>
          </p:cNvSpPr>
          <p:nvPr>
            <p:ph idx="1"/>
          </p:nvPr>
        </p:nvSpPr>
        <p:spPr/>
        <p:txBody>
          <a:bodyPr/>
          <a:lstStyle/>
          <a:p>
            <a:r>
              <a:rPr lang="en-US" dirty="0"/>
              <a:t>Reference sequence: CGATGCACCGGT:</a:t>
            </a:r>
            <a:br>
              <a:rPr lang="en-US" dirty="0"/>
            </a:br>
            <a:endParaRPr lang="en-US" dirty="0"/>
          </a:p>
        </p:txBody>
      </p:sp>
      <p:sp>
        <p:nvSpPr>
          <p:cNvPr id="4" name="Slide Number Placeholder 3">
            <a:extLst>
              <a:ext uri="{FF2B5EF4-FFF2-40B4-BE49-F238E27FC236}">
                <a16:creationId xmlns:a16="http://schemas.microsoft.com/office/drawing/2014/main" id="{BA44CDEC-BF33-CCFD-FCDC-31529F5F2868}"/>
              </a:ext>
            </a:extLst>
          </p:cNvPr>
          <p:cNvSpPr>
            <a:spLocks noGrp="1"/>
          </p:cNvSpPr>
          <p:nvPr>
            <p:ph type="sldNum" sz="quarter" idx="12"/>
          </p:nvPr>
        </p:nvSpPr>
        <p:spPr/>
        <p:txBody>
          <a:bodyPr/>
          <a:lstStyle/>
          <a:p>
            <a:fld id="{B82CCC60-E8CD-4174-8B1A-7DF615B22EEF}" type="slidenum">
              <a:rPr lang="en-US" smtClean="0"/>
              <a:pPr/>
              <a:t>26</a:t>
            </a:fld>
            <a:endParaRPr lang="en-US"/>
          </a:p>
        </p:txBody>
      </p:sp>
      <p:pic>
        <p:nvPicPr>
          <p:cNvPr id="6" name="Picture 5">
            <a:extLst>
              <a:ext uri="{FF2B5EF4-FFF2-40B4-BE49-F238E27FC236}">
                <a16:creationId xmlns:a16="http://schemas.microsoft.com/office/drawing/2014/main" id="{ADCFF68C-1427-2DAD-69F0-A5AB6368F1C8}"/>
              </a:ext>
            </a:extLst>
          </p:cNvPr>
          <p:cNvPicPr>
            <a:picLocks noChangeAspect="1"/>
          </p:cNvPicPr>
          <p:nvPr/>
        </p:nvPicPr>
        <p:blipFill>
          <a:blip r:embed="rId2"/>
          <a:stretch>
            <a:fillRect/>
          </a:stretch>
        </p:blipFill>
        <p:spPr>
          <a:xfrm>
            <a:off x="1593907" y="2129831"/>
            <a:ext cx="9521191" cy="4433931"/>
          </a:xfrm>
          <a:prstGeom prst="rect">
            <a:avLst/>
          </a:prstGeom>
        </p:spPr>
      </p:pic>
    </p:spTree>
    <p:extLst>
      <p:ext uri="{BB962C8B-B14F-4D97-AF65-F5344CB8AC3E}">
        <p14:creationId xmlns:p14="http://schemas.microsoft.com/office/powerpoint/2010/main" val="2444221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E0018-125E-3D48-F3AA-419D0A56F69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DEA772-876E-0F6C-C669-C1C0F5CBD243}"/>
              </a:ext>
            </a:extLst>
          </p:cNvPr>
          <p:cNvPicPr>
            <a:picLocks noChangeAspect="1"/>
          </p:cNvPicPr>
          <p:nvPr/>
        </p:nvPicPr>
        <p:blipFill>
          <a:blip r:embed="rId2"/>
          <a:stretch>
            <a:fillRect/>
          </a:stretch>
        </p:blipFill>
        <p:spPr>
          <a:xfrm>
            <a:off x="7589309" y="1342657"/>
            <a:ext cx="4124510" cy="4532326"/>
          </a:xfrm>
          <a:prstGeom prst="rect">
            <a:avLst/>
          </a:prstGeom>
        </p:spPr>
      </p:pic>
      <p:sp>
        <p:nvSpPr>
          <p:cNvPr id="2" name="Title 1">
            <a:extLst>
              <a:ext uri="{FF2B5EF4-FFF2-40B4-BE49-F238E27FC236}">
                <a16:creationId xmlns:a16="http://schemas.microsoft.com/office/drawing/2014/main" id="{59032071-4023-BA13-8CCC-AC2526A87F41}"/>
              </a:ext>
            </a:extLst>
          </p:cNvPr>
          <p:cNvSpPr>
            <a:spLocks noGrp="1"/>
          </p:cNvSpPr>
          <p:nvPr>
            <p:ph type="title"/>
          </p:nvPr>
        </p:nvSpPr>
        <p:spPr/>
        <p:txBody>
          <a:bodyPr>
            <a:normAutofit fontScale="90000"/>
          </a:bodyPr>
          <a:lstStyle/>
          <a:p>
            <a:r>
              <a:rPr lang="en-US" dirty="0"/>
              <a:t>Using BWT and SA for sequence alignments</a:t>
            </a:r>
          </a:p>
        </p:txBody>
      </p:sp>
      <p:sp>
        <p:nvSpPr>
          <p:cNvPr id="3" name="Content Placeholder 2">
            <a:extLst>
              <a:ext uri="{FF2B5EF4-FFF2-40B4-BE49-F238E27FC236}">
                <a16:creationId xmlns:a16="http://schemas.microsoft.com/office/drawing/2014/main" id="{D79697DA-CE98-A184-45D3-B1B3C0FEDA89}"/>
              </a:ext>
            </a:extLst>
          </p:cNvPr>
          <p:cNvSpPr>
            <a:spLocks noGrp="1"/>
          </p:cNvSpPr>
          <p:nvPr>
            <p:ph idx="1"/>
          </p:nvPr>
        </p:nvSpPr>
        <p:spPr/>
        <p:txBody>
          <a:bodyPr/>
          <a:lstStyle/>
          <a:p>
            <a:r>
              <a:rPr lang="en-US" dirty="0"/>
              <a:t>Reference sequence: CGATGCACCGGT,</a:t>
            </a:r>
          </a:p>
          <a:p>
            <a:r>
              <a:rPr lang="en-US" dirty="0"/>
              <a:t>Match read TGCA</a:t>
            </a:r>
          </a:p>
          <a:p>
            <a:r>
              <a:rPr lang="en-US" dirty="0"/>
              <a:t>Start at the end, look for A’s in the SA</a:t>
            </a:r>
          </a:p>
          <a:p>
            <a:r>
              <a:rPr lang="en-US" dirty="0"/>
              <a:t>Find which of the A’s are followed by C -- 1</a:t>
            </a:r>
            <a:r>
              <a:rPr lang="en-US" baseline="30000" dirty="0"/>
              <a:t>st</a:t>
            </a:r>
            <a:r>
              <a:rPr lang="en-US" dirty="0"/>
              <a:t> </a:t>
            </a:r>
            <a:br>
              <a:rPr lang="en-US" dirty="0"/>
            </a:br>
            <a:r>
              <a:rPr lang="en-US" dirty="0"/>
              <a:t>C in the BWT, look at the 1</a:t>
            </a:r>
            <a:r>
              <a:rPr lang="en-US" baseline="30000" dirty="0"/>
              <a:t>st</a:t>
            </a:r>
            <a:r>
              <a:rPr lang="en-US" dirty="0"/>
              <a:t> C in the SA</a:t>
            </a:r>
            <a:br>
              <a:rPr lang="en-US" dirty="0"/>
            </a:br>
            <a:endParaRPr lang="en-US" dirty="0"/>
          </a:p>
        </p:txBody>
      </p:sp>
      <p:sp>
        <p:nvSpPr>
          <p:cNvPr id="4" name="Slide Number Placeholder 3">
            <a:extLst>
              <a:ext uri="{FF2B5EF4-FFF2-40B4-BE49-F238E27FC236}">
                <a16:creationId xmlns:a16="http://schemas.microsoft.com/office/drawing/2014/main" id="{730DF5D4-4A38-7951-C5DD-7D10ADE0609E}"/>
              </a:ext>
            </a:extLst>
          </p:cNvPr>
          <p:cNvSpPr>
            <a:spLocks noGrp="1"/>
          </p:cNvSpPr>
          <p:nvPr>
            <p:ph type="sldNum" sz="quarter" idx="12"/>
          </p:nvPr>
        </p:nvSpPr>
        <p:spPr/>
        <p:txBody>
          <a:bodyPr/>
          <a:lstStyle/>
          <a:p>
            <a:fld id="{B82CCC60-E8CD-4174-8B1A-7DF615B22EEF}" type="slidenum">
              <a:rPr lang="en-US" smtClean="0"/>
              <a:pPr/>
              <a:t>27</a:t>
            </a:fld>
            <a:endParaRPr lang="en-US"/>
          </a:p>
        </p:txBody>
      </p:sp>
      <p:sp>
        <p:nvSpPr>
          <p:cNvPr id="8" name="Rectangle 7">
            <a:extLst>
              <a:ext uri="{FF2B5EF4-FFF2-40B4-BE49-F238E27FC236}">
                <a16:creationId xmlns:a16="http://schemas.microsoft.com/office/drawing/2014/main" id="{9595BCA6-AAB5-17BD-DF14-BD291C95A280}"/>
              </a:ext>
            </a:extLst>
          </p:cNvPr>
          <p:cNvSpPr/>
          <p:nvPr/>
        </p:nvSpPr>
        <p:spPr>
          <a:xfrm>
            <a:off x="9680895" y="1686187"/>
            <a:ext cx="2032924" cy="4865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92903A6-6FF9-3545-EE0A-672D4430EF78}"/>
              </a:ext>
            </a:extLst>
          </p:cNvPr>
          <p:cNvCxnSpPr/>
          <p:nvPr/>
        </p:nvCxnSpPr>
        <p:spPr>
          <a:xfrm flipH="1">
            <a:off x="10654018" y="1853967"/>
            <a:ext cx="780176" cy="43622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68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9A61E-BA6F-3B08-E39F-B2D2E7B085E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BBD046-823E-A8A7-ACD1-A6E887C8ACEF}"/>
              </a:ext>
            </a:extLst>
          </p:cNvPr>
          <p:cNvPicPr>
            <a:picLocks noChangeAspect="1"/>
          </p:cNvPicPr>
          <p:nvPr/>
        </p:nvPicPr>
        <p:blipFill>
          <a:blip r:embed="rId2"/>
          <a:stretch>
            <a:fillRect/>
          </a:stretch>
        </p:blipFill>
        <p:spPr>
          <a:xfrm>
            <a:off x="7589309" y="1342657"/>
            <a:ext cx="4124510" cy="4532326"/>
          </a:xfrm>
          <a:prstGeom prst="rect">
            <a:avLst/>
          </a:prstGeom>
        </p:spPr>
      </p:pic>
      <p:sp>
        <p:nvSpPr>
          <p:cNvPr id="2" name="Title 1">
            <a:extLst>
              <a:ext uri="{FF2B5EF4-FFF2-40B4-BE49-F238E27FC236}">
                <a16:creationId xmlns:a16="http://schemas.microsoft.com/office/drawing/2014/main" id="{A85B1431-5D64-F9FD-3470-80B8DAB77A75}"/>
              </a:ext>
            </a:extLst>
          </p:cNvPr>
          <p:cNvSpPr>
            <a:spLocks noGrp="1"/>
          </p:cNvSpPr>
          <p:nvPr>
            <p:ph type="title"/>
          </p:nvPr>
        </p:nvSpPr>
        <p:spPr/>
        <p:txBody>
          <a:bodyPr>
            <a:normAutofit fontScale="90000"/>
          </a:bodyPr>
          <a:lstStyle/>
          <a:p>
            <a:r>
              <a:rPr lang="en-US" dirty="0"/>
              <a:t>Using BWT and SA for sequence alignments</a:t>
            </a:r>
          </a:p>
        </p:txBody>
      </p:sp>
      <p:sp>
        <p:nvSpPr>
          <p:cNvPr id="3" name="Content Placeholder 2">
            <a:extLst>
              <a:ext uri="{FF2B5EF4-FFF2-40B4-BE49-F238E27FC236}">
                <a16:creationId xmlns:a16="http://schemas.microsoft.com/office/drawing/2014/main" id="{4B8D2E24-D3AE-F7CA-1CCB-0CAA7C6026AC}"/>
              </a:ext>
            </a:extLst>
          </p:cNvPr>
          <p:cNvSpPr>
            <a:spLocks noGrp="1"/>
          </p:cNvSpPr>
          <p:nvPr>
            <p:ph idx="1"/>
          </p:nvPr>
        </p:nvSpPr>
        <p:spPr/>
        <p:txBody>
          <a:bodyPr/>
          <a:lstStyle/>
          <a:p>
            <a:r>
              <a:rPr lang="en-US" dirty="0"/>
              <a:t>Reference sequence: CGATGCACCGGT,</a:t>
            </a:r>
          </a:p>
          <a:p>
            <a:r>
              <a:rPr lang="en-US" dirty="0"/>
              <a:t>Match read TGCA</a:t>
            </a:r>
          </a:p>
          <a:p>
            <a:r>
              <a:rPr lang="en-US" dirty="0"/>
              <a:t>Start at the end, look for A’s in the SA</a:t>
            </a:r>
          </a:p>
          <a:p>
            <a:r>
              <a:rPr lang="en-US" dirty="0"/>
              <a:t>Find which of the A’s are followed by C -- 1</a:t>
            </a:r>
            <a:r>
              <a:rPr lang="en-US" baseline="30000" dirty="0"/>
              <a:t>st</a:t>
            </a:r>
            <a:r>
              <a:rPr lang="en-US" dirty="0"/>
              <a:t> </a:t>
            </a:r>
            <a:br>
              <a:rPr lang="en-US" dirty="0"/>
            </a:br>
            <a:r>
              <a:rPr lang="en-US" dirty="0"/>
              <a:t>C in the BWT, look at the 1</a:t>
            </a:r>
            <a:r>
              <a:rPr lang="en-US" baseline="30000" dirty="0"/>
              <a:t>st</a:t>
            </a:r>
            <a:r>
              <a:rPr lang="en-US" dirty="0"/>
              <a:t> C in the SA</a:t>
            </a:r>
          </a:p>
          <a:p>
            <a:r>
              <a:rPr lang="en-US" dirty="0"/>
              <a:t>Is that C followed by a G -- yes, 2</a:t>
            </a:r>
            <a:r>
              <a:rPr lang="en-US" baseline="30000" dirty="0"/>
              <a:t>nd</a:t>
            </a:r>
            <a:r>
              <a:rPr lang="en-US" dirty="0"/>
              <a:t> G in the BWT</a:t>
            </a:r>
            <a:br>
              <a:rPr lang="en-US" dirty="0"/>
            </a:br>
            <a:endParaRPr lang="en-US" dirty="0"/>
          </a:p>
        </p:txBody>
      </p:sp>
      <p:sp>
        <p:nvSpPr>
          <p:cNvPr id="4" name="Slide Number Placeholder 3">
            <a:extLst>
              <a:ext uri="{FF2B5EF4-FFF2-40B4-BE49-F238E27FC236}">
                <a16:creationId xmlns:a16="http://schemas.microsoft.com/office/drawing/2014/main" id="{260E1A23-C98F-BD7F-CD5A-F6A76590CBE2}"/>
              </a:ext>
            </a:extLst>
          </p:cNvPr>
          <p:cNvSpPr>
            <a:spLocks noGrp="1"/>
          </p:cNvSpPr>
          <p:nvPr>
            <p:ph type="sldNum" sz="quarter" idx="12"/>
          </p:nvPr>
        </p:nvSpPr>
        <p:spPr/>
        <p:txBody>
          <a:bodyPr/>
          <a:lstStyle/>
          <a:p>
            <a:fld id="{B82CCC60-E8CD-4174-8B1A-7DF615B22EEF}" type="slidenum">
              <a:rPr lang="en-US" smtClean="0"/>
              <a:pPr/>
              <a:t>28</a:t>
            </a:fld>
            <a:endParaRPr lang="en-US"/>
          </a:p>
        </p:txBody>
      </p:sp>
      <p:sp>
        <p:nvSpPr>
          <p:cNvPr id="8" name="Rectangle 7">
            <a:extLst>
              <a:ext uri="{FF2B5EF4-FFF2-40B4-BE49-F238E27FC236}">
                <a16:creationId xmlns:a16="http://schemas.microsoft.com/office/drawing/2014/main" id="{1FCF98F0-25DD-D698-EDE0-E5E9AF9D02EC}"/>
              </a:ext>
            </a:extLst>
          </p:cNvPr>
          <p:cNvSpPr/>
          <p:nvPr/>
        </p:nvSpPr>
        <p:spPr>
          <a:xfrm>
            <a:off x="9680895" y="2226733"/>
            <a:ext cx="2032924" cy="1892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3CC73117-90AD-775C-7BE6-3256082C55D1}"/>
              </a:ext>
            </a:extLst>
          </p:cNvPr>
          <p:cNvCxnSpPr>
            <a:cxnSpLocks/>
          </p:cNvCxnSpPr>
          <p:nvPr/>
        </p:nvCxnSpPr>
        <p:spPr>
          <a:xfrm flipH="1">
            <a:off x="10637240" y="2290194"/>
            <a:ext cx="805343" cy="127512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938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A2044-2781-2DCF-07B4-19C810EC5CB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5EA1BC0-C8B1-92B8-0260-7014C22227BE}"/>
              </a:ext>
            </a:extLst>
          </p:cNvPr>
          <p:cNvPicPr>
            <a:picLocks noChangeAspect="1"/>
          </p:cNvPicPr>
          <p:nvPr/>
        </p:nvPicPr>
        <p:blipFill>
          <a:blip r:embed="rId2"/>
          <a:stretch>
            <a:fillRect/>
          </a:stretch>
        </p:blipFill>
        <p:spPr>
          <a:xfrm>
            <a:off x="7589309" y="1342657"/>
            <a:ext cx="4124510" cy="4532326"/>
          </a:xfrm>
          <a:prstGeom prst="rect">
            <a:avLst/>
          </a:prstGeom>
        </p:spPr>
      </p:pic>
      <p:sp>
        <p:nvSpPr>
          <p:cNvPr id="2" name="Title 1">
            <a:extLst>
              <a:ext uri="{FF2B5EF4-FFF2-40B4-BE49-F238E27FC236}">
                <a16:creationId xmlns:a16="http://schemas.microsoft.com/office/drawing/2014/main" id="{15A81074-FEB6-6C16-79F0-CB780D4067CC}"/>
              </a:ext>
            </a:extLst>
          </p:cNvPr>
          <p:cNvSpPr>
            <a:spLocks noGrp="1"/>
          </p:cNvSpPr>
          <p:nvPr>
            <p:ph type="title"/>
          </p:nvPr>
        </p:nvSpPr>
        <p:spPr/>
        <p:txBody>
          <a:bodyPr>
            <a:normAutofit fontScale="90000"/>
          </a:bodyPr>
          <a:lstStyle/>
          <a:p>
            <a:r>
              <a:rPr lang="en-US" dirty="0"/>
              <a:t>Using BWT and SA for sequence alignments</a:t>
            </a:r>
          </a:p>
        </p:txBody>
      </p:sp>
      <p:sp>
        <p:nvSpPr>
          <p:cNvPr id="3" name="Content Placeholder 2">
            <a:extLst>
              <a:ext uri="{FF2B5EF4-FFF2-40B4-BE49-F238E27FC236}">
                <a16:creationId xmlns:a16="http://schemas.microsoft.com/office/drawing/2014/main" id="{9950E557-F5DB-9DC8-9E90-5A27105FDDA6}"/>
              </a:ext>
            </a:extLst>
          </p:cNvPr>
          <p:cNvSpPr>
            <a:spLocks noGrp="1"/>
          </p:cNvSpPr>
          <p:nvPr>
            <p:ph idx="1"/>
          </p:nvPr>
        </p:nvSpPr>
        <p:spPr/>
        <p:txBody>
          <a:bodyPr>
            <a:normAutofit/>
          </a:bodyPr>
          <a:lstStyle/>
          <a:p>
            <a:r>
              <a:rPr lang="en-US" dirty="0"/>
              <a:t>Reference sequence: CGATGCACCGGT,</a:t>
            </a:r>
          </a:p>
          <a:p>
            <a:r>
              <a:rPr lang="en-US" dirty="0"/>
              <a:t>Match read TGCA</a:t>
            </a:r>
          </a:p>
          <a:p>
            <a:r>
              <a:rPr lang="en-US" dirty="0"/>
              <a:t>Start at the end, look for A’s in the SA</a:t>
            </a:r>
          </a:p>
          <a:p>
            <a:r>
              <a:rPr lang="en-US" dirty="0"/>
              <a:t>Find which of the A’s are followed by C -- 1</a:t>
            </a:r>
            <a:r>
              <a:rPr lang="en-US" baseline="30000" dirty="0"/>
              <a:t>st</a:t>
            </a:r>
            <a:r>
              <a:rPr lang="en-US" dirty="0"/>
              <a:t> </a:t>
            </a:r>
            <a:br>
              <a:rPr lang="en-US" dirty="0"/>
            </a:br>
            <a:r>
              <a:rPr lang="en-US" dirty="0"/>
              <a:t>C in the BWT, look at the 1</a:t>
            </a:r>
            <a:r>
              <a:rPr lang="en-US" baseline="30000" dirty="0"/>
              <a:t>st</a:t>
            </a:r>
            <a:r>
              <a:rPr lang="en-US" dirty="0"/>
              <a:t> C in the SA</a:t>
            </a:r>
          </a:p>
          <a:p>
            <a:r>
              <a:rPr lang="en-US" dirty="0"/>
              <a:t>Is that C followed by a G -- yes, 2</a:t>
            </a:r>
            <a:r>
              <a:rPr lang="en-US" baseline="30000" dirty="0"/>
              <a:t>nd</a:t>
            </a:r>
            <a:r>
              <a:rPr lang="en-US" dirty="0"/>
              <a:t> G in the BWT</a:t>
            </a:r>
          </a:p>
          <a:p>
            <a:r>
              <a:rPr lang="en-US" dirty="0"/>
              <a:t>Is the G followed by a T -- yes, 2</a:t>
            </a:r>
            <a:r>
              <a:rPr lang="en-US" baseline="30000" dirty="0"/>
              <a:t>nd</a:t>
            </a:r>
            <a:r>
              <a:rPr lang="en-US" dirty="0"/>
              <a:t> T in the BWT</a:t>
            </a:r>
          </a:p>
        </p:txBody>
      </p:sp>
      <p:sp>
        <p:nvSpPr>
          <p:cNvPr id="4" name="Slide Number Placeholder 3">
            <a:extLst>
              <a:ext uri="{FF2B5EF4-FFF2-40B4-BE49-F238E27FC236}">
                <a16:creationId xmlns:a16="http://schemas.microsoft.com/office/drawing/2014/main" id="{C05A9477-F3D8-4DF8-F412-817C9E069A85}"/>
              </a:ext>
            </a:extLst>
          </p:cNvPr>
          <p:cNvSpPr>
            <a:spLocks noGrp="1"/>
          </p:cNvSpPr>
          <p:nvPr>
            <p:ph type="sldNum" sz="quarter" idx="12"/>
          </p:nvPr>
        </p:nvSpPr>
        <p:spPr/>
        <p:txBody>
          <a:bodyPr/>
          <a:lstStyle/>
          <a:p>
            <a:fld id="{B82CCC60-E8CD-4174-8B1A-7DF615B22EEF}" type="slidenum">
              <a:rPr lang="en-US" smtClean="0"/>
              <a:pPr/>
              <a:t>29</a:t>
            </a:fld>
            <a:endParaRPr lang="en-US"/>
          </a:p>
        </p:txBody>
      </p:sp>
      <p:sp>
        <p:nvSpPr>
          <p:cNvPr id="8" name="Rectangle 7">
            <a:extLst>
              <a:ext uri="{FF2B5EF4-FFF2-40B4-BE49-F238E27FC236}">
                <a16:creationId xmlns:a16="http://schemas.microsoft.com/office/drawing/2014/main" id="{71E20337-6185-00D9-1424-016345F0B77A}"/>
              </a:ext>
            </a:extLst>
          </p:cNvPr>
          <p:cNvSpPr/>
          <p:nvPr/>
        </p:nvSpPr>
        <p:spPr>
          <a:xfrm>
            <a:off x="9680895" y="3522061"/>
            <a:ext cx="2032924" cy="1892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2A15463-ECFA-5888-2E04-10CEF3EFCBD8}"/>
              </a:ext>
            </a:extLst>
          </p:cNvPr>
          <p:cNvCxnSpPr>
            <a:cxnSpLocks/>
          </p:cNvCxnSpPr>
          <p:nvPr/>
        </p:nvCxnSpPr>
        <p:spPr>
          <a:xfrm flipH="1">
            <a:off x="10561739" y="3608820"/>
            <a:ext cx="820608" cy="98278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245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51D0-CD4D-9920-DE0F-AE482BA50B4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E9C61AF-E9AB-B32A-0623-346680A6AD89}"/>
              </a:ext>
            </a:extLst>
          </p:cNvPr>
          <p:cNvPicPr>
            <a:picLocks noChangeAspect="1"/>
          </p:cNvPicPr>
          <p:nvPr/>
        </p:nvPicPr>
        <p:blipFill>
          <a:blip r:embed="rId2"/>
          <a:stretch>
            <a:fillRect/>
          </a:stretch>
        </p:blipFill>
        <p:spPr>
          <a:xfrm>
            <a:off x="7589309" y="1342657"/>
            <a:ext cx="4124510" cy="4532326"/>
          </a:xfrm>
          <a:prstGeom prst="rect">
            <a:avLst/>
          </a:prstGeom>
        </p:spPr>
      </p:pic>
      <p:sp>
        <p:nvSpPr>
          <p:cNvPr id="2" name="Title 1">
            <a:extLst>
              <a:ext uri="{FF2B5EF4-FFF2-40B4-BE49-F238E27FC236}">
                <a16:creationId xmlns:a16="http://schemas.microsoft.com/office/drawing/2014/main" id="{3E666DB9-1C81-114E-AFFB-AC9555A95BA8}"/>
              </a:ext>
            </a:extLst>
          </p:cNvPr>
          <p:cNvSpPr>
            <a:spLocks noGrp="1"/>
          </p:cNvSpPr>
          <p:nvPr>
            <p:ph type="title"/>
          </p:nvPr>
        </p:nvSpPr>
        <p:spPr/>
        <p:txBody>
          <a:bodyPr>
            <a:normAutofit fontScale="90000"/>
          </a:bodyPr>
          <a:lstStyle/>
          <a:p>
            <a:r>
              <a:rPr lang="en-US" dirty="0"/>
              <a:t>Using BWT and SA for sequence alignments</a:t>
            </a:r>
          </a:p>
        </p:txBody>
      </p:sp>
      <p:sp>
        <p:nvSpPr>
          <p:cNvPr id="3" name="Content Placeholder 2">
            <a:extLst>
              <a:ext uri="{FF2B5EF4-FFF2-40B4-BE49-F238E27FC236}">
                <a16:creationId xmlns:a16="http://schemas.microsoft.com/office/drawing/2014/main" id="{7FFD0C12-7C22-4082-AB3D-4FE9ECBBFCE2}"/>
              </a:ext>
            </a:extLst>
          </p:cNvPr>
          <p:cNvSpPr>
            <a:spLocks noGrp="1"/>
          </p:cNvSpPr>
          <p:nvPr>
            <p:ph idx="1"/>
          </p:nvPr>
        </p:nvSpPr>
        <p:spPr/>
        <p:txBody>
          <a:bodyPr>
            <a:normAutofit/>
          </a:bodyPr>
          <a:lstStyle/>
          <a:p>
            <a:r>
              <a:rPr lang="en-US" dirty="0"/>
              <a:t>Reference sequence: CGATGCACCGGT,</a:t>
            </a:r>
          </a:p>
          <a:p>
            <a:r>
              <a:rPr lang="en-US" dirty="0"/>
              <a:t>Match read TGCA</a:t>
            </a:r>
          </a:p>
          <a:p>
            <a:r>
              <a:rPr lang="en-US" dirty="0"/>
              <a:t>Start at the end, look for A’s in the SA</a:t>
            </a:r>
          </a:p>
          <a:p>
            <a:r>
              <a:rPr lang="en-US" dirty="0"/>
              <a:t>Find which of the A’s are followed by C -- 1</a:t>
            </a:r>
            <a:r>
              <a:rPr lang="en-US" baseline="30000" dirty="0"/>
              <a:t>st</a:t>
            </a:r>
            <a:r>
              <a:rPr lang="en-US" dirty="0"/>
              <a:t> </a:t>
            </a:r>
            <a:br>
              <a:rPr lang="en-US" dirty="0"/>
            </a:br>
            <a:r>
              <a:rPr lang="en-US" dirty="0"/>
              <a:t>C in the BWT, look at the 1</a:t>
            </a:r>
            <a:r>
              <a:rPr lang="en-US" baseline="30000" dirty="0"/>
              <a:t>st</a:t>
            </a:r>
            <a:r>
              <a:rPr lang="en-US" dirty="0"/>
              <a:t> C in the SA</a:t>
            </a:r>
          </a:p>
          <a:p>
            <a:r>
              <a:rPr lang="en-US" dirty="0"/>
              <a:t>Is that C followed by a G -- yes, 2</a:t>
            </a:r>
            <a:r>
              <a:rPr lang="en-US" baseline="30000" dirty="0"/>
              <a:t>nd</a:t>
            </a:r>
            <a:r>
              <a:rPr lang="en-US" dirty="0"/>
              <a:t> G in the BWT</a:t>
            </a:r>
          </a:p>
          <a:p>
            <a:r>
              <a:rPr lang="en-US" dirty="0"/>
              <a:t>Is the G followed by a T -- yes, 2</a:t>
            </a:r>
            <a:r>
              <a:rPr lang="en-US" baseline="30000" dirty="0"/>
              <a:t>nd</a:t>
            </a:r>
            <a:r>
              <a:rPr lang="en-US" dirty="0"/>
              <a:t> T in the BWT</a:t>
            </a:r>
          </a:p>
        </p:txBody>
      </p:sp>
      <p:sp>
        <p:nvSpPr>
          <p:cNvPr id="4" name="Slide Number Placeholder 3">
            <a:extLst>
              <a:ext uri="{FF2B5EF4-FFF2-40B4-BE49-F238E27FC236}">
                <a16:creationId xmlns:a16="http://schemas.microsoft.com/office/drawing/2014/main" id="{C8CB22E2-E307-6D25-C1D8-1978F91C54AF}"/>
              </a:ext>
            </a:extLst>
          </p:cNvPr>
          <p:cNvSpPr>
            <a:spLocks noGrp="1"/>
          </p:cNvSpPr>
          <p:nvPr>
            <p:ph type="sldNum" sz="quarter" idx="12"/>
          </p:nvPr>
        </p:nvSpPr>
        <p:spPr/>
        <p:txBody>
          <a:bodyPr/>
          <a:lstStyle/>
          <a:p>
            <a:fld id="{B82CCC60-E8CD-4174-8B1A-7DF615B22EEF}" type="slidenum">
              <a:rPr lang="en-US" smtClean="0"/>
              <a:pPr/>
              <a:t>30</a:t>
            </a:fld>
            <a:endParaRPr lang="en-US"/>
          </a:p>
        </p:txBody>
      </p:sp>
      <p:sp>
        <p:nvSpPr>
          <p:cNvPr id="8" name="Rectangle 7">
            <a:extLst>
              <a:ext uri="{FF2B5EF4-FFF2-40B4-BE49-F238E27FC236}">
                <a16:creationId xmlns:a16="http://schemas.microsoft.com/office/drawing/2014/main" id="{42F860C9-3526-4116-E47B-A66AA787D7F4}"/>
              </a:ext>
            </a:extLst>
          </p:cNvPr>
          <p:cNvSpPr/>
          <p:nvPr/>
        </p:nvSpPr>
        <p:spPr>
          <a:xfrm>
            <a:off x="8841996" y="4548340"/>
            <a:ext cx="2788146" cy="2474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1861CAD5-AAE5-34F3-80A2-F5BE20A7B987}"/>
              </a:ext>
            </a:extLst>
          </p:cNvPr>
          <p:cNvCxnSpPr>
            <a:cxnSpLocks/>
          </p:cNvCxnSpPr>
          <p:nvPr/>
        </p:nvCxnSpPr>
        <p:spPr>
          <a:xfrm flipH="1">
            <a:off x="10561739" y="3608820"/>
            <a:ext cx="820608" cy="98278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943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5808C-8F5E-00BA-C1D4-49A44938B02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9435644-0A95-9FB9-00B8-546D4899F04A}"/>
              </a:ext>
            </a:extLst>
          </p:cNvPr>
          <p:cNvPicPr>
            <a:picLocks noChangeAspect="1"/>
          </p:cNvPicPr>
          <p:nvPr/>
        </p:nvPicPr>
        <p:blipFill>
          <a:blip r:embed="rId2"/>
          <a:stretch>
            <a:fillRect/>
          </a:stretch>
        </p:blipFill>
        <p:spPr>
          <a:xfrm>
            <a:off x="7589309" y="1342657"/>
            <a:ext cx="4124510" cy="4532326"/>
          </a:xfrm>
          <a:prstGeom prst="rect">
            <a:avLst/>
          </a:prstGeom>
        </p:spPr>
      </p:pic>
      <p:sp>
        <p:nvSpPr>
          <p:cNvPr id="2" name="Title 1">
            <a:extLst>
              <a:ext uri="{FF2B5EF4-FFF2-40B4-BE49-F238E27FC236}">
                <a16:creationId xmlns:a16="http://schemas.microsoft.com/office/drawing/2014/main" id="{BC1DB484-CE6D-9E99-84F7-654E2C2240F9}"/>
              </a:ext>
            </a:extLst>
          </p:cNvPr>
          <p:cNvSpPr>
            <a:spLocks noGrp="1"/>
          </p:cNvSpPr>
          <p:nvPr>
            <p:ph type="title"/>
          </p:nvPr>
        </p:nvSpPr>
        <p:spPr/>
        <p:txBody>
          <a:bodyPr>
            <a:normAutofit fontScale="90000"/>
          </a:bodyPr>
          <a:lstStyle/>
          <a:p>
            <a:r>
              <a:rPr lang="en-US" dirty="0"/>
              <a:t>Using BWT and SA for sequence alignments</a:t>
            </a:r>
          </a:p>
        </p:txBody>
      </p:sp>
      <p:sp>
        <p:nvSpPr>
          <p:cNvPr id="3" name="Content Placeholder 2">
            <a:extLst>
              <a:ext uri="{FF2B5EF4-FFF2-40B4-BE49-F238E27FC236}">
                <a16:creationId xmlns:a16="http://schemas.microsoft.com/office/drawing/2014/main" id="{21607C48-171A-8CC9-05AF-44A8FE201DC8}"/>
              </a:ext>
            </a:extLst>
          </p:cNvPr>
          <p:cNvSpPr>
            <a:spLocks noGrp="1"/>
          </p:cNvSpPr>
          <p:nvPr>
            <p:ph idx="1"/>
          </p:nvPr>
        </p:nvSpPr>
        <p:spPr>
          <a:xfrm>
            <a:off x="598620" y="1596540"/>
            <a:ext cx="10972800" cy="4175086"/>
          </a:xfrm>
        </p:spPr>
        <p:txBody>
          <a:bodyPr>
            <a:normAutofit/>
          </a:bodyPr>
          <a:lstStyle/>
          <a:p>
            <a:r>
              <a:rPr lang="en-US" dirty="0"/>
              <a:t>Reference sequence: CGATGCACCGGT,</a:t>
            </a:r>
          </a:p>
          <a:p>
            <a:r>
              <a:rPr lang="en-US" dirty="0"/>
              <a:t>Match read TGCA</a:t>
            </a:r>
          </a:p>
          <a:p>
            <a:r>
              <a:rPr lang="en-US" dirty="0"/>
              <a:t>Start at the end, look for A’s in the SA</a:t>
            </a:r>
          </a:p>
          <a:p>
            <a:r>
              <a:rPr lang="en-US" dirty="0"/>
              <a:t>Find which of the A’s are followed by C -- 1</a:t>
            </a:r>
            <a:r>
              <a:rPr lang="en-US" baseline="30000" dirty="0"/>
              <a:t>st</a:t>
            </a:r>
            <a:r>
              <a:rPr lang="en-US" dirty="0"/>
              <a:t> </a:t>
            </a:r>
            <a:br>
              <a:rPr lang="en-US" dirty="0"/>
            </a:br>
            <a:r>
              <a:rPr lang="en-US" dirty="0"/>
              <a:t>C in the BWT, look at the 1</a:t>
            </a:r>
            <a:r>
              <a:rPr lang="en-US" baseline="30000" dirty="0"/>
              <a:t>st</a:t>
            </a:r>
            <a:r>
              <a:rPr lang="en-US" dirty="0"/>
              <a:t> C in the SA</a:t>
            </a:r>
          </a:p>
          <a:p>
            <a:r>
              <a:rPr lang="en-US" dirty="0"/>
              <a:t>Is that C followed by a G -- yes, 2</a:t>
            </a:r>
            <a:r>
              <a:rPr lang="en-US" baseline="30000" dirty="0"/>
              <a:t>nd</a:t>
            </a:r>
            <a:r>
              <a:rPr lang="en-US" dirty="0"/>
              <a:t> G in the BWT</a:t>
            </a:r>
          </a:p>
          <a:p>
            <a:r>
              <a:rPr lang="en-US" dirty="0"/>
              <a:t>Is the G followed by a T -- yes, 2</a:t>
            </a:r>
            <a:r>
              <a:rPr lang="en-US" baseline="30000" dirty="0"/>
              <a:t>nd</a:t>
            </a:r>
            <a:r>
              <a:rPr lang="en-US" dirty="0"/>
              <a:t> T in the BWT</a:t>
            </a:r>
          </a:p>
          <a:p>
            <a:r>
              <a:rPr lang="en-US" dirty="0"/>
              <a:t>The SA index of that T is 3!</a:t>
            </a:r>
          </a:p>
        </p:txBody>
      </p:sp>
      <p:sp>
        <p:nvSpPr>
          <p:cNvPr id="4" name="Slide Number Placeholder 3">
            <a:extLst>
              <a:ext uri="{FF2B5EF4-FFF2-40B4-BE49-F238E27FC236}">
                <a16:creationId xmlns:a16="http://schemas.microsoft.com/office/drawing/2014/main" id="{0E4F9B1A-F0F5-AFB9-4934-6947F0CD1DFD}"/>
              </a:ext>
            </a:extLst>
          </p:cNvPr>
          <p:cNvSpPr>
            <a:spLocks noGrp="1"/>
          </p:cNvSpPr>
          <p:nvPr>
            <p:ph type="sldNum" sz="quarter" idx="12"/>
          </p:nvPr>
        </p:nvSpPr>
        <p:spPr/>
        <p:txBody>
          <a:bodyPr/>
          <a:lstStyle/>
          <a:p>
            <a:fld id="{B82CCC60-E8CD-4174-8B1A-7DF615B22EEF}" type="slidenum">
              <a:rPr lang="en-US" smtClean="0"/>
              <a:pPr/>
              <a:t>31</a:t>
            </a:fld>
            <a:endParaRPr lang="en-US"/>
          </a:p>
        </p:txBody>
      </p:sp>
      <p:sp>
        <p:nvSpPr>
          <p:cNvPr id="8" name="Rectangle 7">
            <a:extLst>
              <a:ext uri="{FF2B5EF4-FFF2-40B4-BE49-F238E27FC236}">
                <a16:creationId xmlns:a16="http://schemas.microsoft.com/office/drawing/2014/main" id="{AEA64780-F590-77F5-4715-84A831FC87EC}"/>
              </a:ext>
            </a:extLst>
          </p:cNvPr>
          <p:cNvSpPr/>
          <p:nvPr/>
        </p:nvSpPr>
        <p:spPr>
          <a:xfrm>
            <a:off x="8841996" y="4548340"/>
            <a:ext cx="2788146" cy="2474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9ADAB72-4E80-DFEB-A44B-2547E9228658}"/>
              </a:ext>
            </a:extLst>
          </p:cNvPr>
          <p:cNvCxnSpPr>
            <a:cxnSpLocks/>
          </p:cNvCxnSpPr>
          <p:nvPr/>
        </p:nvCxnSpPr>
        <p:spPr>
          <a:xfrm flipH="1">
            <a:off x="10561739" y="3608820"/>
            <a:ext cx="820608" cy="98278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192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E1C3-B59E-E945-DAA6-3B0E7F8FC471}"/>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42D47CB4-8381-776C-99C8-DBCCE75F7791}"/>
              </a:ext>
            </a:extLst>
          </p:cNvPr>
          <p:cNvSpPr>
            <a:spLocks noGrp="1"/>
          </p:cNvSpPr>
          <p:nvPr>
            <p:ph idx="1"/>
          </p:nvPr>
        </p:nvSpPr>
        <p:spPr>
          <a:xfrm>
            <a:off x="598620" y="1596540"/>
            <a:ext cx="4780204" cy="3918803"/>
          </a:xfrm>
        </p:spPr>
        <p:txBody>
          <a:bodyPr/>
          <a:lstStyle/>
          <a:p>
            <a:r>
              <a:rPr lang="en-US" dirty="0"/>
              <a:t>Storing suffix array indices is expensive!</a:t>
            </a:r>
          </a:p>
          <a:p>
            <a:r>
              <a:rPr lang="en-US" dirty="0"/>
              <a:t>Do we have to store all of them in BWT/SA?  No!</a:t>
            </a:r>
          </a:p>
        </p:txBody>
      </p:sp>
      <p:sp>
        <p:nvSpPr>
          <p:cNvPr id="4" name="Slide Number Placeholder 3">
            <a:extLst>
              <a:ext uri="{FF2B5EF4-FFF2-40B4-BE49-F238E27FC236}">
                <a16:creationId xmlns:a16="http://schemas.microsoft.com/office/drawing/2014/main" id="{5471624D-5BC9-F697-0383-E85E01D805C4}"/>
              </a:ext>
            </a:extLst>
          </p:cNvPr>
          <p:cNvSpPr>
            <a:spLocks noGrp="1"/>
          </p:cNvSpPr>
          <p:nvPr>
            <p:ph type="sldNum" sz="quarter" idx="12"/>
          </p:nvPr>
        </p:nvSpPr>
        <p:spPr/>
        <p:txBody>
          <a:bodyPr/>
          <a:lstStyle/>
          <a:p>
            <a:fld id="{B82CCC60-E8CD-4174-8B1A-7DF615B22EEF}" type="slidenum">
              <a:rPr lang="en-US" smtClean="0"/>
              <a:pPr/>
              <a:t>32</a:t>
            </a:fld>
            <a:endParaRPr lang="en-US"/>
          </a:p>
        </p:txBody>
      </p:sp>
      <p:sp>
        <p:nvSpPr>
          <p:cNvPr id="5" name="TextBox 4">
            <a:extLst>
              <a:ext uri="{FF2B5EF4-FFF2-40B4-BE49-F238E27FC236}">
                <a16:creationId xmlns:a16="http://schemas.microsoft.com/office/drawing/2014/main" id="{F2CF3107-9A17-788A-400F-2C5EF7434790}"/>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latin typeface="Courier New" panose="02070309020205020404" pitchFamily="49" charset="0"/>
                <a:cs typeface="Courier New" panose="02070309020205020404" pitchFamily="49" charset="0"/>
              </a:rPr>
              <a:t>6  A...C</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2  A...G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5  C...G</a:t>
            </a:r>
          </a:p>
          <a:p>
            <a:r>
              <a:rPr lang="en-US" sz="2000" b="1" dirty="0">
                <a:latin typeface="Courier New" panose="02070309020205020404" pitchFamily="49" charset="0"/>
                <a:cs typeface="Courier New" panose="02070309020205020404" pitchFamily="49" charset="0"/>
              </a:rPr>
              <a:t>7  C...A</a:t>
            </a:r>
          </a:p>
          <a:p>
            <a:r>
              <a:rPr lang="en-US" sz="2000" b="1" dirty="0">
                <a:latin typeface="Courier New" panose="02070309020205020404" pitchFamily="49" charset="0"/>
                <a:cs typeface="Courier New" panose="02070309020205020404" pitchFamily="49" charset="0"/>
              </a:rPr>
              <a:t>0  C...$</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8  C...C</a:t>
            </a:r>
          </a:p>
          <a:p>
            <a:r>
              <a:rPr lang="en-US" sz="2000" b="1" dirty="0">
                <a:latin typeface="Courier New" panose="02070309020205020404" pitchFamily="49" charset="0"/>
                <a:cs typeface="Courier New" panose="02070309020205020404" pitchFamily="49" charset="0"/>
              </a:rPr>
              <a:t>1  G...C</a:t>
            </a:r>
          </a:p>
          <a:p>
            <a:r>
              <a:rPr lang="en-US" sz="2000" b="1" dirty="0">
                <a:latin typeface="Courier New" panose="02070309020205020404" pitchFamily="49" charset="0"/>
                <a:cs typeface="Courier New" panose="02070309020205020404" pitchFamily="49" charset="0"/>
              </a:rPr>
              <a:t>4  G...T</a:t>
            </a:r>
          </a:p>
          <a:p>
            <a:r>
              <a:rPr lang="en-US" sz="2000" b="1" dirty="0">
                <a:latin typeface="Courier New" panose="02070309020205020404" pitchFamily="49" charset="0"/>
                <a:cs typeface="Courier New" panose="02070309020205020404" pitchFamily="49" charset="0"/>
              </a:rPr>
              <a:t>9  G...C</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10 G...G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11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spTree>
    <p:extLst>
      <p:ext uri="{BB962C8B-B14F-4D97-AF65-F5344CB8AC3E}">
        <p14:creationId xmlns:p14="http://schemas.microsoft.com/office/powerpoint/2010/main" val="4106164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1488E-D263-79A4-462A-1E3C8A2EB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051DA-2631-E0F5-10DD-B80A8B8870E7}"/>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F2A12003-9A97-A438-ED98-695B1237B71B}"/>
              </a:ext>
            </a:extLst>
          </p:cNvPr>
          <p:cNvSpPr>
            <a:spLocks noGrp="1"/>
          </p:cNvSpPr>
          <p:nvPr>
            <p:ph idx="1"/>
          </p:nvPr>
        </p:nvSpPr>
        <p:spPr>
          <a:xfrm>
            <a:off x="598620" y="1596540"/>
            <a:ext cx="4780204" cy="3918803"/>
          </a:xfrm>
        </p:spPr>
        <p:txBody>
          <a:bodyPr/>
          <a:lstStyle/>
          <a:p>
            <a:r>
              <a:rPr lang="en-US" dirty="0"/>
              <a:t>Storing suffix array indices is expensive!</a:t>
            </a:r>
          </a:p>
          <a:p>
            <a:r>
              <a:rPr lang="en-US" dirty="0"/>
              <a:t>Do we have to store all of them in BWT/SA?  No!</a:t>
            </a:r>
          </a:p>
        </p:txBody>
      </p:sp>
      <p:sp>
        <p:nvSpPr>
          <p:cNvPr id="4" name="Slide Number Placeholder 3">
            <a:extLst>
              <a:ext uri="{FF2B5EF4-FFF2-40B4-BE49-F238E27FC236}">
                <a16:creationId xmlns:a16="http://schemas.microsoft.com/office/drawing/2014/main" id="{061797D5-2B2E-1588-BDE5-DF89C4025C81}"/>
              </a:ext>
            </a:extLst>
          </p:cNvPr>
          <p:cNvSpPr>
            <a:spLocks noGrp="1"/>
          </p:cNvSpPr>
          <p:nvPr>
            <p:ph type="sldNum" sz="quarter" idx="12"/>
          </p:nvPr>
        </p:nvSpPr>
        <p:spPr/>
        <p:txBody>
          <a:bodyPr/>
          <a:lstStyle/>
          <a:p>
            <a:fld id="{B82CCC60-E8CD-4174-8B1A-7DF615B22EEF}" type="slidenum">
              <a:rPr lang="en-US" smtClean="0"/>
              <a:pPr/>
              <a:t>33</a:t>
            </a:fld>
            <a:endParaRPr lang="en-US"/>
          </a:p>
        </p:txBody>
      </p:sp>
      <p:sp>
        <p:nvSpPr>
          <p:cNvPr id="5" name="TextBox 4">
            <a:extLst>
              <a:ext uri="{FF2B5EF4-FFF2-40B4-BE49-F238E27FC236}">
                <a16:creationId xmlns:a16="http://schemas.microsoft.com/office/drawing/2014/main" id="{C6BB9AF6-08C1-2DE1-F237-9EF5F020DF38}"/>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spTree>
    <p:extLst>
      <p:ext uri="{BB962C8B-B14F-4D97-AF65-F5344CB8AC3E}">
        <p14:creationId xmlns:p14="http://schemas.microsoft.com/office/powerpoint/2010/main" val="40079692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39989-99FD-A594-81B0-5BACB5ED1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15A74-E5DC-0068-A707-9F444E6BFE5F}"/>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B7F6E8CD-AD4D-E14C-241D-81B5CFA2D52D}"/>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p:txBody>
      </p:sp>
      <p:sp>
        <p:nvSpPr>
          <p:cNvPr id="4" name="Slide Number Placeholder 3">
            <a:extLst>
              <a:ext uri="{FF2B5EF4-FFF2-40B4-BE49-F238E27FC236}">
                <a16:creationId xmlns:a16="http://schemas.microsoft.com/office/drawing/2014/main" id="{15A0C2BC-27D9-7874-6FAB-85BABA1858B2}"/>
              </a:ext>
            </a:extLst>
          </p:cNvPr>
          <p:cNvSpPr>
            <a:spLocks noGrp="1"/>
          </p:cNvSpPr>
          <p:nvPr>
            <p:ph type="sldNum" sz="quarter" idx="12"/>
          </p:nvPr>
        </p:nvSpPr>
        <p:spPr/>
        <p:txBody>
          <a:bodyPr/>
          <a:lstStyle/>
          <a:p>
            <a:fld id="{B82CCC60-E8CD-4174-8B1A-7DF615B22EEF}" type="slidenum">
              <a:rPr lang="en-US" smtClean="0"/>
              <a:pPr/>
              <a:t>34</a:t>
            </a:fld>
            <a:endParaRPr lang="en-US"/>
          </a:p>
        </p:txBody>
      </p:sp>
      <p:sp>
        <p:nvSpPr>
          <p:cNvPr id="5" name="TextBox 4">
            <a:extLst>
              <a:ext uri="{FF2B5EF4-FFF2-40B4-BE49-F238E27FC236}">
                <a16:creationId xmlns:a16="http://schemas.microsoft.com/office/drawing/2014/main" id="{50E51D9F-F07D-5637-7151-6F04BC32C0E6}"/>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spTree>
    <p:extLst>
      <p:ext uri="{BB962C8B-B14F-4D97-AF65-F5344CB8AC3E}">
        <p14:creationId xmlns:p14="http://schemas.microsoft.com/office/powerpoint/2010/main" val="4012313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7EA9F-538A-89BB-E785-93C972665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758C3-3EA2-E2A3-0D13-51026D76CB2F}"/>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2540E653-9A75-873A-C298-A6DCC05EC573}"/>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p:txBody>
      </p:sp>
      <p:sp>
        <p:nvSpPr>
          <p:cNvPr id="4" name="Slide Number Placeholder 3">
            <a:extLst>
              <a:ext uri="{FF2B5EF4-FFF2-40B4-BE49-F238E27FC236}">
                <a16:creationId xmlns:a16="http://schemas.microsoft.com/office/drawing/2014/main" id="{CA29AC87-D444-3B44-0307-EDDDD81960CD}"/>
              </a:ext>
            </a:extLst>
          </p:cNvPr>
          <p:cNvSpPr>
            <a:spLocks noGrp="1"/>
          </p:cNvSpPr>
          <p:nvPr>
            <p:ph type="sldNum" sz="quarter" idx="12"/>
          </p:nvPr>
        </p:nvSpPr>
        <p:spPr/>
        <p:txBody>
          <a:bodyPr/>
          <a:lstStyle/>
          <a:p>
            <a:fld id="{B82CCC60-E8CD-4174-8B1A-7DF615B22EEF}" type="slidenum">
              <a:rPr lang="en-US" smtClean="0"/>
              <a:pPr/>
              <a:t>35</a:t>
            </a:fld>
            <a:endParaRPr lang="en-US"/>
          </a:p>
        </p:txBody>
      </p:sp>
      <p:sp>
        <p:nvSpPr>
          <p:cNvPr id="5" name="TextBox 4">
            <a:extLst>
              <a:ext uri="{FF2B5EF4-FFF2-40B4-BE49-F238E27FC236}">
                <a16:creationId xmlns:a16="http://schemas.microsoft.com/office/drawing/2014/main" id="{59C5D697-6AEB-7C80-528F-0CF282C59DDB}"/>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cxnSp>
        <p:nvCxnSpPr>
          <p:cNvPr id="7" name="Straight Arrow Connector 6">
            <a:extLst>
              <a:ext uri="{FF2B5EF4-FFF2-40B4-BE49-F238E27FC236}">
                <a16:creationId xmlns:a16="http://schemas.microsoft.com/office/drawing/2014/main" id="{118F5D7C-5221-C420-FB36-754E3ABB9EA0}"/>
              </a:ext>
            </a:extLst>
          </p:cNvPr>
          <p:cNvCxnSpPr/>
          <p:nvPr/>
        </p:nvCxnSpPr>
        <p:spPr>
          <a:xfrm>
            <a:off x="6411558" y="4127052"/>
            <a:ext cx="387275"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8D07E13E-7CC5-1E63-047C-C75E089E922B}"/>
              </a:ext>
            </a:extLst>
          </p:cNvPr>
          <p:cNvCxnSpPr>
            <a:cxnSpLocks/>
          </p:cNvCxnSpPr>
          <p:nvPr/>
        </p:nvCxnSpPr>
        <p:spPr>
          <a:xfrm flipH="1" flipV="1">
            <a:off x="6411558" y="3303112"/>
            <a:ext cx="387274" cy="82394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22A61C8C-D726-049E-0BCA-670EB35F15E9}"/>
              </a:ext>
            </a:extLst>
          </p:cNvPr>
          <p:cNvCxnSpPr/>
          <p:nvPr/>
        </p:nvCxnSpPr>
        <p:spPr>
          <a:xfrm>
            <a:off x="6411558" y="4723952"/>
            <a:ext cx="387275"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09E7B651-F549-46EF-F97F-3B73FF07FCED}"/>
              </a:ext>
            </a:extLst>
          </p:cNvPr>
          <p:cNvCxnSpPr>
            <a:cxnSpLocks/>
          </p:cNvCxnSpPr>
          <p:nvPr/>
        </p:nvCxnSpPr>
        <p:spPr>
          <a:xfrm flipH="1" flipV="1">
            <a:off x="6411558" y="3863986"/>
            <a:ext cx="387274" cy="82394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37561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58E87-85F6-948F-9687-110182E4C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718B1-01FE-4136-E29B-4B112A0903DA}"/>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11020A15-FA38-E19F-E152-A2C0A45D8CBC}"/>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p:txBody>
      </p:sp>
      <p:sp>
        <p:nvSpPr>
          <p:cNvPr id="4" name="Slide Number Placeholder 3">
            <a:extLst>
              <a:ext uri="{FF2B5EF4-FFF2-40B4-BE49-F238E27FC236}">
                <a16:creationId xmlns:a16="http://schemas.microsoft.com/office/drawing/2014/main" id="{872B5A46-36CA-79AB-49C6-D799C044933A}"/>
              </a:ext>
            </a:extLst>
          </p:cNvPr>
          <p:cNvSpPr>
            <a:spLocks noGrp="1"/>
          </p:cNvSpPr>
          <p:nvPr>
            <p:ph type="sldNum" sz="quarter" idx="12"/>
          </p:nvPr>
        </p:nvSpPr>
        <p:spPr/>
        <p:txBody>
          <a:bodyPr/>
          <a:lstStyle/>
          <a:p>
            <a:fld id="{B82CCC60-E8CD-4174-8B1A-7DF615B22EEF}" type="slidenum">
              <a:rPr lang="en-US" smtClean="0"/>
              <a:pPr/>
              <a:t>36</a:t>
            </a:fld>
            <a:endParaRPr lang="en-US"/>
          </a:p>
        </p:txBody>
      </p:sp>
      <p:sp>
        <p:nvSpPr>
          <p:cNvPr id="5" name="TextBox 4">
            <a:extLst>
              <a:ext uri="{FF2B5EF4-FFF2-40B4-BE49-F238E27FC236}">
                <a16:creationId xmlns:a16="http://schemas.microsoft.com/office/drawing/2014/main" id="{AB1F0B4D-C96C-2859-70C7-6C06B76A0F74}"/>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cxnSp>
        <p:nvCxnSpPr>
          <p:cNvPr id="7" name="Straight Arrow Connector 6">
            <a:extLst>
              <a:ext uri="{FF2B5EF4-FFF2-40B4-BE49-F238E27FC236}">
                <a16:creationId xmlns:a16="http://schemas.microsoft.com/office/drawing/2014/main" id="{91FFFBAC-CFA3-D4F3-1328-846D30FCA849}"/>
              </a:ext>
            </a:extLst>
          </p:cNvPr>
          <p:cNvCxnSpPr/>
          <p:nvPr/>
        </p:nvCxnSpPr>
        <p:spPr>
          <a:xfrm>
            <a:off x="6411558" y="3810000"/>
            <a:ext cx="387275"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4B4D2727-17D8-38A8-F367-3B2840D86570}"/>
              </a:ext>
            </a:extLst>
          </p:cNvPr>
          <p:cNvCxnSpPr>
            <a:cxnSpLocks/>
          </p:cNvCxnSpPr>
          <p:nvPr/>
        </p:nvCxnSpPr>
        <p:spPr>
          <a:xfrm flipH="1" flipV="1">
            <a:off x="6411558" y="3207851"/>
            <a:ext cx="441062" cy="60214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7475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C6423-608F-B278-DB35-83433ACE1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7B3FE-D377-DA45-5551-079F98A1A4CC}"/>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0B818AA7-5EAF-22BC-3B91-2B0256F00E2D}"/>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p:txBody>
      </p:sp>
      <p:sp>
        <p:nvSpPr>
          <p:cNvPr id="4" name="Slide Number Placeholder 3">
            <a:extLst>
              <a:ext uri="{FF2B5EF4-FFF2-40B4-BE49-F238E27FC236}">
                <a16:creationId xmlns:a16="http://schemas.microsoft.com/office/drawing/2014/main" id="{940F72EE-53CE-0F1A-6C9A-0D483BBB0C4C}"/>
              </a:ext>
            </a:extLst>
          </p:cNvPr>
          <p:cNvSpPr>
            <a:spLocks noGrp="1"/>
          </p:cNvSpPr>
          <p:nvPr>
            <p:ph type="sldNum" sz="quarter" idx="12"/>
          </p:nvPr>
        </p:nvSpPr>
        <p:spPr/>
        <p:txBody>
          <a:bodyPr/>
          <a:lstStyle/>
          <a:p>
            <a:fld id="{B82CCC60-E8CD-4174-8B1A-7DF615B22EEF}" type="slidenum">
              <a:rPr lang="en-US" smtClean="0"/>
              <a:pPr/>
              <a:t>37</a:t>
            </a:fld>
            <a:endParaRPr lang="en-US"/>
          </a:p>
        </p:txBody>
      </p:sp>
      <p:sp>
        <p:nvSpPr>
          <p:cNvPr id="5" name="TextBox 4">
            <a:extLst>
              <a:ext uri="{FF2B5EF4-FFF2-40B4-BE49-F238E27FC236}">
                <a16:creationId xmlns:a16="http://schemas.microsoft.com/office/drawing/2014/main" id="{A7F284A4-6C0E-DA38-BC54-0B29E6AE0419}"/>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cxnSp>
        <p:nvCxnSpPr>
          <p:cNvPr id="8" name="Straight Arrow Connector 7">
            <a:extLst>
              <a:ext uri="{FF2B5EF4-FFF2-40B4-BE49-F238E27FC236}">
                <a16:creationId xmlns:a16="http://schemas.microsoft.com/office/drawing/2014/main" id="{AF8E2878-27D5-B079-C407-1E504515ED9B}"/>
              </a:ext>
            </a:extLst>
          </p:cNvPr>
          <p:cNvCxnSpPr>
            <a:cxnSpLocks/>
          </p:cNvCxnSpPr>
          <p:nvPr/>
        </p:nvCxnSpPr>
        <p:spPr>
          <a:xfrm flipH="1" flipV="1">
            <a:off x="6411558" y="2451100"/>
            <a:ext cx="387275" cy="8001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65363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ADD4E-2942-A602-FADB-1222601B6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BC47B-1580-7130-EB0C-EAC943C96429}"/>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43691C9F-4B3A-94B0-6685-C3EDE09F8314}"/>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a:p>
            <a:r>
              <a:rPr lang="en-US" dirty="0"/>
              <a:t>Not stored? Keep going</a:t>
            </a:r>
          </a:p>
        </p:txBody>
      </p:sp>
      <p:sp>
        <p:nvSpPr>
          <p:cNvPr id="4" name="Slide Number Placeholder 3">
            <a:extLst>
              <a:ext uri="{FF2B5EF4-FFF2-40B4-BE49-F238E27FC236}">
                <a16:creationId xmlns:a16="http://schemas.microsoft.com/office/drawing/2014/main" id="{6682AA8E-1B7B-DE38-2C2D-BCC3E9870801}"/>
              </a:ext>
            </a:extLst>
          </p:cNvPr>
          <p:cNvSpPr>
            <a:spLocks noGrp="1"/>
          </p:cNvSpPr>
          <p:nvPr>
            <p:ph type="sldNum" sz="quarter" idx="12"/>
          </p:nvPr>
        </p:nvSpPr>
        <p:spPr/>
        <p:txBody>
          <a:bodyPr/>
          <a:lstStyle/>
          <a:p>
            <a:fld id="{B82CCC60-E8CD-4174-8B1A-7DF615B22EEF}" type="slidenum">
              <a:rPr lang="en-US" smtClean="0"/>
              <a:pPr/>
              <a:t>38</a:t>
            </a:fld>
            <a:endParaRPr lang="en-US"/>
          </a:p>
        </p:txBody>
      </p:sp>
      <p:sp>
        <p:nvSpPr>
          <p:cNvPr id="5" name="TextBox 4">
            <a:extLst>
              <a:ext uri="{FF2B5EF4-FFF2-40B4-BE49-F238E27FC236}">
                <a16:creationId xmlns:a16="http://schemas.microsoft.com/office/drawing/2014/main" id="{ED2D7FC2-21AA-D5FD-F5EC-7DE9FB3F1D10}"/>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cxnSp>
        <p:nvCxnSpPr>
          <p:cNvPr id="7" name="Straight Arrow Connector 6">
            <a:extLst>
              <a:ext uri="{FF2B5EF4-FFF2-40B4-BE49-F238E27FC236}">
                <a16:creationId xmlns:a16="http://schemas.microsoft.com/office/drawing/2014/main" id="{F4CB58E1-D178-B923-5DF4-DCB018FE02E2}"/>
              </a:ext>
            </a:extLst>
          </p:cNvPr>
          <p:cNvCxnSpPr/>
          <p:nvPr/>
        </p:nvCxnSpPr>
        <p:spPr>
          <a:xfrm>
            <a:off x="6411557" y="2286000"/>
            <a:ext cx="387275"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057527AB-2BB3-D447-6F09-65725F84158E}"/>
              </a:ext>
            </a:extLst>
          </p:cNvPr>
          <p:cNvCxnSpPr>
            <a:cxnSpLocks/>
          </p:cNvCxnSpPr>
          <p:nvPr/>
        </p:nvCxnSpPr>
        <p:spPr>
          <a:xfrm flipH="1" flipV="1">
            <a:off x="6411558" y="2451100"/>
            <a:ext cx="387275" cy="8001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12933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EB928-73A9-86C8-BBB7-D794322A0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80A6D-0B9B-C009-E0A9-DBEB63CD5624}"/>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FF862572-0B3E-AC9A-8BB3-18BD2CB19E23}"/>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a:p>
            <a:r>
              <a:rPr lang="en-US" dirty="0"/>
              <a:t>Not stored? Keep going 1</a:t>
            </a:r>
          </a:p>
        </p:txBody>
      </p:sp>
      <p:sp>
        <p:nvSpPr>
          <p:cNvPr id="4" name="Slide Number Placeholder 3">
            <a:extLst>
              <a:ext uri="{FF2B5EF4-FFF2-40B4-BE49-F238E27FC236}">
                <a16:creationId xmlns:a16="http://schemas.microsoft.com/office/drawing/2014/main" id="{631B25A4-8720-FEF8-7814-408476E2C301}"/>
              </a:ext>
            </a:extLst>
          </p:cNvPr>
          <p:cNvSpPr>
            <a:spLocks noGrp="1"/>
          </p:cNvSpPr>
          <p:nvPr>
            <p:ph type="sldNum" sz="quarter" idx="12"/>
          </p:nvPr>
        </p:nvSpPr>
        <p:spPr/>
        <p:txBody>
          <a:bodyPr/>
          <a:lstStyle/>
          <a:p>
            <a:fld id="{B82CCC60-E8CD-4174-8B1A-7DF615B22EEF}" type="slidenum">
              <a:rPr lang="en-US" smtClean="0"/>
              <a:pPr/>
              <a:t>39</a:t>
            </a:fld>
            <a:endParaRPr lang="en-US"/>
          </a:p>
        </p:txBody>
      </p:sp>
      <p:sp>
        <p:nvSpPr>
          <p:cNvPr id="5" name="TextBox 4">
            <a:extLst>
              <a:ext uri="{FF2B5EF4-FFF2-40B4-BE49-F238E27FC236}">
                <a16:creationId xmlns:a16="http://schemas.microsoft.com/office/drawing/2014/main" id="{B2C12A47-3B6F-A73F-85B0-565E8F314227}"/>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cxnSp>
        <p:nvCxnSpPr>
          <p:cNvPr id="7" name="Straight Arrow Connector 6">
            <a:extLst>
              <a:ext uri="{FF2B5EF4-FFF2-40B4-BE49-F238E27FC236}">
                <a16:creationId xmlns:a16="http://schemas.microsoft.com/office/drawing/2014/main" id="{29DC1C13-165D-BCA5-6DEF-367F0C921606}"/>
              </a:ext>
            </a:extLst>
          </p:cNvPr>
          <p:cNvCxnSpPr/>
          <p:nvPr/>
        </p:nvCxnSpPr>
        <p:spPr>
          <a:xfrm>
            <a:off x="6411557" y="2921000"/>
            <a:ext cx="387275"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CCC2188A-32CF-5625-CAA0-507DE9A69CB9}"/>
              </a:ext>
            </a:extLst>
          </p:cNvPr>
          <p:cNvCxnSpPr>
            <a:cxnSpLocks/>
          </p:cNvCxnSpPr>
          <p:nvPr/>
        </p:nvCxnSpPr>
        <p:spPr>
          <a:xfrm flipH="1">
            <a:off x="6411557" y="2286000"/>
            <a:ext cx="387275" cy="6350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092915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3D971-87A7-64FD-A267-2B48FDF39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CD618-C59E-B50A-B713-266A494E39E4}"/>
              </a:ext>
            </a:extLst>
          </p:cNvPr>
          <p:cNvSpPr>
            <a:spLocks noGrp="1"/>
          </p:cNvSpPr>
          <p:nvPr>
            <p:ph type="title"/>
          </p:nvPr>
        </p:nvSpPr>
        <p:spPr/>
        <p:txBody>
          <a:bodyPr>
            <a:normAutofit fontScale="90000"/>
          </a:bodyPr>
          <a:lstStyle/>
          <a:p>
            <a:r>
              <a:rPr lang="en-US" dirty="0"/>
              <a:t>Save memory with BWT/SA</a:t>
            </a:r>
          </a:p>
        </p:txBody>
      </p:sp>
      <p:sp>
        <p:nvSpPr>
          <p:cNvPr id="3" name="Content Placeholder 2">
            <a:extLst>
              <a:ext uri="{FF2B5EF4-FFF2-40B4-BE49-F238E27FC236}">
                <a16:creationId xmlns:a16="http://schemas.microsoft.com/office/drawing/2014/main" id="{5901F41E-EE58-9BAD-2DFD-39486B0E9CB5}"/>
              </a:ext>
            </a:extLst>
          </p:cNvPr>
          <p:cNvSpPr>
            <a:spLocks noGrp="1"/>
          </p:cNvSpPr>
          <p:nvPr>
            <p:ph idx="1"/>
          </p:nvPr>
        </p:nvSpPr>
        <p:spPr>
          <a:xfrm>
            <a:off x="598620" y="1596540"/>
            <a:ext cx="4780204" cy="3918803"/>
          </a:xfrm>
        </p:spPr>
        <p:txBody>
          <a:bodyPr/>
          <a:lstStyle/>
          <a:p>
            <a:r>
              <a:rPr lang="en-US" dirty="0"/>
              <a:t>Reference sequence: CGATGCACCGGT</a:t>
            </a:r>
          </a:p>
          <a:p>
            <a:r>
              <a:rPr lang="en-US" dirty="0"/>
              <a:t>Match read ACCG</a:t>
            </a:r>
          </a:p>
          <a:p>
            <a:r>
              <a:rPr lang="en-US" dirty="0"/>
              <a:t>Not stored? Keep going 2</a:t>
            </a:r>
          </a:p>
          <a:p>
            <a:r>
              <a:rPr lang="en-US" dirty="0"/>
              <a:t>Got it, the index of G is 4</a:t>
            </a:r>
          </a:p>
          <a:p>
            <a:r>
              <a:rPr lang="en-US" dirty="0"/>
              <a:t>We made two hops, so the start of ACCG is 4+2=6!</a:t>
            </a:r>
          </a:p>
        </p:txBody>
      </p:sp>
      <p:sp>
        <p:nvSpPr>
          <p:cNvPr id="4" name="Slide Number Placeholder 3">
            <a:extLst>
              <a:ext uri="{FF2B5EF4-FFF2-40B4-BE49-F238E27FC236}">
                <a16:creationId xmlns:a16="http://schemas.microsoft.com/office/drawing/2014/main" id="{63258EF3-76BE-549D-56D6-02C892F5FFF1}"/>
              </a:ext>
            </a:extLst>
          </p:cNvPr>
          <p:cNvSpPr>
            <a:spLocks noGrp="1"/>
          </p:cNvSpPr>
          <p:nvPr>
            <p:ph type="sldNum" sz="quarter" idx="12"/>
          </p:nvPr>
        </p:nvSpPr>
        <p:spPr/>
        <p:txBody>
          <a:bodyPr/>
          <a:lstStyle/>
          <a:p>
            <a:fld id="{B82CCC60-E8CD-4174-8B1A-7DF615B22EEF}" type="slidenum">
              <a:rPr lang="en-US" smtClean="0"/>
              <a:pPr/>
              <a:t>40</a:t>
            </a:fld>
            <a:endParaRPr lang="en-US"/>
          </a:p>
        </p:txBody>
      </p:sp>
      <p:sp>
        <p:nvSpPr>
          <p:cNvPr id="5" name="TextBox 4">
            <a:extLst>
              <a:ext uri="{FF2B5EF4-FFF2-40B4-BE49-F238E27FC236}">
                <a16:creationId xmlns:a16="http://schemas.microsoft.com/office/drawing/2014/main" id="{B91D39F1-5D19-741F-4DC6-5E6A4657CBD4}"/>
              </a:ext>
            </a:extLst>
          </p:cNvPr>
          <p:cNvSpPr txBox="1"/>
          <p:nvPr/>
        </p:nvSpPr>
        <p:spPr>
          <a:xfrm>
            <a:off x="5680037" y="1822024"/>
            <a:ext cx="1570617" cy="4083924"/>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cxnSp>
        <p:nvCxnSpPr>
          <p:cNvPr id="8" name="Straight Arrow Connector 7">
            <a:extLst>
              <a:ext uri="{FF2B5EF4-FFF2-40B4-BE49-F238E27FC236}">
                <a16:creationId xmlns:a16="http://schemas.microsoft.com/office/drawing/2014/main" id="{A20ADACF-58D0-F304-DBB2-5A27C4F0E103}"/>
              </a:ext>
            </a:extLst>
          </p:cNvPr>
          <p:cNvCxnSpPr>
            <a:cxnSpLocks/>
          </p:cNvCxnSpPr>
          <p:nvPr/>
        </p:nvCxnSpPr>
        <p:spPr>
          <a:xfrm flipH="1">
            <a:off x="6411557" y="2969600"/>
            <a:ext cx="387274" cy="14627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84324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5C731-9E2C-25F2-EBD6-DDAB0ED51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B7D6C-69F2-6FC7-2212-667038225C1D}"/>
              </a:ext>
            </a:extLst>
          </p:cNvPr>
          <p:cNvSpPr>
            <a:spLocks noGrp="1"/>
          </p:cNvSpPr>
          <p:nvPr>
            <p:ph type="title"/>
          </p:nvPr>
        </p:nvSpPr>
        <p:spPr/>
        <p:txBody>
          <a:bodyPr>
            <a:normAutofit fontScale="90000"/>
          </a:bodyPr>
          <a:lstStyle/>
          <a:p>
            <a:r>
              <a:rPr lang="en-US" dirty="0"/>
              <a:t>Speed up BWT/SA</a:t>
            </a:r>
          </a:p>
        </p:txBody>
      </p:sp>
      <p:sp>
        <p:nvSpPr>
          <p:cNvPr id="3" name="Content Placeholder 2">
            <a:extLst>
              <a:ext uri="{FF2B5EF4-FFF2-40B4-BE49-F238E27FC236}">
                <a16:creationId xmlns:a16="http://schemas.microsoft.com/office/drawing/2014/main" id="{83AF7550-45C8-F8F5-0D87-47D8688D5D82}"/>
              </a:ext>
            </a:extLst>
          </p:cNvPr>
          <p:cNvSpPr>
            <a:spLocks noGrp="1"/>
          </p:cNvSpPr>
          <p:nvPr>
            <p:ph idx="1"/>
          </p:nvPr>
        </p:nvSpPr>
        <p:spPr>
          <a:xfrm>
            <a:off x="598620" y="1596540"/>
            <a:ext cx="4780204" cy="3918803"/>
          </a:xfrm>
        </p:spPr>
        <p:txBody>
          <a:bodyPr/>
          <a:lstStyle/>
          <a:p>
            <a:r>
              <a:rPr lang="en-US" dirty="0"/>
              <a:t>In addition to part of the SA, store cumulative sums</a:t>
            </a:r>
          </a:p>
        </p:txBody>
      </p:sp>
      <p:sp>
        <p:nvSpPr>
          <p:cNvPr id="4" name="Slide Number Placeholder 3">
            <a:extLst>
              <a:ext uri="{FF2B5EF4-FFF2-40B4-BE49-F238E27FC236}">
                <a16:creationId xmlns:a16="http://schemas.microsoft.com/office/drawing/2014/main" id="{365FE2F0-D9EA-CD87-90A4-8D1B3BD180C2}"/>
              </a:ext>
            </a:extLst>
          </p:cNvPr>
          <p:cNvSpPr>
            <a:spLocks noGrp="1"/>
          </p:cNvSpPr>
          <p:nvPr>
            <p:ph type="sldNum" sz="quarter" idx="12"/>
          </p:nvPr>
        </p:nvSpPr>
        <p:spPr/>
        <p:txBody>
          <a:bodyPr/>
          <a:lstStyle/>
          <a:p>
            <a:fld id="{B82CCC60-E8CD-4174-8B1A-7DF615B22EEF}" type="slidenum">
              <a:rPr lang="en-US" smtClean="0"/>
              <a:pPr/>
              <a:t>41</a:t>
            </a:fld>
            <a:endParaRPr lang="en-US"/>
          </a:p>
        </p:txBody>
      </p:sp>
      <p:sp>
        <p:nvSpPr>
          <p:cNvPr id="5" name="TextBox 4">
            <a:extLst>
              <a:ext uri="{FF2B5EF4-FFF2-40B4-BE49-F238E27FC236}">
                <a16:creationId xmlns:a16="http://schemas.microsoft.com/office/drawing/2014/main" id="{E89A6493-1940-A43E-EB11-3B6B93BCE7A2}"/>
              </a:ext>
            </a:extLst>
          </p:cNvPr>
          <p:cNvSpPr txBox="1"/>
          <p:nvPr/>
        </p:nvSpPr>
        <p:spPr>
          <a:xfrm>
            <a:off x="5680037" y="1822024"/>
            <a:ext cx="4530763" cy="4093428"/>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12 $...T</a:t>
            </a:r>
          </a:p>
          <a:p>
            <a:r>
              <a:rPr lang="en-US" sz="2000" b="1" dirty="0">
                <a:solidFill>
                  <a:schemeClr val="bg1">
                    <a:lumMod val="85000"/>
                  </a:schemeClr>
                </a:solidFill>
                <a:latin typeface="Courier New" panose="02070309020205020404" pitchFamily="49" charset="0"/>
                <a:cs typeface="Courier New" panose="02070309020205020404" pitchFamily="49" charset="0"/>
              </a:rPr>
              <a:t>6</a:t>
            </a:r>
            <a:r>
              <a:rPr lang="en-US" sz="2000" b="1" dirty="0">
                <a:latin typeface="Courier New" panose="02070309020205020404" pitchFamily="49" charset="0"/>
                <a:cs typeface="Courier New" panose="02070309020205020404" pitchFamily="49" charset="0"/>
              </a:rPr>
              <a:t>  A...C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  A...G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5</a:t>
            </a:r>
            <a:r>
              <a:rPr lang="en-US" sz="2000" b="1" dirty="0">
                <a:latin typeface="Courier New" panose="02070309020205020404" pitchFamily="49" charset="0"/>
                <a:cs typeface="Courier New" panose="02070309020205020404" pitchFamily="49" charset="0"/>
              </a:rPr>
              <a:t>  C...G</a:t>
            </a:r>
          </a:p>
          <a:p>
            <a:r>
              <a:rPr lang="en-US" sz="2000" b="1" dirty="0">
                <a:latin typeface="Courier New" panose="02070309020205020404" pitchFamily="49" charset="0"/>
                <a:cs typeface="Courier New" panose="02070309020205020404" pitchFamily="49" charset="0"/>
              </a:rPr>
              <a:t>7  C...A </a:t>
            </a:r>
          </a:p>
          <a:p>
            <a:r>
              <a:rPr lang="en-US" sz="2000" b="1" dirty="0">
                <a:solidFill>
                  <a:schemeClr val="bg1">
                    <a:lumMod val="85000"/>
                  </a:schemeClr>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8</a:t>
            </a:r>
            <a:r>
              <a:rPr lang="en-US" sz="2000" b="1" dirty="0">
                <a:latin typeface="Courier New" panose="02070309020205020404" pitchFamily="49" charset="0"/>
                <a:cs typeface="Courier New" panose="02070309020205020404" pitchFamily="49" charset="0"/>
              </a:rPr>
              <a:t>  C...C A(1),C(1),G(2),T(1)</a:t>
            </a:r>
          </a:p>
          <a:p>
            <a:r>
              <a:rPr lang="en-US" sz="2000" b="1" dirty="0">
                <a:solidFill>
                  <a:schemeClr val="bg1">
                    <a:lumMod val="85000"/>
                  </a:schemeClr>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G...C</a:t>
            </a:r>
          </a:p>
          <a:p>
            <a:r>
              <a:rPr lang="en-US" sz="2000" b="1" dirty="0">
                <a:latin typeface="Courier New" panose="02070309020205020404" pitchFamily="49" charset="0"/>
                <a:cs typeface="Courier New" panose="02070309020205020404" pitchFamily="49" charset="0"/>
              </a:rPr>
              <a:t>4  G...T</a:t>
            </a:r>
          </a:p>
          <a:p>
            <a:r>
              <a:rPr lang="en-US" sz="2000" b="1" dirty="0">
                <a:solidFill>
                  <a:schemeClr val="bg1">
                    <a:lumMod val="85000"/>
                  </a:schemeClr>
                </a:solidFill>
                <a:latin typeface="Courier New" panose="02070309020205020404" pitchFamily="49" charset="0"/>
                <a:cs typeface="Courier New" panose="02070309020205020404" pitchFamily="49" charset="0"/>
              </a:rPr>
              <a:t>9</a:t>
            </a:r>
            <a:r>
              <a:rPr lang="en-US" sz="2000" b="1" dirty="0">
                <a:latin typeface="Courier New" panose="02070309020205020404" pitchFamily="49" charset="0"/>
                <a:cs typeface="Courier New" panose="02070309020205020404" pitchFamily="49" charset="0"/>
              </a:rPr>
              <a:t>  G...C</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10</a:t>
            </a:r>
            <a:r>
              <a:rPr lang="en-US" sz="2000" b="1" dirty="0">
                <a:latin typeface="Courier New" panose="02070309020205020404" pitchFamily="49" charset="0"/>
                <a:cs typeface="Courier New" panose="02070309020205020404" pitchFamily="49" charset="0"/>
              </a:rPr>
              <a:t> G...G</a:t>
            </a:r>
            <a:br>
              <a:rPr lang="en-US" sz="2000" b="1" dirty="0">
                <a:latin typeface="Courier New" panose="02070309020205020404" pitchFamily="49" charset="0"/>
                <a:cs typeface="Courier New" panose="02070309020205020404" pitchFamily="49" charset="0"/>
              </a:rPr>
            </a:br>
            <a:r>
              <a:rPr lang="en-US" sz="2000" b="1" dirty="0">
                <a:solidFill>
                  <a:schemeClr val="bg1">
                    <a:lumMod val="85000"/>
                  </a:schemeClr>
                </a:solidFill>
                <a:latin typeface="Courier New" panose="02070309020205020404" pitchFamily="49" charset="0"/>
                <a:cs typeface="Courier New" panose="02070309020205020404" pitchFamily="49" charset="0"/>
              </a:rPr>
              <a:t>11</a:t>
            </a:r>
            <a:r>
              <a:rPr lang="en-US" sz="2000" b="1" dirty="0">
                <a:latin typeface="Courier New" panose="02070309020205020404" pitchFamily="49" charset="0"/>
                <a:cs typeface="Courier New" panose="02070309020205020404" pitchFamily="49" charset="0"/>
              </a:rPr>
              <a:t> T...G</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3  T...A</a:t>
            </a:r>
          </a:p>
        </p:txBody>
      </p:sp>
    </p:spTree>
    <p:extLst>
      <p:ext uri="{BB962C8B-B14F-4D97-AF65-F5344CB8AC3E}">
        <p14:creationId xmlns:p14="http://schemas.microsoft.com/office/powerpoint/2010/main" val="372387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9FC4-8FE4-E4F9-FB2D-E18773BAB01F}"/>
              </a:ext>
            </a:extLst>
          </p:cNvPr>
          <p:cNvSpPr>
            <a:spLocks noGrp="1"/>
          </p:cNvSpPr>
          <p:nvPr>
            <p:ph type="title"/>
          </p:nvPr>
        </p:nvSpPr>
        <p:spPr/>
        <p:txBody>
          <a:bodyPr>
            <a:normAutofit fontScale="90000"/>
          </a:bodyPr>
          <a:lstStyle/>
          <a:p>
            <a:r>
              <a:rPr lang="en-US" dirty="0"/>
              <a:t>Alignment programs</a:t>
            </a:r>
          </a:p>
        </p:txBody>
      </p:sp>
      <p:sp>
        <p:nvSpPr>
          <p:cNvPr id="3" name="Content Placeholder 2">
            <a:extLst>
              <a:ext uri="{FF2B5EF4-FFF2-40B4-BE49-F238E27FC236}">
                <a16:creationId xmlns:a16="http://schemas.microsoft.com/office/drawing/2014/main" id="{4830478D-3567-3F12-22BE-C964739C37C0}"/>
              </a:ext>
            </a:extLst>
          </p:cNvPr>
          <p:cNvSpPr>
            <a:spLocks noGrp="1"/>
          </p:cNvSpPr>
          <p:nvPr>
            <p:ph idx="1"/>
          </p:nvPr>
        </p:nvSpPr>
        <p:spPr/>
        <p:txBody>
          <a:bodyPr/>
          <a:lstStyle/>
          <a:p>
            <a:r>
              <a:rPr lang="en-US" dirty="0"/>
              <a:t>Blast – suite of aligners developed at NCBI</a:t>
            </a:r>
          </a:p>
          <a:p>
            <a:r>
              <a:rPr lang="en-US" dirty="0"/>
              <a:t>Online interface, useful for small sequences</a:t>
            </a:r>
          </a:p>
          <a:p>
            <a:endParaRPr lang="en-US" dirty="0"/>
          </a:p>
          <a:p>
            <a:endParaRPr lang="en-US" dirty="0"/>
          </a:p>
        </p:txBody>
      </p:sp>
      <p:pic>
        <p:nvPicPr>
          <p:cNvPr id="5" name="Picture 4">
            <a:extLst>
              <a:ext uri="{FF2B5EF4-FFF2-40B4-BE49-F238E27FC236}">
                <a16:creationId xmlns:a16="http://schemas.microsoft.com/office/drawing/2014/main" id="{38D575D1-BE42-00EC-FBEC-16A7BE57F6CC}"/>
              </a:ext>
            </a:extLst>
          </p:cNvPr>
          <p:cNvPicPr>
            <a:picLocks noChangeAspect="1"/>
          </p:cNvPicPr>
          <p:nvPr/>
        </p:nvPicPr>
        <p:blipFill>
          <a:blip r:embed="rId2"/>
          <a:stretch>
            <a:fillRect/>
          </a:stretch>
        </p:blipFill>
        <p:spPr>
          <a:xfrm>
            <a:off x="185531" y="2898591"/>
            <a:ext cx="7069394" cy="3959409"/>
          </a:xfrm>
          <a:prstGeom prst="rect">
            <a:avLst/>
          </a:prstGeom>
        </p:spPr>
      </p:pic>
      <p:sp>
        <p:nvSpPr>
          <p:cNvPr id="6" name="Content Placeholder 2">
            <a:extLst>
              <a:ext uri="{FF2B5EF4-FFF2-40B4-BE49-F238E27FC236}">
                <a16:creationId xmlns:a16="http://schemas.microsoft.com/office/drawing/2014/main" id="{1DE71A22-985C-4C9D-B9B3-8B70B248FE6A}"/>
              </a:ext>
            </a:extLst>
          </p:cNvPr>
          <p:cNvSpPr txBox="1">
            <a:spLocks/>
          </p:cNvSpPr>
          <p:nvPr/>
        </p:nvSpPr>
        <p:spPr>
          <a:xfrm>
            <a:off x="7569412" y="1463963"/>
            <a:ext cx="4625229" cy="5009265"/>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2900" b="1" dirty="0">
                <a:effectLst/>
              </a:rPr>
              <a:t>Key Features of BLAST</a:t>
            </a:r>
          </a:p>
          <a:p>
            <a:pPr algn="l">
              <a:buFont typeface="+mj-lt"/>
              <a:buAutoNum type="arabicPeriod"/>
            </a:pPr>
            <a:r>
              <a:rPr lang="en-US" sz="2900" b="1" i="0" dirty="0">
                <a:effectLst/>
              </a:rPr>
              <a:t>Sequence Comparison</a:t>
            </a:r>
            <a:r>
              <a:rPr lang="en-US" sz="2900" b="0" i="0" dirty="0">
                <a:effectLst/>
              </a:rPr>
              <a:t>: BLAST aligns query sequences (DNA, RNA, or protein) with database sequences.</a:t>
            </a:r>
          </a:p>
          <a:p>
            <a:pPr algn="l">
              <a:buFont typeface="+mj-lt"/>
              <a:buAutoNum type="arabicPeriod"/>
            </a:pPr>
            <a:r>
              <a:rPr lang="en-US" sz="2900" b="1" i="0" dirty="0">
                <a:effectLst/>
              </a:rPr>
              <a:t>Statistical Significance</a:t>
            </a:r>
            <a:r>
              <a:rPr lang="en-US" sz="2900" b="0" i="0" dirty="0">
                <a:effectLst/>
              </a:rPr>
              <a:t>: It calculates the likelihood that the observed alignment occurred by chance (E-value).</a:t>
            </a:r>
          </a:p>
          <a:p>
            <a:pPr algn="l">
              <a:buFont typeface="+mj-lt"/>
              <a:buAutoNum type="arabicPeriod"/>
            </a:pPr>
            <a:r>
              <a:rPr lang="en-US" sz="2900" b="1" i="0" dirty="0">
                <a:effectLst/>
              </a:rPr>
              <a:t>Speed and Efficiency</a:t>
            </a:r>
            <a:r>
              <a:rPr lang="en-US" sz="2900" b="0" i="0" dirty="0">
                <a:effectLst/>
              </a:rPr>
              <a:t>: BLAST uses heuristics, making it faster than traditional alignment algorithms like Smith-Waterman.</a:t>
            </a:r>
          </a:p>
          <a:p>
            <a:pPr marL="0" indent="0" algn="l">
              <a:buNone/>
            </a:pPr>
            <a:endParaRPr lang="en-US" sz="2900" b="1" dirty="0">
              <a:effectLst/>
            </a:endParaRPr>
          </a:p>
          <a:p>
            <a:pPr marL="0" indent="0" algn="l">
              <a:buNone/>
            </a:pPr>
            <a:r>
              <a:rPr lang="en-US" sz="2900" b="1" dirty="0">
                <a:effectLst/>
              </a:rPr>
              <a:t>How BLAST Works</a:t>
            </a:r>
          </a:p>
          <a:p>
            <a:pPr algn="l">
              <a:buFont typeface="+mj-lt"/>
              <a:buAutoNum type="arabicPeriod"/>
            </a:pPr>
            <a:r>
              <a:rPr lang="en-US" sz="2900" b="1" i="0" dirty="0">
                <a:effectLst/>
              </a:rPr>
              <a:t>Seeding</a:t>
            </a:r>
            <a:r>
              <a:rPr lang="en-US" sz="2900" b="0" i="0" dirty="0">
                <a:effectLst/>
              </a:rPr>
              <a:t>: BLAST identifies short, high-scoring K-</a:t>
            </a:r>
            <a:r>
              <a:rPr lang="en-US" sz="2900" b="0" i="0" dirty="0" err="1">
                <a:effectLst/>
              </a:rPr>
              <a:t>mers</a:t>
            </a:r>
            <a:r>
              <a:rPr lang="en-US" sz="2900" b="0" i="0" dirty="0">
                <a:effectLst/>
              </a:rPr>
              <a:t> (K=6) in the query sequence.</a:t>
            </a:r>
          </a:p>
          <a:p>
            <a:pPr algn="l">
              <a:buFont typeface="+mj-lt"/>
              <a:buAutoNum type="arabicPeriod"/>
            </a:pPr>
            <a:r>
              <a:rPr lang="en-US" sz="2900" b="1" i="0" dirty="0">
                <a:effectLst/>
              </a:rPr>
              <a:t>Extension</a:t>
            </a:r>
            <a:r>
              <a:rPr lang="en-US" sz="2900" b="0" i="0" dirty="0">
                <a:effectLst/>
              </a:rPr>
              <a:t>: It extends these matches in both directions to form longer alignments.</a:t>
            </a:r>
          </a:p>
          <a:p>
            <a:pPr algn="l">
              <a:buFont typeface="+mj-lt"/>
              <a:buAutoNum type="arabicPeriod"/>
            </a:pPr>
            <a:r>
              <a:rPr lang="en-US" sz="2900" b="1" i="0" dirty="0">
                <a:effectLst/>
              </a:rPr>
              <a:t>Scoring</a:t>
            </a:r>
            <a:r>
              <a:rPr lang="en-US" sz="2900" b="0" i="0" dirty="0">
                <a:effectLst/>
              </a:rPr>
              <a:t>: Alignments are scored based on substitution matrices (e.g., PAM, BLOSUM for proteins) or nucleotide match/mismatch scores.</a:t>
            </a:r>
          </a:p>
          <a:p>
            <a:pPr algn="l">
              <a:buFont typeface="+mj-lt"/>
              <a:buAutoNum type="arabicPeriod"/>
            </a:pPr>
            <a:r>
              <a:rPr lang="en-US" sz="2900" b="1" i="0" dirty="0">
                <a:effectLst/>
              </a:rPr>
              <a:t>Filtering</a:t>
            </a:r>
            <a:r>
              <a:rPr lang="en-US" sz="2900" b="0" i="0" dirty="0">
                <a:effectLst/>
              </a:rPr>
              <a:t>: Low-scoring alignments are discarded, and significant matches are retained.</a:t>
            </a:r>
          </a:p>
          <a:p>
            <a:endParaRPr lang="en-US" dirty="0"/>
          </a:p>
          <a:p>
            <a:endParaRPr lang="en-US" dirty="0"/>
          </a:p>
        </p:txBody>
      </p:sp>
    </p:spTree>
    <p:extLst>
      <p:ext uri="{BB962C8B-B14F-4D97-AF65-F5344CB8AC3E}">
        <p14:creationId xmlns:p14="http://schemas.microsoft.com/office/powerpoint/2010/main" val="271195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D603-E44E-51F8-9561-44AC3BC4D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2CD11-FD05-0FA7-E251-84BA0E4C4996}"/>
              </a:ext>
            </a:extLst>
          </p:cNvPr>
          <p:cNvSpPr>
            <a:spLocks noGrp="1"/>
          </p:cNvSpPr>
          <p:nvPr>
            <p:ph type="title"/>
          </p:nvPr>
        </p:nvSpPr>
        <p:spPr/>
        <p:txBody>
          <a:bodyPr>
            <a:normAutofit fontScale="90000"/>
          </a:bodyPr>
          <a:lstStyle/>
          <a:p>
            <a:r>
              <a:rPr lang="en-US" dirty="0"/>
              <a:t>NCBI Blast online</a:t>
            </a:r>
          </a:p>
        </p:txBody>
      </p:sp>
      <p:pic>
        <p:nvPicPr>
          <p:cNvPr id="10" name="Picture 9">
            <a:extLst>
              <a:ext uri="{FF2B5EF4-FFF2-40B4-BE49-F238E27FC236}">
                <a16:creationId xmlns:a16="http://schemas.microsoft.com/office/drawing/2014/main" id="{B0A70131-16B2-4421-B596-D336C3CECDD8}"/>
              </a:ext>
            </a:extLst>
          </p:cNvPr>
          <p:cNvPicPr>
            <a:picLocks noChangeAspect="1"/>
          </p:cNvPicPr>
          <p:nvPr/>
        </p:nvPicPr>
        <p:blipFill>
          <a:blip r:embed="rId2"/>
          <a:stretch>
            <a:fillRect/>
          </a:stretch>
        </p:blipFill>
        <p:spPr>
          <a:xfrm>
            <a:off x="6096000" y="0"/>
            <a:ext cx="5991118" cy="6858000"/>
          </a:xfrm>
          <a:prstGeom prst="rect">
            <a:avLst/>
          </a:prstGeom>
        </p:spPr>
      </p:pic>
      <p:sp>
        <p:nvSpPr>
          <p:cNvPr id="11" name="Content Placeholder 2">
            <a:extLst>
              <a:ext uri="{FF2B5EF4-FFF2-40B4-BE49-F238E27FC236}">
                <a16:creationId xmlns:a16="http://schemas.microsoft.com/office/drawing/2014/main" id="{AF497A88-975D-04FD-325F-BB6DCAD36E0C}"/>
              </a:ext>
            </a:extLst>
          </p:cNvPr>
          <p:cNvSpPr>
            <a:spLocks noGrp="1"/>
          </p:cNvSpPr>
          <p:nvPr>
            <p:ph idx="1"/>
          </p:nvPr>
        </p:nvSpPr>
        <p:spPr>
          <a:xfrm>
            <a:off x="598620" y="1596540"/>
            <a:ext cx="5351606" cy="5261460"/>
          </a:xfrm>
        </p:spPr>
        <p:txBody>
          <a:bodyPr/>
          <a:lstStyle/>
          <a:p>
            <a:r>
              <a:rPr lang="en-US" dirty="0" err="1"/>
              <a:t>Blastn</a:t>
            </a:r>
            <a:r>
              <a:rPr lang="en-US" dirty="0"/>
              <a:t>– genome to genome</a:t>
            </a:r>
          </a:p>
          <a:p>
            <a:r>
              <a:rPr lang="en-US" dirty="0"/>
              <a:t>Blastp – protein to protein</a:t>
            </a:r>
          </a:p>
          <a:p>
            <a:r>
              <a:rPr lang="en-US" dirty="0" err="1"/>
              <a:t>Blastx</a:t>
            </a:r>
            <a:r>
              <a:rPr lang="en-US" dirty="0"/>
              <a:t> – genome(</a:t>
            </a:r>
            <a:r>
              <a:rPr lang="en-US" dirty="0" err="1"/>
              <a:t>trnsl</a:t>
            </a:r>
            <a:r>
              <a:rPr lang="en-US" dirty="0"/>
              <a:t>) to protein</a:t>
            </a:r>
          </a:p>
          <a:p>
            <a:r>
              <a:rPr lang="en-US" dirty="0"/>
              <a:t>Tblastn – protein to genome (</a:t>
            </a:r>
            <a:r>
              <a:rPr lang="en-US" dirty="0" err="1"/>
              <a:t>trnsl</a:t>
            </a:r>
            <a:r>
              <a:rPr lang="en-US" dirty="0"/>
              <a:t>) </a:t>
            </a:r>
          </a:p>
          <a:p>
            <a:r>
              <a:rPr lang="en-US" dirty="0" err="1"/>
              <a:t>Tblastx</a:t>
            </a:r>
            <a:r>
              <a:rPr lang="en-US" dirty="0"/>
              <a:t> -- genome(</a:t>
            </a:r>
            <a:r>
              <a:rPr lang="en-US" dirty="0" err="1"/>
              <a:t>trnsl</a:t>
            </a:r>
            <a:r>
              <a:rPr lang="en-US" dirty="0"/>
              <a:t>) to genome(</a:t>
            </a:r>
            <a:r>
              <a:rPr lang="en-US" dirty="0" err="1"/>
              <a:t>trnsl</a:t>
            </a:r>
            <a:r>
              <a:rPr lang="en-US" dirty="0"/>
              <a:t>) </a:t>
            </a:r>
          </a:p>
          <a:p>
            <a:endParaRPr lang="en-US" dirty="0"/>
          </a:p>
          <a:p>
            <a:endParaRPr lang="en-US" dirty="0"/>
          </a:p>
        </p:txBody>
      </p:sp>
    </p:spTree>
    <p:extLst>
      <p:ext uri="{BB962C8B-B14F-4D97-AF65-F5344CB8AC3E}">
        <p14:creationId xmlns:p14="http://schemas.microsoft.com/office/powerpoint/2010/main" val="12531692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6CD09-163D-BC9E-529C-08D487881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9296E-7F68-796B-58D4-740E6FD8D640}"/>
              </a:ext>
            </a:extLst>
          </p:cNvPr>
          <p:cNvSpPr>
            <a:spLocks noGrp="1"/>
          </p:cNvSpPr>
          <p:nvPr>
            <p:ph type="title"/>
          </p:nvPr>
        </p:nvSpPr>
        <p:spPr/>
        <p:txBody>
          <a:bodyPr>
            <a:normAutofit fontScale="90000"/>
          </a:bodyPr>
          <a:lstStyle/>
          <a:p>
            <a:r>
              <a:rPr lang="en-US" dirty="0"/>
              <a:t>NCBI Blast online</a:t>
            </a:r>
          </a:p>
        </p:txBody>
      </p:sp>
      <p:pic>
        <p:nvPicPr>
          <p:cNvPr id="4" name="Picture 3">
            <a:extLst>
              <a:ext uri="{FF2B5EF4-FFF2-40B4-BE49-F238E27FC236}">
                <a16:creationId xmlns:a16="http://schemas.microsoft.com/office/drawing/2014/main" id="{F6930949-AB07-C67D-545D-DE36E33CFC0D}"/>
              </a:ext>
            </a:extLst>
          </p:cNvPr>
          <p:cNvPicPr>
            <a:picLocks noChangeAspect="1"/>
          </p:cNvPicPr>
          <p:nvPr/>
        </p:nvPicPr>
        <p:blipFill>
          <a:blip r:embed="rId2"/>
          <a:stretch>
            <a:fillRect/>
          </a:stretch>
        </p:blipFill>
        <p:spPr>
          <a:xfrm>
            <a:off x="4709834" y="0"/>
            <a:ext cx="7247514" cy="6858000"/>
          </a:xfrm>
          <a:prstGeom prst="rect">
            <a:avLst/>
          </a:prstGeom>
        </p:spPr>
      </p:pic>
    </p:spTree>
    <p:extLst>
      <p:ext uri="{BB962C8B-B14F-4D97-AF65-F5344CB8AC3E}">
        <p14:creationId xmlns:p14="http://schemas.microsoft.com/office/powerpoint/2010/main" val="3405783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0C4CD-8168-DB67-AE7F-4378F3BFA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51746-7154-5EBF-3387-4DCFA4D89BBA}"/>
              </a:ext>
            </a:extLst>
          </p:cNvPr>
          <p:cNvSpPr>
            <a:spLocks noGrp="1"/>
          </p:cNvSpPr>
          <p:nvPr>
            <p:ph type="title"/>
          </p:nvPr>
        </p:nvSpPr>
        <p:spPr/>
        <p:txBody>
          <a:bodyPr>
            <a:normAutofit fontScale="90000"/>
          </a:bodyPr>
          <a:lstStyle/>
          <a:p>
            <a:r>
              <a:rPr lang="en-US" dirty="0"/>
              <a:t>NCBI Blast online</a:t>
            </a:r>
          </a:p>
        </p:txBody>
      </p:sp>
      <p:pic>
        <p:nvPicPr>
          <p:cNvPr id="8" name="Picture 7">
            <a:extLst>
              <a:ext uri="{FF2B5EF4-FFF2-40B4-BE49-F238E27FC236}">
                <a16:creationId xmlns:a16="http://schemas.microsoft.com/office/drawing/2014/main" id="{8BBB5F8E-3DBB-0E97-BB90-5CB3D56AE63A}"/>
              </a:ext>
            </a:extLst>
          </p:cNvPr>
          <p:cNvPicPr>
            <a:picLocks noChangeAspect="1"/>
          </p:cNvPicPr>
          <p:nvPr/>
        </p:nvPicPr>
        <p:blipFill>
          <a:blip r:embed="rId2"/>
          <a:stretch>
            <a:fillRect/>
          </a:stretch>
        </p:blipFill>
        <p:spPr>
          <a:xfrm>
            <a:off x="4380560" y="380977"/>
            <a:ext cx="7667804" cy="6181188"/>
          </a:xfrm>
          <a:prstGeom prst="rect">
            <a:avLst/>
          </a:prstGeom>
        </p:spPr>
      </p:pic>
    </p:spTree>
    <p:extLst>
      <p:ext uri="{BB962C8B-B14F-4D97-AF65-F5344CB8AC3E}">
        <p14:creationId xmlns:p14="http://schemas.microsoft.com/office/powerpoint/2010/main" val="40628957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1EF9-9B4E-0674-E68B-75325065B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A1AFD-0538-3FEE-30EB-BC9747C16B0E}"/>
              </a:ext>
            </a:extLst>
          </p:cNvPr>
          <p:cNvSpPr>
            <a:spLocks noGrp="1"/>
          </p:cNvSpPr>
          <p:nvPr>
            <p:ph type="title"/>
          </p:nvPr>
        </p:nvSpPr>
        <p:spPr/>
        <p:txBody>
          <a:bodyPr>
            <a:normAutofit fontScale="90000"/>
          </a:bodyPr>
          <a:lstStyle/>
          <a:p>
            <a:r>
              <a:rPr lang="en-US" dirty="0"/>
              <a:t>Local blast suite</a:t>
            </a:r>
          </a:p>
        </p:txBody>
      </p:sp>
      <p:pic>
        <p:nvPicPr>
          <p:cNvPr id="8" name="Picture 7">
            <a:extLst>
              <a:ext uri="{FF2B5EF4-FFF2-40B4-BE49-F238E27FC236}">
                <a16:creationId xmlns:a16="http://schemas.microsoft.com/office/drawing/2014/main" id="{54FDDF07-6EBF-3B46-FEDD-129A277AF20F}"/>
              </a:ext>
            </a:extLst>
          </p:cNvPr>
          <p:cNvPicPr>
            <a:picLocks noChangeAspect="1"/>
          </p:cNvPicPr>
          <p:nvPr/>
        </p:nvPicPr>
        <p:blipFill>
          <a:blip r:embed="rId2"/>
          <a:stretch>
            <a:fillRect/>
          </a:stretch>
        </p:blipFill>
        <p:spPr>
          <a:xfrm>
            <a:off x="4152452" y="680310"/>
            <a:ext cx="7737588" cy="5754483"/>
          </a:xfrm>
          <a:prstGeom prst="rect">
            <a:avLst/>
          </a:prstGeom>
        </p:spPr>
      </p:pic>
    </p:spTree>
    <p:extLst>
      <p:ext uri="{BB962C8B-B14F-4D97-AF65-F5344CB8AC3E}">
        <p14:creationId xmlns:p14="http://schemas.microsoft.com/office/powerpoint/2010/main" val="5954543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183DC-5EB3-1857-104E-B9DB99ADDB1D}"/>
              </a:ext>
            </a:extLst>
          </p:cNvPr>
          <p:cNvSpPr>
            <a:spLocks noGrp="1"/>
          </p:cNvSpPr>
          <p:nvPr>
            <p:ph type="title"/>
          </p:nvPr>
        </p:nvSpPr>
        <p:spPr/>
        <p:txBody>
          <a:bodyPr>
            <a:normAutofit fontScale="90000"/>
          </a:bodyPr>
          <a:lstStyle/>
          <a:p>
            <a:r>
              <a:rPr lang="en-US" dirty="0"/>
              <a:t>Alignment programs</a:t>
            </a:r>
          </a:p>
        </p:txBody>
      </p:sp>
      <p:sp>
        <p:nvSpPr>
          <p:cNvPr id="3" name="Content Placeholder 2">
            <a:extLst>
              <a:ext uri="{FF2B5EF4-FFF2-40B4-BE49-F238E27FC236}">
                <a16:creationId xmlns:a16="http://schemas.microsoft.com/office/drawing/2014/main" id="{51C73E3A-789D-F771-C97B-85E5E6442554}"/>
              </a:ext>
            </a:extLst>
          </p:cNvPr>
          <p:cNvSpPr>
            <a:spLocks noGrp="1"/>
          </p:cNvSpPr>
          <p:nvPr>
            <p:ph idx="1"/>
          </p:nvPr>
        </p:nvSpPr>
        <p:spPr>
          <a:xfrm>
            <a:off x="838200" y="1597306"/>
            <a:ext cx="10515600" cy="2060294"/>
          </a:xfrm>
        </p:spPr>
        <p:txBody>
          <a:bodyPr>
            <a:normAutofit/>
          </a:bodyPr>
          <a:lstStyle/>
          <a:p>
            <a:r>
              <a:rPr lang="en-US" dirty="0"/>
              <a:t>Nucmer and </a:t>
            </a:r>
            <a:r>
              <a:rPr lang="en-US" dirty="0" err="1"/>
              <a:t>promer</a:t>
            </a:r>
            <a:r>
              <a:rPr lang="en-US" dirty="0"/>
              <a:t> (part of mummer package)</a:t>
            </a:r>
          </a:p>
          <a:p>
            <a:pPr lvl="1"/>
            <a:r>
              <a:rPr lang="en-US" dirty="0"/>
              <a:t>Used for DNA (nucmer) and protein (</a:t>
            </a:r>
            <a:r>
              <a:rPr lang="en-US" dirty="0" err="1"/>
              <a:t>promer</a:t>
            </a:r>
            <a:r>
              <a:rPr lang="en-US" dirty="0"/>
              <a:t>) sequence alignments</a:t>
            </a:r>
          </a:p>
          <a:p>
            <a:pPr lvl="1"/>
            <a:r>
              <a:rPr lang="en-US" dirty="0"/>
              <a:t>Based on suffix array, computes index of the reference</a:t>
            </a:r>
          </a:p>
        </p:txBody>
      </p:sp>
      <p:pic>
        <p:nvPicPr>
          <p:cNvPr id="5" name="Picture 4">
            <a:extLst>
              <a:ext uri="{FF2B5EF4-FFF2-40B4-BE49-F238E27FC236}">
                <a16:creationId xmlns:a16="http://schemas.microsoft.com/office/drawing/2014/main" id="{25688B4F-075A-8A44-3897-704DE44B46B4}"/>
              </a:ext>
            </a:extLst>
          </p:cNvPr>
          <p:cNvPicPr>
            <a:picLocks noChangeAspect="1"/>
          </p:cNvPicPr>
          <p:nvPr/>
        </p:nvPicPr>
        <p:blipFill>
          <a:blip r:embed="rId2"/>
          <a:stretch>
            <a:fillRect/>
          </a:stretch>
        </p:blipFill>
        <p:spPr>
          <a:xfrm>
            <a:off x="167119" y="3657600"/>
            <a:ext cx="6127664" cy="2462008"/>
          </a:xfrm>
          <a:prstGeom prst="rect">
            <a:avLst/>
          </a:prstGeom>
        </p:spPr>
      </p:pic>
      <p:pic>
        <p:nvPicPr>
          <p:cNvPr id="7" name="Picture 6">
            <a:extLst>
              <a:ext uri="{FF2B5EF4-FFF2-40B4-BE49-F238E27FC236}">
                <a16:creationId xmlns:a16="http://schemas.microsoft.com/office/drawing/2014/main" id="{0137E94F-987F-7D08-607C-65E0BC1C2902}"/>
              </a:ext>
            </a:extLst>
          </p:cNvPr>
          <p:cNvPicPr>
            <a:picLocks noChangeAspect="1"/>
          </p:cNvPicPr>
          <p:nvPr/>
        </p:nvPicPr>
        <p:blipFill>
          <a:blip r:embed="rId3"/>
          <a:stretch>
            <a:fillRect/>
          </a:stretch>
        </p:blipFill>
        <p:spPr>
          <a:xfrm>
            <a:off x="6294783" y="3657601"/>
            <a:ext cx="5459895" cy="3010038"/>
          </a:xfrm>
          <a:prstGeom prst="rect">
            <a:avLst/>
          </a:prstGeom>
        </p:spPr>
      </p:pic>
    </p:spTree>
    <p:extLst>
      <p:ext uri="{BB962C8B-B14F-4D97-AF65-F5344CB8AC3E}">
        <p14:creationId xmlns:p14="http://schemas.microsoft.com/office/powerpoint/2010/main" val="279897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4DF62-1EBB-683B-DAEF-0D19D7D604F0}"/>
              </a:ext>
            </a:extLst>
          </p:cNvPr>
          <p:cNvSpPr>
            <a:spLocks noGrp="1"/>
          </p:cNvSpPr>
          <p:nvPr>
            <p:ph type="title"/>
          </p:nvPr>
        </p:nvSpPr>
        <p:spPr/>
        <p:txBody>
          <a:bodyPr>
            <a:normAutofit fontScale="90000"/>
          </a:bodyPr>
          <a:lstStyle/>
          <a:p>
            <a:r>
              <a:rPr lang="en-US" dirty="0"/>
              <a:t>Nucmer aligner</a:t>
            </a:r>
          </a:p>
        </p:txBody>
      </p:sp>
      <p:sp>
        <p:nvSpPr>
          <p:cNvPr id="3" name="Content Placeholder 2">
            <a:extLst>
              <a:ext uri="{FF2B5EF4-FFF2-40B4-BE49-F238E27FC236}">
                <a16:creationId xmlns:a16="http://schemas.microsoft.com/office/drawing/2014/main" id="{829BA9CD-2273-4C42-BBB1-119F4DD852D1}"/>
              </a:ext>
            </a:extLst>
          </p:cNvPr>
          <p:cNvSpPr>
            <a:spLocks noGrp="1"/>
          </p:cNvSpPr>
          <p:nvPr>
            <p:ph idx="1"/>
          </p:nvPr>
        </p:nvSpPr>
        <p:spPr>
          <a:xfrm>
            <a:off x="445915" y="1901950"/>
            <a:ext cx="10972800" cy="4275740"/>
          </a:xfrm>
        </p:spPr>
        <p:txBody>
          <a:bodyPr>
            <a:normAutofit lnSpcReduction="10000"/>
          </a:bodyPr>
          <a:lstStyle/>
          <a:p>
            <a:r>
              <a:rPr lang="en-US" i="1" dirty="0"/>
              <a:t>nucmer</a:t>
            </a:r>
            <a:r>
              <a:rPr lang="en-US" dirty="0"/>
              <a:t> is a general alignment tool for aligning DNA sequences</a:t>
            </a:r>
          </a:p>
          <a:p>
            <a:pPr lvl="1"/>
            <a:r>
              <a:rPr lang="en-US" dirty="0"/>
              <a:t>documentation </a:t>
            </a:r>
            <a:r>
              <a:rPr lang="en-US" dirty="0">
                <a:hlinkClick r:id="rId2"/>
              </a:rPr>
              <a:t>https://mummer4.github.io/</a:t>
            </a:r>
            <a:endParaRPr lang="en-US" dirty="0"/>
          </a:p>
          <a:p>
            <a:endParaRPr lang="en-US" dirty="0"/>
          </a:p>
          <a:p>
            <a:r>
              <a:rPr lang="en-US" dirty="0"/>
              <a:t>fast, multi-threaded</a:t>
            </a:r>
          </a:p>
          <a:p>
            <a:endParaRPr lang="en-US" dirty="0"/>
          </a:p>
          <a:p>
            <a:r>
              <a:rPr lang="en-US" dirty="0"/>
              <a:t>virtually no limitation on sequence length</a:t>
            </a:r>
          </a:p>
          <a:p>
            <a:endParaRPr lang="en-US" dirty="0"/>
          </a:p>
          <a:p>
            <a:r>
              <a:rPr lang="en-US" dirty="0"/>
              <a:t>based on seeding the alignment with maximal exact matches (MUMs) and suffix arrays</a:t>
            </a:r>
          </a:p>
        </p:txBody>
      </p:sp>
    </p:spTree>
    <p:extLst>
      <p:ext uri="{BB962C8B-B14F-4D97-AF65-F5344CB8AC3E}">
        <p14:creationId xmlns:p14="http://schemas.microsoft.com/office/powerpoint/2010/main" val="8935234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0113-704B-B073-8469-8EBF0CA4839B}"/>
              </a:ext>
            </a:extLst>
          </p:cNvPr>
          <p:cNvSpPr>
            <a:spLocks noGrp="1"/>
          </p:cNvSpPr>
          <p:nvPr>
            <p:ph type="title"/>
          </p:nvPr>
        </p:nvSpPr>
        <p:spPr/>
        <p:txBody>
          <a:bodyPr>
            <a:normAutofit fontScale="90000"/>
          </a:bodyPr>
          <a:lstStyle/>
          <a:p>
            <a:r>
              <a:rPr lang="en-US" dirty="0"/>
              <a:t>Nucmer usage</a:t>
            </a:r>
          </a:p>
        </p:txBody>
      </p:sp>
      <p:sp>
        <p:nvSpPr>
          <p:cNvPr id="3" name="Content Placeholder 2">
            <a:extLst>
              <a:ext uri="{FF2B5EF4-FFF2-40B4-BE49-F238E27FC236}">
                <a16:creationId xmlns:a16="http://schemas.microsoft.com/office/drawing/2014/main" id="{791788F4-FF21-B46E-6352-C2620D8ED97A}"/>
              </a:ext>
            </a:extLst>
          </p:cNvPr>
          <p:cNvSpPr>
            <a:spLocks noGrp="1"/>
          </p:cNvSpPr>
          <p:nvPr>
            <p:ph idx="1"/>
          </p:nvPr>
        </p:nvSpPr>
        <p:spPr>
          <a:xfrm>
            <a:off x="609600" y="1901950"/>
            <a:ext cx="10972800" cy="4581150"/>
          </a:xfrm>
        </p:spPr>
        <p:txBody>
          <a:bodyPr>
            <a:normAutofit fontScale="92500" lnSpcReduction="10000"/>
          </a:bodyPr>
          <a:lstStyle/>
          <a:p>
            <a:r>
              <a:rPr lang="en-US" dirty="0"/>
              <a:t>nucmer –t &lt;# threads&gt; -p &lt;prefix&gt; </a:t>
            </a:r>
            <a:r>
              <a:rPr lang="en-US" dirty="0" err="1"/>
              <a:t>reference.fa</a:t>
            </a:r>
            <a:r>
              <a:rPr lang="en-US" dirty="0"/>
              <a:t> </a:t>
            </a:r>
            <a:r>
              <a:rPr lang="en-US" dirty="0" err="1"/>
              <a:t>query.fa</a:t>
            </a:r>
            <a:endParaRPr lang="en-US" dirty="0"/>
          </a:p>
          <a:p>
            <a:endParaRPr lang="en-US" dirty="0"/>
          </a:p>
          <a:p>
            <a:r>
              <a:rPr lang="en-US" dirty="0"/>
              <a:t>output is in </a:t>
            </a:r>
            <a:r>
              <a:rPr lang="en-US" dirty="0" err="1"/>
              <a:t>prefix.delta</a:t>
            </a:r>
            <a:r>
              <a:rPr lang="en-US" dirty="0"/>
              <a:t> (can also output SAM format)</a:t>
            </a:r>
          </a:p>
          <a:p>
            <a:endParaRPr lang="en-US" dirty="0"/>
          </a:p>
          <a:p>
            <a:r>
              <a:rPr lang="en-US" dirty="0"/>
              <a:t>by default only uses seeds (MEMs or MUMs) that are unique in the reference!</a:t>
            </a:r>
          </a:p>
          <a:p>
            <a:endParaRPr lang="en-US" dirty="0"/>
          </a:p>
          <a:p>
            <a:r>
              <a:rPr lang="en-US" dirty="0"/>
              <a:t>Most useful options</a:t>
            </a:r>
          </a:p>
          <a:p>
            <a:pPr lvl="1"/>
            <a:r>
              <a:rPr lang="en-US" dirty="0"/>
              <a:t>-l minimum match length</a:t>
            </a:r>
          </a:p>
          <a:p>
            <a:pPr lvl="1"/>
            <a:r>
              <a:rPr lang="en-US" dirty="0"/>
              <a:t>-c minimum length of cluster of exact matches</a:t>
            </a:r>
          </a:p>
          <a:p>
            <a:pPr lvl="1"/>
            <a:r>
              <a:rPr lang="en-US" dirty="0"/>
              <a:t>--batch load reference in batches</a:t>
            </a:r>
          </a:p>
        </p:txBody>
      </p:sp>
    </p:spTree>
    <p:extLst>
      <p:ext uri="{BB962C8B-B14F-4D97-AF65-F5344CB8AC3E}">
        <p14:creationId xmlns:p14="http://schemas.microsoft.com/office/powerpoint/2010/main" val="2875146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CCE2-B205-1086-C6A7-8F483B1FB722}"/>
              </a:ext>
            </a:extLst>
          </p:cNvPr>
          <p:cNvSpPr>
            <a:spLocks noGrp="1"/>
          </p:cNvSpPr>
          <p:nvPr>
            <p:ph type="title"/>
          </p:nvPr>
        </p:nvSpPr>
        <p:spPr/>
        <p:txBody>
          <a:bodyPr>
            <a:normAutofit fontScale="90000"/>
          </a:bodyPr>
          <a:lstStyle/>
          <a:p>
            <a:r>
              <a:rPr lang="en-US" dirty="0"/>
              <a:t>Filtering/viewing nucmer output</a:t>
            </a:r>
          </a:p>
        </p:txBody>
      </p:sp>
      <p:sp>
        <p:nvSpPr>
          <p:cNvPr id="3" name="Content Placeholder 2">
            <a:extLst>
              <a:ext uri="{FF2B5EF4-FFF2-40B4-BE49-F238E27FC236}">
                <a16:creationId xmlns:a16="http://schemas.microsoft.com/office/drawing/2014/main" id="{D9C3B65E-5593-A906-FF37-FB8A5B95E3BA}"/>
              </a:ext>
            </a:extLst>
          </p:cNvPr>
          <p:cNvSpPr>
            <a:spLocks noGrp="1"/>
          </p:cNvSpPr>
          <p:nvPr>
            <p:ph idx="1"/>
          </p:nvPr>
        </p:nvSpPr>
        <p:spPr>
          <a:xfrm>
            <a:off x="598619" y="1901950"/>
            <a:ext cx="11147465" cy="4733855"/>
          </a:xfrm>
        </p:spPr>
        <p:txBody>
          <a:bodyPr>
            <a:normAutofit fontScale="85000" lnSpcReduction="20000"/>
          </a:bodyPr>
          <a:lstStyle/>
          <a:p>
            <a:r>
              <a:rPr lang="en-US" i="1" dirty="0"/>
              <a:t>delta-filter</a:t>
            </a:r>
            <a:r>
              <a:rPr lang="en-US" dirty="0"/>
              <a:t> tool is used to filter the output delta file</a:t>
            </a:r>
          </a:p>
          <a:p>
            <a:endParaRPr lang="en-US" dirty="0"/>
          </a:p>
          <a:p>
            <a:r>
              <a:rPr lang="en-US" i="1" dirty="0"/>
              <a:t>show-aligns</a:t>
            </a:r>
            <a:r>
              <a:rPr lang="en-US" dirty="0"/>
              <a:t> tool is used to display individual alignments</a:t>
            </a:r>
          </a:p>
          <a:p>
            <a:endParaRPr lang="en-US" dirty="0"/>
          </a:p>
          <a:p>
            <a:r>
              <a:rPr lang="en-US" i="1" dirty="0"/>
              <a:t>show-coords </a:t>
            </a:r>
            <a:r>
              <a:rPr lang="en-US" dirty="0"/>
              <a:t>tool is used to display the alignment coordinates in human-readable coords format</a:t>
            </a:r>
          </a:p>
          <a:p>
            <a:pPr marL="0" indent="0">
              <a:buNone/>
            </a:pPr>
            <a:endParaRPr lang="en-US" dirty="0"/>
          </a:p>
          <a:p>
            <a:r>
              <a:rPr lang="en-US" dirty="0"/>
              <a:t>most useful options</a:t>
            </a:r>
          </a:p>
          <a:p>
            <a:pPr lvl="1"/>
            <a:r>
              <a:rPr lang="en-US" dirty="0"/>
              <a:t>-l long output format</a:t>
            </a:r>
          </a:p>
          <a:p>
            <a:pPr lvl="1"/>
            <a:r>
              <a:rPr lang="en-US" dirty="0"/>
              <a:t>-c include percent coverage</a:t>
            </a:r>
          </a:p>
          <a:p>
            <a:pPr lvl="1"/>
            <a:r>
              <a:rPr lang="en-US" dirty="0"/>
              <a:t>-H remove header</a:t>
            </a:r>
          </a:p>
          <a:p>
            <a:pPr lvl="1"/>
            <a:r>
              <a:rPr lang="en-US" dirty="0"/>
              <a:t>-r sort alignments by reference coordinate</a:t>
            </a:r>
          </a:p>
        </p:txBody>
      </p:sp>
    </p:spTree>
    <p:extLst>
      <p:ext uri="{BB962C8B-B14F-4D97-AF65-F5344CB8AC3E}">
        <p14:creationId xmlns:p14="http://schemas.microsoft.com/office/powerpoint/2010/main" val="21117518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FBD4-462B-F64D-06E6-84889BE487BF}"/>
              </a:ext>
            </a:extLst>
          </p:cNvPr>
          <p:cNvSpPr>
            <a:spLocks noGrp="1"/>
          </p:cNvSpPr>
          <p:nvPr>
            <p:ph type="title"/>
          </p:nvPr>
        </p:nvSpPr>
        <p:spPr/>
        <p:txBody>
          <a:bodyPr>
            <a:normAutofit fontScale="90000"/>
          </a:bodyPr>
          <a:lstStyle/>
          <a:p>
            <a:r>
              <a:rPr lang="en-US" dirty="0"/>
              <a:t>show-aligns output</a:t>
            </a:r>
          </a:p>
        </p:txBody>
      </p:sp>
      <p:sp>
        <p:nvSpPr>
          <p:cNvPr id="4" name="Slide Number Placeholder 3">
            <a:extLst>
              <a:ext uri="{FF2B5EF4-FFF2-40B4-BE49-F238E27FC236}">
                <a16:creationId xmlns:a16="http://schemas.microsoft.com/office/drawing/2014/main" id="{CA193559-6FFC-11AD-D312-BD5DC131AB43}"/>
              </a:ext>
            </a:extLst>
          </p:cNvPr>
          <p:cNvSpPr>
            <a:spLocks noGrp="1"/>
          </p:cNvSpPr>
          <p:nvPr>
            <p:ph type="sldNum" sz="quarter" idx="12"/>
          </p:nvPr>
        </p:nvSpPr>
        <p:spPr/>
        <p:txBody>
          <a:bodyPr/>
          <a:lstStyle/>
          <a:p>
            <a:fld id="{B82CCC60-E8CD-4174-8B1A-7DF615B22EEF}" type="slidenum">
              <a:rPr lang="en-US" smtClean="0"/>
              <a:pPr/>
              <a:t>51</a:t>
            </a:fld>
            <a:endParaRPr lang="en-US"/>
          </a:p>
        </p:txBody>
      </p:sp>
      <p:sp>
        <p:nvSpPr>
          <p:cNvPr id="5" name="Content Placeholder 2">
            <a:extLst>
              <a:ext uri="{FF2B5EF4-FFF2-40B4-BE49-F238E27FC236}">
                <a16:creationId xmlns:a16="http://schemas.microsoft.com/office/drawing/2014/main" id="{ACFA0E36-8E50-BB0A-8442-0A705A5190DF}"/>
              </a:ext>
            </a:extLst>
          </p:cNvPr>
          <p:cNvSpPr>
            <a:spLocks noGrp="1"/>
          </p:cNvSpPr>
          <p:nvPr>
            <p:ph idx="1"/>
          </p:nvPr>
        </p:nvSpPr>
        <p:spPr>
          <a:xfrm>
            <a:off x="257175" y="1798668"/>
            <a:ext cx="10734675" cy="3859181"/>
          </a:xfrm>
        </p:spPr>
        <p:txBody>
          <a:bodyPr>
            <a:normAutofit/>
          </a:bodyPr>
          <a:lstStyle/>
          <a:p>
            <a:r>
              <a:rPr lang="en-US" dirty="0"/>
              <a:t>Alignment: </a:t>
            </a:r>
            <a:br>
              <a:rPr lang="en-US" dirty="0"/>
            </a:br>
            <a:r>
              <a:rPr lang="en-US" dirty="0">
                <a:solidFill>
                  <a:schemeClr val="tx1"/>
                </a:solidFill>
                <a:latin typeface="Courier New" panose="02070309020205020404" pitchFamily="49" charset="0"/>
                <a:cs typeface="Courier New" panose="02070309020205020404" pitchFamily="49" charset="0"/>
              </a:rPr>
              <a:t>GCCCATGACTCGCATGCTGACATGCTGCTAGCT</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 | |||||||||||||| |                  </a:t>
            </a:r>
            <a:br>
              <a:rPr lang="en-US" dirty="0">
                <a:solidFill>
                  <a:schemeClr val="tx1"/>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A</a:t>
            </a:r>
            <a:r>
              <a:rPr lang="en-US" dirty="0">
                <a:solidFill>
                  <a:schemeClr val="tx1"/>
                </a:solidFill>
                <a:latin typeface="Courier New" panose="02070309020205020404" pitchFamily="49" charset="0"/>
                <a:cs typeface="Courier New" panose="02070309020205020404" pitchFamily="49" charset="0"/>
              </a:rPr>
              <a:t>CCCATGACTCGCA</a:t>
            </a:r>
            <a:r>
              <a:rPr lang="en-US" dirty="0">
                <a:solidFill>
                  <a:srgbClr val="FF0000"/>
                </a:solidFill>
                <a:latin typeface="Courier New" panose="02070309020205020404" pitchFamily="49" charset="0"/>
                <a:cs typeface="Courier New" panose="02070309020205020404" pitchFamily="49" charset="0"/>
              </a:rPr>
              <a:t>-</a:t>
            </a:r>
            <a:r>
              <a:rPr lang="en-US" dirty="0">
                <a:solidFill>
                  <a:schemeClr val="tx1"/>
                </a:solidFill>
                <a:latin typeface="Courier New" panose="02070309020205020404" pitchFamily="49" charset="0"/>
                <a:cs typeface="Courier New" panose="02070309020205020404" pitchFamily="49" charset="0"/>
              </a:rPr>
              <a:t>G</a:t>
            </a:r>
            <a:r>
              <a:rPr lang="en-US" dirty="0">
                <a:solidFill>
                  <a:srgbClr val="FF0000"/>
                </a:solidFill>
                <a:latin typeface="Courier New" panose="02070309020205020404" pitchFamily="49" charset="0"/>
                <a:cs typeface="Courier New" panose="02070309020205020404" pitchFamily="49" charset="0"/>
              </a:rPr>
              <a:t>A</a:t>
            </a:r>
            <a:r>
              <a:rPr lang="en-US" dirty="0">
                <a:solidFill>
                  <a:schemeClr val="tx1"/>
                </a:solidFill>
                <a:latin typeface="Courier New" panose="02070309020205020404" pitchFamily="49" charset="0"/>
                <a:cs typeface="Courier New" panose="02070309020205020404" pitchFamily="49" charset="0"/>
              </a:rPr>
              <a:t>TGACATGCTGCTAG</a:t>
            </a:r>
            <a:r>
              <a:rPr lang="en-US" dirty="0">
                <a:solidFill>
                  <a:srgbClr val="FF0000"/>
                </a:solidFill>
                <a:latin typeface="Courier New" panose="02070309020205020404" pitchFamily="49" charset="0"/>
                <a:cs typeface="Courier New" panose="02070309020205020404" pitchFamily="49" charset="0"/>
              </a:rPr>
              <a:t>A</a:t>
            </a:r>
            <a:r>
              <a:rPr lang="en-US" dirty="0">
                <a:solidFill>
                  <a:schemeClr val="tx1"/>
                </a:solidFill>
                <a:latin typeface="Courier New" panose="02070309020205020404" pitchFamily="49" charset="0"/>
                <a:cs typeface="Courier New" panose="02070309020205020404" pitchFamily="49" charset="0"/>
              </a:rPr>
              <a:t>T</a:t>
            </a:r>
          </a:p>
          <a:p>
            <a:pPr marL="0" indent="0">
              <a:buNone/>
            </a:pPr>
            <a:endParaRPr lang="en-US" dirty="0"/>
          </a:p>
        </p:txBody>
      </p:sp>
      <p:pic>
        <p:nvPicPr>
          <p:cNvPr id="7" name="Picture 6">
            <a:extLst>
              <a:ext uri="{FF2B5EF4-FFF2-40B4-BE49-F238E27FC236}">
                <a16:creationId xmlns:a16="http://schemas.microsoft.com/office/drawing/2014/main" id="{FE227994-092B-F59B-4FD4-290A5ADC61C4}"/>
              </a:ext>
            </a:extLst>
          </p:cNvPr>
          <p:cNvPicPr>
            <a:picLocks noChangeAspect="1"/>
          </p:cNvPicPr>
          <p:nvPr/>
        </p:nvPicPr>
        <p:blipFill>
          <a:blip r:embed="rId2"/>
          <a:stretch>
            <a:fillRect/>
          </a:stretch>
        </p:blipFill>
        <p:spPr>
          <a:xfrm>
            <a:off x="257174" y="3543004"/>
            <a:ext cx="5984691" cy="3178472"/>
          </a:xfrm>
          <a:prstGeom prst="rect">
            <a:avLst/>
          </a:prstGeom>
        </p:spPr>
      </p:pic>
      <p:sp>
        <p:nvSpPr>
          <p:cNvPr id="8" name="Rectangle 7">
            <a:extLst>
              <a:ext uri="{FF2B5EF4-FFF2-40B4-BE49-F238E27FC236}">
                <a16:creationId xmlns:a16="http://schemas.microsoft.com/office/drawing/2014/main" id="{25D85F88-4790-8B1B-BA48-5B5189C3DFAE}"/>
              </a:ext>
            </a:extLst>
          </p:cNvPr>
          <p:cNvSpPr/>
          <p:nvPr/>
        </p:nvSpPr>
        <p:spPr>
          <a:xfrm>
            <a:off x="914400" y="2317531"/>
            <a:ext cx="6361386" cy="12254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16048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55C9D-7014-A7B2-D37C-AAA2E46A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A7057-1FB6-F874-64AC-7B2B5C53BC06}"/>
              </a:ext>
            </a:extLst>
          </p:cNvPr>
          <p:cNvSpPr>
            <a:spLocks noGrp="1"/>
          </p:cNvSpPr>
          <p:nvPr>
            <p:ph type="title"/>
          </p:nvPr>
        </p:nvSpPr>
        <p:spPr/>
        <p:txBody>
          <a:bodyPr>
            <a:normAutofit fontScale="90000"/>
          </a:bodyPr>
          <a:lstStyle/>
          <a:p>
            <a:r>
              <a:rPr lang="en-US" dirty="0"/>
              <a:t>delta/coords format</a:t>
            </a:r>
          </a:p>
        </p:txBody>
      </p:sp>
      <p:sp>
        <p:nvSpPr>
          <p:cNvPr id="3" name="Content Placeholder 2">
            <a:extLst>
              <a:ext uri="{FF2B5EF4-FFF2-40B4-BE49-F238E27FC236}">
                <a16:creationId xmlns:a16="http://schemas.microsoft.com/office/drawing/2014/main" id="{7EEFFDFD-D775-80C7-C6E8-9CA46A4F26F1}"/>
              </a:ext>
            </a:extLst>
          </p:cNvPr>
          <p:cNvSpPr>
            <a:spLocks noGrp="1"/>
          </p:cNvSpPr>
          <p:nvPr>
            <p:ph idx="1"/>
          </p:nvPr>
        </p:nvSpPr>
        <p:spPr>
          <a:xfrm>
            <a:off x="598620" y="1596541"/>
            <a:ext cx="10972800" cy="2329074"/>
          </a:xfrm>
        </p:spPr>
        <p:txBody>
          <a:bodyPr>
            <a:normAutofit/>
          </a:bodyPr>
          <a:lstStyle/>
          <a:p>
            <a:r>
              <a:rPr lang="en-US" dirty="0"/>
              <a:t>delta files are produced by nucmer, can be converted to coords format with show-coords</a:t>
            </a:r>
          </a:p>
          <a:p>
            <a:r>
              <a:rPr lang="en-US" dirty="0"/>
              <a:t>coords format (depends on the options), all 1-based</a:t>
            </a:r>
          </a:p>
          <a:p>
            <a:r>
              <a:rPr lang="en-US" dirty="0"/>
              <a:t>It is possible to change the format with –l –c –H –r –q switches</a:t>
            </a:r>
          </a:p>
          <a:p>
            <a:pPr lvl="1"/>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1C93FE4E-92AD-2665-14C8-BFD63DA821DE}"/>
              </a:ext>
            </a:extLst>
          </p:cNvPr>
          <p:cNvPicPr>
            <a:picLocks noChangeAspect="1"/>
          </p:cNvPicPr>
          <p:nvPr/>
        </p:nvPicPr>
        <p:blipFill>
          <a:blip r:embed="rId2"/>
          <a:stretch>
            <a:fillRect/>
          </a:stretch>
        </p:blipFill>
        <p:spPr>
          <a:xfrm>
            <a:off x="30563" y="4235965"/>
            <a:ext cx="12192000" cy="2050990"/>
          </a:xfrm>
          <a:prstGeom prst="rect">
            <a:avLst/>
          </a:prstGeom>
        </p:spPr>
      </p:pic>
    </p:spTree>
    <p:extLst>
      <p:ext uri="{BB962C8B-B14F-4D97-AF65-F5344CB8AC3E}">
        <p14:creationId xmlns:p14="http://schemas.microsoft.com/office/powerpoint/2010/main" val="660034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553A0-08C7-F4F1-72FC-134B8D00C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54F92-B204-F192-7364-C76FBB06045F}"/>
              </a:ext>
            </a:extLst>
          </p:cNvPr>
          <p:cNvSpPr>
            <a:spLocks noGrp="1"/>
          </p:cNvSpPr>
          <p:nvPr>
            <p:ph type="title"/>
          </p:nvPr>
        </p:nvSpPr>
        <p:spPr/>
        <p:txBody>
          <a:bodyPr>
            <a:normAutofit fontScale="90000"/>
          </a:bodyPr>
          <a:lstStyle/>
          <a:p>
            <a:r>
              <a:rPr lang="en-US" dirty="0"/>
              <a:t>Filtering/viewing nucmer output</a:t>
            </a:r>
          </a:p>
        </p:txBody>
      </p:sp>
      <p:sp>
        <p:nvSpPr>
          <p:cNvPr id="3" name="Content Placeholder 2">
            <a:extLst>
              <a:ext uri="{FF2B5EF4-FFF2-40B4-BE49-F238E27FC236}">
                <a16:creationId xmlns:a16="http://schemas.microsoft.com/office/drawing/2014/main" id="{EF59C38F-619F-63D5-A8E9-6158DACF087D}"/>
              </a:ext>
            </a:extLst>
          </p:cNvPr>
          <p:cNvSpPr>
            <a:spLocks noGrp="1"/>
          </p:cNvSpPr>
          <p:nvPr>
            <p:ph idx="1"/>
          </p:nvPr>
        </p:nvSpPr>
        <p:spPr>
          <a:xfrm>
            <a:off x="598619" y="1901950"/>
            <a:ext cx="5823695" cy="4733855"/>
          </a:xfrm>
        </p:spPr>
        <p:txBody>
          <a:bodyPr>
            <a:normAutofit/>
          </a:bodyPr>
          <a:lstStyle/>
          <a:p>
            <a:r>
              <a:rPr lang="en-US" dirty="0"/>
              <a:t>Mummerplot command will show the alignments as a plot</a:t>
            </a:r>
          </a:p>
          <a:p>
            <a:r>
              <a:rPr lang="en-US" dirty="0"/>
              <a:t>Align two strains of yeast (Saccharomyces cerevisiae and Saccharomyces </a:t>
            </a:r>
            <a:r>
              <a:rPr lang="en-US" dirty="0" err="1"/>
              <a:t>kudriavzevii</a:t>
            </a:r>
            <a:r>
              <a:rPr lang="en-US" dirty="0"/>
              <a:t>)</a:t>
            </a:r>
          </a:p>
          <a:p>
            <a:endParaRPr lang="en-US" dirty="0"/>
          </a:p>
        </p:txBody>
      </p:sp>
      <p:pic>
        <p:nvPicPr>
          <p:cNvPr id="5" name="Picture 4">
            <a:extLst>
              <a:ext uri="{FF2B5EF4-FFF2-40B4-BE49-F238E27FC236}">
                <a16:creationId xmlns:a16="http://schemas.microsoft.com/office/drawing/2014/main" id="{AA27BF78-7060-0E66-B333-EAFAD0EBFF03}"/>
              </a:ext>
            </a:extLst>
          </p:cNvPr>
          <p:cNvPicPr>
            <a:picLocks noChangeAspect="1"/>
          </p:cNvPicPr>
          <p:nvPr/>
        </p:nvPicPr>
        <p:blipFill>
          <a:blip r:embed="rId2"/>
          <a:stretch>
            <a:fillRect/>
          </a:stretch>
        </p:blipFill>
        <p:spPr>
          <a:xfrm>
            <a:off x="140578" y="4268877"/>
            <a:ext cx="7024015" cy="854467"/>
          </a:xfrm>
          <a:prstGeom prst="rect">
            <a:avLst/>
          </a:prstGeom>
        </p:spPr>
      </p:pic>
      <p:pic>
        <p:nvPicPr>
          <p:cNvPr id="7" name="Picture 6">
            <a:extLst>
              <a:ext uri="{FF2B5EF4-FFF2-40B4-BE49-F238E27FC236}">
                <a16:creationId xmlns:a16="http://schemas.microsoft.com/office/drawing/2014/main" id="{4D04B649-FBAD-1E25-DCDF-19FBA872E7CB}"/>
              </a:ext>
            </a:extLst>
          </p:cNvPr>
          <p:cNvPicPr>
            <a:picLocks noChangeAspect="1"/>
          </p:cNvPicPr>
          <p:nvPr/>
        </p:nvPicPr>
        <p:blipFill>
          <a:blip r:embed="rId3"/>
          <a:stretch>
            <a:fillRect/>
          </a:stretch>
        </p:blipFill>
        <p:spPr>
          <a:xfrm>
            <a:off x="7240626" y="1460162"/>
            <a:ext cx="4810796" cy="5115639"/>
          </a:xfrm>
          <a:prstGeom prst="rect">
            <a:avLst/>
          </a:prstGeom>
        </p:spPr>
      </p:pic>
    </p:spTree>
    <p:extLst>
      <p:ext uri="{BB962C8B-B14F-4D97-AF65-F5344CB8AC3E}">
        <p14:creationId xmlns:p14="http://schemas.microsoft.com/office/powerpoint/2010/main" val="13780229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B5964-B99D-9E1A-6678-3431340B0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25C5C-ABCA-280B-B859-BC5DEB4EBF71}"/>
              </a:ext>
            </a:extLst>
          </p:cNvPr>
          <p:cNvSpPr>
            <a:spLocks noGrp="1"/>
          </p:cNvSpPr>
          <p:nvPr>
            <p:ph type="title"/>
          </p:nvPr>
        </p:nvSpPr>
        <p:spPr/>
        <p:txBody>
          <a:bodyPr>
            <a:normAutofit fontScale="90000"/>
          </a:bodyPr>
          <a:lstStyle/>
          <a:p>
            <a:r>
              <a:rPr lang="en-US" dirty="0"/>
              <a:t>Filtering/viewing nucmer output</a:t>
            </a:r>
          </a:p>
        </p:txBody>
      </p:sp>
      <p:sp>
        <p:nvSpPr>
          <p:cNvPr id="3" name="Content Placeholder 2">
            <a:extLst>
              <a:ext uri="{FF2B5EF4-FFF2-40B4-BE49-F238E27FC236}">
                <a16:creationId xmlns:a16="http://schemas.microsoft.com/office/drawing/2014/main" id="{DC67863F-44C1-C5D7-840F-F9B26FC2AC5E}"/>
              </a:ext>
            </a:extLst>
          </p:cNvPr>
          <p:cNvSpPr>
            <a:spLocks noGrp="1"/>
          </p:cNvSpPr>
          <p:nvPr>
            <p:ph idx="1"/>
          </p:nvPr>
        </p:nvSpPr>
        <p:spPr>
          <a:xfrm>
            <a:off x="598619" y="1901950"/>
            <a:ext cx="5823695" cy="4733855"/>
          </a:xfrm>
        </p:spPr>
        <p:txBody>
          <a:bodyPr>
            <a:normAutofit/>
          </a:bodyPr>
          <a:lstStyle/>
          <a:p>
            <a:r>
              <a:rPr lang="en-US" dirty="0"/>
              <a:t>Mummerplot command will show the alignments as a plot</a:t>
            </a:r>
          </a:p>
          <a:p>
            <a:r>
              <a:rPr lang="en-US" dirty="0"/>
              <a:t>Align two strains of yeast (Saccharomyces cerevisiae and Saccharomyces </a:t>
            </a:r>
            <a:r>
              <a:rPr lang="en-US" dirty="0" err="1"/>
              <a:t>kudriavzevii</a:t>
            </a:r>
            <a:r>
              <a:rPr lang="en-US" dirty="0"/>
              <a:t>)</a:t>
            </a:r>
          </a:p>
          <a:p>
            <a:endParaRPr lang="en-US" dirty="0"/>
          </a:p>
        </p:txBody>
      </p:sp>
      <p:pic>
        <p:nvPicPr>
          <p:cNvPr id="5" name="Picture 4">
            <a:extLst>
              <a:ext uri="{FF2B5EF4-FFF2-40B4-BE49-F238E27FC236}">
                <a16:creationId xmlns:a16="http://schemas.microsoft.com/office/drawing/2014/main" id="{FC5E3C83-8224-2C2F-A154-41139F6E6D59}"/>
              </a:ext>
            </a:extLst>
          </p:cNvPr>
          <p:cNvPicPr>
            <a:picLocks noChangeAspect="1"/>
          </p:cNvPicPr>
          <p:nvPr/>
        </p:nvPicPr>
        <p:blipFill>
          <a:blip r:embed="rId2"/>
          <a:stretch>
            <a:fillRect/>
          </a:stretch>
        </p:blipFill>
        <p:spPr>
          <a:xfrm>
            <a:off x="140578" y="4268877"/>
            <a:ext cx="7024015" cy="854467"/>
          </a:xfrm>
          <a:prstGeom prst="rect">
            <a:avLst/>
          </a:prstGeom>
        </p:spPr>
      </p:pic>
      <p:pic>
        <p:nvPicPr>
          <p:cNvPr id="7" name="Picture 6">
            <a:extLst>
              <a:ext uri="{FF2B5EF4-FFF2-40B4-BE49-F238E27FC236}">
                <a16:creationId xmlns:a16="http://schemas.microsoft.com/office/drawing/2014/main" id="{3ADF04F5-8DC5-1784-E524-B621C59F757E}"/>
              </a:ext>
            </a:extLst>
          </p:cNvPr>
          <p:cNvPicPr>
            <a:picLocks noChangeAspect="1"/>
          </p:cNvPicPr>
          <p:nvPr/>
        </p:nvPicPr>
        <p:blipFill>
          <a:blip r:embed="rId3"/>
          <a:stretch>
            <a:fillRect/>
          </a:stretch>
        </p:blipFill>
        <p:spPr>
          <a:xfrm>
            <a:off x="7240626" y="1460162"/>
            <a:ext cx="4810796" cy="5115639"/>
          </a:xfrm>
          <a:prstGeom prst="rect">
            <a:avLst/>
          </a:prstGeom>
        </p:spPr>
      </p:pic>
      <p:sp>
        <p:nvSpPr>
          <p:cNvPr id="4" name="Rectangle 3">
            <a:extLst>
              <a:ext uri="{FF2B5EF4-FFF2-40B4-BE49-F238E27FC236}">
                <a16:creationId xmlns:a16="http://schemas.microsoft.com/office/drawing/2014/main" id="{C31F7DF1-7EEA-3CBE-6647-D21CC6CCA180}"/>
              </a:ext>
            </a:extLst>
          </p:cNvPr>
          <p:cNvSpPr/>
          <p:nvPr/>
        </p:nvSpPr>
        <p:spPr>
          <a:xfrm>
            <a:off x="10714616" y="2183802"/>
            <a:ext cx="763793"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97172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2FCAC-FB65-D480-F290-B88381574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557C5-0436-A648-C82F-21B9D9B6D8E5}"/>
              </a:ext>
            </a:extLst>
          </p:cNvPr>
          <p:cNvSpPr>
            <a:spLocks noGrp="1"/>
          </p:cNvSpPr>
          <p:nvPr>
            <p:ph type="title"/>
          </p:nvPr>
        </p:nvSpPr>
        <p:spPr/>
        <p:txBody>
          <a:bodyPr>
            <a:normAutofit fontScale="90000"/>
          </a:bodyPr>
          <a:lstStyle/>
          <a:p>
            <a:r>
              <a:rPr lang="en-US" dirty="0"/>
              <a:t>Filtering/viewing nucmer output</a:t>
            </a:r>
          </a:p>
        </p:txBody>
      </p:sp>
      <p:sp>
        <p:nvSpPr>
          <p:cNvPr id="3" name="Content Placeholder 2">
            <a:extLst>
              <a:ext uri="{FF2B5EF4-FFF2-40B4-BE49-F238E27FC236}">
                <a16:creationId xmlns:a16="http://schemas.microsoft.com/office/drawing/2014/main" id="{551F2675-0C2D-F647-B411-6E22911C06EF}"/>
              </a:ext>
            </a:extLst>
          </p:cNvPr>
          <p:cNvSpPr>
            <a:spLocks noGrp="1"/>
          </p:cNvSpPr>
          <p:nvPr>
            <p:ph idx="1"/>
          </p:nvPr>
        </p:nvSpPr>
        <p:spPr>
          <a:xfrm>
            <a:off x="598619" y="1901950"/>
            <a:ext cx="5823695" cy="4733855"/>
          </a:xfrm>
        </p:spPr>
        <p:txBody>
          <a:bodyPr>
            <a:normAutofit/>
          </a:bodyPr>
          <a:lstStyle/>
          <a:p>
            <a:r>
              <a:rPr lang="en-US" dirty="0"/>
              <a:t>Mummerplot command will show the alignments as a plot</a:t>
            </a:r>
          </a:p>
          <a:p>
            <a:r>
              <a:rPr lang="en-US" dirty="0"/>
              <a:t>Align two strains of yeast (Saccharomyces cerevisiae and Saccharomyces </a:t>
            </a:r>
            <a:r>
              <a:rPr lang="en-US" dirty="0" err="1"/>
              <a:t>kudriavzevii</a:t>
            </a:r>
            <a:r>
              <a:rPr lang="en-US" dirty="0"/>
              <a:t>)</a:t>
            </a:r>
          </a:p>
          <a:p>
            <a:endParaRPr lang="en-US" dirty="0"/>
          </a:p>
        </p:txBody>
      </p:sp>
      <p:pic>
        <p:nvPicPr>
          <p:cNvPr id="5" name="Picture 4">
            <a:extLst>
              <a:ext uri="{FF2B5EF4-FFF2-40B4-BE49-F238E27FC236}">
                <a16:creationId xmlns:a16="http://schemas.microsoft.com/office/drawing/2014/main" id="{AB3BA5AC-BA4F-012D-24F4-E89418124B60}"/>
              </a:ext>
            </a:extLst>
          </p:cNvPr>
          <p:cNvPicPr>
            <a:picLocks noChangeAspect="1"/>
          </p:cNvPicPr>
          <p:nvPr/>
        </p:nvPicPr>
        <p:blipFill>
          <a:blip r:embed="rId2"/>
          <a:stretch>
            <a:fillRect/>
          </a:stretch>
        </p:blipFill>
        <p:spPr>
          <a:xfrm>
            <a:off x="140578" y="4268877"/>
            <a:ext cx="7024015" cy="854467"/>
          </a:xfrm>
          <a:prstGeom prst="rect">
            <a:avLst/>
          </a:prstGeom>
        </p:spPr>
      </p:pic>
      <p:pic>
        <p:nvPicPr>
          <p:cNvPr id="8" name="Picture 7">
            <a:extLst>
              <a:ext uri="{FF2B5EF4-FFF2-40B4-BE49-F238E27FC236}">
                <a16:creationId xmlns:a16="http://schemas.microsoft.com/office/drawing/2014/main" id="{C23842D4-BD7E-248B-46D5-35D04AFC03B5}"/>
              </a:ext>
            </a:extLst>
          </p:cNvPr>
          <p:cNvPicPr>
            <a:picLocks noChangeAspect="1"/>
          </p:cNvPicPr>
          <p:nvPr/>
        </p:nvPicPr>
        <p:blipFill>
          <a:blip r:embed="rId3"/>
          <a:stretch>
            <a:fillRect/>
          </a:stretch>
        </p:blipFill>
        <p:spPr>
          <a:xfrm>
            <a:off x="7221573" y="1429347"/>
            <a:ext cx="4829849" cy="5096586"/>
          </a:xfrm>
          <a:prstGeom prst="rect">
            <a:avLst/>
          </a:prstGeom>
        </p:spPr>
      </p:pic>
    </p:spTree>
    <p:extLst>
      <p:ext uri="{BB962C8B-B14F-4D97-AF65-F5344CB8AC3E}">
        <p14:creationId xmlns:p14="http://schemas.microsoft.com/office/powerpoint/2010/main" val="24412544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C167E-9569-29EE-40AE-7B6F395B9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4A61C-067B-2B69-D171-DE2D2F493AD8}"/>
              </a:ext>
            </a:extLst>
          </p:cNvPr>
          <p:cNvSpPr>
            <a:spLocks noGrp="1"/>
          </p:cNvSpPr>
          <p:nvPr>
            <p:ph type="title"/>
          </p:nvPr>
        </p:nvSpPr>
        <p:spPr/>
        <p:txBody>
          <a:bodyPr>
            <a:normAutofit fontScale="90000"/>
          </a:bodyPr>
          <a:lstStyle/>
          <a:p>
            <a:r>
              <a:rPr lang="en-US" dirty="0"/>
              <a:t>Alignment programs</a:t>
            </a:r>
          </a:p>
        </p:txBody>
      </p:sp>
      <p:sp>
        <p:nvSpPr>
          <p:cNvPr id="3" name="Content Placeholder 2">
            <a:extLst>
              <a:ext uri="{FF2B5EF4-FFF2-40B4-BE49-F238E27FC236}">
                <a16:creationId xmlns:a16="http://schemas.microsoft.com/office/drawing/2014/main" id="{D50F5809-F54E-464E-D83F-620FAAE47505}"/>
              </a:ext>
            </a:extLst>
          </p:cNvPr>
          <p:cNvSpPr>
            <a:spLocks noGrp="1"/>
          </p:cNvSpPr>
          <p:nvPr>
            <p:ph idx="1"/>
          </p:nvPr>
        </p:nvSpPr>
        <p:spPr>
          <a:xfrm>
            <a:off x="838200" y="1597306"/>
            <a:ext cx="10515600" cy="4799576"/>
          </a:xfrm>
        </p:spPr>
        <p:txBody>
          <a:bodyPr>
            <a:normAutofit/>
          </a:bodyPr>
          <a:lstStyle/>
          <a:p>
            <a:r>
              <a:rPr lang="en-US" dirty="0"/>
              <a:t>Minimap2</a:t>
            </a:r>
          </a:p>
          <a:p>
            <a:pPr lvl="1"/>
            <a:r>
              <a:rPr lang="en-US" dirty="0"/>
              <a:t>based on minimizers</a:t>
            </a:r>
          </a:p>
        </p:txBody>
      </p:sp>
      <p:pic>
        <p:nvPicPr>
          <p:cNvPr id="5" name="Picture 4">
            <a:extLst>
              <a:ext uri="{FF2B5EF4-FFF2-40B4-BE49-F238E27FC236}">
                <a16:creationId xmlns:a16="http://schemas.microsoft.com/office/drawing/2014/main" id="{3532E6D1-ABE5-44A7-DDE0-E202871DFB8B}"/>
              </a:ext>
            </a:extLst>
          </p:cNvPr>
          <p:cNvPicPr>
            <a:picLocks noChangeAspect="1"/>
          </p:cNvPicPr>
          <p:nvPr/>
        </p:nvPicPr>
        <p:blipFill>
          <a:blip r:embed="rId2"/>
          <a:stretch>
            <a:fillRect/>
          </a:stretch>
        </p:blipFill>
        <p:spPr>
          <a:xfrm>
            <a:off x="6096000" y="1597306"/>
            <a:ext cx="5649113" cy="2591162"/>
          </a:xfrm>
          <a:prstGeom prst="rect">
            <a:avLst/>
          </a:prstGeom>
        </p:spPr>
      </p:pic>
      <p:pic>
        <p:nvPicPr>
          <p:cNvPr id="7" name="Picture 6">
            <a:extLst>
              <a:ext uri="{FF2B5EF4-FFF2-40B4-BE49-F238E27FC236}">
                <a16:creationId xmlns:a16="http://schemas.microsoft.com/office/drawing/2014/main" id="{D7200CA6-9056-8135-FBFB-250E1A7E4166}"/>
              </a:ext>
            </a:extLst>
          </p:cNvPr>
          <p:cNvPicPr>
            <a:picLocks noChangeAspect="1"/>
          </p:cNvPicPr>
          <p:nvPr/>
        </p:nvPicPr>
        <p:blipFill>
          <a:blip r:embed="rId3"/>
          <a:stretch>
            <a:fillRect/>
          </a:stretch>
        </p:blipFill>
        <p:spPr>
          <a:xfrm>
            <a:off x="369943" y="2892887"/>
            <a:ext cx="5334744" cy="2029108"/>
          </a:xfrm>
          <a:prstGeom prst="rect">
            <a:avLst/>
          </a:prstGeom>
        </p:spPr>
      </p:pic>
    </p:spTree>
    <p:extLst>
      <p:ext uri="{BB962C8B-B14F-4D97-AF65-F5344CB8AC3E}">
        <p14:creationId xmlns:p14="http://schemas.microsoft.com/office/powerpoint/2010/main" val="12144373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9DE2B-7BF8-9E8C-4F02-2D4C34888AB9}"/>
              </a:ext>
            </a:extLst>
          </p:cNvPr>
          <p:cNvSpPr>
            <a:spLocks noGrp="1"/>
          </p:cNvSpPr>
          <p:nvPr>
            <p:ph type="title"/>
          </p:nvPr>
        </p:nvSpPr>
        <p:spPr/>
        <p:txBody>
          <a:bodyPr>
            <a:normAutofit fontScale="90000"/>
          </a:bodyPr>
          <a:lstStyle/>
          <a:p>
            <a:r>
              <a:rPr lang="en-US" dirty="0"/>
              <a:t>minimap2</a:t>
            </a:r>
          </a:p>
        </p:txBody>
      </p:sp>
      <p:sp>
        <p:nvSpPr>
          <p:cNvPr id="3" name="Content Placeholder 2">
            <a:extLst>
              <a:ext uri="{FF2B5EF4-FFF2-40B4-BE49-F238E27FC236}">
                <a16:creationId xmlns:a16="http://schemas.microsoft.com/office/drawing/2014/main" id="{9E0D3980-5C92-D17F-7F8C-5965F2B1BA06}"/>
              </a:ext>
            </a:extLst>
          </p:cNvPr>
          <p:cNvSpPr>
            <a:spLocks noGrp="1"/>
          </p:cNvSpPr>
          <p:nvPr>
            <p:ph idx="1"/>
          </p:nvPr>
        </p:nvSpPr>
        <p:spPr>
          <a:xfrm>
            <a:off x="609600" y="1749245"/>
            <a:ext cx="10972800" cy="3918803"/>
          </a:xfrm>
        </p:spPr>
        <p:txBody>
          <a:bodyPr>
            <a:normAutofit fontScale="92500" lnSpcReduction="10000"/>
          </a:bodyPr>
          <a:lstStyle/>
          <a:p>
            <a:r>
              <a:rPr lang="en-US" i="1" dirty="0"/>
              <a:t>minimap2</a:t>
            </a:r>
            <a:r>
              <a:rPr lang="en-US" dirty="0"/>
              <a:t> is a very fast aligner primarily useful for alignment of noisy long reads to the genome</a:t>
            </a:r>
          </a:p>
          <a:p>
            <a:endParaRPr lang="en-US" dirty="0"/>
          </a:p>
          <a:p>
            <a:r>
              <a:rPr lang="en-US" dirty="0"/>
              <a:t>Uses minimizers to seed alignments (k=15, w=10 by default)</a:t>
            </a:r>
          </a:p>
          <a:p>
            <a:endParaRPr lang="en-US" dirty="0"/>
          </a:p>
          <a:p>
            <a:r>
              <a:rPr lang="en-US" dirty="0"/>
              <a:t>Useful undocumented parameter: --secondary=no</a:t>
            </a:r>
          </a:p>
          <a:p>
            <a:pPr marL="0" indent="0">
              <a:buNone/>
            </a:pPr>
            <a:endParaRPr lang="en-US" dirty="0"/>
          </a:p>
          <a:p>
            <a:r>
              <a:rPr lang="en-US" dirty="0"/>
              <a:t>Outputs Pairwise </a:t>
            </a:r>
            <a:r>
              <a:rPr lang="en-US" dirty="0" err="1"/>
              <a:t>mApping</a:t>
            </a:r>
            <a:r>
              <a:rPr lang="en-US" dirty="0"/>
              <a:t> Format (PAF) format by default, can output SAM format</a:t>
            </a:r>
          </a:p>
          <a:p>
            <a:endParaRPr lang="en-US" dirty="0"/>
          </a:p>
          <a:p>
            <a:endParaRPr lang="en-US" dirty="0"/>
          </a:p>
        </p:txBody>
      </p:sp>
    </p:spTree>
    <p:extLst>
      <p:ext uri="{BB962C8B-B14F-4D97-AF65-F5344CB8AC3E}">
        <p14:creationId xmlns:p14="http://schemas.microsoft.com/office/powerpoint/2010/main" val="1175591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94E6-E924-7C3E-12CA-F71A6AEF6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CD918-111A-68BF-6357-29689C08A8A8}"/>
              </a:ext>
            </a:extLst>
          </p:cNvPr>
          <p:cNvSpPr>
            <a:spLocks noGrp="1"/>
          </p:cNvSpPr>
          <p:nvPr>
            <p:ph type="title"/>
          </p:nvPr>
        </p:nvSpPr>
        <p:spPr/>
        <p:txBody>
          <a:bodyPr>
            <a:normAutofit fontScale="90000"/>
          </a:bodyPr>
          <a:lstStyle/>
          <a:p>
            <a:r>
              <a:rPr lang="en-US" dirty="0"/>
              <a:t>PAF format</a:t>
            </a:r>
          </a:p>
        </p:txBody>
      </p:sp>
      <p:sp>
        <p:nvSpPr>
          <p:cNvPr id="3" name="Content Placeholder 2">
            <a:extLst>
              <a:ext uri="{FF2B5EF4-FFF2-40B4-BE49-F238E27FC236}">
                <a16:creationId xmlns:a16="http://schemas.microsoft.com/office/drawing/2014/main" id="{7E238ADF-C30B-1F39-58E0-D473B44DC978}"/>
              </a:ext>
            </a:extLst>
          </p:cNvPr>
          <p:cNvSpPr>
            <a:spLocks noGrp="1"/>
          </p:cNvSpPr>
          <p:nvPr>
            <p:ph idx="1"/>
          </p:nvPr>
        </p:nvSpPr>
        <p:spPr>
          <a:xfrm>
            <a:off x="598620" y="1745016"/>
            <a:ext cx="9607062" cy="776898"/>
          </a:xfrm>
        </p:spPr>
        <p:txBody>
          <a:bodyPr>
            <a:normAutofit fontScale="85000" lnSpcReduction="20000"/>
          </a:bodyPr>
          <a:lstStyle/>
          <a:p>
            <a:r>
              <a:rPr lang="en-US" dirty="0"/>
              <a:t>Produced by minimap2, 0-based</a:t>
            </a:r>
          </a:p>
          <a:p>
            <a:r>
              <a:rPr lang="en-US" dirty="0"/>
              <a:t>If the first two bases of a read align </a:t>
            </a:r>
            <a:r>
              <a:rPr lang="en-US"/>
              <a:t>then coordinates are (0 2)</a:t>
            </a:r>
            <a:endParaRPr lang="en-US" dirty="0"/>
          </a:p>
        </p:txBody>
      </p:sp>
      <p:pic>
        <p:nvPicPr>
          <p:cNvPr id="6" name="Picture 5">
            <a:extLst>
              <a:ext uri="{FF2B5EF4-FFF2-40B4-BE49-F238E27FC236}">
                <a16:creationId xmlns:a16="http://schemas.microsoft.com/office/drawing/2014/main" id="{361FC3B3-95A9-84DF-60C5-A608E81DB1F5}"/>
              </a:ext>
            </a:extLst>
          </p:cNvPr>
          <p:cNvPicPr>
            <a:picLocks noChangeAspect="1"/>
          </p:cNvPicPr>
          <p:nvPr/>
        </p:nvPicPr>
        <p:blipFill>
          <a:blip r:embed="rId2"/>
          <a:stretch>
            <a:fillRect/>
          </a:stretch>
        </p:blipFill>
        <p:spPr>
          <a:xfrm>
            <a:off x="570792" y="3079640"/>
            <a:ext cx="10136015" cy="3324689"/>
          </a:xfrm>
          <a:prstGeom prst="rect">
            <a:avLst/>
          </a:prstGeom>
        </p:spPr>
      </p:pic>
      <p:sp>
        <p:nvSpPr>
          <p:cNvPr id="8" name="TextBox 7">
            <a:extLst>
              <a:ext uri="{FF2B5EF4-FFF2-40B4-BE49-F238E27FC236}">
                <a16:creationId xmlns:a16="http://schemas.microsoft.com/office/drawing/2014/main" id="{B8D50E79-40F1-6AC4-7676-4193461B51EF}"/>
              </a:ext>
            </a:extLst>
          </p:cNvPr>
          <p:cNvSpPr txBox="1"/>
          <p:nvPr/>
        </p:nvSpPr>
        <p:spPr>
          <a:xfrm>
            <a:off x="445663" y="2741086"/>
            <a:ext cx="10972800" cy="338554"/>
          </a:xfrm>
          <a:prstGeom prst="rect">
            <a:avLst/>
          </a:prstGeom>
          <a:noFill/>
        </p:spPr>
        <p:txBody>
          <a:bodyPr wrap="square" rtlCol="0">
            <a:spAutoFit/>
          </a:bodyPr>
          <a:lstStyle/>
          <a:p>
            <a:r>
              <a:rPr lang="en-US" sz="1600" dirty="0">
                <a:latin typeface="+mj-lt"/>
              </a:rPr>
              <a:t>Query                      </a:t>
            </a:r>
            <a:r>
              <a:rPr lang="en-US" sz="1600" dirty="0" err="1">
                <a:latin typeface="+mj-lt"/>
              </a:rPr>
              <a:t>Q_len</a:t>
            </a:r>
            <a:r>
              <a:rPr lang="en-US" sz="1600" dirty="0">
                <a:latin typeface="+mj-lt"/>
              </a:rPr>
              <a:t>    </a:t>
            </a:r>
            <a:r>
              <a:rPr lang="en-US" sz="1600" dirty="0" err="1">
                <a:latin typeface="+mj-lt"/>
              </a:rPr>
              <a:t>Q_start</a:t>
            </a:r>
            <a:r>
              <a:rPr lang="en-US" sz="1600" dirty="0">
                <a:latin typeface="+mj-lt"/>
              </a:rPr>
              <a:t>     </a:t>
            </a:r>
            <a:r>
              <a:rPr lang="en-US" sz="1600" dirty="0" err="1">
                <a:latin typeface="+mj-lt"/>
              </a:rPr>
              <a:t>Q_end</a:t>
            </a:r>
            <a:r>
              <a:rPr lang="en-US" sz="1600" dirty="0">
                <a:latin typeface="+mj-lt"/>
              </a:rPr>
              <a:t>  </a:t>
            </a:r>
            <a:r>
              <a:rPr lang="en-US" sz="1600" dirty="0" err="1">
                <a:latin typeface="+mj-lt"/>
              </a:rPr>
              <a:t>Q_strand</a:t>
            </a:r>
            <a:r>
              <a:rPr lang="en-US" sz="1600" dirty="0">
                <a:latin typeface="+mj-lt"/>
              </a:rPr>
              <a:t>   Reference               </a:t>
            </a:r>
            <a:r>
              <a:rPr lang="en-US" sz="1600" dirty="0" err="1">
                <a:latin typeface="+mj-lt"/>
              </a:rPr>
              <a:t>R_len</a:t>
            </a:r>
            <a:r>
              <a:rPr lang="en-US" sz="1600" dirty="0">
                <a:latin typeface="+mj-lt"/>
              </a:rPr>
              <a:t>      </a:t>
            </a:r>
            <a:r>
              <a:rPr lang="en-US" sz="1600" dirty="0" err="1">
                <a:latin typeface="+mj-lt"/>
              </a:rPr>
              <a:t>R_start</a:t>
            </a:r>
            <a:r>
              <a:rPr lang="en-US" sz="1600" dirty="0">
                <a:latin typeface="+mj-lt"/>
              </a:rPr>
              <a:t>   </a:t>
            </a:r>
            <a:r>
              <a:rPr lang="en-US" sz="1600" dirty="0" err="1">
                <a:latin typeface="+mj-lt"/>
              </a:rPr>
              <a:t>R_end</a:t>
            </a:r>
            <a:r>
              <a:rPr lang="en-US" sz="1600" dirty="0">
                <a:latin typeface="+mj-lt"/>
              </a:rPr>
              <a:t>       #_res       </a:t>
            </a:r>
            <a:r>
              <a:rPr lang="en-US" sz="1600" dirty="0" err="1">
                <a:latin typeface="+mj-lt"/>
              </a:rPr>
              <a:t>bl_len</a:t>
            </a:r>
            <a:r>
              <a:rPr lang="en-US" sz="1600" dirty="0">
                <a:latin typeface="+mj-lt"/>
              </a:rPr>
              <a:t>     MAP_Q      </a:t>
            </a:r>
          </a:p>
        </p:txBody>
      </p:sp>
    </p:spTree>
    <p:extLst>
      <p:ext uri="{BB962C8B-B14F-4D97-AF65-F5344CB8AC3E}">
        <p14:creationId xmlns:p14="http://schemas.microsoft.com/office/powerpoint/2010/main" val="33726618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D2F0-A8B7-BA6F-127C-6E4BCC9D4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7273F-2DCD-B71C-CE05-552A10E66107}"/>
              </a:ext>
            </a:extLst>
          </p:cNvPr>
          <p:cNvSpPr>
            <a:spLocks noGrp="1"/>
          </p:cNvSpPr>
          <p:nvPr>
            <p:ph type="title"/>
          </p:nvPr>
        </p:nvSpPr>
        <p:spPr/>
        <p:txBody>
          <a:bodyPr>
            <a:normAutofit fontScale="90000"/>
          </a:bodyPr>
          <a:lstStyle/>
          <a:p>
            <a:r>
              <a:rPr lang="en-US" dirty="0"/>
              <a:t>Alignment programs</a:t>
            </a:r>
          </a:p>
        </p:txBody>
      </p:sp>
      <p:sp>
        <p:nvSpPr>
          <p:cNvPr id="3" name="Content Placeholder 2">
            <a:extLst>
              <a:ext uri="{FF2B5EF4-FFF2-40B4-BE49-F238E27FC236}">
                <a16:creationId xmlns:a16="http://schemas.microsoft.com/office/drawing/2014/main" id="{CF473E17-796F-96D5-C9A3-B6F5A5A52CC0}"/>
              </a:ext>
            </a:extLst>
          </p:cNvPr>
          <p:cNvSpPr>
            <a:spLocks noGrp="1"/>
          </p:cNvSpPr>
          <p:nvPr>
            <p:ph idx="1"/>
          </p:nvPr>
        </p:nvSpPr>
        <p:spPr>
          <a:xfrm>
            <a:off x="838200" y="1597306"/>
            <a:ext cx="10515600" cy="2020537"/>
          </a:xfrm>
        </p:spPr>
        <p:txBody>
          <a:bodyPr>
            <a:normAutofit/>
          </a:bodyPr>
          <a:lstStyle/>
          <a:p>
            <a:r>
              <a:rPr lang="en-US" dirty="0"/>
              <a:t>Bowtie and BWA MEM</a:t>
            </a:r>
          </a:p>
          <a:p>
            <a:pPr lvl="1"/>
            <a:r>
              <a:rPr lang="en-US" dirty="0"/>
              <a:t>Used for alignment of short and long reads (BWA only) to the genome</a:t>
            </a:r>
          </a:p>
          <a:p>
            <a:pPr lvl="1"/>
            <a:r>
              <a:rPr lang="en-US" dirty="0"/>
              <a:t>Both based on BWT/SA</a:t>
            </a:r>
          </a:p>
        </p:txBody>
      </p:sp>
      <p:pic>
        <p:nvPicPr>
          <p:cNvPr id="5" name="Picture 4">
            <a:extLst>
              <a:ext uri="{FF2B5EF4-FFF2-40B4-BE49-F238E27FC236}">
                <a16:creationId xmlns:a16="http://schemas.microsoft.com/office/drawing/2014/main" id="{990BEC29-DF7B-E6FD-0B42-EB1339C27DAE}"/>
              </a:ext>
            </a:extLst>
          </p:cNvPr>
          <p:cNvPicPr>
            <a:picLocks noChangeAspect="1"/>
          </p:cNvPicPr>
          <p:nvPr/>
        </p:nvPicPr>
        <p:blipFill>
          <a:blip r:embed="rId2"/>
          <a:stretch>
            <a:fillRect/>
          </a:stretch>
        </p:blipFill>
        <p:spPr>
          <a:xfrm>
            <a:off x="359696" y="3580944"/>
            <a:ext cx="5139354" cy="2941660"/>
          </a:xfrm>
          <a:prstGeom prst="rect">
            <a:avLst/>
          </a:prstGeom>
        </p:spPr>
      </p:pic>
      <p:pic>
        <p:nvPicPr>
          <p:cNvPr id="7" name="Picture 6">
            <a:extLst>
              <a:ext uri="{FF2B5EF4-FFF2-40B4-BE49-F238E27FC236}">
                <a16:creationId xmlns:a16="http://schemas.microsoft.com/office/drawing/2014/main" id="{08A700C4-6223-FE27-A002-D96CB20AB03D}"/>
              </a:ext>
            </a:extLst>
          </p:cNvPr>
          <p:cNvPicPr>
            <a:picLocks noChangeAspect="1"/>
          </p:cNvPicPr>
          <p:nvPr/>
        </p:nvPicPr>
        <p:blipFill>
          <a:blip r:embed="rId3"/>
          <a:stretch>
            <a:fillRect/>
          </a:stretch>
        </p:blipFill>
        <p:spPr>
          <a:xfrm>
            <a:off x="5882618" y="2750872"/>
            <a:ext cx="6216127" cy="3875216"/>
          </a:xfrm>
          <a:prstGeom prst="rect">
            <a:avLst/>
          </a:prstGeom>
        </p:spPr>
      </p:pic>
    </p:spTree>
    <p:extLst>
      <p:ext uri="{BB962C8B-B14F-4D97-AF65-F5344CB8AC3E}">
        <p14:creationId xmlns:p14="http://schemas.microsoft.com/office/powerpoint/2010/main" val="4261880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97D2C-0775-B65D-DD66-E12507078C61}"/>
              </a:ext>
            </a:extLst>
          </p:cNvPr>
          <p:cNvSpPr>
            <a:spLocks noGrp="1"/>
          </p:cNvSpPr>
          <p:nvPr>
            <p:ph type="title"/>
          </p:nvPr>
        </p:nvSpPr>
        <p:spPr/>
        <p:txBody>
          <a:bodyPr>
            <a:normAutofit fontScale="90000"/>
          </a:bodyPr>
          <a:lstStyle/>
          <a:p>
            <a:r>
              <a:rPr lang="en-US" dirty="0"/>
              <a:t>Alignment file formats</a:t>
            </a:r>
          </a:p>
        </p:txBody>
      </p:sp>
      <p:sp>
        <p:nvSpPr>
          <p:cNvPr id="3" name="Content Placeholder 2">
            <a:extLst>
              <a:ext uri="{FF2B5EF4-FFF2-40B4-BE49-F238E27FC236}">
                <a16:creationId xmlns:a16="http://schemas.microsoft.com/office/drawing/2014/main" id="{ABB2587C-A2DB-034F-59ED-1C6635C29F6F}"/>
              </a:ext>
            </a:extLst>
          </p:cNvPr>
          <p:cNvSpPr>
            <a:spLocks noGrp="1"/>
          </p:cNvSpPr>
          <p:nvPr>
            <p:ph idx="1"/>
          </p:nvPr>
        </p:nvSpPr>
        <p:spPr>
          <a:xfrm>
            <a:off x="598620" y="2258887"/>
            <a:ext cx="10972800" cy="3918803"/>
          </a:xfrm>
        </p:spPr>
        <p:txBody>
          <a:bodyPr>
            <a:normAutofit fontScale="85000" lnSpcReduction="10000"/>
          </a:bodyPr>
          <a:lstStyle/>
          <a:p>
            <a:r>
              <a:rPr lang="en-US" dirty="0"/>
              <a:t>BED (Browser Extensible Data) – a nice format to represent alignment intervals</a:t>
            </a:r>
          </a:p>
          <a:p>
            <a:endParaRPr lang="en-US" dirty="0"/>
          </a:p>
          <a:p>
            <a:r>
              <a:rPr lang="en-US" dirty="0"/>
              <a:t>SAM/BAM – typically used for alignments of short reads to the genomic sequence</a:t>
            </a:r>
          </a:p>
          <a:p>
            <a:pPr lvl="1"/>
            <a:r>
              <a:rPr lang="en-US" dirty="0"/>
              <a:t>BAM is the compressed version of SAM</a:t>
            </a:r>
          </a:p>
          <a:p>
            <a:pPr marL="0" indent="0">
              <a:buNone/>
            </a:pPr>
            <a:endParaRPr lang="en-US" dirty="0"/>
          </a:p>
          <a:p>
            <a:r>
              <a:rPr lang="en-US" dirty="0"/>
              <a:t>delta/coords – typically used for alignments of two genome sequences, used by mummer package</a:t>
            </a:r>
          </a:p>
          <a:p>
            <a:endParaRPr lang="en-US" dirty="0"/>
          </a:p>
          <a:p>
            <a:r>
              <a:rPr lang="en-US" dirty="0"/>
              <a:t>PAF – Pairwise </a:t>
            </a:r>
            <a:r>
              <a:rPr lang="en-US" dirty="0" err="1"/>
              <a:t>mApping</a:t>
            </a:r>
            <a:r>
              <a:rPr lang="en-US" dirty="0"/>
              <a:t> Format, output by minimap2</a:t>
            </a:r>
          </a:p>
          <a:p>
            <a:pPr marL="0" indent="0">
              <a:buNone/>
            </a:pPr>
            <a:endParaRPr lang="en-US" dirty="0"/>
          </a:p>
          <a:p>
            <a:endParaRPr lang="en-US" dirty="0"/>
          </a:p>
        </p:txBody>
      </p:sp>
    </p:spTree>
    <p:extLst>
      <p:ext uri="{BB962C8B-B14F-4D97-AF65-F5344CB8AC3E}">
        <p14:creationId xmlns:p14="http://schemas.microsoft.com/office/powerpoint/2010/main" val="1898564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1982-7360-9AEE-1803-8190DA65065D}"/>
              </a:ext>
            </a:extLst>
          </p:cNvPr>
          <p:cNvSpPr>
            <a:spLocks noGrp="1"/>
          </p:cNvSpPr>
          <p:nvPr>
            <p:ph type="title"/>
          </p:nvPr>
        </p:nvSpPr>
        <p:spPr/>
        <p:txBody>
          <a:bodyPr>
            <a:normAutofit fontScale="90000"/>
          </a:bodyPr>
          <a:lstStyle/>
          <a:p>
            <a:r>
              <a:rPr lang="en-US" dirty="0"/>
              <a:t>BED format</a:t>
            </a:r>
          </a:p>
        </p:txBody>
      </p:sp>
      <p:sp>
        <p:nvSpPr>
          <p:cNvPr id="4" name="Slide Number Placeholder 3">
            <a:extLst>
              <a:ext uri="{FF2B5EF4-FFF2-40B4-BE49-F238E27FC236}">
                <a16:creationId xmlns:a16="http://schemas.microsoft.com/office/drawing/2014/main" id="{661CB158-5EB7-1400-9F71-BFC56CBDC873}"/>
              </a:ext>
            </a:extLst>
          </p:cNvPr>
          <p:cNvSpPr>
            <a:spLocks noGrp="1"/>
          </p:cNvSpPr>
          <p:nvPr>
            <p:ph type="sldNum" sz="quarter" idx="12"/>
          </p:nvPr>
        </p:nvSpPr>
        <p:spPr/>
        <p:txBody>
          <a:bodyPr/>
          <a:lstStyle/>
          <a:p>
            <a:fld id="{B82CCC60-E8CD-4174-8B1A-7DF615B22EEF}" type="slidenum">
              <a:rPr lang="en-US" smtClean="0"/>
              <a:pPr/>
              <a:t>61</a:t>
            </a:fld>
            <a:endParaRPr lang="en-US"/>
          </a:p>
        </p:txBody>
      </p:sp>
      <p:pic>
        <p:nvPicPr>
          <p:cNvPr id="6" name="Picture 5">
            <a:extLst>
              <a:ext uri="{FF2B5EF4-FFF2-40B4-BE49-F238E27FC236}">
                <a16:creationId xmlns:a16="http://schemas.microsoft.com/office/drawing/2014/main" id="{CB727CA4-78EE-E261-AEE1-185EE3B1127E}"/>
              </a:ext>
            </a:extLst>
          </p:cNvPr>
          <p:cNvPicPr>
            <a:picLocks noChangeAspect="1"/>
          </p:cNvPicPr>
          <p:nvPr/>
        </p:nvPicPr>
        <p:blipFill>
          <a:blip r:embed="rId2"/>
          <a:stretch>
            <a:fillRect/>
          </a:stretch>
        </p:blipFill>
        <p:spPr>
          <a:xfrm>
            <a:off x="598620" y="1678193"/>
            <a:ext cx="10495500" cy="4499497"/>
          </a:xfrm>
          <a:prstGeom prst="rect">
            <a:avLst/>
          </a:prstGeom>
        </p:spPr>
      </p:pic>
      <p:sp>
        <p:nvSpPr>
          <p:cNvPr id="7" name="TextBox 6">
            <a:extLst>
              <a:ext uri="{FF2B5EF4-FFF2-40B4-BE49-F238E27FC236}">
                <a16:creationId xmlns:a16="http://schemas.microsoft.com/office/drawing/2014/main" id="{17AD70D6-F7A4-54EA-9A1C-19A44A2D35B3}"/>
              </a:ext>
            </a:extLst>
          </p:cNvPr>
          <p:cNvSpPr txBox="1"/>
          <p:nvPr/>
        </p:nvSpPr>
        <p:spPr>
          <a:xfrm>
            <a:off x="717332" y="6336008"/>
            <a:ext cx="6450164" cy="369332"/>
          </a:xfrm>
          <a:prstGeom prst="rect">
            <a:avLst/>
          </a:prstGeom>
          <a:noFill/>
        </p:spPr>
        <p:txBody>
          <a:bodyPr wrap="none" rtlCol="0">
            <a:spAutoFit/>
          </a:bodyPr>
          <a:lstStyle/>
          <a:p>
            <a:r>
              <a:rPr lang="en-US" dirty="0"/>
              <a:t>Source: https://useast.ensembl.org/info/website/upload/bed.html</a:t>
            </a:r>
          </a:p>
        </p:txBody>
      </p:sp>
      <p:sp>
        <p:nvSpPr>
          <p:cNvPr id="3" name="Rectangle 2">
            <a:extLst>
              <a:ext uri="{FF2B5EF4-FFF2-40B4-BE49-F238E27FC236}">
                <a16:creationId xmlns:a16="http://schemas.microsoft.com/office/drawing/2014/main" id="{2A20BD4A-F502-CE3C-2272-4653DE32812D}"/>
              </a:ext>
            </a:extLst>
          </p:cNvPr>
          <p:cNvSpPr/>
          <p:nvPr/>
        </p:nvSpPr>
        <p:spPr>
          <a:xfrm>
            <a:off x="1687945" y="5494283"/>
            <a:ext cx="4034938" cy="2364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CAF3214-905C-C9E5-3C20-409EE38B2840}"/>
              </a:ext>
            </a:extLst>
          </p:cNvPr>
          <p:cNvSpPr/>
          <p:nvPr/>
        </p:nvSpPr>
        <p:spPr>
          <a:xfrm>
            <a:off x="3046407" y="5770842"/>
            <a:ext cx="4402800" cy="2364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07142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38200" y="146681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6F382D2E-359B-7BA9-E7C9-8E93FFA7693B}"/>
              </a:ext>
            </a:extLst>
          </p:cNvPr>
          <p:cNvPicPr>
            <a:picLocks noChangeAspect="1"/>
          </p:cNvPicPr>
          <p:nvPr/>
        </p:nvPicPr>
        <p:blipFill>
          <a:blip r:embed="rId2"/>
          <a:stretch>
            <a:fillRect/>
          </a:stretch>
        </p:blipFill>
        <p:spPr>
          <a:xfrm>
            <a:off x="193634" y="2720449"/>
            <a:ext cx="11460174" cy="3772426"/>
          </a:xfrm>
          <a:prstGeom prst="rect">
            <a:avLst/>
          </a:prstGeom>
        </p:spPr>
      </p:pic>
    </p:spTree>
    <p:extLst>
      <p:ext uri="{BB962C8B-B14F-4D97-AF65-F5344CB8AC3E}">
        <p14:creationId xmlns:p14="http://schemas.microsoft.com/office/powerpoint/2010/main" val="10571414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ABF94-A6A7-4BF1-86C3-3BAEA5E8F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22FA8-2CB4-0365-BD4C-982A41A9C017}"/>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B6C5F1E2-DF18-1233-0470-C06C7807D2A4}"/>
              </a:ext>
            </a:extLst>
          </p:cNvPr>
          <p:cNvSpPr>
            <a:spLocks noGrp="1"/>
          </p:cNvSpPr>
          <p:nvPr>
            <p:ph idx="1"/>
          </p:nvPr>
        </p:nvSpPr>
        <p:spPr>
          <a:xfrm>
            <a:off x="838200" y="146681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54AF9EB2-97CB-5D54-E4A4-A4CCE027269A}"/>
              </a:ext>
            </a:extLst>
          </p:cNvPr>
          <p:cNvPicPr>
            <a:picLocks noChangeAspect="1"/>
          </p:cNvPicPr>
          <p:nvPr/>
        </p:nvPicPr>
        <p:blipFill>
          <a:blip r:embed="rId2"/>
          <a:stretch>
            <a:fillRect/>
          </a:stretch>
        </p:blipFill>
        <p:spPr>
          <a:xfrm>
            <a:off x="193634" y="2720449"/>
            <a:ext cx="11460174" cy="3772426"/>
          </a:xfrm>
          <a:prstGeom prst="rect">
            <a:avLst/>
          </a:prstGeom>
        </p:spPr>
      </p:pic>
      <p:sp>
        <p:nvSpPr>
          <p:cNvPr id="3" name="Rectangle 2">
            <a:extLst>
              <a:ext uri="{FF2B5EF4-FFF2-40B4-BE49-F238E27FC236}">
                <a16:creationId xmlns:a16="http://schemas.microsoft.com/office/drawing/2014/main" id="{437E8C29-35CC-2486-D7CF-925FA20172F4}"/>
              </a:ext>
            </a:extLst>
          </p:cNvPr>
          <p:cNvSpPr/>
          <p:nvPr/>
        </p:nvSpPr>
        <p:spPr>
          <a:xfrm>
            <a:off x="598620" y="3429000"/>
            <a:ext cx="9499194" cy="2820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19211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38200" y="1456053"/>
            <a:ext cx="9768840" cy="1652908"/>
          </a:xfrm>
        </p:spPr>
        <p:txBody>
          <a:bodyPr>
            <a:normAutofit/>
          </a:bodyPr>
          <a:lstStyle/>
          <a:p>
            <a:r>
              <a:rPr lang="en-US" dirty="0"/>
              <a:t>FLAG field – 11 bits represented as decimal number</a:t>
            </a:r>
          </a:p>
          <a:p>
            <a:pPr lvl="1"/>
            <a:r>
              <a:rPr lang="en-US" dirty="0"/>
              <a:t>Most often used are 0, 16, and 2064</a:t>
            </a:r>
          </a:p>
          <a:p>
            <a:pPr lvl="1"/>
            <a:r>
              <a:rPr lang="en-US" dirty="0"/>
              <a:t>Conversion 000000010000</a:t>
            </a:r>
            <a:r>
              <a:rPr lang="en-US" baseline="-25000" dirty="0"/>
              <a:t>2</a:t>
            </a:r>
            <a:r>
              <a:rPr lang="en-US" dirty="0"/>
              <a:t> = 16</a:t>
            </a:r>
          </a:p>
          <a:p>
            <a:pPr lvl="1"/>
            <a:endParaRPr lang="en-US" dirty="0"/>
          </a:p>
          <a:p>
            <a:endParaRPr lang="en-US" dirty="0"/>
          </a:p>
        </p:txBody>
      </p:sp>
      <p:pic>
        <p:nvPicPr>
          <p:cNvPr id="4" name="Picture 3">
            <a:extLst>
              <a:ext uri="{FF2B5EF4-FFF2-40B4-BE49-F238E27FC236}">
                <a16:creationId xmlns:a16="http://schemas.microsoft.com/office/drawing/2014/main" id="{ABA5D542-7332-9542-95D9-9365FDB5444C}"/>
              </a:ext>
            </a:extLst>
          </p:cNvPr>
          <p:cNvPicPr>
            <a:picLocks noChangeAspect="1"/>
          </p:cNvPicPr>
          <p:nvPr/>
        </p:nvPicPr>
        <p:blipFill>
          <a:blip r:embed="rId2"/>
          <a:stretch>
            <a:fillRect/>
          </a:stretch>
        </p:blipFill>
        <p:spPr>
          <a:xfrm>
            <a:off x="838200" y="2964495"/>
            <a:ext cx="9669224" cy="3991532"/>
          </a:xfrm>
          <a:prstGeom prst="rect">
            <a:avLst/>
          </a:prstGeom>
        </p:spPr>
      </p:pic>
      <p:sp>
        <p:nvSpPr>
          <p:cNvPr id="3" name="Rectangle 2">
            <a:extLst>
              <a:ext uri="{FF2B5EF4-FFF2-40B4-BE49-F238E27FC236}">
                <a16:creationId xmlns:a16="http://schemas.microsoft.com/office/drawing/2014/main" id="{CB615660-0B35-7F34-AD93-F0706232E0D2}"/>
              </a:ext>
            </a:extLst>
          </p:cNvPr>
          <p:cNvSpPr/>
          <p:nvPr/>
        </p:nvSpPr>
        <p:spPr>
          <a:xfrm>
            <a:off x="1192455" y="4542237"/>
            <a:ext cx="5783786" cy="2820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649B81F-11AE-0520-E574-129F217B3BE9}"/>
              </a:ext>
            </a:extLst>
          </p:cNvPr>
          <p:cNvSpPr/>
          <p:nvPr/>
        </p:nvSpPr>
        <p:spPr>
          <a:xfrm>
            <a:off x="1192455" y="5664216"/>
            <a:ext cx="5783786" cy="2820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1187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1398B-0141-9122-8466-1D8D3E294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39026-F175-166A-F6D0-CB7C1973C8F3}"/>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70041158-0448-B250-EA6F-C5F930BDF1BF}"/>
              </a:ext>
            </a:extLst>
          </p:cNvPr>
          <p:cNvSpPr>
            <a:spLocks noGrp="1"/>
          </p:cNvSpPr>
          <p:nvPr>
            <p:ph idx="1"/>
          </p:nvPr>
        </p:nvSpPr>
        <p:spPr>
          <a:xfrm>
            <a:off x="838200" y="146681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62157B61-C0CD-2100-BCDD-02188DF4D586}"/>
              </a:ext>
            </a:extLst>
          </p:cNvPr>
          <p:cNvPicPr>
            <a:picLocks noChangeAspect="1"/>
          </p:cNvPicPr>
          <p:nvPr/>
        </p:nvPicPr>
        <p:blipFill>
          <a:blip r:embed="rId2"/>
          <a:stretch>
            <a:fillRect/>
          </a:stretch>
        </p:blipFill>
        <p:spPr>
          <a:xfrm>
            <a:off x="193634" y="2720449"/>
            <a:ext cx="11460174" cy="3772426"/>
          </a:xfrm>
          <a:prstGeom prst="rect">
            <a:avLst/>
          </a:prstGeom>
        </p:spPr>
      </p:pic>
      <p:sp>
        <p:nvSpPr>
          <p:cNvPr id="3" name="Rectangle 2">
            <a:extLst>
              <a:ext uri="{FF2B5EF4-FFF2-40B4-BE49-F238E27FC236}">
                <a16:creationId xmlns:a16="http://schemas.microsoft.com/office/drawing/2014/main" id="{66DEA921-1238-8FC1-BAEF-82CB8CDC588D}"/>
              </a:ext>
            </a:extLst>
          </p:cNvPr>
          <p:cNvSpPr/>
          <p:nvPr/>
        </p:nvSpPr>
        <p:spPr>
          <a:xfrm>
            <a:off x="538192" y="4540469"/>
            <a:ext cx="9499194" cy="2820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2639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38200" y="1466810"/>
            <a:ext cx="10515600" cy="4351338"/>
          </a:xfrm>
        </p:spPr>
        <p:txBody>
          <a:bodyPr/>
          <a:lstStyle/>
          <a:p>
            <a:r>
              <a:rPr lang="en-US" dirty="0"/>
              <a:t>CIGAR (Compact Idiosyncratic Gapped Alignment Report) string</a:t>
            </a:r>
          </a:p>
          <a:p>
            <a:pPr lvl="1"/>
            <a:endParaRPr lang="en-US" dirty="0"/>
          </a:p>
          <a:p>
            <a:endParaRPr lang="en-US" dirty="0"/>
          </a:p>
        </p:txBody>
      </p:sp>
      <p:pic>
        <p:nvPicPr>
          <p:cNvPr id="5" name="Picture 4">
            <a:extLst>
              <a:ext uri="{FF2B5EF4-FFF2-40B4-BE49-F238E27FC236}">
                <a16:creationId xmlns:a16="http://schemas.microsoft.com/office/drawing/2014/main" id="{E878C4A6-D030-5F3B-AB5C-8B953CC5ABD5}"/>
              </a:ext>
            </a:extLst>
          </p:cNvPr>
          <p:cNvPicPr>
            <a:picLocks noChangeAspect="1"/>
          </p:cNvPicPr>
          <p:nvPr/>
        </p:nvPicPr>
        <p:blipFill>
          <a:blip r:embed="rId2"/>
          <a:stretch>
            <a:fillRect/>
          </a:stretch>
        </p:blipFill>
        <p:spPr>
          <a:xfrm>
            <a:off x="512117" y="2123538"/>
            <a:ext cx="11145805" cy="4182059"/>
          </a:xfrm>
          <a:prstGeom prst="rect">
            <a:avLst/>
          </a:prstGeom>
        </p:spPr>
      </p:pic>
    </p:spTree>
    <p:extLst>
      <p:ext uri="{BB962C8B-B14F-4D97-AF65-F5344CB8AC3E}">
        <p14:creationId xmlns:p14="http://schemas.microsoft.com/office/powerpoint/2010/main" val="5297018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565266" y="1466810"/>
            <a:ext cx="2788534" cy="2977868"/>
          </a:xfrm>
        </p:spPr>
        <p:txBody>
          <a:bodyPr/>
          <a:lstStyle/>
          <a:p>
            <a:r>
              <a:rPr lang="en-US" dirty="0"/>
              <a:t>Examples of CIGAR strings</a:t>
            </a:r>
          </a:p>
          <a:p>
            <a:pPr lvl="1"/>
            <a:endParaRPr lang="en-US" dirty="0"/>
          </a:p>
          <a:p>
            <a:endParaRPr lang="en-US" dirty="0"/>
          </a:p>
        </p:txBody>
      </p:sp>
      <p:pic>
        <p:nvPicPr>
          <p:cNvPr id="8" name="Picture 7">
            <a:extLst>
              <a:ext uri="{FF2B5EF4-FFF2-40B4-BE49-F238E27FC236}">
                <a16:creationId xmlns:a16="http://schemas.microsoft.com/office/drawing/2014/main" id="{CFC35A2B-7867-B446-7320-DD75F22F0251}"/>
              </a:ext>
            </a:extLst>
          </p:cNvPr>
          <p:cNvPicPr>
            <a:picLocks noChangeAspect="1"/>
          </p:cNvPicPr>
          <p:nvPr/>
        </p:nvPicPr>
        <p:blipFill>
          <a:blip r:embed="rId2"/>
          <a:stretch>
            <a:fillRect/>
          </a:stretch>
        </p:blipFill>
        <p:spPr>
          <a:xfrm>
            <a:off x="309031" y="4255227"/>
            <a:ext cx="10593278" cy="2429214"/>
          </a:xfrm>
          <a:prstGeom prst="rect">
            <a:avLst/>
          </a:prstGeom>
        </p:spPr>
      </p:pic>
      <p:pic>
        <p:nvPicPr>
          <p:cNvPr id="9" name="Picture 8">
            <a:extLst>
              <a:ext uri="{FF2B5EF4-FFF2-40B4-BE49-F238E27FC236}">
                <a16:creationId xmlns:a16="http://schemas.microsoft.com/office/drawing/2014/main" id="{C5C6B290-6FEF-824F-1943-CEFB211CD862}"/>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0" name="Straight Connector 9">
            <a:extLst>
              <a:ext uri="{FF2B5EF4-FFF2-40B4-BE49-F238E27FC236}">
                <a16:creationId xmlns:a16="http://schemas.microsoft.com/office/drawing/2014/main" id="{FB332A2B-BCED-0687-C2F2-736353587C2E}"/>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56966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C025B2-0241-6FDB-CA2E-A1EC73E7E1A5}"/>
              </a:ext>
            </a:extLst>
          </p:cNvPr>
          <p:cNvPicPr>
            <a:picLocks noChangeAspect="1"/>
          </p:cNvPicPr>
          <p:nvPr/>
        </p:nvPicPr>
        <p:blipFill>
          <a:blip r:embed="rId2"/>
          <a:stretch>
            <a:fillRect/>
          </a:stretch>
        </p:blipFill>
        <p:spPr>
          <a:xfrm>
            <a:off x="309031" y="4255227"/>
            <a:ext cx="10593278" cy="2429214"/>
          </a:xfrm>
          <a:prstGeom prst="rect">
            <a:avLst/>
          </a:prstGeom>
        </p:spPr>
      </p:pic>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           </a:t>
            </a:r>
            <a:r>
              <a:rPr lang="en-US" sz="2400" dirty="0"/>
              <a:t>https://samtools.github.io/hts-specs/SAMv1.pdf</a:t>
            </a:r>
          </a:p>
        </p:txBody>
      </p:sp>
      <p:sp>
        <p:nvSpPr>
          <p:cNvPr id="3" name="Content Placeholder 2">
            <a:extLst>
              <a:ext uri="{FF2B5EF4-FFF2-40B4-BE49-F238E27FC236}">
                <a16:creationId xmlns:a16="http://schemas.microsoft.com/office/drawing/2014/main" id="{7AE4FA6E-6089-D8C1-A4CC-F5A9A44D65FD}"/>
              </a:ext>
            </a:extLst>
          </p:cNvPr>
          <p:cNvSpPr>
            <a:spLocks noGrp="1"/>
          </p:cNvSpPr>
          <p:nvPr>
            <p:ph idx="1"/>
          </p:nvPr>
        </p:nvSpPr>
        <p:spPr>
          <a:xfrm>
            <a:off x="7917084" y="1690688"/>
            <a:ext cx="3853404" cy="4351338"/>
          </a:xfrm>
        </p:spPr>
        <p:txBody>
          <a:bodyPr/>
          <a:lstStyle/>
          <a:p>
            <a:r>
              <a:rPr lang="en-US" dirty="0"/>
              <a:t>Suppose we have the following alignment</a:t>
            </a:r>
          </a:p>
          <a:p>
            <a:endParaRPr lang="en-US" dirty="0"/>
          </a:p>
          <a:p>
            <a:r>
              <a:rPr lang="en-US" dirty="0"/>
              <a:t>It will look like this in the SAM file</a:t>
            </a:r>
          </a:p>
          <a:p>
            <a:r>
              <a:rPr lang="en-US" dirty="0"/>
              <a:t>Coordinates are 1-based</a:t>
            </a:r>
          </a:p>
        </p:txBody>
      </p:sp>
      <p:pic>
        <p:nvPicPr>
          <p:cNvPr id="5" name="Picture 4">
            <a:extLst>
              <a:ext uri="{FF2B5EF4-FFF2-40B4-BE49-F238E27FC236}">
                <a16:creationId xmlns:a16="http://schemas.microsoft.com/office/drawing/2014/main" id="{43C1C348-0E66-BF87-6A49-F4D8F51805CC}"/>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2" name="Straight Connector 11">
            <a:extLst>
              <a:ext uri="{FF2B5EF4-FFF2-40B4-BE49-F238E27FC236}">
                <a16:creationId xmlns:a16="http://schemas.microsoft.com/office/drawing/2014/main" id="{A2EB3F7E-B345-B6A1-A257-ABD819E37F9C}"/>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9106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F108-D375-0C3A-DCAC-D7D7BC19D20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8142D10-13F6-28B9-8CE0-6A3E8A2F236D}"/>
              </a:ext>
            </a:extLst>
          </p:cNvPr>
          <p:cNvPicPr>
            <a:picLocks noChangeAspect="1"/>
          </p:cNvPicPr>
          <p:nvPr/>
        </p:nvPicPr>
        <p:blipFill>
          <a:blip r:embed="rId2"/>
          <a:stretch>
            <a:fillRect/>
          </a:stretch>
        </p:blipFill>
        <p:spPr>
          <a:xfrm>
            <a:off x="309031" y="4255227"/>
            <a:ext cx="10593278" cy="2429214"/>
          </a:xfrm>
          <a:prstGeom prst="rect">
            <a:avLst/>
          </a:prstGeom>
        </p:spPr>
      </p:pic>
      <p:sp>
        <p:nvSpPr>
          <p:cNvPr id="2" name="Title 1">
            <a:extLst>
              <a:ext uri="{FF2B5EF4-FFF2-40B4-BE49-F238E27FC236}">
                <a16:creationId xmlns:a16="http://schemas.microsoft.com/office/drawing/2014/main" id="{30B01D0F-3551-069E-AD5F-170E603CD365}"/>
              </a:ext>
            </a:extLst>
          </p:cNvPr>
          <p:cNvSpPr>
            <a:spLocks noGrp="1"/>
          </p:cNvSpPr>
          <p:nvPr>
            <p:ph type="title"/>
          </p:nvPr>
        </p:nvSpPr>
        <p:spPr/>
        <p:txBody>
          <a:bodyPr>
            <a:normAutofit fontScale="90000"/>
          </a:bodyPr>
          <a:lstStyle/>
          <a:p>
            <a:r>
              <a:rPr lang="en-US" dirty="0"/>
              <a:t>SAM format           </a:t>
            </a:r>
            <a:r>
              <a:rPr lang="en-US" sz="2400" dirty="0"/>
              <a:t>https://samtools.github.io/hts-specs/SAMv1.pdf</a:t>
            </a:r>
          </a:p>
        </p:txBody>
      </p:sp>
      <p:sp>
        <p:nvSpPr>
          <p:cNvPr id="3" name="Content Placeholder 2">
            <a:extLst>
              <a:ext uri="{FF2B5EF4-FFF2-40B4-BE49-F238E27FC236}">
                <a16:creationId xmlns:a16="http://schemas.microsoft.com/office/drawing/2014/main" id="{5033ECAE-BC3B-4628-FD7C-993EBBF760C5}"/>
              </a:ext>
            </a:extLst>
          </p:cNvPr>
          <p:cNvSpPr>
            <a:spLocks noGrp="1"/>
          </p:cNvSpPr>
          <p:nvPr>
            <p:ph idx="1"/>
          </p:nvPr>
        </p:nvSpPr>
        <p:spPr>
          <a:xfrm>
            <a:off x="7917084" y="1690688"/>
            <a:ext cx="3853404" cy="4351338"/>
          </a:xfrm>
        </p:spPr>
        <p:txBody>
          <a:bodyPr/>
          <a:lstStyle/>
          <a:p>
            <a:r>
              <a:rPr lang="en-US" dirty="0"/>
              <a:t>Suppose we have the following alignment</a:t>
            </a:r>
          </a:p>
          <a:p>
            <a:endParaRPr lang="en-US" dirty="0"/>
          </a:p>
          <a:p>
            <a:r>
              <a:rPr lang="en-US" dirty="0"/>
              <a:t>It will look like this in the SAM file</a:t>
            </a:r>
          </a:p>
          <a:p>
            <a:r>
              <a:rPr lang="en-US" dirty="0"/>
              <a:t>Coordinates are 1-based</a:t>
            </a:r>
          </a:p>
        </p:txBody>
      </p:sp>
      <p:pic>
        <p:nvPicPr>
          <p:cNvPr id="5" name="Picture 4">
            <a:extLst>
              <a:ext uri="{FF2B5EF4-FFF2-40B4-BE49-F238E27FC236}">
                <a16:creationId xmlns:a16="http://schemas.microsoft.com/office/drawing/2014/main" id="{B87DB4CD-5225-B83B-287B-15D179857159}"/>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2" name="Straight Connector 11">
            <a:extLst>
              <a:ext uri="{FF2B5EF4-FFF2-40B4-BE49-F238E27FC236}">
                <a16:creationId xmlns:a16="http://schemas.microsoft.com/office/drawing/2014/main" id="{3A8BFFA6-3EEC-4319-784B-13F07990881F}"/>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EC6AD9AE-A5DE-AB87-CC97-A8DA6F3044AB}"/>
              </a:ext>
            </a:extLst>
          </p:cNvPr>
          <p:cNvSpPr/>
          <p:nvPr/>
        </p:nvSpPr>
        <p:spPr>
          <a:xfrm>
            <a:off x="158689" y="2713827"/>
            <a:ext cx="7422857" cy="13300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3EFB2F-1FB7-11A5-5424-CEF175D08B5D}"/>
              </a:ext>
            </a:extLst>
          </p:cNvPr>
          <p:cNvSpPr/>
          <p:nvPr/>
        </p:nvSpPr>
        <p:spPr>
          <a:xfrm>
            <a:off x="202113" y="5120696"/>
            <a:ext cx="10494790" cy="13300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016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2883A-7B48-2030-1CE2-F8978EEC94A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24AF0EE-9ED8-B69D-1FAE-6DE6B5D8DA12}"/>
              </a:ext>
            </a:extLst>
          </p:cNvPr>
          <p:cNvPicPr>
            <a:picLocks noChangeAspect="1"/>
          </p:cNvPicPr>
          <p:nvPr/>
        </p:nvPicPr>
        <p:blipFill>
          <a:blip r:embed="rId2"/>
          <a:stretch>
            <a:fillRect/>
          </a:stretch>
        </p:blipFill>
        <p:spPr>
          <a:xfrm>
            <a:off x="309031" y="4255227"/>
            <a:ext cx="10593278" cy="2429214"/>
          </a:xfrm>
          <a:prstGeom prst="rect">
            <a:avLst/>
          </a:prstGeom>
        </p:spPr>
      </p:pic>
      <p:sp>
        <p:nvSpPr>
          <p:cNvPr id="2" name="Title 1">
            <a:extLst>
              <a:ext uri="{FF2B5EF4-FFF2-40B4-BE49-F238E27FC236}">
                <a16:creationId xmlns:a16="http://schemas.microsoft.com/office/drawing/2014/main" id="{ABCD732C-9544-A288-6F73-043531BAEC4F}"/>
              </a:ext>
            </a:extLst>
          </p:cNvPr>
          <p:cNvSpPr>
            <a:spLocks noGrp="1"/>
          </p:cNvSpPr>
          <p:nvPr>
            <p:ph type="title"/>
          </p:nvPr>
        </p:nvSpPr>
        <p:spPr/>
        <p:txBody>
          <a:bodyPr>
            <a:normAutofit fontScale="90000"/>
          </a:bodyPr>
          <a:lstStyle/>
          <a:p>
            <a:r>
              <a:rPr lang="en-US" dirty="0"/>
              <a:t>SAM format           </a:t>
            </a:r>
            <a:r>
              <a:rPr lang="en-US" sz="2400" dirty="0"/>
              <a:t>https://samtools.github.io/hts-specs/SAMv1.pdf</a:t>
            </a:r>
          </a:p>
        </p:txBody>
      </p:sp>
      <p:sp>
        <p:nvSpPr>
          <p:cNvPr id="3" name="Content Placeholder 2">
            <a:extLst>
              <a:ext uri="{FF2B5EF4-FFF2-40B4-BE49-F238E27FC236}">
                <a16:creationId xmlns:a16="http://schemas.microsoft.com/office/drawing/2014/main" id="{874A90B3-2979-2746-4701-04CE6A0B3B7B}"/>
              </a:ext>
            </a:extLst>
          </p:cNvPr>
          <p:cNvSpPr>
            <a:spLocks noGrp="1"/>
          </p:cNvSpPr>
          <p:nvPr>
            <p:ph idx="1"/>
          </p:nvPr>
        </p:nvSpPr>
        <p:spPr>
          <a:xfrm>
            <a:off x="7917084" y="1690688"/>
            <a:ext cx="3853404" cy="4351338"/>
          </a:xfrm>
        </p:spPr>
        <p:txBody>
          <a:bodyPr/>
          <a:lstStyle/>
          <a:p>
            <a:r>
              <a:rPr lang="en-US" dirty="0"/>
              <a:t>Suppose we have the following alignment</a:t>
            </a:r>
          </a:p>
          <a:p>
            <a:endParaRPr lang="en-US" dirty="0"/>
          </a:p>
          <a:p>
            <a:r>
              <a:rPr lang="en-US" dirty="0"/>
              <a:t>It will look like this in the SAM file</a:t>
            </a:r>
          </a:p>
          <a:p>
            <a:r>
              <a:rPr lang="en-US" dirty="0"/>
              <a:t>Coordinates are 1-based</a:t>
            </a:r>
          </a:p>
        </p:txBody>
      </p:sp>
      <p:pic>
        <p:nvPicPr>
          <p:cNvPr id="5" name="Picture 4">
            <a:extLst>
              <a:ext uri="{FF2B5EF4-FFF2-40B4-BE49-F238E27FC236}">
                <a16:creationId xmlns:a16="http://schemas.microsoft.com/office/drawing/2014/main" id="{36C144F5-D55B-DC0D-6161-F526A3855818}"/>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2" name="Straight Connector 11">
            <a:extLst>
              <a:ext uri="{FF2B5EF4-FFF2-40B4-BE49-F238E27FC236}">
                <a16:creationId xmlns:a16="http://schemas.microsoft.com/office/drawing/2014/main" id="{727DE420-DB02-291C-17B2-1CEAB60A7B18}"/>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7C51C47F-7B7F-D855-F204-183E1CF388BD}"/>
              </a:ext>
            </a:extLst>
          </p:cNvPr>
          <p:cNvSpPr/>
          <p:nvPr/>
        </p:nvSpPr>
        <p:spPr>
          <a:xfrm>
            <a:off x="202114" y="2372936"/>
            <a:ext cx="7333804" cy="3055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DF6FF93-262B-28D0-EC3B-8119E23122CF}"/>
              </a:ext>
            </a:extLst>
          </p:cNvPr>
          <p:cNvSpPr/>
          <p:nvPr/>
        </p:nvSpPr>
        <p:spPr>
          <a:xfrm>
            <a:off x="202114" y="4899210"/>
            <a:ext cx="7608053" cy="268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ABD4D63-82D1-F552-F73C-D9FEE099CD1B}"/>
              </a:ext>
            </a:extLst>
          </p:cNvPr>
          <p:cNvSpPr/>
          <p:nvPr/>
        </p:nvSpPr>
        <p:spPr>
          <a:xfrm>
            <a:off x="216433" y="5469833"/>
            <a:ext cx="10393760" cy="10649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66F4118-C067-23BF-7178-062ABB82B622}"/>
              </a:ext>
            </a:extLst>
          </p:cNvPr>
          <p:cNvSpPr/>
          <p:nvPr/>
        </p:nvSpPr>
        <p:spPr>
          <a:xfrm>
            <a:off x="202114" y="2916383"/>
            <a:ext cx="7333804" cy="11874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53098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9EB37-0C83-0FAD-68E7-A890FE01E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5DD46-690E-49E4-F9FB-3A483217AC75}"/>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1B6E7DF9-418B-DA5D-BE46-EDF873E51416}"/>
              </a:ext>
            </a:extLst>
          </p:cNvPr>
          <p:cNvSpPr>
            <a:spLocks noGrp="1"/>
          </p:cNvSpPr>
          <p:nvPr>
            <p:ph idx="1"/>
          </p:nvPr>
        </p:nvSpPr>
        <p:spPr>
          <a:xfrm>
            <a:off x="8565266" y="1466810"/>
            <a:ext cx="2788534" cy="2977868"/>
          </a:xfrm>
        </p:spPr>
        <p:txBody>
          <a:bodyPr/>
          <a:lstStyle/>
          <a:p>
            <a:r>
              <a:rPr lang="en-US" dirty="0"/>
              <a:t>“P” is needed to properly record full multi-alignment</a:t>
            </a:r>
          </a:p>
          <a:p>
            <a:pPr lvl="1"/>
            <a:endParaRPr lang="en-US" dirty="0"/>
          </a:p>
          <a:p>
            <a:endParaRPr lang="en-US" dirty="0"/>
          </a:p>
        </p:txBody>
      </p:sp>
      <p:pic>
        <p:nvPicPr>
          <p:cNvPr id="8" name="Picture 7">
            <a:extLst>
              <a:ext uri="{FF2B5EF4-FFF2-40B4-BE49-F238E27FC236}">
                <a16:creationId xmlns:a16="http://schemas.microsoft.com/office/drawing/2014/main" id="{481E1769-9AE6-721B-5011-C2F943EF59BF}"/>
              </a:ext>
            </a:extLst>
          </p:cNvPr>
          <p:cNvPicPr>
            <a:picLocks noChangeAspect="1"/>
          </p:cNvPicPr>
          <p:nvPr/>
        </p:nvPicPr>
        <p:blipFill>
          <a:blip r:embed="rId2"/>
          <a:stretch>
            <a:fillRect/>
          </a:stretch>
        </p:blipFill>
        <p:spPr>
          <a:xfrm>
            <a:off x="309031" y="4255227"/>
            <a:ext cx="10593278" cy="2429214"/>
          </a:xfrm>
          <a:prstGeom prst="rect">
            <a:avLst/>
          </a:prstGeom>
        </p:spPr>
      </p:pic>
      <p:pic>
        <p:nvPicPr>
          <p:cNvPr id="9" name="Picture 8">
            <a:extLst>
              <a:ext uri="{FF2B5EF4-FFF2-40B4-BE49-F238E27FC236}">
                <a16:creationId xmlns:a16="http://schemas.microsoft.com/office/drawing/2014/main" id="{EF476578-FE2C-00A7-5DD4-FABE5FD1023B}"/>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0" name="Straight Connector 9">
            <a:extLst>
              <a:ext uri="{FF2B5EF4-FFF2-40B4-BE49-F238E27FC236}">
                <a16:creationId xmlns:a16="http://schemas.microsoft.com/office/drawing/2014/main" id="{AE57361A-AA38-28AA-BAC0-0251A642449F}"/>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AF0FB837-057F-1C26-1928-5C019DA7AFA9}"/>
              </a:ext>
            </a:extLst>
          </p:cNvPr>
          <p:cNvSpPr/>
          <p:nvPr/>
        </p:nvSpPr>
        <p:spPr>
          <a:xfrm>
            <a:off x="3055172" y="1877411"/>
            <a:ext cx="263562" cy="13877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30050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70230-F75D-3ADF-EAB4-8CF535FA66B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4E4247-30F1-D9B4-538C-D6AC351557E4}"/>
              </a:ext>
            </a:extLst>
          </p:cNvPr>
          <p:cNvPicPr>
            <a:picLocks noChangeAspect="1"/>
          </p:cNvPicPr>
          <p:nvPr/>
        </p:nvPicPr>
        <p:blipFill>
          <a:blip r:embed="rId2"/>
          <a:stretch>
            <a:fillRect/>
          </a:stretch>
        </p:blipFill>
        <p:spPr>
          <a:xfrm>
            <a:off x="309031" y="4255227"/>
            <a:ext cx="10593278" cy="2429214"/>
          </a:xfrm>
          <a:prstGeom prst="rect">
            <a:avLst/>
          </a:prstGeom>
        </p:spPr>
      </p:pic>
      <p:sp>
        <p:nvSpPr>
          <p:cNvPr id="2" name="Title 1">
            <a:extLst>
              <a:ext uri="{FF2B5EF4-FFF2-40B4-BE49-F238E27FC236}">
                <a16:creationId xmlns:a16="http://schemas.microsoft.com/office/drawing/2014/main" id="{57795D16-07BB-03D8-9747-8F7F44D9AC6E}"/>
              </a:ext>
            </a:extLst>
          </p:cNvPr>
          <p:cNvSpPr>
            <a:spLocks noGrp="1"/>
          </p:cNvSpPr>
          <p:nvPr>
            <p:ph type="title"/>
          </p:nvPr>
        </p:nvSpPr>
        <p:spPr/>
        <p:txBody>
          <a:bodyPr>
            <a:normAutofit fontScale="90000"/>
          </a:bodyPr>
          <a:lstStyle/>
          <a:p>
            <a:r>
              <a:rPr lang="en-US" dirty="0"/>
              <a:t>SAM format           </a:t>
            </a:r>
            <a:r>
              <a:rPr lang="en-US" sz="2400" dirty="0"/>
              <a:t>https://samtools.github.io/hts-specs/SAMv1.pdf</a:t>
            </a:r>
          </a:p>
        </p:txBody>
      </p:sp>
      <p:sp>
        <p:nvSpPr>
          <p:cNvPr id="3" name="Content Placeholder 2">
            <a:extLst>
              <a:ext uri="{FF2B5EF4-FFF2-40B4-BE49-F238E27FC236}">
                <a16:creationId xmlns:a16="http://schemas.microsoft.com/office/drawing/2014/main" id="{2144C0DF-7104-36FF-2E8F-B615635C6DE4}"/>
              </a:ext>
            </a:extLst>
          </p:cNvPr>
          <p:cNvSpPr>
            <a:spLocks noGrp="1"/>
          </p:cNvSpPr>
          <p:nvPr>
            <p:ph idx="1"/>
          </p:nvPr>
        </p:nvSpPr>
        <p:spPr>
          <a:xfrm>
            <a:off x="7917084" y="1690688"/>
            <a:ext cx="3853404" cy="4351338"/>
          </a:xfrm>
        </p:spPr>
        <p:txBody>
          <a:bodyPr/>
          <a:lstStyle/>
          <a:p>
            <a:r>
              <a:rPr lang="en-US" dirty="0"/>
              <a:t>Suppose we have the following alignment</a:t>
            </a:r>
          </a:p>
          <a:p>
            <a:endParaRPr lang="en-US" dirty="0"/>
          </a:p>
          <a:p>
            <a:r>
              <a:rPr lang="en-US" dirty="0"/>
              <a:t>It will look like this in the SAM file</a:t>
            </a:r>
          </a:p>
          <a:p>
            <a:r>
              <a:rPr lang="en-US" dirty="0"/>
              <a:t>Coordinates are 1-based</a:t>
            </a:r>
          </a:p>
        </p:txBody>
      </p:sp>
      <p:pic>
        <p:nvPicPr>
          <p:cNvPr id="5" name="Picture 4">
            <a:extLst>
              <a:ext uri="{FF2B5EF4-FFF2-40B4-BE49-F238E27FC236}">
                <a16:creationId xmlns:a16="http://schemas.microsoft.com/office/drawing/2014/main" id="{36B59EBF-70BA-F1D8-724B-0FF45A6A62D1}"/>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2" name="Straight Connector 11">
            <a:extLst>
              <a:ext uri="{FF2B5EF4-FFF2-40B4-BE49-F238E27FC236}">
                <a16:creationId xmlns:a16="http://schemas.microsoft.com/office/drawing/2014/main" id="{9DB02675-AE2C-DAE5-95CC-D26017585746}"/>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9894A3B3-1F64-13F0-DD16-7CD8F424405B}"/>
              </a:ext>
            </a:extLst>
          </p:cNvPr>
          <p:cNvSpPr/>
          <p:nvPr/>
        </p:nvSpPr>
        <p:spPr>
          <a:xfrm>
            <a:off x="202114" y="2372936"/>
            <a:ext cx="7333804" cy="5206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CC35C17-3807-E794-2AFB-38E15225C46D}"/>
              </a:ext>
            </a:extLst>
          </p:cNvPr>
          <p:cNvSpPr/>
          <p:nvPr/>
        </p:nvSpPr>
        <p:spPr>
          <a:xfrm>
            <a:off x="202114" y="4899209"/>
            <a:ext cx="7608053" cy="4741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8C959A-2D7C-F18D-CA3B-EFC302AAE68E}"/>
              </a:ext>
            </a:extLst>
          </p:cNvPr>
          <p:cNvSpPr/>
          <p:nvPr/>
        </p:nvSpPr>
        <p:spPr>
          <a:xfrm>
            <a:off x="216433" y="5707117"/>
            <a:ext cx="10393760" cy="8276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A72449C-F10B-7F99-8A5A-F95853A2209D}"/>
              </a:ext>
            </a:extLst>
          </p:cNvPr>
          <p:cNvSpPr/>
          <p:nvPr/>
        </p:nvSpPr>
        <p:spPr>
          <a:xfrm>
            <a:off x="202114" y="3239815"/>
            <a:ext cx="7333804" cy="863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96082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6F3BA-9CE8-C486-C852-7AA2AD056E1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40E5783-6D89-2014-87B1-F3FD65C04BCF}"/>
              </a:ext>
            </a:extLst>
          </p:cNvPr>
          <p:cNvPicPr>
            <a:picLocks noChangeAspect="1"/>
          </p:cNvPicPr>
          <p:nvPr/>
        </p:nvPicPr>
        <p:blipFill>
          <a:blip r:embed="rId2"/>
          <a:stretch>
            <a:fillRect/>
          </a:stretch>
        </p:blipFill>
        <p:spPr>
          <a:xfrm>
            <a:off x="309031" y="4255227"/>
            <a:ext cx="10593278" cy="2429214"/>
          </a:xfrm>
          <a:prstGeom prst="rect">
            <a:avLst/>
          </a:prstGeom>
        </p:spPr>
      </p:pic>
      <p:sp>
        <p:nvSpPr>
          <p:cNvPr id="2" name="Title 1">
            <a:extLst>
              <a:ext uri="{FF2B5EF4-FFF2-40B4-BE49-F238E27FC236}">
                <a16:creationId xmlns:a16="http://schemas.microsoft.com/office/drawing/2014/main" id="{444FC4A2-2AE2-50DB-725F-6668260C11D6}"/>
              </a:ext>
            </a:extLst>
          </p:cNvPr>
          <p:cNvSpPr>
            <a:spLocks noGrp="1"/>
          </p:cNvSpPr>
          <p:nvPr>
            <p:ph type="title"/>
          </p:nvPr>
        </p:nvSpPr>
        <p:spPr/>
        <p:txBody>
          <a:bodyPr>
            <a:normAutofit fontScale="90000"/>
          </a:bodyPr>
          <a:lstStyle/>
          <a:p>
            <a:r>
              <a:rPr lang="en-US" dirty="0"/>
              <a:t>SAM format           </a:t>
            </a:r>
            <a:r>
              <a:rPr lang="en-US" sz="2400" dirty="0"/>
              <a:t>https://samtools.github.io/hts-specs/SAMv1.pdf</a:t>
            </a:r>
          </a:p>
        </p:txBody>
      </p:sp>
      <p:sp>
        <p:nvSpPr>
          <p:cNvPr id="3" name="Content Placeholder 2">
            <a:extLst>
              <a:ext uri="{FF2B5EF4-FFF2-40B4-BE49-F238E27FC236}">
                <a16:creationId xmlns:a16="http://schemas.microsoft.com/office/drawing/2014/main" id="{981C3BB2-0BC1-C490-3147-28D91437E362}"/>
              </a:ext>
            </a:extLst>
          </p:cNvPr>
          <p:cNvSpPr>
            <a:spLocks noGrp="1"/>
          </p:cNvSpPr>
          <p:nvPr>
            <p:ph idx="1"/>
          </p:nvPr>
        </p:nvSpPr>
        <p:spPr>
          <a:xfrm>
            <a:off x="7917084" y="1690688"/>
            <a:ext cx="3853404" cy="4351338"/>
          </a:xfrm>
        </p:spPr>
        <p:txBody>
          <a:bodyPr/>
          <a:lstStyle/>
          <a:p>
            <a:r>
              <a:rPr lang="en-US" dirty="0"/>
              <a:t>Suppose we have the following alignment</a:t>
            </a:r>
          </a:p>
          <a:p>
            <a:endParaRPr lang="en-US" dirty="0"/>
          </a:p>
          <a:p>
            <a:r>
              <a:rPr lang="en-US" dirty="0"/>
              <a:t>It will look like this in the SAM file</a:t>
            </a:r>
          </a:p>
          <a:p>
            <a:r>
              <a:rPr lang="en-US" dirty="0"/>
              <a:t>Coordinates are 1-based</a:t>
            </a:r>
          </a:p>
        </p:txBody>
      </p:sp>
      <p:pic>
        <p:nvPicPr>
          <p:cNvPr id="5" name="Picture 4">
            <a:extLst>
              <a:ext uri="{FF2B5EF4-FFF2-40B4-BE49-F238E27FC236}">
                <a16:creationId xmlns:a16="http://schemas.microsoft.com/office/drawing/2014/main" id="{BF1A2BCE-6C7F-0630-67F2-9166FAAFA6EA}"/>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2" name="Straight Connector 11">
            <a:extLst>
              <a:ext uri="{FF2B5EF4-FFF2-40B4-BE49-F238E27FC236}">
                <a16:creationId xmlns:a16="http://schemas.microsoft.com/office/drawing/2014/main" id="{17DF34E5-B2F6-0489-D1E4-1C4E4D0BBDA7}"/>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085FFD0F-4A4D-EB3C-49BD-12919DE0BFD7}"/>
              </a:ext>
            </a:extLst>
          </p:cNvPr>
          <p:cNvSpPr/>
          <p:nvPr/>
        </p:nvSpPr>
        <p:spPr>
          <a:xfrm>
            <a:off x="202114" y="2372936"/>
            <a:ext cx="7333804" cy="5042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819C4E5-0344-AA51-62B2-208F949CC603}"/>
              </a:ext>
            </a:extLst>
          </p:cNvPr>
          <p:cNvSpPr/>
          <p:nvPr/>
        </p:nvSpPr>
        <p:spPr>
          <a:xfrm>
            <a:off x="202114" y="4899209"/>
            <a:ext cx="7608053" cy="4741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FC148D-545F-D9FB-F881-B10E2AD4CFCD}"/>
              </a:ext>
            </a:extLst>
          </p:cNvPr>
          <p:cNvSpPr/>
          <p:nvPr/>
        </p:nvSpPr>
        <p:spPr>
          <a:xfrm>
            <a:off x="216433" y="6248096"/>
            <a:ext cx="10393760" cy="2867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3CFB0F-3F44-A89A-4B69-550C193A9024}"/>
              </a:ext>
            </a:extLst>
          </p:cNvPr>
          <p:cNvSpPr/>
          <p:nvPr/>
        </p:nvSpPr>
        <p:spPr>
          <a:xfrm>
            <a:off x="202114" y="3775840"/>
            <a:ext cx="7333804" cy="3279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65804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BC7AB-2A52-7BAD-7298-3A99D803C72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39E2C0F-E8A5-A5B9-2EEA-13595FC30124}"/>
              </a:ext>
            </a:extLst>
          </p:cNvPr>
          <p:cNvPicPr>
            <a:picLocks noChangeAspect="1"/>
          </p:cNvPicPr>
          <p:nvPr/>
        </p:nvPicPr>
        <p:blipFill>
          <a:blip r:embed="rId2"/>
          <a:stretch>
            <a:fillRect/>
          </a:stretch>
        </p:blipFill>
        <p:spPr>
          <a:xfrm>
            <a:off x="309031" y="4255227"/>
            <a:ext cx="10593278" cy="2429214"/>
          </a:xfrm>
          <a:prstGeom prst="rect">
            <a:avLst/>
          </a:prstGeom>
        </p:spPr>
      </p:pic>
      <p:sp>
        <p:nvSpPr>
          <p:cNvPr id="2" name="Title 1">
            <a:extLst>
              <a:ext uri="{FF2B5EF4-FFF2-40B4-BE49-F238E27FC236}">
                <a16:creationId xmlns:a16="http://schemas.microsoft.com/office/drawing/2014/main" id="{6FE8AEEB-4F2E-64BB-C082-157926270051}"/>
              </a:ext>
            </a:extLst>
          </p:cNvPr>
          <p:cNvSpPr>
            <a:spLocks noGrp="1"/>
          </p:cNvSpPr>
          <p:nvPr>
            <p:ph type="title"/>
          </p:nvPr>
        </p:nvSpPr>
        <p:spPr/>
        <p:txBody>
          <a:bodyPr>
            <a:normAutofit fontScale="90000"/>
          </a:bodyPr>
          <a:lstStyle/>
          <a:p>
            <a:r>
              <a:rPr lang="en-US" dirty="0"/>
              <a:t>SAM format           </a:t>
            </a:r>
            <a:r>
              <a:rPr lang="en-US" sz="2400" dirty="0"/>
              <a:t>https://samtools.github.io/hts-specs/SAMv1.pdf</a:t>
            </a:r>
          </a:p>
        </p:txBody>
      </p:sp>
      <p:sp>
        <p:nvSpPr>
          <p:cNvPr id="3" name="Content Placeholder 2">
            <a:extLst>
              <a:ext uri="{FF2B5EF4-FFF2-40B4-BE49-F238E27FC236}">
                <a16:creationId xmlns:a16="http://schemas.microsoft.com/office/drawing/2014/main" id="{C649AB70-8A42-5C10-3176-41F0903B99A5}"/>
              </a:ext>
            </a:extLst>
          </p:cNvPr>
          <p:cNvSpPr>
            <a:spLocks noGrp="1"/>
          </p:cNvSpPr>
          <p:nvPr>
            <p:ph idx="1"/>
          </p:nvPr>
        </p:nvSpPr>
        <p:spPr>
          <a:xfrm>
            <a:off x="7917084" y="1690688"/>
            <a:ext cx="3853404" cy="4351338"/>
          </a:xfrm>
        </p:spPr>
        <p:txBody>
          <a:bodyPr/>
          <a:lstStyle/>
          <a:p>
            <a:r>
              <a:rPr lang="en-US" dirty="0"/>
              <a:t>Suppose we have the following alignment</a:t>
            </a:r>
          </a:p>
          <a:p>
            <a:endParaRPr lang="en-US" dirty="0"/>
          </a:p>
          <a:p>
            <a:r>
              <a:rPr lang="en-US" dirty="0"/>
              <a:t>It will look like this in the SAM file</a:t>
            </a:r>
          </a:p>
          <a:p>
            <a:r>
              <a:rPr lang="en-US" dirty="0"/>
              <a:t>Coordinates are 1-based</a:t>
            </a:r>
          </a:p>
        </p:txBody>
      </p:sp>
      <p:pic>
        <p:nvPicPr>
          <p:cNvPr id="5" name="Picture 4">
            <a:extLst>
              <a:ext uri="{FF2B5EF4-FFF2-40B4-BE49-F238E27FC236}">
                <a16:creationId xmlns:a16="http://schemas.microsoft.com/office/drawing/2014/main" id="{9130B562-FE48-1E29-88EF-322DD0958623}"/>
              </a:ext>
            </a:extLst>
          </p:cNvPr>
          <p:cNvPicPr>
            <a:picLocks noChangeAspect="1"/>
          </p:cNvPicPr>
          <p:nvPr/>
        </p:nvPicPr>
        <p:blipFill>
          <a:blip r:embed="rId3"/>
          <a:stretch>
            <a:fillRect/>
          </a:stretch>
        </p:blipFill>
        <p:spPr>
          <a:xfrm>
            <a:off x="309031" y="1484618"/>
            <a:ext cx="7608053" cy="2694902"/>
          </a:xfrm>
          <a:prstGeom prst="rect">
            <a:avLst/>
          </a:prstGeom>
        </p:spPr>
      </p:pic>
      <p:cxnSp>
        <p:nvCxnSpPr>
          <p:cNvPr id="12" name="Straight Connector 11">
            <a:extLst>
              <a:ext uri="{FF2B5EF4-FFF2-40B4-BE49-F238E27FC236}">
                <a16:creationId xmlns:a16="http://schemas.microsoft.com/office/drawing/2014/main" id="{89F5ED7E-17D1-A7EA-D99C-7DF9AF6D617E}"/>
              </a:ext>
            </a:extLst>
          </p:cNvPr>
          <p:cNvCxnSpPr/>
          <p:nvPr/>
        </p:nvCxnSpPr>
        <p:spPr>
          <a:xfrm>
            <a:off x="309031" y="4179520"/>
            <a:ext cx="7422858"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30CBDDF8-A475-DF91-D079-BB5C567A6F49}"/>
              </a:ext>
            </a:extLst>
          </p:cNvPr>
          <p:cNvSpPr/>
          <p:nvPr/>
        </p:nvSpPr>
        <p:spPr>
          <a:xfrm>
            <a:off x="216433" y="2720822"/>
            <a:ext cx="7333804" cy="9821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B868B1-69FD-C857-6B58-E148D8E6D639}"/>
              </a:ext>
            </a:extLst>
          </p:cNvPr>
          <p:cNvSpPr/>
          <p:nvPr/>
        </p:nvSpPr>
        <p:spPr>
          <a:xfrm>
            <a:off x="309030" y="5178638"/>
            <a:ext cx="10316929" cy="10888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8133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11109</TotalTime>
  <Words>3942</Words>
  <Application>Microsoft Office PowerPoint</Application>
  <PresentationFormat>Widescreen</PresentationFormat>
  <Paragraphs>505</Paragraphs>
  <Slides>74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Consolas</vt:lpstr>
      <vt:lpstr>Courier New</vt:lpstr>
      <vt:lpstr>Trebuchet MS</vt:lpstr>
      <vt:lpstr>Office Theme</vt:lpstr>
      <vt:lpstr>PowerPoint Presentation</vt:lpstr>
      <vt:lpstr>Lab 2: Minimizers</vt:lpstr>
      <vt:lpstr>Data Structure: Suffix Array</vt:lpstr>
      <vt:lpstr>Building a suffix array</vt:lpstr>
      <vt:lpstr>Building a suffix array</vt:lpstr>
      <vt:lpstr>Looking up in suffix array</vt:lpstr>
      <vt:lpstr>Looking up in suffix array</vt:lpstr>
      <vt:lpstr>Looking up in suffix array</vt:lpstr>
      <vt:lpstr>Looking up in suffix array</vt:lpstr>
      <vt:lpstr>Looking up in suffix array</vt:lpstr>
      <vt:lpstr>Perfect and imperfect matches</vt:lpstr>
      <vt:lpstr>Looking up in suffix array</vt:lpstr>
      <vt:lpstr>Example of alignment of two sequences</vt:lpstr>
      <vt:lpstr>Alignment of two sequences</vt:lpstr>
      <vt:lpstr>Alignment of two sequences</vt:lpstr>
      <vt:lpstr>Alignment of two sequences</vt:lpstr>
      <vt:lpstr>Alignment of two sequences</vt:lpstr>
      <vt:lpstr>Alignment of two sequences</vt:lpstr>
      <vt:lpstr>Burrows-Wheeler Transform</vt:lpstr>
      <vt:lpstr>Burrows-Wheeler Transform</vt:lpstr>
      <vt:lpstr>Burrows-Wheeler Transform</vt:lpstr>
      <vt:lpstr>BWT rationale</vt:lpstr>
      <vt:lpstr>BWT reversibility</vt:lpstr>
      <vt:lpstr>BWT reversibility</vt:lpstr>
      <vt:lpstr>BWT reversibility</vt:lpstr>
      <vt:lpstr>Using BWT and SA for sequence alignments</vt:lpstr>
      <vt:lpstr>Using BWT and SA for sequence alignments</vt:lpstr>
      <vt:lpstr>Using BWT and SA for sequence alignments</vt:lpstr>
      <vt:lpstr>Using BWT and SA for sequence alignments</vt:lpstr>
      <vt:lpstr>Using BWT and SA for sequence alignments</vt:lpstr>
      <vt:lpstr>Using BWT and SA for sequence alignments</vt:lpstr>
      <vt:lpstr>Save memory with BWT/SA</vt:lpstr>
      <vt:lpstr>Save memory with BWT/SA</vt:lpstr>
      <vt:lpstr>Save memory with BWT/SA</vt:lpstr>
      <vt:lpstr>Save memory with BWT/SA</vt:lpstr>
      <vt:lpstr>Save memory with BWT/SA</vt:lpstr>
      <vt:lpstr>Save memory with BWT/SA</vt:lpstr>
      <vt:lpstr>Save memory with BWT/SA</vt:lpstr>
      <vt:lpstr>Save memory with BWT/SA</vt:lpstr>
      <vt:lpstr>Save memory with BWT/SA</vt:lpstr>
      <vt:lpstr>Speed up BWT/SA</vt:lpstr>
      <vt:lpstr>Alignment programs</vt:lpstr>
      <vt:lpstr>NCBI Blast online</vt:lpstr>
      <vt:lpstr>NCBI Blast online</vt:lpstr>
      <vt:lpstr>NCBI Blast online</vt:lpstr>
      <vt:lpstr>Local blast suite</vt:lpstr>
      <vt:lpstr>Alignment programs</vt:lpstr>
      <vt:lpstr>Nucmer aligner</vt:lpstr>
      <vt:lpstr>Nucmer usage</vt:lpstr>
      <vt:lpstr>Filtering/viewing nucmer output</vt:lpstr>
      <vt:lpstr>show-aligns output</vt:lpstr>
      <vt:lpstr>delta/coords format</vt:lpstr>
      <vt:lpstr>Filtering/viewing nucmer output</vt:lpstr>
      <vt:lpstr>Filtering/viewing nucmer output</vt:lpstr>
      <vt:lpstr>Filtering/viewing nucmer output</vt:lpstr>
      <vt:lpstr>Alignment programs</vt:lpstr>
      <vt:lpstr>minimap2</vt:lpstr>
      <vt:lpstr>PAF format</vt:lpstr>
      <vt:lpstr>Alignment programs</vt:lpstr>
      <vt:lpstr>Alignment file formats</vt:lpstr>
      <vt:lpstr>BED format</vt:lpstr>
      <vt:lpstr>SAM format</vt:lpstr>
      <vt:lpstr>SAM format</vt:lpstr>
      <vt:lpstr>SAM format</vt:lpstr>
      <vt:lpstr>SAM format</vt:lpstr>
      <vt:lpstr>SAM format</vt:lpstr>
      <vt:lpstr>SAM format</vt:lpstr>
      <vt:lpstr>SAM format           https://samtools.github.io/hts-specs/SAMv1.pdf</vt:lpstr>
      <vt:lpstr>SAM format           https://samtools.github.io/hts-specs/SAMv1.pdf</vt:lpstr>
      <vt:lpstr>SAM format           https://samtools.github.io/hts-specs/SAMv1.pdf</vt:lpstr>
      <vt:lpstr>SAM format</vt:lpstr>
      <vt:lpstr>SAM format           https://samtools.github.io/hts-specs/SAMv1.pdf</vt:lpstr>
      <vt:lpstr>SAM format           https://samtools.github.io/hts-specs/SAMv1.pdf</vt:lpstr>
      <vt:lpstr>SAM format           https://samtools.github.io/hts-specs/SAMv1.pdf</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34</cp:revision>
  <dcterms:created xsi:type="dcterms:W3CDTF">2013-08-21T19:17:07Z</dcterms:created>
  <dcterms:modified xsi:type="dcterms:W3CDTF">2026-09-14T14:11:18Z</dcterms:modified>
</cp:coreProperties>
</file>