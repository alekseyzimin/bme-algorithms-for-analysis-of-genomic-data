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2" r:id="rId2"/>
    <p:sldId id="257" r:id="rId3"/>
    <p:sldId id="457" r:id="rId4"/>
    <p:sldId id="489" r:id="rId5"/>
    <p:sldId id="461" r:id="rId6"/>
    <p:sldId id="488" r:id="rId7"/>
    <p:sldId id="459" r:id="rId8"/>
    <p:sldId id="487" r:id="rId9"/>
    <p:sldId id="490" r:id="rId10"/>
    <p:sldId id="460" r:id="rId11"/>
    <p:sldId id="463" r:id="rId12"/>
    <p:sldId id="491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64" r:id="rId21"/>
    <p:sldId id="462" r:id="rId22"/>
    <p:sldId id="406" r:id="rId23"/>
    <p:sldId id="450" r:id="rId24"/>
    <p:sldId id="449" r:id="rId25"/>
    <p:sldId id="409" r:id="rId26"/>
    <p:sldId id="509" r:id="rId27"/>
    <p:sldId id="510" r:id="rId28"/>
    <p:sldId id="51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68" autoAdjust="0"/>
    <p:restoredTop sz="93721" autoAdjust="0"/>
  </p:normalViewPr>
  <p:slideViewPr>
    <p:cSldViewPr snapToGrid="0">
      <p:cViewPr varScale="1">
        <p:scale>
          <a:sx n="96" d="100"/>
          <a:sy n="96" d="100"/>
        </p:scale>
        <p:origin x="68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5F359FD6-B8E9-41DA-90EC-0BA4FD0F3073}"/>
    <pc:docChg chg="undo custSel delSld modSld">
      <pc:chgData name="Aleksey Zimin" userId="7f2637d0bc515791" providerId="LiveId" clId="{5F359FD6-B8E9-41DA-90EC-0BA4FD0F3073}" dt="2026-09-23T17:48:41.935" v="34" actId="20577"/>
      <pc:docMkLst>
        <pc:docMk/>
      </pc:docMkLst>
      <pc:sldChg chg="modSp mod">
        <pc:chgData name="Aleksey Zimin" userId="7f2637d0bc515791" providerId="LiveId" clId="{5F359FD6-B8E9-41DA-90EC-0BA4FD0F3073}" dt="2026-09-23T17:41:37.474" v="3" actId="20577"/>
        <pc:sldMkLst>
          <pc:docMk/>
          <pc:sldMk cId="3138998660" sldId="457"/>
        </pc:sldMkLst>
        <pc:spChg chg="mod">
          <ac:chgData name="Aleksey Zimin" userId="7f2637d0bc515791" providerId="LiveId" clId="{5F359FD6-B8E9-41DA-90EC-0BA4FD0F3073}" dt="2026-09-23T17:41:37.474" v="3" actId="20577"/>
          <ac:spMkLst>
            <pc:docMk/>
            <pc:sldMk cId="3138998660" sldId="457"/>
            <ac:spMk id="15" creationId="{7BF44020-C76E-A795-19C0-F96D9A1CA532}"/>
          </ac:spMkLst>
        </pc:spChg>
      </pc:sldChg>
      <pc:sldChg chg="modSp mod modShow">
        <pc:chgData name="Aleksey Zimin" userId="7f2637d0bc515791" providerId="LiveId" clId="{5F359FD6-B8E9-41DA-90EC-0BA4FD0F3073}" dt="2026-09-23T17:46:24.498" v="7" actId="14100"/>
        <pc:sldMkLst>
          <pc:docMk/>
          <pc:sldMk cId="3771281687" sldId="462"/>
        </pc:sldMkLst>
        <pc:picChg chg="mod">
          <ac:chgData name="Aleksey Zimin" userId="7f2637d0bc515791" providerId="LiveId" clId="{5F359FD6-B8E9-41DA-90EC-0BA4FD0F3073}" dt="2026-09-23T17:46:24.498" v="7" actId="14100"/>
          <ac:picMkLst>
            <pc:docMk/>
            <pc:sldMk cId="3771281687" sldId="462"/>
            <ac:picMk id="8" creationId="{58EFE816-D97E-B7E7-BB46-3E2307D3D922}"/>
          </ac:picMkLst>
        </pc:picChg>
      </pc:sldChg>
      <pc:sldChg chg="modSp mod">
        <pc:chgData name="Aleksey Zimin" userId="7f2637d0bc515791" providerId="LiveId" clId="{5F359FD6-B8E9-41DA-90EC-0BA4FD0F3073}" dt="2026-09-23T17:42:22.280" v="5" actId="20577"/>
        <pc:sldMkLst>
          <pc:docMk/>
          <pc:sldMk cId="2889233369" sldId="489"/>
        </pc:sldMkLst>
        <pc:spChg chg="mod">
          <ac:chgData name="Aleksey Zimin" userId="7f2637d0bc515791" providerId="LiveId" clId="{5F359FD6-B8E9-41DA-90EC-0BA4FD0F3073}" dt="2026-09-23T17:42:22.280" v="5" actId="20577"/>
          <ac:spMkLst>
            <pc:docMk/>
            <pc:sldMk cId="2889233369" sldId="489"/>
            <ac:spMk id="3" creationId="{8E026558-B08D-BBAD-90D8-7AAE44FDB0AC}"/>
          </ac:spMkLst>
        </pc:spChg>
        <pc:spChg chg="mod">
          <ac:chgData name="Aleksey Zimin" userId="7f2637d0bc515791" providerId="LiveId" clId="{5F359FD6-B8E9-41DA-90EC-0BA4FD0F3073}" dt="2026-09-23T17:42:03.493" v="4" actId="20577"/>
          <ac:spMkLst>
            <pc:docMk/>
            <pc:sldMk cId="2889233369" sldId="489"/>
            <ac:spMk id="15" creationId="{6587E0AB-5067-A345-C2ED-245774E7F188}"/>
          </ac:spMkLst>
        </pc:spChg>
      </pc:sldChg>
      <pc:sldChg chg="modSp mod">
        <pc:chgData name="Aleksey Zimin" userId="7f2637d0bc515791" providerId="LiveId" clId="{5F359FD6-B8E9-41DA-90EC-0BA4FD0F3073}" dt="2026-09-23T17:48:41.935" v="34" actId="20577"/>
        <pc:sldMkLst>
          <pc:docMk/>
          <pc:sldMk cId="591985588" sldId="509"/>
        </pc:sldMkLst>
        <pc:spChg chg="mod">
          <ac:chgData name="Aleksey Zimin" userId="7f2637d0bc515791" providerId="LiveId" clId="{5F359FD6-B8E9-41DA-90EC-0BA4FD0F3073}" dt="2026-09-23T17:48:41.935" v="34" actId="20577"/>
          <ac:spMkLst>
            <pc:docMk/>
            <pc:sldMk cId="591985588" sldId="509"/>
            <ac:spMk id="3" creationId="{188CD492-2FE1-A6AC-961C-BCBC6460989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15:45:46.01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1 107 24575,'0'0'0,"5"0"0,11 0 0,6 0 0,9-5 0,3 0 0,6-1 0,4 2 0,4 1 0,-3-5 0,-3 2 0,-5-6 0,2 2 0,-4 2 0,-1 2 0,-3 2 0,-2 1 0,-2 2 0,0-4 0,4-1 0,6 1 0,11 1 0,-2 1 0,-1 1 0,-4 1 0,-5 1 0,-4 0 0,-3 0 0,-2 6 0,-1 0 0,0 4 0,0 1 0,5 3 0,0 3 0,1-2 0,9-3 0,4 3 0,5 6 0,3-2 0,6 3 0,6-4 0,6 1 0,4-5 0,-2-3 0,-5-4 0,-4-4 0,-4-1 0,-9-2 0,4 0 0,-7-1 0,-6 1 0,0-1 0,-4 0 0,2 1 0,3-5 0,2-1 0,9 1 0,1-5 0,3 2 0,-1 0 0,15 2 0,0 3 0,9 1 0,-8 1 0,-4 0 0,-12 1 0,-9 1 0,-4-1 0,-6 1 0,-4-1 0,-4 0 0,3 0 0,-1 0 0,-1 0 0,-1 0 0,-1 0 0,-1 0 0,-1 0 0,-5 5 0,-2 1 0,1 0 0,6-2 0,2-1 0,5-1 0,7 0 0,4-2 0,10 0 0,7 0 0,2 0 0,5 0 0,3-1 0,-2 1 0,2 0 0,-4 0 0,2 0 0,17 0 0,-2 0 0,1 0 0,0 0 0,8 0 0,-6 0 0,9 5 0,-3 1 0,-7 4 0,-3 11 0,-4-2 0,4 9 0,-1 2 0,0-5 0,0 0 0,-2-6 0,0-5 0,-1-6 0,0-3 0,-1-3 0,0-2 0,-5-1 0,0 0 0,0-5 0,1-1 0,1-4 0,1-5 0,-4-3 0,0-4 0,-4 3 0,1-1 0,1 0 0,-4 3 0,3-1 0,-3 5 0,1 3 0,-3 5 0,-3 2 0,-2 2 0,-4 2 0,-1 0 0,9 1 0,-5 0 0,9-1 0,-1 1 0,-2-1 0,-8 5 0,-3 6 0,-3 0 0,-1-1 0,-5 3 0,0 3 0,6-2 0,7 3 0,8-4 0,5 3 0,4-3 0,14 2 0,2 2 0,6-2 0,-2 2 0,3-3 0,-9-4 0,-3-3 0,-5-3 0,-6-1 0,-3-3 0,-4 0 0,0-1 0,-9-5 0,-3 0 0,-3-5 0,4-4 0,-1-5 0,1-2 0,-1 2 0,-1-1 0,-1-1 0,0 5 0,-1-2 0,-5 4 0,4 0 0,-4 2 0,-5 4 0,-5 3 0,6 2 0,7 3 0,19 11 0,9 6 0,0 6 0,7 9 0,0-3 0,0 0 0,-2 0 0,-1-1 0,-1-6 0,-2 0 0,11 0 0,-1-5 0,-5-3 0,-3-5 0,-7-4 0,-7-2 0,-6-1 0,-9-2 0,1 1 0,-1-6 0,-1-6 0,-4-4 0,5 0 0,0-3 0,1-1 0,0 2 0,0 5 0,0 4 0,5 3 0,0 3 0,4 2 0,0 2 0,-1-1 0,-3 1 0,-2 5 0,4 5 0,-2 1 0,31 3 0,6-2 0,24 3 0,-1-3 0,2-2 0,-4-4 0,8-3 0,3-2 0,8-1 0,1-1 0,12-1 0,0-5 0,4 0 0,-4-5 0,-3 1 0,-10 1 0,-8-3 0,-15 2 0,-11 2 0,-9 2 0,-8 3 0,-4 1 0,-3 1 0,-6 1 0,-1 0 0,1 1 0,-4-1 0,-3 1 0,-5-1 0,-2 0 0,-3 0 0,-2 0 0,5 0 0,0 0 0,-1 0 0,0 0 0,-1 0 0,-2 0 0,0 0 0,15 0 0,6 0 0,25 0 0,5 0 0,15-5 0,-8-6 0,-17 0 0,-8-4 0,-18 2 0,-15 2 0,-12-2 0,-8 3 0,-6 2 0,-3 2 0,-1 3 0,-1 1 0,7 2 0,0 0 0,11 6 0,11 5 0,9 0 0,9 5 0,10 3 0,10 2 0,17 3 0,17 2 0,8-5 0,0-5 0,-3-5 0,-7-4 0,-10-4 0,-11-2 0,-8-7 0,-12 0 0,-10-1 0,-9-4 0,-5-3 0,23-5 0,-1-3 0,10 3 0,-10 3 0,-12 5 0,-2 5 0,-5 2 0,-3 3 0,-8 1 0,4 1 0,-1 0 0,6 0 0,17 5 0,11 5 0,20 5 0,12 0 0,15 2 0,6-2 0,7 1 0,-5-4 0,-7-2 0,-13-4 0,-19-3 0,-17-8 0,-8-1 0,-16-11 0,-11-5 0,-5 0 0,-7-1 0,-5 4 0,-9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15:45:50.1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019.58398"/>
      <inkml:brushProperty name="anchorY" value="-1521.36877"/>
      <inkml:brushProperty name="scaleFactor" value="0.5"/>
    </inkml:brush>
  </inkml:definitions>
  <inkml:trace contextRef="#ctx0" brushRef="#br0">1 324 24575,'0'0'0,"4"0"0,13 0 0,10 0 0,9 0 0,9-5 0,10-6 0,19 0 0,13-4 0,10-3 0,12-4 0,9-7 0,50-7 0,0-1 0,24 0 0,-17 2 0,13 8 0,-28 8 0,-20 7 0,-28 5 0,-22 5 0,-23 1 0,-12 2 0,-3 1 0,-2 4 0,0 12 0,1-1 0,6 4 0,5 2 0,7 1 0,14-3 0,5 0 0,7 0 0,10 2 0,4 1 0,2-5 0,10 1 0,0-4 0,-1-5 0,-9-3 0,-8-4 0,-8-3 0,-13 0 0,-5-2 0,-8 0 0,-6-5 0,1 0 0,2-5 0,3-5 0,4-9 0,2 2 0,3-2 0,0 0 0,7 4 0,38 1 0,6 4 0,46 5 0,10 9 0,-1 9 0,-8 7 0,-16 7 0,-18 3 0,-9 3 0,-16-4 0,-12-1 0,-7 1 0,-7 0 0,-4-4 0,0 1 0,15 0 0,19 2 0,6-4 0,10 1 0,-2-5 0,1-3 0,-2-4 0,-6-3 0,-11-2 0,-11-1 0,-16-2 0,-8-5 0,0-5 0,-1-6 0,9 1 0,1-2 0,4-3 0,-1 4 0,2 3 0,-2 5 0,-10 3 0,-2 3 0,-9 2 0,-2 1 0,-10 1 0,-4 0 0,-9 0 0,2 5 0,1 5 0,1 5 0,5-1 0,1 4 0,1 1 0,4-2 0,-2-5 0,-5-4 0,-3-3 0,-7-3 0,5-2 0,-1-1 0,-3-1 0,0 0 0,1 0 0,1-4 0,7-1 0,6 0 0,6-4 0,5 2 0,-1-5 0,1 2 0,-3 2 0,0 2 0,-3 3 0,-4 2 0,2 6 0,8 1 0,-2 6 0,3 10 0,7-1 0,1 3 0,1 1 0,1-4 0,-2 1 0,-11-5 0,-11-5 0,-7-3 0,1-4 0,0-8 0,15-6 0,1-2 0,15-9 0,3 2 0,-3-3 0,-12 4 0,-14 4 0,-11 5 0,-5 3 0,-6 4 0,0 1 0,-2 1 0,3 1 0,-2 0 0,-2 5 0,-2 0 0,8 5 0,10-1 0,4-2 0,9-1 0,10-3 0,6-1 0,9-2 0,1-6 0,0-6 0,-8-5 0,-1-11 0,-3-2 0,-5-3 0,-11 1 0,-5 5 0,-4 7 0,-13 1 0,-5 6 0,-6 3 0,-2 4 0,14 13 0,6 13 0,0 1 0,8 8 0,2-2 0,1-1 0,-1 0 0,-5-6 0,-1-1 0,-7-5 0,-4-4 0,5-4 0,-3-4 0,-2-1 0,2-2 0,2-1 0,2 0 0,4 1 0,1-6 0,-3 0 0,0 0 0,6 2 0,2-5 0,0 2 0,1 0 0,0 3 0,-7 0 0,5 3 0,-6 0 0,-4 1 0,-6 0 0,0 0 0,-2 0 0,2 1 0,3-1 0,4 0 0,8 0 0,30 0 0,7 0 0,16 0 0,-6 0 0,-2 0 0,-16 0 0,-16 0 0,-15 0 0,-11 0 0,-8 0 0,-6 0 0,-1 0 0,-2 0 0,6 0 0,6 0 0,6 0 0,5 0 0,3 0 0,3 0 0,7 0 0,1 0 0,4 0 0,6 0 0,8 0 0,4 5 0,1 1 0,-4 4 0,-7 0 0,-6-2 0,-5-1 0,-10-3 0,-2-2 0,-13 5 0,-4-1 0,-6-1 0,-1 10 0,10 4 0,5-1 0,11 2 0,31 8 0,-2-5 0,10-3 0,-10-6 0,-11-5 0,-14-4 0,-6-9 0,-9-12 0,-5-1 0,-10-4 0,-3 2 0,-1 4 0,-6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Cd6B5HRaZ8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mkgene.com/dnarna-sequencing-illumina-sequencer-produc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Cd6B5HRaZ8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mkgene.com/dnarna-sequencing-illumina-sequencer-product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b.com/blog/steps-of-smrt-sequencin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pacb.com/blog/steps-of-smrt-sequencin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b.com/blog/steps-of-smrt-sequencin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b.com/blog/steps-of-smrt-sequencin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nanoporetech.com/platform/technolog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customXml" Target="../ink/ink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>
                <a:solidFill>
                  <a:srgbClr val="BE0260"/>
                </a:solidFill>
              </a:rPr>
              <a:t>Week 4</a:t>
            </a: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JHU </a:t>
            </a:r>
            <a:r>
              <a:rPr lang="en-US" sz="2400"/>
              <a:t>BME 580.417/707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F90E23-1B3A-42CF-9767-88548BB4707E}"/>
              </a:ext>
            </a:extLst>
          </p:cNvPr>
          <p:cNvGrpSpPr/>
          <p:nvPr/>
        </p:nvGrpSpPr>
        <p:grpSpPr>
          <a:xfrm>
            <a:off x="635893" y="2026644"/>
            <a:ext cx="2006573" cy="1905000"/>
            <a:chOff x="685800" y="2819400"/>
            <a:chExt cx="3036888" cy="327977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8AC61E0-17BD-4AD6-A53C-4C3833139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0" y="2819400"/>
              <a:ext cx="1512888" cy="1755775"/>
            </a:xfrm>
            <a:custGeom>
              <a:avLst/>
              <a:gdLst>
                <a:gd name="T0" fmla="*/ 370 w 953"/>
                <a:gd name="T1" fmla="*/ 457 h 1106"/>
                <a:gd name="T2" fmla="*/ 296 w 953"/>
                <a:gd name="T3" fmla="*/ 413 h 1106"/>
                <a:gd name="T4" fmla="*/ 540 w 953"/>
                <a:gd name="T5" fmla="*/ 214 h 1106"/>
                <a:gd name="T6" fmla="*/ 665 w 953"/>
                <a:gd name="T7" fmla="*/ 465 h 1106"/>
                <a:gd name="T8" fmla="*/ 392 w 953"/>
                <a:gd name="T9" fmla="*/ 398 h 1106"/>
                <a:gd name="T10" fmla="*/ 414 w 953"/>
                <a:gd name="T11" fmla="*/ 243 h 1106"/>
                <a:gd name="T12" fmla="*/ 621 w 953"/>
                <a:gd name="T13" fmla="*/ 133 h 1106"/>
                <a:gd name="T14" fmla="*/ 709 w 953"/>
                <a:gd name="T15" fmla="*/ 265 h 1106"/>
                <a:gd name="T16" fmla="*/ 532 w 953"/>
                <a:gd name="T17" fmla="*/ 421 h 1106"/>
                <a:gd name="T18" fmla="*/ 362 w 953"/>
                <a:gd name="T19" fmla="*/ 258 h 1106"/>
                <a:gd name="T20" fmla="*/ 185 w 953"/>
                <a:gd name="T21" fmla="*/ 133 h 1106"/>
                <a:gd name="T22" fmla="*/ 444 w 953"/>
                <a:gd name="T23" fmla="*/ 369 h 1106"/>
                <a:gd name="T24" fmla="*/ 458 w 953"/>
                <a:gd name="T25" fmla="*/ 199 h 1106"/>
                <a:gd name="T26" fmla="*/ 414 w 953"/>
                <a:gd name="T27" fmla="*/ 133 h 1106"/>
                <a:gd name="T28" fmla="*/ 650 w 953"/>
                <a:gd name="T29" fmla="*/ 66 h 1106"/>
                <a:gd name="T30" fmla="*/ 665 w 953"/>
                <a:gd name="T31" fmla="*/ 236 h 1106"/>
                <a:gd name="T32" fmla="*/ 444 w 953"/>
                <a:gd name="T33" fmla="*/ 288 h 1106"/>
                <a:gd name="T34" fmla="*/ 259 w 953"/>
                <a:gd name="T35" fmla="*/ 376 h 1106"/>
                <a:gd name="T36" fmla="*/ 207 w 953"/>
                <a:gd name="T37" fmla="*/ 472 h 1106"/>
                <a:gd name="T38" fmla="*/ 252 w 953"/>
                <a:gd name="T39" fmla="*/ 716 h 1106"/>
                <a:gd name="T40" fmla="*/ 429 w 953"/>
                <a:gd name="T41" fmla="*/ 937 h 1106"/>
                <a:gd name="T42" fmla="*/ 333 w 953"/>
                <a:gd name="T43" fmla="*/ 1070 h 1106"/>
                <a:gd name="T44" fmla="*/ 362 w 953"/>
                <a:gd name="T45" fmla="*/ 841 h 1106"/>
                <a:gd name="T46" fmla="*/ 576 w 953"/>
                <a:gd name="T47" fmla="*/ 745 h 1106"/>
                <a:gd name="T48" fmla="*/ 709 w 953"/>
                <a:gd name="T49" fmla="*/ 731 h 1106"/>
                <a:gd name="T50" fmla="*/ 458 w 953"/>
                <a:gd name="T51" fmla="*/ 657 h 1106"/>
                <a:gd name="T52" fmla="*/ 473 w 953"/>
                <a:gd name="T53" fmla="*/ 450 h 1106"/>
                <a:gd name="T54" fmla="*/ 636 w 953"/>
                <a:gd name="T55" fmla="*/ 531 h 1106"/>
                <a:gd name="T56" fmla="*/ 370 w 953"/>
                <a:gd name="T57" fmla="*/ 649 h 1106"/>
                <a:gd name="T58" fmla="*/ 185 w 953"/>
                <a:gd name="T59" fmla="*/ 450 h 1106"/>
                <a:gd name="T60" fmla="*/ 37 w 953"/>
                <a:gd name="T61" fmla="*/ 590 h 1106"/>
                <a:gd name="T62" fmla="*/ 0 w 953"/>
                <a:gd name="T63" fmla="*/ 709 h 1106"/>
                <a:gd name="T64" fmla="*/ 170 w 953"/>
                <a:gd name="T65" fmla="*/ 886 h 1106"/>
                <a:gd name="T66" fmla="*/ 311 w 953"/>
                <a:gd name="T67" fmla="*/ 819 h 1106"/>
                <a:gd name="T68" fmla="*/ 613 w 953"/>
                <a:gd name="T69" fmla="*/ 627 h 1106"/>
                <a:gd name="T70" fmla="*/ 783 w 953"/>
                <a:gd name="T71" fmla="*/ 443 h 1106"/>
                <a:gd name="T72" fmla="*/ 754 w 953"/>
                <a:gd name="T73" fmla="*/ 620 h 1106"/>
                <a:gd name="T74" fmla="*/ 924 w 953"/>
                <a:gd name="T75" fmla="*/ 613 h 1106"/>
                <a:gd name="T76" fmla="*/ 946 w 953"/>
                <a:gd name="T77" fmla="*/ 428 h 1106"/>
                <a:gd name="T78" fmla="*/ 768 w 953"/>
                <a:gd name="T79" fmla="*/ 406 h 1106"/>
                <a:gd name="T80" fmla="*/ 724 w 953"/>
                <a:gd name="T81" fmla="*/ 155 h 1106"/>
                <a:gd name="T82" fmla="*/ 562 w 953"/>
                <a:gd name="T83" fmla="*/ 96 h 1106"/>
                <a:gd name="T84" fmla="*/ 495 w 953"/>
                <a:gd name="T85" fmla="*/ 391 h 1106"/>
                <a:gd name="T86" fmla="*/ 517 w 953"/>
                <a:gd name="T87" fmla="*/ 553 h 1106"/>
                <a:gd name="T88" fmla="*/ 325 w 953"/>
                <a:gd name="T89" fmla="*/ 576 h 1106"/>
                <a:gd name="T90" fmla="*/ 303 w 953"/>
                <a:gd name="T91" fmla="*/ 398 h 1106"/>
                <a:gd name="T92" fmla="*/ 399 w 953"/>
                <a:gd name="T93" fmla="*/ 280 h 1106"/>
                <a:gd name="T94" fmla="*/ 599 w 953"/>
                <a:gd name="T95" fmla="*/ 273 h 1106"/>
                <a:gd name="T96" fmla="*/ 495 w 953"/>
                <a:gd name="T97" fmla="*/ 524 h 1106"/>
                <a:gd name="T98" fmla="*/ 274 w 953"/>
                <a:gd name="T99" fmla="*/ 347 h 1106"/>
                <a:gd name="T100" fmla="*/ 466 w 953"/>
                <a:gd name="T101" fmla="*/ 325 h 1106"/>
                <a:gd name="T102" fmla="*/ 133 w 953"/>
                <a:gd name="T103" fmla="*/ 457 h 1106"/>
                <a:gd name="T104" fmla="*/ 82 w 953"/>
                <a:gd name="T105" fmla="*/ 753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53" h="1106">
                  <a:moveTo>
                    <a:pt x="495" y="517"/>
                  </a:moveTo>
                  <a:cubicBezTo>
                    <a:pt x="456" y="497"/>
                    <a:pt x="407" y="480"/>
                    <a:pt x="370" y="457"/>
                  </a:cubicBezTo>
                  <a:cubicBezTo>
                    <a:pt x="321" y="426"/>
                    <a:pt x="360" y="441"/>
                    <a:pt x="318" y="428"/>
                  </a:cubicBezTo>
                  <a:cubicBezTo>
                    <a:pt x="311" y="423"/>
                    <a:pt x="296" y="422"/>
                    <a:pt x="296" y="413"/>
                  </a:cubicBezTo>
                  <a:cubicBezTo>
                    <a:pt x="290" y="259"/>
                    <a:pt x="289" y="225"/>
                    <a:pt x="414" y="206"/>
                  </a:cubicBezTo>
                  <a:cubicBezTo>
                    <a:pt x="456" y="209"/>
                    <a:pt x="501" y="199"/>
                    <a:pt x="540" y="214"/>
                  </a:cubicBezTo>
                  <a:cubicBezTo>
                    <a:pt x="604" y="239"/>
                    <a:pt x="621" y="325"/>
                    <a:pt x="665" y="369"/>
                  </a:cubicBezTo>
                  <a:cubicBezTo>
                    <a:pt x="673" y="401"/>
                    <a:pt x="683" y="431"/>
                    <a:pt x="665" y="465"/>
                  </a:cubicBezTo>
                  <a:cubicBezTo>
                    <a:pt x="663" y="470"/>
                    <a:pt x="617" y="484"/>
                    <a:pt x="606" y="487"/>
                  </a:cubicBezTo>
                  <a:cubicBezTo>
                    <a:pt x="426" y="479"/>
                    <a:pt x="450" y="514"/>
                    <a:pt x="392" y="398"/>
                  </a:cubicBezTo>
                  <a:cubicBezTo>
                    <a:pt x="381" y="347"/>
                    <a:pt x="375" y="339"/>
                    <a:pt x="392" y="273"/>
                  </a:cubicBezTo>
                  <a:cubicBezTo>
                    <a:pt x="395" y="261"/>
                    <a:pt x="406" y="252"/>
                    <a:pt x="414" y="243"/>
                  </a:cubicBezTo>
                  <a:cubicBezTo>
                    <a:pt x="451" y="202"/>
                    <a:pt x="487" y="143"/>
                    <a:pt x="540" y="125"/>
                  </a:cubicBezTo>
                  <a:cubicBezTo>
                    <a:pt x="567" y="128"/>
                    <a:pt x="595" y="124"/>
                    <a:pt x="621" y="133"/>
                  </a:cubicBezTo>
                  <a:cubicBezTo>
                    <a:pt x="632" y="137"/>
                    <a:pt x="636" y="152"/>
                    <a:pt x="643" y="162"/>
                  </a:cubicBezTo>
                  <a:cubicBezTo>
                    <a:pt x="668" y="197"/>
                    <a:pt x="696" y="223"/>
                    <a:pt x="709" y="265"/>
                  </a:cubicBezTo>
                  <a:cubicBezTo>
                    <a:pt x="702" y="371"/>
                    <a:pt x="715" y="385"/>
                    <a:pt x="636" y="435"/>
                  </a:cubicBezTo>
                  <a:cubicBezTo>
                    <a:pt x="601" y="430"/>
                    <a:pt x="566" y="430"/>
                    <a:pt x="532" y="421"/>
                  </a:cubicBezTo>
                  <a:cubicBezTo>
                    <a:pt x="520" y="418"/>
                    <a:pt x="513" y="405"/>
                    <a:pt x="503" y="398"/>
                  </a:cubicBezTo>
                  <a:cubicBezTo>
                    <a:pt x="444" y="358"/>
                    <a:pt x="403" y="318"/>
                    <a:pt x="362" y="258"/>
                  </a:cubicBezTo>
                  <a:cubicBezTo>
                    <a:pt x="341" y="190"/>
                    <a:pt x="403" y="90"/>
                    <a:pt x="325" y="66"/>
                  </a:cubicBezTo>
                  <a:cubicBezTo>
                    <a:pt x="236" y="73"/>
                    <a:pt x="221" y="61"/>
                    <a:pt x="185" y="133"/>
                  </a:cubicBezTo>
                  <a:cubicBezTo>
                    <a:pt x="142" y="310"/>
                    <a:pt x="201" y="371"/>
                    <a:pt x="340" y="428"/>
                  </a:cubicBezTo>
                  <a:cubicBezTo>
                    <a:pt x="398" y="420"/>
                    <a:pt x="409" y="413"/>
                    <a:pt x="444" y="369"/>
                  </a:cubicBezTo>
                  <a:cubicBezTo>
                    <a:pt x="462" y="313"/>
                    <a:pt x="455" y="340"/>
                    <a:pt x="466" y="288"/>
                  </a:cubicBezTo>
                  <a:cubicBezTo>
                    <a:pt x="463" y="258"/>
                    <a:pt x="466" y="228"/>
                    <a:pt x="458" y="199"/>
                  </a:cubicBezTo>
                  <a:cubicBezTo>
                    <a:pt x="453" y="182"/>
                    <a:pt x="439" y="170"/>
                    <a:pt x="429" y="155"/>
                  </a:cubicBezTo>
                  <a:cubicBezTo>
                    <a:pt x="424" y="148"/>
                    <a:pt x="414" y="133"/>
                    <a:pt x="414" y="133"/>
                  </a:cubicBezTo>
                  <a:cubicBezTo>
                    <a:pt x="398" y="51"/>
                    <a:pt x="432" y="12"/>
                    <a:pt x="510" y="0"/>
                  </a:cubicBezTo>
                  <a:cubicBezTo>
                    <a:pt x="607" y="14"/>
                    <a:pt x="602" y="3"/>
                    <a:pt x="650" y="66"/>
                  </a:cubicBezTo>
                  <a:cubicBezTo>
                    <a:pt x="658" y="88"/>
                    <a:pt x="672" y="133"/>
                    <a:pt x="672" y="133"/>
                  </a:cubicBezTo>
                  <a:cubicBezTo>
                    <a:pt x="670" y="167"/>
                    <a:pt x="673" y="202"/>
                    <a:pt x="665" y="236"/>
                  </a:cubicBezTo>
                  <a:cubicBezTo>
                    <a:pt x="661" y="253"/>
                    <a:pt x="636" y="262"/>
                    <a:pt x="621" y="265"/>
                  </a:cubicBezTo>
                  <a:cubicBezTo>
                    <a:pt x="563" y="276"/>
                    <a:pt x="503" y="282"/>
                    <a:pt x="444" y="288"/>
                  </a:cubicBezTo>
                  <a:cubicBezTo>
                    <a:pt x="398" y="302"/>
                    <a:pt x="351" y="310"/>
                    <a:pt x="311" y="339"/>
                  </a:cubicBezTo>
                  <a:cubicBezTo>
                    <a:pt x="294" y="351"/>
                    <a:pt x="259" y="376"/>
                    <a:pt x="259" y="376"/>
                  </a:cubicBezTo>
                  <a:cubicBezTo>
                    <a:pt x="244" y="423"/>
                    <a:pt x="264" y="372"/>
                    <a:pt x="229" y="421"/>
                  </a:cubicBezTo>
                  <a:cubicBezTo>
                    <a:pt x="220" y="433"/>
                    <a:pt x="212" y="457"/>
                    <a:pt x="207" y="472"/>
                  </a:cubicBezTo>
                  <a:cubicBezTo>
                    <a:pt x="210" y="531"/>
                    <a:pt x="211" y="590"/>
                    <a:pt x="215" y="649"/>
                  </a:cubicBezTo>
                  <a:cubicBezTo>
                    <a:pt x="217" y="674"/>
                    <a:pt x="252" y="716"/>
                    <a:pt x="252" y="716"/>
                  </a:cubicBezTo>
                  <a:cubicBezTo>
                    <a:pt x="271" y="776"/>
                    <a:pt x="327" y="840"/>
                    <a:pt x="384" y="864"/>
                  </a:cubicBezTo>
                  <a:cubicBezTo>
                    <a:pt x="420" y="917"/>
                    <a:pt x="406" y="892"/>
                    <a:pt x="429" y="937"/>
                  </a:cubicBezTo>
                  <a:cubicBezTo>
                    <a:pt x="440" y="982"/>
                    <a:pt x="458" y="1048"/>
                    <a:pt x="421" y="1085"/>
                  </a:cubicBezTo>
                  <a:cubicBezTo>
                    <a:pt x="400" y="1106"/>
                    <a:pt x="362" y="1075"/>
                    <a:pt x="333" y="1070"/>
                  </a:cubicBezTo>
                  <a:cubicBezTo>
                    <a:pt x="295" y="1042"/>
                    <a:pt x="290" y="1028"/>
                    <a:pt x="281" y="982"/>
                  </a:cubicBezTo>
                  <a:cubicBezTo>
                    <a:pt x="288" y="887"/>
                    <a:pt x="277" y="872"/>
                    <a:pt x="362" y="841"/>
                  </a:cubicBezTo>
                  <a:cubicBezTo>
                    <a:pt x="392" y="819"/>
                    <a:pt x="412" y="819"/>
                    <a:pt x="444" y="805"/>
                  </a:cubicBezTo>
                  <a:cubicBezTo>
                    <a:pt x="490" y="784"/>
                    <a:pt x="527" y="756"/>
                    <a:pt x="576" y="745"/>
                  </a:cubicBezTo>
                  <a:cubicBezTo>
                    <a:pt x="591" y="738"/>
                    <a:pt x="619" y="723"/>
                    <a:pt x="636" y="723"/>
                  </a:cubicBezTo>
                  <a:cubicBezTo>
                    <a:pt x="660" y="723"/>
                    <a:pt x="733" y="731"/>
                    <a:pt x="709" y="731"/>
                  </a:cubicBezTo>
                  <a:cubicBezTo>
                    <a:pt x="670" y="731"/>
                    <a:pt x="630" y="726"/>
                    <a:pt x="591" y="723"/>
                  </a:cubicBezTo>
                  <a:cubicBezTo>
                    <a:pt x="539" y="709"/>
                    <a:pt x="504" y="685"/>
                    <a:pt x="458" y="657"/>
                  </a:cubicBezTo>
                  <a:cubicBezTo>
                    <a:pt x="439" y="628"/>
                    <a:pt x="422" y="618"/>
                    <a:pt x="414" y="583"/>
                  </a:cubicBezTo>
                  <a:cubicBezTo>
                    <a:pt x="423" y="526"/>
                    <a:pt x="413" y="469"/>
                    <a:pt x="473" y="450"/>
                  </a:cubicBezTo>
                  <a:cubicBezTo>
                    <a:pt x="517" y="418"/>
                    <a:pt x="528" y="421"/>
                    <a:pt x="584" y="428"/>
                  </a:cubicBezTo>
                  <a:cubicBezTo>
                    <a:pt x="624" y="455"/>
                    <a:pt x="621" y="489"/>
                    <a:pt x="636" y="531"/>
                  </a:cubicBezTo>
                  <a:cubicBezTo>
                    <a:pt x="605" y="624"/>
                    <a:pt x="565" y="652"/>
                    <a:pt x="466" y="664"/>
                  </a:cubicBezTo>
                  <a:cubicBezTo>
                    <a:pt x="434" y="659"/>
                    <a:pt x="400" y="660"/>
                    <a:pt x="370" y="649"/>
                  </a:cubicBezTo>
                  <a:cubicBezTo>
                    <a:pt x="327" y="633"/>
                    <a:pt x="220" y="550"/>
                    <a:pt x="192" y="509"/>
                  </a:cubicBezTo>
                  <a:cubicBezTo>
                    <a:pt x="190" y="489"/>
                    <a:pt x="199" y="464"/>
                    <a:pt x="185" y="450"/>
                  </a:cubicBezTo>
                  <a:cubicBezTo>
                    <a:pt x="176" y="441"/>
                    <a:pt x="159" y="457"/>
                    <a:pt x="148" y="465"/>
                  </a:cubicBezTo>
                  <a:cubicBezTo>
                    <a:pt x="105" y="496"/>
                    <a:pt x="61" y="544"/>
                    <a:pt x="37" y="590"/>
                  </a:cubicBezTo>
                  <a:cubicBezTo>
                    <a:pt x="31" y="616"/>
                    <a:pt x="24" y="639"/>
                    <a:pt x="15" y="664"/>
                  </a:cubicBezTo>
                  <a:cubicBezTo>
                    <a:pt x="10" y="679"/>
                    <a:pt x="0" y="709"/>
                    <a:pt x="0" y="709"/>
                  </a:cubicBezTo>
                  <a:cubicBezTo>
                    <a:pt x="5" y="741"/>
                    <a:pt x="7" y="774"/>
                    <a:pt x="15" y="805"/>
                  </a:cubicBezTo>
                  <a:cubicBezTo>
                    <a:pt x="31" y="866"/>
                    <a:pt x="124" y="873"/>
                    <a:pt x="170" y="886"/>
                  </a:cubicBezTo>
                  <a:cubicBezTo>
                    <a:pt x="205" y="883"/>
                    <a:pt x="243" y="893"/>
                    <a:pt x="274" y="878"/>
                  </a:cubicBezTo>
                  <a:cubicBezTo>
                    <a:pt x="295" y="868"/>
                    <a:pt x="299" y="839"/>
                    <a:pt x="311" y="819"/>
                  </a:cubicBezTo>
                  <a:cubicBezTo>
                    <a:pt x="319" y="807"/>
                    <a:pt x="333" y="782"/>
                    <a:pt x="333" y="782"/>
                  </a:cubicBezTo>
                  <a:cubicBezTo>
                    <a:pt x="354" y="648"/>
                    <a:pt x="501" y="636"/>
                    <a:pt x="613" y="627"/>
                  </a:cubicBezTo>
                  <a:cubicBezTo>
                    <a:pt x="735" y="632"/>
                    <a:pt x="786" y="650"/>
                    <a:pt x="887" y="627"/>
                  </a:cubicBezTo>
                  <a:cubicBezTo>
                    <a:pt x="950" y="527"/>
                    <a:pt x="853" y="487"/>
                    <a:pt x="783" y="443"/>
                  </a:cubicBezTo>
                  <a:cubicBezTo>
                    <a:pt x="709" y="457"/>
                    <a:pt x="730" y="486"/>
                    <a:pt x="739" y="568"/>
                  </a:cubicBezTo>
                  <a:cubicBezTo>
                    <a:pt x="739" y="572"/>
                    <a:pt x="749" y="614"/>
                    <a:pt x="754" y="620"/>
                  </a:cubicBezTo>
                  <a:cubicBezTo>
                    <a:pt x="776" y="647"/>
                    <a:pt x="825" y="640"/>
                    <a:pt x="850" y="642"/>
                  </a:cubicBezTo>
                  <a:cubicBezTo>
                    <a:pt x="877" y="633"/>
                    <a:pt x="895" y="620"/>
                    <a:pt x="924" y="613"/>
                  </a:cubicBezTo>
                  <a:cubicBezTo>
                    <a:pt x="937" y="599"/>
                    <a:pt x="953" y="589"/>
                    <a:pt x="953" y="568"/>
                  </a:cubicBezTo>
                  <a:cubicBezTo>
                    <a:pt x="953" y="521"/>
                    <a:pt x="950" y="475"/>
                    <a:pt x="946" y="428"/>
                  </a:cubicBezTo>
                  <a:cubicBezTo>
                    <a:pt x="939" y="352"/>
                    <a:pt x="843" y="316"/>
                    <a:pt x="791" y="280"/>
                  </a:cubicBezTo>
                  <a:cubicBezTo>
                    <a:pt x="746" y="348"/>
                    <a:pt x="759" y="307"/>
                    <a:pt x="768" y="406"/>
                  </a:cubicBezTo>
                  <a:cubicBezTo>
                    <a:pt x="813" y="398"/>
                    <a:pt x="826" y="398"/>
                    <a:pt x="850" y="361"/>
                  </a:cubicBezTo>
                  <a:cubicBezTo>
                    <a:pt x="870" y="258"/>
                    <a:pt x="818" y="194"/>
                    <a:pt x="724" y="155"/>
                  </a:cubicBezTo>
                  <a:cubicBezTo>
                    <a:pt x="580" y="94"/>
                    <a:pt x="682" y="133"/>
                    <a:pt x="606" y="110"/>
                  </a:cubicBezTo>
                  <a:cubicBezTo>
                    <a:pt x="591" y="106"/>
                    <a:pt x="562" y="96"/>
                    <a:pt x="562" y="96"/>
                  </a:cubicBezTo>
                  <a:cubicBezTo>
                    <a:pt x="527" y="147"/>
                    <a:pt x="503" y="158"/>
                    <a:pt x="488" y="221"/>
                  </a:cubicBezTo>
                  <a:cubicBezTo>
                    <a:pt x="490" y="278"/>
                    <a:pt x="485" y="335"/>
                    <a:pt x="495" y="391"/>
                  </a:cubicBezTo>
                  <a:cubicBezTo>
                    <a:pt x="500" y="421"/>
                    <a:pt x="552" y="447"/>
                    <a:pt x="569" y="472"/>
                  </a:cubicBezTo>
                  <a:cubicBezTo>
                    <a:pt x="560" y="518"/>
                    <a:pt x="554" y="526"/>
                    <a:pt x="517" y="553"/>
                  </a:cubicBezTo>
                  <a:cubicBezTo>
                    <a:pt x="495" y="588"/>
                    <a:pt x="471" y="585"/>
                    <a:pt x="436" y="598"/>
                  </a:cubicBezTo>
                  <a:cubicBezTo>
                    <a:pt x="398" y="592"/>
                    <a:pt x="363" y="583"/>
                    <a:pt x="325" y="576"/>
                  </a:cubicBezTo>
                  <a:cubicBezTo>
                    <a:pt x="313" y="556"/>
                    <a:pt x="285" y="540"/>
                    <a:pt x="288" y="517"/>
                  </a:cubicBezTo>
                  <a:cubicBezTo>
                    <a:pt x="293" y="477"/>
                    <a:pt x="293" y="437"/>
                    <a:pt x="303" y="398"/>
                  </a:cubicBezTo>
                  <a:cubicBezTo>
                    <a:pt x="306" y="386"/>
                    <a:pt x="319" y="379"/>
                    <a:pt x="325" y="369"/>
                  </a:cubicBezTo>
                  <a:cubicBezTo>
                    <a:pt x="346" y="336"/>
                    <a:pt x="359" y="297"/>
                    <a:pt x="399" y="280"/>
                  </a:cubicBezTo>
                  <a:cubicBezTo>
                    <a:pt x="427" y="268"/>
                    <a:pt x="459" y="267"/>
                    <a:pt x="488" y="258"/>
                  </a:cubicBezTo>
                  <a:cubicBezTo>
                    <a:pt x="525" y="263"/>
                    <a:pt x="565" y="257"/>
                    <a:pt x="599" y="273"/>
                  </a:cubicBezTo>
                  <a:cubicBezTo>
                    <a:pt x="613" y="280"/>
                    <a:pt x="613" y="317"/>
                    <a:pt x="613" y="317"/>
                  </a:cubicBezTo>
                  <a:cubicBezTo>
                    <a:pt x="606" y="407"/>
                    <a:pt x="596" y="501"/>
                    <a:pt x="495" y="524"/>
                  </a:cubicBezTo>
                  <a:cubicBezTo>
                    <a:pt x="456" y="519"/>
                    <a:pt x="415" y="519"/>
                    <a:pt x="377" y="509"/>
                  </a:cubicBezTo>
                  <a:cubicBezTo>
                    <a:pt x="338" y="499"/>
                    <a:pt x="286" y="384"/>
                    <a:pt x="274" y="347"/>
                  </a:cubicBezTo>
                  <a:cubicBezTo>
                    <a:pt x="302" y="273"/>
                    <a:pt x="299" y="268"/>
                    <a:pt x="370" y="251"/>
                  </a:cubicBezTo>
                  <a:cubicBezTo>
                    <a:pt x="462" y="260"/>
                    <a:pt x="449" y="245"/>
                    <a:pt x="466" y="325"/>
                  </a:cubicBezTo>
                  <a:cubicBezTo>
                    <a:pt x="452" y="396"/>
                    <a:pt x="441" y="488"/>
                    <a:pt x="362" y="517"/>
                  </a:cubicBezTo>
                  <a:cubicBezTo>
                    <a:pt x="271" y="509"/>
                    <a:pt x="184" y="535"/>
                    <a:pt x="133" y="457"/>
                  </a:cubicBezTo>
                  <a:cubicBezTo>
                    <a:pt x="128" y="536"/>
                    <a:pt x="121" y="604"/>
                    <a:pt x="104" y="679"/>
                  </a:cubicBezTo>
                  <a:cubicBezTo>
                    <a:pt x="100" y="695"/>
                    <a:pt x="96" y="753"/>
                    <a:pt x="82" y="7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525243E6-3A13-4886-A439-5A8E03012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4114800"/>
              <a:ext cx="1512888" cy="1755775"/>
            </a:xfrm>
            <a:custGeom>
              <a:avLst/>
              <a:gdLst>
                <a:gd name="T0" fmla="*/ 370 w 953"/>
                <a:gd name="T1" fmla="*/ 457 h 1106"/>
                <a:gd name="T2" fmla="*/ 296 w 953"/>
                <a:gd name="T3" fmla="*/ 413 h 1106"/>
                <a:gd name="T4" fmla="*/ 540 w 953"/>
                <a:gd name="T5" fmla="*/ 214 h 1106"/>
                <a:gd name="T6" fmla="*/ 665 w 953"/>
                <a:gd name="T7" fmla="*/ 465 h 1106"/>
                <a:gd name="T8" fmla="*/ 392 w 953"/>
                <a:gd name="T9" fmla="*/ 398 h 1106"/>
                <a:gd name="T10" fmla="*/ 414 w 953"/>
                <a:gd name="T11" fmla="*/ 243 h 1106"/>
                <a:gd name="T12" fmla="*/ 621 w 953"/>
                <a:gd name="T13" fmla="*/ 133 h 1106"/>
                <a:gd name="T14" fmla="*/ 709 w 953"/>
                <a:gd name="T15" fmla="*/ 265 h 1106"/>
                <a:gd name="T16" fmla="*/ 532 w 953"/>
                <a:gd name="T17" fmla="*/ 421 h 1106"/>
                <a:gd name="T18" fmla="*/ 362 w 953"/>
                <a:gd name="T19" fmla="*/ 258 h 1106"/>
                <a:gd name="T20" fmla="*/ 185 w 953"/>
                <a:gd name="T21" fmla="*/ 133 h 1106"/>
                <a:gd name="T22" fmla="*/ 444 w 953"/>
                <a:gd name="T23" fmla="*/ 369 h 1106"/>
                <a:gd name="T24" fmla="*/ 458 w 953"/>
                <a:gd name="T25" fmla="*/ 199 h 1106"/>
                <a:gd name="T26" fmla="*/ 414 w 953"/>
                <a:gd name="T27" fmla="*/ 133 h 1106"/>
                <a:gd name="T28" fmla="*/ 650 w 953"/>
                <a:gd name="T29" fmla="*/ 66 h 1106"/>
                <a:gd name="T30" fmla="*/ 665 w 953"/>
                <a:gd name="T31" fmla="*/ 236 h 1106"/>
                <a:gd name="T32" fmla="*/ 444 w 953"/>
                <a:gd name="T33" fmla="*/ 288 h 1106"/>
                <a:gd name="T34" fmla="*/ 259 w 953"/>
                <a:gd name="T35" fmla="*/ 376 h 1106"/>
                <a:gd name="T36" fmla="*/ 207 w 953"/>
                <a:gd name="T37" fmla="*/ 472 h 1106"/>
                <a:gd name="T38" fmla="*/ 252 w 953"/>
                <a:gd name="T39" fmla="*/ 716 h 1106"/>
                <a:gd name="T40" fmla="*/ 429 w 953"/>
                <a:gd name="T41" fmla="*/ 937 h 1106"/>
                <a:gd name="T42" fmla="*/ 333 w 953"/>
                <a:gd name="T43" fmla="*/ 1070 h 1106"/>
                <a:gd name="T44" fmla="*/ 362 w 953"/>
                <a:gd name="T45" fmla="*/ 841 h 1106"/>
                <a:gd name="T46" fmla="*/ 576 w 953"/>
                <a:gd name="T47" fmla="*/ 745 h 1106"/>
                <a:gd name="T48" fmla="*/ 709 w 953"/>
                <a:gd name="T49" fmla="*/ 731 h 1106"/>
                <a:gd name="T50" fmla="*/ 458 w 953"/>
                <a:gd name="T51" fmla="*/ 657 h 1106"/>
                <a:gd name="T52" fmla="*/ 473 w 953"/>
                <a:gd name="T53" fmla="*/ 450 h 1106"/>
                <a:gd name="T54" fmla="*/ 636 w 953"/>
                <a:gd name="T55" fmla="*/ 531 h 1106"/>
                <a:gd name="T56" fmla="*/ 370 w 953"/>
                <a:gd name="T57" fmla="*/ 649 h 1106"/>
                <a:gd name="T58" fmla="*/ 185 w 953"/>
                <a:gd name="T59" fmla="*/ 450 h 1106"/>
                <a:gd name="T60" fmla="*/ 37 w 953"/>
                <a:gd name="T61" fmla="*/ 590 h 1106"/>
                <a:gd name="T62" fmla="*/ 0 w 953"/>
                <a:gd name="T63" fmla="*/ 709 h 1106"/>
                <a:gd name="T64" fmla="*/ 170 w 953"/>
                <a:gd name="T65" fmla="*/ 886 h 1106"/>
                <a:gd name="T66" fmla="*/ 311 w 953"/>
                <a:gd name="T67" fmla="*/ 819 h 1106"/>
                <a:gd name="T68" fmla="*/ 613 w 953"/>
                <a:gd name="T69" fmla="*/ 627 h 1106"/>
                <a:gd name="T70" fmla="*/ 783 w 953"/>
                <a:gd name="T71" fmla="*/ 443 h 1106"/>
                <a:gd name="T72" fmla="*/ 754 w 953"/>
                <a:gd name="T73" fmla="*/ 620 h 1106"/>
                <a:gd name="T74" fmla="*/ 924 w 953"/>
                <a:gd name="T75" fmla="*/ 613 h 1106"/>
                <a:gd name="T76" fmla="*/ 946 w 953"/>
                <a:gd name="T77" fmla="*/ 428 h 1106"/>
                <a:gd name="T78" fmla="*/ 768 w 953"/>
                <a:gd name="T79" fmla="*/ 406 h 1106"/>
                <a:gd name="T80" fmla="*/ 724 w 953"/>
                <a:gd name="T81" fmla="*/ 155 h 1106"/>
                <a:gd name="T82" fmla="*/ 562 w 953"/>
                <a:gd name="T83" fmla="*/ 96 h 1106"/>
                <a:gd name="T84" fmla="*/ 495 w 953"/>
                <a:gd name="T85" fmla="*/ 391 h 1106"/>
                <a:gd name="T86" fmla="*/ 517 w 953"/>
                <a:gd name="T87" fmla="*/ 553 h 1106"/>
                <a:gd name="T88" fmla="*/ 325 w 953"/>
                <a:gd name="T89" fmla="*/ 576 h 1106"/>
                <a:gd name="T90" fmla="*/ 303 w 953"/>
                <a:gd name="T91" fmla="*/ 398 h 1106"/>
                <a:gd name="T92" fmla="*/ 399 w 953"/>
                <a:gd name="T93" fmla="*/ 280 h 1106"/>
                <a:gd name="T94" fmla="*/ 599 w 953"/>
                <a:gd name="T95" fmla="*/ 273 h 1106"/>
                <a:gd name="T96" fmla="*/ 495 w 953"/>
                <a:gd name="T97" fmla="*/ 524 h 1106"/>
                <a:gd name="T98" fmla="*/ 274 w 953"/>
                <a:gd name="T99" fmla="*/ 347 h 1106"/>
                <a:gd name="T100" fmla="*/ 466 w 953"/>
                <a:gd name="T101" fmla="*/ 325 h 1106"/>
                <a:gd name="T102" fmla="*/ 133 w 953"/>
                <a:gd name="T103" fmla="*/ 457 h 1106"/>
                <a:gd name="T104" fmla="*/ 82 w 953"/>
                <a:gd name="T105" fmla="*/ 753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53" h="1106">
                  <a:moveTo>
                    <a:pt x="495" y="517"/>
                  </a:moveTo>
                  <a:cubicBezTo>
                    <a:pt x="456" y="497"/>
                    <a:pt x="407" y="480"/>
                    <a:pt x="370" y="457"/>
                  </a:cubicBezTo>
                  <a:cubicBezTo>
                    <a:pt x="321" y="426"/>
                    <a:pt x="360" y="441"/>
                    <a:pt x="318" y="428"/>
                  </a:cubicBezTo>
                  <a:cubicBezTo>
                    <a:pt x="311" y="423"/>
                    <a:pt x="296" y="422"/>
                    <a:pt x="296" y="413"/>
                  </a:cubicBezTo>
                  <a:cubicBezTo>
                    <a:pt x="290" y="259"/>
                    <a:pt x="289" y="225"/>
                    <a:pt x="414" y="206"/>
                  </a:cubicBezTo>
                  <a:cubicBezTo>
                    <a:pt x="456" y="209"/>
                    <a:pt x="501" y="199"/>
                    <a:pt x="540" y="214"/>
                  </a:cubicBezTo>
                  <a:cubicBezTo>
                    <a:pt x="604" y="239"/>
                    <a:pt x="621" y="325"/>
                    <a:pt x="665" y="369"/>
                  </a:cubicBezTo>
                  <a:cubicBezTo>
                    <a:pt x="673" y="401"/>
                    <a:pt x="683" y="431"/>
                    <a:pt x="665" y="465"/>
                  </a:cubicBezTo>
                  <a:cubicBezTo>
                    <a:pt x="663" y="470"/>
                    <a:pt x="617" y="484"/>
                    <a:pt x="606" y="487"/>
                  </a:cubicBezTo>
                  <a:cubicBezTo>
                    <a:pt x="426" y="479"/>
                    <a:pt x="450" y="514"/>
                    <a:pt x="392" y="398"/>
                  </a:cubicBezTo>
                  <a:cubicBezTo>
                    <a:pt x="381" y="347"/>
                    <a:pt x="375" y="339"/>
                    <a:pt x="392" y="273"/>
                  </a:cubicBezTo>
                  <a:cubicBezTo>
                    <a:pt x="395" y="261"/>
                    <a:pt x="406" y="252"/>
                    <a:pt x="414" y="243"/>
                  </a:cubicBezTo>
                  <a:cubicBezTo>
                    <a:pt x="451" y="202"/>
                    <a:pt x="487" y="143"/>
                    <a:pt x="540" y="125"/>
                  </a:cubicBezTo>
                  <a:cubicBezTo>
                    <a:pt x="567" y="128"/>
                    <a:pt x="595" y="124"/>
                    <a:pt x="621" y="133"/>
                  </a:cubicBezTo>
                  <a:cubicBezTo>
                    <a:pt x="632" y="137"/>
                    <a:pt x="636" y="152"/>
                    <a:pt x="643" y="162"/>
                  </a:cubicBezTo>
                  <a:cubicBezTo>
                    <a:pt x="668" y="197"/>
                    <a:pt x="696" y="223"/>
                    <a:pt x="709" y="265"/>
                  </a:cubicBezTo>
                  <a:cubicBezTo>
                    <a:pt x="702" y="371"/>
                    <a:pt x="715" y="385"/>
                    <a:pt x="636" y="435"/>
                  </a:cubicBezTo>
                  <a:cubicBezTo>
                    <a:pt x="601" y="430"/>
                    <a:pt x="566" y="430"/>
                    <a:pt x="532" y="421"/>
                  </a:cubicBezTo>
                  <a:cubicBezTo>
                    <a:pt x="520" y="418"/>
                    <a:pt x="513" y="405"/>
                    <a:pt x="503" y="398"/>
                  </a:cubicBezTo>
                  <a:cubicBezTo>
                    <a:pt x="444" y="358"/>
                    <a:pt x="403" y="318"/>
                    <a:pt x="362" y="258"/>
                  </a:cubicBezTo>
                  <a:cubicBezTo>
                    <a:pt x="341" y="190"/>
                    <a:pt x="403" y="90"/>
                    <a:pt x="325" y="66"/>
                  </a:cubicBezTo>
                  <a:cubicBezTo>
                    <a:pt x="236" y="73"/>
                    <a:pt x="221" y="61"/>
                    <a:pt x="185" y="133"/>
                  </a:cubicBezTo>
                  <a:cubicBezTo>
                    <a:pt x="142" y="310"/>
                    <a:pt x="201" y="371"/>
                    <a:pt x="340" y="428"/>
                  </a:cubicBezTo>
                  <a:cubicBezTo>
                    <a:pt x="398" y="420"/>
                    <a:pt x="409" y="413"/>
                    <a:pt x="444" y="369"/>
                  </a:cubicBezTo>
                  <a:cubicBezTo>
                    <a:pt x="462" y="313"/>
                    <a:pt x="455" y="340"/>
                    <a:pt x="466" y="288"/>
                  </a:cubicBezTo>
                  <a:cubicBezTo>
                    <a:pt x="463" y="258"/>
                    <a:pt x="466" y="228"/>
                    <a:pt x="458" y="199"/>
                  </a:cubicBezTo>
                  <a:cubicBezTo>
                    <a:pt x="453" y="182"/>
                    <a:pt x="439" y="170"/>
                    <a:pt x="429" y="155"/>
                  </a:cubicBezTo>
                  <a:cubicBezTo>
                    <a:pt x="424" y="148"/>
                    <a:pt x="414" y="133"/>
                    <a:pt x="414" y="133"/>
                  </a:cubicBezTo>
                  <a:cubicBezTo>
                    <a:pt x="398" y="51"/>
                    <a:pt x="432" y="12"/>
                    <a:pt x="510" y="0"/>
                  </a:cubicBezTo>
                  <a:cubicBezTo>
                    <a:pt x="607" y="14"/>
                    <a:pt x="602" y="3"/>
                    <a:pt x="650" y="66"/>
                  </a:cubicBezTo>
                  <a:cubicBezTo>
                    <a:pt x="658" y="88"/>
                    <a:pt x="672" y="133"/>
                    <a:pt x="672" y="133"/>
                  </a:cubicBezTo>
                  <a:cubicBezTo>
                    <a:pt x="670" y="167"/>
                    <a:pt x="673" y="202"/>
                    <a:pt x="665" y="236"/>
                  </a:cubicBezTo>
                  <a:cubicBezTo>
                    <a:pt x="661" y="253"/>
                    <a:pt x="636" y="262"/>
                    <a:pt x="621" y="265"/>
                  </a:cubicBezTo>
                  <a:cubicBezTo>
                    <a:pt x="563" y="276"/>
                    <a:pt x="503" y="282"/>
                    <a:pt x="444" y="288"/>
                  </a:cubicBezTo>
                  <a:cubicBezTo>
                    <a:pt x="398" y="302"/>
                    <a:pt x="351" y="310"/>
                    <a:pt x="311" y="339"/>
                  </a:cubicBezTo>
                  <a:cubicBezTo>
                    <a:pt x="294" y="351"/>
                    <a:pt x="259" y="376"/>
                    <a:pt x="259" y="376"/>
                  </a:cubicBezTo>
                  <a:cubicBezTo>
                    <a:pt x="244" y="423"/>
                    <a:pt x="264" y="372"/>
                    <a:pt x="229" y="421"/>
                  </a:cubicBezTo>
                  <a:cubicBezTo>
                    <a:pt x="220" y="433"/>
                    <a:pt x="212" y="457"/>
                    <a:pt x="207" y="472"/>
                  </a:cubicBezTo>
                  <a:cubicBezTo>
                    <a:pt x="210" y="531"/>
                    <a:pt x="211" y="590"/>
                    <a:pt x="215" y="649"/>
                  </a:cubicBezTo>
                  <a:cubicBezTo>
                    <a:pt x="217" y="674"/>
                    <a:pt x="252" y="716"/>
                    <a:pt x="252" y="716"/>
                  </a:cubicBezTo>
                  <a:cubicBezTo>
                    <a:pt x="271" y="776"/>
                    <a:pt x="327" y="840"/>
                    <a:pt x="384" y="864"/>
                  </a:cubicBezTo>
                  <a:cubicBezTo>
                    <a:pt x="420" y="917"/>
                    <a:pt x="406" y="892"/>
                    <a:pt x="429" y="937"/>
                  </a:cubicBezTo>
                  <a:cubicBezTo>
                    <a:pt x="440" y="982"/>
                    <a:pt x="458" y="1048"/>
                    <a:pt x="421" y="1085"/>
                  </a:cubicBezTo>
                  <a:cubicBezTo>
                    <a:pt x="400" y="1106"/>
                    <a:pt x="362" y="1075"/>
                    <a:pt x="333" y="1070"/>
                  </a:cubicBezTo>
                  <a:cubicBezTo>
                    <a:pt x="295" y="1042"/>
                    <a:pt x="290" y="1028"/>
                    <a:pt x="281" y="982"/>
                  </a:cubicBezTo>
                  <a:cubicBezTo>
                    <a:pt x="288" y="887"/>
                    <a:pt x="277" y="872"/>
                    <a:pt x="362" y="841"/>
                  </a:cubicBezTo>
                  <a:cubicBezTo>
                    <a:pt x="392" y="819"/>
                    <a:pt x="412" y="819"/>
                    <a:pt x="444" y="805"/>
                  </a:cubicBezTo>
                  <a:cubicBezTo>
                    <a:pt x="490" y="784"/>
                    <a:pt x="527" y="756"/>
                    <a:pt x="576" y="745"/>
                  </a:cubicBezTo>
                  <a:cubicBezTo>
                    <a:pt x="591" y="738"/>
                    <a:pt x="619" y="723"/>
                    <a:pt x="636" y="723"/>
                  </a:cubicBezTo>
                  <a:cubicBezTo>
                    <a:pt x="660" y="723"/>
                    <a:pt x="733" y="731"/>
                    <a:pt x="709" y="731"/>
                  </a:cubicBezTo>
                  <a:cubicBezTo>
                    <a:pt x="670" y="731"/>
                    <a:pt x="630" y="726"/>
                    <a:pt x="591" y="723"/>
                  </a:cubicBezTo>
                  <a:cubicBezTo>
                    <a:pt x="539" y="709"/>
                    <a:pt x="504" y="685"/>
                    <a:pt x="458" y="657"/>
                  </a:cubicBezTo>
                  <a:cubicBezTo>
                    <a:pt x="439" y="628"/>
                    <a:pt x="422" y="618"/>
                    <a:pt x="414" y="583"/>
                  </a:cubicBezTo>
                  <a:cubicBezTo>
                    <a:pt x="423" y="526"/>
                    <a:pt x="413" y="469"/>
                    <a:pt x="473" y="450"/>
                  </a:cubicBezTo>
                  <a:cubicBezTo>
                    <a:pt x="517" y="418"/>
                    <a:pt x="528" y="421"/>
                    <a:pt x="584" y="428"/>
                  </a:cubicBezTo>
                  <a:cubicBezTo>
                    <a:pt x="624" y="455"/>
                    <a:pt x="621" y="489"/>
                    <a:pt x="636" y="531"/>
                  </a:cubicBezTo>
                  <a:cubicBezTo>
                    <a:pt x="605" y="624"/>
                    <a:pt x="565" y="652"/>
                    <a:pt x="466" y="664"/>
                  </a:cubicBezTo>
                  <a:cubicBezTo>
                    <a:pt x="434" y="659"/>
                    <a:pt x="400" y="660"/>
                    <a:pt x="370" y="649"/>
                  </a:cubicBezTo>
                  <a:cubicBezTo>
                    <a:pt x="327" y="633"/>
                    <a:pt x="220" y="550"/>
                    <a:pt x="192" y="509"/>
                  </a:cubicBezTo>
                  <a:cubicBezTo>
                    <a:pt x="190" y="489"/>
                    <a:pt x="199" y="464"/>
                    <a:pt x="185" y="450"/>
                  </a:cubicBezTo>
                  <a:cubicBezTo>
                    <a:pt x="176" y="441"/>
                    <a:pt x="159" y="457"/>
                    <a:pt x="148" y="465"/>
                  </a:cubicBezTo>
                  <a:cubicBezTo>
                    <a:pt x="105" y="496"/>
                    <a:pt x="61" y="544"/>
                    <a:pt x="37" y="590"/>
                  </a:cubicBezTo>
                  <a:cubicBezTo>
                    <a:pt x="31" y="616"/>
                    <a:pt x="24" y="639"/>
                    <a:pt x="15" y="664"/>
                  </a:cubicBezTo>
                  <a:cubicBezTo>
                    <a:pt x="10" y="679"/>
                    <a:pt x="0" y="709"/>
                    <a:pt x="0" y="709"/>
                  </a:cubicBezTo>
                  <a:cubicBezTo>
                    <a:pt x="5" y="741"/>
                    <a:pt x="7" y="774"/>
                    <a:pt x="15" y="805"/>
                  </a:cubicBezTo>
                  <a:cubicBezTo>
                    <a:pt x="31" y="866"/>
                    <a:pt x="124" y="873"/>
                    <a:pt x="170" y="886"/>
                  </a:cubicBezTo>
                  <a:cubicBezTo>
                    <a:pt x="205" y="883"/>
                    <a:pt x="243" y="893"/>
                    <a:pt x="274" y="878"/>
                  </a:cubicBezTo>
                  <a:cubicBezTo>
                    <a:pt x="295" y="868"/>
                    <a:pt x="299" y="839"/>
                    <a:pt x="311" y="819"/>
                  </a:cubicBezTo>
                  <a:cubicBezTo>
                    <a:pt x="319" y="807"/>
                    <a:pt x="333" y="782"/>
                    <a:pt x="333" y="782"/>
                  </a:cubicBezTo>
                  <a:cubicBezTo>
                    <a:pt x="354" y="648"/>
                    <a:pt x="501" y="636"/>
                    <a:pt x="613" y="627"/>
                  </a:cubicBezTo>
                  <a:cubicBezTo>
                    <a:pt x="735" y="632"/>
                    <a:pt x="786" y="650"/>
                    <a:pt x="887" y="627"/>
                  </a:cubicBezTo>
                  <a:cubicBezTo>
                    <a:pt x="950" y="527"/>
                    <a:pt x="853" y="487"/>
                    <a:pt x="783" y="443"/>
                  </a:cubicBezTo>
                  <a:cubicBezTo>
                    <a:pt x="709" y="457"/>
                    <a:pt x="730" y="486"/>
                    <a:pt x="739" y="568"/>
                  </a:cubicBezTo>
                  <a:cubicBezTo>
                    <a:pt x="739" y="572"/>
                    <a:pt x="749" y="614"/>
                    <a:pt x="754" y="620"/>
                  </a:cubicBezTo>
                  <a:cubicBezTo>
                    <a:pt x="776" y="647"/>
                    <a:pt x="825" y="640"/>
                    <a:pt x="850" y="642"/>
                  </a:cubicBezTo>
                  <a:cubicBezTo>
                    <a:pt x="877" y="633"/>
                    <a:pt x="895" y="620"/>
                    <a:pt x="924" y="613"/>
                  </a:cubicBezTo>
                  <a:cubicBezTo>
                    <a:pt x="937" y="599"/>
                    <a:pt x="953" y="589"/>
                    <a:pt x="953" y="568"/>
                  </a:cubicBezTo>
                  <a:cubicBezTo>
                    <a:pt x="953" y="521"/>
                    <a:pt x="950" y="475"/>
                    <a:pt x="946" y="428"/>
                  </a:cubicBezTo>
                  <a:cubicBezTo>
                    <a:pt x="939" y="352"/>
                    <a:pt x="843" y="316"/>
                    <a:pt x="791" y="280"/>
                  </a:cubicBezTo>
                  <a:cubicBezTo>
                    <a:pt x="746" y="348"/>
                    <a:pt x="759" y="307"/>
                    <a:pt x="768" y="406"/>
                  </a:cubicBezTo>
                  <a:cubicBezTo>
                    <a:pt x="813" y="398"/>
                    <a:pt x="826" y="398"/>
                    <a:pt x="850" y="361"/>
                  </a:cubicBezTo>
                  <a:cubicBezTo>
                    <a:pt x="870" y="258"/>
                    <a:pt x="818" y="194"/>
                    <a:pt x="724" y="155"/>
                  </a:cubicBezTo>
                  <a:cubicBezTo>
                    <a:pt x="580" y="94"/>
                    <a:pt x="682" y="133"/>
                    <a:pt x="606" y="110"/>
                  </a:cubicBezTo>
                  <a:cubicBezTo>
                    <a:pt x="591" y="106"/>
                    <a:pt x="562" y="96"/>
                    <a:pt x="562" y="96"/>
                  </a:cubicBezTo>
                  <a:cubicBezTo>
                    <a:pt x="527" y="147"/>
                    <a:pt x="503" y="158"/>
                    <a:pt x="488" y="221"/>
                  </a:cubicBezTo>
                  <a:cubicBezTo>
                    <a:pt x="490" y="278"/>
                    <a:pt x="485" y="335"/>
                    <a:pt x="495" y="391"/>
                  </a:cubicBezTo>
                  <a:cubicBezTo>
                    <a:pt x="500" y="421"/>
                    <a:pt x="552" y="447"/>
                    <a:pt x="569" y="472"/>
                  </a:cubicBezTo>
                  <a:cubicBezTo>
                    <a:pt x="560" y="518"/>
                    <a:pt x="554" y="526"/>
                    <a:pt x="517" y="553"/>
                  </a:cubicBezTo>
                  <a:cubicBezTo>
                    <a:pt x="495" y="588"/>
                    <a:pt x="471" y="585"/>
                    <a:pt x="436" y="598"/>
                  </a:cubicBezTo>
                  <a:cubicBezTo>
                    <a:pt x="398" y="592"/>
                    <a:pt x="363" y="583"/>
                    <a:pt x="325" y="576"/>
                  </a:cubicBezTo>
                  <a:cubicBezTo>
                    <a:pt x="313" y="556"/>
                    <a:pt x="285" y="540"/>
                    <a:pt x="288" y="517"/>
                  </a:cubicBezTo>
                  <a:cubicBezTo>
                    <a:pt x="293" y="477"/>
                    <a:pt x="293" y="437"/>
                    <a:pt x="303" y="398"/>
                  </a:cubicBezTo>
                  <a:cubicBezTo>
                    <a:pt x="306" y="386"/>
                    <a:pt x="319" y="379"/>
                    <a:pt x="325" y="369"/>
                  </a:cubicBezTo>
                  <a:cubicBezTo>
                    <a:pt x="346" y="336"/>
                    <a:pt x="359" y="297"/>
                    <a:pt x="399" y="280"/>
                  </a:cubicBezTo>
                  <a:cubicBezTo>
                    <a:pt x="427" y="268"/>
                    <a:pt x="459" y="267"/>
                    <a:pt x="488" y="258"/>
                  </a:cubicBezTo>
                  <a:cubicBezTo>
                    <a:pt x="525" y="263"/>
                    <a:pt x="565" y="257"/>
                    <a:pt x="599" y="273"/>
                  </a:cubicBezTo>
                  <a:cubicBezTo>
                    <a:pt x="613" y="280"/>
                    <a:pt x="613" y="317"/>
                    <a:pt x="613" y="317"/>
                  </a:cubicBezTo>
                  <a:cubicBezTo>
                    <a:pt x="606" y="407"/>
                    <a:pt x="596" y="501"/>
                    <a:pt x="495" y="524"/>
                  </a:cubicBezTo>
                  <a:cubicBezTo>
                    <a:pt x="456" y="519"/>
                    <a:pt x="415" y="519"/>
                    <a:pt x="377" y="509"/>
                  </a:cubicBezTo>
                  <a:cubicBezTo>
                    <a:pt x="338" y="499"/>
                    <a:pt x="286" y="384"/>
                    <a:pt x="274" y="347"/>
                  </a:cubicBezTo>
                  <a:cubicBezTo>
                    <a:pt x="302" y="273"/>
                    <a:pt x="299" y="268"/>
                    <a:pt x="370" y="251"/>
                  </a:cubicBezTo>
                  <a:cubicBezTo>
                    <a:pt x="462" y="260"/>
                    <a:pt x="449" y="245"/>
                    <a:pt x="466" y="325"/>
                  </a:cubicBezTo>
                  <a:cubicBezTo>
                    <a:pt x="452" y="396"/>
                    <a:pt x="441" y="488"/>
                    <a:pt x="362" y="517"/>
                  </a:cubicBezTo>
                  <a:cubicBezTo>
                    <a:pt x="271" y="509"/>
                    <a:pt x="184" y="535"/>
                    <a:pt x="133" y="457"/>
                  </a:cubicBezTo>
                  <a:cubicBezTo>
                    <a:pt x="128" y="536"/>
                    <a:pt x="121" y="604"/>
                    <a:pt x="104" y="679"/>
                  </a:cubicBezTo>
                  <a:cubicBezTo>
                    <a:pt x="100" y="695"/>
                    <a:pt x="96" y="753"/>
                    <a:pt x="82" y="7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D597AB0-302F-47D4-823A-85B64AD97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800" y="4343400"/>
              <a:ext cx="1512888" cy="1755775"/>
            </a:xfrm>
            <a:custGeom>
              <a:avLst/>
              <a:gdLst>
                <a:gd name="T0" fmla="*/ 370 w 953"/>
                <a:gd name="T1" fmla="*/ 457 h 1106"/>
                <a:gd name="T2" fmla="*/ 296 w 953"/>
                <a:gd name="T3" fmla="*/ 413 h 1106"/>
                <a:gd name="T4" fmla="*/ 540 w 953"/>
                <a:gd name="T5" fmla="*/ 214 h 1106"/>
                <a:gd name="T6" fmla="*/ 665 w 953"/>
                <a:gd name="T7" fmla="*/ 465 h 1106"/>
                <a:gd name="T8" fmla="*/ 392 w 953"/>
                <a:gd name="T9" fmla="*/ 398 h 1106"/>
                <a:gd name="T10" fmla="*/ 414 w 953"/>
                <a:gd name="T11" fmla="*/ 243 h 1106"/>
                <a:gd name="T12" fmla="*/ 621 w 953"/>
                <a:gd name="T13" fmla="*/ 133 h 1106"/>
                <a:gd name="T14" fmla="*/ 709 w 953"/>
                <a:gd name="T15" fmla="*/ 265 h 1106"/>
                <a:gd name="T16" fmla="*/ 532 w 953"/>
                <a:gd name="T17" fmla="*/ 421 h 1106"/>
                <a:gd name="T18" fmla="*/ 362 w 953"/>
                <a:gd name="T19" fmla="*/ 258 h 1106"/>
                <a:gd name="T20" fmla="*/ 185 w 953"/>
                <a:gd name="T21" fmla="*/ 133 h 1106"/>
                <a:gd name="T22" fmla="*/ 444 w 953"/>
                <a:gd name="T23" fmla="*/ 369 h 1106"/>
                <a:gd name="T24" fmla="*/ 458 w 953"/>
                <a:gd name="T25" fmla="*/ 199 h 1106"/>
                <a:gd name="T26" fmla="*/ 414 w 953"/>
                <a:gd name="T27" fmla="*/ 133 h 1106"/>
                <a:gd name="T28" fmla="*/ 650 w 953"/>
                <a:gd name="T29" fmla="*/ 66 h 1106"/>
                <a:gd name="T30" fmla="*/ 665 w 953"/>
                <a:gd name="T31" fmla="*/ 236 h 1106"/>
                <a:gd name="T32" fmla="*/ 444 w 953"/>
                <a:gd name="T33" fmla="*/ 288 h 1106"/>
                <a:gd name="T34" fmla="*/ 259 w 953"/>
                <a:gd name="T35" fmla="*/ 376 h 1106"/>
                <a:gd name="T36" fmla="*/ 207 w 953"/>
                <a:gd name="T37" fmla="*/ 472 h 1106"/>
                <a:gd name="T38" fmla="*/ 252 w 953"/>
                <a:gd name="T39" fmla="*/ 716 h 1106"/>
                <a:gd name="T40" fmla="*/ 429 w 953"/>
                <a:gd name="T41" fmla="*/ 937 h 1106"/>
                <a:gd name="T42" fmla="*/ 333 w 953"/>
                <a:gd name="T43" fmla="*/ 1070 h 1106"/>
                <a:gd name="T44" fmla="*/ 362 w 953"/>
                <a:gd name="T45" fmla="*/ 841 h 1106"/>
                <a:gd name="T46" fmla="*/ 576 w 953"/>
                <a:gd name="T47" fmla="*/ 745 h 1106"/>
                <a:gd name="T48" fmla="*/ 709 w 953"/>
                <a:gd name="T49" fmla="*/ 731 h 1106"/>
                <a:gd name="T50" fmla="*/ 458 w 953"/>
                <a:gd name="T51" fmla="*/ 657 h 1106"/>
                <a:gd name="T52" fmla="*/ 473 w 953"/>
                <a:gd name="T53" fmla="*/ 450 h 1106"/>
                <a:gd name="T54" fmla="*/ 636 w 953"/>
                <a:gd name="T55" fmla="*/ 531 h 1106"/>
                <a:gd name="T56" fmla="*/ 370 w 953"/>
                <a:gd name="T57" fmla="*/ 649 h 1106"/>
                <a:gd name="T58" fmla="*/ 185 w 953"/>
                <a:gd name="T59" fmla="*/ 450 h 1106"/>
                <a:gd name="T60" fmla="*/ 37 w 953"/>
                <a:gd name="T61" fmla="*/ 590 h 1106"/>
                <a:gd name="T62" fmla="*/ 0 w 953"/>
                <a:gd name="T63" fmla="*/ 709 h 1106"/>
                <a:gd name="T64" fmla="*/ 170 w 953"/>
                <a:gd name="T65" fmla="*/ 886 h 1106"/>
                <a:gd name="T66" fmla="*/ 311 w 953"/>
                <a:gd name="T67" fmla="*/ 819 h 1106"/>
                <a:gd name="T68" fmla="*/ 613 w 953"/>
                <a:gd name="T69" fmla="*/ 627 h 1106"/>
                <a:gd name="T70" fmla="*/ 783 w 953"/>
                <a:gd name="T71" fmla="*/ 443 h 1106"/>
                <a:gd name="T72" fmla="*/ 754 w 953"/>
                <a:gd name="T73" fmla="*/ 620 h 1106"/>
                <a:gd name="T74" fmla="*/ 924 w 953"/>
                <a:gd name="T75" fmla="*/ 613 h 1106"/>
                <a:gd name="T76" fmla="*/ 946 w 953"/>
                <a:gd name="T77" fmla="*/ 428 h 1106"/>
                <a:gd name="T78" fmla="*/ 768 w 953"/>
                <a:gd name="T79" fmla="*/ 406 h 1106"/>
                <a:gd name="T80" fmla="*/ 724 w 953"/>
                <a:gd name="T81" fmla="*/ 155 h 1106"/>
                <a:gd name="T82" fmla="*/ 562 w 953"/>
                <a:gd name="T83" fmla="*/ 96 h 1106"/>
                <a:gd name="T84" fmla="*/ 495 w 953"/>
                <a:gd name="T85" fmla="*/ 391 h 1106"/>
                <a:gd name="T86" fmla="*/ 517 w 953"/>
                <a:gd name="T87" fmla="*/ 553 h 1106"/>
                <a:gd name="T88" fmla="*/ 325 w 953"/>
                <a:gd name="T89" fmla="*/ 576 h 1106"/>
                <a:gd name="T90" fmla="*/ 303 w 953"/>
                <a:gd name="T91" fmla="*/ 398 h 1106"/>
                <a:gd name="T92" fmla="*/ 399 w 953"/>
                <a:gd name="T93" fmla="*/ 280 h 1106"/>
                <a:gd name="T94" fmla="*/ 599 w 953"/>
                <a:gd name="T95" fmla="*/ 273 h 1106"/>
                <a:gd name="T96" fmla="*/ 495 w 953"/>
                <a:gd name="T97" fmla="*/ 524 h 1106"/>
                <a:gd name="T98" fmla="*/ 274 w 953"/>
                <a:gd name="T99" fmla="*/ 347 h 1106"/>
                <a:gd name="T100" fmla="*/ 466 w 953"/>
                <a:gd name="T101" fmla="*/ 325 h 1106"/>
                <a:gd name="T102" fmla="*/ 133 w 953"/>
                <a:gd name="T103" fmla="*/ 457 h 1106"/>
                <a:gd name="T104" fmla="*/ 82 w 953"/>
                <a:gd name="T105" fmla="*/ 753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53" h="1106">
                  <a:moveTo>
                    <a:pt x="495" y="517"/>
                  </a:moveTo>
                  <a:cubicBezTo>
                    <a:pt x="456" y="497"/>
                    <a:pt x="407" y="480"/>
                    <a:pt x="370" y="457"/>
                  </a:cubicBezTo>
                  <a:cubicBezTo>
                    <a:pt x="321" y="426"/>
                    <a:pt x="360" y="441"/>
                    <a:pt x="318" y="428"/>
                  </a:cubicBezTo>
                  <a:cubicBezTo>
                    <a:pt x="311" y="423"/>
                    <a:pt x="296" y="422"/>
                    <a:pt x="296" y="413"/>
                  </a:cubicBezTo>
                  <a:cubicBezTo>
                    <a:pt x="290" y="259"/>
                    <a:pt x="289" y="225"/>
                    <a:pt x="414" y="206"/>
                  </a:cubicBezTo>
                  <a:cubicBezTo>
                    <a:pt x="456" y="209"/>
                    <a:pt x="501" y="199"/>
                    <a:pt x="540" y="214"/>
                  </a:cubicBezTo>
                  <a:cubicBezTo>
                    <a:pt x="604" y="239"/>
                    <a:pt x="621" y="325"/>
                    <a:pt x="665" y="369"/>
                  </a:cubicBezTo>
                  <a:cubicBezTo>
                    <a:pt x="673" y="401"/>
                    <a:pt x="683" y="431"/>
                    <a:pt x="665" y="465"/>
                  </a:cubicBezTo>
                  <a:cubicBezTo>
                    <a:pt x="663" y="470"/>
                    <a:pt x="617" y="484"/>
                    <a:pt x="606" y="487"/>
                  </a:cubicBezTo>
                  <a:cubicBezTo>
                    <a:pt x="426" y="479"/>
                    <a:pt x="450" y="514"/>
                    <a:pt x="392" y="398"/>
                  </a:cubicBezTo>
                  <a:cubicBezTo>
                    <a:pt x="381" y="347"/>
                    <a:pt x="375" y="339"/>
                    <a:pt x="392" y="273"/>
                  </a:cubicBezTo>
                  <a:cubicBezTo>
                    <a:pt x="395" y="261"/>
                    <a:pt x="406" y="252"/>
                    <a:pt x="414" y="243"/>
                  </a:cubicBezTo>
                  <a:cubicBezTo>
                    <a:pt x="451" y="202"/>
                    <a:pt x="487" y="143"/>
                    <a:pt x="540" y="125"/>
                  </a:cubicBezTo>
                  <a:cubicBezTo>
                    <a:pt x="567" y="128"/>
                    <a:pt x="595" y="124"/>
                    <a:pt x="621" y="133"/>
                  </a:cubicBezTo>
                  <a:cubicBezTo>
                    <a:pt x="632" y="137"/>
                    <a:pt x="636" y="152"/>
                    <a:pt x="643" y="162"/>
                  </a:cubicBezTo>
                  <a:cubicBezTo>
                    <a:pt x="668" y="197"/>
                    <a:pt x="696" y="223"/>
                    <a:pt x="709" y="265"/>
                  </a:cubicBezTo>
                  <a:cubicBezTo>
                    <a:pt x="702" y="371"/>
                    <a:pt x="715" y="385"/>
                    <a:pt x="636" y="435"/>
                  </a:cubicBezTo>
                  <a:cubicBezTo>
                    <a:pt x="601" y="430"/>
                    <a:pt x="566" y="430"/>
                    <a:pt x="532" y="421"/>
                  </a:cubicBezTo>
                  <a:cubicBezTo>
                    <a:pt x="520" y="418"/>
                    <a:pt x="513" y="405"/>
                    <a:pt x="503" y="398"/>
                  </a:cubicBezTo>
                  <a:cubicBezTo>
                    <a:pt x="444" y="358"/>
                    <a:pt x="403" y="318"/>
                    <a:pt x="362" y="258"/>
                  </a:cubicBezTo>
                  <a:cubicBezTo>
                    <a:pt x="341" y="190"/>
                    <a:pt x="403" y="90"/>
                    <a:pt x="325" y="66"/>
                  </a:cubicBezTo>
                  <a:cubicBezTo>
                    <a:pt x="236" y="73"/>
                    <a:pt x="221" y="61"/>
                    <a:pt x="185" y="133"/>
                  </a:cubicBezTo>
                  <a:cubicBezTo>
                    <a:pt x="142" y="310"/>
                    <a:pt x="201" y="371"/>
                    <a:pt x="340" y="428"/>
                  </a:cubicBezTo>
                  <a:cubicBezTo>
                    <a:pt x="398" y="420"/>
                    <a:pt x="409" y="413"/>
                    <a:pt x="444" y="369"/>
                  </a:cubicBezTo>
                  <a:cubicBezTo>
                    <a:pt x="462" y="313"/>
                    <a:pt x="455" y="340"/>
                    <a:pt x="466" y="288"/>
                  </a:cubicBezTo>
                  <a:cubicBezTo>
                    <a:pt x="463" y="258"/>
                    <a:pt x="466" y="228"/>
                    <a:pt x="458" y="199"/>
                  </a:cubicBezTo>
                  <a:cubicBezTo>
                    <a:pt x="453" y="182"/>
                    <a:pt x="439" y="170"/>
                    <a:pt x="429" y="155"/>
                  </a:cubicBezTo>
                  <a:cubicBezTo>
                    <a:pt x="424" y="148"/>
                    <a:pt x="414" y="133"/>
                    <a:pt x="414" y="133"/>
                  </a:cubicBezTo>
                  <a:cubicBezTo>
                    <a:pt x="398" y="51"/>
                    <a:pt x="432" y="12"/>
                    <a:pt x="510" y="0"/>
                  </a:cubicBezTo>
                  <a:cubicBezTo>
                    <a:pt x="607" y="14"/>
                    <a:pt x="602" y="3"/>
                    <a:pt x="650" y="66"/>
                  </a:cubicBezTo>
                  <a:cubicBezTo>
                    <a:pt x="658" y="88"/>
                    <a:pt x="672" y="133"/>
                    <a:pt x="672" y="133"/>
                  </a:cubicBezTo>
                  <a:cubicBezTo>
                    <a:pt x="670" y="167"/>
                    <a:pt x="673" y="202"/>
                    <a:pt x="665" y="236"/>
                  </a:cubicBezTo>
                  <a:cubicBezTo>
                    <a:pt x="661" y="253"/>
                    <a:pt x="636" y="262"/>
                    <a:pt x="621" y="265"/>
                  </a:cubicBezTo>
                  <a:cubicBezTo>
                    <a:pt x="563" y="276"/>
                    <a:pt x="503" y="282"/>
                    <a:pt x="444" y="288"/>
                  </a:cubicBezTo>
                  <a:cubicBezTo>
                    <a:pt x="398" y="302"/>
                    <a:pt x="351" y="310"/>
                    <a:pt x="311" y="339"/>
                  </a:cubicBezTo>
                  <a:cubicBezTo>
                    <a:pt x="294" y="351"/>
                    <a:pt x="259" y="376"/>
                    <a:pt x="259" y="376"/>
                  </a:cubicBezTo>
                  <a:cubicBezTo>
                    <a:pt x="244" y="423"/>
                    <a:pt x="264" y="372"/>
                    <a:pt x="229" y="421"/>
                  </a:cubicBezTo>
                  <a:cubicBezTo>
                    <a:pt x="220" y="433"/>
                    <a:pt x="212" y="457"/>
                    <a:pt x="207" y="472"/>
                  </a:cubicBezTo>
                  <a:cubicBezTo>
                    <a:pt x="210" y="531"/>
                    <a:pt x="211" y="590"/>
                    <a:pt x="215" y="649"/>
                  </a:cubicBezTo>
                  <a:cubicBezTo>
                    <a:pt x="217" y="674"/>
                    <a:pt x="252" y="716"/>
                    <a:pt x="252" y="716"/>
                  </a:cubicBezTo>
                  <a:cubicBezTo>
                    <a:pt x="271" y="776"/>
                    <a:pt x="327" y="840"/>
                    <a:pt x="384" y="864"/>
                  </a:cubicBezTo>
                  <a:cubicBezTo>
                    <a:pt x="420" y="917"/>
                    <a:pt x="406" y="892"/>
                    <a:pt x="429" y="937"/>
                  </a:cubicBezTo>
                  <a:cubicBezTo>
                    <a:pt x="440" y="982"/>
                    <a:pt x="458" y="1048"/>
                    <a:pt x="421" y="1085"/>
                  </a:cubicBezTo>
                  <a:cubicBezTo>
                    <a:pt x="400" y="1106"/>
                    <a:pt x="362" y="1075"/>
                    <a:pt x="333" y="1070"/>
                  </a:cubicBezTo>
                  <a:cubicBezTo>
                    <a:pt x="295" y="1042"/>
                    <a:pt x="290" y="1028"/>
                    <a:pt x="281" y="982"/>
                  </a:cubicBezTo>
                  <a:cubicBezTo>
                    <a:pt x="288" y="887"/>
                    <a:pt x="277" y="872"/>
                    <a:pt x="362" y="841"/>
                  </a:cubicBezTo>
                  <a:cubicBezTo>
                    <a:pt x="392" y="819"/>
                    <a:pt x="412" y="819"/>
                    <a:pt x="444" y="805"/>
                  </a:cubicBezTo>
                  <a:cubicBezTo>
                    <a:pt x="490" y="784"/>
                    <a:pt x="527" y="756"/>
                    <a:pt x="576" y="745"/>
                  </a:cubicBezTo>
                  <a:cubicBezTo>
                    <a:pt x="591" y="738"/>
                    <a:pt x="619" y="723"/>
                    <a:pt x="636" y="723"/>
                  </a:cubicBezTo>
                  <a:cubicBezTo>
                    <a:pt x="660" y="723"/>
                    <a:pt x="733" y="731"/>
                    <a:pt x="709" y="731"/>
                  </a:cubicBezTo>
                  <a:cubicBezTo>
                    <a:pt x="670" y="731"/>
                    <a:pt x="630" y="726"/>
                    <a:pt x="591" y="723"/>
                  </a:cubicBezTo>
                  <a:cubicBezTo>
                    <a:pt x="539" y="709"/>
                    <a:pt x="504" y="685"/>
                    <a:pt x="458" y="657"/>
                  </a:cubicBezTo>
                  <a:cubicBezTo>
                    <a:pt x="439" y="628"/>
                    <a:pt x="422" y="618"/>
                    <a:pt x="414" y="583"/>
                  </a:cubicBezTo>
                  <a:cubicBezTo>
                    <a:pt x="423" y="526"/>
                    <a:pt x="413" y="469"/>
                    <a:pt x="473" y="450"/>
                  </a:cubicBezTo>
                  <a:cubicBezTo>
                    <a:pt x="517" y="418"/>
                    <a:pt x="528" y="421"/>
                    <a:pt x="584" y="428"/>
                  </a:cubicBezTo>
                  <a:cubicBezTo>
                    <a:pt x="624" y="455"/>
                    <a:pt x="621" y="489"/>
                    <a:pt x="636" y="531"/>
                  </a:cubicBezTo>
                  <a:cubicBezTo>
                    <a:pt x="605" y="624"/>
                    <a:pt x="565" y="652"/>
                    <a:pt x="466" y="664"/>
                  </a:cubicBezTo>
                  <a:cubicBezTo>
                    <a:pt x="434" y="659"/>
                    <a:pt x="400" y="660"/>
                    <a:pt x="370" y="649"/>
                  </a:cubicBezTo>
                  <a:cubicBezTo>
                    <a:pt x="327" y="633"/>
                    <a:pt x="220" y="550"/>
                    <a:pt x="192" y="509"/>
                  </a:cubicBezTo>
                  <a:cubicBezTo>
                    <a:pt x="190" y="489"/>
                    <a:pt x="199" y="464"/>
                    <a:pt x="185" y="450"/>
                  </a:cubicBezTo>
                  <a:cubicBezTo>
                    <a:pt x="176" y="441"/>
                    <a:pt x="159" y="457"/>
                    <a:pt x="148" y="465"/>
                  </a:cubicBezTo>
                  <a:cubicBezTo>
                    <a:pt x="105" y="496"/>
                    <a:pt x="61" y="544"/>
                    <a:pt x="37" y="590"/>
                  </a:cubicBezTo>
                  <a:cubicBezTo>
                    <a:pt x="31" y="616"/>
                    <a:pt x="24" y="639"/>
                    <a:pt x="15" y="664"/>
                  </a:cubicBezTo>
                  <a:cubicBezTo>
                    <a:pt x="10" y="679"/>
                    <a:pt x="0" y="709"/>
                    <a:pt x="0" y="709"/>
                  </a:cubicBezTo>
                  <a:cubicBezTo>
                    <a:pt x="5" y="741"/>
                    <a:pt x="7" y="774"/>
                    <a:pt x="15" y="805"/>
                  </a:cubicBezTo>
                  <a:cubicBezTo>
                    <a:pt x="31" y="866"/>
                    <a:pt x="124" y="873"/>
                    <a:pt x="170" y="886"/>
                  </a:cubicBezTo>
                  <a:cubicBezTo>
                    <a:pt x="205" y="883"/>
                    <a:pt x="243" y="893"/>
                    <a:pt x="274" y="878"/>
                  </a:cubicBezTo>
                  <a:cubicBezTo>
                    <a:pt x="295" y="868"/>
                    <a:pt x="299" y="839"/>
                    <a:pt x="311" y="819"/>
                  </a:cubicBezTo>
                  <a:cubicBezTo>
                    <a:pt x="319" y="807"/>
                    <a:pt x="333" y="782"/>
                    <a:pt x="333" y="782"/>
                  </a:cubicBezTo>
                  <a:cubicBezTo>
                    <a:pt x="354" y="648"/>
                    <a:pt x="501" y="636"/>
                    <a:pt x="613" y="627"/>
                  </a:cubicBezTo>
                  <a:cubicBezTo>
                    <a:pt x="735" y="632"/>
                    <a:pt x="786" y="650"/>
                    <a:pt x="887" y="627"/>
                  </a:cubicBezTo>
                  <a:cubicBezTo>
                    <a:pt x="950" y="527"/>
                    <a:pt x="853" y="487"/>
                    <a:pt x="783" y="443"/>
                  </a:cubicBezTo>
                  <a:cubicBezTo>
                    <a:pt x="709" y="457"/>
                    <a:pt x="730" y="486"/>
                    <a:pt x="739" y="568"/>
                  </a:cubicBezTo>
                  <a:cubicBezTo>
                    <a:pt x="739" y="572"/>
                    <a:pt x="749" y="614"/>
                    <a:pt x="754" y="620"/>
                  </a:cubicBezTo>
                  <a:cubicBezTo>
                    <a:pt x="776" y="647"/>
                    <a:pt x="825" y="640"/>
                    <a:pt x="850" y="642"/>
                  </a:cubicBezTo>
                  <a:cubicBezTo>
                    <a:pt x="877" y="633"/>
                    <a:pt x="895" y="620"/>
                    <a:pt x="924" y="613"/>
                  </a:cubicBezTo>
                  <a:cubicBezTo>
                    <a:pt x="937" y="599"/>
                    <a:pt x="953" y="589"/>
                    <a:pt x="953" y="568"/>
                  </a:cubicBezTo>
                  <a:cubicBezTo>
                    <a:pt x="953" y="521"/>
                    <a:pt x="950" y="475"/>
                    <a:pt x="946" y="428"/>
                  </a:cubicBezTo>
                  <a:cubicBezTo>
                    <a:pt x="939" y="352"/>
                    <a:pt x="843" y="316"/>
                    <a:pt x="791" y="280"/>
                  </a:cubicBezTo>
                  <a:cubicBezTo>
                    <a:pt x="746" y="348"/>
                    <a:pt x="759" y="307"/>
                    <a:pt x="768" y="406"/>
                  </a:cubicBezTo>
                  <a:cubicBezTo>
                    <a:pt x="813" y="398"/>
                    <a:pt x="826" y="398"/>
                    <a:pt x="850" y="361"/>
                  </a:cubicBezTo>
                  <a:cubicBezTo>
                    <a:pt x="870" y="258"/>
                    <a:pt x="818" y="194"/>
                    <a:pt x="724" y="155"/>
                  </a:cubicBezTo>
                  <a:cubicBezTo>
                    <a:pt x="580" y="94"/>
                    <a:pt x="682" y="133"/>
                    <a:pt x="606" y="110"/>
                  </a:cubicBezTo>
                  <a:cubicBezTo>
                    <a:pt x="591" y="106"/>
                    <a:pt x="562" y="96"/>
                    <a:pt x="562" y="96"/>
                  </a:cubicBezTo>
                  <a:cubicBezTo>
                    <a:pt x="527" y="147"/>
                    <a:pt x="503" y="158"/>
                    <a:pt x="488" y="221"/>
                  </a:cubicBezTo>
                  <a:cubicBezTo>
                    <a:pt x="490" y="278"/>
                    <a:pt x="485" y="335"/>
                    <a:pt x="495" y="391"/>
                  </a:cubicBezTo>
                  <a:cubicBezTo>
                    <a:pt x="500" y="421"/>
                    <a:pt x="552" y="447"/>
                    <a:pt x="569" y="472"/>
                  </a:cubicBezTo>
                  <a:cubicBezTo>
                    <a:pt x="560" y="518"/>
                    <a:pt x="554" y="526"/>
                    <a:pt x="517" y="553"/>
                  </a:cubicBezTo>
                  <a:cubicBezTo>
                    <a:pt x="495" y="588"/>
                    <a:pt x="471" y="585"/>
                    <a:pt x="436" y="598"/>
                  </a:cubicBezTo>
                  <a:cubicBezTo>
                    <a:pt x="398" y="592"/>
                    <a:pt x="363" y="583"/>
                    <a:pt x="325" y="576"/>
                  </a:cubicBezTo>
                  <a:cubicBezTo>
                    <a:pt x="313" y="556"/>
                    <a:pt x="285" y="540"/>
                    <a:pt x="288" y="517"/>
                  </a:cubicBezTo>
                  <a:cubicBezTo>
                    <a:pt x="293" y="477"/>
                    <a:pt x="293" y="437"/>
                    <a:pt x="303" y="398"/>
                  </a:cubicBezTo>
                  <a:cubicBezTo>
                    <a:pt x="306" y="386"/>
                    <a:pt x="319" y="379"/>
                    <a:pt x="325" y="369"/>
                  </a:cubicBezTo>
                  <a:cubicBezTo>
                    <a:pt x="346" y="336"/>
                    <a:pt x="359" y="297"/>
                    <a:pt x="399" y="280"/>
                  </a:cubicBezTo>
                  <a:cubicBezTo>
                    <a:pt x="427" y="268"/>
                    <a:pt x="459" y="267"/>
                    <a:pt x="488" y="258"/>
                  </a:cubicBezTo>
                  <a:cubicBezTo>
                    <a:pt x="525" y="263"/>
                    <a:pt x="565" y="257"/>
                    <a:pt x="599" y="273"/>
                  </a:cubicBezTo>
                  <a:cubicBezTo>
                    <a:pt x="613" y="280"/>
                    <a:pt x="613" y="317"/>
                    <a:pt x="613" y="317"/>
                  </a:cubicBezTo>
                  <a:cubicBezTo>
                    <a:pt x="606" y="407"/>
                    <a:pt x="596" y="501"/>
                    <a:pt x="495" y="524"/>
                  </a:cubicBezTo>
                  <a:cubicBezTo>
                    <a:pt x="456" y="519"/>
                    <a:pt x="415" y="519"/>
                    <a:pt x="377" y="509"/>
                  </a:cubicBezTo>
                  <a:cubicBezTo>
                    <a:pt x="338" y="499"/>
                    <a:pt x="286" y="384"/>
                    <a:pt x="274" y="347"/>
                  </a:cubicBezTo>
                  <a:cubicBezTo>
                    <a:pt x="302" y="273"/>
                    <a:pt x="299" y="268"/>
                    <a:pt x="370" y="251"/>
                  </a:cubicBezTo>
                  <a:cubicBezTo>
                    <a:pt x="462" y="260"/>
                    <a:pt x="449" y="245"/>
                    <a:pt x="466" y="325"/>
                  </a:cubicBezTo>
                  <a:cubicBezTo>
                    <a:pt x="452" y="396"/>
                    <a:pt x="441" y="488"/>
                    <a:pt x="362" y="517"/>
                  </a:cubicBezTo>
                  <a:cubicBezTo>
                    <a:pt x="271" y="509"/>
                    <a:pt x="184" y="535"/>
                    <a:pt x="133" y="457"/>
                  </a:cubicBezTo>
                  <a:cubicBezTo>
                    <a:pt x="128" y="536"/>
                    <a:pt x="121" y="604"/>
                    <a:pt x="104" y="679"/>
                  </a:cubicBezTo>
                  <a:cubicBezTo>
                    <a:pt x="100" y="695"/>
                    <a:pt x="96" y="753"/>
                    <a:pt x="82" y="7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Box 6">
            <a:extLst>
              <a:ext uri="{FF2B5EF4-FFF2-40B4-BE49-F238E27FC236}">
                <a16:creationId xmlns:a16="http://schemas.microsoft.com/office/drawing/2014/main" id="{CC167EB0-4440-470F-BCA1-52D72E8A3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35" y="1559223"/>
            <a:ext cx="2698865" cy="727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dirty="0">
                <a:latin typeface="+mn-lt"/>
              </a:rPr>
              <a:t>Multiple copies of DNA</a:t>
            </a:r>
            <a:endParaRPr lang="ru-RU" sz="2000" dirty="0">
              <a:latin typeface="+mn-lt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29E56DD2-04C6-4E82-8D8A-5B38CE32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8940" y="1955965"/>
            <a:ext cx="914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Shred &amp;</a:t>
            </a:r>
          </a:p>
          <a:p>
            <a:pPr eaLnBrk="1" hangingPunct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(Size select)</a:t>
            </a:r>
            <a:endParaRPr lang="ru-RU" sz="20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DB3A7127-EAF5-4488-9CCE-66B243003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369" y="1565894"/>
            <a:ext cx="2438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b="1" dirty="0">
                <a:solidFill>
                  <a:schemeClr val="accent2"/>
                </a:solidFill>
                <a:latin typeface="+mn-lt"/>
              </a:rPr>
              <a:t>Fragments</a:t>
            </a:r>
            <a:r>
              <a:rPr lang="en-US" sz="2000" dirty="0">
                <a:latin typeface="+mn-lt"/>
              </a:rPr>
              <a:t> of </a:t>
            </a:r>
          </a:p>
          <a:p>
            <a:pPr eaLnBrk="1" hangingPunct="1"/>
            <a:r>
              <a:rPr lang="en-US" sz="2000" dirty="0">
                <a:latin typeface="+mn-lt"/>
              </a:rPr>
              <a:t>150 - </a:t>
            </a:r>
            <a:r>
              <a:rPr lang="en-US" sz="2000" dirty="0"/>
              <a:t>&gt;5</a:t>
            </a:r>
            <a:r>
              <a:rPr lang="en-US" sz="2000" dirty="0">
                <a:latin typeface="+mn-lt"/>
              </a:rPr>
              <a:t>00,000 bases</a:t>
            </a:r>
            <a:endParaRPr lang="ru-RU" sz="2000" dirty="0">
              <a:latin typeface="+mn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9BDD16-1AAE-4723-9882-E9E93378992B}"/>
              </a:ext>
            </a:extLst>
          </p:cNvPr>
          <p:cNvGrpSpPr/>
          <p:nvPr/>
        </p:nvGrpSpPr>
        <p:grpSpPr>
          <a:xfrm>
            <a:off x="4139129" y="2425443"/>
            <a:ext cx="735231" cy="461666"/>
            <a:chOff x="4686299" y="2286725"/>
            <a:chExt cx="1828800" cy="1036733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C0AEB4E-2A5C-474D-908C-5B5699BD6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7" y="2286725"/>
              <a:ext cx="1266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13B5C32-533F-4A73-858D-A38929EBD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786" y="2583420"/>
              <a:ext cx="1647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715B29-94F9-41BA-9056-71A7E9146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2800491"/>
              <a:ext cx="1419225" cy="90488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86E66F7-62A1-427B-A371-F1CD3C5B6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9" y="2996686"/>
              <a:ext cx="1828800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A6438F9-07B8-4FA3-AEEF-1973E7797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3277739"/>
              <a:ext cx="1617208" cy="45719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 Box 6">
            <a:extLst>
              <a:ext uri="{FF2B5EF4-FFF2-40B4-BE49-F238E27FC236}">
                <a16:creationId xmlns:a16="http://schemas.microsoft.com/office/drawing/2014/main" id="{4672DD96-E764-4FDB-A9C1-4F23C02B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755" y="1559948"/>
            <a:ext cx="14138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Read the Sequences</a:t>
            </a:r>
            <a:endParaRPr lang="ru-RU" sz="20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56A49D-6A47-4979-9EF6-365B4399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2122686"/>
            <a:ext cx="1793966" cy="15540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0405C9E-286D-46ED-B23F-B6C23EC69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001" y="2222719"/>
            <a:ext cx="1000336" cy="14856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9C58C7F-B403-47B0-AF2D-09840C342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640" y="3676709"/>
            <a:ext cx="2047479" cy="892701"/>
          </a:xfrm>
          <a:prstGeom prst="rect">
            <a:avLst/>
          </a:prstGeom>
        </p:spPr>
      </p:pic>
      <p:sp>
        <p:nvSpPr>
          <p:cNvPr id="28" name="Text Box 8">
            <a:extLst>
              <a:ext uri="{FF2B5EF4-FFF2-40B4-BE49-F238E27FC236}">
                <a16:creationId xmlns:a16="http://schemas.microsoft.com/office/drawing/2014/main" id="{C858C111-0E34-4F50-BF12-D715D7CA8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6" y="4460203"/>
            <a:ext cx="45447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+mn-lt"/>
              </a:rPr>
              <a:t>Pairs of Reads </a:t>
            </a:r>
            <a:r>
              <a:rPr lang="en-US" sz="2400" dirty="0">
                <a:latin typeface="+mn-lt"/>
              </a:rPr>
              <a:t>of ~150-250 bp each</a:t>
            </a:r>
            <a:endParaRPr lang="ru-RU" sz="2400" dirty="0">
              <a:latin typeface="+mn-lt"/>
            </a:endParaRPr>
          </a:p>
        </p:txBody>
      </p:sp>
      <p:sp>
        <p:nvSpPr>
          <p:cNvPr id="30" name="Line 15">
            <a:extLst>
              <a:ext uri="{FF2B5EF4-FFF2-40B4-BE49-F238E27FC236}">
                <a16:creationId xmlns:a16="http://schemas.microsoft.com/office/drawing/2014/main" id="{1C2C48C5-9A35-40DD-93CC-7E0AF42F5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31" y="5644823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6">
            <a:extLst>
              <a:ext uri="{FF2B5EF4-FFF2-40B4-BE49-F238E27FC236}">
                <a16:creationId xmlns:a16="http://schemas.microsoft.com/office/drawing/2014/main" id="{00B4899F-A2A7-4294-B48C-C35D4D2AD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5924" y="5436907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8">
            <a:extLst>
              <a:ext uri="{FF2B5EF4-FFF2-40B4-BE49-F238E27FC236}">
                <a16:creationId xmlns:a16="http://schemas.microsoft.com/office/drawing/2014/main" id="{32099E3E-6C8D-43A3-A785-EE401ABAC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6940" y="530286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20">
            <a:extLst>
              <a:ext uri="{FF2B5EF4-FFF2-40B4-BE49-F238E27FC236}">
                <a16:creationId xmlns:a16="http://schemas.microsoft.com/office/drawing/2014/main" id="{D2517CFA-6326-4D48-85A4-AE10B0941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40" y="4959023"/>
            <a:ext cx="19050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CAAGCTGAT...</a:t>
            </a:r>
            <a:endParaRPr lang="ru-RU" dirty="0">
              <a:latin typeface="Arial" charset="0"/>
            </a:endParaRPr>
          </a:p>
        </p:txBody>
      </p:sp>
      <p:sp>
        <p:nvSpPr>
          <p:cNvPr id="36" name="Text Box 28">
            <a:extLst>
              <a:ext uri="{FF2B5EF4-FFF2-40B4-BE49-F238E27FC236}">
                <a16:creationId xmlns:a16="http://schemas.microsoft.com/office/drawing/2014/main" id="{764B039F-B56B-43F6-9E38-90A0EEF4A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658" y="4959023"/>
            <a:ext cx="19812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…GTTTGGAAC</a:t>
            </a:r>
            <a:endParaRPr lang="ru-RU" dirty="0">
              <a:latin typeface="Arial" charset="0"/>
            </a:endParaRPr>
          </a:p>
        </p:txBody>
      </p:sp>
      <p:sp>
        <p:nvSpPr>
          <p:cNvPr id="37" name="Line 29">
            <a:extLst>
              <a:ext uri="{FF2B5EF4-FFF2-40B4-BE49-F238E27FC236}">
                <a16:creationId xmlns:a16="http://schemas.microsoft.com/office/drawing/2014/main" id="{5DFFB47C-1870-48EB-BCFF-7F5E530C8C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80" y="5304501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8">
            <a:extLst>
              <a:ext uri="{FF2B5EF4-FFF2-40B4-BE49-F238E27FC236}">
                <a16:creationId xmlns:a16="http://schemas.microsoft.com/office/drawing/2014/main" id="{84697B48-3949-4E03-A706-D681F6183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35" y="5832746"/>
            <a:ext cx="42626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n-lt"/>
              </a:rPr>
              <a:t>OR</a:t>
            </a:r>
            <a:r>
              <a:rPr lang="en-US" sz="24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+mn-lt"/>
              </a:rPr>
              <a:t>Long reads </a:t>
            </a:r>
            <a:r>
              <a:rPr lang="en-US" sz="2400" dirty="0">
                <a:latin typeface="+mn-lt"/>
              </a:rPr>
              <a:t>10+ kb each </a:t>
            </a:r>
            <a:endParaRPr lang="ru-RU" sz="2400" dirty="0">
              <a:latin typeface="+mn-lt"/>
            </a:endParaRPr>
          </a:p>
        </p:txBody>
      </p:sp>
      <p:sp>
        <p:nvSpPr>
          <p:cNvPr id="39" name="Line 15">
            <a:extLst>
              <a:ext uri="{FF2B5EF4-FFF2-40B4-BE49-F238E27FC236}">
                <a16:creationId xmlns:a16="http://schemas.microsoft.com/office/drawing/2014/main" id="{7E012C5F-57E8-440A-90E9-A7E5A54833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593" y="6471163"/>
            <a:ext cx="3743537" cy="23290"/>
          </a:xfrm>
          <a:prstGeom prst="line">
            <a:avLst/>
          </a:prstGeom>
          <a:noFill/>
          <a:ln w="63500">
            <a:solidFill>
              <a:schemeClr val="accent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8">
            <a:extLst>
              <a:ext uri="{FF2B5EF4-FFF2-40B4-BE49-F238E27FC236}">
                <a16:creationId xmlns:a16="http://schemas.microsoft.com/office/drawing/2014/main" id="{30731F6C-C5EF-4BC5-A2C9-6CAC29C04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704" y="4686904"/>
            <a:ext cx="22887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+mn-lt"/>
              </a:rPr>
              <a:t>Contig assembly</a:t>
            </a:r>
            <a:endParaRPr lang="ru-RU" sz="2400" dirty="0">
              <a:latin typeface="+mn-lt"/>
            </a:endParaRPr>
          </a:p>
        </p:txBody>
      </p:sp>
      <p:sp>
        <p:nvSpPr>
          <p:cNvPr id="42" name="Line 15">
            <a:extLst>
              <a:ext uri="{FF2B5EF4-FFF2-40B4-BE49-F238E27FC236}">
                <a16:creationId xmlns:a16="http://schemas.microsoft.com/office/drawing/2014/main" id="{9272DC99-D818-45AA-9F67-5C29C0EE1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5671" y="5436907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5">
            <a:extLst>
              <a:ext uri="{FF2B5EF4-FFF2-40B4-BE49-F238E27FC236}">
                <a16:creationId xmlns:a16="http://schemas.microsoft.com/office/drawing/2014/main" id="{A38B4BAA-8BFC-4013-8A46-32D04D62C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1104" y="5607668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7F672CF5-E344-4AAB-9353-B9000998C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704" y="5753101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5">
            <a:extLst>
              <a:ext uri="{FF2B5EF4-FFF2-40B4-BE49-F238E27FC236}">
                <a16:creationId xmlns:a16="http://schemas.microsoft.com/office/drawing/2014/main" id="{5C553C5D-C204-4A7D-8689-1EF5FBD03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9724" y="5929885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6">
            <a:extLst>
              <a:ext uri="{FF2B5EF4-FFF2-40B4-BE49-F238E27FC236}">
                <a16:creationId xmlns:a16="http://schemas.microsoft.com/office/drawing/2014/main" id="{39A65613-5359-408B-897D-68803610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0570" y="5644823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16">
            <a:extLst>
              <a:ext uri="{FF2B5EF4-FFF2-40B4-BE49-F238E27FC236}">
                <a16:creationId xmlns:a16="http://schemas.microsoft.com/office/drawing/2014/main" id="{59E56334-0A15-44A4-BE95-A2448170C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012" y="5596698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16">
            <a:extLst>
              <a:ext uri="{FF2B5EF4-FFF2-40B4-BE49-F238E27FC236}">
                <a16:creationId xmlns:a16="http://schemas.microsoft.com/office/drawing/2014/main" id="{AE6F0D3E-873E-489F-A26A-F6B369DFF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1785" y="5737063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16">
            <a:extLst>
              <a:ext uri="{FF2B5EF4-FFF2-40B4-BE49-F238E27FC236}">
                <a16:creationId xmlns:a16="http://schemas.microsoft.com/office/drawing/2014/main" id="{3CF556AB-69E4-42FE-9790-145146B6C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3897" y="5929885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15">
            <a:extLst>
              <a:ext uri="{FF2B5EF4-FFF2-40B4-BE49-F238E27FC236}">
                <a16:creationId xmlns:a16="http://schemas.microsoft.com/office/drawing/2014/main" id="{E6252246-7BEA-4DBD-B633-34AC032C81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9024" y="6129959"/>
            <a:ext cx="2849099" cy="0"/>
          </a:xfrm>
          <a:prstGeom prst="line">
            <a:avLst/>
          </a:prstGeom>
          <a:noFill/>
          <a:ln w="63500">
            <a:solidFill>
              <a:schemeClr val="accent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16">
            <a:extLst>
              <a:ext uri="{FF2B5EF4-FFF2-40B4-BE49-F238E27FC236}">
                <a16:creationId xmlns:a16="http://schemas.microsoft.com/office/drawing/2014/main" id="{A6D855AB-A837-4273-AD11-62F584007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8123" y="5436907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16">
            <a:extLst>
              <a:ext uri="{FF2B5EF4-FFF2-40B4-BE49-F238E27FC236}">
                <a16:creationId xmlns:a16="http://schemas.microsoft.com/office/drawing/2014/main" id="{9DB6D835-2B5E-49BD-8215-233CBB2E1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0561" y="5772116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16">
            <a:extLst>
              <a:ext uri="{FF2B5EF4-FFF2-40B4-BE49-F238E27FC236}">
                <a16:creationId xmlns:a16="http://schemas.microsoft.com/office/drawing/2014/main" id="{4C1B0106-583A-4E42-BB57-18AD479EF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704" y="5860905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15">
            <a:extLst>
              <a:ext uri="{FF2B5EF4-FFF2-40B4-BE49-F238E27FC236}">
                <a16:creationId xmlns:a16="http://schemas.microsoft.com/office/drawing/2014/main" id="{496FD92A-E48E-4A7D-B788-3E4BB3DDB2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9724" y="6294411"/>
            <a:ext cx="2849099" cy="0"/>
          </a:xfrm>
          <a:prstGeom prst="line">
            <a:avLst/>
          </a:prstGeom>
          <a:noFill/>
          <a:ln w="63500">
            <a:solidFill>
              <a:schemeClr val="accent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Text Box 8">
            <a:extLst>
              <a:ext uri="{FF2B5EF4-FFF2-40B4-BE49-F238E27FC236}">
                <a16:creationId xmlns:a16="http://schemas.microsoft.com/office/drawing/2014/main" id="{DB538735-E122-4574-B059-E486CB158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4248" y="3773487"/>
            <a:ext cx="18470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+mn-lt"/>
              </a:rPr>
              <a:t>Scaffolding</a:t>
            </a:r>
            <a:endParaRPr lang="ru-RU" sz="2400" dirty="0">
              <a:latin typeface="+mn-lt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B24EDED-BF8C-4779-B16D-14547E7ED8FB}"/>
              </a:ext>
            </a:extLst>
          </p:cNvPr>
          <p:cNvSpPr/>
          <p:nvPr/>
        </p:nvSpPr>
        <p:spPr>
          <a:xfrm>
            <a:off x="9381422" y="6375675"/>
            <a:ext cx="25959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Image Courtesy: National Human Genome Research Institute</a:t>
            </a:r>
          </a:p>
        </p:txBody>
      </p:sp>
      <p:pic>
        <p:nvPicPr>
          <p:cNvPr id="65" name="Picture 64" descr="A close up of a device&#10;&#10;Description automatically generated">
            <a:extLst>
              <a:ext uri="{FF2B5EF4-FFF2-40B4-BE49-F238E27FC236}">
                <a16:creationId xmlns:a16="http://schemas.microsoft.com/office/drawing/2014/main" id="{50A9DBDE-ADD7-47F4-B1E9-7FC5925519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337" y="4187184"/>
            <a:ext cx="1981200" cy="2132043"/>
          </a:xfrm>
          <a:prstGeom prst="rect">
            <a:avLst/>
          </a:prstGeom>
        </p:spPr>
      </p:pic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46441986-2651-49B3-8763-35B0909F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1117D80-1E28-40C9-8AC5-9D71028A548E}"/>
              </a:ext>
            </a:extLst>
          </p:cNvPr>
          <p:cNvGrpSpPr/>
          <p:nvPr/>
        </p:nvGrpSpPr>
        <p:grpSpPr>
          <a:xfrm>
            <a:off x="4963488" y="2302809"/>
            <a:ext cx="735231" cy="461666"/>
            <a:chOff x="4686299" y="2286725"/>
            <a:chExt cx="1828800" cy="1036733"/>
          </a:xfrm>
        </p:grpSpPr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10B1F963-908F-438A-B282-CB5BDDC7A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7" y="2286725"/>
              <a:ext cx="1266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D7E14C7B-1D44-473A-B3E3-31A485586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786" y="2583420"/>
              <a:ext cx="1647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1">
              <a:extLst>
                <a:ext uri="{FF2B5EF4-FFF2-40B4-BE49-F238E27FC236}">
                  <a16:creationId xmlns:a16="http://schemas.microsoft.com/office/drawing/2014/main" id="{8657AB65-6E3B-4B0D-8868-E33AC40E7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2800491"/>
              <a:ext cx="1419225" cy="90488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2">
              <a:extLst>
                <a:ext uri="{FF2B5EF4-FFF2-40B4-BE49-F238E27FC236}">
                  <a16:creationId xmlns:a16="http://schemas.microsoft.com/office/drawing/2014/main" id="{63CB08DA-B54D-4840-86ED-140B0617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9" y="2996686"/>
              <a:ext cx="1828800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3DE16499-8F52-4EE3-B2E3-71E4238F8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3277739"/>
              <a:ext cx="1617208" cy="45719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5B6672D-458D-48C3-8BD1-C21726B925E1}"/>
              </a:ext>
            </a:extLst>
          </p:cNvPr>
          <p:cNvGrpSpPr/>
          <p:nvPr/>
        </p:nvGrpSpPr>
        <p:grpSpPr>
          <a:xfrm>
            <a:off x="4687801" y="2986901"/>
            <a:ext cx="735231" cy="461666"/>
            <a:chOff x="4686299" y="2286725"/>
            <a:chExt cx="1828800" cy="1036733"/>
          </a:xfrm>
        </p:grpSpPr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12BD92A3-668C-475E-A82F-B82B5508E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7" y="2286725"/>
              <a:ext cx="1266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A5E5486D-4390-4E7A-8AF3-6ECF97D26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786" y="2583420"/>
              <a:ext cx="1647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ADD0F1AF-D0AB-4610-84C9-898E5CACD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2800491"/>
              <a:ext cx="1419225" cy="90488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41960A7D-184A-43DD-A31F-FFCCF6A98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9" y="2996686"/>
              <a:ext cx="1828800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B1300FCA-521C-4B1E-AEFF-B8DDCF9ED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3277739"/>
              <a:ext cx="1617208" cy="45719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2080085F-E827-4C77-9683-F5BAF2731573}"/>
              </a:ext>
            </a:extLst>
          </p:cNvPr>
          <p:cNvSpPr/>
          <p:nvPr/>
        </p:nvSpPr>
        <p:spPr>
          <a:xfrm>
            <a:off x="3099958" y="3288694"/>
            <a:ext cx="763525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6AC58326-BF67-42F6-A917-D6554BED4BD4}"/>
              </a:ext>
            </a:extLst>
          </p:cNvPr>
          <p:cNvSpPr/>
          <p:nvPr/>
        </p:nvSpPr>
        <p:spPr>
          <a:xfrm>
            <a:off x="5918880" y="2864051"/>
            <a:ext cx="763525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23BF0DA4-752B-45CD-86FE-4E165A272836}"/>
              </a:ext>
            </a:extLst>
          </p:cNvPr>
          <p:cNvSpPr/>
          <p:nvPr/>
        </p:nvSpPr>
        <p:spPr>
          <a:xfrm>
            <a:off x="10096314" y="2790573"/>
            <a:ext cx="763525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8343303B-8638-472F-AB5E-B9EA26EC79C7}"/>
              </a:ext>
            </a:extLst>
          </p:cNvPr>
          <p:cNvSpPr/>
          <p:nvPr/>
        </p:nvSpPr>
        <p:spPr>
          <a:xfrm>
            <a:off x="4065369" y="5663124"/>
            <a:ext cx="591930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25207FB3-1923-48E6-9BAA-98EEB05BCE1F}"/>
              </a:ext>
            </a:extLst>
          </p:cNvPr>
          <p:cNvSpPr/>
          <p:nvPr/>
        </p:nvSpPr>
        <p:spPr>
          <a:xfrm>
            <a:off x="8918495" y="5609577"/>
            <a:ext cx="542222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44D8DA92-E6E7-4CC4-959D-E6907730B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2275086"/>
            <a:ext cx="1793966" cy="155402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F3F7F6A-AA68-4405-8FEA-0FD6E2E83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040" y="3829109"/>
            <a:ext cx="2047479" cy="8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6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FAA4-09C4-4717-78C8-FF763E51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</a:t>
            </a:r>
            <a:r>
              <a:rPr lang="en-US" dirty="0" err="1"/>
              <a:t>technologes</a:t>
            </a:r>
            <a:r>
              <a:rPr lang="en-US" dirty="0"/>
              <a:t>: Illumina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14D06-5079-D79B-25D3-5E5E435D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483AD-F38D-F365-3520-8FD6AFBAB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321933"/>
            <a:ext cx="5743254" cy="5536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44DE66-8199-51DB-624E-32D3824741E5}"/>
              </a:ext>
            </a:extLst>
          </p:cNvPr>
          <p:cNvSpPr txBox="1"/>
          <p:nvPr/>
        </p:nvSpPr>
        <p:spPr>
          <a:xfrm>
            <a:off x="6096000" y="15744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Overview of Illumina Sequencing by Synthesis Workflow | Standard SBS chemistry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F44020-C76E-A795-19C0-F96D9A1CA532}"/>
              </a:ext>
            </a:extLst>
          </p:cNvPr>
          <p:cNvSpPr txBox="1"/>
          <p:nvPr/>
        </p:nvSpPr>
        <p:spPr>
          <a:xfrm>
            <a:off x="363794" y="6469626"/>
            <a:ext cx="927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Sources: </a:t>
            </a:r>
            <a:r>
              <a:rPr lang="en-US" dirty="0">
                <a:hlinkClick r:id="rId4"/>
              </a:rPr>
              <a:t>https://www.bmkgene.com/dnarna-sequencing-illumina-sequencer-product/</a:t>
            </a:r>
            <a:r>
              <a:rPr lang="en-US" dirty="0"/>
              <a:t>, Illumina</a:t>
            </a:r>
          </a:p>
        </p:txBody>
      </p:sp>
    </p:spTree>
    <p:extLst>
      <p:ext uri="{BB962C8B-B14F-4D97-AF65-F5344CB8AC3E}">
        <p14:creationId xmlns:p14="http://schemas.microsoft.com/office/powerpoint/2010/main" val="313899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DFA0-569B-0096-7494-F5F4C640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6E78-29A2-9C50-5BBB-0269E3AE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</a:t>
            </a:r>
            <a:r>
              <a:rPr lang="en-US" dirty="0" err="1"/>
              <a:t>technologes</a:t>
            </a:r>
            <a:r>
              <a:rPr lang="en-US" dirty="0"/>
              <a:t>: Illumina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9512E-0E98-ED78-765E-05A30695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94DD27-12C0-0A66-BB06-4488B852F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321933"/>
            <a:ext cx="5743254" cy="5536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FE2667-E4DC-760F-C877-5B3810FDCCAB}"/>
              </a:ext>
            </a:extLst>
          </p:cNvPr>
          <p:cNvSpPr txBox="1"/>
          <p:nvPr/>
        </p:nvSpPr>
        <p:spPr>
          <a:xfrm>
            <a:off x="875070" y="13435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Overview of Illumina Sequencing by Synthesis Workflow | Standard SBS chemistry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7E0AB-5067-A345-C2ED-245774E7F188}"/>
              </a:ext>
            </a:extLst>
          </p:cNvPr>
          <p:cNvSpPr txBox="1"/>
          <p:nvPr/>
        </p:nvSpPr>
        <p:spPr>
          <a:xfrm>
            <a:off x="363794" y="6469626"/>
            <a:ext cx="927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Sources: </a:t>
            </a:r>
            <a:r>
              <a:rPr lang="en-US" dirty="0">
                <a:hlinkClick r:id="rId4"/>
              </a:rPr>
              <a:t>https://www.bmkgene.com/dnarna-sequencing-illumina-sequencer-product/</a:t>
            </a:r>
            <a:r>
              <a:rPr lang="en-US" dirty="0"/>
              <a:t>, Illumina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26558-B08D-BBAD-90D8-7AAE44FDB0AC}"/>
              </a:ext>
            </a:extLst>
          </p:cNvPr>
          <p:cNvSpPr txBox="1"/>
          <p:nvPr/>
        </p:nvSpPr>
        <p:spPr>
          <a:xfrm>
            <a:off x="6746145" y="1321933"/>
            <a:ext cx="493457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Potential problems with Illumina data: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Incomplete incorporation, leads to “de-synchronization” of spots, quality decreases along the read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Reverse read spots are bigger -- lower intensity, higher error rate</a:t>
            </a:r>
          </a:p>
          <a:p>
            <a:r>
              <a:rPr lang="en-US" sz="2400" dirty="0"/>
              <a:t>Errors: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Sequencing is discrete process; most of the errors are substitutions, indels are rare (1/100)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Typical error rate of 1%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High coverage: two or more reads can have the same error at the same base</a:t>
            </a:r>
          </a:p>
        </p:txBody>
      </p:sp>
    </p:spTree>
    <p:extLst>
      <p:ext uri="{BB962C8B-B14F-4D97-AF65-F5344CB8AC3E}">
        <p14:creationId xmlns:p14="http://schemas.microsoft.com/office/powerpoint/2010/main" val="288923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6A2A-3704-A4F6-3BF9-B09DE89D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Sequencing: GC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3B81C-1433-AEF2-82C5-5248871D3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Illumina: there are biases due to flexibility of strands (GC bias)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7310A-89E9-F343-10C5-607856C4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415EA-ED7A-214E-C479-0369D3B8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80" y="2591558"/>
            <a:ext cx="7306695" cy="2343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9E94CE-B773-1C7A-3792-1C0B0EF9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640" y="3763296"/>
            <a:ext cx="2723057" cy="3112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0D1ECE-1B24-E17D-98F1-F0E3BBC96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697" y="3763296"/>
            <a:ext cx="2467410" cy="23434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8295B7-318B-7FE3-64A4-BAB3309EB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610" y="6219567"/>
            <a:ext cx="1676634" cy="181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2C6865-C362-C03D-15D6-835380AF0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605" y="6138807"/>
            <a:ext cx="2715004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FAD20-2F53-9D3C-9875-BBB7FFC4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0B65-90DC-DB6E-D977-759DD954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5F824-1290-AA69-AFF9-6113DC7F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C79974-262B-EDA5-6123-054ACC34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840"/>
          <a:stretch>
            <a:fillRect/>
          </a:stretch>
        </p:blipFill>
        <p:spPr>
          <a:xfrm>
            <a:off x="462116" y="2319313"/>
            <a:ext cx="4621161" cy="3745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CAF017-C88C-D7DF-63B4-740B8EFB984F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1989D-292F-66EC-E183-C36D45B0CC7C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Sequencing 101: from DNA to discovery — the steps of SMRT sequencing - PacBio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77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8379-5856-BF17-9860-7D65506D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3D5CC-0149-7B07-7E0A-14D34832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E389E-428B-0F8F-D783-81756674E53E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DCC05-6D36-0177-4E40-FE4066700F24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Sequencing 101: from DNA to discovery — the steps of SMRT sequencing - PacBio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6093C-E40C-9D70-97DE-AE86AE5BC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08" y="2580799"/>
            <a:ext cx="1030748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45A7-7FF7-FD4C-07A7-8A53D071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1179-BCFC-3280-2295-9D1F1FB9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5E8C6-F876-2D42-E406-B5DB287F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254C07-F910-FC61-E466-670650D7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2319313"/>
            <a:ext cx="9212826" cy="3745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A3621F-4C95-0810-05EA-49D9C3DBC451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762A2-2219-0A8A-B671-2741704B832A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Sequencing 101: from DNA to discovery — the steps of SMRT sequencing - PacBio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0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481F-7FA6-3546-BF2F-48F1BCF7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D4D2-B4EC-5137-6E9E-D9C5C78C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06D37-76A3-254F-ADE1-76E7DFF6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F64130-9B2A-9123-1A4A-ED673B00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455"/>
          <a:stretch>
            <a:fillRect/>
          </a:stretch>
        </p:blipFill>
        <p:spPr>
          <a:xfrm>
            <a:off x="304800" y="2566856"/>
            <a:ext cx="6520194" cy="25869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4B0787-0863-4813-047E-61A039391C1E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0512F-8772-1B75-896A-E23AEFEED349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Sequencing 101: from DNA to discovery — the steps of SMRT sequencing - PacBio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E432B-BA13-CBBA-92F7-031B465BA3FB}"/>
              </a:ext>
            </a:extLst>
          </p:cNvPr>
          <p:cNvSpPr txBox="1"/>
          <p:nvPr/>
        </p:nvSpPr>
        <p:spPr>
          <a:xfrm>
            <a:off x="6796712" y="1339593"/>
            <a:ext cx="53067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Potential problems with PacBio data: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CLR reads are longer but have ~15% error rate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Most errors are insertions (~10% of the 15%)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Polymerase pauses -- insertions of random sequence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Chimeric “palindrome” reads -- no </a:t>
            </a:r>
            <a:r>
              <a:rPr lang="en-US" sz="2000" dirty="0" err="1"/>
              <a:t>SMRTbell</a:t>
            </a:r>
            <a:r>
              <a:rPr lang="en-US" sz="2000" dirty="0"/>
              <a:t> adapter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Errors: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Most errors in CLR are insertions (~10% of the 15%)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HiFi reads have variable (~1%) error rate, longer reads=higher error rate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Some reads have higher error rate</a:t>
            </a:r>
          </a:p>
        </p:txBody>
      </p:sp>
    </p:spTree>
    <p:extLst>
      <p:ext uri="{BB962C8B-B14F-4D97-AF65-F5344CB8AC3E}">
        <p14:creationId xmlns:p14="http://schemas.microsoft.com/office/powerpoint/2010/main" val="336509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7EFB-41EB-7923-070D-1FD5F9B0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</a:t>
            </a:r>
            <a:br>
              <a:rPr lang="en-US" dirty="0"/>
            </a:br>
            <a:r>
              <a:rPr lang="en-US" dirty="0"/>
              <a:t>Oxford Nanopore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E7F0D-8476-DBED-02C9-83DF1809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BB2F1-01EC-4E7C-7C64-8EC04D1B5D16}"/>
              </a:ext>
            </a:extLst>
          </p:cNvPr>
          <p:cNvSpPr txBox="1"/>
          <p:nvPr/>
        </p:nvSpPr>
        <p:spPr>
          <a:xfrm>
            <a:off x="6862916" y="1284947"/>
            <a:ext cx="5171768" cy="65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How nanopore sequencing works | Oxford Nanopore Technologies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9C25DF-22F8-254C-B6A2-C73BC208BA3C}"/>
              </a:ext>
            </a:extLst>
          </p:cNvPr>
          <p:cNvSpPr txBox="1"/>
          <p:nvPr/>
        </p:nvSpPr>
        <p:spPr>
          <a:xfrm>
            <a:off x="8206658" y="6488668"/>
            <a:ext cx="2045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Source:genome.gov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5133BC-4D57-F22D-9E9F-735C94A4D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6443"/>
            <a:ext cx="11159613" cy="467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0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82F9-570F-4F67-D380-8CACD87B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4558-6944-D22B-B2FA-CB33750E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Sequencing technologies:</a:t>
            </a:r>
            <a:br>
              <a:rPr lang="en-US"/>
            </a:br>
            <a:r>
              <a:rPr lang="en-US"/>
              <a:t>Oxford Nanopore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5931F-638F-2170-53A8-9801A7F7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568" y="1596539"/>
            <a:ext cx="4570851" cy="49124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Oxford Nanopore: </a:t>
            </a:r>
          </a:p>
          <a:p>
            <a:pPr lvl="1"/>
            <a:r>
              <a:rPr lang="en-US" dirty="0"/>
              <a:t>higher error rates (5-7%), lower for R10 (2 currents)</a:t>
            </a:r>
          </a:p>
          <a:p>
            <a:pPr lvl="1"/>
            <a:r>
              <a:rPr lang="en-US" dirty="0"/>
              <a:t>Unable to estimate speed -- errors in homopolymers (AAAAAAA), SSRs (ATATATA)</a:t>
            </a:r>
          </a:p>
          <a:p>
            <a:pPr lvl="1"/>
            <a:r>
              <a:rPr lang="en-US" dirty="0"/>
              <a:t>difficulties with getting long reads, some species (crustaceans/coffee) are hard to sequence (low yield)</a:t>
            </a:r>
          </a:p>
          <a:p>
            <a:pPr lvl="1"/>
            <a:r>
              <a:rPr lang="en-US" dirty="0"/>
              <a:t>chimeric reads due to fragments of DNA sticking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33F6B-CAE3-7F8B-DDDF-3DB04F66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A6F3C-E36A-C5DE-9ADD-530F6887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8" y="4639326"/>
            <a:ext cx="6741219" cy="2082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2F39A9-189B-F129-AB07-B9B3584A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68" y="1538642"/>
            <a:ext cx="6741219" cy="310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1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A007-9288-3BD3-A1F9-561D7C8D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Dealing with errors in the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D6A9-E123-4492-9ABE-FD2F5534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compensate for some of the errors</a:t>
            </a:r>
          </a:p>
          <a:p>
            <a:r>
              <a:rPr lang="en-US" dirty="0"/>
              <a:t>Create a dictionary of all (K-mer -&gt; count) pairs in all reads</a:t>
            </a:r>
          </a:p>
          <a:p>
            <a:r>
              <a:rPr lang="en-US" dirty="0"/>
              <a:t>K-mer counts</a:t>
            </a:r>
          </a:p>
          <a:p>
            <a:pPr lvl="1"/>
            <a:r>
              <a:rPr lang="en-US" dirty="0"/>
              <a:t>At 100x genome coverage most (but not all) K-</a:t>
            </a:r>
            <a:r>
              <a:rPr lang="en-US" dirty="0" err="1"/>
              <a:t>mers</a:t>
            </a:r>
            <a:r>
              <a:rPr lang="en-US" dirty="0"/>
              <a:t> of count 1 contain errors</a:t>
            </a:r>
          </a:p>
          <a:p>
            <a:pPr lvl="1"/>
            <a:r>
              <a:rPr lang="en-US" dirty="0"/>
              <a:t>Can correct of filter out reads with locally low K-</a:t>
            </a:r>
            <a:r>
              <a:rPr lang="en-US" dirty="0" err="1"/>
              <a:t>mer</a:t>
            </a:r>
            <a:r>
              <a:rPr lang="en-US" dirty="0"/>
              <a:t> counts</a:t>
            </a:r>
          </a:p>
          <a:p>
            <a:r>
              <a:rPr lang="en-US" dirty="0"/>
              <a:t>But.. Not for Illumina reads – due to GC bias many low-count k-</a:t>
            </a:r>
            <a:r>
              <a:rPr lang="en-US" dirty="0" err="1"/>
              <a:t>mers</a:t>
            </a:r>
            <a:r>
              <a:rPr lang="en-US" dirty="0"/>
              <a:t> may be correct!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3FD7B-328D-1B85-8A0F-521DD6BF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61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CA01-29BC-E5AB-0941-5252081A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A2B1-7320-6045-0031-D046286F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0097F-0BAD-6158-6B65-685DC4DB2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06FDC-6A95-15D2-1750-12D53157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A0BBC-8889-8A43-8209-1CC4B9B52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C7B937-814E-C5C2-3FC2-ABBFD1FD8248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67ADC-7B06-0029-92B4-E8E8AF262A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EDA15B5-B0EE-99F8-99EE-1A2DCF0CF823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0C880-F136-219D-0C9A-FE7D8C4F29AA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CE604-E1D1-E21E-D5DF-A122AEB09E27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3140E0-0EC1-69DD-3352-6114610F4B2C}"/>
              </a:ext>
            </a:extLst>
          </p:cNvPr>
          <p:cNvSpPr/>
          <p:nvPr/>
        </p:nvSpPr>
        <p:spPr>
          <a:xfrm>
            <a:off x="4582274" y="3134313"/>
            <a:ext cx="5514226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19DD0-E354-4B48-9A0F-810D9D3AAD9E}"/>
              </a:ext>
            </a:extLst>
          </p:cNvPr>
          <p:cNvSpPr txBox="1"/>
          <p:nvPr/>
        </p:nvSpPr>
        <p:spPr>
          <a:xfrm>
            <a:off x="4366005" y="4510730"/>
            <a:ext cx="18324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Formaldehyde</a:t>
            </a:r>
          </a:p>
          <a:p>
            <a:r>
              <a:rPr lang="en-US" dirty="0"/>
              <a:t>(creates covalent </a:t>
            </a:r>
          </a:p>
          <a:p>
            <a:r>
              <a:rPr lang="en-US" dirty="0"/>
              <a:t>bonds)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092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CC69-1EA4-7C8D-76EF-E111B696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66B6-4A7D-C499-CA87-5069AD34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6322-62E6-E3F7-9913-C523035B0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6E6F-A79D-AF48-3287-9E14D818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D8FA8-4B96-75DA-F31B-300BE765C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B98178-0D88-A878-B14E-E1DD1F25AEC5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E0F65-4AAF-7495-8C2A-C8D4DD17DE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8564A8E-7F34-8474-B6EE-7476BB0FE9CA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696A7A-ABE9-04AD-9628-CD42A9867543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4C97B7-741C-3F94-B890-09D6398FF5EE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FA2AF-824B-1E60-6AF5-0C44EB11D6BA}"/>
              </a:ext>
            </a:extLst>
          </p:cNvPr>
          <p:cNvSpPr/>
          <p:nvPr/>
        </p:nvSpPr>
        <p:spPr>
          <a:xfrm>
            <a:off x="5485178" y="3134313"/>
            <a:ext cx="4611321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7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7A1FA-12EE-11FC-DD21-9D6A3C99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17AD-E99A-E951-B569-2657971C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DB4CB-84C7-96A3-25DA-80E64D29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3F9FB-6DBD-6633-1583-5BEC0D17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25133-3053-0131-EBC4-B7078872E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F3C774-A426-3DE8-0EE1-B61E0F0B258C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FB29E-5226-963D-D127-3C115E3FFC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3312E78-595B-163A-535F-94D2CC56E557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65FB6-CF10-0A2F-CF49-717D5A326902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CDE0F-A948-6B6D-2D95-21DA3FD72492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903CFB-1773-89A7-0F71-1F5B8E9709AD}"/>
              </a:ext>
            </a:extLst>
          </p:cNvPr>
          <p:cNvSpPr/>
          <p:nvPr/>
        </p:nvSpPr>
        <p:spPr>
          <a:xfrm>
            <a:off x="6486525" y="3134313"/>
            <a:ext cx="3609974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8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AACC-4BB1-BB84-5AA3-600E43A8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88AA-8091-712E-909B-593D1C0B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3D20-B384-D566-72B6-F8FFF4FD3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F935-A20F-62EC-CCF7-C4F2BD77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E6E9C-B489-85E7-C4BE-EEACD741D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57A2A-41F7-94EC-6266-9669D06D7510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FE4EF-5FEB-8C8F-C506-0ADAB03585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A1A6CE5-99B9-546E-8E82-A1C5D573A505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25F4B6-BD7B-3D37-9EE8-70DA9226F17A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6DA98C-8388-DB7A-8A0A-CD2DFE7711D1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8BEE2-F5DE-42B3-684C-ABD156056A37}"/>
              </a:ext>
            </a:extLst>
          </p:cNvPr>
          <p:cNvSpPr/>
          <p:nvPr/>
        </p:nvSpPr>
        <p:spPr>
          <a:xfrm>
            <a:off x="7486649" y="3134313"/>
            <a:ext cx="2609849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4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4FFD-26FD-D223-68E7-8CB16752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E854-B688-2171-E539-A9046BFD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5105-4902-2FBF-2DA5-3FAA40C59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E2045-88A4-DE0F-5ED5-07999334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77D47-0A01-CDF1-7069-E87E355D6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BE713-2F75-F3E0-7C33-A79D76D32305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5FF77-8380-1989-2E77-DB4D990461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0532845-E80A-F6B5-9078-571F16A1204E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8BFA8B-0BF2-E214-EFF5-9BB3B3CF023E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36CD1-4319-4432-D7D4-3FA30DC5E5AC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0F9702-4BC6-88B8-A394-64F57E9D1B2A}"/>
              </a:ext>
            </a:extLst>
          </p:cNvPr>
          <p:cNvSpPr/>
          <p:nvPr/>
        </p:nvSpPr>
        <p:spPr>
          <a:xfrm>
            <a:off x="8737600" y="3134313"/>
            <a:ext cx="1358898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0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985F-EDF2-26C0-74F5-A7CBF2AC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F589-D5C3-9E96-ED74-7D7C1A61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8EBD-490A-7FC2-020A-52E983E6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 (variants: Omni-C, Chicago)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B8776-7E5E-9F11-EE0B-8AB13140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0D864-656C-717E-93CA-76972780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52187-BC90-49D8-BE44-8B81CA3F19DA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E9225B-FA5C-2203-723D-6D2F6392E6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1855CC4-988F-6C22-A415-69F4B6460BDA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8ECCB-F029-2A5E-BD3A-8B6EB11FD0DF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D6C5F-93B9-F55C-EBDC-CDBC9D22787C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79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F26D-637F-7AC5-7877-7214D355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data do you get?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E2B39-2653-0397-7528-49F5DE69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8296EC-CDFC-8ABE-8726-F4A4E8C22295}"/>
                  </a:ext>
                </a:extLst>
              </p14:cNvPr>
              <p14:cNvContentPartPr/>
              <p14:nvPr/>
            </p14:nvContentPartPr>
            <p14:xfrm>
              <a:off x="1533120" y="3068554"/>
              <a:ext cx="7830360" cy="18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8296EC-CDFC-8ABE-8726-F4A4E8C222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480" y="3059554"/>
                <a:ext cx="78480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DF7E8AC-A130-3150-1A60-FDC345F5C99B}"/>
                  </a:ext>
                </a:extLst>
              </p14:cNvPr>
              <p14:cNvContentPartPr/>
              <p14:nvPr/>
            </p14:nvContentPartPr>
            <p14:xfrm>
              <a:off x="1647375" y="4817070"/>
              <a:ext cx="6689160" cy="232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DF7E8AC-A130-3150-1A60-FDC345F5C9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8735" y="4808070"/>
                <a:ext cx="6706800" cy="249840"/>
              </a:xfrm>
              <a:prstGeom prst="rect">
                <a:avLst/>
              </a:prstGeom>
            </p:spPr>
          </p:pic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E1B588-48AC-2A57-581B-673210CD1131}"/>
              </a:ext>
            </a:extLst>
          </p:cNvPr>
          <p:cNvCxnSpPr/>
          <p:nvPr/>
        </p:nvCxnSpPr>
        <p:spPr>
          <a:xfrm>
            <a:off x="2466975" y="284797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B6D4DD-A7D3-198B-2199-79FA37B15109}"/>
              </a:ext>
            </a:extLst>
          </p:cNvPr>
          <p:cNvCxnSpPr/>
          <p:nvPr/>
        </p:nvCxnSpPr>
        <p:spPr>
          <a:xfrm>
            <a:off x="6257925" y="3013588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188086-5D46-D094-28C5-4729B16740CD}"/>
              </a:ext>
            </a:extLst>
          </p:cNvPr>
          <p:cNvCxnSpPr/>
          <p:nvPr/>
        </p:nvCxnSpPr>
        <p:spPr>
          <a:xfrm>
            <a:off x="4238625" y="29000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5A3213-7D82-0DAD-824D-F06305C284DE}"/>
              </a:ext>
            </a:extLst>
          </p:cNvPr>
          <p:cNvCxnSpPr/>
          <p:nvPr/>
        </p:nvCxnSpPr>
        <p:spPr>
          <a:xfrm>
            <a:off x="5127625" y="29000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10791E-89A2-9F7A-4718-8C068604C5AB}"/>
              </a:ext>
            </a:extLst>
          </p:cNvPr>
          <p:cNvSpPr/>
          <p:nvPr/>
        </p:nvSpPr>
        <p:spPr>
          <a:xfrm>
            <a:off x="4400550" y="20904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705556-44D8-D0A6-3FFC-778B9C854CE9}"/>
              </a:ext>
            </a:extLst>
          </p:cNvPr>
          <p:cNvCxnSpPr/>
          <p:nvPr/>
        </p:nvCxnSpPr>
        <p:spPr>
          <a:xfrm>
            <a:off x="5791200" y="2909564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EE24FD-DB73-04ED-DC64-D58AE5C27530}"/>
              </a:ext>
            </a:extLst>
          </p:cNvPr>
          <p:cNvCxnSpPr/>
          <p:nvPr/>
        </p:nvCxnSpPr>
        <p:spPr>
          <a:xfrm>
            <a:off x="6680200" y="2909564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EBE7A47-C638-99E8-3F34-FB340B0A71CE}"/>
              </a:ext>
            </a:extLst>
          </p:cNvPr>
          <p:cNvSpPr/>
          <p:nvPr/>
        </p:nvSpPr>
        <p:spPr>
          <a:xfrm>
            <a:off x="5953125" y="2099937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0DB376-312E-6447-DAE9-09E3D4438030}"/>
              </a:ext>
            </a:extLst>
          </p:cNvPr>
          <p:cNvCxnSpPr/>
          <p:nvPr/>
        </p:nvCxnSpPr>
        <p:spPr>
          <a:xfrm>
            <a:off x="30289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21D3BD-326B-8110-A44F-71E3404621A3}"/>
              </a:ext>
            </a:extLst>
          </p:cNvPr>
          <p:cNvCxnSpPr/>
          <p:nvPr/>
        </p:nvCxnSpPr>
        <p:spPr>
          <a:xfrm>
            <a:off x="39179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71AF64B-34D0-123C-DD07-F7E631000F30}"/>
              </a:ext>
            </a:extLst>
          </p:cNvPr>
          <p:cNvSpPr/>
          <p:nvPr/>
        </p:nvSpPr>
        <p:spPr>
          <a:xfrm>
            <a:off x="3190875" y="394098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228649-8CEA-E7C5-48C8-D9F1669EF4CD}"/>
              </a:ext>
            </a:extLst>
          </p:cNvPr>
          <p:cNvCxnSpPr/>
          <p:nvPr/>
        </p:nvCxnSpPr>
        <p:spPr>
          <a:xfrm>
            <a:off x="3670300" y="467118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E982CC-406C-16B0-29EC-E652B5D59287}"/>
              </a:ext>
            </a:extLst>
          </p:cNvPr>
          <p:cNvCxnSpPr/>
          <p:nvPr/>
        </p:nvCxnSpPr>
        <p:spPr>
          <a:xfrm>
            <a:off x="4559300" y="4671180"/>
            <a:ext cx="381000" cy="0"/>
          </a:xfrm>
          <a:prstGeom prst="straightConnector1">
            <a:avLst/>
          </a:prstGeom>
          <a:ln w="317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226AC43-BEE6-5463-187C-49625E652F2E}"/>
              </a:ext>
            </a:extLst>
          </p:cNvPr>
          <p:cNvSpPr/>
          <p:nvPr/>
        </p:nvSpPr>
        <p:spPr>
          <a:xfrm>
            <a:off x="3832225" y="386155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71F950-534F-4C5B-65FF-B17691AC67CB}"/>
              </a:ext>
            </a:extLst>
          </p:cNvPr>
          <p:cNvCxnSpPr>
            <a:cxnSpLocks/>
          </p:cNvCxnSpPr>
          <p:nvPr/>
        </p:nvCxnSpPr>
        <p:spPr>
          <a:xfrm>
            <a:off x="4965700" y="47838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40D12C-C9F5-72C3-4DD1-F1FF54C77862}"/>
              </a:ext>
            </a:extLst>
          </p:cNvPr>
          <p:cNvCxnSpPr>
            <a:cxnSpLocks/>
          </p:cNvCxnSpPr>
          <p:nvPr/>
        </p:nvCxnSpPr>
        <p:spPr>
          <a:xfrm>
            <a:off x="6299200" y="479565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B97FA8A-176C-E7A8-AC5D-5ECB1D7852FB}"/>
              </a:ext>
            </a:extLst>
          </p:cNvPr>
          <p:cNvSpPr/>
          <p:nvPr/>
        </p:nvSpPr>
        <p:spPr>
          <a:xfrm>
            <a:off x="5127625" y="3974213"/>
            <a:ext cx="132080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E3447D-C9CA-30DC-425A-606924CD602B}"/>
              </a:ext>
            </a:extLst>
          </p:cNvPr>
          <p:cNvCxnSpPr/>
          <p:nvPr/>
        </p:nvCxnSpPr>
        <p:spPr>
          <a:xfrm>
            <a:off x="4391025" y="30524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756661-C434-ECEC-1356-F09AACA9A506}"/>
              </a:ext>
            </a:extLst>
          </p:cNvPr>
          <p:cNvCxnSpPr/>
          <p:nvPr/>
        </p:nvCxnSpPr>
        <p:spPr>
          <a:xfrm>
            <a:off x="5280025" y="30524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1C7A63-9F02-F623-5881-9807C4E113B4}"/>
              </a:ext>
            </a:extLst>
          </p:cNvPr>
          <p:cNvSpPr/>
          <p:nvPr/>
        </p:nvSpPr>
        <p:spPr>
          <a:xfrm>
            <a:off x="4552950" y="22428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ECE987-50DF-2219-BEC8-947BACE48A0C}"/>
              </a:ext>
            </a:extLst>
          </p:cNvPr>
          <p:cNvCxnSpPr/>
          <p:nvPr/>
        </p:nvCxnSpPr>
        <p:spPr>
          <a:xfrm>
            <a:off x="17335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59B62A-BCC0-BA89-B26B-FB01DEFC0C5B}"/>
              </a:ext>
            </a:extLst>
          </p:cNvPr>
          <p:cNvCxnSpPr/>
          <p:nvPr/>
        </p:nvCxnSpPr>
        <p:spPr>
          <a:xfrm>
            <a:off x="7385050" y="474824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BAF0540-B78F-39E0-1289-B3920FF94E75}"/>
              </a:ext>
            </a:extLst>
          </p:cNvPr>
          <p:cNvSpPr/>
          <p:nvPr/>
        </p:nvSpPr>
        <p:spPr>
          <a:xfrm>
            <a:off x="1895475" y="3940983"/>
            <a:ext cx="563880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E79611-0A2E-7D4A-ADEB-0A3CB6C98270}"/>
              </a:ext>
            </a:extLst>
          </p:cNvPr>
          <p:cNvCxnSpPr/>
          <p:nvPr/>
        </p:nvCxnSpPr>
        <p:spPr>
          <a:xfrm>
            <a:off x="1571625" y="2810379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3DD3A0D-5673-20F5-D2A0-C047DAC91276}"/>
              </a:ext>
            </a:extLst>
          </p:cNvPr>
          <p:cNvCxnSpPr/>
          <p:nvPr/>
        </p:nvCxnSpPr>
        <p:spPr>
          <a:xfrm>
            <a:off x="7531100" y="281037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1BDC7D7-BB37-DE6C-4382-3F7469354585}"/>
              </a:ext>
            </a:extLst>
          </p:cNvPr>
          <p:cNvSpPr/>
          <p:nvPr/>
        </p:nvSpPr>
        <p:spPr>
          <a:xfrm>
            <a:off x="1733550" y="2000752"/>
            <a:ext cx="59245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C61FF8-9FCB-23BF-1010-E4CDDBF84C87}"/>
              </a:ext>
            </a:extLst>
          </p:cNvPr>
          <p:cNvCxnSpPr/>
          <p:nvPr/>
        </p:nvCxnSpPr>
        <p:spPr>
          <a:xfrm>
            <a:off x="5610225" y="462419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BF60E4-A8DA-B555-A524-1FBD788A28EF}"/>
              </a:ext>
            </a:extLst>
          </p:cNvPr>
          <p:cNvCxnSpPr/>
          <p:nvPr/>
        </p:nvCxnSpPr>
        <p:spPr>
          <a:xfrm>
            <a:off x="6543675" y="462419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A6669BF-82A8-C194-93EB-0D0460DBDDF7}"/>
              </a:ext>
            </a:extLst>
          </p:cNvPr>
          <p:cNvSpPr/>
          <p:nvPr/>
        </p:nvSpPr>
        <p:spPr>
          <a:xfrm>
            <a:off x="5800725" y="3810129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75E74A5-C79A-DF90-E400-3B7452BFC274}"/>
              </a:ext>
            </a:extLst>
          </p:cNvPr>
          <p:cNvCxnSpPr/>
          <p:nvPr/>
        </p:nvCxnSpPr>
        <p:spPr>
          <a:xfrm>
            <a:off x="3859213" y="2773286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B1D2AD-5EFB-F917-ADE7-4DDFE29CCBE7}"/>
              </a:ext>
            </a:extLst>
          </p:cNvPr>
          <p:cNvCxnSpPr/>
          <p:nvPr/>
        </p:nvCxnSpPr>
        <p:spPr>
          <a:xfrm>
            <a:off x="4748213" y="2773286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07D02C1-7E0C-2DE5-1D01-604485DA446E}"/>
              </a:ext>
            </a:extLst>
          </p:cNvPr>
          <p:cNvSpPr/>
          <p:nvPr/>
        </p:nvSpPr>
        <p:spPr>
          <a:xfrm>
            <a:off x="4021138" y="1963659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5A4616-9830-C39D-6D7E-50D66B003C58}"/>
              </a:ext>
            </a:extLst>
          </p:cNvPr>
          <p:cNvCxnSpPr/>
          <p:nvPr/>
        </p:nvCxnSpPr>
        <p:spPr>
          <a:xfrm>
            <a:off x="5448300" y="273876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8C9453-5050-7181-6709-0E7D0400D7FE}"/>
              </a:ext>
            </a:extLst>
          </p:cNvPr>
          <p:cNvCxnSpPr/>
          <p:nvPr/>
        </p:nvCxnSpPr>
        <p:spPr>
          <a:xfrm>
            <a:off x="6337300" y="273876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9ABDE01-0756-2D2E-CC85-AFD0843B7C35}"/>
              </a:ext>
            </a:extLst>
          </p:cNvPr>
          <p:cNvSpPr/>
          <p:nvPr/>
        </p:nvSpPr>
        <p:spPr>
          <a:xfrm>
            <a:off x="5610225" y="192913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DC15646-EA04-55AD-955C-4054D90E7B6D}"/>
              </a:ext>
            </a:extLst>
          </p:cNvPr>
          <p:cNvCxnSpPr/>
          <p:nvPr/>
        </p:nvCxnSpPr>
        <p:spPr>
          <a:xfrm>
            <a:off x="4076700" y="448257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798D9C3-BC84-6B8C-7543-9E97D7F77448}"/>
              </a:ext>
            </a:extLst>
          </p:cNvPr>
          <p:cNvCxnSpPr/>
          <p:nvPr/>
        </p:nvCxnSpPr>
        <p:spPr>
          <a:xfrm>
            <a:off x="5330825" y="4482579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A6BA50E-72D3-507E-D5F0-C304D7BFD9E1}"/>
              </a:ext>
            </a:extLst>
          </p:cNvPr>
          <p:cNvSpPr/>
          <p:nvPr/>
        </p:nvSpPr>
        <p:spPr>
          <a:xfrm>
            <a:off x="4238624" y="3672952"/>
            <a:ext cx="1330325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16503C-3852-6FF6-B0BD-F4522D32EBE9}"/>
              </a:ext>
            </a:extLst>
          </p:cNvPr>
          <p:cNvCxnSpPr/>
          <p:nvPr/>
        </p:nvCxnSpPr>
        <p:spPr>
          <a:xfrm>
            <a:off x="2809875" y="449529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503E43B-CFDA-5D5D-1F65-2576668E6AD1}"/>
              </a:ext>
            </a:extLst>
          </p:cNvPr>
          <p:cNvCxnSpPr/>
          <p:nvPr/>
        </p:nvCxnSpPr>
        <p:spPr>
          <a:xfrm>
            <a:off x="3009901" y="2756672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FB3E86F-6EB3-E3DA-EDF1-90196EBA5F26}"/>
              </a:ext>
            </a:extLst>
          </p:cNvPr>
          <p:cNvSpPr/>
          <p:nvPr/>
        </p:nvSpPr>
        <p:spPr>
          <a:xfrm>
            <a:off x="2282826" y="1947045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BB22E6-B90E-98D5-4A7A-3C6EA0647084}"/>
              </a:ext>
            </a:extLst>
          </p:cNvPr>
          <p:cNvCxnSpPr/>
          <p:nvPr/>
        </p:nvCxnSpPr>
        <p:spPr>
          <a:xfrm>
            <a:off x="7343775" y="294501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7748CCA-4C1F-1592-A1B1-B0FAA0BBEBFE}"/>
              </a:ext>
            </a:extLst>
          </p:cNvPr>
          <p:cNvCxnSpPr/>
          <p:nvPr/>
        </p:nvCxnSpPr>
        <p:spPr>
          <a:xfrm>
            <a:off x="8232775" y="294501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C5B7386-0BBD-B527-6F10-DB7562807D3D}"/>
              </a:ext>
            </a:extLst>
          </p:cNvPr>
          <p:cNvSpPr/>
          <p:nvPr/>
        </p:nvSpPr>
        <p:spPr>
          <a:xfrm>
            <a:off x="7505700" y="213538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C1A2884-EE32-EABF-F5D8-06E84BE89388}"/>
              </a:ext>
            </a:extLst>
          </p:cNvPr>
          <p:cNvCxnSpPr/>
          <p:nvPr/>
        </p:nvCxnSpPr>
        <p:spPr>
          <a:xfrm>
            <a:off x="2441575" y="467118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7440287-E244-C82C-35F0-88628BB7EC96}"/>
              </a:ext>
            </a:extLst>
          </p:cNvPr>
          <p:cNvCxnSpPr/>
          <p:nvPr/>
        </p:nvCxnSpPr>
        <p:spPr>
          <a:xfrm>
            <a:off x="3330575" y="467118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FE720001-5C9F-0F5F-E803-F6DA69EE5235}"/>
              </a:ext>
            </a:extLst>
          </p:cNvPr>
          <p:cNvSpPr/>
          <p:nvPr/>
        </p:nvSpPr>
        <p:spPr>
          <a:xfrm>
            <a:off x="2603500" y="386155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0C6D6D4-BBBD-0491-5615-EE32B1B8FA2A}"/>
              </a:ext>
            </a:extLst>
          </p:cNvPr>
          <p:cNvCxnSpPr/>
          <p:nvPr/>
        </p:nvCxnSpPr>
        <p:spPr>
          <a:xfrm>
            <a:off x="6877050" y="48300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861F74E-2024-26A9-82F7-11496BD6159A}"/>
              </a:ext>
            </a:extLst>
          </p:cNvPr>
          <p:cNvCxnSpPr/>
          <p:nvPr/>
        </p:nvCxnSpPr>
        <p:spPr>
          <a:xfrm>
            <a:off x="7766050" y="48300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EA00AD2-FDD3-8F85-ED9B-2135F74E40F0}"/>
              </a:ext>
            </a:extLst>
          </p:cNvPr>
          <p:cNvSpPr/>
          <p:nvPr/>
        </p:nvSpPr>
        <p:spPr>
          <a:xfrm>
            <a:off x="7038975" y="40204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78907D9-7D69-CC8D-65F5-E0A49D080F6A}"/>
              </a:ext>
            </a:extLst>
          </p:cNvPr>
          <p:cNvCxnSpPr/>
          <p:nvPr/>
        </p:nvCxnSpPr>
        <p:spPr>
          <a:xfrm>
            <a:off x="2857500" y="294501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B9A48C1-B456-28C2-B863-7C90D310B568}"/>
              </a:ext>
            </a:extLst>
          </p:cNvPr>
          <p:cNvCxnSpPr/>
          <p:nvPr/>
        </p:nvCxnSpPr>
        <p:spPr>
          <a:xfrm>
            <a:off x="3746500" y="2945015"/>
            <a:ext cx="381000" cy="0"/>
          </a:xfrm>
          <a:prstGeom prst="straightConnector1">
            <a:avLst/>
          </a:prstGeom>
          <a:ln w="317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163A55F-AF74-5DAF-D3FD-743A5599BDE4}"/>
              </a:ext>
            </a:extLst>
          </p:cNvPr>
          <p:cNvSpPr/>
          <p:nvPr/>
        </p:nvSpPr>
        <p:spPr>
          <a:xfrm>
            <a:off x="3019425" y="213538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69DE915-FFA2-2932-9F6F-86BCBA38D979}"/>
              </a:ext>
            </a:extLst>
          </p:cNvPr>
          <p:cNvSpPr/>
          <p:nvPr/>
        </p:nvSpPr>
        <p:spPr>
          <a:xfrm>
            <a:off x="2962275" y="1798101"/>
            <a:ext cx="3486150" cy="2707224"/>
          </a:xfrm>
          <a:custGeom>
            <a:avLst/>
            <a:gdLst>
              <a:gd name="connsiteX0" fmla="*/ 0 w 3486150"/>
              <a:gd name="connsiteY0" fmla="*/ 2707224 h 2707224"/>
              <a:gd name="connsiteX1" fmla="*/ 2390775 w 3486150"/>
              <a:gd name="connsiteY1" fmla="*/ 30699 h 2707224"/>
              <a:gd name="connsiteX2" fmla="*/ 3486150 w 3486150"/>
              <a:gd name="connsiteY2" fmla="*/ 1221324 h 270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6150" h="2707224">
                <a:moveTo>
                  <a:pt x="0" y="2707224"/>
                </a:moveTo>
                <a:cubicBezTo>
                  <a:pt x="904875" y="1492786"/>
                  <a:pt x="1809750" y="278349"/>
                  <a:pt x="2390775" y="30699"/>
                </a:cubicBezTo>
                <a:cubicBezTo>
                  <a:pt x="2971800" y="-216951"/>
                  <a:pt x="3330575" y="1111787"/>
                  <a:pt x="3486150" y="1221324"/>
                </a:cubicBezTo>
              </a:path>
            </a:pathLst>
          </a:cu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61CF65B-4083-CA65-960B-0951C21F0DB1}"/>
              </a:ext>
            </a:extLst>
          </p:cNvPr>
          <p:cNvCxnSpPr/>
          <p:nvPr/>
        </p:nvCxnSpPr>
        <p:spPr>
          <a:xfrm>
            <a:off x="2638425" y="47838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1F91D81-1220-43E6-425D-13886437BD6F}"/>
              </a:ext>
            </a:extLst>
          </p:cNvPr>
          <p:cNvCxnSpPr/>
          <p:nvPr/>
        </p:nvCxnSpPr>
        <p:spPr>
          <a:xfrm>
            <a:off x="5775100" y="476646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1A78C2D-2BD8-59BD-CE45-BC90D9F8DADD}"/>
              </a:ext>
            </a:extLst>
          </p:cNvPr>
          <p:cNvSpPr/>
          <p:nvPr/>
        </p:nvSpPr>
        <p:spPr>
          <a:xfrm>
            <a:off x="2857499" y="3959198"/>
            <a:ext cx="3066825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BE0451-44CE-978A-CE15-E844C4263E4D}"/>
              </a:ext>
            </a:extLst>
          </p:cNvPr>
          <p:cNvSpPr txBox="1"/>
          <p:nvPr/>
        </p:nvSpPr>
        <p:spPr>
          <a:xfrm>
            <a:off x="933450" y="5543550"/>
            <a:ext cx="9460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Pairs or reads: random orientations, unknown distances</a:t>
            </a:r>
          </a:p>
        </p:txBody>
      </p:sp>
    </p:spTree>
    <p:extLst>
      <p:ext uri="{BB962C8B-B14F-4D97-AF65-F5344CB8AC3E}">
        <p14:creationId xmlns:p14="http://schemas.microsoft.com/office/powerpoint/2010/main" val="475957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5653" y="184194"/>
            <a:ext cx="8603673" cy="73866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Hi-C scaffolding: why it works?</a:t>
            </a:r>
            <a:endParaRPr lang="en-US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009898-25C4-4402-990A-A393F709458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2BB783-FBE8-45FF-BD10-50F4D47E4134}"/>
              </a:ext>
            </a:extLst>
          </p:cNvPr>
          <p:cNvSpPr txBox="1"/>
          <p:nvPr/>
        </p:nvSpPr>
        <p:spPr>
          <a:xfrm>
            <a:off x="311793" y="6417864"/>
            <a:ext cx="874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Image from: https://www.bioconductor.org/packages/release/bioc/vignettes/FitHiC/inst/doc/fithic.html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2EE49B-CC02-4E4F-8285-CF7E904E8345}"/>
              </a:ext>
            </a:extLst>
          </p:cNvPr>
          <p:cNvSpPr txBox="1"/>
          <p:nvPr/>
        </p:nvSpPr>
        <p:spPr>
          <a:xfrm>
            <a:off x="3447328" y="3259335"/>
            <a:ext cx="386542" cy="3796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B9DBB-D947-4E21-90C1-F117C20BDE2C}"/>
              </a:ext>
            </a:extLst>
          </p:cNvPr>
          <p:cNvSpPr txBox="1"/>
          <p:nvPr/>
        </p:nvSpPr>
        <p:spPr>
          <a:xfrm>
            <a:off x="1514850" y="3734410"/>
            <a:ext cx="19119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37377E67-1CB6-4A77-928B-950B11FBB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62" y="1642026"/>
            <a:ext cx="6413281" cy="480996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D17F53-B12D-4C49-AF23-DD699AA578F6}"/>
              </a:ext>
            </a:extLst>
          </p:cNvPr>
          <p:cNvCxnSpPr/>
          <p:nvPr/>
        </p:nvCxnSpPr>
        <p:spPr>
          <a:xfrm>
            <a:off x="7012230" y="3887115"/>
            <a:ext cx="183246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162EB8-B4F1-4393-BF2E-BE3AE8ED34DF}"/>
              </a:ext>
            </a:extLst>
          </p:cNvPr>
          <p:cNvCxnSpPr/>
          <p:nvPr/>
        </p:nvCxnSpPr>
        <p:spPr>
          <a:xfrm>
            <a:off x="9385486" y="3881755"/>
            <a:ext cx="183246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85F8BD-71B9-4D2F-B23E-EC7D7137BE70}"/>
              </a:ext>
            </a:extLst>
          </p:cNvPr>
          <p:cNvGrpSpPr/>
          <p:nvPr/>
        </p:nvGrpSpPr>
        <p:grpSpPr>
          <a:xfrm>
            <a:off x="8539280" y="3259335"/>
            <a:ext cx="1221640" cy="622420"/>
            <a:chOff x="8539280" y="3259335"/>
            <a:chExt cx="1221640" cy="62242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BF1084-BE2C-432A-8701-CE80DEBD6245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969A158-CD01-4BFB-995A-231A3A9AC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0F5E41-EFC8-43AB-87FF-5A2B00FA70C1}"/>
              </a:ext>
            </a:extLst>
          </p:cNvPr>
          <p:cNvGrpSpPr/>
          <p:nvPr/>
        </p:nvGrpSpPr>
        <p:grpSpPr>
          <a:xfrm>
            <a:off x="8366837" y="3244724"/>
            <a:ext cx="1221640" cy="622420"/>
            <a:chOff x="8539280" y="3259335"/>
            <a:chExt cx="1221640" cy="62242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BD940DC-4211-483C-9ED4-F366B767B84A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E513302-3BDE-4868-B290-5852BD3EF1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A6CAC75-7AB5-4150-B8E8-EE050319C036}"/>
              </a:ext>
            </a:extLst>
          </p:cNvPr>
          <p:cNvGrpSpPr/>
          <p:nvPr/>
        </p:nvGrpSpPr>
        <p:grpSpPr>
          <a:xfrm>
            <a:off x="8719326" y="3244724"/>
            <a:ext cx="1221640" cy="622420"/>
            <a:chOff x="8539280" y="3259335"/>
            <a:chExt cx="1221640" cy="62242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E8626A1-6040-4D52-B229-BE651D28AD69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8FFA446-67F0-463F-8AB8-D401B0617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2D1ADF-939D-480C-8811-553EAD2DB927}"/>
              </a:ext>
            </a:extLst>
          </p:cNvPr>
          <p:cNvGrpSpPr/>
          <p:nvPr/>
        </p:nvGrpSpPr>
        <p:grpSpPr>
          <a:xfrm>
            <a:off x="8506024" y="3076396"/>
            <a:ext cx="1554086" cy="795373"/>
            <a:chOff x="8539280" y="3259335"/>
            <a:chExt cx="1221640" cy="62242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CA6352-2B3C-43AB-A24C-1C3AF3E07AF4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3E20AB4-972A-4898-8720-1F24169DB5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AAA8EC6-F119-4FE6-B11F-54A323133C77}"/>
              </a:ext>
            </a:extLst>
          </p:cNvPr>
          <p:cNvGrpSpPr/>
          <p:nvPr/>
        </p:nvGrpSpPr>
        <p:grpSpPr>
          <a:xfrm>
            <a:off x="8258404" y="3087607"/>
            <a:ext cx="1554086" cy="795373"/>
            <a:chOff x="8539280" y="3259335"/>
            <a:chExt cx="1221640" cy="62242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733B166-1458-449B-BE18-4789098A4626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BEAB9B-72FA-4AE8-8E0D-BFD68CD37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F16FEF-6F3E-416D-A071-7990823796E9}"/>
              </a:ext>
            </a:extLst>
          </p:cNvPr>
          <p:cNvGrpSpPr/>
          <p:nvPr/>
        </p:nvGrpSpPr>
        <p:grpSpPr>
          <a:xfrm>
            <a:off x="8008075" y="2769492"/>
            <a:ext cx="2284050" cy="1116398"/>
            <a:chOff x="8539280" y="3259335"/>
            <a:chExt cx="1221640" cy="62242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2B9FA1F-BB5C-436F-9AA9-8E819EA2652C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0E5748-AD29-4780-8C6A-76195A9A4D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CAC719-3A3E-4E70-BE5A-CBB8DF480BDA}"/>
              </a:ext>
            </a:extLst>
          </p:cNvPr>
          <p:cNvGrpSpPr/>
          <p:nvPr/>
        </p:nvGrpSpPr>
        <p:grpSpPr>
          <a:xfrm>
            <a:off x="7435718" y="2070280"/>
            <a:ext cx="3178035" cy="1818060"/>
            <a:chOff x="8539280" y="3259335"/>
            <a:chExt cx="1221640" cy="62242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5B9AFF6-3994-4D0F-81B1-9D9CD451B168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26946F0-8C8E-42F5-881C-A2D087A92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738D43D-D296-4754-968C-E615B9CDC50C}"/>
              </a:ext>
            </a:extLst>
          </p:cNvPr>
          <p:cNvGrpSpPr/>
          <p:nvPr/>
        </p:nvGrpSpPr>
        <p:grpSpPr>
          <a:xfrm>
            <a:off x="7111317" y="1509816"/>
            <a:ext cx="4077565" cy="2371939"/>
            <a:chOff x="8539280" y="3259335"/>
            <a:chExt cx="1221640" cy="62242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D6316BB-5440-4030-95BF-0E8AB906D754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8B70D8C-24EB-46A1-9C0E-C37C0EAFD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8AAC67-5B47-4A87-B8BB-F9D7C266E290}"/>
              </a:ext>
            </a:extLst>
          </p:cNvPr>
          <p:cNvGrpSpPr/>
          <p:nvPr/>
        </p:nvGrpSpPr>
        <p:grpSpPr>
          <a:xfrm>
            <a:off x="7839122" y="2512769"/>
            <a:ext cx="2586945" cy="1352249"/>
            <a:chOff x="8539280" y="3259335"/>
            <a:chExt cx="1221640" cy="62242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2176C3B-2A95-4DA1-88C0-58AE46F204C3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C09D7FE-3E74-48BD-8FD9-50200B995E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618F277-4F7D-4111-BD0E-074E6753928C}"/>
              </a:ext>
            </a:extLst>
          </p:cNvPr>
          <p:cNvSpPr txBox="1"/>
          <p:nvPr/>
        </p:nvSpPr>
        <p:spPr>
          <a:xfrm>
            <a:off x="7367238" y="3978862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808572-E4AF-4C33-B308-A116F2489D83}"/>
              </a:ext>
            </a:extLst>
          </p:cNvPr>
          <p:cNvSpPr txBox="1"/>
          <p:nvPr/>
        </p:nvSpPr>
        <p:spPr>
          <a:xfrm>
            <a:off x="9931037" y="3975898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2E3CA7-5718-4242-93F6-EE75E77E1B80}"/>
              </a:ext>
            </a:extLst>
          </p:cNvPr>
          <p:cNvSpPr txBox="1"/>
          <p:nvPr/>
        </p:nvSpPr>
        <p:spPr>
          <a:xfrm>
            <a:off x="7111317" y="4660300"/>
            <a:ext cx="4429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Many contacts (links) == nearby</a:t>
            </a:r>
          </a:p>
          <a:p>
            <a:r>
              <a:rPr lang="en-US" sz="2400"/>
              <a:t>Few contacts (links) == far away</a:t>
            </a:r>
          </a:p>
        </p:txBody>
      </p:sp>
    </p:spTree>
    <p:extLst>
      <p:ext uri="{BB962C8B-B14F-4D97-AF65-F5344CB8AC3E}">
        <p14:creationId xmlns:p14="http://schemas.microsoft.com/office/powerpoint/2010/main" val="56999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9" grpId="0"/>
      <p:bldP spid="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4351-1D84-8FA0-C679-419D9BF63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Sequencing: what could go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3E49-D3AF-F20C-223B-366A79C1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PacBio vs Illumina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C42FD-9E3B-6183-2948-3CDEFC8B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12B16-FAF4-3296-AE5B-D7B1610DE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2" y="2100077"/>
            <a:ext cx="5715798" cy="2657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EFE816-D97E-B7E7-BB46-3E2307D3D9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7" t="26" r="-397" b="49296"/>
          <a:stretch>
            <a:fillRect/>
          </a:stretch>
        </p:blipFill>
        <p:spPr>
          <a:xfrm>
            <a:off x="5782223" y="1470772"/>
            <a:ext cx="6044867" cy="32871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0E4B9F-5C67-9462-144C-FA96CA83801F}"/>
              </a:ext>
            </a:extLst>
          </p:cNvPr>
          <p:cNvSpPr txBox="1"/>
          <p:nvPr/>
        </p:nvSpPr>
        <p:spPr>
          <a:xfrm>
            <a:off x="5838910" y="5598931"/>
            <a:ext cx="5838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Human assembly vs K-</a:t>
            </a:r>
            <a:r>
              <a:rPr lang="en-US" dirty="0" err="1"/>
              <a:t>mers</a:t>
            </a:r>
            <a:r>
              <a:rPr lang="en-US" dirty="0"/>
              <a:t> in Illumina and PacBio HiFi reads</a:t>
            </a:r>
          </a:p>
        </p:txBody>
      </p:sp>
    </p:spTree>
    <p:extLst>
      <p:ext uri="{BB962C8B-B14F-4D97-AF65-F5344CB8AC3E}">
        <p14:creationId xmlns:p14="http://schemas.microsoft.com/office/powerpoint/2010/main" val="377128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4034-77D8-022E-B2A3-D14410BC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the right sequencing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50D82-A995-BF41-1C15-0A803F5DE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6560"/>
          </a:xfrm>
        </p:spPr>
        <p:txBody>
          <a:bodyPr>
            <a:normAutofit/>
          </a:bodyPr>
          <a:lstStyle/>
          <a:p>
            <a:r>
              <a:rPr lang="en-US" dirty="0"/>
              <a:t>The right sequencing strategy depends on your budget and availability of sequencing services</a:t>
            </a:r>
          </a:p>
          <a:p>
            <a:r>
              <a:rPr lang="en-US" dirty="0"/>
              <a:t>The simplest strategy: get 30-40x genome coverage with PacBio HiFi reads</a:t>
            </a:r>
          </a:p>
          <a:p>
            <a:r>
              <a:rPr lang="en-US" dirty="0"/>
              <a:t>Alternative strategy: get 30-40x genome coverage with Oxford Nanopore reads + 30-50x coverage with Illumina reads</a:t>
            </a:r>
          </a:p>
          <a:p>
            <a:pPr lvl="1"/>
            <a:r>
              <a:rPr lang="en-US" dirty="0"/>
              <a:t>Perform hybrid assembly (correct ONT with Illumina first)</a:t>
            </a:r>
          </a:p>
          <a:p>
            <a:pPr lvl="1"/>
            <a:r>
              <a:rPr lang="en-US" dirty="0"/>
              <a:t>Assemble ONT reads and then correct assembly with Illumina</a:t>
            </a:r>
          </a:p>
          <a:p>
            <a:r>
              <a:rPr lang="en-US" dirty="0"/>
              <a:t>For chromosome-sized scaffolds you may need ONT </a:t>
            </a:r>
            <a:r>
              <a:rPr lang="en-US" dirty="0" err="1"/>
              <a:t>Ultralongs</a:t>
            </a:r>
            <a:r>
              <a:rPr lang="en-US" dirty="0"/>
              <a:t> or Hi-C 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2988-3176-633E-3FFF-D38CBE6F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4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0DFB-D256-E157-4073-248A5BE2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1EAC-C3B9-51FD-3047-F3648FE70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Contigs </a:t>
            </a:r>
            <a:r>
              <a:rPr lang="en-US" dirty="0"/>
              <a:t>are contiguous genome sequences where all letters are known</a:t>
            </a:r>
          </a:p>
          <a:p>
            <a:endParaRPr lang="en-US" dirty="0"/>
          </a:p>
          <a:p>
            <a:r>
              <a:rPr lang="en-US" i="1" dirty="0"/>
              <a:t>Scaffolds </a:t>
            </a:r>
            <a:r>
              <a:rPr lang="en-US" dirty="0"/>
              <a:t>are ordered and oriented sets of contigs, gaps between contigs are of estimated size or set to a default value</a:t>
            </a:r>
          </a:p>
          <a:p>
            <a:endParaRPr lang="en-US" dirty="0"/>
          </a:p>
          <a:p>
            <a:r>
              <a:rPr lang="en-US" i="1" dirty="0"/>
              <a:t>Super-scaffolds </a:t>
            </a:r>
            <a:r>
              <a:rPr lang="en-US" dirty="0"/>
              <a:t>or </a:t>
            </a:r>
            <a:r>
              <a:rPr lang="en-US" i="1" dirty="0"/>
              <a:t>pseudo-chromosomes</a:t>
            </a:r>
            <a:r>
              <a:rPr lang="en-US" dirty="0"/>
              <a:t> are ordered and mostly oriented sets of scaffolds, gaps between scaffolds are typically not estimated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FD4D-A828-0054-F7AB-9728B63F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22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74C5-4740-5855-AFB7-26CACFB9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Genome assembly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ECEFF-3BE4-B738-C1C4-E54F4109A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Contig assembly uses reads:</a:t>
            </a:r>
          </a:p>
          <a:p>
            <a:pPr lvl="1"/>
            <a:r>
              <a:rPr lang="en-US" dirty="0"/>
              <a:t>Overlap Graph</a:t>
            </a:r>
          </a:p>
          <a:p>
            <a:pPr lvl="2"/>
            <a:r>
              <a:rPr lang="en-US" dirty="0"/>
              <a:t>String graph</a:t>
            </a:r>
          </a:p>
          <a:p>
            <a:pPr lvl="1"/>
            <a:r>
              <a:rPr lang="en-US" dirty="0"/>
              <a:t>K-mer (or DeBruijn) graph</a:t>
            </a:r>
          </a:p>
          <a:p>
            <a:endParaRPr lang="en-US" dirty="0"/>
          </a:p>
          <a:p>
            <a:r>
              <a:rPr lang="en-US" dirty="0"/>
              <a:t>Scaffolding/super-scaffolding uses </a:t>
            </a:r>
          </a:p>
          <a:p>
            <a:pPr lvl="1"/>
            <a:r>
              <a:rPr lang="en-US" dirty="0"/>
              <a:t>Long reads or</a:t>
            </a:r>
          </a:p>
          <a:p>
            <a:pPr lvl="1"/>
            <a:r>
              <a:rPr lang="en-US" dirty="0"/>
              <a:t>Oriented or unoriented pairs of reads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D3369-4AB9-A4C6-6FB0-86C08D5F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81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D977-6EE8-9D89-B3CF-756386D5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Overlap-Layout-Consensus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5A9EB-82AE-BB09-E9ED-90F86F12A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675535"/>
            <a:ext cx="10972800" cy="1641014"/>
          </a:xfrm>
        </p:spPr>
        <p:txBody>
          <a:bodyPr>
            <a:normAutofit fontScale="92500"/>
          </a:bodyPr>
          <a:lstStyle/>
          <a:p>
            <a:r>
              <a:rPr lang="en-US" dirty="0"/>
              <a:t>Overlap – compute overlaps between reads based on sequence alignments</a:t>
            </a:r>
          </a:p>
          <a:p>
            <a:r>
              <a:rPr lang="en-US" dirty="0"/>
              <a:t>Layout – assemble overlapping reads (greedy or string graph)</a:t>
            </a:r>
          </a:p>
          <a:p>
            <a:r>
              <a:rPr lang="en-US" dirty="0"/>
              <a:t>Consensus – generate contig sequences, by majority vote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78F64-ED1E-2680-64C7-C2BBA56F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35770-7805-C415-05BF-3CEB5066A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30" y="3230597"/>
            <a:ext cx="9469171" cy="36771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F4ED00-9BC0-3ACF-C7D1-E05150A5391D}"/>
              </a:ext>
            </a:extLst>
          </p:cNvPr>
          <p:cNvSpPr/>
          <p:nvPr/>
        </p:nvSpPr>
        <p:spPr>
          <a:xfrm>
            <a:off x="904030" y="3581705"/>
            <a:ext cx="763525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A21602-2F0D-7CC9-7E91-0D74D52C85B3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C91C7-C900-0B04-5E1F-796CAE63A6CB}"/>
              </a:ext>
            </a:extLst>
          </p:cNvPr>
          <p:cNvSpPr txBox="1"/>
          <p:nvPr/>
        </p:nvSpPr>
        <p:spPr>
          <a:xfrm>
            <a:off x="8831976" y="6368011"/>
            <a:ext cx="225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Chaisson et al., (2015)</a:t>
            </a:r>
          </a:p>
        </p:txBody>
      </p:sp>
    </p:spTree>
    <p:extLst>
      <p:ext uri="{BB962C8B-B14F-4D97-AF65-F5344CB8AC3E}">
        <p14:creationId xmlns:p14="http://schemas.microsoft.com/office/powerpoint/2010/main" val="4233309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3191-A07C-EC5B-F575-CC060CA5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D492-2FE1-A6AC-961C-BCBC64609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overlap is an pseudo-alignment between a pair of reads</a:t>
            </a:r>
          </a:p>
          <a:p>
            <a:r>
              <a:rPr lang="en-US" dirty="0"/>
              <a:t>Can be Inverse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59195-EE07-4E46-90B8-9D8E5D79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7017AB-5EC6-1E4F-1A8D-9C2FA57012F4}"/>
              </a:ext>
            </a:extLst>
          </p:cNvPr>
          <p:cNvCxnSpPr/>
          <p:nvPr/>
        </p:nvCxnSpPr>
        <p:spPr>
          <a:xfrm>
            <a:off x="378373" y="2908738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BD1851-8193-CECF-02AA-EDAB445A061F}"/>
              </a:ext>
            </a:extLst>
          </p:cNvPr>
          <p:cNvCxnSpPr>
            <a:cxnSpLocks/>
          </p:cNvCxnSpPr>
          <p:nvPr/>
        </p:nvCxnSpPr>
        <p:spPr>
          <a:xfrm flipH="1">
            <a:off x="1807780" y="3171497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B20BA8-89DC-2FA9-DD96-73C94D3E7111}"/>
              </a:ext>
            </a:extLst>
          </p:cNvPr>
          <p:cNvCxnSpPr>
            <a:cxnSpLocks/>
          </p:cNvCxnSpPr>
          <p:nvPr/>
        </p:nvCxnSpPr>
        <p:spPr>
          <a:xfrm>
            <a:off x="2099441" y="4866289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2EC32D-4522-04C2-C308-586B517FF026}"/>
              </a:ext>
            </a:extLst>
          </p:cNvPr>
          <p:cNvCxnSpPr>
            <a:cxnSpLocks/>
          </p:cNvCxnSpPr>
          <p:nvPr/>
        </p:nvCxnSpPr>
        <p:spPr>
          <a:xfrm>
            <a:off x="3297620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6031B4-C203-FA5B-66A8-22F123A6F5CD}"/>
              </a:ext>
            </a:extLst>
          </p:cNvPr>
          <p:cNvCxnSpPr/>
          <p:nvPr/>
        </p:nvCxnSpPr>
        <p:spPr>
          <a:xfrm>
            <a:off x="5985640" y="2956035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5E5FC3-CE84-E716-9309-86B9F0CF7B93}"/>
              </a:ext>
            </a:extLst>
          </p:cNvPr>
          <p:cNvCxnSpPr>
            <a:cxnSpLocks/>
          </p:cNvCxnSpPr>
          <p:nvPr/>
        </p:nvCxnSpPr>
        <p:spPr>
          <a:xfrm flipH="1">
            <a:off x="4876799" y="3234559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4314DC-4970-22B2-A093-84B6AC5E0EC7}"/>
              </a:ext>
            </a:extLst>
          </p:cNvPr>
          <p:cNvCxnSpPr>
            <a:cxnSpLocks/>
          </p:cNvCxnSpPr>
          <p:nvPr/>
        </p:nvCxnSpPr>
        <p:spPr>
          <a:xfrm>
            <a:off x="9637985" y="3029607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3E55E4-5C78-5204-9D40-3C621F55581D}"/>
              </a:ext>
            </a:extLst>
          </p:cNvPr>
          <p:cNvCxnSpPr>
            <a:cxnSpLocks/>
          </p:cNvCxnSpPr>
          <p:nvPr/>
        </p:nvCxnSpPr>
        <p:spPr>
          <a:xfrm flipH="1">
            <a:off x="10050517" y="3308131"/>
            <a:ext cx="10457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6468BC-ECFC-E53C-59CF-1F58AF9A525B}"/>
              </a:ext>
            </a:extLst>
          </p:cNvPr>
          <p:cNvCxnSpPr>
            <a:cxnSpLocks/>
          </p:cNvCxnSpPr>
          <p:nvPr/>
        </p:nvCxnSpPr>
        <p:spPr>
          <a:xfrm>
            <a:off x="7039303" y="4866289"/>
            <a:ext cx="903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3E0C2-E495-D153-9E95-8139BAF3072A}"/>
              </a:ext>
            </a:extLst>
          </p:cNvPr>
          <p:cNvCxnSpPr>
            <a:cxnSpLocks/>
          </p:cNvCxnSpPr>
          <p:nvPr/>
        </p:nvCxnSpPr>
        <p:spPr>
          <a:xfrm>
            <a:off x="6674069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22675B-1F0B-B331-7B00-D8610ED78BA7}"/>
              </a:ext>
            </a:extLst>
          </p:cNvPr>
          <p:cNvCxnSpPr>
            <a:cxnSpLocks/>
          </p:cNvCxnSpPr>
          <p:nvPr/>
        </p:nvCxnSpPr>
        <p:spPr>
          <a:xfrm>
            <a:off x="9595944" y="4866289"/>
            <a:ext cx="2125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7D687A-A8FC-01A6-C7AD-FCD0E5728CE6}"/>
              </a:ext>
            </a:extLst>
          </p:cNvPr>
          <p:cNvCxnSpPr>
            <a:cxnSpLocks/>
          </p:cNvCxnSpPr>
          <p:nvPr/>
        </p:nvCxnSpPr>
        <p:spPr>
          <a:xfrm>
            <a:off x="9230710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985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4351-D258-4CF9-35DC-5DA336A3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D301-9933-1BFC-2F12-01360FC1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Recording an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7178-2F3B-D5F4-6B76-9838F78AB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first read, it is always forward, it specifies the coordinate system</a:t>
            </a:r>
          </a:p>
          <a:p>
            <a:r>
              <a:rPr lang="en-US" dirty="0"/>
              <a:t>Record </a:t>
            </a:r>
            <a:r>
              <a:rPr lang="en-US" u="sng" dirty="0"/>
              <a:t>orientation</a:t>
            </a:r>
          </a:p>
          <a:p>
            <a:r>
              <a:rPr lang="en-US" dirty="0"/>
              <a:t>Record </a:t>
            </a:r>
            <a:r>
              <a:rPr lang="en-US" u="sng" dirty="0"/>
              <a:t>overhangs</a:t>
            </a:r>
            <a:r>
              <a:rPr lang="en-US" dirty="0"/>
              <a:t> (A and B), read ends are coordinate starts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E6EB0-4E1D-273C-16E7-058A36AB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B38C69-BBAE-05A9-A115-558E236B2145}"/>
              </a:ext>
            </a:extLst>
          </p:cNvPr>
          <p:cNvCxnSpPr/>
          <p:nvPr/>
        </p:nvCxnSpPr>
        <p:spPr>
          <a:xfrm>
            <a:off x="3074276" y="4242807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F163AE-A04D-1CD0-30F3-A661E8686FAD}"/>
              </a:ext>
            </a:extLst>
          </p:cNvPr>
          <p:cNvCxnSpPr>
            <a:cxnSpLocks/>
          </p:cNvCxnSpPr>
          <p:nvPr/>
        </p:nvCxnSpPr>
        <p:spPr>
          <a:xfrm flipH="1">
            <a:off x="4503683" y="4505566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795DB698-3479-DFFD-D99D-47A81260FEF3}"/>
              </a:ext>
            </a:extLst>
          </p:cNvPr>
          <p:cNvSpPr/>
          <p:nvPr/>
        </p:nvSpPr>
        <p:spPr>
          <a:xfrm rot="5400000">
            <a:off x="3690444" y="3379189"/>
            <a:ext cx="197069" cy="1429407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65E85D0-DEC2-786D-FA75-D5F821F31C93}"/>
              </a:ext>
            </a:extLst>
          </p:cNvPr>
          <p:cNvSpPr/>
          <p:nvPr/>
        </p:nvSpPr>
        <p:spPr>
          <a:xfrm rot="5400000">
            <a:off x="6207671" y="3381358"/>
            <a:ext cx="197069" cy="152925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36052-A551-7EF7-84A8-2EDADC965467}"/>
              </a:ext>
            </a:extLst>
          </p:cNvPr>
          <p:cNvSpPr txBox="1"/>
          <p:nvPr/>
        </p:nvSpPr>
        <p:spPr>
          <a:xfrm>
            <a:off x="3154060" y="3610717"/>
            <a:ext cx="2144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A-overhang(positive)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D4321-B0F3-F90E-945D-400709536CE9}"/>
              </a:ext>
            </a:extLst>
          </p:cNvPr>
          <p:cNvSpPr txBox="1"/>
          <p:nvPr/>
        </p:nvSpPr>
        <p:spPr>
          <a:xfrm>
            <a:off x="5671287" y="3607633"/>
            <a:ext cx="218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(positive)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CC363E-C49C-325B-38EE-7BA5C27A7B5C}"/>
              </a:ext>
            </a:extLst>
          </p:cNvPr>
          <p:cNvCxnSpPr/>
          <p:nvPr/>
        </p:nvCxnSpPr>
        <p:spPr>
          <a:xfrm>
            <a:off x="1988444" y="5574996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6AAC9F-6034-4999-E659-6DE58B87E04E}"/>
              </a:ext>
            </a:extLst>
          </p:cNvPr>
          <p:cNvCxnSpPr>
            <a:cxnSpLocks/>
          </p:cNvCxnSpPr>
          <p:nvPr/>
        </p:nvCxnSpPr>
        <p:spPr>
          <a:xfrm>
            <a:off x="1313154" y="5774693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781BEAAC-98B5-D6E1-E6EF-5B361C493C36}"/>
              </a:ext>
            </a:extLst>
          </p:cNvPr>
          <p:cNvSpPr/>
          <p:nvPr/>
        </p:nvSpPr>
        <p:spPr>
          <a:xfrm rot="5400000">
            <a:off x="1552264" y="5079384"/>
            <a:ext cx="197069" cy="67528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E359F35C-C5E5-1A62-F1C9-DF13B5514B43}"/>
              </a:ext>
            </a:extLst>
          </p:cNvPr>
          <p:cNvSpPr/>
          <p:nvPr/>
        </p:nvSpPr>
        <p:spPr>
          <a:xfrm rot="5400000">
            <a:off x="4069490" y="5126175"/>
            <a:ext cx="197069" cy="57543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B5B8F-364D-CC32-9CB5-FA9246DB45AD}"/>
              </a:ext>
            </a:extLst>
          </p:cNvPr>
          <p:cNvSpPr txBox="1"/>
          <p:nvPr/>
        </p:nvSpPr>
        <p:spPr>
          <a:xfrm>
            <a:off x="680863" y="4884360"/>
            <a:ext cx="22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A-overhang(negative)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94879-675F-CAC9-B846-7FEE66F53A2F}"/>
              </a:ext>
            </a:extLst>
          </p:cNvPr>
          <p:cNvSpPr txBox="1"/>
          <p:nvPr/>
        </p:nvSpPr>
        <p:spPr>
          <a:xfrm>
            <a:off x="3417850" y="4892128"/>
            <a:ext cx="2253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(negative)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51BA27-2ACC-55E2-BAD3-309615A30880}"/>
              </a:ext>
            </a:extLst>
          </p:cNvPr>
          <p:cNvCxnSpPr/>
          <p:nvPr/>
        </p:nvCxnSpPr>
        <p:spPr>
          <a:xfrm>
            <a:off x="7507302" y="5587274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1F82ED-B5C2-B6D7-26FD-F7F92388773D}"/>
              </a:ext>
            </a:extLst>
          </p:cNvPr>
          <p:cNvCxnSpPr>
            <a:cxnSpLocks/>
          </p:cNvCxnSpPr>
          <p:nvPr/>
        </p:nvCxnSpPr>
        <p:spPr>
          <a:xfrm flipH="1">
            <a:off x="6832013" y="5897329"/>
            <a:ext cx="4022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341017AA-2D89-A69A-B1A8-6947562B11E5}"/>
              </a:ext>
            </a:extLst>
          </p:cNvPr>
          <p:cNvSpPr/>
          <p:nvPr/>
        </p:nvSpPr>
        <p:spPr>
          <a:xfrm rot="5400000">
            <a:off x="7071122" y="5091662"/>
            <a:ext cx="197069" cy="67528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21EA76-D682-65FE-61F1-ECC0A95D1D62}"/>
              </a:ext>
            </a:extLst>
          </p:cNvPr>
          <p:cNvSpPr txBox="1"/>
          <p:nvPr/>
        </p:nvSpPr>
        <p:spPr>
          <a:xfrm>
            <a:off x="6199721" y="4896638"/>
            <a:ext cx="22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A-overhang(negative)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CE81BC-2865-95EC-508A-F5F36E5C4114}"/>
              </a:ext>
            </a:extLst>
          </p:cNvPr>
          <p:cNvSpPr txBox="1"/>
          <p:nvPr/>
        </p:nvSpPr>
        <p:spPr>
          <a:xfrm>
            <a:off x="8936708" y="4904406"/>
            <a:ext cx="218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(positive)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4545E020-CC9B-60F1-60DC-15D4F96A4541}"/>
              </a:ext>
            </a:extLst>
          </p:cNvPr>
          <p:cNvSpPr/>
          <p:nvPr/>
        </p:nvSpPr>
        <p:spPr>
          <a:xfrm rot="5400000">
            <a:off x="10316047" y="4989332"/>
            <a:ext cx="197070" cy="879951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56B8B6-8083-272C-69C6-95B42E77FCD8}"/>
              </a:ext>
            </a:extLst>
          </p:cNvPr>
          <p:cNvSpPr txBox="1"/>
          <p:nvPr/>
        </p:nvSpPr>
        <p:spPr>
          <a:xfrm>
            <a:off x="7809989" y="6082150"/>
            <a:ext cx="190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Contained overlap</a:t>
            </a:r>
          </a:p>
        </p:txBody>
      </p:sp>
    </p:spTree>
    <p:extLst>
      <p:ext uri="{BB962C8B-B14F-4D97-AF65-F5344CB8AC3E}">
        <p14:creationId xmlns:p14="http://schemas.microsoft.com/office/powerpoint/2010/main" val="1571147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D909-1F99-FD81-A120-C8C3FB94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 is not an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B2DB-C45E-AFC1-1EB0-F2CEEFD28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there are indels, you can choose the longest stretch without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Record R1, R2, orientation, A-hang, B-hang, overlap length or quality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913B6-EBF2-F542-E2A1-77C724A1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A95E3-2CA3-8460-1781-6C168D343E60}"/>
              </a:ext>
            </a:extLst>
          </p:cNvPr>
          <p:cNvSpPr txBox="1"/>
          <p:nvPr/>
        </p:nvSpPr>
        <p:spPr>
          <a:xfrm>
            <a:off x="1763768" y="2215083"/>
            <a:ext cx="6710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4B9E8-7C78-FAD0-98F5-363EF468A770}"/>
              </a:ext>
            </a:extLst>
          </p:cNvPr>
          <p:cNvSpPr txBox="1"/>
          <p:nvPr/>
        </p:nvSpPr>
        <p:spPr>
          <a:xfrm>
            <a:off x="1763768" y="2958752"/>
            <a:ext cx="6710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8DA62-C26B-87C9-BC56-7247E1A030D8}"/>
              </a:ext>
            </a:extLst>
          </p:cNvPr>
          <p:cNvSpPr/>
          <p:nvPr/>
        </p:nvSpPr>
        <p:spPr>
          <a:xfrm>
            <a:off x="2128344" y="3021391"/>
            <a:ext cx="1623848" cy="5345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74FA7B-4E76-0D79-AC58-BCD016257757}"/>
              </a:ext>
            </a:extLst>
          </p:cNvPr>
          <p:cNvSpPr/>
          <p:nvPr/>
        </p:nvSpPr>
        <p:spPr>
          <a:xfrm>
            <a:off x="3752192" y="2270973"/>
            <a:ext cx="1941786" cy="5345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672CF-467D-508A-E129-8125277AA5AF}"/>
              </a:ext>
            </a:extLst>
          </p:cNvPr>
          <p:cNvSpPr txBox="1"/>
          <p:nvPr/>
        </p:nvSpPr>
        <p:spPr>
          <a:xfrm>
            <a:off x="1729612" y="4237047"/>
            <a:ext cx="671019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R1(+): 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R2(-):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/>
              <a:t>Overlap: </a:t>
            </a:r>
          </a:p>
          <a:p>
            <a:r>
              <a:rPr lang="en-US" sz="2800" b="1" dirty="0"/>
              <a:t>R1 R2 – 1 5 27 or</a:t>
            </a:r>
          </a:p>
          <a:p>
            <a:r>
              <a:rPr lang="en-US" sz="2800" b="1" dirty="0"/>
              <a:t>R1 R2 – 2 5 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5F16AD-1890-4D7E-8B80-3C06FB189F27}"/>
              </a:ext>
            </a:extLst>
          </p:cNvPr>
          <p:cNvSpPr/>
          <p:nvPr/>
        </p:nvSpPr>
        <p:spPr>
          <a:xfrm>
            <a:off x="2906162" y="4544840"/>
            <a:ext cx="3705416" cy="28264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982319-37F9-4278-9C6B-0F9CD90353ED}"/>
              </a:ext>
            </a:extLst>
          </p:cNvPr>
          <p:cNvSpPr/>
          <p:nvPr/>
        </p:nvSpPr>
        <p:spPr>
          <a:xfrm>
            <a:off x="3040455" y="4250102"/>
            <a:ext cx="3571123" cy="28264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4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12406</TotalTime>
  <Words>1399</Words>
  <Application>Microsoft Office PowerPoint</Application>
  <PresentationFormat>Widescreen</PresentationFormat>
  <Paragraphs>192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Courier New</vt:lpstr>
      <vt:lpstr>Trebuchet MS</vt:lpstr>
      <vt:lpstr>Office Theme</vt:lpstr>
      <vt:lpstr>PowerPoint Presentation</vt:lpstr>
      <vt:lpstr>Overview</vt:lpstr>
      <vt:lpstr>Sequencing technologes: Illumina</vt:lpstr>
      <vt:lpstr>Sequencing technologes: Illumina</vt:lpstr>
      <vt:lpstr>Sequencing: GC bias</vt:lpstr>
      <vt:lpstr>Sequencing technologies:  PacBio CLR/HiFi</vt:lpstr>
      <vt:lpstr>Sequencing technologies:  PacBio CLR/HiFi</vt:lpstr>
      <vt:lpstr>Sequencing technologies:  PacBio CLR/HiFi</vt:lpstr>
      <vt:lpstr>Sequencing technologies:  PacBio CLR/HiFi</vt:lpstr>
      <vt:lpstr>Sequencing technologies: Oxford Nanopore</vt:lpstr>
      <vt:lpstr>Sequencing technologies: Oxford Nanopore</vt:lpstr>
      <vt:lpstr>Dealing with errors in the reads</vt:lpstr>
      <vt:lpstr>Types of sequencing reads</vt:lpstr>
      <vt:lpstr>Types of sequencing reads</vt:lpstr>
      <vt:lpstr>Types of sequencing reads</vt:lpstr>
      <vt:lpstr>Types of sequencing reads</vt:lpstr>
      <vt:lpstr>Types of sequencing reads</vt:lpstr>
      <vt:lpstr>Types of sequencing reads</vt:lpstr>
      <vt:lpstr>What kind of data do you get?</vt:lpstr>
      <vt:lpstr>Hi-C scaffolding: why it works?</vt:lpstr>
      <vt:lpstr>Sequencing: what could go wrong</vt:lpstr>
      <vt:lpstr>Choosing the right sequencing strategy</vt:lpstr>
      <vt:lpstr>Assembly levels</vt:lpstr>
      <vt:lpstr>Genome assembly strategies</vt:lpstr>
      <vt:lpstr>Overlap-Layout-Consensus</vt:lpstr>
      <vt:lpstr>Overlap</vt:lpstr>
      <vt:lpstr>Recording an overlap</vt:lpstr>
      <vt:lpstr>Overlap is not an alignment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Alexey Zimin</cp:lastModifiedBy>
  <cp:revision>38</cp:revision>
  <dcterms:created xsi:type="dcterms:W3CDTF">2013-08-21T19:17:07Z</dcterms:created>
  <dcterms:modified xsi:type="dcterms:W3CDTF">2026-09-25T18:36:43Z</dcterms:modified>
</cp:coreProperties>
</file>