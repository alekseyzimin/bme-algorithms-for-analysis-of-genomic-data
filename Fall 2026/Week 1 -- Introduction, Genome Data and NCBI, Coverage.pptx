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72" r:id="rId2"/>
    <p:sldId id="470" r:id="rId3"/>
    <p:sldId id="449" r:id="rId4"/>
    <p:sldId id="450" r:id="rId5"/>
    <p:sldId id="452" r:id="rId6"/>
    <p:sldId id="451" r:id="rId7"/>
    <p:sldId id="453" r:id="rId8"/>
    <p:sldId id="454" r:id="rId9"/>
    <p:sldId id="471" r:id="rId10"/>
    <p:sldId id="472" r:id="rId11"/>
    <p:sldId id="485" r:id="rId12"/>
    <p:sldId id="456" r:id="rId13"/>
    <p:sldId id="455" r:id="rId14"/>
    <p:sldId id="457" r:id="rId15"/>
    <p:sldId id="469" r:id="rId16"/>
    <p:sldId id="458" r:id="rId17"/>
    <p:sldId id="484" r:id="rId18"/>
    <p:sldId id="459" r:id="rId19"/>
    <p:sldId id="460" r:id="rId20"/>
    <p:sldId id="415" r:id="rId21"/>
    <p:sldId id="416" r:id="rId22"/>
    <p:sldId id="269" r:id="rId23"/>
    <p:sldId id="482" r:id="rId24"/>
    <p:sldId id="483" r:id="rId25"/>
    <p:sldId id="461" r:id="rId26"/>
    <p:sldId id="281" r:id="rId27"/>
    <p:sldId id="282" r:id="rId28"/>
    <p:sldId id="462" r:id="rId29"/>
    <p:sldId id="474" r:id="rId30"/>
    <p:sldId id="280" r:id="rId31"/>
    <p:sldId id="279" r:id="rId32"/>
    <p:sldId id="263" r:id="rId33"/>
    <p:sldId id="475" r:id="rId34"/>
    <p:sldId id="463" r:id="rId35"/>
    <p:sldId id="473" r:id="rId36"/>
    <p:sldId id="264" r:id="rId37"/>
    <p:sldId id="486" r:id="rId38"/>
    <p:sldId id="464" r:id="rId39"/>
    <p:sldId id="258" r:id="rId40"/>
    <p:sldId id="261" r:id="rId41"/>
    <p:sldId id="285" r:id="rId42"/>
    <p:sldId id="262" r:id="rId43"/>
    <p:sldId id="465" r:id="rId44"/>
    <p:sldId id="466" r:id="rId45"/>
    <p:sldId id="286" r:id="rId46"/>
    <p:sldId id="265" r:id="rId47"/>
    <p:sldId id="287" r:id="rId48"/>
    <p:sldId id="288" r:id="rId49"/>
    <p:sldId id="289" r:id="rId50"/>
    <p:sldId id="260" r:id="rId51"/>
    <p:sldId id="270" r:id="rId52"/>
    <p:sldId id="271" r:id="rId53"/>
    <p:sldId id="273" r:id="rId54"/>
    <p:sldId id="290" r:id="rId55"/>
    <p:sldId id="487" r:id="rId56"/>
    <p:sldId id="468" r:id="rId57"/>
    <p:sldId id="490" r:id="rId58"/>
    <p:sldId id="491" r:id="rId59"/>
    <p:sldId id="492" r:id="rId60"/>
    <p:sldId id="493" r:id="rId61"/>
    <p:sldId id="494" r:id="rId62"/>
    <p:sldId id="495" r:id="rId63"/>
    <p:sldId id="496" r:id="rId64"/>
    <p:sldId id="497"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ED78FD-0555-494C-BAD6-4C65CAA15F88}" v="14" dt="2026-09-04T13:36:02.9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68" autoAdjust="0"/>
    <p:restoredTop sz="93721" autoAdjust="0"/>
  </p:normalViewPr>
  <p:slideViewPr>
    <p:cSldViewPr>
      <p:cViewPr varScale="1">
        <p:scale>
          <a:sx n="104" d="100"/>
          <a:sy n="104" d="100"/>
        </p:scale>
        <p:origin x="882" y="96"/>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undo custSel addSld delSld modSld">
      <pc:chgData name="Aleksey Zimin" userId="7f2637d0bc515791" providerId="LiveId" clId="{5F359FD6-B8E9-41DA-90EC-0BA4FD0F3073}" dt="2026-09-04T13:36:02.900" v="1288" actId="20577"/>
      <pc:docMkLst>
        <pc:docMk/>
      </pc:docMkLst>
      <pc:sldChg chg="del">
        <pc:chgData name="Aleksey Zimin" userId="7f2637d0bc515791" providerId="LiveId" clId="{5F359FD6-B8E9-41DA-90EC-0BA4FD0F3073}" dt="2026-09-04T13:33:22.527" v="1277" actId="47"/>
        <pc:sldMkLst>
          <pc:docMk/>
          <pc:sldMk cId="1314267360" sldId="257"/>
        </pc:sldMkLst>
      </pc:sldChg>
      <pc:sldChg chg="modSp mod">
        <pc:chgData name="Aleksey Zimin" userId="7f2637d0bc515791" providerId="LiveId" clId="{5F359FD6-B8E9-41DA-90EC-0BA4FD0F3073}" dt="2026-09-02T15:26:27.203" v="972" actId="20577"/>
        <pc:sldMkLst>
          <pc:docMk/>
          <pc:sldMk cId="1057141448" sldId="263"/>
        </pc:sldMkLst>
        <pc:spChg chg="mod">
          <ac:chgData name="Aleksey Zimin" userId="7f2637d0bc515791" providerId="LiveId" clId="{5F359FD6-B8E9-41DA-90EC-0BA4FD0F3073}" dt="2026-09-02T15:26:27.203" v="972" actId="20577"/>
          <ac:spMkLst>
            <pc:docMk/>
            <pc:sldMk cId="1057141448" sldId="263"/>
            <ac:spMk id="2" creationId="{6AFB930E-0559-0DA2-C7D6-9FA3A1A5FF80}"/>
          </ac:spMkLst>
        </pc:spChg>
      </pc:sldChg>
      <pc:sldChg chg="del">
        <pc:chgData name="Aleksey Zimin" userId="7f2637d0bc515791" providerId="LiveId" clId="{5F359FD6-B8E9-41DA-90EC-0BA4FD0F3073}" dt="2026-09-04T13:33:22.527" v="1277" actId="47"/>
        <pc:sldMkLst>
          <pc:docMk/>
          <pc:sldMk cId="496989918" sldId="268"/>
        </pc:sldMkLst>
      </pc:sldChg>
      <pc:sldChg chg="modSp mod">
        <pc:chgData name="Aleksey Zimin" userId="7f2637d0bc515791" providerId="LiveId" clId="{5F359FD6-B8E9-41DA-90EC-0BA4FD0F3073}" dt="2026-09-02T15:24:50.335" v="968" actId="20577"/>
        <pc:sldMkLst>
          <pc:docMk/>
          <pc:sldMk cId="2020580056" sldId="280"/>
        </pc:sldMkLst>
        <pc:spChg chg="mod">
          <ac:chgData name="Aleksey Zimin" userId="7f2637d0bc515791" providerId="LiveId" clId="{5F359FD6-B8E9-41DA-90EC-0BA4FD0F3073}" dt="2026-09-02T15:24:50.335" v="968" actId="20577"/>
          <ac:spMkLst>
            <pc:docMk/>
            <pc:sldMk cId="2020580056" sldId="280"/>
            <ac:spMk id="5" creationId="{4CCE1F73-EB74-E96A-1F09-4459B16325BA}"/>
          </ac:spMkLst>
        </pc:spChg>
      </pc:sldChg>
      <pc:sldChg chg="del">
        <pc:chgData name="Aleksey Zimin" userId="7f2637d0bc515791" providerId="LiveId" clId="{5F359FD6-B8E9-41DA-90EC-0BA4FD0F3073}" dt="2026-09-04T13:33:22.527" v="1277" actId="47"/>
        <pc:sldMkLst>
          <pc:docMk/>
          <pc:sldMk cId="580217187" sldId="397"/>
        </pc:sldMkLst>
      </pc:sldChg>
      <pc:sldChg chg="del">
        <pc:chgData name="Aleksey Zimin" userId="7f2637d0bc515791" providerId="LiveId" clId="{5F359FD6-B8E9-41DA-90EC-0BA4FD0F3073}" dt="2026-09-04T13:33:22.527" v="1277" actId="47"/>
        <pc:sldMkLst>
          <pc:docMk/>
          <pc:sldMk cId="592540094" sldId="406"/>
        </pc:sldMkLst>
      </pc:sldChg>
      <pc:sldChg chg="del">
        <pc:chgData name="Aleksey Zimin" userId="7f2637d0bc515791" providerId="LiveId" clId="{5F359FD6-B8E9-41DA-90EC-0BA4FD0F3073}" dt="2026-09-04T13:33:22.527" v="1277" actId="47"/>
        <pc:sldMkLst>
          <pc:docMk/>
          <pc:sldMk cId="807348765" sldId="407"/>
        </pc:sldMkLst>
      </pc:sldChg>
      <pc:sldChg chg="del">
        <pc:chgData name="Aleksey Zimin" userId="7f2637d0bc515791" providerId="LiveId" clId="{5F359FD6-B8E9-41DA-90EC-0BA4FD0F3073}" dt="2026-09-04T13:33:22.527" v="1277" actId="47"/>
        <pc:sldMkLst>
          <pc:docMk/>
          <pc:sldMk cId="4233309679" sldId="409"/>
        </pc:sldMkLst>
      </pc:sldChg>
      <pc:sldChg chg="del">
        <pc:chgData name="Aleksey Zimin" userId="7f2637d0bc515791" providerId="LiveId" clId="{5F359FD6-B8E9-41DA-90EC-0BA4FD0F3073}" dt="2026-09-04T13:33:22.527" v="1277" actId="47"/>
        <pc:sldMkLst>
          <pc:docMk/>
          <pc:sldMk cId="3009805394" sldId="410"/>
        </pc:sldMkLst>
      </pc:sldChg>
      <pc:sldChg chg="del">
        <pc:chgData name="Aleksey Zimin" userId="7f2637d0bc515791" providerId="LiveId" clId="{5F359FD6-B8E9-41DA-90EC-0BA4FD0F3073}" dt="2026-09-04T13:33:22.527" v="1277" actId="47"/>
        <pc:sldMkLst>
          <pc:docMk/>
          <pc:sldMk cId="3540739500" sldId="411"/>
        </pc:sldMkLst>
      </pc:sldChg>
      <pc:sldChg chg="del">
        <pc:chgData name="Aleksey Zimin" userId="7f2637d0bc515791" providerId="LiveId" clId="{5F359FD6-B8E9-41DA-90EC-0BA4FD0F3073}" dt="2026-09-04T13:33:22.527" v="1277" actId="47"/>
        <pc:sldMkLst>
          <pc:docMk/>
          <pc:sldMk cId="3995109930" sldId="412"/>
        </pc:sldMkLst>
      </pc:sldChg>
      <pc:sldChg chg="del">
        <pc:chgData name="Aleksey Zimin" userId="7f2637d0bc515791" providerId="LiveId" clId="{5F359FD6-B8E9-41DA-90EC-0BA4FD0F3073}" dt="2026-09-04T13:33:22.527" v="1277" actId="47"/>
        <pc:sldMkLst>
          <pc:docMk/>
          <pc:sldMk cId="1345575573" sldId="413"/>
        </pc:sldMkLst>
      </pc:sldChg>
      <pc:sldChg chg="del">
        <pc:chgData name="Aleksey Zimin" userId="7f2637d0bc515791" providerId="LiveId" clId="{5F359FD6-B8E9-41DA-90EC-0BA4FD0F3073}" dt="2026-09-04T13:33:22.527" v="1277" actId="47"/>
        <pc:sldMkLst>
          <pc:docMk/>
          <pc:sldMk cId="1634069567" sldId="414"/>
        </pc:sldMkLst>
      </pc:sldChg>
      <pc:sldChg chg="del">
        <pc:chgData name="Aleksey Zimin" userId="7f2637d0bc515791" providerId="LiveId" clId="{5F359FD6-B8E9-41DA-90EC-0BA4FD0F3073}" dt="2026-09-04T13:33:22.527" v="1277" actId="47"/>
        <pc:sldMkLst>
          <pc:docMk/>
          <pc:sldMk cId="2118070247" sldId="420"/>
        </pc:sldMkLst>
      </pc:sldChg>
      <pc:sldChg chg="del">
        <pc:chgData name="Aleksey Zimin" userId="7f2637d0bc515791" providerId="LiveId" clId="{5F359FD6-B8E9-41DA-90EC-0BA4FD0F3073}" dt="2026-09-04T13:33:22.527" v="1277" actId="47"/>
        <pc:sldMkLst>
          <pc:docMk/>
          <pc:sldMk cId="1902230169" sldId="421"/>
        </pc:sldMkLst>
      </pc:sldChg>
      <pc:sldChg chg="del">
        <pc:chgData name="Aleksey Zimin" userId="7f2637d0bc515791" providerId="LiveId" clId="{5F359FD6-B8E9-41DA-90EC-0BA4FD0F3073}" dt="2026-09-04T13:33:22.527" v="1277" actId="47"/>
        <pc:sldMkLst>
          <pc:docMk/>
          <pc:sldMk cId="3130437174" sldId="423"/>
        </pc:sldMkLst>
      </pc:sldChg>
      <pc:sldChg chg="del">
        <pc:chgData name="Aleksey Zimin" userId="7f2637d0bc515791" providerId="LiveId" clId="{5F359FD6-B8E9-41DA-90EC-0BA4FD0F3073}" dt="2026-09-04T13:33:22.527" v="1277" actId="47"/>
        <pc:sldMkLst>
          <pc:docMk/>
          <pc:sldMk cId="1381858232" sldId="424"/>
        </pc:sldMkLst>
      </pc:sldChg>
      <pc:sldChg chg="del">
        <pc:chgData name="Aleksey Zimin" userId="7f2637d0bc515791" providerId="LiveId" clId="{5F359FD6-B8E9-41DA-90EC-0BA4FD0F3073}" dt="2026-09-04T13:33:22.527" v="1277" actId="47"/>
        <pc:sldMkLst>
          <pc:docMk/>
          <pc:sldMk cId="2194738520" sldId="425"/>
        </pc:sldMkLst>
      </pc:sldChg>
      <pc:sldChg chg="del">
        <pc:chgData name="Aleksey Zimin" userId="7f2637d0bc515791" providerId="LiveId" clId="{5F359FD6-B8E9-41DA-90EC-0BA4FD0F3073}" dt="2026-09-04T13:33:22.527" v="1277" actId="47"/>
        <pc:sldMkLst>
          <pc:docMk/>
          <pc:sldMk cId="809032690" sldId="426"/>
        </pc:sldMkLst>
      </pc:sldChg>
      <pc:sldChg chg="del">
        <pc:chgData name="Aleksey Zimin" userId="7f2637d0bc515791" providerId="LiveId" clId="{5F359FD6-B8E9-41DA-90EC-0BA4FD0F3073}" dt="2026-09-04T13:33:22.527" v="1277" actId="47"/>
        <pc:sldMkLst>
          <pc:docMk/>
          <pc:sldMk cId="1762822495" sldId="427"/>
        </pc:sldMkLst>
      </pc:sldChg>
      <pc:sldChg chg="del">
        <pc:chgData name="Aleksey Zimin" userId="7f2637d0bc515791" providerId="LiveId" clId="{5F359FD6-B8E9-41DA-90EC-0BA4FD0F3073}" dt="2026-09-04T13:33:22.527" v="1277" actId="47"/>
        <pc:sldMkLst>
          <pc:docMk/>
          <pc:sldMk cId="2968288127" sldId="428"/>
        </pc:sldMkLst>
      </pc:sldChg>
      <pc:sldChg chg="del">
        <pc:chgData name="Aleksey Zimin" userId="7f2637d0bc515791" providerId="LiveId" clId="{5F359FD6-B8E9-41DA-90EC-0BA4FD0F3073}" dt="2026-09-04T13:33:22.527" v="1277" actId="47"/>
        <pc:sldMkLst>
          <pc:docMk/>
          <pc:sldMk cId="708600537" sldId="429"/>
        </pc:sldMkLst>
      </pc:sldChg>
      <pc:sldChg chg="del">
        <pc:chgData name="Aleksey Zimin" userId="7f2637d0bc515791" providerId="LiveId" clId="{5F359FD6-B8E9-41DA-90EC-0BA4FD0F3073}" dt="2026-09-04T13:33:22.527" v="1277" actId="47"/>
        <pc:sldMkLst>
          <pc:docMk/>
          <pc:sldMk cId="3229156974" sldId="430"/>
        </pc:sldMkLst>
      </pc:sldChg>
      <pc:sldChg chg="del">
        <pc:chgData name="Aleksey Zimin" userId="7f2637d0bc515791" providerId="LiveId" clId="{5F359FD6-B8E9-41DA-90EC-0BA4FD0F3073}" dt="2026-09-04T13:33:22.527" v="1277" actId="47"/>
        <pc:sldMkLst>
          <pc:docMk/>
          <pc:sldMk cId="1201566736" sldId="431"/>
        </pc:sldMkLst>
      </pc:sldChg>
      <pc:sldChg chg="del">
        <pc:chgData name="Aleksey Zimin" userId="7f2637d0bc515791" providerId="LiveId" clId="{5F359FD6-B8E9-41DA-90EC-0BA4FD0F3073}" dt="2026-09-04T13:33:22.527" v="1277" actId="47"/>
        <pc:sldMkLst>
          <pc:docMk/>
          <pc:sldMk cId="224006590" sldId="432"/>
        </pc:sldMkLst>
      </pc:sldChg>
      <pc:sldChg chg="del">
        <pc:chgData name="Aleksey Zimin" userId="7f2637d0bc515791" providerId="LiveId" clId="{5F359FD6-B8E9-41DA-90EC-0BA4FD0F3073}" dt="2026-09-04T13:33:22.527" v="1277" actId="47"/>
        <pc:sldMkLst>
          <pc:docMk/>
          <pc:sldMk cId="2261212866" sldId="433"/>
        </pc:sldMkLst>
      </pc:sldChg>
      <pc:sldChg chg="del">
        <pc:chgData name="Aleksey Zimin" userId="7f2637d0bc515791" providerId="LiveId" clId="{5F359FD6-B8E9-41DA-90EC-0BA4FD0F3073}" dt="2026-09-04T13:33:22.527" v="1277" actId="47"/>
        <pc:sldMkLst>
          <pc:docMk/>
          <pc:sldMk cId="2841383390" sldId="434"/>
        </pc:sldMkLst>
      </pc:sldChg>
      <pc:sldChg chg="del">
        <pc:chgData name="Aleksey Zimin" userId="7f2637d0bc515791" providerId="LiveId" clId="{5F359FD6-B8E9-41DA-90EC-0BA4FD0F3073}" dt="2026-09-04T13:33:22.527" v="1277" actId="47"/>
        <pc:sldMkLst>
          <pc:docMk/>
          <pc:sldMk cId="2387758340" sldId="435"/>
        </pc:sldMkLst>
      </pc:sldChg>
      <pc:sldChg chg="del">
        <pc:chgData name="Aleksey Zimin" userId="7f2637d0bc515791" providerId="LiveId" clId="{5F359FD6-B8E9-41DA-90EC-0BA4FD0F3073}" dt="2026-09-04T13:33:22.527" v="1277" actId="47"/>
        <pc:sldMkLst>
          <pc:docMk/>
          <pc:sldMk cId="737597283" sldId="436"/>
        </pc:sldMkLst>
      </pc:sldChg>
      <pc:sldChg chg="del">
        <pc:chgData name="Aleksey Zimin" userId="7f2637d0bc515791" providerId="LiveId" clId="{5F359FD6-B8E9-41DA-90EC-0BA4FD0F3073}" dt="2026-09-04T13:33:22.527" v="1277" actId="47"/>
        <pc:sldMkLst>
          <pc:docMk/>
          <pc:sldMk cId="3812887506" sldId="437"/>
        </pc:sldMkLst>
      </pc:sldChg>
      <pc:sldChg chg="del">
        <pc:chgData name="Aleksey Zimin" userId="7f2637d0bc515791" providerId="LiveId" clId="{5F359FD6-B8E9-41DA-90EC-0BA4FD0F3073}" dt="2026-09-04T13:33:22.527" v="1277" actId="47"/>
        <pc:sldMkLst>
          <pc:docMk/>
          <pc:sldMk cId="1402074185" sldId="440"/>
        </pc:sldMkLst>
      </pc:sldChg>
      <pc:sldChg chg="del">
        <pc:chgData name="Aleksey Zimin" userId="7f2637d0bc515791" providerId="LiveId" clId="{5F359FD6-B8E9-41DA-90EC-0BA4FD0F3073}" dt="2026-09-04T13:33:22.527" v="1277" actId="47"/>
        <pc:sldMkLst>
          <pc:docMk/>
          <pc:sldMk cId="4268804242" sldId="441"/>
        </pc:sldMkLst>
      </pc:sldChg>
      <pc:sldChg chg="del">
        <pc:chgData name="Aleksey Zimin" userId="7f2637d0bc515791" providerId="LiveId" clId="{5F359FD6-B8E9-41DA-90EC-0BA4FD0F3073}" dt="2026-09-04T13:33:22.527" v="1277" actId="47"/>
        <pc:sldMkLst>
          <pc:docMk/>
          <pc:sldMk cId="3290336111" sldId="442"/>
        </pc:sldMkLst>
      </pc:sldChg>
      <pc:sldChg chg="del">
        <pc:chgData name="Aleksey Zimin" userId="7f2637d0bc515791" providerId="LiveId" clId="{5F359FD6-B8E9-41DA-90EC-0BA4FD0F3073}" dt="2026-09-04T13:33:22.527" v="1277" actId="47"/>
        <pc:sldMkLst>
          <pc:docMk/>
          <pc:sldMk cId="1196692292" sldId="443"/>
        </pc:sldMkLst>
      </pc:sldChg>
      <pc:sldChg chg="del">
        <pc:chgData name="Aleksey Zimin" userId="7f2637d0bc515791" providerId="LiveId" clId="{5F359FD6-B8E9-41DA-90EC-0BA4FD0F3073}" dt="2026-09-04T13:33:22.527" v="1277" actId="47"/>
        <pc:sldMkLst>
          <pc:docMk/>
          <pc:sldMk cId="2158056362" sldId="444"/>
        </pc:sldMkLst>
      </pc:sldChg>
      <pc:sldChg chg="del">
        <pc:chgData name="Aleksey Zimin" userId="7f2637d0bc515791" providerId="LiveId" clId="{5F359FD6-B8E9-41DA-90EC-0BA4FD0F3073}" dt="2026-09-04T13:33:22.527" v="1277" actId="47"/>
        <pc:sldMkLst>
          <pc:docMk/>
          <pc:sldMk cId="2006090250" sldId="445"/>
        </pc:sldMkLst>
      </pc:sldChg>
      <pc:sldChg chg="del">
        <pc:chgData name="Aleksey Zimin" userId="7f2637d0bc515791" providerId="LiveId" clId="{5F359FD6-B8E9-41DA-90EC-0BA4FD0F3073}" dt="2026-09-04T13:33:22.527" v="1277" actId="47"/>
        <pc:sldMkLst>
          <pc:docMk/>
          <pc:sldMk cId="1978762931" sldId="446"/>
        </pc:sldMkLst>
      </pc:sldChg>
      <pc:sldChg chg="del">
        <pc:chgData name="Aleksey Zimin" userId="7f2637d0bc515791" providerId="LiveId" clId="{5F359FD6-B8E9-41DA-90EC-0BA4FD0F3073}" dt="2026-09-04T13:33:22.527" v="1277" actId="47"/>
        <pc:sldMkLst>
          <pc:docMk/>
          <pc:sldMk cId="1290344996" sldId="447"/>
        </pc:sldMkLst>
      </pc:sldChg>
      <pc:sldChg chg="del">
        <pc:chgData name="Aleksey Zimin" userId="7f2637d0bc515791" providerId="LiveId" clId="{5F359FD6-B8E9-41DA-90EC-0BA4FD0F3073}" dt="2026-09-04T13:33:22.527" v="1277" actId="47"/>
        <pc:sldMkLst>
          <pc:docMk/>
          <pc:sldMk cId="1210766213" sldId="448"/>
        </pc:sldMkLst>
      </pc:sldChg>
      <pc:sldChg chg="modSp mod">
        <pc:chgData name="Aleksey Zimin" userId="7f2637d0bc515791" providerId="LiveId" clId="{5F359FD6-B8E9-41DA-90EC-0BA4FD0F3073}" dt="2026-08-31T12:13:05.104" v="234" actId="27636"/>
        <pc:sldMkLst>
          <pc:docMk/>
          <pc:sldMk cId="999224894" sldId="449"/>
        </pc:sldMkLst>
        <pc:spChg chg="mod">
          <ac:chgData name="Aleksey Zimin" userId="7f2637d0bc515791" providerId="LiveId" clId="{5F359FD6-B8E9-41DA-90EC-0BA4FD0F3073}" dt="2026-08-31T12:13:05.104" v="234" actId="27636"/>
          <ac:spMkLst>
            <pc:docMk/>
            <pc:sldMk cId="999224894" sldId="449"/>
            <ac:spMk id="3" creationId="{B97B37B7-B419-CB2A-6F45-494BD789BA6B}"/>
          </ac:spMkLst>
        </pc:spChg>
      </pc:sldChg>
      <pc:sldChg chg="modSp mod">
        <pc:chgData name="Aleksey Zimin" userId="7f2637d0bc515791" providerId="LiveId" clId="{5F359FD6-B8E9-41DA-90EC-0BA4FD0F3073}" dt="2026-08-31T12:15:21.811" v="261" actId="20577"/>
        <pc:sldMkLst>
          <pc:docMk/>
          <pc:sldMk cId="3655342026" sldId="450"/>
        </pc:sldMkLst>
        <pc:spChg chg="mod">
          <ac:chgData name="Aleksey Zimin" userId="7f2637d0bc515791" providerId="LiveId" clId="{5F359FD6-B8E9-41DA-90EC-0BA4FD0F3073}" dt="2026-08-31T12:15:21.811" v="261" actId="20577"/>
          <ac:spMkLst>
            <pc:docMk/>
            <pc:sldMk cId="3655342026" sldId="450"/>
            <ac:spMk id="3" creationId="{19EF5C3B-90EF-64E1-09AF-4D77CB47BE41}"/>
          </ac:spMkLst>
        </pc:spChg>
      </pc:sldChg>
      <pc:sldChg chg="modSp mod">
        <pc:chgData name="Aleksey Zimin" userId="7f2637d0bc515791" providerId="LiveId" clId="{5F359FD6-B8E9-41DA-90EC-0BA4FD0F3073}" dt="2026-08-31T12:20:10.155" v="685" actId="20577"/>
        <pc:sldMkLst>
          <pc:docMk/>
          <pc:sldMk cId="3431220297" sldId="451"/>
        </pc:sldMkLst>
        <pc:spChg chg="mod">
          <ac:chgData name="Aleksey Zimin" userId="7f2637d0bc515791" providerId="LiveId" clId="{5F359FD6-B8E9-41DA-90EC-0BA4FD0F3073}" dt="2026-08-31T12:20:10.155" v="685" actId="20577"/>
          <ac:spMkLst>
            <pc:docMk/>
            <pc:sldMk cId="3431220297" sldId="451"/>
            <ac:spMk id="3" creationId="{350B2E19-F44E-A885-A753-15020D4916B1}"/>
          </ac:spMkLst>
        </pc:spChg>
      </pc:sldChg>
      <pc:sldChg chg="modSp mod">
        <pc:chgData name="Aleksey Zimin" userId="7f2637d0bc515791" providerId="LiveId" clId="{5F359FD6-B8E9-41DA-90EC-0BA4FD0F3073}" dt="2026-08-31T12:18:41.312" v="614" actId="20577"/>
        <pc:sldMkLst>
          <pc:docMk/>
          <pc:sldMk cId="3790567690" sldId="452"/>
        </pc:sldMkLst>
        <pc:spChg chg="mod">
          <ac:chgData name="Aleksey Zimin" userId="7f2637d0bc515791" providerId="LiveId" clId="{5F359FD6-B8E9-41DA-90EC-0BA4FD0F3073}" dt="2026-08-31T12:18:41.312" v="614" actId="20577"/>
          <ac:spMkLst>
            <pc:docMk/>
            <pc:sldMk cId="3790567690" sldId="452"/>
            <ac:spMk id="3" creationId="{2B47A926-0D3F-296B-21A2-0A81ED1DAB52}"/>
          </ac:spMkLst>
        </pc:spChg>
      </pc:sldChg>
      <pc:sldChg chg="modSp mod">
        <pc:chgData name="Aleksey Zimin" userId="7f2637d0bc515791" providerId="LiveId" clId="{5F359FD6-B8E9-41DA-90EC-0BA4FD0F3073}" dt="2026-08-31T12:21:01.295" v="689" actId="20577"/>
        <pc:sldMkLst>
          <pc:docMk/>
          <pc:sldMk cId="2756968431" sldId="453"/>
        </pc:sldMkLst>
        <pc:spChg chg="mod">
          <ac:chgData name="Aleksey Zimin" userId="7f2637d0bc515791" providerId="LiveId" clId="{5F359FD6-B8E9-41DA-90EC-0BA4FD0F3073}" dt="2026-08-31T12:21:01.295" v="689" actId="20577"/>
          <ac:spMkLst>
            <pc:docMk/>
            <pc:sldMk cId="2756968431" sldId="453"/>
            <ac:spMk id="2" creationId="{3ECC4F8B-CDAB-CFF6-2F26-3E0E42DF55CA}"/>
          </ac:spMkLst>
        </pc:spChg>
      </pc:sldChg>
      <pc:sldChg chg="modSp mod">
        <pc:chgData name="Aleksey Zimin" userId="7f2637d0bc515791" providerId="LiveId" clId="{5F359FD6-B8E9-41DA-90EC-0BA4FD0F3073}" dt="2026-09-02T15:22:37.267" v="862" actId="20577"/>
        <pc:sldMkLst>
          <pc:docMk/>
          <pc:sldMk cId="4043277246" sldId="461"/>
        </pc:sldMkLst>
        <pc:spChg chg="mod">
          <ac:chgData name="Aleksey Zimin" userId="7f2637d0bc515791" providerId="LiveId" clId="{5F359FD6-B8E9-41DA-90EC-0BA4FD0F3073}" dt="2026-09-02T15:22:37.267" v="862" actId="20577"/>
          <ac:spMkLst>
            <pc:docMk/>
            <pc:sldMk cId="4043277246" sldId="461"/>
            <ac:spMk id="3" creationId="{51E43666-5AB0-55BB-94F7-4C5D50574084}"/>
          </ac:spMkLst>
        </pc:spChg>
      </pc:sldChg>
      <pc:sldChg chg="modSp mod">
        <pc:chgData name="Aleksey Zimin" userId="7f2637d0bc515791" providerId="LiveId" clId="{5F359FD6-B8E9-41DA-90EC-0BA4FD0F3073}" dt="2026-09-02T15:20:17.286" v="768" actId="20577"/>
        <pc:sldMkLst>
          <pc:docMk/>
          <pc:sldMk cId="2295762445" sldId="462"/>
        </pc:sldMkLst>
        <pc:spChg chg="mod">
          <ac:chgData name="Aleksey Zimin" userId="7f2637d0bc515791" providerId="LiveId" clId="{5F359FD6-B8E9-41DA-90EC-0BA4FD0F3073}" dt="2026-09-02T15:20:17.286" v="768" actId="20577"/>
          <ac:spMkLst>
            <pc:docMk/>
            <pc:sldMk cId="2295762445" sldId="462"/>
            <ac:spMk id="3" creationId="{8220ECCC-E0B8-F323-BCA8-8D2A4518AAAF}"/>
          </ac:spMkLst>
        </pc:spChg>
      </pc:sldChg>
      <pc:sldChg chg="modSp mod">
        <pc:chgData name="Aleksey Zimin" userId="7f2637d0bc515791" providerId="LiveId" clId="{5F359FD6-B8E9-41DA-90EC-0BA4FD0F3073}" dt="2026-09-02T15:29:17.180" v="1102" actId="20577"/>
        <pc:sldMkLst>
          <pc:docMk/>
          <pc:sldMk cId="766694308" sldId="463"/>
        </pc:sldMkLst>
        <pc:spChg chg="mod">
          <ac:chgData name="Aleksey Zimin" userId="7f2637d0bc515791" providerId="LiveId" clId="{5F359FD6-B8E9-41DA-90EC-0BA4FD0F3073}" dt="2026-09-02T15:29:17.180" v="1102" actId="20577"/>
          <ac:spMkLst>
            <pc:docMk/>
            <pc:sldMk cId="766694308" sldId="463"/>
            <ac:spMk id="3" creationId="{7E6800C5-A733-FC80-1F6D-CD59AE818F7C}"/>
          </ac:spMkLst>
        </pc:spChg>
      </pc:sldChg>
      <pc:sldChg chg="modSp mod">
        <pc:chgData name="Aleksey Zimin" userId="7f2637d0bc515791" providerId="LiveId" clId="{5F359FD6-B8E9-41DA-90EC-0BA4FD0F3073}" dt="2026-09-02T15:33:42.599" v="1276" actId="20577"/>
        <pc:sldMkLst>
          <pc:docMk/>
          <pc:sldMk cId="3272487832" sldId="464"/>
        </pc:sldMkLst>
        <pc:spChg chg="mod">
          <ac:chgData name="Aleksey Zimin" userId="7f2637d0bc515791" providerId="LiveId" clId="{5F359FD6-B8E9-41DA-90EC-0BA4FD0F3073}" dt="2026-09-02T15:33:42.599" v="1276" actId="20577"/>
          <ac:spMkLst>
            <pc:docMk/>
            <pc:sldMk cId="3272487832" sldId="464"/>
            <ac:spMk id="3" creationId="{07B1A15F-8799-7DD9-7CC9-16364B8D37B1}"/>
          </ac:spMkLst>
        </pc:spChg>
      </pc:sldChg>
      <pc:sldChg chg="add del">
        <pc:chgData name="Aleksey Zimin" userId="7f2637d0bc515791" providerId="LiveId" clId="{5F359FD6-B8E9-41DA-90EC-0BA4FD0F3073}" dt="2026-09-04T13:35:15.297" v="1283" actId="47"/>
        <pc:sldMkLst>
          <pc:docMk/>
          <pc:sldMk cId="4212240204" sldId="467"/>
        </pc:sldMkLst>
      </pc:sldChg>
      <pc:sldChg chg="add del">
        <pc:chgData name="Aleksey Zimin" userId="7f2637d0bc515791" providerId="LiveId" clId="{5F359FD6-B8E9-41DA-90EC-0BA4FD0F3073}" dt="2026-09-04T13:35:05.781" v="1282" actId="47"/>
        <pc:sldMkLst>
          <pc:docMk/>
          <pc:sldMk cId="3275239011" sldId="468"/>
        </pc:sldMkLst>
      </pc:sldChg>
      <pc:sldChg chg="modSp mod">
        <pc:chgData name="Aleksey Zimin" userId="7f2637d0bc515791" providerId="LiveId" clId="{5F359FD6-B8E9-41DA-90EC-0BA4FD0F3073}" dt="2026-08-31T17:05:20.967" v="755" actId="1076"/>
        <pc:sldMkLst>
          <pc:docMk/>
          <pc:sldMk cId="2875518736" sldId="472"/>
        </pc:sldMkLst>
        <pc:spChg chg="mod">
          <ac:chgData name="Aleksey Zimin" userId="7f2637d0bc515791" providerId="LiveId" clId="{5F359FD6-B8E9-41DA-90EC-0BA4FD0F3073}" dt="2026-08-31T17:05:20.967" v="755" actId="1076"/>
          <ac:spMkLst>
            <pc:docMk/>
            <pc:sldMk cId="2875518736" sldId="472"/>
            <ac:spMk id="70" creationId="{275AE612-EEA5-38FC-1BBE-B27DAAC68496}"/>
          </ac:spMkLst>
        </pc:spChg>
      </pc:sldChg>
      <pc:sldChg chg="modSp mod">
        <pc:chgData name="Aleksey Zimin" userId="7f2637d0bc515791" providerId="LiveId" clId="{5F359FD6-B8E9-41DA-90EC-0BA4FD0F3073}" dt="2026-09-02T15:31:28.944" v="1269" actId="20577"/>
        <pc:sldMkLst>
          <pc:docMk/>
          <pc:sldMk cId="2088857309" sldId="473"/>
        </pc:sldMkLst>
        <pc:spChg chg="mod">
          <ac:chgData name="Aleksey Zimin" userId="7f2637d0bc515791" providerId="LiveId" clId="{5F359FD6-B8E9-41DA-90EC-0BA4FD0F3073}" dt="2026-09-02T15:31:28.944" v="1269" actId="20577"/>
          <ac:spMkLst>
            <pc:docMk/>
            <pc:sldMk cId="2088857309" sldId="473"/>
            <ac:spMk id="3" creationId="{425CCDEE-5F86-2947-1AE6-861B5FA3FCC9}"/>
          </ac:spMkLst>
        </pc:spChg>
      </pc:sldChg>
      <pc:sldChg chg="modSp mod">
        <pc:chgData name="Aleksey Zimin" userId="7f2637d0bc515791" providerId="LiveId" clId="{5F359FD6-B8E9-41DA-90EC-0BA4FD0F3073}" dt="2026-09-02T15:24:05.368" v="927" actId="20577"/>
        <pc:sldMkLst>
          <pc:docMk/>
          <pc:sldMk cId="3460566582" sldId="474"/>
        </pc:sldMkLst>
        <pc:spChg chg="mod">
          <ac:chgData name="Aleksey Zimin" userId="7f2637d0bc515791" providerId="LiveId" clId="{5F359FD6-B8E9-41DA-90EC-0BA4FD0F3073}" dt="2026-09-02T15:24:05.368" v="927" actId="20577"/>
          <ac:spMkLst>
            <pc:docMk/>
            <pc:sldMk cId="3460566582" sldId="474"/>
            <ac:spMk id="2" creationId="{E2ACED73-BA2E-08CC-2536-4F4929FBC210}"/>
          </ac:spMkLst>
        </pc:spChg>
        <pc:spChg chg="mod">
          <ac:chgData name="Aleksey Zimin" userId="7f2637d0bc515791" providerId="LiveId" clId="{5F359FD6-B8E9-41DA-90EC-0BA4FD0F3073}" dt="2026-09-02T15:23:59.315" v="922" actId="20577"/>
          <ac:spMkLst>
            <pc:docMk/>
            <pc:sldMk cId="3460566582" sldId="474"/>
            <ac:spMk id="3" creationId="{B9B4AE2F-09EC-4169-C031-981CCEBEC5D7}"/>
          </ac:spMkLst>
        </pc:spChg>
      </pc:sldChg>
      <pc:sldChg chg="modSp mod">
        <pc:chgData name="Aleksey Zimin" userId="7f2637d0bc515791" providerId="LiveId" clId="{5F359FD6-B8E9-41DA-90EC-0BA4FD0F3073}" dt="2026-09-02T15:26:36.328" v="978" actId="20577"/>
        <pc:sldMkLst>
          <pc:docMk/>
          <pc:sldMk cId="3066364741" sldId="475"/>
        </pc:sldMkLst>
        <pc:spChg chg="mod">
          <ac:chgData name="Aleksey Zimin" userId="7f2637d0bc515791" providerId="LiveId" clId="{5F359FD6-B8E9-41DA-90EC-0BA4FD0F3073}" dt="2026-09-02T15:26:36.328" v="978" actId="20577"/>
          <ac:spMkLst>
            <pc:docMk/>
            <pc:sldMk cId="3066364741" sldId="475"/>
            <ac:spMk id="2" creationId="{7B06EA62-F0ED-F6B9-1261-43404885458D}"/>
          </ac:spMkLst>
        </pc:spChg>
      </pc:sldChg>
      <pc:sldChg chg="add del">
        <pc:chgData name="Aleksey Zimin" userId="7f2637d0bc515791" providerId="LiveId" clId="{5F359FD6-B8E9-41DA-90EC-0BA4FD0F3073}" dt="2026-09-04T13:35:15.297" v="1283" actId="47"/>
        <pc:sldMkLst>
          <pc:docMk/>
          <pc:sldMk cId="3764873792" sldId="476"/>
        </pc:sldMkLst>
      </pc:sldChg>
      <pc:sldChg chg="add del">
        <pc:chgData name="Aleksey Zimin" userId="7f2637d0bc515791" providerId="LiveId" clId="{5F359FD6-B8E9-41DA-90EC-0BA4FD0F3073}" dt="2026-09-04T13:35:15.297" v="1283" actId="47"/>
        <pc:sldMkLst>
          <pc:docMk/>
          <pc:sldMk cId="839253812" sldId="477"/>
        </pc:sldMkLst>
      </pc:sldChg>
      <pc:sldChg chg="add del">
        <pc:chgData name="Aleksey Zimin" userId="7f2637d0bc515791" providerId="LiveId" clId="{5F359FD6-B8E9-41DA-90EC-0BA4FD0F3073}" dt="2026-09-04T13:35:15.297" v="1283" actId="47"/>
        <pc:sldMkLst>
          <pc:docMk/>
          <pc:sldMk cId="3139525371" sldId="478"/>
        </pc:sldMkLst>
      </pc:sldChg>
      <pc:sldChg chg="add del">
        <pc:chgData name="Aleksey Zimin" userId="7f2637d0bc515791" providerId="LiveId" clId="{5F359FD6-B8E9-41DA-90EC-0BA4FD0F3073}" dt="2026-09-04T13:35:15.297" v="1283" actId="47"/>
        <pc:sldMkLst>
          <pc:docMk/>
          <pc:sldMk cId="1413603901" sldId="479"/>
        </pc:sldMkLst>
      </pc:sldChg>
      <pc:sldChg chg="add del">
        <pc:chgData name="Aleksey Zimin" userId="7f2637d0bc515791" providerId="LiveId" clId="{5F359FD6-B8E9-41DA-90EC-0BA4FD0F3073}" dt="2026-09-04T13:35:15.297" v="1283" actId="47"/>
        <pc:sldMkLst>
          <pc:docMk/>
          <pc:sldMk cId="721180325" sldId="480"/>
        </pc:sldMkLst>
      </pc:sldChg>
      <pc:sldChg chg="add del">
        <pc:chgData name="Aleksey Zimin" userId="7f2637d0bc515791" providerId="LiveId" clId="{5F359FD6-B8E9-41DA-90EC-0BA4FD0F3073}" dt="2026-09-04T13:35:15.297" v="1283" actId="47"/>
        <pc:sldMkLst>
          <pc:docMk/>
          <pc:sldMk cId="860761429" sldId="481"/>
        </pc:sldMkLst>
      </pc:sldChg>
      <pc:sldChg chg="modSp add mod">
        <pc:chgData name="Aleksey Zimin" userId="7f2637d0bc515791" providerId="LiveId" clId="{5F359FD6-B8E9-41DA-90EC-0BA4FD0F3073}" dt="2026-08-31T12:24:16.169" v="715" actId="207"/>
        <pc:sldMkLst>
          <pc:docMk/>
          <pc:sldMk cId="1483298704" sldId="484"/>
        </pc:sldMkLst>
        <pc:spChg chg="mod">
          <ac:chgData name="Aleksey Zimin" userId="7f2637d0bc515791" providerId="LiveId" clId="{5F359FD6-B8E9-41DA-90EC-0BA4FD0F3073}" dt="2026-08-31T12:24:16.169" v="715" actId="207"/>
          <ac:spMkLst>
            <pc:docMk/>
            <pc:sldMk cId="1483298704" sldId="484"/>
            <ac:spMk id="3" creationId="{7A6D0907-0269-C7C7-32B2-D1CD11455106}"/>
          </ac:spMkLst>
        </pc:spChg>
      </pc:sldChg>
      <pc:sldChg chg="add del">
        <pc:chgData name="Aleksey Zimin" userId="7f2637d0bc515791" providerId="LiveId" clId="{5F359FD6-B8E9-41DA-90EC-0BA4FD0F3073}" dt="2026-09-04T13:35:05.781" v="1282" actId="47"/>
        <pc:sldMkLst>
          <pc:docMk/>
          <pc:sldMk cId="1516713730" sldId="487"/>
        </pc:sldMkLst>
      </pc:sldChg>
      <pc:sldChg chg="add del">
        <pc:chgData name="Aleksey Zimin" userId="7f2637d0bc515791" providerId="LiveId" clId="{5F359FD6-B8E9-41DA-90EC-0BA4FD0F3073}" dt="2026-09-04T13:33:43.559" v="1279"/>
        <pc:sldMkLst>
          <pc:docMk/>
          <pc:sldMk cId="2631945878" sldId="487"/>
        </pc:sldMkLst>
      </pc:sldChg>
      <pc:sldChg chg="add del">
        <pc:chgData name="Aleksey Zimin" userId="7f2637d0bc515791" providerId="LiveId" clId="{5F359FD6-B8E9-41DA-90EC-0BA4FD0F3073}" dt="2026-09-04T13:35:05.781" v="1282" actId="47"/>
        <pc:sldMkLst>
          <pc:docMk/>
          <pc:sldMk cId="1198420332" sldId="490"/>
        </pc:sldMkLst>
      </pc:sldChg>
      <pc:sldChg chg="add del">
        <pc:chgData name="Aleksey Zimin" userId="7f2637d0bc515791" providerId="LiveId" clId="{5F359FD6-B8E9-41DA-90EC-0BA4FD0F3073}" dt="2026-09-04T13:35:05.781" v="1282" actId="47"/>
        <pc:sldMkLst>
          <pc:docMk/>
          <pc:sldMk cId="2188530791" sldId="491"/>
        </pc:sldMkLst>
      </pc:sldChg>
      <pc:sldChg chg="add del">
        <pc:chgData name="Aleksey Zimin" userId="7f2637d0bc515791" providerId="LiveId" clId="{5F359FD6-B8E9-41DA-90EC-0BA4FD0F3073}" dt="2026-09-04T13:35:05.781" v="1282" actId="47"/>
        <pc:sldMkLst>
          <pc:docMk/>
          <pc:sldMk cId="707976107" sldId="492"/>
        </pc:sldMkLst>
      </pc:sldChg>
      <pc:sldChg chg="add del">
        <pc:chgData name="Aleksey Zimin" userId="7f2637d0bc515791" providerId="LiveId" clId="{5F359FD6-B8E9-41DA-90EC-0BA4FD0F3073}" dt="2026-09-04T13:35:05.781" v="1282" actId="47"/>
        <pc:sldMkLst>
          <pc:docMk/>
          <pc:sldMk cId="2156866487" sldId="493"/>
        </pc:sldMkLst>
      </pc:sldChg>
      <pc:sldChg chg="add del">
        <pc:chgData name="Aleksey Zimin" userId="7f2637d0bc515791" providerId="LiveId" clId="{5F359FD6-B8E9-41DA-90EC-0BA4FD0F3073}" dt="2026-09-04T13:35:05.781" v="1282" actId="47"/>
        <pc:sldMkLst>
          <pc:docMk/>
          <pc:sldMk cId="3136499668" sldId="494"/>
        </pc:sldMkLst>
      </pc:sldChg>
      <pc:sldChg chg="add del">
        <pc:chgData name="Aleksey Zimin" userId="7f2637d0bc515791" providerId="LiveId" clId="{5F359FD6-B8E9-41DA-90EC-0BA4FD0F3073}" dt="2026-09-04T13:35:05.781" v="1282" actId="47"/>
        <pc:sldMkLst>
          <pc:docMk/>
          <pc:sldMk cId="1787880878" sldId="495"/>
        </pc:sldMkLst>
      </pc:sldChg>
      <pc:sldChg chg="add del">
        <pc:chgData name="Aleksey Zimin" userId="7f2637d0bc515791" providerId="LiveId" clId="{5F359FD6-B8E9-41DA-90EC-0BA4FD0F3073}" dt="2026-09-04T13:35:05.781" v="1282" actId="47"/>
        <pc:sldMkLst>
          <pc:docMk/>
          <pc:sldMk cId="3085531123" sldId="496"/>
        </pc:sldMkLst>
      </pc:sldChg>
      <pc:sldChg chg="modSp add del">
        <pc:chgData name="Aleksey Zimin" userId="7f2637d0bc515791" providerId="LiveId" clId="{5F359FD6-B8E9-41DA-90EC-0BA4FD0F3073}" dt="2026-09-04T13:36:02.900" v="1288" actId="20577"/>
        <pc:sldMkLst>
          <pc:docMk/>
          <pc:sldMk cId="651285384" sldId="497"/>
        </pc:sldMkLst>
        <pc:spChg chg="mod">
          <ac:chgData name="Aleksey Zimin" userId="7f2637d0bc515791" providerId="LiveId" clId="{5F359FD6-B8E9-41DA-90EC-0BA4FD0F3073}" dt="2026-09-04T13:36:02.900" v="1288" actId="20577"/>
          <ac:spMkLst>
            <pc:docMk/>
            <pc:sldMk cId="651285384" sldId="497"/>
            <ac:spMk id="3" creationId="{7A6C0A1E-F940-8A8B-DDFA-02DF5FFD5D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9/4/2026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join.iclicker.com/PUOA" TargetMode="External"/><Relationship Id="rId2" Type="http://schemas.openxmlformats.org/officeDocument/2006/relationships/hyperlink" Target="https://ccb.jhu.edu/people/alekseyz/"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nONNN92VWSA&amp;t=100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en.wikipedia.org/wiki/Phred_(software)#cite_note-1" TargetMode="External"/><Relationship Id="rId2" Type="http://schemas.openxmlformats.org/officeDocument/2006/relationships/hyperlink" Target="https://en.wikipedia.org/wiki/Philip_Palmer_Green"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1938992"/>
          </a:xfrm>
          <a:prstGeom prst="rect">
            <a:avLst/>
          </a:prstGeom>
          <a:noFill/>
        </p:spPr>
        <p:txBody>
          <a:bodyPr wrap="square">
            <a:spAutoFit/>
          </a:bodyPr>
          <a:lstStyle/>
          <a:p>
            <a:r>
              <a:rPr lang="en-US" sz="4400" b="1" i="1" dirty="0">
                <a:solidFill>
                  <a:srgbClr val="BE0260"/>
                </a:solidFill>
              </a:rPr>
              <a:t>Algorithms for Analysis of Genomic Sequence Data</a:t>
            </a:r>
            <a:br>
              <a:rPr lang="en-US" sz="3200" b="1" dirty="0">
                <a:solidFill>
                  <a:srgbClr val="BE0260"/>
                </a:solidFill>
              </a:rPr>
            </a:b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612B-98CB-C932-2033-A12B19051ED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F25939-4658-D534-5643-FDE75514C824}"/>
              </a:ext>
            </a:extLst>
          </p:cNvPr>
          <p:cNvSpPr>
            <a:spLocks noGrp="1"/>
          </p:cNvSpPr>
          <p:nvPr>
            <p:ph type="sldNum" sz="quarter" idx="12"/>
          </p:nvPr>
        </p:nvSpPr>
        <p:spPr/>
        <p:txBody>
          <a:bodyPr/>
          <a:lstStyle/>
          <a:p>
            <a:fld id="{B82CCC60-E8CD-4174-8B1A-7DF615B22EEF}" type="slidenum">
              <a:rPr lang="en-US" smtClean="0"/>
              <a:pPr/>
              <a:t>2</a:t>
            </a:fld>
            <a:endParaRPr lang="en-US"/>
          </a:p>
        </p:txBody>
      </p:sp>
      <p:sp>
        <p:nvSpPr>
          <p:cNvPr id="6" name="TextBox 5">
            <a:extLst>
              <a:ext uri="{FF2B5EF4-FFF2-40B4-BE49-F238E27FC236}">
                <a16:creationId xmlns:a16="http://schemas.microsoft.com/office/drawing/2014/main" id="{195DB5D2-140C-EDF7-8F2A-978926E093C8}"/>
              </a:ext>
            </a:extLst>
          </p:cNvPr>
          <p:cNvSpPr txBox="1"/>
          <p:nvPr/>
        </p:nvSpPr>
        <p:spPr>
          <a:xfrm>
            <a:off x="1308659" y="2437886"/>
            <a:ext cx="9677025" cy="1261884"/>
          </a:xfrm>
          <a:prstGeom prst="rect">
            <a:avLst/>
          </a:prstGeom>
          <a:noFill/>
        </p:spPr>
        <p:txBody>
          <a:bodyPr wrap="square">
            <a:spAutoFit/>
          </a:bodyPr>
          <a:lstStyle/>
          <a:p>
            <a:r>
              <a:rPr lang="en-US" sz="4400" b="1" i="1" dirty="0">
                <a:solidFill>
                  <a:srgbClr val="BE0260"/>
                </a:solidFill>
              </a:rPr>
              <a:t>Week 1</a:t>
            </a:r>
            <a:br>
              <a:rPr lang="en-US" sz="3200" b="1" dirty="0">
                <a:solidFill>
                  <a:srgbClr val="BE0260"/>
                </a:solidFill>
              </a:rPr>
            </a:br>
            <a:endParaRPr lang="en-US" sz="3200" b="1" dirty="0">
              <a:solidFill>
                <a:srgbClr val="BE0260"/>
              </a:solidFill>
            </a:endParaRPr>
          </a:p>
        </p:txBody>
      </p:sp>
      <p:sp>
        <p:nvSpPr>
          <p:cNvPr id="2" name="TextBox 1">
            <a:extLst>
              <a:ext uri="{FF2B5EF4-FFF2-40B4-BE49-F238E27FC236}">
                <a16:creationId xmlns:a16="http://schemas.microsoft.com/office/drawing/2014/main" id="{1019D3E0-3163-0D25-5B12-92B4E6621D3B}"/>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BME 580.417.707</a:t>
            </a:r>
          </a:p>
        </p:txBody>
      </p:sp>
    </p:spTree>
    <p:extLst>
      <p:ext uri="{BB962C8B-B14F-4D97-AF65-F5344CB8AC3E}">
        <p14:creationId xmlns:p14="http://schemas.microsoft.com/office/powerpoint/2010/main" val="264275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2C320-A59E-6BB6-DC92-BC81B08B2E00}"/>
              </a:ext>
            </a:extLst>
          </p:cNvPr>
          <p:cNvSpPr>
            <a:spLocks noGrp="1"/>
          </p:cNvSpPr>
          <p:nvPr>
            <p:ph type="title"/>
          </p:nvPr>
        </p:nvSpPr>
        <p:spPr/>
        <p:txBody>
          <a:bodyPr>
            <a:normAutofit fontScale="90000"/>
          </a:bodyPr>
          <a:lstStyle/>
          <a:p>
            <a:r>
              <a:rPr lang="en-US" dirty="0"/>
              <a:t>Introduction to the course</a:t>
            </a:r>
          </a:p>
        </p:txBody>
      </p:sp>
      <p:sp>
        <p:nvSpPr>
          <p:cNvPr id="3" name="Content Placeholder 2">
            <a:extLst>
              <a:ext uri="{FF2B5EF4-FFF2-40B4-BE49-F238E27FC236}">
                <a16:creationId xmlns:a16="http://schemas.microsoft.com/office/drawing/2014/main" id="{B97B37B7-B419-CB2A-6F45-494BD789BA6B}"/>
              </a:ext>
            </a:extLst>
          </p:cNvPr>
          <p:cNvSpPr>
            <a:spLocks noGrp="1"/>
          </p:cNvSpPr>
          <p:nvPr>
            <p:ph idx="1"/>
          </p:nvPr>
        </p:nvSpPr>
        <p:spPr>
          <a:xfrm>
            <a:off x="598620" y="1749245"/>
            <a:ext cx="10972800" cy="4972231"/>
          </a:xfrm>
        </p:spPr>
        <p:txBody>
          <a:bodyPr>
            <a:normAutofit fontScale="85000" lnSpcReduction="20000"/>
          </a:bodyPr>
          <a:lstStyle/>
          <a:p>
            <a:r>
              <a:rPr lang="en-US" b="1" dirty="0"/>
              <a:t>Professor:</a:t>
            </a:r>
            <a:r>
              <a:rPr lang="en-US" dirty="0"/>
              <a:t> Alexey Zimin,  </a:t>
            </a:r>
            <a:r>
              <a:rPr lang="en-US" u="sng" dirty="0">
                <a:hlinkClick r:id="rId2"/>
              </a:rPr>
              <a:t>https://ccb.jhu.edu/people/alekseyz/</a:t>
            </a:r>
            <a:endParaRPr lang="en-US" u="sng" dirty="0"/>
          </a:p>
          <a:p>
            <a:r>
              <a:rPr lang="en-US" b="1" dirty="0"/>
              <a:t>Times:</a:t>
            </a:r>
            <a:r>
              <a:rPr lang="en-US" dirty="0"/>
              <a:t> MWF, 3:00pm – 3:50pm </a:t>
            </a:r>
          </a:p>
          <a:p>
            <a:r>
              <a:rPr lang="en-US" b="1" dirty="0"/>
              <a:t>Location:</a:t>
            </a:r>
            <a:r>
              <a:rPr lang="en-US" dirty="0"/>
              <a:t> Hodson 203</a:t>
            </a:r>
          </a:p>
          <a:p>
            <a:r>
              <a:rPr lang="en-US" b="1" dirty="0"/>
              <a:t>Office hours and location:</a:t>
            </a:r>
            <a:r>
              <a:rPr lang="en-US" dirty="0"/>
              <a:t> Wyman Park building, second floor, S237, Mondays 2pm-3pm (before class).</a:t>
            </a:r>
          </a:p>
          <a:p>
            <a:r>
              <a:rPr lang="en-US" b="1" dirty="0"/>
              <a:t>Textbook:</a:t>
            </a:r>
            <a:r>
              <a:rPr lang="en-US" dirty="0"/>
              <a:t> None, all lecture slides will be made available online</a:t>
            </a:r>
          </a:p>
          <a:p>
            <a:r>
              <a:rPr lang="en-US" b="1" dirty="0"/>
              <a:t>Attendance policy: </a:t>
            </a:r>
            <a:r>
              <a:rPr lang="en-US" dirty="0"/>
              <a:t>attendance is mandatory, no video/audio lecture recordings will be made available online. Lecture slides will be available online. Attendance will be recorded with </a:t>
            </a:r>
            <a:r>
              <a:rPr lang="en-US" dirty="0" err="1"/>
              <a:t>Iclicker</a:t>
            </a:r>
            <a:r>
              <a:rPr lang="en-US" dirty="0"/>
              <a:t>. Please join the class at</a:t>
            </a:r>
            <a:r>
              <a:rPr lang="en-US" dirty="0">
                <a:hlinkClick r:id="rId3"/>
              </a:rPr>
              <a:t> https://join.iclicker.com/PUOA</a:t>
            </a:r>
            <a:r>
              <a:rPr lang="en-US" dirty="0"/>
              <a:t>. Attendance will not be recorded during the first week of class.  Two unexcused absences are allowed.</a:t>
            </a:r>
          </a:p>
          <a:p>
            <a:r>
              <a:rPr lang="en-US" b="1" dirty="0"/>
              <a:t>GRADING POLICY:</a:t>
            </a:r>
            <a:r>
              <a:rPr lang="en-US" dirty="0"/>
              <a:t> Attendance is worth 10%. Six laboratory assignments are worth 13% each. The in-class presentation is worth 12%.</a:t>
            </a:r>
          </a:p>
          <a:p>
            <a:r>
              <a:rPr lang="en-US" dirty="0"/>
              <a:t>The pace of the course may be adjusted as we go through the semester.</a:t>
            </a:r>
          </a:p>
        </p:txBody>
      </p:sp>
      <p:sp>
        <p:nvSpPr>
          <p:cNvPr id="4" name="Slide Number Placeholder 3">
            <a:extLst>
              <a:ext uri="{FF2B5EF4-FFF2-40B4-BE49-F238E27FC236}">
                <a16:creationId xmlns:a16="http://schemas.microsoft.com/office/drawing/2014/main" id="{0F9292D2-1731-815F-4FBC-D993321A78FC}"/>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999224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813C6-CF5E-F19A-1911-C0248DCADEF8}"/>
              </a:ext>
            </a:extLst>
          </p:cNvPr>
          <p:cNvSpPr>
            <a:spLocks noGrp="1"/>
          </p:cNvSpPr>
          <p:nvPr>
            <p:ph type="title"/>
          </p:nvPr>
        </p:nvSpPr>
        <p:spPr/>
        <p:txBody>
          <a:bodyPr>
            <a:normAutofit fontScale="90000"/>
          </a:bodyPr>
          <a:lstStyle/>
          <a:p>
            <a:r>
              <a:rPr lang="en-US" dirty="0"/>
              <a:t>More on the grades</a:t>
            </a:r>
          </a:p>
        </p:txBody>
      </p:sp>
      <p:sp>
        <p:nvSpPr>
          <p:cNvPr id="3" name="Content Placeholder 2">
            <a:extLst>
              <a:ext uri="{FF2B5EF4-FFF2-40B4-BE49-F238E27FC236}">
                <a16:creationId xmlns:a16="http://schemas.microsoft.com/office/drawing/2014/main" id="{19EF5C3B-90EF-64E1-09AF-4D77CB47BE41}"/>
              </a:ext>
            </a:extLst>
          </p:cNvPr>
          <p:cNvSpPr>
            <a:spLocks noGrp="1"/>
          </p:cNvSpPr>
          <p:nvPr>
            <p:ph idx="1"/>
          </p:nvPr>
        </p:nvSpPr>
        <p:spPr>
          <a:xfrm>
            <a:off x="598620" y="1596539"/>
            <a:ext cx="10972800" cy="5039265"/>
          </a:xfrm>
        </p:spPr>
        <p:txBody>
          <a:bodyPr>
            <a:normAutofit/>
          </a:bodyPr>
          <a:lstStyle/>
          <a:p>
            <a:r>
              <a:rPr lang="en-US" dirty="0"/>
              <a:t>Lab assignments will include writing a code to accomplish certain task and may include additional task to plot outputs (depending on the assignment)</a:t>
            </a:r>
          </a:p>
          <a:p>
            <a:r>
              <a:rPr lang="en-US" dirty="0"/>
              <a:t>You can write code in python,  all code submissions will be handled and graded by </a:t>
            </a:r>
            <a:r>
              <a:rPr lang="en-US" dirty="0" err="1"/>
              <a:t>GradeScope</a:t>
            </a:r>
            <a:endParaRPr lang="en-US" dirty="0"/>
          </a:p>
          <a:p>
            <a:r>
              <a:rPr lang="en-US" dirty="0"/>
              <a:t>You can ask AI (e.g. ChatGPT, Claude or MS Copilot) to help you with writing the code, however, the you must understand that an AI will always provide very similar code when prompted. If several students submit very similar code, this will be flagged in </a:t>
            </a:r>
            <a:r>
              <a:rPr lang="en-US" dirty="0" err="1"/>
              <a:t>GradeScope</a:t>
            </a:r>
            <a:r>
              <a:rPr lang="en-US" dirty="0"/>
              <a:t>, and may become grounds for investigation for cheating</a:t>
            </a:r>
          </a:p>
        </p:txBody>
      </p:sp>
      <p:sp>
        <p:nvSpPr>
          <p:cNvPr id="4" name="Slide Number Placeholder 3">
            <a:extLst>
              <a:ext uri="{FF2B5EF4-FFF2-40B4-BE49-F238E27FC236}">
                <a16:creationId xmlns:a16="http://schemas.microsoft.com/office/drawing/2014/main" id="{83A99E4E-B0AA-3BAF-4E55-D4E09E795A22}"/>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365534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4AF5A-638B-145D-8A82-3BE913361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C3353-9A9C-3489-FDEF-EC89FA78FC11}"/>
              </a:ext>
            </a:extLst>
          </p:cNvPr>
          <p:cNvSpPr>
            <a:spLocks noGrp="1"/>
          </p:cNvSpPr>
          <p:nvPr>
            <p:ph type="title"/>
          </p:nvPr>
        </p:nvSpPr>
        <p:spPr/>
        <p:txBody>
          <a:bodyPr>
            <a:normAutofit fontScale="90000"/>
          </a:bodyPr>
          <a:lstStyle/>
          <a:p>
            <a:r>
              <a:rPr lang="en-US" dirty="0"/>
              <a:t>Reading list and presentations</a:t>
            </a:r>
          </a:p>
        </p:txBody>
      </p:sp>
      <p:sp>
        <p:nvSpPr>
          <p:cNvPr id="3" name="Content Placeholder 2">
            <a:extLst>
              <a:ext uri="{FF2B5EF4-FFF2-40B4-BE49-F238E27FC236}">
                <a16:creationId xmlns:a16="http://schemas.microsoft.com/office/drawing/2014/main" id="{2B47A926-0D3F-296B-21A2-0A81ED1DAB52}"/>
              </a:ext>
            </a:extLst>
          </p:cNvPr>
          <p:cNvSpPr>
            <a:spLocks noGrp="1"/>
          </p:cNvSpPr>
          <p:nvPr>
            <p:ph idx="1"/>
          </p:nvPr>
        </p:nvSpPr>
        <p:spPr>
          <a:xfrm>
            <a:off x="598620" y="1596540"/>
            <a:ext cx="10971652" cy="4759811"/>
          </a:xfrm>
        </p:spPr>
        <p:txBody>
          <a:bodyPr>
            <a:normAutofit lnSpcReduction="10000"/>
          </a:bodyPr>
          <a:lstStyle/>
          <a:p>
            <a:r>
              <a:rPr lang="en-US" dirty="0"/>
              <a:t>There will be no final exam</a:t>
            </a:r>
          </a:p>
          <a:p>
            <a:r>
              <a:rPr lang="en-US" dirty="0"/>
              <a:t>I shared a Google Sheet listing a set of papers on genome assembly/annotation (in the online version of the syllabus)</a:t>
            </a:r>
          </a:p>
          <a:p>
            <a:r>
              <a:rPr lang="en-US" dirty="0"/>
              <a:t>Each student can choose a paper they will read (you are welcome to read more than one) </a:t>
            </a:r>
          </a:p>
          <a:p>
            <a:r>
              <a:rPr lang="en-US" dirty="0"/>
              <a:t>Each student will then prepare a 10-minute presentation on an aspect of a paper related to what we studied in class. </a:t>
            </a:r>
          </a:p>
          <a:p>
            <a:r>
              <a:rPr lang="en-US" dirty="0"/>
              <a:t>The presentations will be scheduled during the last three weeks of the course, and they are worth 12% of the grade</a:t>
            </a:r>
          </a:p>
          <a:p>
            <a:r>
              <a:rPr lang="en-US" dirty="0"/>
              <a:t>You must show that you’ve read the paper. Reading AI-prepared presentation notes from your phone screen will not earn you full credit</a:t>
            </a:r>
          </a:p>
          <a:p>
            <a:endParaRPr lang="en-US" dirty="0"/>
          </a:p>
        </p:txBody>
      </p:sp>
      <p:sp>
        <p:nvSpPr>
          <p:cNvPr id="4" name="Slide Number Placeholder 3">
            <a:extLst>
              <a:ext uri="{FF2B5EF4-FFF2-40B4-BE49-F238E27FC236}">
                <a16:creationId xmlns:a16="http://schemas.microsoft.com/office/drawing/2014/main" id="{CA619E31-38DC-B6A3-9554-C6BA937F30D2}"/>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379056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613B-1931-5322-CE3B-0410BFF18CCF}"/>
              </a:ext>
            </a:extLst>
          </p:cNvPr>
          <p:cNvSpPr>
            <a:spLocks noGrp="1"/>
          </p:cNvSpPr>
          <p:nvPr>
            <p:ph type="title"/>
          </p:nvPr>
        </p:nvSpPr>
        <p:spPr/>
        <p:txBody>
          <a:bodyPr>
            <a:normAutofit fontScale="90000"/>
          </a:bodyPr>
          <a:lstStyle/>
          <a:p>
            <a:r>
              <a:rPr lang="en-US" dirty="0"/>
              <a:t>Concepts we will learn</a:t>
            </a:r>
          </a:p>
        </p:txBody>
      </p:sp>
      <p:sp>
        <p:nvSpPr>
          <p:cNvPr id="3" name="Content Placeholder 2">
            <a:extLst>
              <a:ext uri="{FF2B5EF4-FFF2-40B4-BE49-F238E27FC236}">
                <a16:creationId xmlns:a16="http://schemas.microsoft.com/office/drawing/2014/main" id="{350B2E19-F44E-A885-A753-15020D4916B1}"/>
              </a:ext>
            </a:extLst>
          </p:cNvPr>
          <p:cNvSpPr>
            <a:spLocks noGrp="1"/>
          </p:cNvSpPr>
          <p:nvPr>
            <p:ph idx="1"/>
          </p:nvPr>
        </p:nvSpPr>
        <p:spPr>
          <a:xfrm>
            <a:off x="609600" y="1872092"/>
            <a:ext cx="10972800" cy="4666821"/>
          </a:xfrm>
        </p:spPr>
        <p:txBody>
          <a:bodyPr>
            <a:normAutofit/>
          </a:bodyPr>
          <a:lstStyle/>
          <a:p>
            <a:r>
              <a:rPr lang="en-US" dirty="0"/>
              <a:t>Basics of DNA/RNA sequencing</a:t>
            </a:r>
          </a:p>
          <a:p>
            <a:r>
              <a:rPr lang="en-US" dirty="0"/>
              <a:t>Alignment of DNA/RNA/AA sequences, suffix arrays, BW transform, Smith-Waterman alignment</a:t>
            </a:r>
          </a:p>
          <a:p>
            <a:r>
              <a:rPr lang="en-US" dirty="0"/>
              <a:t>Assembly methods of DNA/RNA sequencing data and corresponding data structures: k-mer and overlap graphs</a:t>
            </a:r>
          </a:p>
          <a:p>
            <a:r>
              <a:rPr lang="en-US" dirty="0"/>
              <a:t>Evaluation of assemblies</a:t>
            </a:r>
          </a:p>
          <a:p>
            <a:r>
              <a:rPr lang="en-US" dirty="0"/>
              <a:t>Making sense of the genomic sequence -- introduction to genome annotation, use of deep learning in genome annotation</a:t>
            </a:r>
          </a:p>
          <a:p>
            <a:endParaRPr lang="en-US" dirty="0"/>
          </a:p>
        </p:txBody>
      </p:sp>
      <p:sp>
        <p:nvSpPr>
          <p:cNvPr id="4" name="Slide Number Placeholder 3">
            <a:extLst>
              <a:ext uri="{FF2B5EF4-FFF2-40B4-BE49-F238E27FC236}">
                <a16:creationId xmlns:a16="http://schemas.microsoft.com/office/drawing/2014/main" id="{AE15C277-C6A4-E5B7-63B3-0BC8B74D377D}"/>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3431220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C4F8B-CDAB-CFF6-2F26-3E0E42DF55CA}"/>
              </a:ext>
            </a:extLst>
          </p:cNvPr>
          <p:cNvSpPr>
            <a:spLocks noGrp="1"/>
          </p:cNvSpPr>
          <p:nvPr>
            <p:ph type="title"/>
          </p:nvPr>
        </p:nvSpPr>
        <p:spPr/>
        <p:txBody>
          <a:bodyPr>
            <a:normAutofit fontScale="90000"/>
          </a:bodyPr>
          <a:lstStyle/>
          <a:p>
            <a:r>
              <a:rPr lang="en-US" dirty="0"/>
              <a:t>Computing facilities</a:t>
            </a:r>
          </a:p>
        </p:txBody>
      </p:sp>
      <p:sp>
        <p:nvSpPr>
          <p:cNvPr id="3" name="Content Placeholder 2">
            <a:extLst>
              <a:ext uri="{FF2B5EF4-FFF2-40B4-BE49-F238E27FC236}">
                <a16:creationId xmlns:a16="http://schemas.microsoft.com/office/drawing/2014/main" id="{4BCFBD16-2336-DD16-E500-F0C719D3871C}"/>
              </a:ext>
            </a:extLst>
          </p:cNvPr>
          <p:cNvSpPr>
            <a:spLocks noGrp="1"/>
          </p:cNvSpPr>
          <p:nvPr>
            <p:ph idx="1"/>
          </p:nvPr>
        </p:nvSpPr>
        <p:spPr>
          <a:xfrm>
            <a:off x="597472" y="1787986"/>
            <a:ext cx="10972800" cy="3918803"/>
          </a:xfrm>
        </p:spPr>
        <p:txBody>
          <a:bodyPr/>
          <a:lstStyle/>
          <a:p>
            <a:r>
              <a:rPr lang="en-US" dirty="0"/>
              <a:t>I designed most of the lab assignments to be light on the data/computing, a laptop with 8-16Gb of RAM and a few Gb of available disk space will be enough for the labs</a:t>
            </a:r>
          </a:p>
          <a:p>
            <a:r>
              <a:rPr lang="en-US" dirty="0"/>
              <a:t>You can use campus computing facilities that are available to you</a:t>
            </a:r>
          </a:p>
          <a:p>
            <a:r>
              <a:rPr lang="en-US" dirty="0"/>
              <a:t>Talk to me after class if you need computer access</a:t>
            </a:r>
          </a:p>
        </p:txBody>
      </p:sp>
      <p:sp>
        <p:nvSpPr>
          <p:cNvPr id="4" name="Slide Number Placeholder 3">
            <a:extLst>
              <a:ext uri="{FF2B5EF4-FFF2-40B4-BE49-F238E27FC236}">
                <a16:creationId xmlns:a16="http://schemas.microsoft.com/office/drawing/2014/main" id="{2877BFDB-D530-D602-2E8C-DACC5E75CC18}"/>
              </a:ext>
            </a:extLst>
          </p:cNvPr>
          <p:cNvSpPr>
            <a:spLocks noGrp="1"/>
          </p:cNvSpPr>
          <p:nvPr>
            <p:ph type="sldNum" sz="quarter" idx="12"/>
          </p:nvPr>
        </p:nvSpPr>
        <p:spPr/>
        <p:txBody>
          <a:bodyPr/>
          <a:lstStyle/>
          <a:p>
            <a:fld id="{B82CCC60-E8CD-4174-8B1A-7DF615B22EEF}" type="slidenum">
              <a:rPr lang="en-US" smtClean="0"/>
              <a:pPr/>
              <a:t>7</a:t>
            </a:fld>
            <a:endParaRPr lang="en-US"/>
          </a:p>
        </p:txBody>
      </p:sp>
    </p:spTree>
    <p:extLst>
      <p:ext uri="{BB962C8B-B14F-4D97-AF65-F5344CB8AC3E}">
        <p14:creationId xmlns:p14="http://schemas.microsoft.com/office/powerpoint/2010/main" val="2756968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9705F-2E18-7D0C-AFCA-58EF3F1E778E}"/>
              </a:ext>
            </a:extLst>
          </p:cNvPr>
          <p:cNvSpPr>
            <a:spLocks noGrp="1"/>
          </p:cNvSpPr>
          <p:nvPr>
            <p:ph type="title"/>
          </p:nvPr>
        </p:nvSpPr>
        <p:spPr/>
        <p:txBody>
          <a:bodyPr>
            <a:normAutofit fontScale="90000"/>
          </a:bodyPr>
          <a:lstStyle/>
          <a:p>
            <a:r>
              <a:rPr lang="en-US" dirty="0"/>
              <a:t>What is DNA?</a:t>
            </a:r>
          </a:p>
        </p:txBody>
      </p:sp>
      <p:sp>
        <p:nvSpPr>
          <p:cNvPr id="4" name="Slide Number Placeholder 3">
            <a:extLst>
              <a:ext uri="{FF2B5EF4-FFF2-40B4-BE49-F238E27FC236}">
                <a16:creationId xmlns:a16="http://schemas.microsoft.com/office/drawing/2014/main" id="{26BEAA35-F6C6-8520-E052-73608F11DB4D}"/>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7" name="Picture 4" descr="dna_cpk_lg">
            <a:extLst>
              <a:ext uri="{FF2B5EF4-FFF2-40B4-BE49-F238E27FC236}">
                <a16:creationId xmlns:a16="http://schemas.microsoft.com/office/drawing/2014/main" id="{C8F8BB85-2D21-0D62-902C-EC586E217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10" y="1749245"/>
            <a:ext cx="4733855" cy="4840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5">
            <a:extLst>
              <a:ext uri="{FF2B5EF4-FFF2-40B4-BE49-F238E27FC236}">
                <a16:creationId xmlns:a16="http://schemas.microsoft.com/office/drawing/2014/main" id="{901210FC-B53E-1AF0-E2E2-F75F5A29BB0E}"/>
              </a:ext>
            </a:extLst>
          </p:cNvPr>
          <p:cNvSpPr txBox="1">
            <a:spLocks noChangeArrowheads="1"/>
          </p:cNvSpPr>
          <p:nvPr/>
        </p:nvSpPr>
        <p:spPr bwMode="auto">
          <a:xfrm>
            <a:off x="5105400" y="1410355"/>
            <a:ext cx="6466020"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257300" indent="-3429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buFontTx/>
              <a:buChar char="•"/>
            </a:pPr>
            <a:r>
              <a:rPr lang="en-US" altLang="en-US" sz="2400" dirty="0">
                <a:latin typeface="Arial" panose="020B0604020202020204" pitchFamily="34" charset="0"/>
              </a:rPr>
              <a:t>Most cells in all living beings have a DNA molecule in their nucleus </a:t>
            </a:r>
          </a:p>
          <a:p>
            <a:pPr>
              <a:spcBef>
                <a:spcPct val="50000"/>
              </a:spcBef>
              <a:buFontTx/>
              <a:buChar char="•"/>
            </a:pPr>
            <a:r>
              <a:rPr lang="en-US" altLang="en-US" sz="2400" dirty="0">
                <a:latin typeface="Arial" panose="020B0604020202020204" pitchFamily="34" charset="0"/>
              </a:rPr>
              <a:t>DNA abbreviates </a:t>
            </a:r>
            <a:r>
              <a:rPr lang="en-US" altLang="en-US" sz="2400" dirty="0" err="1">
                <a:latin typeface="Arial" panose="020B0604020202020204" pitchFamily="34" charset="0"/>
              </a:rPr>
              <a:t>DeoxyriboNucleic</a:t>
            </a:r>
            <a:r>
              <a:rPr lang="en-US" altLang="en-US" sz="2400" dirty="0">
                <a:latin typeface="Arial" panose="020B0604020202020204" pitchFamily="34" charset="0"/>
              </a:rPr>
              <a:t> Acid </a:t>
            </a:r>
          </a:p>
          <a:p>
            <a:pPr>
              <a:spcBef>
                <a:spcPct val="50000"/>
              </a:spcBef>
              <a:buFontTx/>
              <a:buChar char="•"/>
            </a:pPr>
            <a:r>
              <a:rPr lang="en-US" altLang="en-US" sz="2400" dirty="0">
                <a:latin typeface="Arial" panose="020B0604020202020204" pitchFamily="34" charset="0"/>
              </a:rPr>
              <a:t>Determines the structure, function, and behavior of the cell </a:t>
            </a:r>
          </a:p>
          <a:p>
            <a:pPr eaLnBrk="1" hangingPunct="1">
              <a:spcBef>
                <a:spcPct val="50000"/>
              </a:spcBef>
              <a:buFontTx/>
              <a:buChar char="•"/>
            </a:pPr>
            <a:r>
              <a:rPr lang="en-US" altLang="en-US" sz="2400" dirty="0">
                <a:latin typeface="Arial" panose="020B0604020202020204" pitchFamily="34" charset="0"/>
              </a:rPr>
              <a:t>Linear, d</a:t>
            </a:r>
            <a:r>
              <a:rPr lang="ru-RU" altLang="en-US" sz="2400" dirty="0">
                <a:latin typeface="Arial" panose="020B0604020202020204" pitchFamily="34" charset="0"/>
              </a:rPr>
              <a:t>ouble-stranded, </a:t>
            </a:r>
            <a:r>
              <a:rPr lang="en-US" altLang="en-US" sz="2400" dirty="0">
                <a:latin typeface="Arial" panose="020B0604020202020204" pitchFamily="34" charset="0"/>
              </a:rPr>
              <a:t>h</a:t>
            </a:r>
            <a:r>
              <a:rPr lang="ru-RU" altLang="en-US" sz="2400" dirty="0">
                <a:latin typeface="Arial" panose="020B0604020202020204" pitchFamily="34" charset="0"/>
              </a:rPr>
              <a:t>elical molecul</a:t>
            </a:r>
            <a:r>
              <a:rPr lang="en-US" altLang="en-US" sz="2400" dirty="0">
                <a:latin typeface="Arial" panose="020B0604020202020204" pitchFamily="34" charset="0"/>
              </a:rPr>
              <a:t>e.</a:t>
            </a:r>
          </a:p>
          <a:p>
            <a:pPr eaLnBrk="1" hangingPunct="1">
              <a:spcBef>
                <a:spcPct val="50000"/>
              </a:spcBef>
              <a:buFontTx/>
              <a:buChar char="•"/>
            </a:pPr>
            <a:r>
              <a:rPr lang="en-US" altLang="en-US" sz="2400" dirty="0">
                <a:latin typeface="Arial" panose="020B0604020202020204" pitchFamily="34" charset="0"/>
              </a:rPr>
              <a:t>Consists of four types of nucleotides (bases):</a:t>
            </a:r>
          </a:p>
          <a:p>
            <a:pPr eaLnBrk="1" hangingPunct="1">
              <a:spcBef>
                <a:spcPct val="50000"/>
              </a:spcBef>
            </a:pPr>
            <a:r>
              <a:rPr lang="en-US" altLang="en-US" sz="2400" dirty="0">
                <a:latin typeface="Arial" panose="020B0604020202020204" pitchFamily="34" charset="0"/>
              </a:rPr>
              <a:t>           </a:t>
            </a:r>
            <a:r>
              <a:rPr lang="ru-RU" altLang="en-US" sz="2400" dirty="0">
                <a:latin typeface="Arial" panose="020B0604020202020204" pitchFamily="34" charset="0"/>
              </a:rPr>
              <a:t>adenine (</a:t>
            </a:r>
            <a:r>
              <a:rPr lang="ru-RU" altLang="en-US" sz="2400" dirty="0">
                <a:solidFill>
                  <a:schemeClr val="accent4"/>
                </a:solidFill>
                <a:latin typeface="Arial" panose="020B0604020202020204" pitchFamily="34" charset="0"/>
              </a:rPr>
              <a:t>A</a:t>
            </a:r>
            <a:r>
              <a:rPr lang="ru-RU" altLang="en-US" sz="2400" dirty="0">
                <a:latin typeface="Arial" panose="020B0604020202020204" pitchFamily="34" charset="0"/>
              </a:rPr>
              <a:t>)</a:t>
            </a:r>
            <a:endParaRPr lang="en-US" altLang="en-US" sz="2400" dirty="0">
              <a:latin typeface="Arial" panose="020B0604020202020204" pitchFamily="34" charset="0"/>
            </a:endParaRPr>
          </a:p>
          <a:p>
            <a:pPr lvl="2" eaLnBrk="1" hangingPunct="1"/>
            <a:r>
              <a:rPr lang="ru-RU" altLang="en-US" sz="2400" dirty="0">
                <a:latin typeface="Arial" panose="020B0604020202020204" pitchFamily="34" charset="0"/>
              </a:rPr>
              <a:t>thymine (</a:t>
            </a:r>
            <a:r>
              <a:rPr lang="ru-RU" altLang="en-US" sz="2400" dirty="0">
                <a:solidFill>
                  <a:schemeClr val="accent4"/>
                </a:solidFill>
                <a:latin typeface="Arial" panose="020B0604020202020204" pitchFamily="34" charset="0"/>
              </a:rPr>
              <a:t>T</a:t>
            </a:r>
            <a:r>
              <a:rPr lang="en-US" altLang="en-US" sz="2400" dirty="0">
                <a:latin typeface="Arial" panose="020B0604020202020204" pitchFamily="34" charset="0"/>
              </a:rPr>
              <a:t>)</a:t>
            </a:r>
          </a:p>
          <a:p>
            <a:pPr lvl="2" eaLnBrk="1" hangingPunct="1"/>
            <a:r>
              <a:rPr lang="ru-RU" altLang="en-US" sz="2400" dirty="0">
                <a:latin typeface="Arial" panose="020B0604020202020204" pitchFamily="34" charset="0"/>
              </a:rPr>
              <a:t>guanine (</a:t>
            </a:r>
            <a:r>
              <a:rPr lang="ru-RU" altLang="en-US" sz="2400" dirty="0">
                <a:solidFill>
                  <a:schemeClr val="accent4"/>
                </a:solidFill>
                <a:latin typeface="Arial" panose="020B0604020202020204" pitchFamily="34" charset="0"/>
              </a:rPr>
              <a:t>G</a:t>
            </a:r>
            <a:r>
              <a:rPr lang="ru-RU" altLang="en-US" sz="2400" dirty="0">
                <a:latin typeface="Arial" panose="020B0604020202020204" pitchFamily="34" charset="0"/>
              </a:rPr>
              <a:t>)</a:t>
            </a:r>
            <a:endParaRPr lang="en-US" altLang="en-US" sz="2400" dirty="0">
              <a:latin typeface="Arial" panose="020B0604020202020204" pitchFamily="34" charset="0"/>
            </a:endParaRPr>
          </a:p>
          <a:p>
            <a:pPr lvl="2" eaLnBrk="1" hangingPunct="1"/>
            <a:r>
              <a:rPr lang="ru-RU" altLang="en-US" sz="2400" dirty="0">
                <a:latin typeface="Arial" panose="020B0604020202020204" pitchFamily="34" charset="0"/>
              </a:rPr>
              <a:t>cytosine (</a:t>
            </a:r>
            <a:r>
              <a:rPr lang="ru-RU" altLang="en-US" sz="2400" dirty="0">
                <a:solidFill>
                  <a:schemeClr val="accent4"/>
                </a:solidFill>
                <a:latin typeface="Arial" panose="020B0604020202020204" pitchFamily="34" charset="0"/>
              </a:rPr>
              <a:t>C</a:t>
            </a:r>
            <a:r>
              <a:rPr lang="ru-RU" altLang="en-US" sz="2400" dirty="0">
                <a:latin typeface="Arial" panose="020B0604020202020204" pitchFamily="34" charset="0"/>
              </a:rPr>
              <a:t>)</a:t>
            </a:r>
          </a:p>
        </p:txBody>
      </p:sp>
    </p:spTree>
    <p:extLst>
      <p:ext uri="{BB962C8B-B14F-4D97-AF65-F5344CB8AC3E}">
        <p14:creationId xmlns:p14="http://schemas.microsoft.com/office/powerpoint/2010/main" val="134464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box(in)">
                                      <p:cBhvr>
                                        <p:cTn id="7" dur="500"/>
                                        <p:tgtEl>
                                          <p:spTgt spid="8">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blinds(horizontal)">
                                      <p:cBhvr>
                                        <p:cTn id="12" dur="500"/>
                                        <p:tgtEl>
                                          <p:spTgt spid="8">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animEffect transition="in" filter="blinds(horizontal)">
                                      <p:cBhvr>
                                        <p:cTn id="15" dur="500"/>
                                        <p:tgtEl>
                                          <p:spTgt spid="8">
                                            <p:txEl>
                                              <p:pRg st="6" end="6"/>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
                                            <p:txEl>
                                              <p:pRg st="7" end="7"/>
                                            </p:txEl>
                                          </p:spTgt>
                                        </p:tgtEl>
                                        <p:attrNameLst>
                                          <p:attrName>style.visibility</p:attrName>
                                        </p:attrNameLst>
                                      </p:cBhvr>
                                      <p:to>
                                        <p:strVal val="visible"/>
                                      </p:to>
                                    </p:set>
                                    <p:animEffect transition="in" filter="blinds(horizontal)">
                                      <p:cBhvr>
                                        <p:cTn id="18" dur="500"/>
                                        <p:tgtEl>
                                          <p:spTgt spid="8">
                                            <p:txEl>
                                              <p:pRg st="7" end="7"/>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animEffect transition="in" filter="blinds(horizontal)">
                                      <p:cBhvr>
                                        <p:cTn id="21"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CFDA-8F37-5126-B5C4-E996A15E16C0}"/>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4F3F724D-32A2-45C6-F865-47EC044B5421}"/>
              </a:ext>
            </a:extLst>
          </p:cNvPr>
          <p:cNvSpPr>
            <a:spLocks noGrp="1"/>
          </p:cNvSpPr>
          <p:nvPr>
            <p:ph type="sldNum" sz="quarter" idx="12"/>
          </p:nvPr>
        </p:nvSpPr>
        <p:spPr/>
        <p:txBody>
          <a:bodyPr/>
          <a:lstStyle/>
          <a:p>
            <a:fld id="{B82CCC60-E8CD-4174-8B1A-7DF615B22EEF}" type="slidenum">
              <a:rPr lang="en-US" smtClean="0"/>
              <a:pPr/>
              <a:t>9</a:t>
            </a:fld>
            <a:endParaRPr lang="en-US"/>
          </a:p>
        </p:txBody>
      </p:sp>
      <p:cxnSp>
        <p:nvCxnSpPr>
          <p:cNvPr id="6" name="Straight Connector 5">
            <a:extLst>
              <a:ext uri="{FF2B5EF4-FFF2-40B4-BE49-F238E27FC236}">
                <a16:creationId xmlns:a16="http://schemas.microsoft.com/office/drawing/2014/main" id="{C59CEBD8-E8FA-6407-FA11-80985A23A658}"/>
              </a:ext>
            </a:extLst>
          </p:cNvPr>
          <p:cNvCxnSpPr/>
          <p:nvPr/>
        </p:nvCxnSpPr>
        <p:spPr>
          <a:xfrm>
            <a:off x="1362145" y="2207360"/>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0F1219-1E1C-D142-9792-CB723FAECCEB}"/>
              </a:ext>
            </a:extLst>
          </p:cNvPr>
          <p:cNvSpPr txBox="1"/>
          <p:nvPr/>
        </p:nvSpPr>
        <p:spPr>
          <a:xfrm>
            <a:off x="1209440" y="1622585"/>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7F25C6E0-1562-23AB-DB59-7A5BCFCDF792}"/>
              </a:ext>
            </a:extLst>
          </p:cNvPr>
          <p:cNvSpPr txBox="1"/>
          <p:nvPr/>
        </p:nvSpPr>
        <p:spPr>
          <a:xfrm>
            <a:off x="1209440" y="2613246"/>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8CCB24F8-D379-8818-423D-D1B7E99C2B5C}"/>
              </a:ext>
            </a:extLst>
          </p:cNvPr>
          <p:cNvCxnSpPr/>
          <p:nvPr/>
        </p:nvCxnSpPr>
        <p:spPr>
          <a:xfrm>
            <a:off x="1362145" y="3188128"/>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97C265-E613-C3EB-FE56-240D76B309AF}"/>
              </a:ext>
            </a:extLst>
          </p:cNvPr>
          <p:cNvSpPr txBox="1"/>
          <p:nvPr/>
        </p:nvSpPr>
        <p:spPr>
          <a:xfrm>
            <a:off x="1205414" y="3584121"/>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24D04792-F684-1A66-9DA3-6245FDC41DAD}"/>
              </a:ext>
            </a:extLst>
          </p:cNvPr>
          <p:cNvCxnSpPr>
            <a:cxnSpLocks/>
          </p:cNvCxnSpPr>
          <p:nvPr/>
        </p:nvCxnSpPr>
        <p:spPr>
          <a:xfrm flipH="1">
            <a:off x="1562242"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625EE9E-F5DC-1308-887C-6745C926B476}"/>
              </a:ext>
            </a:extLst>
          </p:cNvPr>
          <p:cNvCxnSpPr>
            <a:cxnSpLocks/>
          </p:cNvCxnSpPr>
          <p:nvPr/>
        </p:nvCxnSpPr>
        <p:spPr>
          <a:xfrm flipH="1">
            <a:off x="1562242"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4A7403C-8C5B-7763-F0C4-F60E684A8B87}"/>
              </a:ext>
            </a:extLst>
          </p:cNvPr>
          <p:cNvCxnSpPr>
            <a:cxnSpLocks/>
          </p:cNvCxnSpPr>
          <p:nvPr/>
        </p:nvCxnSpPr>
        <p:spPr>
          <a:xfrm flipH="1">
            <a:off x="641986"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C2711A-2FED-8CC7-ABD3-511B100487D6}"/>
              </a:ext>
            </a:extLst>
          </p:cNvPr>
          <p:cNvCxnSpPr>
            <a:cxnSpLocks/>
          </p:cNvCxnSpPr>
          <p:nvPr/>
        </p:nvCxnSpPr>
        <p:spPr>
          <a:xfrm flipH="1">
            <a:off x="641986"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A860F89-FA43-D71A-DB05-8082E6E104A9}"/>
              </a:ext>
            </a:extLst>
          </p:cNvPr>
          <p:cNvSpPr txBox="1"/>
          <p:nvPr/>
        </p:nvSpPr>
        <p:spPr>
          <a:xfrm>
            <a:off x="2121643" y="2652837"/>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280CA31B-66B6-ACB1-1D0A-1A0B0B797155}"/>
              </a:ext>
            </a:extLst>
          </p:cNvPr>
          <p:cNvSpPr txBox="1"/>
          <p:nvPr/>
        </p:nvSpPr>
        <p:spPr>
          <a:xfrm>
            <a:off x="255271" y="2623401"/>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EF2C8E1E-D8B7-E31F-29D1-1DA15BB2FEBD}"/>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86F7D1F-9B79-471A-09F6-43850B25393B}"/>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973DBCFB-E0C6-E45C-2E55-83B9B8EAD2E3}"/>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FB99F5F-BCD4-5C58-41F6-1D6BDF335A59}"/>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07138A59-0F5C-3CE2-BDCC-00AB45951950}"/>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1FB4347-8CBC-B679-FB8B-1575A6402199}"/>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6C877F77-FB66-3EBD-E905-CC8229DEF779}"/>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217CBBD-D63D-A145-241F-D88AC0C8F9FB}"/>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26C8B25F-2E60-FC89-33F9-10D5A6DCB903}"/>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B558A5E-D50C-B8CC-BC8C-27A26F96F055}"/>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A0656ABC-C7E9-C9F8-7500-3BAABBF93E5C}"/>
              </a:ext>
            </a:extLst>
          </p:cNvPr>
          <p:cNvCxnSpPr>
            <a:cxnSpLocks/>
            <a:stCxn id="56" idx="3"/>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6C52303-D13C-3352-8012-74EE1EC0B0CF}"/>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D5170215-83AC-5445-87B0-347853C546C7}"/>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81B94DE-9F75-D177-7FB8-3F0407ED5B89}"/>
              </a:ext>
            </a:extLst>
          </p:cNvPr>
          <p:cNvSpPr txBox="1"/>
          <p:nvPr/>
        </p:nvSpPr>
        <p:spPr>
          <a:xfrm>
            <a:off x="2876353" y="3041385"/>
            <a:ext cx="713657" cy="584775"/>
          </a:xfrm>
          <a:prstGeom prst="rect">
            <a:avLst/>
          </a:prstGeom>
          <a:noFill/>
        </p:spPr>
        <p:txBody>
          <a:bodyPr wrap="none" rtlCol="0">
            <a:spAutoFit/>
          </a:bodyPr>
          <a:lstStyle/>
          <a:p>
            <a:r>
              <a:rPr lang="en-US" sz="3200" dirty="0"/>
              <a:t>OH</a:t>
            </a:r>
          </a:p>
        </p:txBody>
      </p:sp>
      <p:cxnSp>
        <p:nvCxnSpPr>
          <p:cNvPr id="59" name="Straight Connector 58">
            <a:extLst>
              <a:ext uri="{FF2B5EF4-FFF2-40B4-BE49-F238E27FC236}">
                <a16:creationId xmlns:a16="http://schemas.microsoft.com/office/drawing/2014/main" id="{8FE9A664-1405-852E-613C-CD763076BF78}"/>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7744E23-C9FA-0913-E686-7577E28B370A}"/>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cxnSp>
        <p:nvCxnSpPr>
          <p:cNvPr id="64" name="Straight Connector 63">
            <a:extLst>
              <a:ext uri="{FF2B5EF4-FFF2-40B4-BE49-F238E27FC236}">
                <a16:creationId xmlns:a16="http://schemas.microsoft.com/office/drawing/2014/main" id="{0E512A0D-D729-E2B7-B2E6-2838B9569DF5}"/>
              </a:ext>
            </a:extLst>
          </p:cNvPr>
          <p:cNvCxnSpPr>
            <a:cxnSpLocks/>
            <a:stCxn id="28" idx="3"/>
            <a:endCxn id="67" idx="1"/>
          </p:cNvCxnSpPr>
          <p:nvPr/>
        </p:nvCxnSpPr>
        <p:spPr>
          <a:xfrm flipV="1">
            <a:off x="7437048" y="4185781"/>
            <a:ext cx="393642" cy="183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B4B3F01-60B2-1D84-791D-4D1EECA8E067}"/>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6CA5A169-25C5-3D49-BCF1-77685EB06DEC}"/>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0" name="TextBox 69">
            <a:extLst>
              <a:ext uri="{FF2B5EF4-FFF2-40B4-BE49-F238E27FC236}">
                <a16:creationId xmlns:a16="http://schemas.microsoft.com/office/drawing/2014/main" id="{7EBBC627-29D5-2653-3927-7A7B0164E08A}"/>
              </a:ext>
            </a:extLst>
          </p:cNvPr>
          <p:cNvSpPr txBox="1"/>
          <p:nvPr/>
        </p:nvSpPr>
        <p:spPr>
          <a:xfrm>
            <a:off x="4432572" y="2360449"/>
            <a:ext cx="3971344" cy="584775"/>
          </a:xfrm>
          <a:prstGeom prst="rect">
            <a:avLst/>
          </a:prstGeom>
          <a:noFill/>
        </p:spPr>
        <p:txBody>
          <a:bodyPr wrap="none" rtlCol="0">
            <a:spAutoFit/>
          </a:bodyPr>
          <a:lstStyle/>
          <a:p>
            <a:r>
              <a:rPr lang="en-US" sz="3200" dirty="0"/>
              <a:t>Pentose sugar (Ribose)</a:t>
            </a:r>
          </a:p>
        </p:txBody>
      </p:sp>
      <p:sp>
        <p:nvSpPr>
          <p:cNvPr id="71" name="TextBox 70">
            <a:extLst>
              <a:ext uri="{FF2B5EF4-FFF2-40B4-BE49-F238E27FC236}">
                <a16:creationId xmlns:a16="http://schemas.microsoft.com/office/drawing/2014/main" id="{B62101E9-3B1C-D47E-B46E-DBF8D5665ABC}"/>
              </a:ext>
            </a:extLst>
          </p:cNvPr>
          <p:cNvSpPr txBox="1"/>
          <p:nvPr/>
        </p:nvSpPr>
        <p:spPr>
          <a:xfrm>
            <a:off x="9913625" y="4711406"/>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CF0DDFBE-0B61-97D2-4537-D61E382E17AF}"/>
              </a:ext>
            </a:extLst>
          </p:cNvPr>
          <p:cNvPicPr>
            <a:picLocks noChangeAspect="1"/>
          </p:cNvPicPr>
          <p:nvPr/>
        </p:nvPicPr>
        <p:blipFill>
          <a:blip r:embed="rId2"/>
          <a:stretch>
            <a:fillRect/>
          </a:stretch>
        </p:blipFill>
        <p:spPr>
          <a:xfrm>
            <a:off x="8516955" y="1259047"/>
            <a:ext cx="3662572" cy="3252942"/>
          </a:xfrm>
          <a:prstGeom prst="rect">
            <a:avLst/>
          </a:prstGeom>
        </p:spPr>
      </p:pic>
      <p:cxnSp>
        <p:nvCxnSpPr>
          <p:cNvPr id="78" name="Straight Connector 77">
            <a:extLst>
              <a:ext uri="{FF2B5EF4-FFF2-40B4-BE49-F238E27FC236}">
                <a16:creationId xmlns:a16="http://schemas.microsoft.com/office/drawing/2014/main" id="{501F58C0-51C5-C713-26CD-07613FE94F4F}"/>
              </a:ext>
            </a:extLst>
          </p:cNvPr>
          <p:cNvCxnSpPr>
            <a:cxnSpLocks/>
            <a:stCxn id="79" idx="0"/>
            <a:endCxn id="32" idx="2"/>
          </p:cNvCxnSpPr>
          <p:nvPr/>
        </p:nvCxnSpPr>
        <p:spPr>
          <a:xfrm flipH="1" flipV="1">
            <a:off x="6900909" y="5611521"/>
            <a:ext cx="264957" cy="6617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285B96AC-1327-976E-F9D6-9ED15F25E9AA}"/>
              </a:ext>
            </a:extLst>
          </p:cNvPr>
          <p:cNvSpPr txBox="1"/>
          <p:nvPr/>
        </p:nvSpPr>
        <p:spPr>
          <a:xfrm>
            <a:off x="6809037" y="6273225"/>
            <a:ext cx="713657" cy="584775"/>
          </a:xfrm>
          <a:prstGeom prst="rect">
            <a:avLst/>
          </a:prstGeom>
          <a:noFill/>
        </p:spPr>
        <p:txBody>
          <a:bodyPr wrap="none" rtlCol="0">
            <a:spAutoFit/>
          </a:bodyPr>
          <a:lstStyle/>
          <a:p>
            <a:r>
              <a:rPr lang="en-US" sz="3200" dirty="0"/>
              <a:t>OH</a:t>
            </a:r>
          </a:p>
        </p:txBody>
      </p:sp>
    </p:spTree>
    <p:extLst>
      <p:ext uri="{BB962C8B-B14F-4D97-AF65-F5344CB8AC3E}">
        <p14:creationId xmlns:p14="http://schemas.microsoft.com/office/powerpoint/2010/main" val="336277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8FA6F-868E-A993-9B30-AA7ADE78B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A4AFA-6D92-D9F1-63A5-93BC5D051F2D}"/>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24F83B56-44F3-50CD-CB4D-8899B22CA1A6}"/>
              </a:ext>
            </a:extLst>
          </p:cNvPr>
          <p:cNvSpPr>
            <a:spLocks noGrp="1"/>
          </p:cNvSpPr>
          <p:nvPr>
            <p:ph type="sldNum" sz="quarter" idx="12"/>
          </p:nvPr>
        </p:nvSpPr>
        <p:spPr/>
        <p:txBody>
          <a:bodyPr/>
          <a:lstStyle/>
          <a:p>
            <a:fld id="{B82CCC60-E8CD-4174-8B1A-7DF615B22EEF}" type="slidenum">
              <a:rPr lang="en-US" smtClean="0"/>
              <a:pPr/>
              <a:t>10</a:t>
            </a:fld>
            <a:endParaRPr lang="en-US"/>
          </a:p>
        </p:txBody>
      </p:sp>
      <p:cxnSp>
        <p:nvCxnSpPr>
          <p:cNvPr id="6" name="Straight Connector 5">
            <a:extLst>
              <a:ext uri="{FF2B5EF4-FFF2-40B4-BE49-F238E27FC236}">
                <a16:creationId xmlns:a16="http://schemas.microsoft.com/office/drawing/2014/main" id="{B23C8A70-640D-635E-7D10-09FF3FDE01C4}"/>
              </a:ext>
            </a:extLst>
          </p:cNvPr>
          <p:cNvCxnSpPr/>
          <p:nvPr/>
        </p:nvCxnSpPr>
        <p:spPr>
          <a:xfrm>
            <a:off x="1362145" y="2207360"/>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C82C74F-438A-BAA0-BF71-65A466B8A819}"/>
              </a:ext>
            </a:extLst>
          </p:cNvPr>
          <p:cNvSpPr txBox="1"/>
          <p:nvPr/>
        </p:nvSpPr>
        <p:spPr>
          <a:xfrm>
            <a:off x="1209440" y="1622585"/>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CBB03E3C-BF2F-D436-31F0-C0E1D5A1EF0D}"/>
              </a:ext>
            </a:extLst>
          </p:cNvPr>
          <p:cNvSpPr txBox="1"/>
          <p:nvPr/>
        </p:nvSpPr>
        <p:spPr>
          <a:xfrm>
            <a:off x="1209440" y="2613246"/>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3E47F9FC-130B-80EB-D2B4-114E60001042}"/>
              </a:ext>
            </a:extLst>
          </p:cNvPr>
          <p:cNvCxnSpPr/>
          <p:nvPr/>
        </p:nvCxnSpPr>
        <p:spPr>
          <a:xfrm>
            <a:off x="1362145" y="3188128"/>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AEA6C47-F573-C5F1-9242-B592EAD6C8FD}"/>
              </a:ext>
            </a:extLst>
          </p:cNvPr>
          <p:cNvSpPr txBox="1"/>
          <p:nvPr/>
        </p:nvSpPr>
        <p:spPr>
          <a:xfrm>
            <a:off x="1205414" y="3584121"/>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9945E5D4-8D2A-4D1A-3917-2E6FBC8BFDFC}"/>
              </a:ext>
            </a:extLst>
          </p:cNvPr>
          <p:cNvCxnSpPr>
            <a:cxnSpLocks/>
          </p:cNvCxnSpPr>
          <p:nvPr/>
        </p:nvCxnSpPr>
        <p:spPr>
          <a:xfrm flipH="1">
            <a:off x="1562242"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2F8C29-827B-B345-E206-67F78FBF7FDC}"/>
              </a:ext>
            </a:extLst>
          </p:cNvPr>
          <p:cNvCxnSpPr>
            <a:cxnSpLocks/>
          </p:cNvCxnSpPr>
          <p:nvPr/>
        </p:nvCxnSpPr>
        <p:spPr>
          <a:xfrm flipH="1">
            <a:off x="1562242"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2F5B26-4B69-932E-B976-EED3FC902D9B}"/>
              </a:ext>
            </a:extLst>
          </p:cNvPr>
          <p:cNvCxnSpPr>
            <a:cxnSpLocks/>
          </p:cNvCxnSpPr>
          <p:nvPr/>
        </p:nvCxnSpPr>
        <p:spPr>
          <a:xfrm flipH="1">
            <a:off x="641986"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47F4A6A-4D2C-244D-2949-F911943FD168}"/>
              </a:ext>
            </a:extLst>
          </p:cNvPr>
          <p:cNvCxnSpPr>
            <a:cxnSpLocks/>
          </p:cNvCxnSpPr>
          <p:nvPr/>
        </p:nvCxnSpPr>
        <p:spPr>
          <a:xfrm flipH="1">
            <a:off x="641986"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0AE4545-C3C1-39E5-0EFC-CDEE95AEE74F}"/>
              </a:ext>
            </a:extLst>
          </p:cNvPr>
          <p:cNvSpPr txBox="1"/>
          <p:nvPr/>
        </p:nvSpPr>
        <p:spPr>
          <a:xfrm>
            <a:off x="2121643" y="2652837"/>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9175F889-24D3-C460-6DFB-E8DA73655051}"/>
              </a:ext>
            </a:extLst>
          </p:cNvPr>
          <p:cNvSpPr txBox="1"/>
          <p:nvPr/>
        </p:nvSpPr>
        <p:spPr>
          <a:xfrm>
            <a:off x="255271" y="2623401"/>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EFE25B64-AA92-6975-8CD3-50E45F0B3A36}"/>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202BADB-80C7-84D4-377B-13FD8C5591DF}"/>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FD0AD152-6007-8972-3ECC-A5AE9E349CFC}"/>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F84EA22-5E66-C218-5042-5DFD74690888}"/>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DFA27728-131D-7EE3-C395-A98EF426F301}"/>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0D91356-785D-75EC-5335-C6CF1FB0F069}"/>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CF332254-AC91-4EF6-BDAF-6516E0837314}"/>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6B4DDB6-B3C0-E7A8-9A07-B9075A27727B}"/>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BA9D3BC0-81CA-4592-3BB0-63363D7C4C7F}"/>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1776FAD-5CE0-4C28-6E69-32465B77588D}"/>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3F2674AC-74CC-399C-D60A-23771103F429}"/>
              </a:ext>
            </a:extLst>
          </p:cNvPr>
          <p:cNvCxnSpPr>
            <a:cxnSpLocks/>
            <a:stCxn id="56" idx="3"/>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91D7C6E-5EB9-6884-44DB-ABE7B0F41BE1}"/>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0DFB7710-8D99-FA08-7F8F-E92C62BF2AB8}"/>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A90F540-14AD-2F8A-04FB-0AE00DD6F4A5}"/>
              </a:ext>
            </a:extLst>
          </p:cNvPr>
          <p:cNvSpPr txBox="1"/>
          <p:nvPr/>
        </p:nvSpPr>
        <p:spPr>
          <a:xfrm>
            <a:off x="2876353" y="3041385"/>
            <a:ext cx="713657" cy="584775"/>
          </a:xfrm>
          <a:prstGeom prst="rect">
            <a:avLst/>
          </a:prstGeom>
          <a:noFill/>
        </p:spPr>
        <p:txBody>
          <a:bodyPr wrap="none" rtlCol="0">
            <a:spAutoFit/>
          </a:bodyPr>
          <a:lstStyle/>
          <a:p>
            <a:r>
              <a:rPr lang="en-US" sz="3200" dirty="0"/>
              <a:t>OH</a:t>
            </a:r>
          </a:p>
        </p:txBody>
      </p:sp>
      <p:cxnSp>
        <p:nvCxnSpPr>
          <p:cNvPr id="59" name="Straight Connector 58">
            <a:extLst>
              <a:ext uri="{FF2B5EF4-FFF2-40B4-BE49-F238E27FC236}">
                <a16:creationId xmlns:a16="http://schemas.microsoft.com/office/drawing/2014/main" id="{2A17B156-2296-1143-92E4-D592255C8D82}"/>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234F114-7156-9F65-DB16-979F079515DA}"/>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cxnSp>
        <p:nvCxnSpPr>
          <p:cNvPr id="64" name="Straight Connector 63">
            <a:extLst>
              <a:ext uri="{FF2B5EF4-FFF2-40B4-BE49-F238E27FC236}">
                <a16:creationId xmlns:a16="http://schemas.microsoft.com/office/drawing/2014/main" id="{6AEC3C19-432D-CF18-1CA7-13247F8E066F}"/>
              </a:ext>
            </a:extLst>
          </p:cNvPr>
          <p:cNvCxnSpPr>
            <a:cxnSpLocks/>
            <a:stCxn id="28" idx="3"/>
            <a:endCxn id="67" idx="1"/>
          </p:cNvCxnSpPr>
          <p:nvPr/>
        </p:nvCxnSpPr>
        <p:spPr>
          <a:xfrm flipV="1">
            <a:off x="7437048" y="4185781"/>
            <a:ext cx="393642" cy="183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21DD6E6-F655-B564-2EA6-83A47B89C57A}"/>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B7CBF5B7-133E-A6D2-8FA8-32BE49BEC0C5}"/>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0" name="TextBox 69">
            <a:extLst>
              <a:ext uri="{FF2B5EF4-FFF2-40B4-BE49-F238E27FC236}">
                <a16:creationId xmlns:a16="http://schemas.microsoft.com/office/drawing/2014/main" id="{275AE612-EEA5-38FC-1BBE-B27DAAC68496}"/>
              </a:ext>
            </a:extLst>
          </p:cNvPr>
          <p:cNvSpPr txBox="1"/>
          <p:nvPr/>
        </p:nvSpPr>
        <p:spPr>
          <a:xfrm>
            <a:off x="3688241" y="1501920"/>
            <a:ext cx="4369711" cy="1569660"/>
          </a:xfrm>
          <a:prstGeom prst="rect">
            <a:avLst/>
          </a:prstGeom>
          <a:noFill/>
        </p:spPr>
        <p:txBody>
          <a:bodyPr wrap="square" rtlCol="0">
            <a:spAutoFit/>
          </a:bodyPr>
          <a:lstStyle/>
          <a:p>
            <a:r>
              <a:rPr lang="en-US" sz="3200" dirty="0"/>
              <a:t>Ribonucleotide reductase (RNR) makes </a:t>
            </a:r>
            <a:r>
              <a:rPr lang="en-US" sz="3200" dirty="0" err="1"/>
              <a:t>DeoxyRibose</a:t>
            </a:r>
            <a:endParaRPr lang="en-US" sz="3200" dirty="0"/>
          </a:p>
        </p:txBody>
      </p:sp>
      <p:sp>
        <p:nvSpPr>
          <p:cNvPr id="71" name="TextBox 70">
            <a:extLst>
              <a:ext uri="{FF2B5EF4-FFF2-40B4-BE49-F238E27FC236}">
                <a16:creationId xmlns:a16="http://schemas.microsoft.com/office/drawing/2014/main" id="{11D07C11-D7AC-511F-790A-12C4E152D50D}"/>
              </a:ext>
            </a:extLst>
          </p:cNvPr>
          <p:cNvSpPr txBox="1"/>
          <p:nvPr/>
        </p:nvSpPr>
        <p:spPr>
          <a:xfrm>
            <a:off x="9913625" y="4711406"/>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4FF48EEA-4CB3-9AB8-230B-C4C7D7384701}"/>
              </a:ext>
            </a:extLst>
          </p:cNvPr>
          <p:cNvPicPr>
            <a:picLocks noChangeAspect="1"/>
          </p:cNvPicPr>
          <p:nvPr/>
        </p:nvPicPr>
        <p:blipFill>
          <a:blip r:embed="rId2"/>
          <a:stretch>
            <a:fillRect/>
          </a:stretch>
        </p:blipFill>
        <p:spPr>
          <a:xfrm>
            <a:off x="8516955" y="1259047"/>
            <a:ext cx="3662572" cy="3252942"/>
          </a:xfrm>
          <a:prstGeom prst="rect">
            <a:avLst/>
          </a:prstGeom>
        </p:spPr>
      </p:pic>
    </p:spTree>
    <p:extLst>
      <p:ext uri="{BB962C8B-B14F-4D97-AF65-F5344CB8AC3E}">
        <p14:creationId xmlns:p14="http://schemas.microsoft.com/office/powerpoint/2010/main" val="2875518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F1B3D-4097-FC0F-A5E7-ED3C5A57A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65A70-7C74-FED0-009E-EC5DA497A434}"/>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E3FEC178-F3BE-5E6C-C67D-66F5C7F27BCD}"/>
              </a:ext>
            </a:extLst>
          </p:cNvPr>
          <p:cNvSpPr>
            <a:spLocks noGrp="1"/>
          </p:cNvSpPr>
          <p:nvPr>
            <p:ph type="sldNum" sz="quarter" idx="12"/>
          </p:nvPr>
        </p:nvSpPr>
        <p:spPr/>
        <p:txBody>
          <a:bodyPr/>
          <a:lstStyle/>
          <a:p>
            <a:fld id="{B82CCC60-E8CD-4174-8B1A-7DF615B22EEF}" type="slidenum">
              <a:rPr lang="en-US" smtClean="0"/>
              <a:pPr/>
              <a:t>11</a:t>
            </a:fld>
            <a:endParaRPr lang="en-US"/>
          </a:p>
        </p:txBody>
      </p:sp>
      <p:cxnSp>
        <p:nvCxnSpPr>
          <p:cNvPr id="6" name="Straight Connector 5">
            <a:extLst>
              <a:ext uri="{FF2B5EF4-FFF2-40B4-BE49-F238E27FC236}">
                <a16:creationId xmlns:a16="http://schemas.microsoft.com/office/drawing/2014/main" id="{3D91BC64-6C79-F035-A64B-D2F7AF095370}"/>
              </a:ext>
            </a:extLst>
          </p:cNvPr>
          <p:cNvCxnSpPr/>
          <p:nvPr/>
        </p:nvCxnSpPr>
        <p:spPr>
          <a:xfrm>
            <a:off x="2416562" y="2609616"/>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C71C06C-A4F3-039B-7AFF-13FD25FC69B5}"/>
              </a:ext>
            </a:extLst>
          </p:cNvPr>
          <p:cNvSpPr txBox="1"/>
          <p:nvPr/>
        </p:nvSpPr>
        <p:spPr>
          <a:xfrm>
            <a:off x="2105159" y="2047546"/>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2AC1CD6F-1A29-7E8D-249F-1DC9E6EEA32A}"/>
              </a:ext>
            </a:extLst>
          </p:cNvPr>
          <p:cNvSpPr txBox="1"/>
          <p:nvPr/>
        </p:nvSpPr>
        <p:spPr>
          <a:xfrm>
            <a:off x="2263857" y="3015502"/>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0DCE84D4-E277-D6BD-F1B3-BDB385AFF69D}"/>
              </a:ext>
            </a:extLst>
          </p:cNvPr>
          <p:cNvCxnSpPr/>
          <p:nvPr/>
        </p:nvCxnSpPr>
        <p:spPr>
          <a:xfrm>
            <a:off x="2416562" y="3590384"/>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B82095E-E932-797E-CFA2-F10848666573}"/>
              </a:ext>
            </a:extLst>
          </p:cNvPr>
          <p:cNvSpPr txBox="1"/>
          <p:nvPr/>
        </p:nvSpPr>
        <p:spPr>
          <a:xfrm>
            <a:off x="2259831" y="3986377"/>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9CAB0DB1-1267-D794-4EFB-E7755D6C41A2}"/>
              </a:ext>
            </a:extLst>
          </p:cNvPr>
          <p:cNvCxnSpPr>
            <a:cxnSpLocks/>
          </p:cNvCxnSpPr>
          <p:nvPr/>
        </p:nvCxnSpPr>
        <p:spPr>
          <a:xfrm flipH="1">
            <a:off x="2616659" y="3294074"/>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C55CC2E-F798-E7FB-F8E5-F105000C85A2}"/>
              </a:ext>
            </a:extLst>
          </p:cNvPr>
          <p:cNvCxnSpPr>
            <a:cxnSpLocks/>
          </p:cNvCxnSpPr>
          <p:nvPr/>
        </p:nvCxnSpPr>
        <p:spPr>
          <a:xfrm flipH="1">
            <a:off x="1696403" y="3294074"/>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743FF07-4EAF-5F45-F087-EE896FCD1179}"/>
              </a:ext>
            </a:extLst>
          </p:cNvPr>
          <p:cNvCxnSpPr>
            <a:cxnSpLocks/>
          </p:cNvCxnSpPr>
          <p:nvPr/>
        </p:nvCxnSpPr>
        <p:spPr>
          <a:xfrm flipH="1">
            <a:off x="1696403" y="3373141"/>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AA8E379-08E9-789E-F56A-DAD44F4EB633}"/>
              </a:ext>
            </a:extLst>
          </p:cNvPr>
          <p:cNvSpPr txBox="1"/>
          <p:nvPr/>
        </p:nvSpPr>
        <p:spPr>
          <a:xfrm>
            <a:off x="3176060" y="3055093"/>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2612E6CC-EAB2-1795-57EB-21DBEFC922C5}"/>
              </a:ext>
            </a:extLst>
          </p:cNvPr>
          <p:cNvSpPr txBox="1"/>
          <p:nvPr/>
        </p:nvSpPr>
        <p:spPr>
          <a:xfrm>
            <a:off x="1309688" y="3025657"/>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4116F5F0-E73C-863A-84D5-8FDC53B35C0E}"/>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31A0FAE-69C1-7C0F-98D2-B26B055BEB28}"/>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CDDEC684-A9D1-1085-764F-70A0719395D6}"/>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6D6520F-E6CD-B18C-A9FF-4A271C0B069C}"/>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35786B37-25A8-1A7A-55DC-27449F467AC2}"/>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1F67251-EFD7-CC4F-4EFD-F34F281575A0}"/>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074AF74B-EA42-2EEE-0B88-AFEFA0E258D6}"/>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2872E95-A68D-FC60-95E9-29D83F11293A}"/>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4C531883-E16A-EE0E-AC3B-A920F7C7B3D8}"/>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2A96E61-67A5-0FDC-D61B-A25CA234B130}"/>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78AE42CD-0BCD-C7A4-3576-4E771170FD4E}"/>
              </a:ext>
            </a:extLst>
          </p:cNvPr>
          <p:cNvCxnSpPr>
            <a:cxnSpLocks/>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FD7BE6F-0B5B-00FA-94EE-7975B3C3D7BB}"/>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14FD8D80-5815-125D-C0E1-C7B1F94446E6}"/>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7FFEF2C-8C84-0991-E442-A6B15962C40B}"/>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FB8A8EA2-4E61-BD7A-82C6-DB1C168340F7}"/>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sp>
        <p:nvSpPr>
          <p:cNvPr id="67" name="TextBox 66">
            <a:extLst>
              <a:ext uri="{FF2B5EF4-FFF2-40B4-BE49-F238E27FC236}">
                <a16:creationId xmlns:a16="http://schemas.microsoft.com/office/drawing/2014/main" id="{E28ED3E0-24E6-9153-A22B-81B0C78D5C25}"/>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6D05A5D3-DFAF-CC3E-28BC-9A54DE38852E}"/>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1" name="TextBox 70">
            <a:extLst>
              <a:ext uri="{FF2B5EF4-FFF2-40B4-BE49-F238E27FC236}">
                <a16:creationId xmlns:a16="http://schemas.microsoft.com/office/drawing/2014/main" id="{5E5302BC-F8E7-FB0E-AE7A-B90E38B6B773}"/>
              </a:ext>
            </a:extLst>
          </p:cNvPr>
          <p:cNvSpPr txBox="1"/>
          <p:nvPr/>
        </p:nvSpPr>
        <p:spPr>
          <a:xfrm>
            <a:off x="9573830" y="5319133"/>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272DD72E-3711-EF76-0268-391042BF38FE}"/>
              </a:ext>
            </a:extLst>
          </p:cNvPr>
          <p:cNvPicPr>
            <a:picLocks noChangeAspect="1"/>
          </p:cNvPicPr>
          <p:nvPr/>
        </p:nvPicPr>
        <p:blipFill>
          <a:blip r:embed="rId2"/>
          <a:stretch>
            <a:fillRect/>
          </a:stretch>
        </p:blipFill>
        <p:spPr>
          <a:xfrm>
            <a:off x="7525911" y="1523195"/>
            <a:ext cx="3662572" cy="3252942"/>
          </a:xfrm>
          <a:prstGeom prst="rect">
            <a:avLst/>
          </a:prstGeom>
        </p:spPr>
      </p:pic>
      <p:cxnSp>
        <p:nvCxnSpPr>
          <p:cNvPr id="64" name="Straight Connector 63">
            <a:extLst>
              <a:ext uri="{FF2B5EF4-FFF2-40B4-BE49-F238E27FC236}">
                <a16:creationId xmlns:a16="http://schemas.microsoft.com/office/drawing/2014/main" id="{E10BDE66-9F18-C3D1-A843-5D51A0F08B71}"/>
              </a:ext>
            </a:extLst>
          </p:cNvPr>
          <p:cNvCxnSpPr>
            <a:cxnSpLocks/>
            <a:stCxn id="28" idx="3"/>
          </p:cNvCxnSpPr>
          <p:nvPr/>
        </p:nvCxnSpPr>
        <p:spPr>
          <a:xfrm>
            <a:off x="7437048" y="4187613"/>
            <a:ext cx="84816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0C1FBAE-9F1E-061E-A897-0129AF4A0C89}"/>
              </a:ext>
            </a:extLst>
          </p:cNvPr>
          <p:cNvSpPr/>
          <p:nvPr/>
        </p:nvSpPr>
        <p:spPr>
          <a:xfrm>
            <a:off x="8187475" y="4285367"/>
            <a:ext cx="550082" cy="4495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11C7D53-4E0E-002A-9C95-AA43354A1A54}"/>
              </a:ext>
            </a:extLst>
          </p:cNvPr>
          <p:cNvSpPr txBox="1"/>
          <p:nvPr/>
        </p:nvSpPr>
        <p:spPr>
          <a:xfrm>
            <a:off x="4929959" y="2398378"/>
            <a:ext cx="4369711" cy="584775"/>
          </a:xfrm>
          <a:prstGeom prst="rect">
            <a:avLst/>
          </a:prstGeom>
          <a:noFill/>
        </p:spPr>
        <p:txBody>
          <a:bodyPr wrap="square" rtlCol="0">
            <a:spAutoFit/>
          </a:bodyPr>
          <a:lstStyle/>
          <a:p>
            <a:r>
              <a:rPr lang="en-US" sz="3200" dirty="0" err="1"/>
              <a:t>DeoxyRibose</a:t>
            </a:r>
            <a:endParaRPr lang="en-US" sz="3200" dirty="0"/>
          </a:p>
        </p:txBody>
      </p:sp>
    </p:spTree>
    <p:extLst>
      <p:ext uri="{BB962C8B-B14F-4D97-AF65-F5344CB8AC3E}">
        <p14:creationId xmlns:p14="http://schemas.microsoft.com/office/powerpoint/2010/main" val="2484309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5F614-6308-6C13-EA9C-3E687AE8AB03}"/>
              </a:ext>
            </a:extLst>
          </p:cNvPr>
          <p:cNvSpPr>
            <a:spLocks noGrp="1"/>
          </p:cNvSpPr>
          <p:nvPr>
            <p:ph type="title"/>
          </p:nvPr>
        </p:nvSpPr>
        <p:spPr/>
        <p:txBody>
          <a:bodyPr>
            <a:normAutofit fontScale="90000"/>
          </a:bodyPr>
          <a:lstStyle/>
          <a:p>
            <a:r>
              <a:rPr lang="en-US" dirty="0"/>
              <a:t>DNA replication</a:t>
            </a:r>
          </a:p>
        </p:txBody>
      </p:sp>
      <p:sp>
        <p:nvSpPr>
          <p:cNvPr id="3" name="Content Placeholder 2">
            <a:extLst>
              <a:ext uri="{FF2B5EF4-FFF2-40B4-BE49-F238E27FC236}">
                <a16:creationId xmlns:a16="http://schemas.microsoft.com/office/drawing/2014/main" id="{94C724C3-B19F-1F54-032D-50FF66A05088}"/>
              </a:ext>
            </a:extLst>
          </p:cNvPr>
          <p:cNvSpPr>
            <a:spLocks noGrp="1"/>
          </p:cNvSpPr>
          <p:nvPr>
            <p:ph idx="1"/>
          </p:nvPr>
        </p:nvSpPr>
        <p:spPr>
          <a:xfrm>
            <a:off x="598619" y="1596540"/>
            <a:ext cx="3206805" cy="4759811"/>
          </a:xfrm>
        </p:spPr>
        <p:txBody>
          <a:bodyPr/>
          <a:lstStyle/>
          <a:p>
            <a:r>
              <a:rPr lang="en-US" dirty="0"/>
              <a:t>DNA polymerase </a:t>
            </a:r>
            <a:r>
              <a:rPr lang="en-US" i="1" dirty="0"/>
              <a:t>reads</a:t>
            </a:r>
            <a:r>
              <a:rPr lang="en-US" dirty="0"/>
              <a:t> from 3’ end to 5’ end and </a:t>
            </a:r>
            <a:r>
              <a:rPr lang="en-US" i="1" dirty="0"/>
              <a:t>synthesizes (writes)</a:t>
            </a:r>
            <a:r>
              <a:rPr lang="en-US" dirty="0"/>
              <a:t> from 5’ to 3’ direction (Image by </a:t>
            </a:r>
            <a:r>
              <a:rPr lang="en-US" dirty="0" err="1"/>
              <a:t>GiGa</a:t>
            </a:r>
            <a:r>
              <a:rPr lang="en-US" dirty="0"/>
              <a:t> Group)</a:t>
            </a:r>
          </a:p>
          <a:p>
            <a:pPr marL="0" indent="0">
              <a:buNone/>
            </a:pPr>
            <a:endParaRPr lang="en-US" dirty="0"/>
          </a:p>
        </p:txBody>
      </p:sp>
      <p:sp>
        <p:nvSpPr>
          <p:cNvPr id="4" name="Slide Number Placeholder 3">
            <a:extLst>
              <a:ext uri="{FF2B5EF4-FFF2-40B4-BE49-F238E27FC236}">
                <a16:creationId xmlns:a16="http://schemas.microsoft.com/office/drawing/2014/main" id="{F0E7F10A-D31F-6442-99C8-11BDCDB32233}"/>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1026" name="Picture 2" descr="19.5 dna">
            <a:extLst>
              <a:ext uri="{FF2B5EF4-FFF2-40B4-BE49-F238E27FC236}">
                <a16:creationId xmlns:a16="http://schemas.microsoft.com/office/drawing/2014/main" id="{5BA0E88B-C6CD-A09C-CC68-6A564A736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196" y="1749245"/>
            <a:ext cx="8267804" cy="465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376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74C4-7DD6-5A34-A859-ED0055D95742}"/>
              </a:ext>
            </a:extLst>
          </p:cNvPr>
          <p:cNvSpPr>
            <a:spLocks noGrp="1"/>
          </p:cNvSpPr>
          <p:nvPr>
            <p:ph type="title"/>
          </p:nvPr>
        </p:nvSpPr>
        <p:spPr/>
        <p:txBody>
          <a:bodyPr>
            <a:normAutofit fontScale="90000"/>
          </a:bodyPr>
          <a:lstStyle/>
          <a:p>
            <a:r>
              <a:rPr lang="en-US" dirty="0"/>
              <a:t>Complementary strands</a:t>
            </a:r>
          </a:p>
        </p:txBody>
      </p:sp>
      <p:sp>
        <p:nvSpPr>
          <p:cNvPr id="4" name="Slide Number Placeholder 3">
            <a:extLst>
              <a:ext uri="{FF2B5EF4-FFF2-40B4-BE49-F238E27FC236}">
                <a16:creationId xmlns:a16="http://schemas.microsoft.com/office/drawing/2014/main" id="{0A5568FD-E57D-04EE-288C-EAA7C5BF854C}"/>
              </a:ext>
            </a:extLst>
          </p:cNvPr>
          <p:cNvSpPr>
            <a:spLocks noGrp="1"/>
          </p:cNvSpPr>
          <p:nvPr>
            <p:ph type="sldNum" sz="quarter" idx="12"/>
          </p:nvPr>
        </p:nvSpPr>
        <p:spPr/>
        <p:txBody>
          <a:bodyPr/>
          <a:lstStyle/>
          <a:p>
            <a:fld id="{B82CCC60-E8CD-4174-8B1A-7DF615B22EEF}" type="slidenum">
              <a:rPr lang="en-US" smtClean="0"/>
              <a:pPr/>
              <a:t>13</a:t>
            </a:fld>
            <a:endParaRPr lang="en-US"/>
          </a:p>
        </p:txBody>
      </p:sp>
      <p:sp>
        <p:nvSpPr>
          <p:cNvPr id="5" name="Content Placeholder 2">
            <a:extLst>
              <a:ext uri="{FF2B5EF4-FFF2-40B4-BE49-F238E27FC236}">
                <a16:creationId xmlns:a16="http://schemas.microsoft.com/office/drawing/2014/main" id="{FF835359-E2B4-5BD5-2211-88107A82F441}"/>
              </a:ext>
            </a:extLst>
          </p:cNvPr>
          <p:cNvSpPr>
            <a:spLocks noGrp="1"/>
          </p:cNvSpPr>
          <p:nvPr>
            <p:ph idx="1"/>
          </p:nvPr>
        </p:nvSpPr>
        <p:spPr>
          <a:xfrm>
            <a:off x="598620" y="1596539"/>
            <a:ext cx="10972800" cy="5039265"/>
          </a:xfrm>
        </p:spPr>
        <p:txBody>
          <a:bodyPr>
            <a:normAutofit lnSpcReduction="10000"/>
          </a:bodyPr>
          <a:lstStyle/>
          <a:p>
            <a:r>
              <a:rPr lang="en-US" dirty="0"/>
              <a:t>DNA is double-stranded :</a:t>
            </a:r>
            <a:br>
              <a:rPr lang="en-US" dirty="0"/>
            </a:br>
            <a:br>
              <a:rPr lang="en-US" dirty="0"/>
            </a:br>
            <a:r>
              <a:rPr lang="en-US" dirty="0"/>
              <a:t>5’ forward strand direction -&gt;</a:t>
            </a:r>
            <a:br>
              <a:rPr lang="en-US" dirty="0"/>
            </a:br>
            <a:r>
              <a:rPr lang="en-US" b="1" dirty="0">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These two sequences are the SAME:</a:t>
            </a:r>
            <a:br>
              <a:rPr lang="en-US" dirty="0">
                <a:cs typeface="Courier New" panose="02070309020205020404" pitchFamily="49" charset="0"/>
              </a:rPr>
            </a:b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or</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CGATCGAGTGTATCTGTCTATGTCTATGTCTATCT</a:t>
            </a:r>
            <a:endParaRPr lang="en-US" dirty="0">
              <a:cs typeface="Courier New" panose="02070309020205020404" pitchFamily="49" charset="0"/>
            </a:endParaRPr>
          </a:p>
          <a:p>
            <a:endParaRPr lang="en-US" dirty="0"/>
          </a:p>
          <a:p>
            <a:pPr marL="457200" lvl="1" indent="0">
              <a:buNone/>
            </a:pPr>
            <a:endParaRPr lang="en-US" dirty="0"/>
          </a:p>
        </p:txBody>
      </p:sp>
    </p:spTree>
    <p:extLst>
      <p:ext uri="{BB962C8B-B14F-4D97-AF65-F5344CB8AC3E}">
        <p14:creationId xmlns:p14="http://schemas.microsoft.com/office/powerpoint/2010/main" val="2862415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B21A3-1BC8-67B7-DB8C-2BC4AD75CF5E}"/>
              </a:ext>
            </a:extLst>
          </p:cNvPr>
          <p:cNvSpPr>
            <a:spLocks noGrp="1"/>
          </p:cNvSpPr>
          <p:nvPr>
            <p:ph type="title"/>
          </p:nvPr>
        </p:nvSpPr>
        <p:spPr/>
        <p:txBody>
          <a:bodyPr>
            <a:normAutofit fontScale="90000"/>
          </a:bodyPr>
          <a:lstStyle/>
          <a:p>
            <a:r>
              <a:rPr lang="en-US" dirty="0"/>
              <a:t>DNA extraction</a:t>
            </a:r>
          </a:p>
        </p:txBody>
      </p:sp>
      <p:sp>
        <p:nvSpPr>
          <p:cNvPr id="3" name="Content Placeholder 2">
            <a:extLst>
              <a:ext uri="{FF2B5EF4-FFF2-40B4-BE49-F238E27FC236}">
                <a16:creationId xmlns:a16="http://schemas.microsoft.com/office/drawing/2014/main" id="{FF89A956-F629-D11F-8BD1-182BB9B01025}"/>
              </a:ext>
            </a:extLst>
          </p:cNvPr>
          <p:cNvSpPr>
            <a:spLocks noGrp="1"/>
          </p:cNvSpPr>
          <p:nvPr>
            <p:ph idx="1"/>
          </p:nvPr>
        </p:nvSpPr>
        <p:spPr>
          <a:xfrm>
            <a:off x="598620" y="1751768"/>
            <a:ext cx="10972800" cy="4759811"/>
          </a:xfrm>
        </p:spPr>
        <p:txBody>
          <a:bodyPr>
            <a:normAutofit fontScale="92500"/>
          </a:bodyPr>
          <a:lstStyle/>
          <a:p>
            <a:r>
              <a:rPr lang="en-US" b="1" dirty="0"/>
              <a:t>Lysis</a:t>
            </a:r>
            <a:r>
              <a:rPr lang="en-US" dirty="0"/>
              <a:t>: This step breaks open cells to release DNA into solution. Lysis can be achieved through physical, chemical, or enzymatic methods. </a:t>
            </a:r>
          </a:p>
          <a:p>
            <a:r>
              <a:rPr lang="en-US" b="1" dirty="0"/>
              <a:t>Separation</a:t>
            </a:r>
            <a:r>
              <a:rPr lang="en-US" dirty="0"/>
              <a:t>: After lysis, the DNA needs to be separated from cellular debris, proteins, and other macromolecules. This can be done through methods like salting out, precipitation with alcohol, or magnetic bead separation. </a:t>
            </a:r>
          </a:p>
          <a:p>
            <a:r>
              <a:rPr lang="en-US" b="1" dirty="0"/>
              <a:t>Purification</a:t>
            </a:r>
            <a:r>
              <a:rPr lang="en-US" dirty="0"/>
              <a:t>: Once separated, the DNA is further purified to remove any remaining contaminants. This can involve techniques like silica-based column purification, or washing the DNA pellet with ethanol. </a:t>
            </a:r>
          </a:p>
          <a:p>
            <a:r>
              <a:rPr lang="en-US" b="1" dirty="0"/>
              <a:t>Concentration</a:t>
            </a:r>
            <a:r>
              <a:rPr lang="en-US" dirty="0"/>
              <a:t>: Finally, the DNA is concentrated by removing the remaining liquid through methods like vacuum centrifugation or lyophilization. </a:t>
            </a:r>
          </a:p>
        </p:txBody>
      </p:sp>
      <p:sp>
        <p:nvSpPr>
          <p:cNvPr id="4" name="Slide Number Placeholder 3">
            <a:extLst>
              <a:ext uri="{FF2B5EF4-FFF2-40B4-BE49-F238E27FC236}">
                <a16:creationId xmlns:a16="http://schemas.microsoft.com/office/drawing/2014/main" id="{A6B7D082-B5DB-4686-F40B-B6F8D75A5FD9}"/>
              </a:ext>
            </a:extLst>
          </p:cNvPr>
          <p:cNvSpPr>
            <a:spLocks noGrp="1"/>
          </p:cNvSpPr>
          <p:nvPr>
            <p:ph type="sldNum" sz="quarter" idx="12"/>
          </p:nvPr>
        </p:nvSpPr>
        <p:spPr/>
        <p:txBody>
          <a:bodyPr/>
          <a:lstStyle/>
          <a:p>
            <a:fld id="{B82CCC60-E8CD-4174-8B1A-7DF615B22EEF}" type="slidenum">
              <a:rPr lang="en-US" smtClean="0"/>
              <a:pPr/>
              <a:t>14</a:t>
            </a:fld>
            <a:endParaRPr lang="en-US"/>
          </a:p>
        </p:txBody>
      </p:sp>
    </p:spTree>
    <p:extLst>
      <p:ext uri="{BB962C8B-B14F-4D97-AF65-F5344CB8AC3E}">
        <p14:creationId xmlns:p14="http://schemas.microsoft.com/office/powerpoint/2010/main" val="1996286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BE35A-D17C-69A1-01AE-FCFEE7AC2E5F}"/>
              </a:ext>
            </a:extLst>
          </p:cNvPr>
          <p:cNvSpPr>
            <a:spLocks noGrp="1"/>
          </p:cNvSpPr>
          <p:nvPr>
            <p:ph type="title"/>
          </p:nvPr>
        </p:nvSpPr>
        <p:spPr/>
        <p:txBody>
          <a:bodyPr>
            <a:normAutofit fontScale="90000"/>
          </a:bodyPr>
          <a:lstStyle/>
          <a:p>
            <a:r>
              <a:rPr lang="en-US" dirty="0"/>
              <a:t>DNA Extraction -Video</a:t>
            </a:r>
          </a:p>
        </p:txBody>
      </p:sp>
      <p:sp>
        <p:nvSpPr>
          <p:cNvPr id="3" name="Content Placeholder 2">
            <a:extLst>
              <a:ext uri="{FF2B5EF4-FFF2-40B4-BE49-F238E27FC236}">
                <a16:creationId xmlns:a16="http://schemas.microsoft.com/office/drawing/2014/main" id="{5CB7C53A-F054-8B3F-FCB6-C6E20F3E77AF}"/>
              </a:ext>
            </a:extLst>
          </p:cNvPr>
          <p:cNvSpPr>
            <a:spLocks noGrp="1"/>
          </p:cNvSpPr>
          <p:nvPr>
            <p:ph idx="1"/>
          </p:nvPr>
        </p:nvSpPr>
        <p:spPr/>
        <p:txBody>
          <a:bodyPr/>
          <a:lstStyle/>
          <a:p>
            <a:r>
              <a:rPr lang="en-US" dirty="0"/>
              <a:t>Video demonstration of strawberry DNA extraction</a:t>
            </a:r>
          </a:p>
          <a:p>
            <a:pPr marL="0" indent="0">
              <a:buNone/>
            </a:pPr>
            <a:r>
              <a:rPr lang="en-US" dirty="0">
                <a:hlinkClick r:id="rId2"/>
              </a:rPr>
              <a:t>DIY DNA Extraction!</a:t>
            </a:r>
            <a:endParaRPr lang="en-US" dirty="0"/>
          </a:p>
        </p:txBody>
      </p:sp>
      <p:sp>
        <p:nvSpPr>
          <p:cNvPr id="4" name="Slide Number Placeholder 3">
            <a:extLst>
              <a:ext uri="{FF2B5EF4-FFF2-40B4-BE49-F238E27FC236}">
                <a16:creationId xmlns:a16="http://schemas.microsoft.com/office/drawing/2014/main" id="{8A8D1086-E605-7728-9909-A21327285BE4}"/>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2924610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67CB-C05F-34BD-1924-F75070168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EAE76-699A-42C5-B6FC-DECACAB4C8AD}"/>
              </a:ext>
            </a:extLst>
          </p:cNvPr>
          <p:cNvSpPr>
            <a:spLocks noGrp="1"/>
          </p:cNvSpPr>
          <p:nvPr>
            <p:ph type="title"/>
          </p:nvPr>
        </p:nvSpPr>
        <p:spPr/>
        <p:txBody>
          <a:bodyPr>
            <a:normAutofit fontScale="90000"/>
          </a:bodyPr>
          <a:lstStyle/>
          <a:p>
            <a:r>
              <a:rPr lang="en-US" dirty="0"/>
              <a:t>Library preparation</a:t>
            </a:r>
          </a:p>
        </p:txBody>
      </p:sp>
      <p:sp>
        <p:nvSpPr>
          <p:cNvPr id="3" name="Content Placeholder 2">
            <a:extLst>
              <a:ext uri="{FF2B5EF4-FFF2-40B4-BE49-F238E27FC236}">
                <a16:creationId xmlns:a16="http://schemas.microsoft.com/office/drawing/2014/main" id="{051992AE-4E7C-BD46-2F26-D657FDD9C21B}"/>
              </a:ext>
            </a:extLst>
          </p:cNvPr>
          <p:cNvSpPr>
            <a:spLocks noGrp="1"/>
          </p:cNvSpPr>
          <p:nvPr>
            <p:ph idx="1"/>
          </p:nvPr>
        </p:nvSpPr>
        <p:spPr>
          <a:xfrm>
            <a:off x="598620" y="1751768"/>
            <a:ext cx="10972800" cy="4759811"/>
          </a:xfrm>
        </p:spPr>
        <p:txBody>
          <a:bodyPr>
            <a:normAutofit/>
          </a:bodyPr>
          <a:lstStyle/>
          <a:p>
            <a:r>
              <a:rPr lang="en-US" b="1" dirty="0"/>
              <a:t>Fragmentation: </a:t>
            </a:r>
            <a:r>
              <a:rPr lang="en-US" dirty="0"/>
              <a:t>DNA is fragmented by mechanical or chemical (restriction enzyme) means</a:t>
            </a:r>
          </a:p>
          <a:p>
            <a:r>
              <a:rPr lang="en-US" b="1" dirty="0"/>
              <a:t>DNA end repair: </a:t>
            </a:r>
            <a:r>
              <a:rPr lang="en-US" dirty="0"/>
              <a:t>ends are repaired by incorporating missing nucleotides</a:t>
            </a:r>
            <a:br>
              <a:rPr lang="en-US" b="1" dirty="0"/>
            </a:br>
            <a:r>
              <a:rPr lang="en-US" b="1" dirty="0">
                <a:latin typeface="Courier New" panose="02070309020205020404" pitchFamily="49" charset="0"/>
                <a:cs typeface="Courier New" panose="02070309020205020404" pitchFamily="49" charset="0"/>
              </a:rPr>
              <a:t>AGATAGACATAGACATAGACAGATAC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TGTATCTGTATCTGTCTATGTGAGCTAGC</a:t>
            </a:r>
            <a:endParaRPr lang="en-US" b="1" dirty="0"/>
          </a:p>
          <a:p>
            <a:r>
              <a:rPr lang="en-US" b="1" dirty="0"/>
              <a:t>Size selection: </a:t>
            </a:r>
            <a:r>
              <a:rPr lang="en-US" dirty="0"/>
              <a:t>fragments of target size are pulled out:</a:t>
            </a:r>
          </a:p>
          <a:p>
            <a:pPr lvl="1"/>
            <a:r>
              <a:rPr lang="en-US" dirty="0"/>
              <a:t>Gel electrophoresis</a:t>
            </a:r>
          </a:p>
          <a:p>
            <a:pPr lvl="1"/>
            <a:r>
              <a:rPr lang="en-US" dirty="0"/>
              <a:t>Magnetic beads </a:t>
            </a:r>
          </a:p>
        </p:txBody>
      </p:sp>
      <p:sp>
        <p:nvSpPr>
          <p:cNvPr id="4" name="Slide Number Placeholder 3">
            <a:extLst>
              <a:ext uri="{FF2B5EF4-FFF2-40B4-BE49-F238E27FC236}">
                <a16:creationId xmlns:a16="http://schemas.microsoft.com/office/drawing/2014/main" id="{525B17CA-5548-4C86-02A7-3B99ADEF710F}"/>
              </a:ext>
            </a:extLst>
          </p:cNvPr>
          <p:cNvSpPr>
            <a:spLocks noGrp="1"/>
          </p:cNvSpPr>
          <p:nvPr>
            <p:ph type="sldNum" sz="quarter" idx="12"/>
          </p:nvPr>
        </p:nvSpPr>
        <p:spPr/>
        <p:txBody>
          <a:bodyPr/>
          <a:lstStyle/>
          <a:p>
            <a:fld id="{B82CCC60-E8CD-4174-8B1A-7DF615B22EEF}" type="slidenum">
              <a:rPr lang="en-US" smtClean="0"/>
              <a:pPr/>
              <a:t>16</a:t>
            </a:fld>
            <a:endParaRPr lang="en-US"/>
          </a:p>
        </p:txBody>
      </p:sp>
    </p:spTree>
    <p:extLst>
      <p:ext uri="{BB962C8B-B14F-4D97-AF65-F5344CB8AC3E}">
        <p14:creationId xmlns:p14="http://schemas.microsoft.com/office/powerpoint/2010/main" val="881716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6AC8C-5BA8-BAD9-7878-F53BD207E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E1BEA-2FD3-6FF8-4837-2C3461EEC09D}"/>
              </a:ext>
            </a:extLst>
          </p:cNvPr>
          <p:cNvSpPr>
            <a:spLocks noGrp="1"/>
          </p:cNvSpPr>
          <p:nvPr>
            <p:ph type="title"/>
          </p:nvPr>
        </p:nvSpPr>
        <p:spPr/>
        <p:txBody>
          <a:bodyPr>
            <a:normAutofit fontScale="90000"/>
          </a:bodyPr>
          <a:lstStyle/>
          <a:p>
            <a:r>
              <a:rPr lang="en-US" dirty="0"/>
              <a:t>Library preparation</a:t>
            </a:r>
          </a:p>
        </p:txBody>
      </p:sp>
      <p:sp>
        <p:nvSpPr>
          <p:cNvPr id="3" name="Content Placeholder 2">
            <a:extLst>
              <a:ext uri="{FF2B5EF4-FFF2-40B4-BE49-F238E27FC236}">
                <a16:creationId xmlns:a16="http://schemas.microsoft.com/office/drawing/2014/main" id="{7A6D0907-0269-C7C7-32B2-D1CD11455106}"/>
              </a:ext>
            </a:extLst>
          </p:cNvPr>
          <p:cNvSpPr>
            <a:spLocks noGrp="1"/>
          </p:cNvSpPr>
          <p:nvPr>
            <p:ph idx="1"/>
          </p:nvPr>
        </p:nvSpPr>
        <p:spPr>
          <a:xfrm>
            <a:off x="598620" y="1751768"/>
            <a:ext cx="10972800" cy="4759811"/>
          </a:xfrm>
        </p:spPr>
        <p:txBody>
          <a:bodyPr>
            <a:normAutofit/>
          </a:bodyPr>
          <a:lstStyle/>
          <a:p>
            <a:r>
              <a:rPr lang="en-US" b="1" dirty="0"/>
              <a:t>Fragmentation: </a:t>
            </a:r>
            <a:r>
              <a:rPr lang="en-US" dirty="0"/>
              <a:t>DNA is fragmented by mechanical or chemical (restriction enzyme) means</a:t>
            </a:r>
          </a:p>
          <a:p>
            <a:r>
              <a:rPr lang="en-US" b="1" dirty="0"/>
              <a:t>DNA end repair: </a:t>
            </a:r>
            <a:r>
              <a:rPr lang="en-US" dirty="0"/>
              <a:t>ends are repaired by incorporating missing nucleotides</a:t>
            </a:r>
            <a:br>
              <a:rPr lang="en-US" b="1" dirty="0"/>
            </a:br>
            <a:r>
              <a:rPr lang="en-US" b="1" dirty="0">
                <a:latin typeface="Courier New" panose="02070309020205020404" pitchFamily="49" charset="0"/>
                <a:cs typeface="Courier New" panose="02070309020205020404" pitchFamily="49" charset="0"/>
              </a:rPr>
              <a:t>AGATAGACATAGACATAGACAGATAC</a:t>
            </a:r>
            <a:r>
              <a:rPr lang="en-US" b="1" dirty="0">
                <a:solidFill>
                  <a:srgbClr val="00B050"/>
                </a:solidFill>
                <a:latin typeface="Courier New" panose="02070309020205020404" pitchFamily="49" charset="0"/>
                <a:cs typeface="Courier New" panose="02070309020205020404" pitchFamily="49" charset="0"/>
              </a:rPr>
              <a:t>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TCTATC</a:t>
            </a:r>
            <a:r>
              <a:rPr lang="en-US" b="1" dirty="0">
                <a:latin typeface="Courier New" panose="02070309020205020404" pitchFamily="49" charset="0"/>
                <a:cs typeface="Courier New" panose="02070309020205020404" pitchFamily="49" charset="0"/>
              </a:rPr>
              <a:t>TGTATCTGTATCTGTCTATGTGAGCTAGC</a:t>
            </a:r>
            <a:endParaRPr lang="en-US" b="1" dirty="0"/>
          </a:p>
          <a:p>
            <a:r>
              <a:rPr lang="en-US" b="1" dirty="0"/>
              <a:t>Size selection: </a:t>
            </a:r>
            <a:r>
              <a:rPr lang="en-US" dirty="0"/>
              <a:t>fragments of target size are pulled out:</a:t>
            </a:r>
          </a:p>
          <a:p>
            <a:pPr lvl="1"/>
            <a:r>
              <a:rPr lang="en-US" dirty="0"/>
              <a:t>Gel electrophoresis</a:t>
            </a:r>
          </a:p>
          <a:p>
            <a:pPr lvl="1"/>
            <a:r>
              <a:rPr lang="en-US" dirty="0"/>
              <a:t>Magnetic beads </a:t>
            </a:r>
          </a:p>
        </p:txBody>
      </p:sp>
      <p:sp>
        <p:nvSpPr>
          <p:cNvPr id="4" name="Slide Number Placeholder 3">
            <a:extLst>
              <a:ext uri="{FF2B5EF4-FFF2-40B4-BE49-F238E27FC236}">
                <a16:creationId xmlns:a16="http://schemas.microsoft.com/office/drawing/2014/main" id="{831BFC19-05D4-5F3A-83F0-D980E732693F}"/>
              </a:ext>
            </a:extLst>
          </p:cNvPr>
          <p:cNvSpPr>
            <a:spLocks noGrp="1"/>
          </p:cNvSpPr>
          <p:nvPr>
            <p:ph type="sldNum" sz="quarter" idx="12"/>
          </p:nvPr>
        </p:nvSpPr>
        <p:spPr/>
        <p:txBody>
          <a:bodyPr/>
          <a:lstStyle/>
          <a:p>
            <a:fld id="{B82CCC60-E8CD-4174-8B1A-7DF615B22EEF}" type="slidenum">
              <a:rPr lang="en-US" smtClean="0"/>
              <a:pPr/>
              <a:t>17</a:t>
            </a:fld>
            <a:endParaRPr lang="en-US"/>
          </a:p>
        </p:txBody>
      </p:sp>
    </p:spTree>
    <p:extLst>
      <p:ext uri="{BB962C8B-B14F-4D97-AF65-F5344CB8AC3E}">
        <p14:creationId xmlns:p14="http://schemas.microsoft.com/office/powerpoint/2010/main" val="1483298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09785-87F3-6C18-F945-35B51DCDC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F6B432-A7E2-BCC1-A66C-B741BFA43983}"/>
              </a:ext>
            </a:extLst>
          </p:cNvPr>
          <p:cNvSpPr>
            <a:spLocks noGrp="1"/>
          </p:cNvSpPr>
          <p:nvPr>
            <p:ph type="title"/>
          </p:nvPr>
        </p:nvSpPr>
        <p:spPr/>
        <p:txBody>
          <a:bodyPr>
            <a:normAutofit fontScale="90000"/>
          </a:bodyPr>
          <a:lstStyle/>
          <a:p>
            <a:r>
              <a:rPr lang="en-US" dirty="0"/>
              <a:t>DNA sequencing overview</a:t>
            </a:r>
          </a:p>
        </p:txBody>
      </p:sp>
      <p:grpSp>
        <p:nvGrpSpPr>
          <p:cNvPr id="6" name="Group 5">
            <a:extLst>
              <a:ext uri="{FF2B5EF4-FFF2-40B4-BE49-F238E27FC236}">
                <a16:creationId xmlns:a16="http://schemas.microsoft.com/office/drawing/2014/main" id="{8AB3F883-101D-8CD5-1046-1FC949C783EE}"/>
              </a:ext>
            </a:extLst>
          </p:cNvPr>
          <p:cNvGrpSpPr/>
          <p:nvPr/>
        </p:nvGrpSpPr>
        <p:grpSpPr>
          <a:xfrm>
            <a:off x="1133938" y="2875148"/>
            <a:ext cx="2006573" cy="1905000"/>
            <a:chOff x="685800" y="2819400"/>
            <a:chExt cx="3036888" cy="3279775"/>
          </a:xfrm>
        </p:grpSpPr>
        <p:sp>
          <p:nvSpPr>
            <p:cNvPr id="7" name="Freeform 3">
              <a:extLst>
                <a:ext uri="{FF2B5EF4-FFF2-40B4-BE49-F238E27FC236}">
                  <a16:creationId xmlns:a16="http://schemas.microsoft.com/office/drawing/2014/main" id="{5BC98269-1E9A-2EB9-0F02-EF75B2E7765D}"/>
                </a:ext>
              </a:extLst>
            </p:cNvPr>
            <p:cNvSpPr>
              <a:spLocks/>
            </p:cNvSpPr>
            <p:nvPr/>
          </p:nvSpPr>
          <p:spPr bwMode="auto">
            <a:xfrm>
              <a:off x="1752600" y="2819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Freeform 4">
              <a:extLst>
                <a:ext uri="{FF2B5EF4-FFF2-40B4-BE49-F238E27FC236}">
                  <a16:creationId xmlns:a16="http://schemas.microsoft.com/office/drawing/2014/main" id="{6D33910A-A4DA-4A31-266C-D739F0A21D6C}"/>
                </a:ext>
              </a:extLst>
            </p:cNvPr>
            <p:cNvSpPr>
              <a:spLocks/>
            </p:cNvSpPr>
            <p:nvPr/>
          </p:nvSpPr>
          <p:spPr bwMode="auto">
            <a:xfrm>
              <a:off x="685800" y="41148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Freeform 5">
              <a:extLst>
                <a:ext uri="{FF2B5EF4-FFF2-40B4-BE49-F238E27FC236}">
                  <a16:creationId xmlns:a16="http://schemas.microsoft.com/office/drawing/2014/main" id="{CCB2377D-6E85-0D16-1839-9D630633A236}"/>
                </a:ext>
              </a:extLst>
            </p:cNvPr>
            <p:cNvSpPr>
              <a:spLocks/>
            </p:cNvSpPr>
            <p:nvPr/>
          </p:nvSpPr>
          <p:spPr bwMode="auto">
            <a:xfrm>
              <a:off x="2209800" y="4343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 name="Text Box 6">
            <a:extLst>
              <a:ext uri="{FF2B5EF4-FFF2-40B4-BE49-F238E27FC236}">
                <a16:creationId xmlns:a16="http://schemas.microsoft.com/office/drawing/2014/main" id="{D1096B80-0A3A-4185-81D5-FF456D023868}"/>
              </a:ext>
            </a:extLst>
          </p:cNvPr>
          <p:cNvSpPr txBox="1">
            <a:spLocks noChangeArrowheads="1"/>
          </p:cNvSpPr>
          <p:nvPr/>
        </p:nvSpPr>
        <p:spPr bwMode="auto">
          <a:xfrm>
            <a:off x="847180" y="2407727"/>
            <a:ext cx="2698865" cy="727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latin typeface="+mn-lt"/>
              </a:rPr>
              <a:t>Multiple copies of DNA</a:t>
            </a:r>
            <a:endParaRPr lang="ru-RU" sz="2000" dirty="0">
              <a:latin typeface="+mn-lt"/>
            </a:endParaRPr>
          </a:p>
        </p:txBody>
      </p:sp>
      <p:sp>
        <p:nvSpPr>
          <p:cNvPr id="12" name="Text Box 6">
            <a:extLst>
              <a:ext uri="{FF2B5EF4-FFF2-40B4-BE49-F238E27FC236}">
                <a16:creationId xmlns:a16="http://schemas.microsoft.com/office/drawing/2014/main" id="{DFCE6A17-E816-853B-5BA2-F87366A85003}"/>
              </a:ext>
            </a:extLst>
          </p:cNvPr>
          <p:cNvSpPr txBox="1">
            <a:spLocks noChangeArrowheads="1"/>
          </p:cNvSpPr>
          <p:nvPr/>
        </p:nvSpPr>
        <p:spPr bwMode="auto">
          <a:xfrm>
            <a:off x="3556984" y="2804469"/>
            <a:ext cx="101677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Extract, Shred &amp;</a:t>
            </a:r>
          </a:p>
          <a:p>
            <a:pPr eaLnBrk="1" hangingPunct="1"/>
            <a:r>
              <a:rPr lang="en-US" sz="2000" dirty="0">
                <a:solidFill>
                  <a:schemeClr val="accent2">
                    <a:lumMod val="75000"/>
                  </a:schemeClr>
                </a:solidFill>
                <a:latin typeface="+mn-lt"/>
              </a:rPr>
              <a:t>(Size select)</a:t>
            </a:r>
            <a:endParaRPr lang="ru-RU" sz="2000" dirty="0">
              <a:solidFill>
                <a:schemeClr val="accent2">
                  <a:lumMod val="75000"/>
                </a:schemeClr>
              </a:solidFill>
              <a:latin typeface="+mn-lt"/>
            </a:endParaRPr>
          </a:p>
        </p:txBody>
      </p:sp>
      <p:sp>
        <p:nvSpPr>
          <p:cNvPr id="13" name="Text Box 8">
            <a:extLst>
              <a:ext uri="{FF2B5EF4-FFF2-40B4-BE49-F238E27FC236}">
                <a16:creationId xmlns:a16="http://schemas.microsoft.com/office/drawing/2014/main" id="{992F1E14-1007-334B-7848-DEFB1A79531A}"/>
              </a:ext>
            </a:extLst>
          </p:cNvPr>
          <p:cNvSpPr txBox="1">
            <a:spLocks noChangeArrowheads="1"/>
          </p:cNvSpPr>
          <p:nvPr/>
        </p:nvSpPr>
        <p:spPr bwMode="auto">
          <a:xfrm>
            <a:off x="4563414" y="2414398"/>
            <a:ext cx="2438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b="1" dirty="0">
                <a:solidFill>
                  <a:schemeClr val="accent2"/>
                </a:solidFill>
                <a:latin typeface="+mn-lt"/>
              </a:rPr>
              <a:t>Fragments</a:t>
            </a:r>
            <a:r>
              <a:rPr lang="en-US" sz="2000" dirty="0">
                <a:latin typeface="+mn-lt"/>
              </a:rPr>
              <a:t> of </a:t>
            </a:r>
          </a:p>
          <a:p>
            <a:pPr eaLnBrk="1" hangingPunct="1"/>
            <a:r>
              <a:rPr lang="en-US" sz="2000" dirty="0">
                <a:latin typeface="+mn-lt"/>
              </a:rPr>
              <a:t>150 - </a:t>
            </a:r>
            <a:r>
              <a:rPr lang="en-US" sz="2000" dirty="0"/>
              <a:t>&gt;5</a:t>
            </a:r>
            <a:r>
              <a:rPr lang="en-US" sz="2000" dirty="0">
                <a:latin typeface="+mn-lt"/>
              </a:rPr>
              <a:t>00,000 bases</a:t>
            </a:r>
            <a:endParaRPr lang="ru-RU" sz="2000" dirty="0">
              <a:latin typeface="+mn-lt"/>
            </a:endParaRPr>
          </a:p>
        </p:txBody>
      </p:sp>
      <p:grpSp>
        <p:nvGrpSpPr>
          <p:cNvPr id="14" name="Group 13">
            <a:extLst>
              <a:ext uri="{FF2B5EF4-FFF2-40B4-BE49-F238E27FC236}">
                <a16:creationId xmlns:a16="http://schemas.microsoft.com/office/drawing/2014/main" id="{B5FCCB0F-130F-2AB7-5B40-4AAFE8780768}"/>
              </a:ext>
            </a:extLst>
          </p:cNvPr>
          <p:cNvGrpSpPr/>
          <p:nvPr/>
        </p:nvGrpSpPr>
        <p:grpSpPr>
          <a:xfrm>
            <a:off x="4637174" y="3273947"/>
            <a:ext cx="735231" cy="461666"/>
            <a:chOff x="4686299" y="2286725"/>
            <a:chExt cx="1828800" cy="1036733"/>
          </a:xfrm>
        </p:grpSpPr>
        <p:sp>
          <p:nvSpPr>
            <p:cNvPr id="15" name="Freeform 9">
              <a:extLst>
                <a:ext uri="{FF2B5EF4-FFF2-40B4-BE49-F238E27FC236}">
                  <a16:creationId xmlns:a16="http://schemas.microsoft.com/office/drawing/2014/main" id="{7BF6BBA7-FD48-C587-AAA9-47884DD2E9FC}"/>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0">
              <a:extLst>
                <a:ext uri="{FF2B5EF4-FFF2-40B4-BE49-F238E27FC236}">
                  <a16:creationId xmlns:a16="http://schemas.microsoft.com/office/drawing/2014/main" id="{8CF0D3A9-0068-DE3B-9F12-8FE001287368}"/>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1">
              <a:extLst>
                <a:ext uri="{FF2B5EF4-FFF2-40B4-BE49-F238E27FC236}">
                  <a16:creationId xmlns:a16="http://schemas.microsoft.com/office/drawing/2014/main" id="{86B18BCA-2ABA-80DB-0A28-97DFDE3A5860}"/>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2">
              <a:extLst>
                <a:ext uri="{FF2B5EF4-FFF2-40B4-BE49-F238E27FC236}">
                  <a16:creationId xmlns:a16="http://schemas.microsoft.com/office/drawing/2014/main" id="{F034B5B4-BF8E-6ECD-7FAE-8E4789B95C73}"/>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3">
              <a:extLst>
                <a:ext uri="{FF2B5EF4-FFF2-40B4-BE49-F238E27FC236}">
                  <a16:creationId xmlns:a16="http://schemas.microsoft.com/office/drawing/2014/main" id="{114F10FE-856F-C74D-9E01-EA812236A6D9}"/>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 name="Text Box 6">
            <a:extLst>
              <a:ext uri="{FF2B5EF4-FFF2-40B4-BE49-F238E27FC236}">
                <a16:creationId xmlns:a16="http://schemas.microsoft.com/office/drawing/2014/main" id="{E3FB4FD6-87E9-A97B-6F8F-D1756FF88DBC}"/>
              </a:ext>
            </a:extLst>
          </p:cNvPr>
          <p:cNvSpPr txBox="1">
            <a:spLocks noChangeArrowheads="1"/>
          </p:cNvSpPr>
          <p:nvPr/>
        </p:nvSpPr>
        <p:spPr bwMode="auto">
          <a:xfrm>
            <a:off x="8273800" y="2408452"/>
            <a:ext cx="14138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Read the Sequences</a:t>
            </a:r>
            <a:endParaRPr lang="ru-RU" sz="2000" dirty="0">
              <a:solidFill>
                <a:schemeClr val="accent2">
                  <a:lumMod val="75000"/>
                </a:schemeClr>
              </a:solidFill>
              <a:latin typeface="+mn-lt"/>
            </a:endParaRPr>
          </a:p>
        </p:txBody>
      </p:sp>
      <p:pic>
        <p:nvPicPr>
          <p:cNvPr id="24" name="Picture 23">
            <a:extLst>
              <a:ext uri="{FF2B5EF4-FFF2-40B4-BE49-F238E27FC236}">
                <a16:creationId xmlns:a16="http://schemas.microsoft.com/office/drawing/2014/main" id="{39213E52-E817-0323-8E1B-04E5B3029882}"/>
              </a:ext>
            </a:extLst>
          </p:cNvPr>
          <p:cNvPicPr>
            <a:picLocks noChangeAspect="1"/>
          </p:cNvPicPr>
          <p:nvPr/>
        </p:nvPicPr>
        <p:blipFill>
          <a:blip r:embed="rId2"/>
          <a:stretch>
            <a:fillRect/>
          </a:stretch>
        </p:blipFill>
        <p:spPr>
          <a:xfrm>
            <a:off x="7317945" y="2971190"/>
            <a:ext cx="1793966" cy="1554023"/>
          </a:xfrm>
          <a:prstGeom prst="rect">
            <a:avLst/>
          </a:prstGeom>
        </p:spPr>
      </p:pic>
      <p:pic>
        <p:nvPicPr>
          <p:cNvPr id="25" name="Picture 24">
            <a:extLst>
              <a:ext uri="{FF2B5EF4-FFF2-40B4-BE49-F238E27FC236}">
                <a16:creationId xmlns:a16="http://schemas.microsoft.com/office/drawing/2014/main" id="{0EFF2065-B1C9-FB79-40A8-7B55EBF112BE}"/>
              </a:ext>
            </a:extLst>
          </p:cNvPr>
          <p:cNvPicPr>
            <a:picLocks noChangeAspect="1"/>
          </p:cNvPicPr>
          <p:nvPr/>
        </p:nvPicPr>
        <p:blipFill>
          <a:blip r:embed="rId3"/>
          <a:stretch>
            <a:fillRect/>
          </a:stretch>
        </p:blipFill>
        <p:spPr>
          <a:xfrm>
            <a:off x="9222046" y="3071223"/>
            <a:ext cx="1000336" cy="1485647"/>
          </a:xfrm>
          <a:prstGeom prst="rect">
            <a:avLst/>
          </a:prstGeom>
        </p:spPr>
      </p:pic>
      <p:pic>
        <p:nvPicPr>
          <p:cNvPr id="26" name="Picture 25">
            <a:extLst>
              <a:ext uri="{FF2B5EF4-FFF2-40B4-BE49-F238E27FC236}">
                <a16:creationId xmlns:a16="http://schemas.microsoft.com/office/drawing/2014/main" id="{D9AC5FC2-FD16-4BD3-5791-051765E575F7}"/>
              </a:ext>
            </a:extLst>
          </p:cNvPr>
          <p:cNvPicPr>
            <a:picLocks noChangeAspect="1"/>
          </p:cNvPicPr>
          <p:nvPr/>
        </p:nvPicPr>
        <p:blipFill>
          <a:blip r:embed="rId4"/>
          <a:stretch>
            <a:fillRect/>
          </a:stretch>
        </p:blipFill>
        <p:spPr>
          <a:xfrm>
            <a:off x="7815685" y="4525213"/>
            <a:ext cx="2047479" cy="892701"/>
          </a:xfrm>
          <a:prstGeom prst="rect">
            <a:avLst/>
          </a:prstGeom>
        </p:spPr>
      </p:pic>
      <p:grpSp>
        <p:nvGrpSpPr>
          <p:cNvPr id="54" name="Group 53">
            <a:extLst>
              <a:ext uri="{FF2B5EF4-FFF2-40B4-BE49-F238E27FC236}">
                <a16:creationId xmlns:a16="http://schemas.microsoft.com/office/drawing/2014/main" id="{9123751D-95CA-E0AF-C6DA-498F56C45225}"/>
              </a:ext>
            </a:extLst>
          </p:cNvPr>
          <p:cNvGrpSpPr/>
          <p:nvPr/>
        </p:nvGrpSpPr>
        <p:grpSpPr>
          <a:xfrm>
            <a:off x="5461533" y="3151313"/>
            <a:ext cx="735231" cy="461666"/>
            <a:chOff x="4686299" y="2286725"/>
            <a:chExt cx="1828800" cy="1036733"/>
          </a:xfrm>
        </p:grpSpPr>
        <p:sp>
          <p:nvSpPr>
            <p:cNvPr id="55" name="Freeform 9">
              <a:extLst>
                <a:ext uri="{FF2B5EF4-FFF2-40B4-BE49-F238E27FC236}">
                  <a16:creationId xmlns:a16="http://schemas.microsoft.com/office/drawing/2014/main" id="{31CB3B1F-0917-3BF1-433D-E4757D4FCE60}"/>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Freeform 10">
              <a:extLst>
                <a:ext uri="{FF2B5EF4-FFF2-40B4-BE49-F238E27FC236}">
                  <a16:creationId xmlns:a16="http://schemas.microsoft.com/office/drawing/2014/main" id="{B34ED2BF-37EC-D480-15CA-19992DCBD35D}"/>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Freeform 11">
              <a:extLst>
                <a:ext uri="{FF2B5EF4-FFF2-40B4-BE49-F238E27FC236}">
                  <a16:creationId xmlns:a16="http://schemas.microsoft.com/office/drawing/2014/main" id="{33A84F8B-3043-724F-F0A9-B7B86E7529F1}"/>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Freeform 12">
              <a:extLst>
                <a:ext uri="{FF2B5EF4-FFF2-40B4-BE49-F238E27FC236}">
                  <a16:creationId xmlns:a16="http://schemas.microsoft.com/office/drawing/2014/main" id="{2343BEAB-51B4-96BC-4104-4D7DFECB4D8F}"/>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Freeform 13">
              <a:extLst>
                <a:ext uri="{FF2B5EF4-FFF2-40B4-BE49-F238E27FC236}">
                  <a16:creationId xmlns:a16="http://schemas.microsoft.com/office/drawing/2014/main" id="{0A8080C9-882A-C0F0-F3B2-DBA877C1334D}"/>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0" name="Group 69">
            <a:extLst>
              <a:ext uri="{FF2B5EF4-FFF2-40B4-BE49-F238E27FC236}">
                <a16:creationId xmlns:a16="http://schemas.microsoft.com/office/drawing/2014/main" id="{3DFA4DD4-AAC9-201F-7637-2C29DAF8F429}"/>
              </a:ext>
            </a:extLst>
          </p:cNvPr>
          <p:cNvGrpSpPr/>
          <p:nvPr/>
        </p:nvGrpSpPr>
        <p:grpSpPr>
          <a:xfrm>
            <a:off x="5185846" y="3835405"/>
            <a:ext cx="735231" cy="461666"/>
            <a:chOff x="4686299" y="2286725"/>
            <a:chExt cx="1828800" cy="1036733"/>
          </a:xfrm>
        </p:grpSpPr>
        <p:sp>
          <p:nvSpPr>
            <p:cNvPr id="71" name="Freeform 9">
              <a:extLst>
                <a:ext uri="{FF2B5EF4-FFF2-40B4-BE49-F238E27FC236}">
                  <a16:creationId xmlns:a16="http://schemas.microsoft.com/office/drawing/2014/main" id="{DD9800D4-136D-F903-29CC-D54332E371B5}"/>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Freeform 10">
              <a:extLst>
                <a:ext uri="{FF2B5EF4-FFF2-40B4-BE49-F238E27FC236}">
                  <a16:creationId xmlns:a16="http://schemas.microsoft.com/office/drawing/2014/main" id="{86348A91-190B-2913-5C55-24138C59E428}"/>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Freeform 11">
              <a:extLst>
                <a:ext uri="{FF2B5EF4-FFF2-40B4-BE49-F238E27FC236}">
                  <a16:creationId xmlns:a16="http://schemas.microsoft.com/office/drawing/2014/main" id="{08256DB1-71D8-13AB-1F3A-DACE11AF1B4A}"/>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Freeform 12">
              <a:extLst>
                <a:ext uri="{FF2B5EF4-FFF2-40B4-BE49-F238E27FC236}">
                  <a16:creationId xmlns:a16="http://schemas.microsoft.com/office/drawing/2014/main" id="{A4032185-5C5D-E195-73DF-D800487324D9}"/>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Freeform 13">
              <a:extLst>
                <a:ext uri="{FF2B5EF4-FFF2-40B4-BE49-F238E27FC236}">
                  <a16:creationId xmlns:a16="http://schemas.microsoft.com/office/drawing/2014/main" id="{33495626-88C0-E208-D41E-06A925CE0945}"/>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Arrow: Right 2">
            <a:extLst>
              <a:ext uri="{FF2B5EF4-FFF2-40B4-BE49-F238E27FC236}">
                <a16:creationId xmlns:a16="http://schemas.microsoft.com/office/drawing/2014/main" id="{7DC8023A-5703-7398-BCFF-FF3BE06D8B8C}"/>
              </a:ext>
            </a:extLst>
          </p:cNvPr>
          <p:cNvSpPr/>
          <p:nvPr/>
        </p:nvSpPr>
        <p:spPr>
          <a:xfrm>
            <a:off x="3598003" y="4137198"/>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6" name="Arrow: Right 75">
            <a:extLst>
              <a:ext uri="{FF2B5EF4-FFF2-40B4-BE49-F238E27FC236}">
                <a16:creationId xmlns:a16="http://schemas.microsoft.com/office/drawing/2014/main" id="{5F5EEB83-FBAC-23B4-1B75-3404F1AC437B}"/>
              </a:ext>
            </a:extLst>
          </p:cNvPr>
          <p:cNvSpPr/>
          <p:nvPr/>
        </p:nvSpPr>
        <p:spPr>
          <a:xfrm>
            <a:off x="6416925" y="3712555"/>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FDF25D9A-1304-EE17-846C-6021F45173C2}"/>
              </a:ext>
            </a:extLst>
          </p:cNvPr>
          <p:cNvPicPr>
            <a:picLocks noChangeAspect="1"/>
          </p:cNvPicPr>
          <p:nvPr/>
        </p:nvPicPr>
        <p:blipFill>
          <a:blip r:embed="rId2"/>
          <a:stretch>
            <a:fillRect/>
          </a:stretch>
        </p:blipFill>
        <p:spPr>
          <a:xfrm>
            <a:off x="7470345" y="3123590"/>
            <a:ext cx="1793966" cy="1554023"/>
          </a:xfrm>
          <a:prstGeom prst="rect">
            <a:avLst/>
          </a:prstGeom>
        </p:spPr>
      </p:pic>
      <p:pic>
        <p:nvPicPr>
          <p:cNvPr id="81" name="Picture 80">
            <a:extLst>
              <a:ext uri="{FF2B5EF4-FFF2-40B4-BE49-F238E27FC236}">
                <a16:creationId xmlns:a16="http://schemas.microsoft.com/office/drawing/2014/main" id="{907A1F94-10A2-EC2E-0270-D3AD7D4F9B5E}"/>
              </a:ext>
            </a:extLst>
          </p:cNvPr>
          <p:cNvPicPr>
            <a:picLocks noChangeAspect="1"/>
          </p:cNvPicPr>
          <p:nvPr/>
        </p:nvPicPr>
        <p:blipFill>
          <a:blip r:embed="rId4"/>
          <a:stretch>
            <a:fillRect/>
          </a:stretch>
        </p:blipFill>
        <p:spPr>
          <a:xfrm>
            <a:off x="7968085" y="4677613"/>
            <a:ext cx="2047479" cy="892701"/>
          </a:xfrm>
          <a:prstGeom prst="rect">
            <a:avLst/>
          </a:prstGeom>
        </p:spPr>
      </p:pic>
    </p:spTree>
    <p:extLst>
      <p:ext uri="{BB962C8B-B14F-4D97-AF65-F5344CB8AC3E}">
        <p14:creationId xmlns:p14="http://schemas.microsoft.com/office/powerpoint/2010/main" val="3319613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6F2BD-247C-DC5B-BA93-F11C972FD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17D87-B202-8BCB-7936-3995D8FCD15E}"/>
              </a:ext>
            </a:extLst>
          </p:cNvPr>
          <p:cNvSpPr>
            <a:spLocks noGrp="1"/>
          </p:cNvSpPr>
          <p:nvPr>
            <p:ph type="title"/>
          </p:nvPr>
        </p:nvSpPr>
        <p:spPr/>
        <p:txBody>
          <a:bodyPr>
            <a:normAutofit fontScale="90000"/>
          </a:bodyPr>
          <a:lstStyle/>
          <a:p>
            <a:r>
              <a:rPr lang="en-US" dirty="0"/>
              <a:t>DNA sequencing data: (pairs of) reads</a:t>
            </a:r>
          </a:p>
        </p:txBody>
      </p:sp>
      <p:sp>
        <p:nvSpPr>
          <p:cNvPr id="3" name="Content Placeholder 2">
            <a:extLst>
              <a:ext uri="{FF2B5EF4-FFF2-40B4-BE49-F238E27FC236}">
                <a16:creationId xmlns:a16="http://schemas.microsoft.com/office/drawing/2014/main" id="{647E0145-AC11-4853-CB75-4A8A503B0D44}"/>
              </a:ext>
            </a:extLst>
          </p:cNvPr>
          <p:cNvSpPr>
            <a:spLocks noGrp="1"/>
          </p:cNvSpPr>
          <p:nvPr>
            <p:ph idx="1"/>
          </p:nvPr>
        </p:nvSpPr>
        <p:spPr>
          <a:xfrm>
            <a:off x="598620" y="1751768"/>
            <a:ext cx="10972800" cy="4759811"/>
          </a:xfrm>
        </p:spPr>
        <p:txBody>
          <a:bodyPr>
            <a:normAutofit/>
          </a:bodyPr>
          <a:lstStyle/>
          <a:p>
            <a:r>
              <a:rPr lang="en-US" dirty="0"/>
              <a:t>Sequencing machines output letters of DNA and estimated quality scores</a:t>
            </a:r>
          </a:p>
          <a:p>
            <a:r>
              <a:rPr lang="en-US" dirty="0"/>
              <a:t>Two types of data:</a:t>
            </a:r>
          </a:p>
          <a:p>
            <a:pPr lvl="1"/>
            <a:r>
              <a:rPr lang="en-US" dirty="0"/>
              <a:t>Reads</a:t>
            </a:r>
          </a:p>
          <a:p>
            <a:pPr lvl="1"/>
            <a:r>
              <a:rPr lang="en-US" dirty="0"/>
              <a:t>Pairs of reads</a:t>
            </a:r>
          </a:p>
          <a:p>
            <a:r>
              <a:rPr lang="en-US" dirty="0"/>
              <a:t>A read is a sequence of letters read from a forward or reverse strand</a:t>
            </a:r>
          </a:p>
          <a:p>
            <a:r>
              <a:rPr lang="en-US" dirty="0"/>
              <a:t>Letters (bases) typically have quality scores</a:t>
            </a:r>
          </a:p>
        </p:txBody>
      </p:sp>
      <p:sp>
        <p:nvSpPr>
          <p:cNvPr id="4" name="Slide Number Placeholder 3">
            <a:extLst>
              <a:ext uri="{FF2B5EF4-FFF2-40B4-BE49-F238E27FC236}">
                <a16:creationId xmlns:a16="http://schemas.microsoft.com/office/drawing/2014/main" id="{D414E05D-467A-77EE-74DF-B640519A945F}"/>
              </a:ext>
            </a:extLst>
          </p:cNvPr>
          <p:cNvSpPr>
            <a:spLocks noGrp="1"/>
          </p:cNvSpPr>
          <p:nvPr>
            <p:ph type="sldNum" sz="quarter" idx="12"/>
          </p:nvPr>
        </p:nvSpPr>
        <p:spPr/>
        <p:txBody>
          <a:bodyPr/>
          <a:lstStyle/>
          <a:p>
            <a:fld id="{B82CCC60-E8CD-4174-8B1A-7DF615B22EEF}" type="slidenum">
              <a:rPr lang="en-US" smtClean="0"/>
              <a:pPr/>
              <a:t>19</a:t>
            </a:fld>
            <a:endParaRPr lang="en-US"/>
          </a:p>
        </p:txBody>
      </p:sp>
    </p:spTree>
    <p:extLst>
      <p:ext uri="{BB962C8B-B14F-4D97-AF65-F5344CB8AC3E}">
        <p14:creationId xmlns:p14="http://schemas.microsoft.com/office/powerpoint/2010/main" val="661020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9A89C-8B99-B319-CFA8-70AFC69FA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06C9F-FE30-21CF-00E3-1C90938C5CC7}"/>
              </a:ext>
            </a:extLst>
          </p:cNvPr>
          <p:cNvSpPr>
            <a:spLocks noGrp="1"/>
          </p:cNvSpPr>
          <p:nvPr>
            <p:ph type="title"/>
          </p:nvPr>
        </p:nvSpPr>
        <p:spPr/>
        <p:txBody>
          <a:bodyPr>
            <a:normAutofit fontScale="90000"/>
          </a:bodyPr>
          <a:lstStyle/>
          <a:p>
            <a:r>
              <a:rPr lang="en-US" dirty="0"/>
              <a:t>Types of sequencing reads</a:t>
            </a:r>
          </a:p>
        </p:txBody>
      </p:sp>
      <p:sp>
        <p:nvSpPr>
          <p:cNvPr id="3" name="Content Placeholder 2">
            <a:extLst>
              <a:ext uri="{FF2B5EF4-FFF2-40B4-BE49-F238E27FC236}">
                <a16:creationId xmlns:a16="http://schemas.microsoft.com/office/drawing/2014/main" id="{5A7122D4-6535-ED97-5E91-D1F1E6186372}"/>
              </a:ext>
            </a:extLst>
          </p:cNvPr>
          <p:cNvSpPr>
            <a:spLocks noGrp="1"/>
          </p:cNvSpPr>
          <p:nvPr>
            <p:ph idx="1"/>
          </p:nvPr>
        </p:nvSpPr>
        <p:spPr>
          <a:xfrm>
            <a:off x="598620" y="1596539"/>
            <a:ext cx="10972800" cy="5039265"/>
          </a:xfrm>
        </p:spPr>
        <p:txBody>
          <a:bodyPr>
            <a:normAutofit/>
          </a:bodyPr>
          <a:lstStyle/>
          <a:p>
            <a:r>
              <a:rPr lang="en-US" dirty="0"/>
              <a:t>Single-end reads: PacBio HiFi or Oxford Nanopore:</a:t>
            </a:r>
            <a:br>
              <a:rPr lang="en-US" dirty="0"/>
            </a:br>
            <a:br>
              <a:rPr lang="en-US" dirty="0"/>
            </a:br>
            <a:r>
              <a:rPr lang="en-US" dirty="0"/>
              <a:t>5’ direction -&gt;</a:t>
            </a:r>
            <a:br>
              <a:rPr lang="en-US" dirty="0"/>
            </a:br>
            <a:r>
              <a:rPr lang="en-US" b="1" dirty="0">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You get:</a:t>
            </a: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or</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CGATCGAGTGTATCTGTCTATGTCTATGTCTATCT</a:t>
            </a:r>
            <a:br>
              <a:rPr lang="en-US" b="1" dirty="0">
                <a:latin typeface="Courier New" panose="02070309020205020404" pitchFamily="49" charset="0"/>
                <a:cs typeface="Courier New" panose="02070309020205020404" pitchFamily="49" charset="0"/>
              </a:rPr>
            </a:br>
            <a:endParaRPr lang="en-US" dirty="0">
              <a:cs typeface="Courier New" panose="02070309020205020404" pitchFamily="49" charset="0"/>
            </a:endParaRPr>
          </a:p>
          <a:p>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C30F037C-7BE2-29D0-FF10-971C2238D17C}"/>
              </a:ext>
            </a:extLst>
          </p:cNvPr>
          <p:cNvSpPr>
            <a:spLocks noGrp="1"/>
          </p:cNvSpPr>
          <p:nvPr>
            <p:ph type="sldNum" sz="quarter" idx="12"/>
          </p:nvPr>
        </p:nvSpPr>
        <p:spPr/>
        <p:txBody>
          <a:bodyPr/>
          <a:lstStyle/>
          <a:p>
            <a:fld id="{B82CCC60-E8CD-4174-8B1A-7DF615B22EEF}" type="slidenum">
              <a:rPr lang="en-US" smtClean="0"/>
              <a:pPr/>
              <a:t>20</a:t>
            </a:fld>
            <a:endParaRPr lang="en-US"/>
          </a:p>
        </p:txBody>
      </p:sp>
    </p:spTree>
    <p:extLst>
      <p:ext uri="{BB962C8B-B14F-4D97-AF65-F5344CB8AC3E}">
        <p14:creationId xmlns:p14="http://schemas.microsoft.com/office/powerpoint/2010/main" val="4284398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4C68-1249-845F-D9FB-CB55A950F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F6950-5FD2-5C2D-8CC6-A744CF3E1897}"/>
              </a:ext>
            </a:extLst>
          </p:cNvPr>
          <p:cNvSpPr>
            <a:spLocks noGrp="1"/>
          </p:cNvSpPr>
          <p:nvPr>
            <p:ph type="title"/>
          </p:nvPr>
        </p:nvSpPr>
        <p:spPr/>
        <p:txBody>
          <a:bodyPr>
            <a:normAutofit fontScale="90000"/>
          </a:bodyPr>
          <a:lstStyle/>
          <a:p>
            <a:r>
              <a:rPr lang="en-US" dirty="0"/>
              <a:t>Types of sequencing reads</a:t>
            </a:r>
          </a:p>
        </p:txBody>
      </p:sp>
      <p:sp>
        <p:nvSpPr>
          <p:cNvPr id="3" name="Content Placeholder 2">
            <a:extLst>
              <a:ext uri="{FF2B5EF4-FFF2-40B4-BE49-F238E27FC236}">
                <a16:creationId xmlns:a16="http://schemas.microsoft.com/office/drawing/2014/main" id="{2C9F2E48-E662-DD1F-29AE-FA64A8BD7E08}"/>
              </a:ext>
            </a:extLst>
          </p:cNvPr>
          <p:cNvSpPr>
            <a:spLocks noGrp="1"/>
          </p:cNvSpPr>
          <p:nvPr>
            <p:ph idx="1"/>
          </p:nvPr>
        </p:nvSpPr>
        <p:spPr>
          <a:xfrm>
            <a:off x="598620" y="1596539"/>
            <a:ext cx="10972800" cy="5039265"/>
          </a:xfrm>
        </p:spPr>
        <p:txBody>
          <a:bodyPr>
            <a:normAutofit/>
          </a:bodyPr>
          <a:lstStyle/>
          <a:p>
            <a:r>
              <a:rPr lang="en-US" dirty="0"/>
              <a:t>Paired-end reads: Illumina</a:t>
            </a:r>
            <a:br>
              <a:rPr lang="en-US" dirty="0"/>
            </a:br>
            <a:br>
              <a:rPr lang="en-US" dirty="0"/>
            </a:br>
            <a:r>
              <a:rPr lang="en-US" dirty="0"/>
              <a:t>5’ direction -&gt;</a:t>
            </a:r>
            <a:br>
              <a:rPr lang="en-US" dirty="0"/>
            </a:br>
            <a:r>
              <a:rPr lang="en-US" b="1" dirty="0">
                <a:solidFill>
                  <a:srgbClr val="00B050"/>
                </a:solidFill>
                <a:latin typeface="Courier New" panose="02070309020205020404" pitchFamily="49" charset="0"/>
                <a:cs typeface="Courier New" panose="02070309020205020404" pitchFamily="49" charset="0"/>
              </a:rPr>
              <a:t>AGATAGACATA</a:t>
            </a:r>
            <a:r>
              <a:rPr lang="en-US" b="1" dirty="0">
                <a:latin typeface="Courier New" panose="02070309020205020404" pitchFamily="49" charset="0"/>
                <a:cs typeface="Courier New" panose="02070309020205020404" pitchFamily="49" charset="0"/>
              </a:rPr>
              <a:t>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a:t>
            </a:r>
            <a:r>
              <a:rPr lang="en-US" b="1" dirty="0">
                <a:solidFill>
                  <a:srgbClr val="00B050"/>
                </a:solidFill>
                <a:latin typeface="Courier New" panose="02070309020205020404" pitchFamily="49" charset="0"/>
                <a:cs typeface="Courier New" panose="02070309020205020404" pitchFamily="49" charset="0"/>
              </a:rPr>
              <a:t>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You get:</a:t>
            </a: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and</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
            </a:r>
            <a:br>
              <a:rPr lang="en-US" b="1" dirty="0">
                <a:latin typeface="Courier New" panose="02070309020205020404" pitchFamily="49" charset="0"/>
                <a:cs typeface="Courier New" panose="02070309020205020404" pitchFamily="49" charset="0"/>
              </a:rPr>
            </a:br>
            <a:endParaRPr lang="en-US" dirty="0">
              <a:cs typeface="Courier New" panose="02070309020205020404" pitchFamily="49" charset="0"/>
            </a:endParaRPr>
          </a:p>
          <a:p>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C1FBD651-E7FD-C63A-00C2-F8B74D668AA5}"/>
              </a:ext>
            </a:extLst>
          </p:cNvPr>
          <p:cNvSpPr>
            <a:spLocks noGrp="1"/>
          </p:cNvSpPr>
          <p:nvPr>
            <p:ph type="sldNum" sz="quarter" idx="12"/>
          </p:nvPr>
        </p:nvSpPr>
        <p:spPr/>
        <p:txBody>
          <a:bodyPr/>
          <a:lstStyle/>
          <a:p>
            <a:fld id="{B82CCC60-E8CD-4174-8B1A-7DF615B22EEF}" type="slidenum">
              <a:rPr lang="en-US" smtClean="0"/>
              <a:pPr/>
              <a:t>21</a:t>
            </a:fld>
            <a:endParaRPr lang="en-US"/>
          </a:p>
        </p:txBody>
      </p:sp>
    </p:spTree>
    <p:extLst>
      <p:ext uri="{BB962C8B-B14F-4D97-AF65-F5344CB8AC3E}">
        <p14:creationId xmlns:p14="http://schemas.microsoft.com/office/powerpoint/2010/main" val="1439868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Current DNA sequencing technologies</a:t>
            </a:r>
          </a:p>
        </p:txBody>
      </p:sp>
      <p:sp>
        <p:nvSpPr>
          <p:cNvPr id="4" name="Slide Number Placeholder 3">
            <a:extLst>
              <a:ext uri="{FF2B5EF4-FFF2-40B4-BE49-F238E27FC236}">
                <a16:creationId xmlns:a16="http://schemas.microsoft.com/office/drawing/2014/main" id="{BCA34BE0-BD77-4B6B-9720-35840D9D8317}"/>
              </a:ext>
            </a:extLst>
          </p:cNvPr>
          <p:cNvSpPr>
            <a:spLocks noGrp="1"/>
          </p:cNvSpPr>
          <p:nvPr>
            <p:ph type="sldNum" sz="quarter" idx="12"/>
          </p:nvPr>
        </p:nvSpPr>
        <p:spPr/>
        <p:txBody>
          <a:bodyPr/>
          <a:lstStyle/>
          <a:p>
            <a:fld id="{B82CCC60-E8CD-4174-8B1A-7DF615B22EEF}" type="slidenum">
              <a:rPr lang="en-US" smtClean="0"/>
              <a:pPr/>
              <a:t>22</a:t>
            </a:fld>
            <a:endParaRPr lang="en-US"/>
          </a:p>
        </p:txBody>
      </p:sp>
      <p:sp>
        <p:nvSpPr>
          <p:cNvPr id="7" name="Rectangle 3">
            <a:extLst>
              <a:ext uri="{FF2B5EF4-FFF2-40B4-BE49-F238E27FC236}">
                <a16:creationId xmlns:a16="http://schemas.microsoft.com/office/drawing/2014/main" id="{63CC3267-8713-4997-9CAA-BBB2CF4B50A4}"/>
              </a:ext>
            </a:extLst>
          </p:cNvPr>
          <p:cNvSpPr>
            <a:spLocks noGrp="1" noChangeArrowheads="1"/>
          </p:cNvSpPr>
          <p:nvPr>
            <p:ph idx="1"/>
          </p:nvPr>
        </p:nvSpPr>
        <p:spPr>
          <a:xfrm>
            <a:off x="1056735" y="1901950"/>
            <a:ext cx="10689350" cy="5410200"/>
          </a:xfrm>
        </p:spPr>
        <p:txBody>
          <a:bodyPr>
            <a:normAutofit/>
          </a:bodyPr>
          <a:lstStyle/>
          <a:p>
            <a:pPr eaLnBrk="1" hangingPunct="1">
              <a:lnSpc>
                <a:spcPct val="90000"/>
              </a:lnSpc>
              <a:defRPr/>
            </a:pPr>
            <a:r>
              <a:rPr lang="en-US" sz="2800" u="sng" dirty="0"/>
              <a:t>Short Reads: Illumina</a:t>
            </a:r>
          </a:p>
          <a:p>
            <a:pPr lvl="1" eaLnBrk="1" hangingPunct="1">
              <a:lnSpc>
                <a:spcPct val="90000"/>
              </a:lnSpc>
              <a:buFont typeface="Wingdings" pitchFamily="2" charset="2"/>
              <a:buNone/>
              <a:defRPr/>
            </a:pPr>
            <a:r>
              <a:rPr lang="en-US" sz="2400" dirty="0">
                <a:sym typeface="Wingdings" pitchFamily="2" charset="2"/>
              </a:rPr>
              <a:t> </a:t>
            </a:r>
            <a:r>
              <a:rPr lang="en-US" sz="2400" dirty="0"/>
              <a:t>Cheap: as low as $1K for </a:t>
            </a:r>
            <a:r>
              <a:rPr lang="en-US" sz="2400" i="1" dirty="0"/>
              <a:t>de novo </a:t>
            </a:r>
            <a:r>
              <a:rPr lang="en-US" sz="2400" dirty="0"/>
              <a:t>human genome</a:t>
            </a:r>
          </a:p>
          <a:p>
            <a:pPr lvl="1">
              <a:lnSpc>
                <a:spcPct val="90000"/>
              </a:lnSpc>
              <a:buNone/>
              <a:defRPr/>
            </a:pPr>
            <a:r>
              <a:rPr lang="en-US" sz="2400" dirty="0">
                <a:sym typeface="Wingdings" pitchFamily="2" charset="2"/>
              </a:rPr>
              <a:t> </a:t>
            </a:r>
            <a:r>
              <a:rPr lang="en-US" sz="2400" dirty="0"/>
              <a:t>Accurate: ~1% error rate</a:t>
            </a:r>
          </a:p>
          <a:p>
            <a:pPr lvl="1" eaLnBrk="1" hangingPunct="1">
              <a:lnSpc>
                <a:spcPct val="90000"/>
              </a:lnSpc>
              <a:buFont typeface="Wingdings" pitchFamily="2" charset="2"/>
              <a:buNone/>
              <a:defRPr/>
            </a:pPr>
            <a:r>
              <a:rPr lang="en-US" sz="2400" dirty="0">
                <a:sym typeface="Wingdings" pitchFamily="2" charset="2"/>
              </a:rPr>
              <a:t> Only</a:t>
            </a:r>
            <a:r>
              <a:rPr lang="en-US" sz="2400" dirty="0"/>
              <a:t> 150 to 300 bp reads, paired ends of 300-800bp fragments</a:t>
            </a:r>
            <a:br>
              <a:rPr lang="en-US" sz="2400" dirty="0"/>
            </a:br>
            <a:endParaRPr lang="en-US" sz="2400" dirty="0"/>
          </a:p>
          <a:p>
            <a:pPr eaLnBrk="1" hangingPunct="1">
              <a:lnSpc>
                <a:spcPct val="90000"/>
              </a:lnSpc>
              <a:defRPr/>
            </a:pPr>
            <a:r>
              <a:rPr lang="en-US" sz="2800" u="sng" dirty="0"/>
              <a:t>Long Reads: Oxford Nanopore and PacBio </a:t>
            </a:r>
            <a:r>
              <a:rPr lang="en-US" u="sng" dirty="0"/>
              <a:t>HiFi</a:t>
            </a:r>
            <a:endParaRPr lang="en-US" sz="2800" u="sng" dirty="0"/>
          </a:p>
          <a:p>
            <a:pPr lvl="1">
              <a:lnSpc>
                <a:spcPct val="90000"/>
              </a:lnSpc>
              <a:buNone/>
              <a:defRPr/>
            </a:pPr>
            <a:r>
              <a:rPr lang="en-US" sz="2400" dirty="0">
                <a:sym typeface="Wingdings" pitchFamily="2" charset="2"/>
              </a:rPr>
              <a:t> Ine</a:t>
            </a:r>
            <a:r>
              <a:rPr lang="en-US" sz="2400" dirty="0"/>
              <a:t>xpensive: $2-5k for a </a:t>
            </a:r>
            <a:r>
              <a:rPr lang="en-US" sz="2400" i="1" dirty="0"/>
              <a:t>de novo </a:t>
            </a:r>
            <a:r>
              <a:rPr lang="en-US" sz="2400" dirty="0"/>
              <a:t>human genome</a:t>
            </a:r>
          </a:p>
          <a:p>
            <a:pPr lvl="1">
              <a:lnSpc>
                <a:spcPct val="90000"/>
              </a:lnSpc>
              <a:buNone/>
              <a:defRPr/>
            </a:pPr>
            <a:r>
              <a:rPr lang="en-US" sz="2400" dirty="0">
                <a:sym typeface="Wingdings" pitchFamily="2" charset="2"/>
              </a:rPr>
              <a:t> </a:t>
            </a:r>
            <a:r>
              <a:rPr lang="en-US" sz="2400" dirty="0"/>
              <a:t>We get on average long 10-500Kbp reads</a:t>
            </a:r>
          </a:p>
          <a:p>
            <a:pPr lvl="1">
              <a:lnSpc>
                <a:spcPct val="90000"/>
              </a:lnSpc>
              <a:buNone/>
              <a:defRPr/>
            </a:pPr>
            <a:r>
              <a:rPr lang="en-US" sz="2400" dirty="0">
                <a:sym typeface="Wingdings" pitchFamily="2" charset="2"/>
              </a:rPr>
              <a:t> High error rate: ~3-7% for ONT, &lt;1% error rate for HiFi</a:t>
            </a:r>
            <a:endParaRPr lang="en-US" sz="2400" dirty="0"/>
          </a:p>
          <a:p>
            <a:pPr lvl="1" eaLnBrk="1" hangingPunct="1">
              <a:lnSpc>
                <a:spcPct val="90000"/>
              </a:lnSpc>
              <a:buNone/>
              <a:defRPr/>
            </a:pPr>
            <a:endParaRPr lang="en-US" sz="2400" dirty="0"/>
          </a:p>
          <a:p>
            <a:pPr eaLnBrk="1" hangingPunct="1">
              <a:lnSpc>
                <a:spcPct val="90000"/>
              </a:lnSpc>
              <a:defRPr/>
            </a:pPr>
            <a:endParaRPr lang="en-US" sz="2800" dirty="0"/>
          </a:p>
        </p:txBody>
      </p:sp>
    </p:spTree>
    <p:extLst>
      <p:ext uri="{BB962C8B-B14F-4D97-AF65-F5344CB8AC3E}">
        <p14:creationId xmlns:p14="http://schemas.microsoft.com/office/powerpoint/2010/main" val="125719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Repeat regions cause mistakes</a:t>
            </a:r>
          </a:p>
        </p:txBody>
      </p:sp>
      <p:sp>
        <p:nvSpPr>
          <p:cNvPr id="4" name="Slide Number Placeholder 3">
            <a:extLst>
              <a:ext uri="{FF2B5EF4-FFF2-40B4-BE49-F238E27FC236}">
                <a16:creationId xmlns:a16="http://schemas.microsoft.com/office/drawing/2014/main" id="{BCA34BE0-BD77-4B6B-9720-35840D9D8317}"/>
              </a:ext>
            </a:extLst>
          </p:cNvPr>
          <p:cNvSpPr>
            <a:spLocks noGrp="1"/>
          </p:cNvSpPr>
          <p:nvPr>
            <p:ph type="sldNum" sz="quarter" idx="12"/>
          </p:nvPr>
        </p:nvSpPr>
        <p:spPr/>
        <p:txBody>
          <a:bodyPr/>
          <a:lstStyle/>
          <a:p>
            <a:fld id="{B82CCC60-E8CD-4174-8B1A-7DF615B22EEF}" type="slidenum">
              <a:rPr lang="en-US" smtClean="0"/>
              <a:pPr/>
              <a:t>23</a:t>
            </a:fld>
            <a:endParaRPr lang="en-US"/>
          </a:p>
        </p:txBody>
      </p:sp>
      <p:sp>
        <p:nvSpPr>
          <p:cNvPr id="7" name="Line 38">
            <a:extLst>
              <a:ext uri="{FF2B5EF4-FFF2-40B4-BE49-F238E27FC236}">
                <a16:creationId xmlns:a16="http://schemas.microsoft.com/office/drawing/2014/main" id="{0BF4681C-216C-4CCE-991A-78601E4CBD28}"/>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8B357437-4DA2-4E2E-B578-49936F0FD9FB}"/>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057C525C-49EC-45FC-AB4D-23A3B5674845}"/>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044DE586-5071-4F10-B063-DFC6A0E5958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49DE7835-7352-4E6B-8C66-DD027FDBA507}"/>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DD80223E-0643-4A89-B647-F1F036242EA5}"/>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82593F8E-58B8-4F56-AB17-FAE9D0441BC8}"/>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14" name="Group 9">
            <a:extLst>
              <a:ext uri="{FF2B5EF4-FFF2-40B4-BE49-F238E27FC236}">
                <a16:creationId xmlns:a16="http://schemas.microsoft.com/office/drawing/2014/main" id="{55953275-43FB-49D3-A55C-32E2AF9DD835}"/>
              </a:ext>
            </a:extLst>
          </p:cNvPr>
          <p:cNvGrpSpPr>
            <a:grpSpLocks/>
          </p:cNvGrpSpPr>
          <p:nvPr/>
        </p:nvGrpSpPr>
        <p:grpSpPr bwMode="auto">
          <a:xfrm>
            <a:off x="2054045" y="3527146"/>
            <a:ext cx="2743200" cy="152400"/>
            <a:chOff x="624" y="2208"/>
            <a:chExt cx="1728" cy="96"/>
          </a:xfrm>
        </p:grpSpPr>
        <p:sp>
          <p:nvSpPr>
            <p:cNvPr id="15" name="Line 10">
              <a:extLst>
                <a:ext uri="{FF2B5EF4-FFF2-40B4-BE49-F238E27FC236}">
                  <a16:creationId xmlns:a16="http://schemas.microsoft.com/office/drawing/2014/main" id="{9D1D29B0-E12C-4270-8A93-E34BF775BE9B}"/>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1">
              <a:extLst>
                <a:ext uri="{FF2B5EF4-FFF2-40B4-BE49-F238E27FC236}">
                  <a16:creationId xmlns:a16="http://schemas.microsoft.com/office/drawing/2014/main" id="{8B9E08C3-C78E-466F-B06A-43420B0DD62D}"/>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2">
              <a:extLst>
                <a:ext uri="{FF2B5EF4-FFF2-40B4-BE49-F238E27FC236}">
                  <a16:creationId xmlns:a16="http://schemas.microsoft.com/office/drawing/2014/main" id="{D06B97E0-B050-445F-B4BE-AA4199188193}"/>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3">
              <a:extLst>
                <a:ext uri="{FF2B5EF4-FFF2-40B4-BE49-F238E27FC236}">
                  <a16:creationId xmlns:a16="http://schemas.microsoft.com/office/drawing/2014/main" id="{92E53289-C0D7-46DC-8A96-5EF9B90FF24D}"/>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4">
              <a:extLst>
                <a:ext uri="{FF2B5EF4-FFF2-40B4-BE49-F238E27FC236}">
                  <a16:creationId xmlns:a16="http://schemas.microsoft.com/office/drawing/2014/main" id="{CE5CAE08-2588-4247-9AAC-E4D2EB7148F1}"/>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5">
              <a:extLst>
                <a:ext uri="{FF2B5EF4-FFF2-40B4-BE49-F238E27FC236}">
                  <a16:creationId xmlns:a16="http://schemas.microsoft.com/office/drawing/2014/main" id="{ADC83BF8-B581-4422-A088-EDBD84323CD6}"/>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6">
              <a:extLst>
                <a:ext uri="{FF2B5EF4-FFF2-40B4-BE49-F238E27FC236}">
                  <a16:creationId xmlns:a16="http://schemas.microsoft.com/office/drawing/2014/main" id="{2A178F42-845B-406C-9CBC-715B6147A599}"/>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2" name="Group 17">
            <a:extLst>
              <a:ext uri="{FF2B5EF4-FFF2-40B4-BE49-F238E27FC236}">
                <a16:creationId xmlns:a16="http://schemas.microsoft.com/office/drawing/2014/main" id="{4792BA97-09E0-4F2B-80F4-04ADA3D3E3D8}"/>
              </a:ext>
            </a:extLst>
          </p:cNvPr>
          <p:cNvGrpSpPr>
            <a:grpSpLocks/>
          </p:cNvGrpSpPr>
          <p:nvPr/>
        </p:nvGrpSpPr>
        <p:grpSpPr bwMode="auto">
          <a:xfrm>
            <a:off x="4416245" y="3527146"/>
            <a:ext cx="2133600" cy="152400"/>
            <a:chOff x="2112" y="2208"/>
            <a:chExt cx="1344" cy="96"/>
          </a:xfrm>
        </p:grpSpPr>
        <p:sp>
          <p:nvSpPr>
            <p:cNvPr id="23" name="Line 18">
              <a:extLst>
                <a:ext uri="{FF2B5EF4-FFF2-40B4-BE49-F238E27FC236}">
                  <a16:creationId xmlns:a16="http://schemas.microsoft.com/office/drawing/2014/main" id="{1BDCF5FF-C38A-4ECF-BF0F-2FAD313094A2}"/>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9">
              <a:extLst>
                <a:ext uri="{FF2B5EF4-FFF2-40B4-BE49-F238E27FC236}">
                  <a16:creationId xmlns:a16="http://schemas.microsoft.com/office/drawing/2014/main" id="{EAEDB3B8-8D22-4688-8235-9DF407C83DDC}"/>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0">
              <a:extLst>
                <a:ext uri="{FF2B5EF4-FFF2-40B4-BE49-F238E27FC236}">
                  <a16:creationId xmlns:a16="http://schemas.microsoft.com/office/drawing/2014/main" id="{7608BCD4-D162-4A93-B48E-5157CC4EDE8C}"/>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1">
              <a:extLst>
                <a:ext uri="{FF2B5EF4-FFF2-40B4-BE49-F238E27FC236}">
                  <a16:creationId xmlns:a16="http://schemas.microsoft.com/office/drawing/2014/main" id="{282EDD10-C1ED-446C-B209-DED3A0841052}"/>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2">
              <a:extLst>
                <a:ext uri="{FF2B5EF4-FFF2-40B4-BE49-F238E27FC236}">
                  <a16:creationId xmlns:a16="http://schemas.microsoft.com/office/drawing/2014/main" id="{675E27E7-2C84-4BD2-AE11-3FBCFE172951}"/>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3">
              <a:extLst>
                <a:ext uri="{FF2B5EF4-FFF2-40B4-BE49-F238E27FC236}">
                  <a16:creationId xmlns:a16="http://schemas.microsoft.com/office/drawing/2014/main" id="{01F49BF3-24A7-441D-BD35-75AE12303000}"/>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4">
              <a:extLst>
                <a:ext uri="{FF2B5EF4-FFF2-40B4-BE49-F238E27FC236}">
                  <a16:creationId xmlns:a16="http://schemas.microsoft.com/office/drawing/2014/main" id="{3E69E1B2-B4DC-48E1-8038-6A3ED2E99383}"/>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 name="Group 25">
            <a:extLst>
              <a:ext uri="{FF2B5EF4-FFF2-40B4-BE49-F238E27FC236}">
                <a16:creationId xmlns:a16="http://schemas.microsoft.com/office/drawing/2014/main" id="{5141FF4C-7128-4607-9FC3-22051B79A50C}"/>
              </a:ext>
            </a:extLst>
          </p:cNvPr>
          <p:cNvGrpSpPr>
            <a:grpSpLocks/>
          </p:cNvGrpSpPr>
          <p:nvPr/>
        </p:nvGrpSpPr>
        <p:grpSpPr bwMode="auto">
          <a:xfrm>
            <a:off x="6245045" y="3450946"/>
            <a:ext cx="3276600" cy="228600"/>
            <a:chOff x="3264" y="2160"/>
            <a:chExt cx="2064" cy="144"/>
          </a:xfrm>
        </p:grpSpPr>
        <p:sp>
          <p:nvSpPr>
            <p:cNvPr id="31" name="Line 26">
              <a:extLst>
                <a:ext uri="{FF2B5EF4-FFF2-40B4-BE49-F238E27FC236}">
                  <a16:creationId xmlns:a16="http://schemas.microsoft.com/office/drawing/2014/main" id="{2919A293-939E-4650-89D3-53E206116562}"/>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27">
              <a:extLst>
                <a:ext uri="{FF2B5EF4-FFF2-40B4-BE49-F238E27FC236}">
                  <a16:creationId xmlns:a16="http://schemas.microsoft.com/office/drawing/2014/main" id="{D57152A8-49C5-4D58-B4DA-4C659BCEF344}"/>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28">
              <a:extLst>
                <a:ext uri="{FF2B5EF4-FFF2-40B4-BE49-F238E27FC236}">
                  <a16:creationId xmlns:a16="http://schemas.microsoft.com/office/drawing/2014/main" id="{5B974226-B455-422E-A8F5-8B2D62334C77}"/>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29">
              <a:extLst>
                <a:ext uri="{FF2B5EF4-FFF2-40B4-BE49-F238E27FC236}">
                  <a16:creationId xmlns:a16="http://schemas.microsoft.com/office/drawing/2014/main" id="{B7D2FBE6-33B6-42BC-BA20-2D6B574AEE9E}"/>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0">
              <a:extLst>
                <a:ext uri="{FF2B5EF4-FFF2-40B4-BE49-F238E27FC236}">
                  <a16:creationId xmlns:a16="http://schemas.microsoft.com/office/drawing/2014/main" id="{39CE081C-84A6-48FE-92B3-41E4045B1A8D}"/>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1">
              <a:extLst>
                <a:ext uri="{FF2B5EF4-FFF2-40B4-BE49-F238E27FC236}">
                  <a16:creationId xmlns:a16="http://schemas.microsoft.com/office/drawing/2014/main" id="{61DCBD6A-6A4B-41B8-BDD5-8533D22C291F}"/>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2">
              <a:extLst>
                <a:ext uri="{FF2B5EF4-FFF2-40B4-BE49-F238E27FC236}">
                  <a16:creationId xmlns:a16="http://schemas.microsoft.com/office/drawing/2014/main" id="{44097C2C-B0D0-44DE-B8C1-F105E7803827}"/>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3">
              <a:extLst>
                <a:ext uri="{FF2B5EF4-FFF2-40B4-BE49-F238E27FC236}">
                  <a16:creationId xmlns:a16="http://schemas.microsoft.com/office/drawing/2014/main" id="{174F5BB8-B18B-4F35-8C53-3EAFD6078416}"/>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34">
              <a:extLst>
                <a:ext uri="{FF2B5EF4-FFF2-40B4-BE49-F238E27FC236}">
                  <a16:creationId xmlns:a16="http://schemas.microsoft.com/office/drawing/2014/main" id="{51509FED-C68E-407B-8958-F8491049C824}"/>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35">
              <a:extLst>
                <a:ext uri="{FF2B5EF4-FFF2-40B4-BE49-F238E27FC236}">
                  <a16:creationId xmlns:a16="http://schemas.microsoft.com/office/drawing/2014/main" id="{E19049FF-76DD-40E0-8702-4164617C192F}"/>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1" name="Line 36">
            <a:extLst>
              <a:ext uri="{FF2B5EF4-FFF2-40B4-BE49-F238E27FC236}">
                <a16:creationId xmlns:a16="http://schemas.microsoft.com/office/drawing/2014/main" id="{8D00D421-EA88-4DE3-8129-4E0AFA30B459}"/>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FA1FB302-C6B8-4D2B-879B-20D8978EBF25}"/>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87B5EE79-9835-4C75-B909-17FF0068BE05}"/>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4" name="Group 41">
            <a:extLst>
              <a:ext uri="{FF2B5EF4-FFF2-40B4-BE49-F238E27FC236}">
                <a16:creationId xmlns:a16="http://schemas.microsoft.com/office/drawing/2014/main" id="{1EFFBE78-4160-4CD5-A5F4-322C85F9E7F7}"/>
              </a:ext>
            </a:extLst>
          </p:cNvPr>
          <p:cNvGrpSpPr>
            <a:grpSpLocks/>
          </p:cNvGrpSpPr>
          <p:nvPr/>
        </p:nvGrpSpPr>
        <p:grpSpPr bwMode="auto">
          <a:xfrm>
            <a:off x="2054045" y="3527146"/>
            <a:ext cx="2743200" cy="152400"/>
            <a:chOff x="624" y="2208"/>
            <a:chExt cx="1728" cy="96"/>
          </a:xfrm>
        </p:grpSpPr>
        <p:sp>
          <p:nvSpPr>
            <p:cNvPr id="45" name="Line 42">
              <a:extLst>
                <a:ext uri="{FF2B5EF4-FFF2-40B4-BE49-F238E27FC236}">
                  <a16:creationId xmlns:a16="http://schemas.microsoft.com/office/drawing/2014/main" id="{46930E3F-CBD9-4BF2-B946-32C69EFBA7E0}"/>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95BCBA5B-7864-4FEF-8250-C9FCF282C4F6}"/>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F0D4B4EC-3E72-47BF-A3F1-55E49CC3A320}"/>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5">
              <a:extLst>
                <a:ext uri="{FF2B5EF4-FFF2-40B4-BE49-F238E27FC236}">
                  <a16:creationId xmlns:a16="http://schemas.microsoft.com/office/drawing/2014/main" id="{A2BD9E8A-ABDD-4B45-A84D-2EFF7B1068C3}"/>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46">
              <a:extLst>
                <a:ext uri="{FF2B5EF4-FFF2-40B4-BE49-F238E27FC236}">
                  <a16:creationId xmlns:a16="http://schemas.microsoft.com/office/drawing/2014/main" id="{F0412969-5E4D-4A4B-B9C8-0EBAA73B7365}"/>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47">
              <a:extLst>
                <a:ext uri="{FF2B5EF4-FFF2-40B4-BE49-F238E27FC236}">
                  <a16:creationId xmlns:a16="http://schemas.microsoft.com/office/drawing/2014/main" id="{E7B4DBA8-D9CB-47E0-9E20-1677D4FF0E63}"/>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48">
              <a:extLst>
                <a:ext uri="{FF2B5EF4-FFF2-40B4-BE49-F238E27FC236}">
                  <a16:creationId xmlns:a16="http://schemas.microsoft.com/office/drawing/2014/main" id="{ECE655D1-2699-4334-A2D8-763891DF5C22}"/>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2" name="Group 49">
            <a:extLst>
              <a:ext uri="{FF2B5EF4-FFF2-40B4-BE49-F238E27FC236}">
                <a16:creationId xmlns:a16="http://schemas.microsoft.com/office/drawing/2014/main" id="{CC1BF781-971A-40ED-831E-AA1C84B16F13}"/>
              </a:ext>
            </a:extLst>
          </p:cNvPr>
          <p:cNvGrpSpPr>
            <a:grpSpLocks/>
          </p:cNvGrpSpPr>
          <p:nvPr/>
        </p:nvGrpSpPr>
        <p:grpSpPr bwMode="auto">
          <a:xfrm>
            <a:off x="6245045" y="3450946"/>
            <a:ext cx="3276600" cy="228600"/>
            <a:chOff x="3264" y="2160"/>
            <a:chExt cx="2064" cy="144"/>
          </a:xfrm>
        </p:grpSpPr>
        <p:sp>
          <p:nvSpPr>
            <p:cNvPr id="53" name="Line 50">
              <a:extLst>
                <a:ext uri="{FF2B5EF4-FFF2-40B4-BE49-F238E27FC236}">
                  <a16:creationId xmlns:a16="http://schemas.microsoft.com/office/drawing/2014/main" id="{DC3197F1-569E-4AF7-A0EE-8859D4266E5B}"/>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1">
              <a:extLst>
                <a:ext uri="{FF2B5EF4-FFF2-40B4-BE49-F238E27FC236}">
                  <a16:creationId xmlns:a16="http://schemas.microsoft.com/office/drawing/2014/main" id="{2015051D-B10B-49D4-B957-37162AB8DFB1}"/>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2">
              <a:extLst>
                <a:ext uri="{FF2B5EF4-FFF2-40B4-BE49-F238E27FC236}">
                  <a16:creationId xmlns:a16="http://schemas.microsoft.com/office/drawing/2014/main" id="{F3D122AA-0B61-47FF-9F1A-602C992D2181}"/>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3">
              <a:extLst>
                <a:ext uri="{FF2B5EF4-FFF2-40B4-BE49-F238E27FC236}">
                  <a16:creationId xmlns:a16="http://schemas.microsoft.com/office/drawing/2014/main" id="{F5B38FC7-3CFD-44CF-84DE-353D27678BE7}"/>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54">
              <a:extLst>
                <a:ext uri="{FF2B5EF4-FFF2-40B4-BE49-F238E27FC236}">
                  <a16:creationId xmlns:a16="http://schemas.microsoft.com/office/drawing/2014/main" id="{9EEA7956-5B73-4720-A75B-F427A8FA0B3F}"/>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55">
              <a:extLst>
                <a:ext uri="{FF2B5EF4-FFF2-40B4-BE49-F238E27FC236}">
                  <a16:creationId xmlns:a16="http://schemas.microsoft.com/office/drawing/2014/main" id="{A351C404-C0F7-4BBD-BF52-C99BDD6BE168}"/>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56">
              <a:extLst>
                <a:ext uri="{FF2B5EF4-FFF2-40B4-BE49-F238E27FC236}">
                  <a16:creationId xmlns:a16="http://schemas.microsoft.com/office/drawing/2014/main" id="{86E19AAF-6EF5-4FEA-8DE1-24666D49C8BE}"/>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57">
              <a:extLst>
                <a:ext uri="{FF2B5EF4-FFF2-40B4-BE49-F238E27FC236}">
                  <a16:creationId xmlns:a16="http://schemas.microsoft.com/office/drawing/2014/main" id="{122BF23A-6C51-41B1-8290-25F5746323CE}"/>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58">
              <a:extLst>
                <a:ext uri="{FF2B5EF4-FFF2-40B4-BE49-F238E27FC236}">
                  <a16:creationId xmlns:a16="http://schemas.microsoft.com/office/drawing/2014/main" id="{A586DAC7-EEEB-49B9-BD8F-8F62249630A2}"/>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59">
              <a:extLst>
                <a:ext uri="{FF2B5EF4-FFF2-40B4-BE49-F238E27FC236}">
                  <a16:creationId xmlns:a16="http://schemas.microsoft.com/office/drawing/2014/main" id="{5C0C2DDE-0EAC-4880-BF60-B08FBB1EFEDE}"/>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 name="Line 60">
            <a:extLst>
              <a:ext uri="{FF2B5EF4-FFF2-40B4-BE49-F238E27FC236}">
                <a16:creationId xmlns:a16="http://schemas.microsoft.com/office/drawing/2014/main" id="{86A8D2B4-E880-4585-8918-7F1E20693A2B}"/>
              </a:ext>
            </a:extLst>
          </p:cNvPr>
          <p:cNvSpPr>
            <a:spLocks noChangeShapeType="1"/>
          </p:cNvSpPr>
          <p:nvPr/>
        </p:nvSpPr>
        <p:spPr bwMode="auto">
          <a:xfrm>
            <a:off x="3273245" y="52035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1">
            <a:extLst>
              <a:ext uri="{FF2B5EF4-FFF2-40B4-BE49-F238E27FC236}">
                <a16:creationId xmlns:a16="http://schemas.microsoft.com/office/drawing/2014/main" id="{FAB93629-3E76-4C50-B34B-BAC7161CE8BB}"/>
              </a:ext>
            </a:extLst>
          </p:cNvPr>
          <p:cNvSpPr>
            <a:spLocks noChangeShapeType="1"/>
          </p:cNvSpPr>
          <p:nvPr/>
        </p:nvSpPr>
        <p:spPr bwMode="auto">
          <a:xfrm>
            <a:off x="6092645" y="52035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2">
            <a:extLst>
              <a:ext uri="{FF2B5EF4-FFF2-40B4-BE49-F238E27FC236}">
                <a16:creationId xmlns:a16="http://schemas.microsoft.com/office/drawing/2014/main" id="{AB4A4147-470D-4536-AE4E-EDD43F5D5CA1}"/>
              </a:ext>
            </a:extLst>
          </p:cNvPr>
          <p:cNvSpPr>
            <a:spLocks noChangeShapeType="1"/>
          </p:cNvSpPr>
          <p:nvPr/>
        </p:nvSpPr>
        <p:spPr bwMode="auto">
          <a:xfrm flipV="1">
            <a:off x="4873445" y="5203546"/>
            <a:ext cx="12192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Text Box 63">
            <a:extLst>
              <a:ext uri="{FF2B5EF4-FFF2-40B4-BE49-F238E27FC236}">
                <a16:creationId xmlns:a16="http://schemas.microsoft.com/office/drawing/2014/main" id="{9768E41A-B366-47A7-B279-8283AC5FBD44}"/>
              </a:ext>
            </a:extLst>
          </p:cNvPr>
          <p:cNvSpPr txBox="1">
            <a:spLocks noChangeArrowheads="1"/>
          </p:cNvSpPr>
          <p:nvPr/>
        </p:nvSpPr>
        <p:spPr bwMode="auto">
          <a:xfrm>
            <a:off x="3806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67" name="Text Box 64">
            <a:extLst>
              <a:ext uri="{FF2B5EF4-FFF2-40B4-BE49-F238E27FC236}">
                <a16:creationId xmlns:a16="http://schemas.microsoft.com/office/drawing/2014/main" id="{B6897430-D447-47A6-A0C2-D0768AED90C8}"/>
              </a:ext>
            </a:extLst>
          </p:cNvPr>
          <p:cNvSpPr txBox="1">
            <a:spLocks noChangeArrowheads="1"/>
          </p:cNvSpPr>
          <p:nvPr/>
        </p:nvSpPr>
        <p:spPr bwMode="auto">
          <a:xfrm>
            <a:off x="51782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68" name="Text Box 65">
            <a:extLst>
              <a:ext uri="{FF2B5EF4-FFF2-40B4-BE49-F238E27FC236}">
                <a16:creationId xmlns:a16="http://schemas.microsoft.com/office/drawing/2014/main" id="{E8A70AC7-C06F-48D5-B576-9824BD20DE8A}"/>
              </a:ext>
            </a:extLst>
          </p:cNvPr>
          <p:cNvSpPr txBox="1">
            <a:spLocks noChangeArrowheads="1"/>
          </p:cNvSpPr>
          <p:nvPr/>
        </p:nvSpPr>
        <p:spPr bwMode="auto">
          <a:xfrm>
            <a:off x="6854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69" name="Group 66">
            <a:extLst>
              <a:ext uri="{FF2B5EF4-FFF2-40B4-BE49-F238E27FC236}">
                <a16:creationId xmlns:a16="http://schemas.microsoft.com/office/drawing/2014/main" id="{C17CE37F-B228-463C-BD27-FA6560023F9B}"/>
              </a:ext>
            </a:extLst>
          </p:cNvPr>
          <p:cNvGrpSpPr>
            <a:grpSpLocks/>
          </p:cNvGrpSpPr>
          <p:nvPr/>
        </p:nvGrpSpPr>
        <p:grpSpPr bwMode="auto">
          <a:xfrm>
            <a:off x="4416245" y="3527146"/>
            <a:ext cx="2133600" cy="152400"/>
            <a:chOff x="2112" y="2208"/>
            <a:chExt cx="1344" cy="96"/>
          </a:xfrm>
        </p:grpSpPr>
        <p:sp>
          <p:nvSpPr>
            <p:cNvPr id="70" name="Line 67">
              <a:extLst>
                <a:ext uri="{FF2B5EF4-FFF2-40B4-BE49-F238E27FC236}">
                  <a16:creationId xmlns:a16="http://schemas.microsoft.com/office/drawing/2014/main" id="{0BD2DC4B-63B2-4CEC-B2FB-0FD28A8204C6}"/>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68">
              <a:extLst>
                <a:ext uri="{FF2B5EF4-FFF2-40B4-BE49-F238E27FC236}">
                  <a16:creationId xmlns:a16="http://schemas.microsoft.com/office/drawing/2014/main" id="{6A37ADCF-C103-43BF-93B7-54EFFA26369B}"/>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69">
              <a:extLst>
                <a:ext uri="{FF2B5EF4-FFF2-40B4-BE49-F238E27FC236}">
                  <a16:creationId xmlns:a16="http://schemas.microsoft.com/office/drawing/2014/main" id="{FFFC9E14-09D1-4CEB-9157-921822DC925A}"/>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70">
              <a:extLst>
                <a:ext uri="{FF2B5EF4-FFF2-40B4-BE49-F238E27FC236}">
                  <a16:creationId xmlns:a16="http://schemas.microsoft.com/office/drawing/2014/main" id="{867FCBD3-F6EC-4223-B2A4-BB22A271EC44}"/>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71">
              <a:extLst>
                <a:ext uri="{FF2B5EF4-FFF2-40B4-BE49-F238E27FC236}">
                  <a16:creationId xmlns:a16="http://schemas.microsoft.com/office/drawing/2014/main" id="{2C74D31E-65D2-45FA-8043-68FF525884F8}"/>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Line 72">
              <a:extLst>
                <a:ext uri="{FF2B5EF4-FFF2-40B4-BE49-F238E27FC236}">
                  <a16:creationId xmlns:a16="http://schemas.microsoft.com/office/drawing/2014/main" id="{5B460D12-39C0-4EEC-A736-20F673EDE383}"/>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73">
              <a:extLst>
                <a:ext uri="{FF2B5EF4-FFF2-40B4-BE49-F238E27FC236}">
                  <a16:creationId xmlns:a16="http://schemas.microsoft.com/office/drawing/2014/main" id="{84BB9C08-AEB3-4BDC-929F-D9C1DCE9914A}"/>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96543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nodeType="clickEffect">
                                  <p:stCondLst>
                                    <p:cond delay="0"/>
                                  </p:stCondLst>
                                  <p:childTnLst>
                                    <p:animMotion origin="layout" path="M 4.16667E-7 -2.96296E-6 L 0.1 0.18889 " pathEditMode="relative" rAng="0" ptsTypes="AA">
                                      <p:cBhvr>
                                        <p:cTn id="6" dur="2000" fill="hold"/>
                                        <p:tgtEl>
                                          <p:spTgt spid="14"/>
                                        </p:tgtEl>
                                        <p:attrNameLst>
                                          <p:attrName>ppt_x</p:attrName>
                                          <p:attrName>ppt_y</p:attrName>
                                        </p:attrNameLst>
                                      </p:cBhvr>
                                      <p:rCtr x="5000" y="9444"/>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375 -0.00741 L -0.1 0.1868 " pathEditMode="relative" rAng="0" ptsTypes="AA">
                                      <p:cBhvr>
                                        <p:cTn id="10" dur="2000" fill="hold"/>
                                        <p:tgtEl>
                                          <p:spTgt spid="30"/>
                                        </p:tgtEl>
                                        <p:attrNameLst>
                                          <p:attrName>ppt_x</p:attrName>
                                          <p:attrName>ppt_y</p:attrName>
                                        </p:attrNameLst>
                                      </p:cBhvr>
                                      <p:rCtr x="-6875" y="9699"/>
                                    </p:animMotion>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blinds(horizontal)">
                                      <p:cBhvr>
                                        <p:cTn id="15" dur="500"/>
                                        <p:tgtEl>
                                          <p:spTgt spid="63"/>
                                        </p:tgtEl>
                                      </p:cBhvr>
                                    </p:animEffect>
                                  </p:childTnLst>
                                </p:cTn>
                              </p:par>
                              <p:par>
                                <p:cTn id="16" presetID="3" presetClass="entr" presetSubtype="10" fill="hold"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blinds(horizontal)">
                                      <p:cBhvr>
                                        <p:cTn id="18" dur="500"/>
                                        <p:tgtEl>
                                          <p:spTgt spid="64"/>
                                        </p:tgtEl>
                                      </p:cBhvr>
                                    </p:animEffect>
                                  </p:childTnLst>
                                </p:cTn>
                              </p:par>
                              <p:par>
                                <p:cTn id="19" presetID="3" presetClass="entr" presetSubtype="1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blinds(horizontal)">
                                      <p:cBhvr>
                                        <p:cTn id="21" dur="500"/>
                                        <p:tgtEl>
                                          <p:spTgt spid="6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blinds(horizontal)">
                                      <p:cBhvr>
                                        <p:cTn id="24" dur="500"/>
                                        <p:tgtEl>
                                          <p:spTgt spid="6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blinds(horizontal)">
                                      <p:cBhvr>
                                        <p:cTn id="27" dur="500"/>
                                        <p:tgtEl>
                                          <p:spTgt spid="6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blinds(horizontal)">
                                      <p:cBhvr>
                                        <p:cTn id="3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8A3AF-8A14-AC93-0E3C-6D6E62FC7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881D8-3E26-A68B-E1F3-9BC8F097903C}"/>
              </a:ext>
            </a:extLst>
          </p:cNvPr>
          <p:cNvSpPr>
            <a:spLocks noGrp="1"/>
          </p:cNvSpPr>
          <p:nvPr>
            <p:ph type="title"/>
          </p:nvPr>
        </p:nvSpPr>
        <p:spPr/>
        <p:txBody>
          <a:bodyPr>
            <a:normAutofit fontScale="90000"/>
          </a:bodyPr>
          <a:lstStyle/>
          <a:p>
            <a:r>
              <a:rPr lang="en-US" dirty="0"/>
              <a:t>Long reads help avoid mistakes</a:t>
            </a:r>
          </a:p>
        </p:txBody>
      </p:sp>
      <p:sp>
        <p:nvSpPr>
          <p:cNvPr id="4" name="Slide Number Placeholder 3">
            <a:extLst>
              <a:ext uri="{FF2B5EF4-FFF2-40B4-BE49-F238E27FC236}">
                <a16:creationId xmlns:a16="http://schemas.microsoft.com/office/drawing/2014/main" id="{9D3D7324-67F1-CE32-3ABB-7B4F4E75ABBD}"/>
              </a:ext>
            </a:extLst>
          </p:cNvPr>
          <p:cNvSpPr>
            <a:spLocks noGrp="1"/>
          </p:cNvSpPr>
          <p:nvPr>
            <p:ph type="sldNum" sz="quarter" idx="12"/>
          </p:nvPr>
        </p:nvSpPr>
        <p:spPr/>
        <p:txBody>
          <a:bodyPr/>
          <a:lstStyle/>
          <a:p>
            <a:fld id="{B82CCC60-E8CD-4174-8B1A-7DF615B22EEF}" type="slidenum">
              <a:rPr lang="en-US" smtClean="0"/>
              <a:pPr/>
              <a:t>24</a:t>
            </a:fld>
            <a:endParaRPr lang="en-US"/>
          </a:p>
        </p:txBody>
      </p:sp>
      <p:sp>
        <p:nvSpPr>
          <p:cNvPr id="7" name="Line 38">
            <a:extLst>
              <a:ext uri="{FF2B5EF4-FFF2-40B4-BE49-F238E27FC236}">
                <a16:creationId xmlns:a16="http://schemas.microsoft.com/office/drawing/2014/main" id="{557043B5-6A9F-9C36-5396-D03C2E44D4EC}"/>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72F8D5E0-9FBF-225E-1684-FECA0AC8921F}"/>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D53CDCCA-5B02-8FC5-0159-F11D53726644}"/>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D0259C26-55F3-0A89-C879-26119A94DAD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2B88799D-73A8-A80F-A1B6-70E12D6328D2}"/>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710CDF8A-4E2D-D5E9-C417-0B9EFFBD3CDD}"/>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9FF8AB77-EC6C-50F8-8579-6ADBEA813236}"/>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sp>
        <p:nvSpPr>
          <p:cNvPr id="41" name="Line 36">
            <a:extLst>
              <a:ext uri="{FF2B5EF4-FFF2-40B4-BE49-F238E27FC236}">
                <a16:creationId xmlns:a16="http://schemas.microsoft.com/office/drawing/2014/main" id="{969395CB-422A-F738-9394-51892C55BBA0}"/>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DD1DDF51-EB23-109C-871E-6A40DDE8D9F8}"/>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3999099A-B3B4-51BF-327F-9B2059B03F12}"/>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2">
            <a:extLst>
              <a:ext uri="{FF2B5EF4-FFF2-40B4-BE49-F238E27FC236}">
                <a16:creationId xmlns:a16="http://schemas.microsoft.com/office/drawing/2014/main" id="{5874C009-00C3-46CA-249E-F1EE47E777F7}"/>
              </a:ext>
            </a:extLst>
          </p:cNvPr>
          <p:cNvSpPr>
            <a:spLocks noChangeShapeType="1"/>
          </p:cNvSpPr>
          <p:nvPr/>
        </p:nvSpPr>
        <p:spPr bwMode="auto">
          <a:xfrm>
            <a:off x="2054045" y="3581705"/>
            <a:ext cx="327843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743FF068-0568-E1BB-0EE6-CF4152831699}"/>
              </a:ext>
            </a:extLst>
          </p:cNvPr>
          <p:cNvSpPr>
            <a:spLocks noChangeShapeType="1"/>
          </p:cNvSpPr>
          <p:nvPr/>
        </p:nvSpPr>
        <p:spPr bwMode="auto">
          <a:xfrm flipV="1">
            <a:off x="4542592" y="3429000"/>
            <a:ext cx="3385868" cy="2629"/>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2480C189-09F8-60AD-D208-622440F1E9E0}"/>
              </a:ext>
            </a:extLst>
          </p:cNvPr>
          <p:cNvSpPr>
            <a:spLocks noChangeShapeType="1"/>
          </p:cNvSpPr>
          <p:nvPr/>
        </p:nvSpPr>
        <p:spPr bwMode="auto">
          <a:xfrm flipV="1">
            <a:off x="6706819" y="3284925"/>
            <a:ext cx="2814825" cy="263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685316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FE23D-B15D-17C1-53D3-CE149316115B}"/>
              </a:ext>
            </a:extLst>
          </p:cNvPr>
          <p:cNvSpPr>
            <a:spLocks noGrp="1"/>
          </p:cNvSpPr>
          <p:nvPr>
            <p:ph type="title"/>
          </p:nvPr>
        </p:nvSpPr>
        <p:spPr/>
        <p:txBody>
          <a:bodyPr>
            <a:normAutofit fontScale="90000"/>
          </a:bodyPr>
          <a:lstStyle/>
          <a:p>
            <a:r>
              <a:rPr lang="en-US" dirty="0"/>
              <a:t>Sequencing data formats</a:t>
            </a:r>
          </a:p>
        </p:txBody>
      </p:sp>
      <p:sp>
        <p:nvSpPr>
          <p:cNvPr id="3" name="Content Placeholder 2">
            <a:extLst>
              <a:ext uri="{FF2B5EF4-FFF2-40B4-BE49-F238E27FC236}">
                <a16:creationId xmlns:a16="http://schemas.microsoft.com/office/drawing/2014/main" id="{51E43666-5AB0-55BB-94F7-4C5D50574084}"/>
              </a:ext>
            </a:extLst>
          </p:cNvPr>
          <p:cNvSpPr>
            <a:spLocks noGrp="1"/>
          </p:cNvSpPr>
          <p:nvPr>
            <p:ph idx="1"/>
          </p:nvPr>
        </p:nvSpPr>
        <p:spPr>
          <a:xfrm>
            <a:off x="597472" y="2221711"/>
            <a:ext cx="10972800" cy="3918803"/>
          </a:xfrm>
        </p:spPr>
        <p:txBody>
          <a:bodyPr/>
          <a:lstStyle/>
          <a:p>
            <a:r>
              <a:rPr lang="en-US" dirty="0"/>
              <a:t>FASTA -- sequence with optional quality scores in a separate file (space-separated numbers)</a:t>
            </a:r>
          </a:p>
          <a:p>
            <a:r>
              <a:rPr lang="en-US" dirty="0"/>
              <a:t>FASTQ -- sequence with quality scores (Phred-encoded)</a:t>
            </a:r>
          </a:p>
          <a:p>
            <a:r>
              <a:rPr lang="en-US" dirty="0"/>
              <a:t>SAM/BAM -- sequence with quality scores and optional alignments to a genome</a:t>
            </a:r>
          </a:p>
        </p:txBody>
      </p:sp>
      <p:sp>
        <p:nvSpPr>
          <p:cNvPr id="4" name="Slide Number Placeholder 3">
            <a:extLst>
              <a:ext uri="{FF2B5EF4-FFF2-40B4-BE49-F238E27FC236}">
                <a16:creationId xmlns:a16="http://schemas.microsoft.com/office/drawing/2014/main" id="{1AEDAE9F-AAAB-A8FE-BB9D-762F025E1EED}"/>
              </a:ext>
            </a:extLst>
          </p:cNvPr>
          <p:cNvSpPr>
            <a:spLocks noGrp="1"/>
          </p:cNvSpPr>
          <p:nvPr>
            <p:ph type="sldNum" sz="quarter" idx="12"/>
          </p:nvPr>
        </p:nvSpPr>
        <p:spPr/>
        <p:txBody>
          <a:bodyPr/>
          <a:lstStyle/>
          <a:p>
            <a:fld id="{B82CCC60-E8CD-4174-8B1A-7DF615B22EEF}" type="slidenum">
              <a:rPr lang="en-US" smtClean="0"/>
              <a:pPr/>
              <a:t>25</a:t>
            </a:fld>
            <a:endParaRPr lang="en-US"/>
          </a:p>
        </p:txBody>
      </p:sp>
    </p:spTree>
    <p:extLst>
      <p:ext uri="{BB962C8B-B14F-4D97-AF65-F5344CB8AC3E}">
        <p14:creationId xmlns:p14="http://schemas.microsoft.com/office/powerpoint/2010/main" val="4043277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E56B5-2E3E-F172-C0D1-C4FD0DBB1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9335C-434E-E5C3-E3F5-A11C153D770A}"/>
              </a:ext>
            </a:extLst>
          </p:cNvPr>
          <p:cNvSpPr>
            <a:spLocks noGrp="1"/>
          </p:cNvSpPr>
          <p:nvPr>
            <p:ph type="title"/>
          </p:nvPr>
        </p:nvSpPr>
        <p:spPr/>
        <p:txBody>
          <a:bodyPr>
            <a:normAutofit fontScale="90000"/>
          </a:bodyPr>
          <a:lstStyle/>
          <a:p>
            <a:r>
              <a:rPr lang="en-US" dirty="0"/>
              <a:t>Quality score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16BE5B1-7CEE-85A7-FAD2-FDACAA8028BD}"/>
                  </a:ext>
                </a:extLst>
              </p:cNvPr>
              <p:cNvSpPr>
                <a:spLocks noGrp="1"/>
              </p:cNvSpPr>
              <p:nvPr>
                <p:ph idx="1"/>
              </p:nvPr>
            </p:nvSpPr>
            <p:spPr>
              <a:xfrm>
                <a:off x="838200" y="1825625"/>
                <a:ext cx="10515600" cy="1603375"/>
              </a:xfrm>
            </p:spPr>
            <p:txBody>
              <a:bodyPr>
                <a:normAutofit lnSpcReduction="10000"/>
              </a:bodyPr>
              <a:lstStyle/>
              <a:p>
                <a:r>
                  <a:rPr lang="en-US" dirty="0"/>
                  <a:t>Quality scores </a:t>
                </a:r>
                <a:r>
                  <a:rPr lang="en-US" i="1" dirty="0"/>
                  <a:t>q</a:t>
                </a:r>
                <a:r>
                  <a:rPr lang="en-US" dirty="0"/>
                  <a:t> are logarithmic</a:t>
                </a:r>
              </a:p>
              <a:p>
                <a:pPr marL="457200" lvl="1" indent="0">
                  <a:buNone/>
                </a:pPr>
                <a:endParaRPr lang="en-US" dirty="0"/>
              </a:p>
              <a:p>
                <a:pPr marL="457200" lvl="1" indent="0">
                  <a:buNone/>
                </a:pPr>
                <a14:m>
                  <m:oMath xmlns:m="http://schemas.openxmlformats.org/officeDocument/2006/math">
                    <m:r>
                      <a:rPr lang="en-US" b="0" i="1" smtClean="0">
                        <a:latin typeface="Cambria Math" panose="02040503050406030204" pitchFamily="18" charset="0"/>
                      </a:rPr>
                      <m:t>𝑃𝑟𝑜𝑏𝑎𝑏𝑖𝑙𝑖𝑡𝑦</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𝑒𝑟𝑟𝑜𝑟</m:t>
                    </m:r>
                    <m:r>
                      <a:rPr lang="en-US" b="0" i="1" smtClean="0">
                        <a:latin typeface="Cambria Math" panose="02040503050406030204" pitchFamily="18" charset="0"/>
                      </a:rPr>
                      <m:t>  </m:t>
                    </m:r>
                    <m:r>
                      <a:rPr lang="en-US" b="0" i="1" smtClean="0">
                        <a:latin typeface="Cambria Math" panose="02040503050406030204" pitchFamily="18" charset="0"/>
                      </a:rPr>
                      <m:t>𝑃</m:t>
                    </m:r>
                    <m:r>
                      <a:rPr lang="pt-BR"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10 </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𝑞</m:t>
                            </m:r>
                          </m:num>
                          <m:den>
                            <m:r>
                              <a:rPr lang="en-US" b="0" i="1" smtClean="0">
                                <a:latin typeface="Cambria Math" panose="02040503050406030204" pitchFamily="18" charset="0"/>
                              </a:rPr>
                              <m:t>10</m:t>
                            </m:r>
                          </m:den>
                        </m:f>
                      </m:sup>
                    </m:sSup>
                  </m:oMath>
                </a14:m>
                <a:r>
                  <a:rPr lang="en-US" dirty="0"/>
                  <a:t> or</a:t>
                </a:r>
                <a:r>
                  <a:rPr lang="en-US" b="0" dirty="0"/>
                  <a:t> </a:t>
                </a:r>
                <a14:m>
                  <m:oMath xmlns:m="http://schemas.openxmlformats.org/officeDocument/2006/math">
                    <m:r>
                      <a:rPr lang="en-US" b="0" i="1" smtClean="0">
                        <a:latin typeface="Cambria Math" panose="02040503050406030204" pitchFamily="18" charset="0"/>
                      </a:rPr>
                      <m:t>𝑞</m:t>
                    </m:r>
                    <m:r>
                      <a:rPr lang="pt-BR" i="1" smtClean="0">
                        <a:latin typeface="Cambria Math" panose="02040503050406030204" pitchFamily="18" charset="0"/>
                      </a:rPr>
                      <m:t>=</m:t>
                    </m:r>
                    <m:r>
                      <a:rPr lang="en-US" b="0" i="1" smtClean="0">
                        <a:latin typeface="Cambria Math" panose="02040503050406030204" pitchFamily="18" charset="0"/>
                      </a:rPr>
                      <m:t>−10 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𝑙𝑜𝑔</m:t>
                        </m:r>
                      </m:e>
                      <m:sub>
                        <m:r>
                          <a:rPr lang="en-US" b="0" i="1" smtClean="0">
                            <a:latin typeface="Cambria Math" panose="02040503050406030204" pitchFamily="18" charset="0"/>
                          </a:rPr>
                          <m:t>10</m:t>
                        </m:r>
                      </m:sub>
                    </m:sSub>
                    <m:r>
                      <a:rPr lang="en-US" b="0" i="1" smtClean="0">
                        <a:latin typeface="Cambria Math" panose="02040503050406030204" pitchFamily="18" charset="0"/>
                      </a:rPr>
                      <m:t>𝑃</m:t>
                    </m:r>
                  </m:oMath>
                </a14:m>
                <a:endParaRPr lang="en-US" dirty="0"/>
              </a:p>
              <a:p>
                <a:endParaRPr lang="en-US" dirty="0"/>
              </a:p>
            </p:txBody>
          </p:sp>
        </mc:Choice>
        <mc:Fallback xmlns="">
          <p:sp>
            <p:nvSpPr>
              <p:cNvPr id="5" name="Content Placeholder 4">
                <a:extLst>
                  <a:ext uri="{FF2B5EF4-FFF2-40B4-BE49-F238E27FC236}">
                    <a16:creationId xmlns:a16="http://schemas.microsoft.com/office/drawing/2014/main" id="{B16BE5B1-7CEE-85A7-FAD2-FDACAA8028BD}"/>
                  </a:ext>
                </a:extLst>
              </p:cNvPr>
              <p:cNvSpPr>
                <a:spLocks noGrp="1" noRot="1" noChangeAspect="1" noMove="1" noResize="1" noEditPoints="1" noAdjustHandles="1" noChangeArrowheads="1" noChangeShapeType="1" noTextEdit="1"/>
              </p:cNvSpPr>
              <p:nvPr>
                <p:ph idx="1"/>
              </p:nvPr>
            </p:nvSpPr>
            <p:spPr>
              <a:xfrm>
                <a:off x="838200" y="1825625"/>
                <a:ext cx="10515600" cy="1603375"/>
              </a:xfrm>
              <a:blipFill>
                <a:blip r:embed="rId2"/>
                <a:stretch>
                  <a:fillRect l="-1043" t="-6061" b="-833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7F4AD84-188B-52EF-04B5-CFD4B0D6A0E1}"/>
              </a:ext>
            </a:extLst>
          </p:cNvPr>
          <p:cNvPicPr>
            <a:picLocks noChangeAspect="1"/>
          </p:cNvPicPr>
          <p:nvPr/>
        </p:nvPicPr>
        <p:blipFill>
          <a:blip r:embed="rId3"/>
          <a:stretch>
            <a:fillRect/>
          </a:stretch>
        </p:blipFill>
        <p:spPr>
          <a:xfrm>
            <a:off x="1024052" y="3563936"/>
            <a:ext cx="8872301" cy="2943613"/>
          </a:xfrm>
          <a:prstGeom prst="rect">
            <a:avLst/>
          </a:prstGeom>
        </p:spPr>
      </p:pic>
      <p:sp>
        <p:nvSpPr>
          <p:cNvPr id="8" name="TextBox 7">
            <a:extLst>
              <a:ext uri="{FF2B5EF4-FFF2-40B4-BE49-F238E27FC236}">
                <a16:creationId xmlns:a16="http://schemas.microsoft.com/office/drawing/2014/main" id="{8571BCB9-59C4-A8CB-2931-49839EC2AB1C}"/>
              </a:ext>
            </a:extLst>
          </p:cNvPr>
          <p:cNvSpPr txBox="1"/>
          <p:nvPr/>
        </p:nvSpPr>
        <p:spPr>
          <a:xfrm>
            <a:off x="1024052" y="6507549"/>
            <a:ext cx="6757812" cy="369332"/>
          </a:xfrm>
          <a:prstGeom prst="rect">
            <a:avLst/>
          </a:prstGeom>
          <a:noFill/>
        </p:spPr>
        <p:txBody>
          <a:bodyPr wrap="none" rtlCol="0">
            <a:spAutoFit/>
          </a:bodyPr>
          <a:lstStyle/>
          <a:p>
            <a:r>
              <a:rPr lang="en-US"/>
              <a:t>https://learn.gencore.bio.nyu.edu/ngs-file-formats/quality-scores/</a:t>
            </a:r>
            <a:endParaRPr lang="en-US" dirty="0"/>
          </a:p>
        </p:txBody>
      </p:sp>
    </p:spTree>
    <p:extLst>
      <p:ext uri="{BB962C8B-B14F-4D97-AF65-F5344CB8AC3E}">
        <p14:creationId xmlns:p14="http://schemas.microsoft.com/office/powerpoint/2010/main" val="429206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ECF5-9FBB-0AB1-79C1-47B57026F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FFFBA-C2EA-9911-3EC3-BC60E5F11726}"/>
              </a:ext>
            </a:extLst>
          </p:cNvPr>
          <p:cNvSpPr>
            <a:spLocks noGrp="1"/>
          </p:cNvSpPr>
          <p:nvPr>
            <p:ph type="title"/>
          </p:nvPr>
        </p:nvSpPr>
        <p:spPr/>
        <p:txBody>
          <a:bodyPr>
            <a:normAutofit fontScale="90000"/>
          </a:bodyPr>
          <a:lstStyle/>
          <a:p>
            <a:r>
              <a:rPr lang="en-US" dirty="0"/>
              <a:t>Phred33 vs Phred64 encoding</a:t>
            </a:r>
          </a:p>
        </p:txBody>
      </p:sp>
      <p:sp>
        <p:nvSpPr>
          <p:cNvPr id="5" name="Content Placeholder 4">
            <a:extLst>
              <a:ext uri="{FF2B5EF4-FFF2-40B4-BE49-F238E27FC236}">
                <a16:creationId xmlns:a16="http://schemas.microsoft.com/office/drawing/2014/main" id="{A4A3B709-27A8-4CA9-3A3B-1275390270AB}"/>
              </a:ext>
            </a:extLst>
          </p:cNvPr>
          <p:cNvSpPr>
            <a:spLocks noGrp="1"/>
          </p:cNvSpPr>
          <p:nvPr>
            <p:ph idx="1"/>
          </p:nvPr>
        </p:nvSpPr>
        <p:spPr>
          <a:xfrm>
            <a:off x="606981" y="1575194"/>
            <a:ext cx="10515600" cy="1603375"/>
          </a:xfrm>
        </p:spPr>
        <p:txBody>
          <a:bodyPr>
            <a:normAutofit fontScale="92500" lnSpcReduction="20000"/>
          </a:bodyPr>
          <a:lstStyle/>
          <a:p>
            <a:r>
              <a:rPr lang="en-US" b="1" dirty="0"/>
              <a:t>Phred</a:t>
            </a:r>
            <a:r>
              <a:rPr lang="en-US" dirty="0"/>
              <a:t> (</a:t>
            </a:r>
            <a:r>
              <a:rPr lang="en-US" b="1" dirty="0">
                <a:hlinkClick r:id="rId2" tooltip="Philip Palmer Green"/>
              </a:rPr>
              <a:t>Ph</a:t>
            </a:r>
            <a:r>
              <a:rPr lang="en-US" dirty="0">
                <a:hlinkClick r:id="rId2" tooltip="Philip Palmer Green"/>
              </a:rPr>
              <a:t>il</a:t>
            </a:r>
            <a:r>
              <a:rPr lang="en-US" dirty="0"/>
              <a:t>'s </a:t>
            </a:r>
            <a:r>
              <a:rPr lang="en-US" b="1" dirty="0"/>
              <a:t>Re</a:t>
            </a:r>
            <a:r>
              <a:rPr lang="en-US" dirty="0"/>
              <a:t>ad </a:t>
            </a:r>
            <a:r>
              <a:rPr lang="en-US" b="1" dirty="0"/>
              <a:t>Ed</a:t>
            </a:r>
            <a:r>
              <a:rPr lang="en-US" dirty="0"/>
              <a:t>itor</a:t>
            </a:r>
            <a:r>
              <a:rPr lang="en-US" baseline="30000" dirty="0">
                <a:hlinkClick r:id="rId3"/>
              </a:rPr>
              <a:t>[1]</a:t>
            </a:r>
            <a:r>
              <a:rPr lang="en-US" dirty="0"/>
              <a:t>) -- the name of the first program to compute quality scores in Sanger sequencing data by Phil Green</a:t>
            </a:r>
          </a:p>
          <a:p>
            <a:r>
              <a:rPr lang="en-US" dirty="0"/>
              <a:t>Quality scores </a:t>
            </a:r>
            <a:r>
              <a:rPr lang="en-US" i="1" dirty="0"/>
              <a:t>q</a:t>
            </a:r>
            <a:r>
              <a:rPr lang="en-US" dirty="0"/>
              <a:t> are encoded with characters</a:t>
            </a:r>
          </a:p>
          <a:p>
            <a:r>
              <a:rPr lang="en-US" dirty="0"/>
              <a:t>Offset may differ – most common now is 33 (Phred33)</a:t>
            </a:r>
          </a:p>
          <a:p>
            <a:endParaRPr lang="en-US" dirty="0"/>
          </a:p>
        </p:txBody>
      </p:sp>
      <p:pic>
        <p:nvPicPr>
          <p:cNvPr id="6" name="Picture 5">
            <a:extLst>
              <a:ext uri="{FF2B5EF4-FFF2-40B4-BE49-F238E27FC236}">
                <a16:creationId xmlns:a16="http://schemas.microsoft.com/office/drawing/2014/main" id="{A669E05C-B699-20E6-C57E-25E29DEE32DD}"/>
              </a:ext>
            </a:extLst>
          </p:cNvPr>
          <p:cNvPicPr>
            <a:picLocks noChangeAspect="1"/>
          </p:cNvPicPr>
          <p:nvPr/>
        </p:nvPicPr>
        <p:blipFill>
          <a:blip r:embed="rId4"/>
          <a:stretch>
            <a:fillRect/>
          </a:stretch>
        </p:blipFill>
        <p:spPr>
          <a:xfrm>
            <a:off x="804774" y="3108200"/>
            <a:ext cx="10060673" cy="3108176"/>
          </a:xfrm>
          <a:prstGeom prst="rect">
            <a:avLst/>
          </a:prstGeom>
        </p:spPr>
      </p:pic>
      <p:sp>
        <p:nvSpPr>
          <p:cNvPr id="7" name="TextBox 6">
            <a:extLst>
              <a:ext uri="{FF2B5EF4-FFF2-40B4-BE49-F238E27FC236}">
                <a16:creationId xmlns:a16="http://schemas.microsoft.com/office/drawing/2014/main" id="{F8954909-9244-853B-8AF9-889145BE6641}"/>
              </a:ext>
            </a:extLst>
          </p:cNvPr>
          <p:cNvSpPr txBox="1"/>
          <p:nvPr/>
        </p:nvSpPr>
        <p:spPr>
          <a:xfrm>
            <a:off x="1128951" y="6167843"/>
            <a:ext cx="6757812" cy="369332"/>
          </a:xfrm>
          <a:prstGeom prst="rect">
            <a:avLst/>
          </a:prstGeom>
          <a:noFill/>
        </p:spPr>
        <p:txBody>
          <a:bodyPr wrap="none" rtlCol="0">
            <a:spAutoFit/>
          </a:bodyPr>
          <a:lstStyle/>
          <a:p>
            <a:r>
              <a:rPr lang="en-US"/>
              <a:t>https://learn.gencore.bio.nyu.edu/ngs-file-formats/quality-scores/</a:t>
            </a:r>
            <a:endParaRPr lang="en-US" dirty="0"/>
          </a:p>
        </p:txBody>
      </p:sp>
    </p:spTree>
    <p:extLst>
      <p:ext uri="{BB962C8B-B14F-4D97-AF65-F5344CB8AC3E}">
        <p14:creationId xmlns:p14="http://schemas.microsoft.com/office/powerpoint/2010/main" val="3617288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33D0A-A457-96B4-CE8E-A6C2FCE2CB23}"/>
              </a:ext>
            </a:extLst>
          </p:cNvPr>
          <p:cNvSpPr>
            <a:spLocks noGrp="1"/>
          </p:cNvSpPr>
          <p:nvPr>
            <p:ph type="title"/>
          </p:nvPr>
        </p:nvSpPr>
        <p:spPr/>
        <p:txBody>
          <a:bodyPr>
            <a:normAutofit fontScale="90000"/>
          </a:bodyPr>
          <a:lstStyle/>
          <a:p>
            <a:r>
              <a:rPr lang="en-US" dirty="0"/>
              <a:t>Fasta format</a:t>
            </a:r>
          </a:p>
        </p:txBody>
      </p:sp>
      <p:sp>
        <p:nvSpPr>
          <p:cNvPr id="3" name="Content Placeholder 2">
            <a:extLst>
              <a:ext uri="{FF2B5EF4-FFF2-40B4-BE49-F238E27FC236}">
                <a16:creationId xmlns:a16="http://schemas.microsoft.com/office/drawing/2014/main" id="{8220ECCC-E0B8-F323-BCA8-8D2A4518AAAF}"/>
              </a:ext>
            </a:extLst>
          </p:cNvPr>
          <p:cNvSpPr>
            <a:spLocks noGrp="1"/>
          </p:cNvSpPr>
          <p:nvPr>
            <p:ph idx="1"/>
          </p:nvPr>
        </p:nvSpPr>
        <p:spPr/>
        <p:txBody>
          <a:bodyPr/>
          <a:lstStyle/>
          <a:p>
            <a:r>
              <a:rPr lang="en-US" dirty="0"/>
              <a:t>Header line:</a:t>
            </a:r>
            <a:br>
              <a:rPr lang="en-US" dirty="0"/>
            </a:br>
            <a:r>
              <a:rPr lang="en-US" dirty="0"/>
              <a:t>&gt;</a:t>
            </a:r>
            <a:r>
              <a:rPr lang="en-US" dirty="0" err="1"/>
              <a:t>seq_name</a:t>
            </a:r>
            <a:r>
              <a:rPr lang="en-US" dirty="0"/>
              <a:t> attribute1 attribute2</a:t>
            </a:r>
          </a:p>
          <a:p>
            <a:r>
              <a:rPr lang="en-US" dirty="0"/>
              <a:t>Sequence, each line no longer than 80 characters (convention):</a:t>
            </a:r>
            <a:br>
              <a:rPr lang="en-US" dirty="0"/>
            </a:br>
            <a:r>
              <a:rPr lang="en-US" b="1" dirty="0">
                <a:latin typeface="Courier New" panose="02070309020205020404" pitchFamily="49" charset="0"/>
                <a:cs typeface="Courier New" panose="02070309020205020404" pitchFamily="49" charset="0"/>
              </a:rPr>
              <a:t>AGCATAGACATATAGCAT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AGATAGATCAGATAG</a:t>
            </a:r>
          </a:p>
          <a:p>
            <a:r>
              <a:rPr lang="en-US" dirty="0">
                <a:cs typeface="Courier New" panose="02070309020205020404" pitchFamily="49" charset="0"/>
              </a:rPr>
              <a:t>Optional accompanying file of quality scores, same format</a:t>
            </a:r>
          </a:p>
        </p:txBody>
      </p:sp>
      <p:sp>
        <p:nvSpPr>
          <p:cNvPr id="4" name="Slide Number Placeholder 3">
            <a:extLst>
              <a:ext uri="{FF2B5EF4-FFF2-40B4-BE49-F238E27FC236}">
                <a16:creationId xmlns:a16="http://schemas.microsoft.com/office/drawing/2014/main" id="{55A33690-5C0B-9D7D-8E85-05EDDEF96C59}"/>
              </a:ext>
            </a:extLst>
          </p:cNvPr>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2295762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ED73-BA2E-08CC-2536-4F4929FBC210}"/>
              </a:ext>
            </a:extLst>
          </p:cNvPr>
          <p:cNvSpPr>
            <a:spLocks noGrp="1"/>
          </p:cNvSpPr>
          <p:nvPr>
            <p:ph type="title"/>
          </p:nvPr>
        </p:nvSpPr>
        <p:spPr/>
        <p:txBody>
          <a:bodyPr>
            <a:normAutofit fontScale="90000"/>
          </a:bodyPr>
          <a:lstStyle/>
          <a:p>
            <a:r>
              <a:rPr lang="en-US" dirty="0"/>
              <a:t>Example </a:t>
            </a:r>
            <a:r>
              <a:rPr lang="en-US" dirty="0" err="1"/>
              <a:t>fasta</a:t>
            </a:r>
            <a:r>
              <a:rPr lang="en-US" dirty="0"/>
              <a:t>/qual format</a:t>
            </a:r>
          </a:p>
        </p:txBody>
      </p:sp>
      <p:sp>
        <p:nvSpPr>
          <p:cNvPr id="3" name="Content Placeholder 2">
            <a:extLst>
              <a:ext uri="{FF2B5EF4-FFF2-40B4-BE49-F238E27FC236}">
                <a16:creationId xmlns:a16="http://schemas.microsoft.com/office/drawing/2014/main" id="{B9B4AE2F-09EC-4169-C031-981CCEBEC5D7}"/>
              </a:ext>
            </a:extLst>
          </p:cNvPr>
          <p:cNvSpPr>
            <a:spLocks noGrp="1"/>
          </p:cNvSpPr>
          <p:nvPr>
            <p:ph idx="1"/>
          </p:nvPr>
        </p:nvSpPr>
        <p:spPr>
          <a:xfrm>
            <a:off x="598620" y="1596540"/>
            <a:ext cx="10972800" cy="4759811"/>
          </a:xfrm>
        </p:spPr>
        <p:txBody>
          <a:bodyPr>
            <a:normAutofit fontScale="92500" lnSpcReduction="20000"/>
          </a:bodyPr>
          <a:lstStyle/>
          <a:p>
            <a:pPr marL="0" indent="0">
              <a:buNone/>
            </a:pPr>
            <a:r>
              <a:rPr lang="en-US" dirty="0"/>
              <a:t>FASTA file:</a:t>
            </a:r>
          </a:p>
          <a:p>
            <a:pPr marL="0" indent="0">
              <a:buNone/>
            </a:pPr>
            <a:r>
              <a:rPr lang="en-US" dirty="0"/>
              <a:t>&gt;sequence1 tag1=value1</a:t>
            </a:r>
          </a:p>
          <a:p>
            <a:pPr marL="0" indent="0">
              <a:buNone/>
            </a:pPr>
            <a:r>
              <a:rPr lang="en-US" dirty="0"/>
              <a:t>AGATAG</a:t>
            </a:r>
          </a:p>
          <a:p>
            <a:pPr marL="0" indent="0">
              <a:buNone/>
            </a:pPr>
            <a:r>
              <a:rPr lang="en-US" dirty="0"/>
              <a:t>&gt;sequence2 tag1=value1</a:t>
            </a:r>
          </a:p>
          <a:p>
            <a:pPr marL="0" indent="0">
              <a:buNone/>
            </a:pPr>
            <a:r>
              <a:rPr lang="en-US" dirty="0"/>
              <a:t>AAGAATA</a:t>
            </a:r>
          </a:p>
          <a:p>
            <a:pPr marL="0" indent="0">
              <a:buNone/>
            </a:pPr>
            <a:endParaRPr lang="en-US" dirty="0"/>
          </a:p>
          <a:p>
            <a:pPr marL="0" indent="0">
              <a:buNone/>
            </a:pPr>
            <a:r>
              <a:rPr lang="en-US" dirty="0"/>
              <a:t>QUAL file:</a:t>
            </a:r>
          </a:p>
          <a:p>
            <a:pPr marL="0" indent="0">
              <a:buNone/>
            </a:pPr>
            <a:r>
              <a:rPr lang="en-US" dirty="0"/>
              <a:t>&gt;sequence1 tag1=value1</a:t>
            </a:r>
          </a:p>
          <a:p>
            <a:pPr marL="0" indent="0">
              <a:buNone/>
            </a:pPr>
            <a:r>
              <a:rPr lang="en-US" dirty="0"/>
              <a:t>7 7 8 1 60 60 </a:t>
            </a:r>
          </a:p>
          <a:p>
            <a:pPr marL="0" indent="0">
              <a:buNone/>
            </a:pPr>
            <a:r>
              <a:rPr lang="en-US" dirty="0"/>
              <a:t>&gt;sequence2 tag1=value1</a:t>
            </a:r>
          </a:p>
          <a:p>
            <a:pPr marL="0" indent="0">
              <a:buNone/>
            </a:pPr>
            <a:r>
              <a:rPr lang="en-US" dirty="0"/>
              <a:t>50 40 30 20 10 5 5</a:t>
            </a:r>
          </a:p>
          <a:p>
            <a:pPr marL="0" indent="0">
              <a:buNone/>
            </a:pPr>
            <a:endParaRPr lang="en-US" dirty="0"/>
          </a:p>
        </p:txBody>
      </p:sp>
      <p:sp>
        <p:nvSpPr>
          <p:cNvPr id="4" name="Slide Number Placeholder 3">
            <a:extLst>
              <a:ext uri="{FF2B5EF4-FFF2-40B4-BE49-F238E27FC236}">
                <a16:creationId xmlns:a16="http://schemas.microsoft.com/office/drawing/2014/main" id="{8863C274-D290-0C5C-2B30-71E6E529B2DA}"/>
              </a:ext>
            </a:extLst>
          </p:cNvPr>
          <p:cNvSpPr>
            <a:spLocks noGrp="1"/>
          </p:cNvSpPr>
          <p:nvPr>
            <p:ph type="sldNum" sz="quarter" idx="12"/>
          </p:nvPr>
        </p:nvSpPr>
        <p:spPr/>
        <p:txBody>
          <a:bodyPr/>
          <a:lstStyle/>
          <a:p>
            <a:fld id="{B82CCC60-E8CD-4174-8B1A-7DF615B22EEF}" type="slidenum">
              <a:rPr lang="en-US" smtClean="0"/>
              <a:pPr/>
              <a:t>29</a:t>
            </a:fld>
            <a:endParaRPr lang="en-US"/>
          </a:p>
        </p:txBody>
      </p:sp>
    </p:spTree>
    <p:extLst>
      <p:ext uri="{BB962C8B-B14F-4D97-AF65-F5344CB8AC3E}">
        <p14:creationId xmlns:p14="http://schemas.microsoft.com/office/powerpoint/2010/main" val="3460566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BC7A7-9B7D-72F2-B7D5-C584EDE0E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FAB7E-52D9-A226-87CC-090FD655C70C}"/>
              </a:ext>
            </a:extLst>
          </p:cNvPr>
          <p:cNvSpPr>
            <a:spLocks noGrp="1"/>
          </p:cNvSpPr>
          <p:nvPr>
            <p:ph type="title"/>
          </p:nvPr>
        </p:nvSpPr>
        <p:spPr/>
        <p:txBody>
          <a:bodyPr>
            <a:normAutofit fontScale="90000"/>
          </a:bodyPr>
          <a:lstStyle/>
          <a:p>
            <a:r>
              <a:rPr lang="en-US" dirty="0" err="1"/>
              <a:t>Fastq</a:t>
            </a:r>
            <a:r>
              <a:rPr lang="en-US" dirty="0"/>
              <a:t> format</a:t>
            </a:r>
          </a:p>
        </p:txBody>
      </p:sp>
      <p:sp>
        <p:nvSpPr>
          <p:cNvPr id="5" name="Content Placeholder 4">
            <a:extLst>
              <a:ext uri="{FF2B5EF4-FFF2-40B4-BE49-F238E27FC236}">
                <a16:creationId xmlns:a16="http://schemas.microsoft.com/office/drawing/2014/main" id="{4CCE1F73-EB74-E96A-1F09-4459B16325BA}"/>
              </a:ext>
            </a:extLst>
          </p:cNvPr>
          <p:cNvSpPr>
            <a:spLocks noGrp="1"/>
          </p:cNvSpPr>
          <p:nvPr>
            <p:ph idx="1"/>
          </p:nvPr>
        </p:nvSpPr>
        <p:spPr>
          <a:xfrm>
            <a:off x="598620" y="1596540"/>
            <a:ext cx="10972800" cy="5191970"/>
          </a:xfrm>
        </p:spPr>
        <p:txBody>
          <a:bodyPr>
            <a:normAutofit fontScale="92500" lnSpcReduction="20000"/>
          </a:bodyPr>
          <a:lstStyle/>
          <a:p>
            <a:r>
              <a:rPr lang="en-US" sz="3100" dirty="0"/>
              <a:t>Each sequence definition starts with “@”, sequence name immediately follows</a:t>
            </a:r>
          </a:p>
          <a:p>
            <a:pPr lvl="1"/>
            <a:r>
              <a:rPr lang="en-US" sz="3100" dirty="0"/>
              <a:t>^@ line may contain more space-separated fields</a:t>
            </a:r>
          </a:p>
          <a:p>
            <a:endParaRPr lang="en-US" sz="3100" dirty="0"/>
          </a:p>
          <a:p>
            <a:r>
              <a:rPr lang="en-US" sz="3100" dirty="0"/>
              <a:t>Next set of lines is the sequence (ACGTN), no limit on the line length</a:t>
            </a:r>
          </a:p>
          <a:p>
            <a:endParaRPr lang="en-US" sz="3100" dirty="0"/>
          </a:p>
          <a:p>
            <a:r>
              <a:rPr lang="en-US" sz="3100" dirty="0"/>
              <a:t>New line starting with “+” ends sequence; sequence name may be duplicated after the “+”</a:t>
            </a:r>
          </a:p>
          <a:p>
            <a:endParaRPr lang="en-US" sz="3100" dirty="0"/>
          </a:p>
          <a:p>
            <a:r>
              <a:rPr lang="en-US" sz="3100" dirty="0"/>
              <a:t>Phred33(or 64) quality scores follow.  Number of characters equal to the number of letters in the sequence</a:t>
            </a:r>
          </a:p>
          <a:p>
            <a:pPr lvl="1"/>
            <a:r>
              <a:rPr lang="en-US" sz="3100" dirty="0"/>
              <a:t>“@” symbol may appear in the quality scores!!!</a:t>
            </a:r>
          </a:p>
          <a:p>
            <a:endParaRPr lang="en-US" dirty="0"/>
          </a:p>
        </p:txBody>
      </p:sp>
    </p:spTree>
    <p:extLst>
      <p:ext uri="{BB962C8B-B14F-4D97-AF65-F5344CB8AC3E}">
        <p14:creationId xmlns:p14="http://schemas.microsoft.com/office/powerpoint/2010/main" val="2020580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C3CA-B3C4-89BC-229C-994C18C1B45B}"/>
              </a:ext>
            </a:extLst>
          </p:cNvPr>
          <p:cNvSpPr>
            <a:spLocks noGrp="1"/>
          </p:cNvSpPr>
          <p:nvPr>
            <p:ph type="title"/>
          </p:nvPr>
        </p:nvSpPr>
        <p:spPr/>
        <p:txBody>
          <a:bodyPr>
            <a:normAutofit fontScale="90000"/>
          </a:bodyPr>
          <a:lstStyle/>
          <a:p>
            <a:r>
              <a:rPr lang="en-US" dirty="0"/>
              <a:t>Example </a:t>
            </a:r>
            <a:r>
              <a:rPr lang="en-US" dirty="0" err="1"/>
              <a:t>fastq</a:t>
            </a:r>
            <a:r>
              <a:rPr lang="en-US" dirty="0"/>
              <a:t> format</a:t>
            </a:r>
          </a:p>
        </p:txBody>
      </p:sp>
      <p:sp>
        <p:nvSpPr>
          <p:cNvPr id="3" name="Content Placeholder 2">
            <a:extLst>
              <a:ext uri="{FF2B5EF4-FFF2-40B4-BE49-F238E27FC236}">
                <a16:creationId xmlns:a16="http://schemas.microsoft.com/office/drawing/2014/main" id="{EE051A9E-1A61-372A-DF4C-B8459544A710}"/>
              </a:ext>
            </a:extLst>
          </p:cNvPr>
          <p:cNvSpPr>
            <a:spLocks noGrp="1"/>
          </p:cNvSpPr>
          <p:nvPr>
            <p:ph idx="1"/>
          </p:nvPr>
        </p:nvSpPr>
        <p:spPr>
          <a:xfrm>
            <a:off x="613457" y="1423686"/>
            <a:ext cx="10984375" cy="5150734"/>
          </a:xfrm>
        </p:spPr>
        <p:txBody>
          <a:bodyPr>
            <a:normAutofit/>
          </a:bodyPr>
          <a:lstStyle/>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@read1 property=value </a:t>
            </a:r>
            <a:r>
              <a:rPr lang="en-US" dirty="0" err="1">
                <a:latin typeface="Consolas" panose="020B0609020204030204" pitchFamily="49" charset="0"/>
              </a:rPr>
              <a:t>someotherstuff</a:t>
            </a:r>
            <a:endParaRPr lang="en-US" dirty="0">
              <a:latin typeface="Consolas" panose="020B0609020204030204" pitchFamily="49" charset="0"/>
            </a:endParaRPr>
          </a:p>
          <a:p>
            <a:pPr marL="0" indent="0">
              <a:buNone/>
            </a:pPr>
            <a:r>
              <a:rPr lang="en-US" dirty="0">
                <a:latin typeface="Consolas" panose="020B0609020204030204" pitchFamily="49" charset="0"/>
              </a:rPr>
              <a:t>NAGCATGACATAGAC</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D@JNDKJNDKSSSNS</a:t>
            </a:r>
          </a:p>
          <a:p>
            <a:pPr marL="0" indent="0">
              <a:buNone/>
            </a:pPr>
            <a:r>
              <a:rPr lang="en-US" dirty="0">
                <a:latin typeface="Consolas" panose="020B0609020204030204" pitchFamily="49" charset="0"/>
              </a:rPr>
              <a:t>@read2 property=value </a:t>
            </a:r>
            <a:r>
              <a:rPr lang="en-US" dirty="0" err="1">
                <a:latin typeface="Consolas" panose="020B0609020204030204" pitchFamily="49" charset="0"/>
              </a:rPr>
              <a:t>someotherstuff</a:t>
            </a:r>
            <a:endParaRPr lang="en-US" dirty="0">
              <a:latin typeface="Consolas" panose="020B0609020204030204" pitchFamily="49" charset="0"/>
            </a:endParaRPr>
          </a:p>
          <a:p>
            <a:pPr marL="0" indent="0">
              <a:buNone/>
            </a:pPr>
            <a:r>
              <a:rPr lang="en-US" dirty="0">
                <a:latin typeface="Consolas" panose="020B0609020204030204" pitchFamily="49" charset="0"/>
              </a:rPr>
              <a:t>NGAGATCATGACTAG</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KIDBDHBJSHAJHS3</a:t>
            </a:r>
          </a:p>
          <a:p>
            <a:pPr marL="0" indent="0">
              <a:buNone/>
            </a:pPr>
            <a:endParaRPr lang="en-US" dirty="0"/>
          </a:p>
        </p:txBody>
      </p:sp>
    </p:spTree>
    <p:extLst>
      <p:ext uri="{BB962C8B-B14F-4D97-AF65-F5344CB8AC3E}">
        <p14:creationId xmlns:p14="http://schemas.microsoft.com/office/powerpoint/2010/main" val="2701609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BAM/SAM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27220" y="159654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6F382D2E-359B-7BA9-E7C9-8E93FFA7693B}"/>
              </a:ext>
            </a:extLst>
          </p:cNvPr>
          <p:cNvPicPr>
            <a:picLocks noChangeAspect="1"/>
          </p:cNvPicPr>
          <p:nvPr/>
        </p:nvPicPr>
        <p:blipFill>
          <a:blip r:embed="rId2"/>
          <a:stretch>
            <a:fillRect/>
          </a:stretch>
        </p:blipFill>
        <p:spPr>
          <a:xfrm>
            <a:off x="193634" y="2720449"/>
            <a:ext cx="11460174" cy="3772426"/>
          </a:xfrm>
          <a:prstGeom prst="rect">
            <a:avLst/>
          </a:prstGeom>
        </p:spPr>
      </p:pic>
    </p:spTree>
    <p:extLst>
      <p:ext uri="{BB962C8B-B14F-4D97-AF65-F5344CB8AC3E}">
        <p14:creationId xmlns:p14="http://schemas.microsoft.com/office/powerpoint/2010/main" val="1057141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9B8D-FE68-3D2A-95BD-379A514D8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6EA62-F0ED-F6B9-1261-43404885458D}"/>
              </a:ext>
            </a:extLst>
          </p:cNvPr>
          <p:cNvSpPr>
            <a:spLocks noGrp="1"/>
          </p:cNvSpPr>
          <p:nvPr>
            <p:ph type="title"/>
          </p:nvPr>
        </p:nvSpPr>
        <p:spPr/>
        <p:txBody>
          <a:bodyPr>
            <a:normAutofit fontScale="90000"/>
          </a:bodyPr>
          <a:lstStyle/>
          <a:p>
            <a:r>
              <a:rPr lang="en-US" dirty="0"/>
              <a:t>BAM/SAM format</a:t>
            </a:r>
          </a:p>
        </p:txBody>
      </p:sp>
      <p:sp>
        <p:nvSpPr>
          <p:cNvPr id="6" name="Content Placeholder 5">
            <a:extLst>
              <a:ext uri="{FF2B5EF4-FFF2-40B4-BE49-F238E27FC236}">
                <a16:creationId xmlns:a16="http://schemas.microsoft.com/office/drawing/2014/main" id="{611F65BD-836B-7F8D-93CB-C56A4CA5FBD9}"/>
              </a:ext>
            </a:extLst>
          </p:cNvPr>
          <p:cNvSpPr>
            <a:spLocks noGrp="1"/>
          </p:cNvSpPr>
          <p:nvPr>
            <p:ph idx="1"/>
          </p:nvPr>
        </p:nvSpPr>
        <p:spPr>
          <a:xfrm>
            <a:off x="827220" y="159654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440E925A-892E-B96A-00D4-0069CD5E6CFB}"/>
              </a:ext>
            </a:extLst>
          </p:cNvPr>
          <p:cNvPicPr>
            <a:picLocks noChangeAspect="1"/>
          </p:cNvPicPr>
          <p:nvPr/>
        </p:nvPicPr>
        <p:blipFill>
          <a:blip r:embed="rId2"/>
          <a:stretch>
            <a:fillRect/>
          </a:stretch>
        </p:blipFill>
        <p:spPr>
          <a:xfrm>
            <a:off x="193634" y="2720449"/>
            <a:ext cx="11460174" cy="3772426"/>
          </a:xfrm>
          <a:prstGeom prst="rect">
            <a:avLst/>
          </a:prstGeom>
        </p:spPr>
      </p:pic>
      <p:sp>
        <p:nvSpPr>
          <p:cNvPr id="3" name="Rectangle 2">
            <a:extLst>
              <a:ext uri="{FF2B5EF4-FFF2-40B4-BE49-F238E27FC236}">
                <a16:creationId xmlns:a16="http://schemas.microsoft.com/office/drawing/2014/main" id="{EBFF3D46-F312-4D7A-2428-E800AD577CDE}"/>
              </a:ext>
            </a:extLst>
          </p:cNvPr>
          <p:cNvSpPr/>
          <p:nvPr/>
        </p:nvSpPr>
        <p:spPr>
          <a:xfrm>
            <a:off x="598620" y="3123590"/>
            <a:ext cx="8856890" cy="3054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4BE2D6B-AB66-86FA-FD8B-9345280C0970}"/>
              </a:ext>
            </a:extLst>
          </p:cNvPr>
          <p:cNvSpPr/>
          <p:nvPr/>
        </p:nvSpPr>
        <p:spPr>
          <a:xfrm>
            <a:off x="527864" y="5632404"/>
            <a:ext cx="10454695" cy="545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6364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CEC0-1AE7-074B-282C-87D6FAED2482}"/>
              </a:ext>
            </a:extLst>
          </p:cNvPr>
          <p:cNvSpPr>
            <a:spLocks noGrp="1"/>
          </p:cNvSpPr>
          <p:nvPr>
            <p:ph type="title"/>
          </p:nvPr>
        </p:nvSpPr>
        <p:spPr/>
        <p:txBody>
          <a:bodyPr>
            <a:normAutofit fontScale="90000"/>
          </a:bodyPr>
          <a:lstStyle/>
          <a:p>
            <a:r>
              <a:rPr lang="en-US" dirty="0"/>
              <a:t>SAM/BAM and samtools</a:t>
            </a:r>
          </a:p>
        </p:txBody>
      </p:sp>
      <p:sp>
        <p:nvSpPr>
          <p:cNvPr id="3" name="Content Placeholder 2">
            <a:extLst>
              <a:ext uri="{FF2B5EF4-FFF2-40B4-BE49-F238E27FC236}">
                <a16:creationId xmlns:a16="http://schemas.microsoft.com/office/drawing/2014/main" id="{7E6800C5-A733-FC80-1F6D-CD59AE818F7C}"/>
              </a:ext>
            </a:extLst>
          </p:cNvPr>
          <p:cNvSpPr>
            <a:spLocks noGrp="1"/>
          </p:cNvSpPr>
          <p:nvPr>
            <p:ph idx="1"/>
          </p:nvPr>
        </p:nvSpPr>
        <p:spPr>
          <a:xfrm>
            <a:off x="838200" y="1825625"/>
            <a:ext cx="10782782" cy="4795094"/>
          </a:xfrm>
        </p:spPr>
        <p:txBody>
          <a:bodyPr>
            <a:normAutofit/>
          </a:bodyPr>
          <a:lstStyle/>
          <a:p>
            <a:r>
              <a:rPr lang="en-US" dirty="0"/>
              <a:t>BAM files are compressed SAM files</a:t>
            </a:r>
          </a:p>
          <a:p>
            <a:r>
              <a:rPr lang="en-US" i="1" dirty="0" err="1"/>
              <a:t>samtools</a:t>
            </a:r>
            <a:r>
              <a:rPr lang="en-US" dirty="0"/>
              <a:t> is a useful utility to work with SAM/BAM files</a:t>
            </a:r>
          </a:p>
          <a:p>
            <a:r>
              <a:rPr lang="en-US" dirty="0"/>
              <a:t>Frequently used options</a:t>
            </a:r>
          </a:p>
          <a:p>
            <a:pPr lvl="2"/>
            <a:r>
              <a:rPr lang="en-US" i="1" dirty="0" err="1"/>
              <a:t>samtools</a:t>
            </a:r>
            <a:r>
              <a:rPr lang="en-US" i="1" dirty="0"/>
              <a:t> view:</a:t>
            </a:r>
            <a:r>
              <a:rPr lang="en-US" dirty="0"/>
              <a:t> SAM </a:t>
            </a:r>
            <a:r>
              <a:rPr lang="en-US" dirty="0">
                <a:sym typeface="Wingdings" panose="05000000000000000000" pitchFamily="2" charset="2"/>
              </a:rPr>
              <a:t> BAM conversion</a:t>
            </a:r>
            <a:endParaRPr lang="en-US" i="1" dirty="0"/>
          </a:p>
          <a:p>
            <a:pPr lvl="2"/>
            <a:r>
              <a:rPr lang="en-US" i="1" dirty="0" err="1"/>
              <a:t>samtools</a:t>
            </a:r>
            <a:r>
              <a:rPr lang="en-US" i="1" dirty="0"/>
              <a:t> sort: </a:t>
            </a:r>
            <a:r>
              <a:rPr lang="en-US" dirty="0"/>
              <a:t>sort SAM/BAM file</a:t>
            </a:r>
          </a:p>
          <a:p>
            <a:pPr lvl="2"/>
            <a:r>
              <a:rPr lang="en-US" i="1" dirty="0" err="1"/>
              <a:t>samtools</a:t>
            </a:r>
            <a:r>
              <a:rPr lang="en-US" i="1" dirty="0"/>
              <a:t> </a:t>
            </a:r>
            <a:r>
              <a:rPr lang="en-US" i="1" dirty="0" err="1"/>
              <a:t>fastq</a:t>
            </a:r>
            <a:r>
              <a:rPr lang="en-US" i="1" dirty="0"/>
              <a:t>: </a:t>
            </a:r>
            <a:r>
              <a:rPr lang="en-US" dirty="0"/>
              <a:t>convert BAM/SAM to </a:t>
            </a:r>
            <a:r>
              <a:rPr lang="en-US" dirty="0" err="1"/>
              <a:t>fastq</a:t>
            </a:r>
            <a:r>
              <a:rPr lang="en-US" dirty="0"/>
              <a:t> </a:t>
            </a:r>
          </a:p>
        </p:txBody>
      </p:sp>
    </p:spTree>
    <p:extLst>
      <p:ext uri="{BB962C8B-B14F-4D97-AF65-F5344CB8AC3E}">
        <p14:creationId xmlns:p14="http://schemas.microsoft.com/office/powerpoint/2010/main" val="766694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7419-24E6-32CD-3F70-1774472F911D}"/>
              </a:ext>
            </a:extLst>
          </p:cNvPr>
          <p:cNvSpPr>
            <a:spLocks noGrp="1"/>
          </p:cNvSpPr>
          <p:nvPr>
            <p:ph type="title"/>
          </p:nvPr>
        </p:nvSpPr>
        <p:spPr/>
        <p:txBody>
          <a:bodyPr>
            <a:normAutofit fontScale="90000"/>
          </a:bodyPr>
          <a:lstStyle/>
          <a:p>
            <a:r>
              <a:rPr lang="en-US" dirty="0"/>
              <a:t>Lab 1: Convert fastq to fasta</a:t>
            </a:r>
          </a:p>
        </p:txBody>
      </p:sp>
      <p:sp>
        <p:nvSpPr>
          <p:cNvPr id="3" name="Content Placeholder 2">
            <a:extLst>
              <a:ext uri="{FF2B5EF4-FFF2-40B4-BE49-F238E27FC236}">
                <a16:creationId xmlns:a16="http://schemas.microsoft.com/office/drawing/2014/main" id="{425CCDEE-5F86-2947-1AE6-861B5FA3FCC9}"/>
              </a:ext>
            </a:extLst>
          </p:cNvPr>
          <p:cNvSpPr>
            <a:spLocks noGrp="1"/>
          </p:cNvSpPr>
          <p:nvPr>
            <p:ph idx="1"/>
          </p:nvPr>
        </p:nvSpPr>
        <p:spPr>
          <a:xfrm>
            <a:off x="598620" y="1596540"/>
            <a:ext cx="10972800" cy="5039265"/>
          </a:xfrm>
        </p:spPr>
        <p:txBody>
          <a:bodyPr>
            <a:normAutofit fontScale="92500" lnSpcReduction="10000"/>
          </a:bodyPr>
          <a:lstStyle/>
          <a:p>
            <a:r>
              <a:rPr lang="en-US" dirty="0"/>
              <a:t>Goals:  write a python script that reads a fastq file from stdin, converts it to fasta and outputs to </a:t>
            </a:r>
            <a:r>
              <a:rPr lang="en-US" dirty="0" err="1"/>
              <a:t>stdout</a:t>
            </a:r>
            <a:r>
              <a:rPr lang="en-US" dirty="0"/>
              <a:t>; familiarize yourself with </a:t>
            </a:r>
            <a:r>
              <a:rPr lang="en-US" dirty="0" err="1"/>
              <a:t>GradeScope</a:t>
            </a:r>
            <a:r>
              <a:rPr lang="en-US" dirty="0"/>
              <a:t> </a:t>
            </a:r>
          </a:p>
          <a:p>
            <a:r>
              <a:rPr lang="en-US" dirty="0"/>
              <a:t>There may be one or more than one sequence in the fastq file</a:t>
            </a:r>
          </a:p>
          <a:p>
            <a:r>
              <a:rPr lang="en-US" dirty="0"/>
              <a:t>Name your program </a:t>
            </a:r>
            <a:r>
              <a:rPr lang="en-US" b="1" dirty="0"/>
              <a:t>fastq_to_fasta.py</a:t>
            </a:r>
          </a:p>
          <a:p>
            <a:r>
              <a:rPr lang="en-US" dirty="0"/>
              <a:t>Do not assume that sequence/quality are on a single line. Remember: number of characters in the sequence (before line starting with “+”) specifies how many characters of quality you must read</a:t>
            </a:r>
          </a:p>
          <a:p>
            <a:r>
              <a:rPr lang="en-US" dirty="0"/>
              <a:t>Fail and exit with an error if the number of characters in sequence is different from the number of qual characters</a:t>
            </a:r>
          </a:p>
          <a:p>
            <a:r>
              <a:rPr lang="en-US" dirty="0"/>
              <a:t>Due date: </a:t>
            </a:r>
            <a:r>
              <a:rPr lang="en-US" dirty="0">
                <a:solidFill>
                  <a:srgbClr val="FF0000"/>
                </a:solidFill>
              </a:rPr>
              <a:t>September 11, 8:00pm</a:t>
            </a:r>
            <a:r>
              <a:rPr lang="en-US" dirty="0"/>
              <a:t>.</a:t>
            </a:r>
          </a:p>
          <a:p>
            <a:r>
              <a:rPr lang="en-US" dirty="0"/>
              <a:t>Submit your code to </a:t>
            </a:r>
            <a:r>
              <a:rPr lang="en-US" dirty="0" err="1"/>
              <a:t>GradeScope</a:t>
            </a:r>
            <a:r>
              <a:rPr lang="en-US" dirty="0"/>
              <a:t>, it will be graded automatically right away, you have unlimited submission attempts until due date</a:t>
            </a:r>
          </a:p>
        </p:txBody>
      </p:sp>
      <p:sp>
        <p:nvSpPr>
          <p:cNvPr id="4" name="Slide Number Placeholder 3">
            <a:extLst>
              <a:ext uri="{FF2B5EF4-FFF2-40B4-BE49-F238E27FC236}">
                <a16:creationId xmlns:a16="http://schemas.microsoft.com/office/drawing/2014/main" id="{639749AD-3405-084C-7069-0304F382C15B}"/>
              </a:ext>
            </a:extLst>
          </p:cNvPr>
          <p:cNvSpPr>
            <a:spLocks noGrp="1"/>
          </p:cNvSpPr>
          <p:nvPr>
            <p:ph type="sldNum" sz="quarter" idx="12"/>
          </p:nvPr>
        </p:nvSpPr>
        <p:spPr/>
        <p:txBody>
          <a:bodyPr/>
          <a:lstStyle/>
          <a:p>
            <a:fld id="{B82CCC60-E8CD-4174-8B1A-7DF615B22EEF}" type="slidenum">
              <a:rPr lang="en-US" smtClean="0"/>
              <a:pPr/>
              <a:t>35</a:t>
            </a:fld>
            <a:endParaRPr lang="en-US"/>
          </a:p>
        </p:txBody>
      </p:sp>
    </p:spTree>
    <p:extLst>
      <p:ext uri="{BB962C8B-B14F-4D97-AF65-F5344CB8AC3E}">
        <p14:creationId xmlns:p14="http://schemas.microsoft.com/office/powerpoint/2010/main" val="2088857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30826" y="1749245"/>
            <a:ext cx="9075425" cy="1198665"/>
          </a:xfrm>
        </p:spPr>
        <p:txBody>
          <a:bodyPr>
            <a:normAutofit fontScale="77500" lnSpcReduction="20000"/>
          </a:bodyPr>
          <a:lstStyle/>
          <a:p>
            <a:r>
              <a:rPr lang="en-US" dirty="0"/>
              <a:t>FLAG field – 11 bits represented as decimal number</a:t>
            </a:r>
          </a:p>
          <a:p>
            <a:pPr lvl="1"/>
            <a:r>
              <a:rPr lang="en-US" dirty="0"/>
              <a:t>Most often used are 0 and 16</a:t>
            </a:r>
          </a:p>
          <a:p>
            <a:pPr lvl="1"/>
            <a:r>
              <a:rPr lang="en-US" dirty="0"/>
              <a:t>Conversion 000000010000</a:t>
            </a:r>
            <a:r>
              <a:rPr lang="en-US" baseline="-25000" dirty="0"/>
              <a:t>2</a:t>
            </a:r>
            <a:r>
              <a:rPr lang="en-US" dirty="0"/>
              <a:t> = 16, 010000010101</a:t>
            </a:r>
            <a:r>
              <a:rPr lang="en-US" baseline="-25000" dirty="0"/>
              <a:t>2</a:t>
            </a:r>
            <a:r>
              <a:rPr lang="en-US" dirty="0"/>
              <a:t> = 1024+16+4+1=1045</a:t>
            </a:r>
          </a:p>
          <a:p>
            <a:pPr lvl="1"/>
            <a:endParaRPr lang="en-US" dirty="0"/>
          </a:p>
          <a:p>
            <a:endParaRPr lang="en-US" dirty="0"/>
          </a:p>
        </p:txBody>
      </p:sp>
      <p:pic>
        <p:nvPicPr>
          <p:cNvPr id="4" name="Picture 3">
            <a:extLst>
              <a:ext uri="{FF2B5EF4-FFF2-40B4-BE49-F238E27FC236}">
                <a16:creationId xmlns:a16="http://schemas.microsoft.com/office/drawing/2014/main" id="{ABA5D542-7332-9542-95D9-9365FDB5444C}"/>
              </a:ext>
            </a:extLst>
          </p:cNvPr>
          <p:cNvPicPr>
            <a:picLocks noChangeAspect="1"/>
          </p:cNvPicPr>
          <p:nvPr/>
        </p:nvPicPr>
        <p:blipFill>
          <a:blip r:embed="rId2"/>
          <a:stretch>
            <a:fillRect/>
          </a:stretch>
        </p:blipFill>
        <p:spPr>
          <a:xfrm>
            <a:off x="838200" y="2792373"/>
            <a:ext cx="9669224" cy="3991532"/>
          </a:xfrm>
          <a:prstGeom prst="rect">
            <a:avLst/>
          </a:prstGeom>
        </p:spPr>
      </p:pic>
    </p:spTree>
    <p:extLst>
      <p:ext uri="{BB962C8B-B14F-4D97-AF65-F5344CB8AC3E}">
        <p14:creationId xmlns:p14="http://schemas.microsoft.com/office/powerpoint/2010/main" val="376118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2F16C-C9E3-D9CE-884E-60A2D2DA9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8A853-005C-C0BA-DCF1-C6FAFAB79B5D}"/>
              </a:ext>
            </a:extLst>
          </p:cNvPr>
          <p:cNvSpPr>
            <a:spLocks noGrp="1"/>
          </p:cNvSpPr>
          <p:nvPr>
            <p:ph type="title"/>
          </p:nvPr>
        </p:nvSpPr>
        <p:spPr>
          <a:xfrm>
            <a:off x="246822" y="336078"/>
            <a:ext cx="5849178" cy="802347"/>
          </a:xfrm>
        </p:spPr>
        <p:txBody>
          <a:bodyPr>
            <a:normAutofit fontScale="90000"/>
          </a:bodyPr>
          <a:lstStyle/>
          <a:p>
            <a:r>
              <a:rPr lang="en-US" dirty="0"/>
              <a:t>National Center for Biotechnology Information</a:t>
            </a:r>
          </a:p>
        </p:txBody>
      </p:sp>
      <p:sp>
        <p:nvSpPr>
          <p:cNvPr id="3" name="Content Placeholder 2">
            <a:extLst>
              <a:ext uri="{FF2B5EF4-FFF2-40B4-BE49-F238E27FC236}">
                <a16:creationId xmlns:a16="http://schemas.microsoft.com/office/drawing/2014/main" id="{E0DD5ECC-ABD9-DBCF-B1A4-00BFA4AEF31D}"/>
              </a:ext>
            </a:extLst>
          </p:cNvPr>
          <p:cNvSpPr>
            <a:spLocks noGrp="1"/>
          </p:cNvSpPr>
          <p:nvPr>
            <p:ph idx="1"/>
          </p:nvPr>
        </p:nvSpPr>
        <p:spPr>
          <a:xfrm>
            <a:off x="246822" y="1690688"/>
            <a:ext cx="7376228" cy="4831234"/>
          </a:xfrm>
        </p:spPr>
        <p:txBody>
          <a:bodyPr>
            <a:normAutofit fontScale="85000" lnSpcReduction="10000"/>
          </a:bodyPr>
          <a:lstStyle/>
          <a:p>
            <a:r>
              <a:rPr lang="en-US" dirty="0"/>
              <a:t>National Center for Biotechnology Information (NCBI) is now the biggest part of National Library of medicine (NLM)</a:t>
            </a:r>
          </a:p>
          <a:p>
            <a:r>
              <a:rPr lang="en-US" dirty="0"/>
              <a:t>NCBI was founded in 1988</a:t>
            </a:r>
          </a:p>
          <a:p>
            <a:r>
              <a:rPr lang="en-US" dirty="0"/>
              <a:t>Dr. David Lipman, a key developer of the FASTA algorithm, was appointed as the first NCBI Director. </a:t>
            </a:r>
          </a:p>
          <a:p>
            <a:r>
              <a:rPr lang="en-US" dirty="0"/>
              <a:t>Leading source for </a:t>
            </a:r>
          </a:p>
          <a:p>
            <a:pPr lvl="1"/>
            <a:r>
              <a:rPr lang="en-US" dirty="0"/>
              <a:t>public biomedical databases</a:t>
            </a:r>
          </a:p>
          <a:p>
            <a:pPr lvl="1"/>
            <a:r>
              <a:rPr lang="en-US" dirty="0"/>
              <a:t>software tools for analyzing molecular and genomic data, and research in computational biology. </a:t>
            </a:r>
          </a:p>
          <a:p>
            <a:r>
              <a:rPr lang="en-US" dirty="0"/>
              <a:t>&gt;40 integrated databases for the medical and scientific communities as well as the general public. </a:t>
            </a:r>
          </a:p>
        </p:txBody>
      </p:sp>
      <p:pic>
        <p:nvPicPr>
          <p:cNvPr id="6" name="Picture 5">
            <a:extLst>
              <a:ext uri="{FF2B5EF4-FFF2-40B4-BE49-F238E27FC236}">
                <a16:creationId xmlns:a16="http://schemas.microsoft.com/office/drawing/2014/main" id="{EB620200-5F19-641F-4600-695821577F90}"/>
              </a:ext>
            </a:extLst>
          </p:cNvPr>
          <p:cNvPicPr>
            <a:picLocks noChangeAspect="1"/>
          </p:cNvPicPr>
          <p:nvPr/>
        </p:nvPicPr>
        <p:blipFill>
          <a:blip r:embed="rId2"/>
          <a:stretch>
            <a:fillRect/>
          </a:stretch>
        </p:blipFill>
        <p:spPr>
          <a:xfrm>
            <a:off x="8539280" y="1580891"/>
            <a:ext cx="2901395" cy="4248081"/>
          </a:xfrm>
          <a:prstGeom prst="rect">
            <a:avLst/>
          </a:prstGeom>
        </p:spPr>
      </p:pic>
      <p:sp>
        <p:nvSpPr>
          <p:cNvPr id="7" name="TextBox 6">
            <a:extLst>
              <a:ext uri="{FF2B5EF4-FFF2-40B4-BE49-F238E27FC236}">
                <a16:creationId xmlns:a16="http://schemas.microsoft.com/office/drawing/2014/main" id="{B6055FD9-1764-4FB6-E5F7-52276BDA5C86}"/>
              </a:ext>
            </a:extLst>
          </p:cNvPr>
          <p:cNvSpPr txBox="1"/>
          <p:nvPr/>
        </p:nvSpPr>
        <p:spPr>
          <a:xfrm>
            <a:off x="9150100" y="6177690"/>
            <a:ext cx="1812997" cy="369332"/>
          </a:xfrm>
          <a:prstGeom prst="rect">
            <a:avLst/>
          </a:prstGeom>
          <a:noFill/>
        </p:spPr>
        <p:txBody>
          <a:bodyPr wrap="none" rtlCol="0">
            <a:spAutoFit/>
          </a:bodyPr>
          <a:lstStyle/>
          <a:p>
            <a:r>
              <a:rPr lang="en-US" dirty="0"/>
              <a:t>Image: Wikipedia</a:t>
            </a:r>
          </a:p>
        </p:txBody>
      </p:sp>
    </p:spTree>
    <p:extLst>
      <p:ext uri="{BB962C8B-B14F-4D97-AF65-F5344CB8AC3E}">
        <p14:creationId xmlns:p14="http://schemas.microsoft.com/office/powerpoint/2010/main" val="3801846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BD630-5568-5317-6062-65F8EA6C46E3}"/>
              </a:ext>
            </a:extLst>
          </p:cNvPr>
          <p:cNvSpPr>
            <a:spLocks noGrp="1"/>
          </p:cNvSpPr>
          <p:nvPr>
            <p:ph type="title"/>
          </p:nvPr>
        </p:nvSpPr>
        <p:spPr>
          <a:xfrm>
            <a:off x="246822" y="336078"/>
            <a:ext cx="5849178" cy="802347"/>
          </a:xfrm>
        </p:spPr>
        <p:txBody>
          <a:bodyPr>
            <a:normAutofit fontScale="90000"/>
          </a:bodyPr>
          <a:lstStyle/>
          <a:p>
            <a:r>
              <a:rPr lang="en-US" dirty="0"/>
              <a:t>National Center for Biotechnology Information</a:t>
            </a:r>
          </a:p>
        </p:txBody>
      </p:sp>
      <p:sp>
        <p:nvSpPr>
          <p:cNvPr id="3" name="Content Placeholder 2">
            <a:extLst>
              <a:ext uri="{FF2B5EF4-FFF2-40B4-BE49-F238E27FC236}">
                <a16:creationId xmlns:a16="http://schemas.microsoft.com/office/drawing/2014/main" id="{07B1A15F-8799-7DD9-7CC9-16364B8D37B1}"/>
              </a:ext>
            </a:extLst>
          </p:cNvPr>
          <p:cNvSpPr>
            <a:spLocks noGrp="1"/>
          </p:cNvSpPr>
          <p:nvPr>
            <p:ph idx="1"/>
          </p:nvPr>
        </p:nvSpPr>
        <p:spPr>
          <a:xfrm>
            <a:off x="246822" y="1690688"/>
            <a:ext cx="4843780" cy="4351338"/>
          </a:xfrm>
        </p:spPr>
        <p:txBody>
          <a:bodyPr>
            <a:normAutofit fontScale="92500" lnSpcReduction="20000"/>
          </a:bodyPr>
          <a:lstStyle/>
          <a:p>
            <a:r>
              <a:rPr lang="en-US" dirty="0"/>
              <a:t>NCBI hosts:</a:t>
            </a:r>
          </a:p>
          <a:p>
            <a:pPr lvl="1"/>
            <a:r>
              <a:rPr lang="en-US" b="1" dirty="0"/>
              <a:t>GenBank: </a:t>
            </a:r>
            <a:r>
              <a:rPr lang="en-US" dirty="0"/>
              <a:t>repository of draft genomes</a:t>
            </a:r>
          </a:p>
          <a:p>
            <a:pPr lvl="1"/>
            <a:r>
              <a:rPr lang="en-US" b="1" dirty="0"/>
              <a:t>RefSeq</a:t>
            </a:r>
            <a:r>
              <a:rPr lang="en-US" dirty="0"/>
              <a:t>: repository of high(er)- quality genomes</a:t>
            </a:r>
          </a:p>
          <a:p>
            <a:pPr lvl="1"/>
            <a:r>
              <a:rPr lang="en-US" dirty="0"/>
              <a:t>Sequence Read Archive or the </a:t>
            </a:r>
            <a:r>
              <a:rPr lang="en-US" b="1" dirty="0"/>
              <a:t>SRA</a:t>
            </a:r>
            <a:r>
              <a:rPr lang="en-US" dirty="0"/>
              <a:t>: the biggest repository of the sequencing data</a:t>
            </a:r>
          </a:p>
          <a:p>
            <a:pPr lvl="1"/>
            <a:r>
              <a:rPr lang="en-US" dirty="0"/>
              <a:t>And many others (genes, proteins, literature, clinical trials, </a:t>
            </a:r>
            <a:r>
              <a:rPr lang="en-US" dirty="0" err="1"/>
              <a:t>etc</a:t>
            </a:r>
            <a:r>
              <a:rPr lang="en-US" dirty="0"/>
              <a:t> …)</a:t>
            </a:r>
          </a:p>
        </p:txBody>
      </p:sp>
      <p:pic>
        <p:nvPicPr>
          <p:cNvPr id="5" name="Picture 4">
            <a:extLst>
              <a:ext uri="{FF2B5EF4-FFF2-40B4-BE49-F238E27FC236}">
                <a16:creationId xmlns:a16="http://schemas.microsoft.com/office/drawing/2014/main" id="{716C99BC-3572-796C-C6AA-3D133BAF0744}"/>
              </a:ext>
            </a:extLst>
          </p:cNvPr>
          <p:cNvPicPr>
            <a:picLocks noChangeAspect="1"/>
          </p:cNvPicPr>
          <p:nvPr/>
        </p:nvPicPr>
        <p:blipFill>
          <a:blip r:embed="rId2"/>
          <a:stretch>
            <a:fillRect/>
          </a:stretch>
        </p:blipFill>
        <p:spPr>
          <a:xfrm>
            <a:off x="5090602" y="1690688"/>
            <a:ext cx="6968876" cy="4234181"/>
          </a:xfrm>
          <a:prstGeom prst="rect">
            <a:avLst/>
          </a:prstGeom>
        </p:spPr>
      </p:pic>
    </p:spTree>
    <p:extLst>
      <p:ext uri="{BB962C8B-B14F-4D97-AF65-F5344CB8AC3E}">
        <p14:creationId xmlns:p14="http://schemas.microsoft.com/office/powerpoint/2010/main" val="32724878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30AE-DEFD-F1ED-765D-430E0A6A9D25}"/>
              </a:ext>
            </a:extLst>
          </p:cNvPr>
          <p:cNvSpPr>
            <a:spLocks noGrp="1"/>
          </p:cNvSpPr>
          <p:nvPr>
            <p:ph type="title"/>
          </p:nvPr>
        </p:nvSpPr>
        <p:spPr/>
        <p:txBody>
          <a:bodyPr>
            <a:normAutofit fontScale="90000"/>
          </a:bodyPr>
          <a:lstStyle/>
          <a:p>
            <a:r>
              <a:rPr lang="en-US" dirty="0"/>
              <a:t>Finding information at NCBI</a:t>
            </a:r>
          </a:p>
        </p:txBody>
      </p:sp>
      <p:pic>
        <p:nvPicPr>
          <p:cNvPr id="5" name="Picture 4">
            <a:extLst>
              <a:ext uri="{FF2B5EF4-FFF2-40B4-BE49-F238E27FC236}">
                <a16:creationId xmlns:a16="http://schemas.microsoft.com/office/drawing/2014/main" id="{36749C20-BA32-279C-12BD-63D0868E9865}"/>
              </a:ext>
            </a:extLst>
          </p:cNvPr>
          <p:cNvPicPr>
            <a:picLocks noChangeAspect="1"/>
          </p:cNvPicPr>
          <p:nvPr/>
        </p:nvPicPr>
        <p:blipFill>
          <a:blip r:embed="rId2"/>
          <a:stretch>
            <a:fillRect/>
          </a:stretch>
        </p:blipFill>
        <p:spPr>
          <a:xfrm>
            <a:off x="218066" y="2142945"/>
            <a:ext cx="11517332" cy="2572109"/>
          </a:xfrm>
          <a:prstGeom prst="rect">
            <a:avLst/>
          </a:prstGeom>
        </p:spPr>
      </p:pic>
    </p:spTree>
    <p:extLst>
      <p:ext uri="{BB962C8B-B14F-4D97-AF65-F5344CB8AC3E}">
        <p14:creationId xmlns:p14="http://schemas.microsoft.com/office/powerpoint/2010/main" val="8768050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C54F-D123-9FFD-B337-B24B47EDC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286FE-BC17-9551-AD71-763E5B689C49}"/>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D72C672A-A98F-60B5-E62F-6DD5CB5EF0B4}"/>
              </a:ext>
            </a:extLst>
          </p:cNvPr>
          <p:cNvPicPr>
            <a:picLocks noChangeAspect="1"/>
          </p:cNvPicPr>
          <p:nvPr/>
        </p:nvPicPr>
        <p:blipFill>
          <a:blip r:embed="rId2"/>
          <a:stretch>
            <a:fillRect/>
          </a:stretch>
        </p:blipFill>
        <p:spPr>
          <a:xfrm>
            <a:off x="1922584" y="1152327"/>
            <a:ext cx="7579971" cy="5705673"/>
          </a:xfrm>
          <a:prstGeom prst="rect">
            <a:avLst/>
          </a:prstGeom>
        </p:spPr>
      </p:pic>
    </p:spTree>
    <p:extLst>
      <p:ext uri="{BB962C8B-B14F-4D97-AF65-F5344CB8AC3E}">
        <p14:creationId xmlns:p14="http://schemas.microsoft.com/office/powerpoint/2010/main" val="1456950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8731-0013-CB34-EE8A-B1BAE3827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A2470-1231-0685-15BB-D384E18AE24A}"/>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96C92FD1-389A-5297-FF28-BE25A1138080}"/>
              </a:ext>
            </a:extLst>
          </p:cNvPr>
          <p:cNvPicPr>
            <a:picLocks noChangeAspect="1"/>
          </p:cNvPicPr>
          <p:nvPr/>
        </p:nvPicPr>
        <p:blipFill>
          <a:blip r:embed="rId2"/>
          <a:stretch>
            <a:fillRect/>
          </a:stretch>
        </p:blipFill>
        <p:spPr>
          <a:xfrm>
            <a:off x="1922584" y="1152327"/>
            <a:ext cx="7579971" cy="5705673"/>
          </a:xfrm>
          <a:prstGeom prst="rect">
            <a:avLst/>
          </a:prstGeom>
        </p:spPr>
      </p:pic>
      <p:sp>
        <p:nvSpPr>
          <p:cNvPr id="3" name="Oval 2">
            <a:extLst>
              <a:ext uri="{FF2B5EF4-FFF2-40B4-BE49-F238E27FC236}">
                <a16:creationId xmlns:a16="http://schemas.microsoft.com/office/drawing/2014/main" id="{1034B549-A6ED-81C5-EAD8-153F533AA3C1}"/>
              </a:ext>
            </a:extLst>
          </p:cNvPr>
          <p:cNvSpPr/>
          <p:nvPr/>
        </p:nvSpPr>
        <p:spPr>
          <a:xfrm>
            <a:off x="2184935" y="4822257"/>
            <a:ext cx="2021305" cy="3850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34695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31E08-712F-6B96-E087-9BB06A54D9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8377DD6-CF46-C4E7-FB4F-9C8E0B915DB9}"/>
              </a:ext>
            </a:extLst>
          </p:cNvPr>
          <p:cNvPicPr>
            <a:picLocks noChangeAspect="1"/>
          </p:cNvPicPr>
          <p:nvPr/>
        </p:nvPicPr>
        <p:blipFill>
          <a:blip r:embed="rId2"/>
          <a:stretch>
            <a:fillRect/>
          </a:stretch>
        </p:blipFill>
        <p:spPr>
          <a:xfrm>
            <a:off x="1463041" y="881967"/>
            <a:ext cx="8864335" cy="5976033"/>
          </a:xfrm>
          <a:prstGeom prst="rect">
            <a:avLst/>
          </a:prstGeom>
        </p:spPr>
      </p:pic>
      <p:sp>
        <p:nvSpPr>
          <p:cNvPr id="2" name="Title 1">
            <a:extLst>
              <a:ext uri="{FF2B5EF4-FFF2-40B4-BE49-F238E27FC236}">
                <a16:creationId xmlns:a16="http://schemas.microsoft.com/office/drawing/2014/main" id="{04CFABAC-FB10-C7DD-581A-178DE0E7A699}"/>
              </a:ext>
            </a:extLst>
          </p:cNvPr>
          <p:cNvSpPr>
            <a:spLocks noGrp="1"/>
          </p:cNvSpPr>
          <p:nvPr>
            <p:ph type="title"/>
          </p:nvPr>
        </p:nvSpPr>
        <p:spPr>
          <a:xfrm>
            <a:off x="838200" y="46038"/>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5B823866-4334-00AF-63A0-C90B867B33E6}"/>
              </a:ext>
            </a:extLst>
          </p:cNvPr>
          <p:cNvSpPr/>
          <p:nvPr/>
        </p:nvSpPr>
        <p:spPr>
          <a:xfrm>
            <a:off x="2243384" y="5495780"/>
            <a:ext cx="715282" cy="39488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307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54709-9D6C-74C1-9825-D064554A933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C7C5A8-D5F4-323F-C448-7EBF1818F8E6}"/>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867E5096-1339-0149-700B-685FA370C240}"/>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9D8130BE-A478-4EBB-7D30-24480A0D4A3E}"/>
              </a:ext>
            </a:extLst>
          </p:cNvPr>
          <p:cNvSpPr/>
          <p:nvPr/>
        </p:nvSpPr>
        <p:spPr>
          <a:xfrm>
            <a:off x="5014762" y="3710210"/>
            <a:ext cx="596768" cy="24253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687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80821-A0D0-7382-6A9B-34C795A1C7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B0C8B6A-654C-4F8B-CA26-319AC5C78D22}"/>
              </a:ext>
            </a:extLst>
          </p:cNvPr>
          <p:cNvPicPr>
            <a:picLocks noChangeAspect="1"/>
          </p:cNvPicPr>
          <p:nvPr/>
        </p:nvPicPr>
        <p:blipFill>
          <a:blip r:embed="rId2"/>
          <a:stretch>
            <a:fillRect/>
          </a:stretch>
        </p:blipFill>
        <p:spPr>
          <a:xfrm>
            <a:off x="838200" y="1532319"/>
            <a:ext cx="9173855" cy="5182323"/>
          </a:xfrm>
          <a:prstGeom prst="rect">
            <a:avLst/>
          </a:prstGeom>
        </p:spPr>
      </p:pic>
      <p:sp>
        <p:nvSpPr>
          <p:cNvPr id="2" name="Title 1">
            <a:extLst>
              <a:ext uri="{FF2B5EF4-FFF2-40B4-BE49-F238E27FC236}">
                <a16:creationId xmlns:a16="http://schemas.microsoft.com/office/drawing/2014/main" id="{4D95F086-82EC-4EBE-939E-98D65C56BB45}"/>
              </a:ext>
            </a:extLst>
          </p:cNvPr>
          <p:cNvSpPr>
            <a:spLocks noGrp="1"/>
          </p:cNvSpPr>
          <p:nvPr>
            <p:ph type="title"/>
          </p:nvPr>
        </p:nvSpPr>
        <p:spPr/>
        <p:txBody>
          <a:bodyPr>
            <a:normAutofit fontScale="90000"/>
          </a:bodyPr>
          <a:lstStyle/>
          <a:p>
            <a:r>
              <a:rPr lang="en-US" dirty="0"/>
              <a:t>Finding information at </a:t>
            </a:r>
            <a:r>
              <a:rPr lang="en-US" dirty="0" err="1"/>
              <a:t>NCBI:GenBank</a:t>
            </a:r>
            <a:r>
              <a:rPr lang="en-US" dirty="0"/>
              <a:t>/RefSeq</a:t>
            </a:r>
          </a:p>
        </p:txBody>
      </p:sp>
      <p:sp>
        <p:nvSpPr>
          <p:cNvPr id="3" name="TextBox 2">
            <a:extLst>
              <a:ext uri="{FF2B5EF4-FFF2-40B4-BE49-F238E27FC236}">
                <a16:creationId xmlns:a16="http://schemas.microsoft.com/office/drawing/2014/main" id="{6AF7E0AB-E8E1-1781-0DCA-A251F8A4908D}"/>
              </a:ext>
            </a:extLst>
          </p:cNvPr>
          <p:cNvSpPr txBox="1"/>
          <p:nvPr/>
        </p:nvSpPr>
        <p:spPr>
          <a:xfrm>
            <a:off x="6597446" y="3303638"/>
            <a:ext cx="4156694" cy="2031325"/>
          </a:xfrm>
          <a:prstGeom prst="rect">
            <a:avLst/>
          </a:prstGeom>
          <a:noFill/>
        </p:spPr>
        <p:txBody>
          <a:bodyPr wrap="square" rtlCol="0">
            <a:spAutoFit/>
          </a:bodyPr>
          <a:lstStyle/>
          <a:p>
            <a:r>
              <a:rPr lang="en-US" dirty="0"/>
              <a:t>Right-click on the link and choose “Copy link”</a:t>
            </a:r>
          </a:p>
          <a:p>
            <a:endParaRPr lang="en-US" dirty="0"/>
          </a:p>
          <a:p>
            <a:r>
              <a:rPr lang="en-US" dirty="0"/>
              <a:t>Then go to your terminal and type </a:t>
            </a:r>
            <a:r>
              <a:rPr lang="en-US" dirty="0" err="1"/>
              <a:t>wget</a:t>
            </a:r>
            <a:r>
              <a:rPr lang="en-US" dirty="0"/>
              <a:t> and paste the link:</a:t>
            </a:r>
          </a:p>
          <a:p>
            <a:endParaRPr lang="en-US" dirty="0"/>
          </a:p>
          <a:p>
            <a:r>
              <a:rPr lang="en-US" dirty="0" err="1"/>
              <a:t>wget</a:t>
            </a:r>
            <a:r>
              <a:rPr lang="en-US" dirty="0"/>
              <a:t> </a:t>
            </a:r>
            <a:r>
              <a:rPr lang="en-US" dirty="0" err="1"/>
              <a:t>paste_the_link_here</a:t>
            </a:r>
            <a:endParaRPr lang="en-US" dirty="0"/>
          </a:p>
        </p:txBody>
      </p:sp>
    </p:spTree>
    <p:extLst>
      <p:ext uri="{BB962C8B-B14F-4D97-AF65-F5344CB8AC3E}">
        <p14:creationId xmlns:p14="http://schemas.microsoft.com/office/powerpoint/2010/main" val="2705712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C4F91-B837-09C4-B1FB-D1E02E8D04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BB14AC-5308-EB21-2703-44C3F3C290A5}"/>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848332C3-8217-7D62-5214-9A07F22116C2}"/>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E8872B2C-60E3-C460-5C3B-B7310B5FB6AB}"/>
              </a:ext>
            </a:extLst>
          </p:cNvPr>
          <p:cNvSpPr/>
          <p:nvPr/>
        </p:nvSpPr>
        <p:spPr>
          <a:xfrm>
            <a:off x="3205212" y="3710210"/>
            <a:ext cx="596768" cy="24253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89101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86214-ABA1-2359-8DED-B7BA619E0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C0D0D-FFF4-EE0B-C3FB-3AE8BC574DEE}"/>
              </a:ext>
            </a:extLst>
          </p:cNvPr>
          <p:cNvSpPr>
            <a:spLocks noGrp="1"/>
          </p:cNvSpPr>
          <p:nvPr>
            <p:ph type="title"/>
          </p:nvPr>
        </p:nvSpPr>
        <p:spPr>
          <a:xfrm>
            <a:off x="838200" y="0"/>
            <a:ext cx="10515600" cy="1325563"/>
          </a:xfrm>
        </p:spPr>
        <p:txBody>
          <a:bodyPr/>
          <a:lstStyle/>
          <a:p>
            <a:r>
              <a:rPr lang="en-US" dirty="0"/>
              <a:t>Finding information at </a:t>
            </a:r>
            <a:r>
              <a:rPr lang="en-US" dirty="0" err="1"/>
              <a:t>NCBI:GenBank</a:t>
            </a:r>
            <a:r>
              <a:rPr lang="en-US" dirty="0"/>
              <a:t>/RefSeq</a:t>
            </a:r>
          </a:p>
        </p:txBody>
      </p:sp>
      <p:pic>
        <p:nvPicPr>
          <p:cNvPr id="5" name="Picture 4">
            <a:extLst>
              <a:ext uri="{FF2B5EF4-FFF2-40B4-BE49-F238E27FC236}">
                <a16:creationId xmlns:a16="http://schemas.microsoft.com/office/drawing/2014/main" id="{890FB72E-7C96-D110-C2C4-144854C6B941}"/>
              </a:ext>
            </a:extLst>
          </p:cNvPr>
          <p:cNvPicPr>
            <a:picLocks noChangeAspect="1"/>
          </p:cNvPicPr>
          <p:nvPr/>
        </p:nvPicPr>
        <p:blipFill>
          <a:blip r:embed="rId2"/>
          <a:stretch>
            <a:fillRect/>
          </a:stretch>
        </p:blipFill>
        <p:spPr>
          <a:xfrm>
            <a:off x="838200" y="1191695"/>
            <a:ext cx="7074296" cy="5666305"/>
          </a:xfrm>
          <a:prstGeom prst="rect">
            <a:avLst/>
          </a:prstGeom>
        </p:spPr>
      </p:pic>
    </p:spTree>
    <p:extLst>
      <p:ext uri="{BB962C8B-B14F-4D97-AF65-F5344CB8AC3E}">
        <p14:creationId xmlns:p14="http://schemas.microsoft.com/office/powerpoint/2010/main" val="31085495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BA25E-9179-C903-9036-FA6AC0BDD34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737F84-A7F4-ED5E-8C2C-44E4E7CB0C4C}"/>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4F3FF5ED-886A-5507-3EE8-4F86C2AEEED5}"/>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D52E205C-3C39-434D-153E-1679E29ED3FD}"/>
              </a:ext>
            </a:extLst>
          </p:cNvPr>
          <p:cNvSpPr/>
          <p:nvPr/>
        </p:nvSpPr>
        <p:spPr>
          <a:xfrm>
            <a:off x="7517329" y="4124096"/>
            <a:ext cx="596768" cy="60190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05472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2952A-C249-6998-9016-D01BE521698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1365C9D-F98A-F6DA-6994-636F8304EF3B}"/>
              </a:ext>
            </a:extLst>
          </p:cNvPr>
          <p:cNvPicPr>
            <a:picLocks noChangeAspect="1"/>
          </p:cNvPicPr>
          <p:nvPr/>
        </p:nvPicPr>
        <p:blipFill>
          <a:blip r:embed="rId2"/>
          <a:stretch>
            <a:fillRect/>
          </a:stretch>
        </p:blipFill>
        <p:spPr>
          <a:xfrm>
            <a:off x="2685448" y="1001742"/>
            <a:ext cx="8228658" cy="5856257"/>
          </a:xfrm>
          <a:prstGeom prst="rect">
            <a:avLst/>
          </a:prstGeom>
        </p:spPr>
      </p:pic>
      <p:sp>
        <p:nvSpPr>
          <p:cNvPr id="2" name="Title 1">
            <a:extLst>
              <a:ext uri="{FF2B5EF4-FFF2-40B4-BE49-F238E27FC236}">
                <a16:creationId xmlns:a16="http://schemas.microsoft.com/office/drawing/2014/main" id="{D095E68E-7A7D-50BC-54B9-7FB8C8634F1F}"/>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7E121A6F-FE36-B09A-C9DD-F5B3FFE6BE69}"/>
              </a:ext>
            </a:extLst>
          </p:cNvPr>
          <p:cNvSpPr/>
          <p:nvPr/>
        </p:nvSpPr>
        <p:spPr>
          <a:xfrm>
            <a:off x="7517328" y="5082138"/>
            <a:ext cx="1989223" cy="40426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55120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0E2B-EFC9-6F76-C19E-BEB450F19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CF337-93DC-90B2-DDA6-23BA092860BA}"/>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3DC0B8B3-AB55-620D-51C4-BA1E2EB5B5BF}"/>
              </a:ext>
            </a:extLst>
          </p:cNvPr>
          <p:cNvPicPr>
            <a:picLocks noChangeAspect="1"/>
          </p:cNvPicPr>
          <p:nvPr/>
        </p:nvPicPr>
        <p:blipFill>
          <a:blip r:embed="rId2"/>
          <a:stretch>
            <a:fillRect/>
          </a:stretch>
        </p:blipFill>
        <p:spPr>
          <a:xfrm>
            <a:off x="1922584" y="1152327"/>
            <a:ext cx="7579971" cy="5705673"/>
          </a:xfrm>
          <a:prstGeom prst="rect">
            <a:avLst/>
          </a:prstGeom>
        </p:spPr>
      </p:pic>
      <p:sp>
        <p:nvSpPr>
          <p:cNvPr id="3" name="Oval 2">
            <a:extLst>
              <a:ext uri="{FF2B5EF4-FFF2-40B4-BE49-F238E27FC236}">
                <a16:creationId xmlns:a16="http://schemas.microsoft.com/office/drawing/2014/main" id="{CDE8FF6E-1E27-312E-A4AA-23CB8865371C}"/>
              </a:ext>
            </a:extLst>
          </p:cNvPr>
          <p:cNvSpPr/>
          <p:nvPr/>
        </p:nvSpPr>
        <p:spPr>
          <a:xfrm>
            <a:off x="2252313" y="6006164"/>
            <a:ext cx="2348564" cy="3850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4945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41EF-6BB9-B23D-CB93-38E78C443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A6EB5-5715-229F-F801-F84E41C25102}"/>
              </a:ext>
            </a:extLst>
          </p:cNvPr>
          <p:cNvSpPr>
            <a:spLocks noGrp="1"/>
          </p:cNvSpPr>
          <p:nvPr>
            <p:ph type="title"/>
          </p:nvPr>
        </p:nvSpPr>
        <p:spPr/>
        <p:txBody>
          <a:bodyPr>
            <a:normAutofit fontScale="90000"/>
          </a:bodyPr>
          <a:lstStyle/>
          <a:p>
            <a:r>
              <a:rPr lang="en-US" dirty="0"/>
              <a:t>Finding information at NCBI:SRA</a:t>
            </a:r>
          </a:p>
        </p:txBody>
      </p:sp>
      <p:pic>
        <p:nvPicPr>
          <p:cNvPr id="7" name="Picture 6">
            <a:extLst>
              <a:ext uri="{FF2B5EF4-FFF2-40B4-BE49-F238E27FC236}">
                <a16:creationId xmlns:a16="http://schemas.microsoft.com/office/drawing/2014/main" id="{107A1B0D-B7B7-1112-0E9F-9CFC2B7FFC4C}"/>
              </a:ext>
            </a:extLst>
          </p:cNvPr>
          <p:cNvPicPr>
            <a:picLocks noChangeAspect="1"/>
          </p:cNvPicPr>
          <p:nvPr/>
        </p:nvPicPr>
        <p:blipFill>
          <a:blip r:embed="rId2"/>
          <a:stretch>
            <a:fillRect/>
          </a:stretch>
        </p:blipFill>
        <p:spPr>
          <a:xfrm>
            <a:off x="509286" y="1270722"/>
            <a:ext cx="7810656" cy="5587278"/>
          </a:xfrm>
          <a:prstGeom prst="rect">
            <a:avLst/>
          </a:prstGeom>
        </p:spPr>
      </p:pic>
    </p:spTree>
    <p:extLst>
      <p:ext uri="{BB962C8B-B14F-4D97-AF65-F5344CB8AC3E}">
        <p14:creationId xmlns:p14="http://schemas.microsoft.com/office/powerpoint/2010/main" val="11480856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38AF-3490-19F6-2FB0-7C6EB9FD5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41F1C-4F6D-021A-4163-379DDAEE1516}"/>
              </a:ext>
            </a:extLst>
          </p:cNvPr>
          <p:cNvSpPr>
            <a:spLocks noGrp="1"/>
          </p:cNvSpPr>
          <p:nvPr>
            <p:ph type="title"/>
          </p:nvPr>
        </p:nvSpPr>
        <p:spPr/>
        <p:txBody>
          <a:bodyPr>
            <a:normAutofit fontScale="90000"/>
          </a:bodyPr>
          <a:lstStyle/>
          <a:p>
            <a:r>
              <a:rPr lang="en-US" dirty="0"/>
              <a:t>Finding information at NCBI:SRA</a:t>
            </a:r>
          </a:p>
        </p:txBody>
      </p:sp>
      <p:pic>
        <p:nvPicPr>
          <p:cNvPr id="4" name="Picture 3">
            <a:extLst>
              <a:ext uri="{FF2B5EF4-FFF2-40B4-BE49-F238E27FC236}">
                <a16:creationId xmlns:a16="http://schemas.microsoft.com/office/drawing/2014/main" id="{92B94F8A-9B17-E719-73A0-0E896BA495FA}"/>
              </a:ext>
            </a:extLst>
          </p:cNvPr>
          <p:cNvPicPr>
            <a:picLocks noChangeAspect="1"/>
          </p:cNvPicPr>
          <p:nvPr/>
        </p:nvPicPr>
        <p:blipFill>
          <a:blip r:embed="rId2"/>
          <a:stretch>
            <a:fillRect/>
          </a:stretch>
        </p:blipFill>
        <p:spPr>
          <a:xfrm>
            <a:off x="838200" y="1292787"/>
            <a:ext cx="6533387" cy="5565213"/>
          </a:xfrm>
          <a:prstGeom prst="rect">
            <a:avLst/>
          </a:prstGeom>
        </p:spPr>
      </p:pic>
      <p:sp>
        <p:nvSpPr>
          <p:cNvPr id="5" name="Oval 4">
            <a:extLst>
              <a:ext uri="{FF2B5EF4-FFF2-40B4-BE49-F238E27FC236}">
                <a16:creationId xmlns:a16="http://schemas.microsoft.com/office/drawing/2014/main" id="{C8B643CA-3921-8D7F-DCDB-F4D903BA76DB}"/>
              </a:ext>
            </a:extLst>
          </p:cNvPr>
          <p:cNvSpPr/>
          <p:nvPr/>
        </p:nvSpPr>
        <p:spPr>
          <a:xfrm>
            <a:off x="297522" y="6215083"/>
            <a:ext cx="2504326" cy="2777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8856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A8D36-59D4-CC4F-682A-C317B7193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16BC5-CFD8-20A7-082B-759158F0E204}"/>
              </a:ext>
            </a:extLst>
          </p:cNvPr>
          <p:cNvSpPr>
            <a:spLocks noGrp="1"/>
          </p:cNvSpPr>
          <p:nvPr>
            <p:ph type="title"/>
          </p:nvPr>
        </p:nvSpPr>
        <p:spPr>
          <a:xfrm>
            <a:off x="293210" y="248424"/>
            <a:ext cx="6108200" cy="890001"/>
          </a:xfrm>
        </p:spPr>
        <p:txBody>
          <a:bodyPr>
            <a:normAutofit fontScale="90000"/>
          </a:bodyPr>
          <a:lstStyle/>
          <a:p>
            <a:r>
              <a:rPr lang="en-US" dirty="0"/>
              <a:t>Downloading data from NCBI SRA: small sets</a:t>
            </a:r>
          </a:p>
        </p:txBody>
      </p:sp>
      <p:pic>
        <p:nvPicPr>
          <p:cNvPr id="6" name="Picture 5">
            <a:extLst>
              <a:ext uri="{FF2B5EF4-FFF2-40B4-BE49-F238E27FC236}">
                <a16:creationId xmlns:a16="http://schemas.microsoft.com/office/drawing/2014/main" id="{43F1CB35-29C7-1D37-5BFB-EA108B6D3834}"/>
              </a:ext>
            </a:extLst>
          </p:cNvPr>
          <p:cNvPicPr>
            <a:picLocks noChangeAspect="1"/>
          </p:cNvPicPr>
          <p:nvPr/>
        </p:nvPicPr>
        <p:blipFill>
          <a:blip r:embed="rId2"/>
          <a:stretch>
            <a:fillRect/>
          </a:stretch>
        </p:blipFill>
        <p:spPr>
          <a:xfrm>
            <a:off x="838200" y="1374185"/>
            <a:ext cx="5977006" cy="5483815"/>
          </a:xfrm>
          <a:prstGeom prst="rect">
            <a:avLst/>
          </a:prstGeom>
        </p:spPr>
      </p:pic>
      <p:sp>
        <p:nvSpPr>
          <p:cNvPr id="7" name="Content Placeholder 2">
            <a:extLst>
              <a:ext uri="{FF2B5EF4-FFF2-40B4-BE49-F238E27FC236}">
                <a16:creationId xmlns:a16="http://schemas.microsoft.com/office/drawing/2014/main" id="{63CC1BA8-4EB9-0A2D-3E75-EDDAFCFBCA5B}"/>
              </a:ext>
            </a:extLst>
          </p:cNvPr>
          <p:cNvSpPr>
            <a:spLocks noGrp="1"/>
          </p:cNvSpPr>
          <p:nvPr>
            <p:ph idx="1"/>
          </p:nvPr>
        </p:nvSpPr>
        <p:spPr>
          <a:xfrm>
            <a:off x="7036904" y="1374185"/>
            <a:ext cx="4850296" cy="5291658"/>
          </a:xfrm>
        </p:spPr>
        <p:txBody>
          <a:bodyPr/>
          <a:lstStyle/>
          <a:p>
            <a:r>
              <a:rPr lang="en-US" dirty="0"/>
              <a:t>Using GUI at NCBI is the easiest way to download </a:t>
            </a:r>
            <a:r>
              <a:rPr lang="en-US" i="1" u="sng" dirty="0"/>
              <a:t>small</a:t>
            </a:r>
            <a:r>
              <a:rPr lang="en-US" dirty="0"/>
              <a:t> data sets</a:t>
            </a:r>
          </a:p>
          <a:p>
            <a:endParaRPr lang="en-US" dirty="0"/>
          </a:p>
          <a:p>
            <a:r>
              <a:rPr lang="en-US" dirty="0"/>
              <a:t>For most data you have to use NCBI SRA toolkit</a:t>
            </a:r>
          </a:p>
          <a:p>
            <a:endParaRPr lang="en-US" dirty="0"/>
          </a:p>
        </p:txBody>
      </p:sp>
    </p:spTree>
    <p:extLst>
      <p:ext uri="{BB962C8B-B14F-4D97-AF65-F5344CB8AC3E}">
        <p14:creationId xmlns:p14="http://schemas.microsoft.com/office/powerpoint/2010/main" val="24264943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660C1-ACCA-6E3A-6513-88158CFE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38D85-A784-2341-84D1-3DE5A776DD4D}"/>
              </a:ext>
            </a:extLst>
          </p:cNvPr>
          <p:cNvSpPr>
            <a:spLocks noGrp="1"/>
          </p:cNvSpPr>
          <p:nvPr>
            <p:ph type="title"/>
          </p:nvPr>
        </p:nvSpPr>
        <p:spPr/>
        <p:txBody>
          <a:bodyPr>
            <a:normAutofit fontScale="90000"/>
          </a:bodyPr>
          <a:lstStyle/>
          <a:p>
            <a:r>
              <a:rPr lang="en-US" dirty="0"/>
              <a:t>Downloading data from NCBI SRA</a:t>
            </a:r>
          </a:p>
        </p:txBody>
      </p:sp>
      <p:pic>
        <p:nvPicPr>
          <p:cNvPr id="4" name="Picture 3">
            <a:extLst>
              <a:ext uri="{FF2B5EF4-FFF2-40B4-BE49-F238E27FC236}">
                <a16:creationId xmlns:a16="http://schemas.microsoft.com/office/drawing/2014/main" id="{01129253-50B7-ADB4-F708-36FCD07E3720}"/>
              </a:ext>
            </a:extLst>
          </p:cNvPr>
          <p:cNvPicPr>
            <a:picLocks noChangeAspect="1"/>
          </p:cNvPicPr>
          <p:nvPr/>
        </p:nvPicPr>
        <p:blipFill>
          <a:blip r:embed="rId2"/>
          <a:stretch>
            <a:fillRect/>
          </a:stretch>
        </p:blipFill>
        <p:spPr>
          <a:xfrm>
            <a:off x="838200" y="1292787"/>
            <a:ext cx="6533387" cy="5565213"/>
          </a:xfrm>
          <a:prstGeom prst="rect">
            <a:avLst/>
          </a:prstGeom>
        </p:spPr>
      </p:pic>
      <p:sp>
        <p:nvSpPr>
          <p:cNvPr id="5" name="Oval 4">
            <a:extLst>
              <a:ext uri="{FF2B5EF4-FFF2-40B4-BE49-F238E27FC236}">
                <a16:creationId xmlns:a16="http://schemas.microsoft.com/office/drawing/2014/main" id="{D6F25B4E-4DA0-3E13-DAFB-199C5AB51E8B}"/>
              </a:ext>
            </a:extLst>
          </p:cNvPr>
          <p:cNvSpPr/>
          <p:nvPr/>
        </p:nvSpPr>
        <p:spPr>
          <a:xfrm>
            <a:off x="297522" y="6215083"/>
            <a:ext cx="2504326" cy="2777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34981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837C6-B491-FA46-A113-93E8779E0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8BD6B-EEC6-E171-B18C-1B4C3E864108}"/>
              </a:ext>
            </a:extLst>
          </p:cNvPr>
          <p:cNvSpPr>
            <a:spLocks noGrp="1"/>
          </p:cNvSpPr>
          <p:nvPr>
            <p:ph type="title"/>
          </p:nvPr>
        </p:nvSpPr>
        <p:spPr>
          <a:xfrm>
            <a:off x="293210" y="374900"/>
            <a:ext cx="10972800" cy="458115"/>
          </a:xfrm>
        </p:spPr>
        <p:txBody>
          <a:bodyPr>
            <a:normAutofit fontScale="90000"/>
          </a:bodyPr>
          <a:lstStyle/>
          <a:p>
            <a:r>
              <a:rPr lang="en-US" dirty="0"/>
              <a:t>Using fastq-dump (part of </a:t>
            </a:r>
            <a:r>
              <a:rPr lang="en-US" dirty="0" err="1"/>
              <a:t>sratoolkit</a:t>
            </a:r>
            <a:r>
              <a:rPr lang="en-US" dirty="0"/>
              <a:t>)</a:t>
            </a:r>
          </a:p>
        </p:txBody>
      </p:sp>
      <p:sp>
        <p:nvSpPr>
          <p:cNvPr id="3" name="Content Placeholder 2">
            <a:extLst>
              <a:ext uri="{FF2B5EF4-FFF2-40B4-BE49-F238E27FC236}">
                <a16:creationId xmlns:a16="http://schemas.microsoft.com/office/drawing/2014/main" id="{C5D4E390-F9CE-F057-E341-C3B79C05DE55}"/>
              </a:ext>
            </a:extLst>
          </p:cNvPr>
          <p:cNvSpPr>
            <a:spLocks noGrp="1"/>
          </p:cNvSpPr>
          <p:nvPr>
            <p:ph idx="1"/>
          </p:nvPr>
        </p:nvSpPr>
        <p:spPr>
          <a:xfrm>
            <a:off x="105877" y="1540042"/>
            <a:ext cx="10571273" cy="4943058"/>
          </a:xfrm>
        </p:spPr>
        <p:txBody>
          <a:bodyPr>
            <a:noAutofit/>
          </a:bodyPr>
          <a:lstStyle/>
          <a:p>
            <a:endParaRPr lang="en-US" sz="2400" i="1" dirty="0"/>
          </a:p>
          <a:p>
            <a:r>
              <a:rPr lang="en-US" sz="2400" i="1" dirty="0" err="1"/>
              <a:t>sratoolkit</a:t>
            </a:r>
            <a:r>
              <a:rPr lang="en-US" sz="2400" i="1" dirty="0"/>
              <a:t> </a:t>
            </a:r>
            <a:r>
              <a:rPr lang="en-US" sz="2400" dirty="0"/>
              <a:t>is available from NCBI</a:t>
            </a:r>
          </a:p>
          <a:p>
            <a:r>
              <a:rPr lang="en-US" sz="2400" i="1" dirty="0"/>
              <a:t>fastq-dump </a:t>
            </a:r>
            <a:r>
              <a:rPr lang="en-US" sz="2400" dirty="0"/>
              <a:t>is used to get data from NCBI SRA</a:t>
            </a:r>
          </a:p>
          <a:p>
            <a:r>
              <a:rPr lang="en-US" sz="2400" dirty="0"/>
              <a:t>fastq-dump </a:t>
            </a:r>
            <a:r>
              <a:rPr lang="en-US" sz="2400" dirty="0">
                <a:solidFill>
                  <a:srgbClr val="FF0000"/>
                </a:solidFill>
              </a:rPr>
              <a:t>--split-3 </a:t>
            </a:r>
            <a:r>
              <a:rPr lang="en-US" sz="2400" dirty="0"/>
              <a:t>SRRXXXXXXXX</a:t>
            </a:r>
          </a:p>
          <a:p>
            <a:pPr marL="0" indent="0">
              <a:buNone/>
            </a:pPr>
            <a:endParaRPr lang="en-US" sz="2400" dirty="0"/>
          </a:p>
          <a:p>
            <a:pPr marL="0" indent="0">
              <a:buNone/>
            </a:pPr>
            <a:r>
              <a:rPr lang="en-US" sz="2400" dirty="0"/>
              <a:t>Produces files: </a:t>
            </a:r>
          </a:p>
          <a:p>
            <a:pPr marL="0" indent="0">
              <a:buNone/>
            </a:pPr>
            <a:r>
              <a:rPr lang="en-US" sz="2400" dirty="0"/>
              <a:t>	SRRXXXXXXXX_1.fastq – Illumina paired end forward reads</a:t>
            </a:r>
          </a:p>
          <a:p>
            <a:pPr marL="0" indent="0">
              <a:buNone/>
            </a:pPr>
            <a:r>
              <a:rPr lang="en-US" sz="2400" dirty="0"/>
              <a:t>	SRRXXXXXXXX_2.fastq and/or – Illumina paired end reverse reads</a:t>
            </a:r>
          </a:p>
          <a:p>
            <a:pPr marL="0" indent="0">
              <a:buNone/>
            </a:pPr>
            <a:r>
              <a:rPr lang="en-US" sz="2400" dirty="0"/>
              <a:t>	</a:t>
            </a:r>
            <a:r>
              <a:rPr lang="en-US" sz="2400" dirty="0" err="1"/>
              <a:t>SRRXXXXXXXX.fastq</a:t>
            </a:r>
            <a:r>
              <a:rPr lang="en-US" sz="2400" dirty="0"/>
              <a:t> – single-end reads</a:t>
            </a:r>
          </a:p>
          <a:p>
            <a:pPr marL="457200" lvl="1" indent="0">
              <a:buNone/>
            </a:pPr>
            <a:endParaRPr lang="en-US" sz="1600" dirty="0"/>
          </a:p>
        </p:txBody>
      </p:sp>
    </p:spTree>
    <p:extLst>
      <p:ext uri="{BB962C8B-B14F-4D97-AF65-F5344CB8AC3E}">
        <p14:creationId xmlns:p14="http://schemas.microsoft.com/office/powerpoint/2010/main" val="40988802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E8048-853D-750E-31B1-9792C522E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227AD-2A84-2B14-5AEE-2D5A9B63A4B6}"/>
              </a:ext>
            </a:extLst>
          </p:cNvPr>
          <p:cNvSpPr>
            <a:spLocks noGrp="1"/>
          </p:cNvSpPr>
          <p:nvPr>
            <p:ph type="title"/>
          </p:nvPr>
        </p:nvSpPr>
        <p:spPr/>
        <p:txBody>
          <a:bodyPr>
            <a:normAutofit fontScale="90000"/>
          </a:bodyPr>
          <a:lstStyle/>
          <a:p>
            <a:r>
              <a:rPr lang="en-US"/>
              <a:t>Coverage</a:t>
            </a:r>
          </a:p>
        </p:txBody>
      </p:sp>
      <p:sp>
        <p:nvSpPr>
          <p:cNvPr id="3" name="Content Placeholder 2">
            <a:extLst>
              <a:ext uri="{FF2B5EF4-FFF2-40B4-BE49-F238E27FC236}">
                <a16:creationId xmlns:a16="http://schemas.microsoft.com/office/drawing/2014/main" id="{645D79CF-5916-9E01-4001-3B0D9D86EF62}"/>
              </a:ext>
            </a:extLst>
          </p:cNvPr>
          <p:cNvSpPr>
            <a:spLocks noGrp="1"/>
          </p:cNvSpPr>
          <p:nvPr>
            <p:ph idx="1"/>
          </p:nvPr>
        </p:nvSpPr>
        <p:spPr>
          <a:xfrm>
            <a:off x="598620" y="1596540"/>
            <a:ext cx="10972800" cy="4581150"/>
          </a:xfrm>
        </p:spPr>
        <p:txBody>
          <a:bodyPr/>
          <a:lstStyle/>
          <a:p>
            <a:r>
              <a:rPr lang="en-US"/>
              <a:t>Coverage refers to redundancy in sequencing data</a:t>
            </a:r>
          </a:p>
          <a:p>
            <a:endParaRPr lang="en-US"/>
          </a:p>
          <a:p>
            <a:pPr marL="0" indent="0">
              <a:buNone/>
            </a:pPr>
            <a:endParaRPr lang="en-US"/>
          </a:p>
          <a:p>
            <a:pPr marL="0" indent="0">
              <a:buNone/>
            </a:pPr>
            <a:endParaRPr lang="en-US"/>
          </a:p>
          <a:p>
            <a:r>
              <a:rPr lang="en-US"/>
              <a:t>Commonly expressed as &lt;number&gt;x, such as 20x, 30x, etc.</a:t>
            </a:r>
          </a:p>
          <a:p>
            <a:r>
              <a:rPr lang="en-US"/>
              <a:t>For paired reads one can compute coverage by reads and coverage by fragments</a:t>
            </a:r>
          </a:p>
        </p:txBody>
      </p:sp>
      <p:sp>
        <p:nvSpPr>
          <p:cNvPr id="4" name="Slide Number Placeholder 3">
            <a:extLst>
              <a:ext uri="{FF2B5EF4-FFF2-40B4-BE49-F238E27FC236}">
                <a16:creationId xmlns:a16="http://schemas.microsoft.com/office/drawing/2014/main" id="{60D94EA5-3C41-BDF0-1BAC-61FF965F00FF}"/>
              </a:ext>
            </a:extLst>
          </p:cNvPr>
          <p:cNvSpPr>
            <a:spLocks noGrp="1"/>
          </p:cNvSpPr>
          <p:nvPr>
            <p:ph type="sldNum" sz="quarter" idx="12"/>
          </p:nvPr>
        </p:nvSpPr>
        <p:spPr/>
        <p:txBody>
          <a:bodyPr/>
          <a:lstStyle/>
          <a:p>
            <a:fld id="{B82CCC60-E8CD-4174-8B1A-7DF615B22EEF}" type="slidenum">
              <a:rPr lang="en-US" smtClean="0"/>
              <a:pPr/>
              <a:t>55</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56C3B42-F3B3-057A-4515-B6C4F28F87A2}"/>
                  </a:ext>
                </a:extLst>
              </p:cNvPr>
              <p:cNvSpPr txBox="1"/>
              <p:nvPr/>
            </p:nvSpPr>
            <p:spPr>
              <a:xfrm>
                <a:off x="1820260" y="2360065"/>
                <a:ext cx="6603526" cy="893578"/>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𝐶𝑜𝑣𝑒𝑟𝑎𝑔𝑒</m:t>
                      </m:r>
                      <m:r>
                        <a:rPr lang="pt-BR" sz="280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𝑇𝑜𝑡𝑎𝑙</m:t>
                          </m:r>
                          <m:r>
                            <a:rPr lang="en-US" sz="2800" b="0" i="1" smtClean="0">
                              <a:latin typeface="Cambria Math" panose="02040503050406030204" pitchFamily="18" charset="0"/>
                            </a:rPr>
                            <m:t> </m:t>
                          </m:r>
                          <m:r>
                            <a:rPr lang="en-US" sz="2800" b="0" i="1" smtClean="0">
                              <a:latin typeface="Cambria Math" panose="02040503050406030204" pitchFamily="18" charset="0"/>
                            </a:rPr>
                            <m:t>𝑠𝑒𝑞𝑢𝑒𝑛𝑐𝑒</m:t>
                          </m:r>
                          <m:r>
                            <a:rPr lang="en-US" sz="2800" b="0" i="1" smtClean="0">
                              <a:latin typeface="Cambria Math" panose="02040503050406030204" pitchFamily="18" charset="0"/>
                            </a:rPr>
                            <m:t> </m:t>
                          </m:r>
                          <m:r>
                            <a:rPr lang="en-US" sz="2800" b="0" i="1" smtClean="0">
                              <a:latin typeface="Cambria Math" panose="02040503050406030204" pitchFamily="18" charset="0"/>
                            </a:rPr>
                            <m:t>𝑖𝑛</m:t>
                          </m:r>
                          <m:r>
                            <a:rPr lang="en-US" sz="2800" b="0" i="1" smtClean="0">
                              <a:latin typeface="Cambria Math" panose="02040503050406030204" pitchFamily="18" charset="0"/>
                            </a:rPr>
                            <m:t> </m:t>
                          </m:r>
                          <m:r>
                            <a:rPr lang="en-US" sz="2800" b="0" i="1" smtClean="0">
                              <a:latin typeface="Cambria Math" panose="02040503050406030204" pitchFamily="18" charset="0"/>
                            </a:rPr>
                            <m:t>𝑟𝑒𝑎𝑑𝑠</m:t>
                          </m:r>
                        </m:num>
                        <m:den>
                          <m:r>
                            <a:rPr lang="en-US" sz="2800" b="0" i="1" smtClean="0">
                              <a:latin typeface="Cambria Math" panose="02040503050406030204" pitchFamily="18" charset="0"/>
                            </a:rPr>
                            <m:t>𝐸𝑠𝑡𝑖𝑚𝑎𝑡𝑒𝑑</m:t>
                          </m:r>
                          <m:r>
                            <a:rPr lang="en-US" sz="2800" b="0" i="1" smtClean="0">
                              <a:latin typeface="Cambria Math" panose="02040503050406030204" pitchFamily="18" charset="0"/>
                            </a:rPr>
                            <m:t> </m:t>
                          </m:r>
                          <m:r>
                            <a:rPr lang="en-US" sz="2800" b="0" i="1" smtClean="0">
                              <a:latin typeface="Cambria Math" panose="02040503050406030204" pitchFamily="18" charset="0"/>
                            </a:rPr>
                            <m:t>𝑔𝑒𝑛𝑜𝑚𝑒</m:t>
                          </m:r>
                          <m:r>
                            <a:rPr lang="en-US" sz="2800" b="0" i="1" smtClean="0">
                              <a:latin typeface="Cambria Math" panose="02040503050406030204" pitchFamily="18" charset="0"/>
                            </a:rPr>
                            <m:t> </m:t>
                          </m:r>
                          <m:r>
                            <a:rPr lang="en-US" sz="2800" b="0" i="1" smtClean="0">
                              <a:latin typeface="Cambria Math" panose="02040503050406030204" pitchFamily="18" charset="0"/>
                            </a:rPr>
                            <m:t>𝑠𝑖𝑧𝑒</m:t>
                          </m:r>
                        </m:den>
                      </m:f>
                    </m:oMath>
                  </m:oMathPara>
                </a14:m>
                <a:endParaRPr lang="en-US" sz="2800"/>
              </a:p>
            </p:txBody>
          </p:sp>
        </mc:Choice>
        <mc:Fallback xmlns="">
          <p:sp>
            <p:nvSpPr>
              <p:cNvPr id="5" name="TextBox 4">
                <a:extLst>
                  <a:ext uri="{FF2B5EF4-FFF2-40B4-BE49-F238E27FC236}">
                    <a16:creationId xmlns:a16="http://schemas.microsoft.com/office/drawing/2014/main" id="{356C3B42-F3B3-057A-4515-B6C4F28F87A2}"/>
                  </a:ext>
                </a:extLst>
              </p:cNvPr>
              <p:cNvSpPr txBox="1">
                <a:spLocks noRot="1" noChangeAspect="1" noMove="1" noResize="1" noEditPoints="1" noAdjustHandles="1" noChangeArrowheads="1" noChangeShapeType="1" noTextEdit="1"/>
              </p:cNvSpPr>
              <p:nvPr/>
            </p:nvSpPr>
            <p:spPr>
              <a:xfrm>
                <a:off x="1820260" y="2360065"/>
                <a:ext cx="6603526" cy="893578"/>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7769C53-BB5D-04DE-ECE6-CE28B6B650F7}"/>
              </a:ext>
            </a:extLst>
          </p:cNvPr>
          <p:cNvSpPr txBox="1"/>
          <p:nvPr/>
        </p:nvSpPr>
        <p:spPr>
          <a:xfrm>
            <a:off x="2657881" y="5620689"/>
            <a:ext cx="6096000" cy="646331"/>
          </a:xfrm>
          <a:prstGeom prst="rect">
            <a:avLst/>
          </a:prstGeom>
          <a:noFill/>
        </p:spPr>
        <p:txBody>
          <a:bodyPr wrap="square">
            <a:spAutoFit/>
          </a:bodyPr>
          <a:lstStyle/>
          <a:p>
            <a:r>
              <a:rPr lang="en-US" b="1">
                <a:solidFill>
                  <a:srgbClr val="00B050"/>
                </a:solidFill>
                <a:latin typeface="Courier New" panose="02070309020205020404" pitchFamily="49" charset="0"/>
                <a:cs typeface="Courier New" panose="02070309020205020404" pitchFamily="49" charset="0"/>
              </a:rPr>
              <a:t>AGATAGACATA</a:t>
            </a:r>
            <a:r>
              <a:rPr lang="en-US" b="1">
                <a:latin typeface="Courier New" panose="02070309020205020404" pitchFamily="49" charset="0"/>
                <a:cs typeface="Courier New" panose="02070309020205020404" pitchFamily="49" charset="0"/>
              </a:rPr>
              <a:t>GACATAGACAGATACACTCGATCG</a:t>
            </a:r>
            <a:br>
              <a:rPr lang="en-US" b="1">
                <a:latin typeface="Courier New" panose="02070309020205020404" pitchFamily="49" charset="0"/>
                <a:cs typeface="Courier New" panose="02070309020205020404" pitchFamily="49" charset="0"/>
              </a:rPr>
            </a:br>
            <a:r>
              <a:rPr lang="en-US" b="1">
                <a:latin typeface="Courier New" panose="02070309020205020404" pitchFamily="49" charset="0"/>
                <a:cs typeface="Courier New" panose="02070309020205020404" pitchFamily="49" charset="0"/>
              </a:rPr>
              <a:t>TCTATCTGTATCTGTATCTGTCTA</a:t>
            </a:r>
            <a:r>
              <a:rPr lang="en-US" b="1">
                <a:solidFill>
                  <a:srgbClr val="00B050"/>
                </a:solidFill>
                <a:latin typeface="Courier New" panose="02070309020205020404" pitchFamily="49" charset="0"/>
                <a:cs typeface="Courier New" panose="02070309020205020404" pitchFamily="49" charset="0"/>
              </a:rPr>
              <a:t>TGTGAGCTAGC</a:t>
            </a:r>
            <a:endParaRPr lang="en-US"/>
          </a:p>
        </p:txBody>
      </p:sp>
      <p:sp>
        <p:nvSpPr>
          <p:cNvPr id="8" name="Left Brace 7">
            <a:extLst>
              <a:ext uri="{FF2B5EF4-FFF2-40B4-BE49-F238E27FC236}">
                <a16:creationId xmlns:a16="http://schemas.microsoft.com/office/drawing/2014/main" id="{91AEFE09-0CE7-6350-1F6B-4EA50667C292}"/>
              </a:ext>
            </a:extLst>
          </p:cNvPr>
          <p:cNvSpPr/>
          <p:nvPr/>
        </p:nvSpPr>
        <p:spPr>
          <a:xfrm rot="5400000">
            <a:off x="3389292" y="4854483"/>
            <a:ext cx="226801" cy="15324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96AEB04B-813C-B78A-DACF-D61D2A6B021E}"/>
              </a:ext>
            </a:extLst>
          </p:cNvPr>
          <p:cNvSpPr/>
          <p:nvPr/>
        </p:nvSpPr>
        <p:spPr>
          <a:xfrm rot="5400000" flipH="1">
            <a:off x="6663394" y="5586252"/>
            <a:ext cx="239557" cy="1374346"/>
          </a:xfrm>
          <a:prstGeom prst="leftBrace">
            <a:avLst>
              <a:gd name="adj1" fmla="val 8333"/>
              <a:gd name="adj2" fmla="val 505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916AB4AA-D522-DD8C-B59F-DE246C01678A}"/>
              </a:ext>
            </a:extLst>
          </p:cNvPr>
          <p:cNvSpPr/>
          <p:nvPr/>
        </p:nvSpPr>
        <p:spPr>
          <a:xfrm rot="5400000">
            <a:off x="4990015" y="2886585"/>
            <a:ext cx="226801" cy="47338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F0586CB9-174D-AE6A-2287-4B440CDE326D}"/>
              </a:ext>
            </a:extLst>
          </p:cNvPr>
          <p:cNvSpPr txBox="1"/>
          <p:nvPr/>
        </p:nvSpPr>
        <p:spPr>
          <a:xfrm>
            <a:off x="3197865" y="5226913"/>
            <a:ext cx="609654" cy="369332"/>
          </a:xfrm>
          <a:prstGeom prst="rect">
            <a:avLst/>
          </a:prstGeom>
          <a:noFill/>
        </p:spPr>
        <p:txBody>
          <a:bodyPr wrap="none" rtlCol="0">
            <a:spAutoFit/>
          </a:bodyPr>
          <a:lstStyle/>
          <a:p>
            <a:r>
              <a:rPr lang="en-US"/>
              <a:t>read</a:t>
            </a:r>
          </a:p>
        </p:txBody>
      </p:sp>
      <p:sp>
        <p:nvSpPr>
          <p:cNvPr id="12" name="TextBox 11">
            <a:extLst>
              <a:ext uri="{FF2B5EF4-FFF2-40B4-BE49-F238E27FC236}">
                <a16:creationId xmlns:a16="http://schemas.microsoft.com/office/drawing/2014/main" id="{00328291-4CAF-3A97-F263-6E4FF2D93458}"/>
              </a:ext>
            </a:extLst>
          </p:cNvPr>
          <p:cNvSpPr txBox="1"/>
          <p:nvPr/>
        </p:nvSpPr>
        <p:spPr>
          <a:xfrm>
            <a:off x="6478345" y="6273425"/>
            <a:ext cx="609654" cy="369332"/>
          </a:xfrm>
          <a:prstGeom prst="rect">
            <a:avLst/>
          </a:prstGeom>
          <a:noFill/>
        </p:spPr>
        <p:txBody>
          <a:bodyPr wrap="none" rtlCol="0">
            <a:spAutoFit/>
          </a:bodyPr>
          <a:lstStyle/>
          <a:p>
            <a:r>
              <a:rPr lang="en-US"/>
              <a:t>read</a:t>
            </a:r>
          </a:p>
        </p:txBody>
      </p:sp>
      <p:sp>
        <p:nvSpPr>
          <p:cNvPr id="13" name="TextBox 12">
            <a:extLst>
              <a:ext uri="{FF2B5EF4-FFF2-40B4-BE49-F238E27FC236}">
                <a16:creationId xmlns:a16="http://schemas.microsoft.com/office/drawing/2014/main" id="{9E5AE8E9-56B8-E3E4-4BD8-99BD31DEFAE2}"/>
              </a:ext>
            </a:extLst>
          </p:cNvPr>
          <p:cNvSpPr txBox="1"/>
          <p:nvPr/>
        </p:nvSpPr>
        <p:spPr>
          <a:xfrm>
            <a:off x="4208401" y="4803406"/>
            <a:ext cx="1891415" cy="369332"/>
          </a:xfrm>
          <a:prstGeom prst="rect">
            <a:avLst/>
          </a:prstGeom>
          <a:noFill/>
        </p:spPr>
        <p:txBody>
          <a:bodyPr wrap="none" rtlCol="0">
            <a:spAutoFit/>
          </a:bodyPr>
          <a:lstStyle/>
          <a:p>
            <a:r>
              <a:rPr lang="en-US"/>
              <a:t>fragment or insert</a:t>
            </a:r>
          </a:p>
        </p:txBody>
      </p:sp>
    </p:spTree>
    <p:extLst>
      <p:ext uri="{BB962C8B-B14F-4D97-AF65-F5344CB8AC3E}">
        <p14:creationId xmlns:p14="http://schemas.microsoft.com/office/powerpoint/2010/main" val="15167137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FA5FC-A239-FC42-FEF6-DF87F37D1F58}"/>
              </a:ext>
            </a:extLst>
          </p:cNvPr>
          <p:cNvSpPr>
            <a:spLocks noGrp="1"/>
          </p:cNvSpPr>
          <p:nvPr>
            <p:ph type="title"/>
          </p:nvPr>
        </p:nvSpPr>
        <p:spPr/>
        <p:txBody>
          <a:bodyPr>
            <a:normAutofit fontScale="90000"/>
          </a:bodyPr>
          <a:lstStyle/>
          <a:p>
            <a:r>
              <a:rPr lang="en-US"/>
              <a:t>How much coverage is sufficient?</a:t>
            </a:r>
          </a:p>
        </p:txBody>
      </p:sp>
      <p:sp>
        <p:nvSpPr>
          <p:cNvPr id="3" name="Content Placeholder 2">
            <a:extLst>
              <a:ext uri="{FF2B5EF4-FFF2-40B4-BE49-F238E27FC236}">
                <a16:creationId xmlns:a16="http://schemas.microsoft.com/office/drawing/2014/main" id="{F8A8C7C9-35D8-9497-54E1-AE99EF7F003F}"/>
              </a:ext>
            </a:extLst>
          </p:cNvPr>
          <p:cNvSpPr>
            <a:spLocks noGrp="1"/>
          </p:cNvSpPr>
          <p:nvPr>
            <p:ph idx="1"/>
          </p:nvPr>
        </p:nvSpPr>
        <p:spPr>
          <a:xfrm>
            <a:off x="598620" y="1596540"/>
            <a:ext cx="10972800" cy="4886560"/>
          </a:xfrm>
        </p:spPr>
        <p:txBody>
          <a:bodyPr>
            <a:normAutofit/>
          </a:bodyPr>
          <a:lstStyle/>
          <a:p>
            <a:r>
              <a:rPr lang="en-US"/>
              <a:t>It depends… on read lengths</a:t>
            </a:r>
          </a:p>
          <a:p>
            <a:r>
              <a:rPr lang="en-US"/>
              <a:t>1x is enough if read length == chromosome length</a:t>
            </a:r>
          </a:p>
          <a:p>
            <a:r>
              <a:rPr lang="en-US"/>
              <a:t>In general read length &lt;&lt; chromosome length</a:t>
            </a:r>
          </a:p>
          <a:p>
            <a:r>
              <a:rPr lang="en-US"/>
              <a:t>Problem: assume fixed read length &lt;&lt; chromosome length</a:t>
            </a:r>
          </a:p>
          <a:p>
            <a:pPr lvl="1"/>
            <a:r>
              <a:rPr lang="en-US"/>
              <a:t>What is the probability of a gap?</a:t>
            </a:r>
          </a:p>
          <a:p>
            <a:pPr lvl="1"/>
            <a:r>
              <a:rPr lang="en-US"/>
              <a:t>Use Poisson distribution!</a:t>
            </a:r>
          </a:p>
        </p:txBody>
      </p:sp>
      <p:sp>
        <p:nvSpPr>
          <p:cNvPr id="4" name="Slide Number Placeholder 3">
            <a:extLst>
              <a:ext uri="{FF2B5EF4-FFF2-40B4-BE49-F238E27FC236}">
                <a16:creationId xmlns:a16="http://schemas.microsoft.com/office/drawing/2014/main" id="{E1862F30-F67A-B51B-EE34-C24F7D625356}"/>
              </a:ext>
            </a:extLst>
          </p:cNvPr>
          <p:cNvSpPr>
            <a:spLocks noGrp="1"/>
          </p:cNvSpPr>
          <p:nvPr>
            <p:ph type="sldNum" sz="quarter" idx="12"/>
          </p:nvPr>
        </p:nvSpPr>
        <p:spPr/>
        <p:txBody>
          <a:bodyPr/>
          <a:lstStyle/>
          <a:p>
            <a:fld id="{B82CCC60-E8CD-4174-8B1A-7DF615B22EEF}" type="slidenum">
              <a:rPr lang="en-US" smtClean="0"/>
              <a:pPr/>
              <a:t>56</a:t>
            </a:fld>
            <a:endParaRPr lang="en-US"/>
          </a:p>
        </p:txBody>
      </p:sp>
    </p:spTree>
    <p:extLst>
      <p:ext uri="{BB962C8B-B14F-4D97-AF65-F5344CB8AC3E}">
        <p14:creationId xmlns:p14="http://schemas.microsoft.com/office/powerpoint/2010/main" val="32752390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BAF0-F3EC-C1E4-F684-35A05E656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990CF-E22D-3AC9-0329-8C658B8D9661}"/>
              </a:ext>
            </a:extLst>
          </p:cNvPr>
          <p:cNvSpPr>
            <a:spLocks noGrp="1"/>
          </p:cNvSpPr>
          <p:nvPr>
            <p:ph type="title"/>
          </p:nvPr>
        </p:nvSpPr>
        <p:spPr/>
        <p:txBody>
          <a:bodyPr>
            <a:normAutofit fontScale="90000"/>
          </a:bodyPr>
          <a:lstStyle/>
          <a:p>
            <a:r>
              <a:rPr lang="en-US"/>
              <a:t>Poisson distribution</a:t>
            </a:r>
          </a:p>
        </p:txBody>
      </p:sp>
      <p:sp>
        <p:nvSpPr>
          <p:cNvPr id="3" name="Content Placeholder 2">
            <a:extLst>
              <a:ext uri="{FF2B5EF4-FFF2-40B4-BE49-F238E27FC236}">
                <a16:creationId xmlns:a16="http://schemas.microsoft.com/office/drawing/2014/main" id="{9FA69900-22B7-0D7F-C616-EBC1977C99C2}"/>
              </a:ext>
            </a:extLst>
          </p:cNvPr>
          <p:cNvSpPr>
            <a:spLocks noGrp="1"/>
          </p:cNvSpPr>
          <p:nvPr>
            <p:ph idx="1"/>
          </p:nvPr>
        </p:nvSpPr>
        <p:spPr>
          <a:xfrm>
            <a:off x="598620" y="1596540"/>
            <a:ext cx="7570690" cy="5124936"/>
          </a:xfrm>
        </p:spPr>
        <p:txBody>
          <a:bodyPr/>
          <a:lstStyle/>
          <a:p>
            <a:r>
              <a:rPr lang="en-US"/>
              <a:t>The Poisson distribution is a discrete probability distribution that expresses the </a:t>
            </a:r>
            <a:r>
              <a:rPr lang="en-US" u="sng"/>
              <a:t>probability</a:t>
            </a:r>
            <a:r>
              <a:rPr lang="en-US"/>
              <a:t> of a </a:t>
            </a:r>
            <a:r>
              <a:rPr lang="en-US" u="sng"/>
              <a:t>given number of events </a:t>
            </a:r>
            <a:r>
              <a:rPr lang="en-US"/>
              <a:t>occurring in a </a:t>
            </a:r>
            <a:r>
              <a:rPr lang="en-US" u="sng"/>
              <a:t>fixed interval of time</a:t>
            </a:r>
            <a:r>
              <a:rPr lang="en-US"/>
              <a:t> if these events occur with a known </a:t>
            </a:r>
            <a:r>
              <a:rPr lang="en-US" u="sng"/>
              <a:t>constant mean rate </a:t>
            </a:r>
            <a:r>
              <a:rPr lang="en-US"/>
              <a:t>and </a:t>
            </a:r>
            <a:r>
              <a:rPr lang="en-US" u="sng"/>
              <a:t>independently</a:t>
            </a:r>
            <a:r>
              <a:rPr lang="en-US"/>
              <a:t> of the time since the last event. </a:t>
            </a:r>
          </a:p>
          <a:p>
            <a:r>
              <a:rPr lang="en-US"/>
              <a:t>Named after French mathematician </a:t>
            </a:r>
            <a:r>
              <a:rPr lang="en-US" err="1"/>
              <a:t>Siméon</a:t>
            </a:r>
            <a:r>
              <a:rPr lang="en-US"/>
              <a:t> Denis Poisson (1781–1840). Image </a:t>
            </a:r>
            <a:r>
              <a:rPr lang="en-US" err="1"/>
              <a:t>credit:Wikipedia</a:t>
            </a:r>
            <a:endParaRPr lang="en-US"/>
          </a:p>
          <a:p>
            <a:endParaRPr lang="en-US"/>
          </a:p>
          <a:p>
            <a:endParaRPr lang="en-US"/>
          </a:p>
        </p:txBody>
      </p:sp>
      <p:sp>
        <p:nvSpPr>
          <p:cNvPr id="4" name="Slide Number Placeholder 3">
            <a:extLst>
              <a:ext uri="{FF2B5EF4-FFF2-40B4-BE49-F238E27FC236}">
                <a16:creationId xmlns:a16="http://schemas.microsoft.com/office/drawing/2014/main" id="{EEA66228-5C74-CD1C-C100-363023711641}"/>
              </a:ext>
            </a:extLst>
          </p:cNvPr>
          <p:cNvSpPr>
            <a:spLocks noGrp="1"/>
          </p:cNvSpPr>
          <p:nvPr>
            <p:ph type="sldNum" sz="quarter" idx="12"/>
          </p:nvPr>
        </p:nvSpPr>
        <p:spPr/>
        <p:txBody>
          <a:bodyPr/>
          <a:lstStyle/>
          <a:p>
            <a:fld id="{B82CCC60-E8CD-4174-8B1A-7DF615B22EEF}" type="slidenum">
              <a:rPr lang="en-US" smtClean="0"/>
              <a:pPr/>
              <a:t>57</a:t>
            </a:fld>
            <a:endParaRPr lang="en-US"/>
          </a:p>
        </p:txBody>
      </p:sp>
      <p:pic>
        <p:nvPicPr>
          <p:cNvPr id="7" name="Picture 6">
            <a:extLst>
              <a:ext uri="{FF2B5EF4-FFF2-40B4-BE49-F238E27FC236}">
                <a16:creationId xmlns:a16="http://schemas.microsoft.com/office/drawing/2014/main" id="{487D2E0D-CEDD-5567-BD44-DA0D0EC5FA94}"/>
              </a:ext>
            </a:extLst>
          </p:cNvPr>
          <p:cNvPicPr>
            <a:picLocks noChangeAspect="1"/>
          </p:cNvPicPr>
          <p:nvPr/>
        </p:nvPicPr>
        <p:blipFill>
          <a:blip r:embed="rId2"/>
          <a:stretch>
            <a:fillRect/>
          </a:stretch>
        </p:blipFill>
        <p:spPr>
          <a:xfrm>
            <a:off x="8832018" y="1497972"/>
            <a:ext cx="2761362" cy="3622431"/>
          </a:xfrm>
          <a:prstGeom prst="rect">
            <a:avLst/>
          </a:prstGeom>
        </p:spPr>
      </p:pic>
    </p:spTree>
    <p:extLst>
      <p:ext uri="{BB962C8B-B14F-4D97-AF65-F5344CB8AC3E}">
        <p14:creationId xmlns:p14="http://schemas.microsoft.com/office/powerpoint/2010/main" val="11984203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0F2AB-54BB-621B-65D8-BD0BA66500C5}"/>
              </a:ext>
            </a:extLst>
          </p:cNvPr>
          <p:cNvSpPr>
            <a:spLocks noGrp="1"/>
          </p:cNvSpPr>
          <p:nvPr>
            <p:ph type="title"/>
          </p:nvPr>
        </p:nvSpPr>
        <p:spPr/>
        <p:txBody>
          <a:bodyPr>
            <a:normAutofit fontScale="90000"/>
          </a:bodyPr>
          <a:lstStyle/>
          <a:p>
            <a:r>
              <a:rPr lang="en-US"/>
              <a:t>Example of a Poisson process</a:t>
            </a:r>
          </a:p>
        </p:txBody>
      </p:sp>
      <p:sp>
        <p:nvSpPr>
          <p:cNvPr id="3" name="Content Placeholder 2">
            <a:extLst>
              <a:ext uri="{FF2B5EF4-FFF2-40B4-BE49-F238E27FC236}">
                <a16:creationId xmlns:a16="http://schemas.microsoft.com/office/drawing/2014/main" id="{CC2B5123-4384-2287-DCAD-BCF274FCFC02}"/>
              </a:ext>
            </a:extLst>
          </p:cNvPr>
          <p:cNvSpPr>
            <a:spLocks noGrp="1"/>
          </p:cNvSpPr>
          <p:nvPr>
            <p:ph idx="1"/>
          </p:nvPr>
        </p:nvSpPr>
        <p:spPr/>
        <p:txBody>
          <a:bodyPr/>
          <a:lstStyle/>
          <a:p>
            <a:r>
              <a:rPr lang="en-US"/>
              <a:t>For instance, consider a call center which receives an average of </a:t>
            </a:r>
            <a:r>
              <a:rPr lang="en-US" i="1"/>
              <a:t>λ = 3 </a:t>
            </a:r>
            <a:r>
              <a:rPr lang="en-US"/>
              <a:t>calls per minute at all times of day. </a:t>
            </a:r>
          </a:p>
          <a:p>
            <a:r>
              <a:rPr lang="en-US"/>
              <a:t>If the number of calls received in any two given disjoint time intervals is independent, then the number </a:t>
            </a:r>
            <a:r>
              <a:rPr lang="en-US" i="1"/>
              <a:t>k</a:t>
            </a:r>
            <a:r>
              <a:rPr lang="en-US"/>
              <a:t> of calls received during any minute has a Poisson probability distribution. </a:t>
            </a:r>
          </a:p>
          <a:p>
            <a:endParaRPr lang="en-US"/>
          </a:p>
          <a:p>
            <a:r>
              <a:rPr lang="en-US"/>
              <a:t>Can you come up with an example?</a:t>
            </a:r>
          </a:p>
          <a:p>
            <a:endParaRPr lang="en-US"/>
          </a:p>
        </p:txBody>
      </p:sp>
      <p:sp>
        <p:nvSpPr>
          <p:cNvPr id="4" name="Slide Number Placeholder 3">
            <a:extLst>
              <a:ext uri="{FF2B5EF4-FFF2-40B4-BE49-F238E27FC236}">
                <a16:creationId xmlns:a16="http://schemas.microsoft.com/office/drawing/2014/main" id="{27ED25BA-7001-3F78-56D2-129F3E7E14C2}"/>
              </a:ext>
            </a:extLst>
          </p:cNvPr>
          <p:cNvSpPr>
            <a:spLocks noGrp="1"/>
          </p:cNvSpPr>
          <p:nvPr>
            <p:ph type="sldNum" sz="quarter" idx="12"/>
          </p:nvPr>
        </p:nvSpPr>
        <p:spPr/>
        <p:txBody>
          <a:bodyPr/>
          <a:lstStyle/>
          <a:p>
            <a:fld id="{B82CCC60-E8CD-4174-8B1A-7DF615B22EEF}" type="slidenum">
              <a:rPr lang="en-US" smtClean="0"/>
              <a:pPr/>
              <a:t>58</a:t>
            </a:fld>
            <a:endParaRPr lang="en-US"/>
          </a:p>
        </p:txBody>
      </p:sp>
    </p:spTree>
    <p:extLst>
      <p:ext uri="{BB962C8B-B14F-4D97-AF65-F5344CB8AC3E}">
        <p14:creationId xmlns:p14="http://schemas.microsoft.com/office/powerpoint/2010/main" val="21885307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EF9DE-D844-088B-EFB7-D7DE8020733F}"/>
              </a:ext>
            </a:extLst>
          </p:cNvPr>
          <p:cNvSpPr>
            <a:spLocks noGrp="1"/>
          </p:cNvSpPr>
          <p:nvPr>
            <p:ph type="title"/>
          </p:nvPr>
        </p:nvSpPr>
        <p:spPr/>
        <p:txBody>
          <a:bodyPr>
            <a:normAutofit fontScale="90000"/>
          </a:bodyPr>
          <a:lstStyle/>
          <a:p>
            <a:r>
              <a:rPr lang="en-US"/>
              <a:t>Poisson distribution</a:t>
            </a:r>
          </a:p>
        </p:txBody>
      </p:sp>
      <p:sp>
        <p:nvSpPr>
          <p:cNvPr id="3" name="Content Placeholder 2">
            <a:extLst>
              <a:ext uri="{FF2B5EF4-FFF2-40B4-BE49-F238E27FC236}">
                <a16:creationId xmlns:a16="http://schemas.microsoft.com/office/drawing/2014/main" id="{50212E8C-C4AC-857C-A008-5457C95B60EC}"/>
              </a:ext>
            </a:extLst>
          </p:cNvPr>
          <p:cNvSpPr>
            <a:spLocks noGrp="1"/>
          </p:cNvSpPr>
          <p:nvPr>
            <p:ph idx="1"/>
          </p:nvPr>
        </p:nvSpPr>
        <p:spPr>
          <a:xfrm>
            <a:off x="598620" y="1596540"/>
            <a:ext cx="10972800" cy="5124936"/>
          </a:xfrm>
        </p:spPr>
        <p:txBody>
          <a:bodyPr/>
          <a:lstStyle/>
          <a:p>
            <a:r>
              <a:rPr lang="en-US"/>
              <a:t>The Poisson distribution is also the limit of a binomial distribution, for which the probability of success for each trial </a:t>
            </a:r>
            <a:r>
              <a:rPr lang="en-US" i="1"/>
              <a:t>p </a:t>
            </a:r>
            <a:r>
              <a:rPr lang="en-US"/>
              <a:t>equals</a:t>
            </a:r>
            <a:r>
              <a:rPr lang="en-US" i="1"/>
              <a:t> λ/n</a:t>
            </a:r>
            <a:r>
              <a:rPr lang="en-US"/>
              <a:t>, as the number of trials </a:t>
            </a:r>
            <a:r>
              <a:rPr lang="en-US" i="1"/>
              <a:t>n</a:t>
            </a:r>
            <a:r>
              <a:rPr lang="en-US"/>
              <a:t> approaches infinity</a:t>
            </a:r>
          </a:p>
          <a:p>
            <a:r>
              <a:rPr lang="en-US"/>
              <a:t>Under a Poisson distribution with the expectation of </a:t>
            </a:r>
            <a:r>
              <a:rPr lang="en-US" i="1"/>
              <a:t>λ</a:t>
            </a:r>
            <a:r>
              <a:rPr lang="en-US"/>
              <a:t> events in a given interval, the probability of </a:t>
            </a:r>
            <a:r>
              <a:rPr lang="en-US" i="1"/>
              <a:t>x</a:t>
            </a:r>
            <a:r>
              <a:rPr lang="en-US"/>
              <a:t> events in the same interval is: </a:t>
            </a:r>
          </a:p>
          <a:p>
            <a:endParaRPr lang="en-US"/>
          </a:p>
          <a:p>
            <a:endParaRPr lang="en-US"/>
          </a:p>
        </p:txBody>
      </p:sp>
      <p:sp>
        <p:nvSpPr>
          <p:cNvPr id="4" name="Slide Number Placeholder 3">
            <a:extLst>
              <a:ext uri="{FF2B5EF4-FFF2-40B4-BE49-F238E27FC236}">
                <a16:creationId xmlns:a16="http://schemas.microsoft.com/office/drawing/2014/main" id="{186CF8B3-F765-E6BE-76BA-714892B32D03}"/>
              </a:ext>
            </a:extLst>
          </p:cNvPr>
          <p:cNvSpPr>
            <a:spLocks noGrp="1"/>
          </p:cNvSpPr>
          <p:nvPr>
            <p:ph type="sldNum" sz="quarter" idx="12"/>
          </p:nvPr>
        </p:nvSpPr>
        <p:spPr/>
        <p:txBody>
          <a:bodyPr/>
          <a:lstStyle/>
          <a:p>
            <a:fld id="{B82CCC60-E8CD-4174-8B1A-7DF615B22EEF}" type="slidenum">
              <a:rPr lang="en-US" smtClean="0"/>
              <a:pPr/>
              <a:t>59</a:t>
            </a:fld>
            <a:endParaRPr lang="en-US"/>
          </a:p>
        </p:txBody>
      </p:sp>
      <p:pic>
        <p:nvPicPr>
          <p:cNvPr id="6" name="Picture 5">
            <a:extLst>
              <a:ext uri="{FF2B5EF4-FFF2-40B4-BE49-F238E27FC236}">
                <a16:creationId xmlns:a16="http://schemas.microsoft.com/office/drawing/2014/main" id="{D13DB2E8-C207-68E8-8D45-81F44FFDB25C}"/>
              </a:ext>
            </a:extLst>
          </p:cNvPr>
          <p:cNvPicPr>
            <a:picLocks noChangeAspect="1"/>
          </p:cNvPicPr>
          <p:nvPr/>
        </p:nvPicPr>
        <p:blipFill>
          <a:blip r:embed="rId2"/>
          <a:stretch>
            <a:fillRect/>
          </a:stretch>
        </p:blipFill>
        <p:spPr>
          <a:xfrm>
            <a:off x="3471129" y="4159008"/>
            <a:ext cx="3991532" cy="1724266"/>
          </a:xfrm>
          <a:prstGeom prst="rect">
            <a:avLst/>
          </a:prstGeom>
        </p:spPr>
      </p:pic>
    </p:spTree>
    <p:extLst>
      <p:ext uri="{BB962C8B-B14F-4D97-AF65-F5344CB8AC3E}">
        <p14:creationId xmlns:p14="http://schemas.microsoft.com/office/powerpoint/2010/main" val="7079761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CF05B-22D4-255A-5907-D8318D8634FB}"/>
              </a:ext>
            </a:extLst>
          </p:cNvPr>
          <p:cNvSpPr>
            <a:spLocks noGrp="1"/>
          </p:cNvSpPr>
          <p:nvPr>
            <p:ph type="title"/>
          </p:nvPr>
        </p:nvSpPr>
        <p:spPr/>
        <p:txBody>
          <a:bodyPr>
            <a:normAutofit fontScale="90000"/>
          </a:bodyPr>
          <a:lstStyle/>
          <a:p>
            <a:r>
              <a:rPr lang="en-US"/>
              <a:t>Poisson distribution and coverage</a:t>
            </a:r>
          </a:p>
        </p:txBody>
      </p:sp>
      <p:sp>
        <p:nvSpPr>
          <p:cNvPr id="3" name="Content Placeholder 2">
            <a:extLst>
              <a:ext uri="{FF2B5EF4-FFF2-40B4-BE49-F238E27FC236}">
                <a16:creationId xmlns:a16="http://schemas.microsoft.com/office/drawing/2014/main" id="{DCCAA216-92B3-942D-5052-57C60C862699}"/>
              </a:ext>
            </a:extLst>
          </p:cNvPr>
          <p:cNvSpPr>
            <a:spLocks noGrp="1"/>
          </p:cNvSpPr>
          <p:nvPr>
            <p:ph idx="1"/>
          </p:nvPr>
        </p:nvSpPr>
        <p:spPr>
          <a:xfrm>
            <a:off x="598620" y="1596541"/>
            <a:ext cx="10972800" cy="4580540"/>
          </a:xfrm>
        </p:spPr>
        <p:txBody>
          <a:bodyPr>
            <a:normAutofit fontScale="85000" lnSpcReduction="20000"/>
          </a:bodyPr>
          <a:lstStyle/>
          <a:p>
            <a:r>
              <a:rPr lang="en-US"/>
              <a:t>Let:</a:t>
            </a:r>
          </a:p>
          <a:p>
            <a:pPr lvl="1"/>
            <a:r>
              <a:rPr lang="en-US" i="1"/>
              <a:t>G</a:t>
            </a:r>
            <a:r>
              <a:rPr lang="en-US"/>
              <a:t> genome length (in bp) </a:t>
            </a:r>
          </a:p>
          <a:p>
            <a:pPr lvl="1"/>
            <a:r>
              <a:rPr lang="en-US" i="1"/>
              <a:t>L</a:t>
            </a:r>
            <a:r>
              <a:rPr lang="en-US"/>
              <a:t>  read average length (</a:t>
            </a:r>
            <a:r>
              <a:rPr lang="en-US" i="1"/>
              <a:t>L&lt;&lt;G</a:t>
            </a:r>
            <a:r>
              <a:rPr lang="en-US"/>
              <a:t>)</a:t>
            </a:r>
          </a:p>
          <a:p>
            <a:pPr lvl="1"/>
            <a:r>
              <a:rPr lang="en-US" i="1"/>
              <a:t>N</a:t>
            </a:r>
            <a:r>
              <a:rPr lang="en-US"/>
              <a:t> number of reads</a:t>
            </a:r>
          </a:p>
          <a:p>
            <a:r>
              <a:rPr lang="en-US"/>
              <a:t>Then:</a:t>
            </a:r>
          </a:p>
          <a:p>
            <a:pPr lvl="1"/>
            <a:r>
              <a:rPr lang="en-US" i="1"/>
              <a:t>λ</a:t>
            </a:r>
            <a:r>
              <a:rPr lang="en-US"/>
              <a:t>, sequencing redundancy = </a:t>
            </a:r>
            <a:r>
              <a:rPr lang="en-US" i="1"/>
              <a:t>N*L/G</a:t>
            </a:r>
          </a:p>
          <a:p>
            <a:pPr lvl="1"/>
            <a:r>
              <a:rPr lang="en-US" i="1"/>
              <a:t>x  </a:t>
            </a:r>
            <a:r>
              <a:rPr lang="en-US"/>
              <a:t>is the number of reads covering a given site on the genome </a:t>
            </a:r>
          </a:p>
          <a:p>
            <a:r>
              <a:rPr lang="en-US"/>
              <a:t>For a given base on the genome for each read </a:t>
            </a:r>
            <a:r>
              <a:rPr lang="en-US" i="1"/>
              <a:t>Prob(base covered)=L/G</a:t>
            </a:r>
            <a:r>
              <a:rPr lang="en-US"/>
              <a:t> </a:t>
            </a:r>
            <a:r>
              <a:rPr lang="en-US" i="1"/>
              <a:t>&lt;&lt; 1</a:t>
            </a:r>
            <a:r>
              <a:rPr lang="en-US"/>
              <a:t>; number of attempts (reads): </a:t>
            </a:r>
            <a:r>
              <a:rPr lang="en-US" i="1"/>
              <a:t>N</a:t>
            </a:r>
            <a:r>
              <a:rPr lang="en-US"/>
              <a:t> &gt;&gt; </a:t>
            </a:r>
            <a:r>
              <a:rPr lang="en-US" i="1"/>
              <a:t>1</a:t>
            </a:r>
            <a:r>
              <a:rPr lang="en-US"/>
              <a:t>. </a:t>
            </a:r>
          </a:p>
          <a:p>
            <a:r>
              <a:rPr lang="en-US" b="1"/>
              <a:t>Genome coverage</a:t>
            </a:r>
            <a:r>
              <a:rPr lang="en-US" i="1"/>
              <a:t> λ = NL/G </a:t>
            </a:r>
            <a:r>
              <a:rPr lang="en-US"/>
              <a:t>is </a:t>
            </a:r>
            <a:r>
              <a:rPr lang="en-US" i="1"/>
              <a:t>O(1)</a:t>
            </a:r>
            <a:r>
              <a:rPr lang="en-US"/>
              <a:t>.</a:t>
            </a:r>
            <a:br>
              <a:rPr lang="en-US"/>
            </a:br>
            <a:br>
              <a:rPr lang="en-US"/>
            </a:br>
            <a:r>
              <a:rPr lang="en-US"/>
              <a:t>      </a:t>
            </a:r>
            <a:r>
              <a:rPr lang="en-US" i="1"/>
              <a:t>x=2                x=4                            x=0</a:t>
            </a:r>
          </a:p>
        </p:txBody>
      </p:sp>
      <p:sp>
        <p:nvSpPr>
          <p:cNvPr id="4" name="Slide Number Placeholder 3">
            <a:extLst>
              <a:ext uri="{FF2B5EF4-FFF2-40B4-BE49-F238E27FC236}">
                <a16:creationId xmlns:a16="http://schemas.microsoft.com/office/drawing/2014/main" id="{C7D9AFAC-0560-7A57-5772-70C755D38EDA}"/>
              </a:ext>
            </a:extLst>
          </p:cNvPr>
          <p:cNvSpPr>
            <a:spLocks noGrp="1"/>
          </p:cNvSpPr>
          <p:nvPr>
            <p:ph type="sldNum" sz="quarter" idx="12"/>
          </p:nvPr>
        </p:nvSpPr>
        <p:spPr/>
        <p:txBody>
          <a:bodyPr/>
          <a:lstStyle/>
          <a:p>
            <a:fld id="{B82CCC60-E8CD-4174-8B1A-7DF615B22EEF}" type="slidenum">
              <a:rPr lang="en-US" smtClean="0"/>
              <a:pPr/>
              <a:t>60</a:t>
            </a:fld>
            <a:endParaRPr lang="en-US"/>
          </a:p>
        </p:txBody>
      </p:sp>
      <p:cxnSp>
        <p:nvCxnSpPr>
          <p:cNvPr id="6" name="Straight Connector 5">
            <a:extLst>
              <a:ext uri="{FF2B5EF4-FFF2-40B4-BE49-F238E27FC236}">
                <a16:creationId xmlns:a16="http://schemas.microsoft.com/office/drawing/2014/main" id="{BDAE5EFB-4EDB-5824-E205-FA9B70D8C74E}"/>
              </a:ext>
            </a:extLst>
          </p:cNvPr>
          <p:cNvCxnSpPr/>
          <p:nvPr/>
        </p:nvCxnSpPr>
        <p:spPr>
          <a:xfrm>
            <a:off x="1362145" y="6483100"/>
            <a:ext cx="839877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8DFEC4B-4C05-6A85-AE84-81F3099F9DCB}"/>
              </a:ext>
            </a:extLst>
          </p:cNvPr>
          <p:cNvCxnSpPr>
            <a:cxnSpLocks/>
          </p:cNvCxnSpPr>
          <p:nvPr/>
        </p:nvCxnSpPr>
        <p:spPr>
          <a:xfrm>
            <a:off x="1362145"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71B9835-6433-51DC-1161-D1623CB29893}"/>
              </a:ext>
            </a:extLst>
          </p:cNvPr>
          <p:cNvCxnSpPr>
            <a:cxnSpLocks/>
          </p:cNvCxnSpPr>
          <p:nvPr/>
        </p:nvCxnSpPr>
        <p:spPr>
          <a:xfrm>
            <a:off x="1514545"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83C02FD-AB58-7FD4-2AE6-42EB9ED0FCAB}"/>
              </a:ext>
            </a:extLst>
          </p:cNvPr>
          <p:cNvCxnSpPr>
            <a:cxnSpLocks/>
          </p:cNvCxnSpPr>
          <p:nvPr/>
        </p:nvCxnSpPr>
        <p:spPr>
          <a:xfrm>
            <a:off x="2737100" y="58728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4408ED2-D266-657E-9ED7-E1AC5166CE09}"/>
              </a:ext>
            </a:extLst>
          </p:cNvPr>
          <p:cNvCxnSpPr>
            <a:cxnSpLocks/>
          </p:cNvCxnSpPr>
          <p:nvPr/>
        </p:nvCxnSpPr>
        <p:spPr>
          <a:xfrm>
            <a:off x="2889500" y="60252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E5959B0-B57C-B2DA-8334-D6FE343366C2}"/>
              </a:ext>
            </a:extLst>
          </p:cNvPr>
          <p:cNvCxnSpPr>
            <a:cxnSpLocks/>
          </p:cNvCxnSpPr>
          <p:nvPr/>
        </p:nvCxnSpPr>
        <p:spPr>
          <a:xfrm>
            <a:off x="3041900"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3607628-10BF-14A9-DA8F-092623546B51}"/>
              </a:ext>
            </a:extLst>
          </p:cNvPr>
          <p:cNvCxnSpPr>
            <a:cxnSpLocks/>
          </p:cNvCxnSpPr>
          <p:nvPr/>
        </p:nvCxnSpPr>
        <p:spPr>
          <a:xfrm>
            <a:off x="3041900" y="6330090"/>
            <a:ext cx="7629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87B495D-1F97-7CC3-F13D-E762C4C82C8A}"/>
              </a:ext>
            </a:extLst>
          </p:cNvPr>
          <p:cNvCxnSpPr>
            <a:cxnSpLocks/>
          </p:cNvCxnSpPr>
          <p:nvPr/>
        </p:nvCxnSpPr>
        <p:spPr>
          <a:xfrm>
            <a:off x="4263540"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D648214-214B-CBB4-8EA7-732003DA5689}"/>
              </a:ext>
            </a:extLst>
          </p:cNvPr>
          <p:cNvCxnSpPr>
            <a:cxnSpLocks/>
          </p:cNvCxnSpPr>
          <p:nvPr/>
        </p:nvCxnSpPr>
        <p:spPr>
          <a:xfrm>
            <a:off x="4568797"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902D25-14C6-DCEC-FA8A-136917B1D098}"/>
              </a:ext>
            </a:extLst>
          </p:cNvPr>
          <p:cNvCxnSpPr>
            <a:cxnSpLocks/>
          </p:cNvCxnSpPr>
          <p:nvPr/>
        </p:nvCxnSpPr>
        <p:spPr>
          <a:xfrm>
            <a:off x="5705768" y="60252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E8FCE4-7026-1F5B-D75F-164C16D12E3A}"/>
              </a:ext>
            </a:extLst>
          </p:cNvPr>
          <p:cNvCxnSpPr>
            <a:cxnSpLocks/>
          </p:cNvCxnSpPr>
          <p:nvPr/>
        </p:nvCxnSpPr>
        <p:spPr>
          <a:xfrm>
            <a:off x="5858168"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01E40C-D100-C2B2-43A1-C2D59AF77A66}"/>
              </a:ext>
            </a:extLst>
          </p:cNvPr>
          <p:cNvCxnSpPr>
            <a:cxnSpLocks/>
          </p:cNvCxnSpPr>
          <p:nvPr/>
        </p:nvCxnSpPr>
        <p:spPr>
          <a:xfrm>
            <a:off x="6010568"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5D9CE8-F4E3-AAED-AE4A-3C41743307AA}"/>
              </a:ext>
            </a:extLst>
          </p:cNvPr>
          <p:cNvCxnSpPr/>
          <p:nvPr/>
        </p:nvCxnSpPr>
        <p:spPr>
          <a:xfrm>
            <a:off x="5485180" y="5872890"/>
            <a:ext cx="0" cy="8485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A8390FE-05BE-7AF3-982E-71B032DA8997}"/>
              </a:ext>
            </a:extLst>
          </p:cNvPr>
          <p:cNvCxnSpPr>
            <a:cxnSpLocks/>
          </p:cNvCxnSpPr>
          <p:nvPr/>
        </p:nvCxnSpPr>
        <p:spPr>
          <a:xfrm>
            <a:off x="3194605" y="5734704"/>
            <a:ext cx="0" cy="900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03E9742-EBA9-D5E2-A3CA-564C1A321E76}"/>
              </a:ext>
            </a:extLst>
          </p:cNvPr>
          <p:cNvCxnSpPr>
            <a:cxnSpLocks/>
          </p:cNvCxnSpPr>
          <p:nvPr/>
        </p:nvCxnSpPr>
        <p:spPr>
          <a:xfrm>
            <a:off x="1667555" y="5734704"/>
            <a:ext cx="0" cy="900493"/>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5276DCA-DDFB-D8C6-81BE-65AFDA0EBA7E}"/>
              </a:ext>
            </a:extLst>
          </p:cNvPr>
          <p:cNvPicPr>
            <a:picLocks noChangeAspect="1"/>
          </p:cNvPicPr>
          <p:nvPr/>
        </p:nvPicPr>
        <p:blipFill>
          <a:blip r:embed="rId2"/>
          <a:stretch>
            <a:fillRect/>
          </a:stretch>
        </p:blipFill>
        <p:spPr>
          <a:xfrm>
            <a:off x="7601848" y="1704734"/>
            <a:ext cx="3991532" cy="1724266"/>
          </a:xfrm>
          <a:prstGeom prst="rect">
            <a:avLst/>
          </a:prstGeom>
        </p:spPr>
      </p:pic>
    </p:spTree>
    <p:extLst>
      <p:ext uri="{BB962C8B-B14F-4D97-AF65-F5344CB8AC3E}">
        <p14:creationId xmlns:p14="http://schemas.microsoft.com/office/powerpoint/2010/main" val="215686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C554-A8C6-0277-1A84-D1F722AC7F41}"/>
              </a:ext>
            </a:extLst>
          </p:cNvPr>
          <p:cNvSpPr>
            <a:spLocks noGrp="1"/>
          </p:cNvSpPr>
          <p:nvPr>
            <p:ph type="title"/>
          </p:nvPr>
        </p:nvSpPr>
        <p:spPr/>
        <p:txBody>
          <a:bodyPr>
            <a:normAutofit fontScale="90000"/>
          </a:bodyPr>
          <a:lstStyle/>
          <a:p>
            <a:r>
              <a:rPr lang="en-US"/>
              <a:t>Fraction of the genome covered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0384F2-9789-CBBD-01D4-DDCF083991F5}"/>
                  </a:ext>
                </a:extLst>
              </p:cNvPr>
              <p:cNvSpPr>
                <a:spLocks noGrp="1"/>
              </p:cNvSpPr>
              <p:nvPr>
                <p:ph idx="1"/>
              </p:nvPr>
            </p:nvSpPr>
            <p:spPr>
              <a:xfrm>
                <a:off x="598620" y="1596540"/>
                <a:ext cx="10972800" cy="4843589"/>
              </a:xfrm>
            </p:spPr>
            <p:txBody>
              <a:bodyPr>
                <a:normAutofit fontScale="85000" lnSpcReduction="10000"/>
              </a:bodyPr>
              <a:lstStyle/>
              <a:p>
                <a:r>
                  <a:rPr lang="en-US"/>
                  <a:t>To assemble a genome we need to make sure it is completely covered by reads</a:t>
                </a:r>
              </a:p>
              <a:p>
                <a:endParaRPr lang="en-US"/>
              </a:p>
              <a:p>
                <a:r>
                  <a:rPr lang="en-US"/>
                  <a:t>We can use Poisson distribution to compute required coverage to make sure there are no gaps </a:t>
                </a:r>
              </a:p>
              <a:p>
                <a:endParaRPr lang="en-US"/>
              </a:p>
              <a:p>
                <a:r>
                  <a:rPr lang="en-US"/>
                  <a:t>It is frequently easier in probability computations to compute the probability of something NOT happening!</a:t>
                </a:r>
                <a:br>
                  <a:rPr lang="en-US"/>
                </a:br>
                <a:endParaRPr lang="en-US"/>
              </a:p>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&gt;0</m:t>
                            </m:r>
                          </m:e>
                        </m:d>
                        <m:r>
                          <a:rPr lang="en-US" i="1">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br>
                  <a:rPr lang="en-US" i="1"/>
                </a:br>
                <a:endParaRPr lang="en-US" i="1"/>
              </a:p>
              <a:p>
                <a:r>
                  <a:rPr lang="en-US"/>
                  <a:t>Total genome length covered: </a:t>
                </a:r>
                <a:br>
                  <a:rPr lang="en-US"/>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r>
                          <a:rPr lang="en-US" b="0" i="1" smtClean="0">
                            <a:latin typeface="Cambria Math" panose="02040503050406030204" pitchFamily="18" charset="0"/>
                          </a:rPr>
                          <m:t> </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&gt;0</m:t>
                            </m:r>
                          </m:e>
                        </m:d>
                        <m:r>
                          <a:rPr lang="en-US" i="1">
                            <a:latin typeface="Cambria Math" panose="02040503050406030204" pitchFamily="18" charset="0"/>
                          </a:rPr>
                          <m:t>=</m:t>
                        </m:r>
                        <m:r>
                          <a:rPr lang="en-US" b="0" i="1" smtClean="0">
                            <a:latin typeface="Cambria Math" panose="02040503050406030204" pitchFamily="18" charset="0"/>
                          </a:rPr>
                          <m:t>𝐺</m:t>
                        </m:r>
                        <m:r>
                          <a:rPr lang="en-US" b="0" i="1" smtClean="0">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r>
                      <a:rPr lang="en-US" b="0" i="1" dirty="0" smtClean="0">
                        <a:latin typeface="Cambria Math" panose="02040503050406030204" pitchFamily="18" charset="0"/>
                      </a:rPr>
                      <m:t>)</m:t>
                    </m:r>
                  </m:oMath>
                </a14:m>
                <a:endParaRPr lang="en-US"/>
              </a:p>
            </p:txBody>
          </p:sp>
        </mc:Choice>
        <mc:Fallback xmlns="">
          <p:sp>
            <p:nvSpPr>
              <p:cNvPr id="3" name="Content Placeholder 2">
                <a:extLst>
                  <a:ext uri="{FF2B5EF4-FFF2-40B4-BE49-F238E27FC236}">
                    <a16:creationId xmlns:a16="http://schemas.microsoft.com/office/drawing/2014/main" id="{BC0384F2-9789-CBBD-01D4-DDCF083991F5}"/>
                  </a:ext>
                </a:extLst>
              </p:cNvPr>
              <p:cNvSpPr>
                <a:spLocks noGrp="1" noRot="1" noChangeAspect="1" noMove="1" noResize="1" noEditPoints="1" noAdjustHandles="1" noChangeArrowheads="1" noChangeShapeType="1" noTextEdit="1"/>
              </p:cNvSpPr>
              <p:nvPr>
                <p:ph idx="1"/>
              </p:nvPr>
            </p:nvSpPr>
            <p:spPr>
              <a:xfrm>
                <a:off x="598620" y="1596540"/>
                <a:ext cx="10972800" cy="4843589"/>
              </a:xfrm>
              <a:blipFill>
                <a:blip r:embed="rId2"/>
                <a:stretch>
                  <a:fillRect l="-722" t="-176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B4324D-9F5A-7E7B-0C60-C2D62C5B95E4}"/>
              </a:ext>
            </a:extLst>
          </p:cNvPr>
          <p:cNvSpPr>
            <a:spLocks noGrp="1"/>
          </p:cNvSpPr>
          <p:nvPr>
            <p:ph type="sldNum" sz="quarter" idx="12"/>
          </p:nvPr>
        </p:nvSpPr>
        <p:spPr/>
        <p:txBody>
          <a:bodyPr/>
          <a:lstStyle/>
          <a:p>
            <a:fld id="{B82CCC60-E8CD-4174-8B1A-7DF615B22EEF}" type="slidenum">
              <a:rPr lang="en-US" smtClean="0"/>
              <a:pPr/>
              <a:t>61</a:t>
            </a:fld>
            <a:endParaRPr lang="en-US"/>
          </a:p>
        </p:txBody>
      </p:sp>
      <p:pic>
        <p:nvPicPr>
          <p:cNvPr id="5" name="Picture 4">
            <a:extLst>
              <a:ext uri="{FF2B5EF4-FFF2-40B4-BE49-F238E27FC236}">
                <a16:creationId xmlns:a16="http://schemas.microsoft.com/office/drawing/2014/main" id="{CCFDB7FE-3B6C-978E-F57D-4A8E86567B1F}"/>
              </a:ext>
            </a:extLst>
          </p:cNvPr>
          <p:cNvPicPr>
            <a:picLocks noChangeAspect="1"/>
          </p:cNvPicPr>
          <p:nvPr/>
        </p:nvPicPr>
        <p:blipFill>
          <a:blip r:embed="rId3"/>
          <a:stretch>
            <a:fillRect/>
          </a:stretch>
        </p:blipFill>
        <p:spPr>
          <a:xfrm>
            <a:off x="7887982" y="3994404"/>
            <a:ext cx="3991532" cy="1724266"/>
          </a:xfrm>
          <a:prstGeom prst="rect">
            <a:avLst/>
          </a:prstGeom>
        </p:spPr>
      </p:pic>
    </p:spTree>
    <p:extLst>
      <p:ext uri="{BB962C8B-B14F-4D97-AF65-F5344CB8AC3E}">
        <p14:creationId xmlns:p14="http://schemas.microsoft.com/office/powerpoint/2010/main" val="3136499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715A2-54A9-599A-BDBF-6D55AA14E560}"/>
              </a:ext>
            </a:extLst>
          </p:cNvPr>
          <p:cNvSpPr>
            <a:spLocks noGrp="1"/>
          </p:cNvSpPr>
          <p:nvPr>
            <p:ph type="title"/>
          </p:nvPr>
        </p:nvSpPr>
        <p:spPr/>
        <p:txBody>
          <a:bodyPr>
            <a:normAutofit fontScale="90000"/>
          </a:bodyPr>
          <a:lstStyle/>
          <a:p>
            <a:r>
              <a:rPr lang="en-US"/>
              <a:t>Number of contigs and average length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E394BD-B129-877C-C744-20B897AE4FDE}"/>
                  </a:ext>
                </a:extLst>
              </p:cNvPr>
              <p:cNvSpPr>
                <a:spLocks noGrp="1"/>
              </p:cNvSpPr>
              <p:nvPr>
                <p:ph idx="1"/>
              </p:nvPr>
            </p:nvSpPr>
            <p:spPr>
              <a:xfrm>
                <a:off x="598620" y="1596540"/>
                <a:ext cx="10972800" cy="4886559"/>
              </a:xfrm>
            </p:spPr>
            <p:txBody>
              <a:bodyPr>
                <a:normAutofit fontScale="92500"/>
              </a:bodyPr>
              <a:lstStyle/>
              <a:p>
                <a:r>
                  <a:rPr lang="en-US"/>
                  <a:t>Probability that a given read is the right end of a contig = coverage of the base right after the read is zero: </a:t>
                </a:r>
                <a:br>
                  <a:rPr lang="en-US"/>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endParaRPr lang="en-US" i="1"/>
              </a:p>
              <a:p>
                <a:r>
                  <a:rPr lang="en-US"/>
                  <a:t>If </a:t>
                </a:r>
                <a:r>
                  <a:rPr lang="en-US" i="1"/>
                  <a:t>N</a:t>
                </a:r>
                <a:r>
                  <a:rPr lang="en-US"/>
                  <a:t> is number of reads, then number of contigs is:</a:t>
                </a:r>
                <a:br>
                  <a:rPr lang="en-US"/>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endParaRPr lang="en-US"/>
              </a:p>
              <a:p>
                <a:r>
                  <a:rPr lang="en-US"/>
                  <a:t>Average contig length is proportion of genome covered/number of contigs:</a:t>
                </a:r>
                <a:br>
                  <a:rPr lang="en-US"/>
                </a:br>
                <a14:m>
                  <m:oMath xmlns:m="http://schemas.openxmlformats.org/officeDocument/2006/math">
                    <m:r>
                      <a:rPr lang="en-US" i="1">
                        <a:latin typeface="Cambria Math" panose="02040503050406030204" pitchFamily="18" charset="0"/>
                      </a:rPr>
                      <m:t>𝐶</m:t>
                    </m:r>
                    <m:r>
                      <a:rPr lang="en-US" i="1">
                        <a:latin typeface="Cambria Math" panose="02040503050406030204" pitchFamily="18" charset="0"/>
                      </a:rPr>
                      <m:t>=</m:t>
                    </m:r>
                    <m:r>
                      <a:rPr lang="en-US" b="0" i="1" smtClean="0">
                        <a:latin typeface="Cambria Math" panose="02040503050406030204" pitchFamily="18" charset="0"/>
                      </a:rPr>
                      <m:t>𝐺</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num>
                      <m:den>
                        <m:r>
                          <m:rPr>
                            <m:nor/>
                          </m:rPr>
                          <a:rPr lang="en-US" b="0" i="1" dirty="0" smtClean="0">
                            <a:latin typeface="Cambria Math" panose="02040503050406030204" pitchFamily="18" charset="0"/>
                          </a:rPr>
                          <m:t>N</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b="0" i="1" smtClean="0">
                                <a:latin typeface="Cambria Math" panose="02040503050406030204" pitchFamily="18" charset="0"/>
                              </a:rPr>
                              <m:t>−</m:t>
                            </m:r>
                            <m:r>
                              <m:rPr>
                                <m:nor/>
                              </m:rPr>
                              <a:rPr lang="en-US" i="1" dirty="0"/>
                              <m:t>λ</m:t>
                            </m:r>
                          </m:sup>
                        </m:sSup>
                      </m:den>
                    </m:f>
                    <m:r>
                      <a:rPr lang="en-US" b="0" i="1" dirty="0" smtClean="0">
                        <a:latin typeface="Cambria Math" panose="02040503050406030204" pitchFamily="18" charset="0"/>
                      </a:rPr>
                      <m:t>=</m:t>
                    </m:r>
                    <m:r>
                      <a:rPr lang="en-US" b="0" i="1" dirty="0" smtClean="0">
                        <a:latin typeface="Cambria Math" panose="02040503050406030204" pitchFamily="18" charset="0"/>
                      </a:rPr>
                      <m:t>𝐿</m:t>
                    </m:r>
                    <m:f>
                      <m:fPr>
                        <m:ctrlPr>
                          <a:rPr lang="en-US" i="1" dirty="0">
                            <a:latin typeface="Cambria Math" panose="02040503050406030204" pitchFamily="18" charset="0"/>
                          </a:rPr>
                        </m:ctrlPr>
                      </m:fPr>
                      <m:num>
                        <m:r>
                          <a:rPr lang="en-US" i="1" dirty="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m:rPr>
                                <m:nor/>
                              </m:rPr>
                              <a:rPr lang="en-US" i="1" dirty="0"/>
                              <m:t>λ</m:t>
                            </m:r>
                          </m:sup>
                        </m:sSup>
                        <m:r>
                          <a:rPr lang="en-US" i="1" dirty="0">
                            <a:latin typeface="Cambria Math" panose="02040503050406030204" pitchFamily="18" charset="0"/>
                          </a:rPr>
                          <m:t>−1)</m:t>
                        </m:r>
                      </m:num>
                      <m:den>
                        <m:r>
                          <m:rPr>
                            <m:nor/>
                          </m:rPr>
                          <a:rPr lang="en-US" i="1" dirty="0"/>
                          <m:t>λ</m:t>
                        </m:r>
                      </m:den>
                    </m:f>
                    <m:r>
                      <a:rPr lang="en-US" i="1">
                        <a:latin typeface="Cambria Math" panose="02040503050406030204" pitchFamily="18" charset="0"/>
                      </a:rPr>
                      <m:t>,</m:t>
                    </m:r>
                  </m:oMath>
                </a14:m>
                <a:endParaRPr lang="en-US"/>
              </a:p>
              <a:p>
                <a:r>
                  <a:rPr lang="en-US"/>
                  <a:t>For sufficiently large </a:t>
                </a:r>
                <a:r>
                  <a:rPr lang="en-US" i="1"/>
                  <a:t>λ, </a:t>
                </a:r>
                <a14:m>
                  <m:oMath xmlns:m="http://schemas.openxmlformats.org/officeDocument/2006/math">
                    <m:r>
                      <a:rPr lang="en-US" i="1">
                        <a:latin typeface="Cambria Math" panose="02040503050406030204" pitchFamily="18" charset="0"/>
                      </a:rPr>
                      <m:t>𝐶</m:t>
                    </m:r>
                    <m:r>
                      <a:rPr lang="en-US" i="1"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𝐿</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m:rPr>
                                <m:nor/>
                              </m:rPr>
                              <a:rPr lang="en-US" i="1" dirty="0"/>
                              <m:t>λ</m:t>
                            </m:r>
                          </m:sup>
                        </m:sSup>
                      </m:num>
                      <m:den>
                        <m:r>
                          <m:rPr>
                            <m:nor/>
                          </m:rPr>
                          <a:rPr lang="en-US" i="1" dirty="0"/>
                          <m:t>λ</m:t>
                        </m:r>
                      </m:den>
                    </m:f>
                  </m:oMath>
                </a14:m>
                <a:r>
                  <a:rPr lang="en-US"/>
                  <a:t>, only depends on read length and coverage!</a:t>
                </a:r>
              </a:p>
              <a:p>
                <a:endParaRPr lang="en-US"/>
              </a:p>
            </p:txBody>
          </p:sp>
        </mc:Choice>
        <mc:Fallback xmlns="">
          <p:sp>
            <p:nvSpPr>
              <p:cNvPr id="3" name="Content Placeholder 2">
                <a:extLst>
                  <a:ext uri="{FF2B5EF4-FFF2-40B4-BE49-F238E27FC236}">
                    <a16:creationId xmlns:a16="http://schemas.microsoft.com/office/drawing/2014/main" id="{93E394BD-B129-877C-C744-20B897AE4FDE}"/>
                  </a:ext>
                </a:extLst>
              </p:cNvPr>
              <p:cNvSpPr>
                <a:spLocks noGrp="1" noRot="1" noChangeAspect="1" noMove="1" noResize="1" noEditPoints="1" noAdjustHandles="1" noChangeArrowheads="1" noChangeShapeType="1" noTextEdit="1"/>
              </p:cNvSpPr>
              <p:nvPr>
                <p:ph idx="1"/>
              </p:nvPr>
            </p:nvSpPr>
            <p:spPr>
              <a:xfrm>
                <a:off x="598620" y="1596540"/>
                <a:ext cx="10972800" cy="4886559"/>
              </a:xfrm>
              <a:blipFill>
                <a:blip r:embed="rId2"/>
                <a:stretch>
                  <a:fillRect l="-833" t="-998" r="-155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71BF5F6-B203-71DC-96D2-AF338A942FC9}"/>
              </a:ext>
            </a:extLst>
          </p:cNvPr>
          <p:cNvSpPr>
            <a:spLocks noGrp="1"/>
          </p:cNvSpPr>
          <p:nvPr>
            <p:ph type="sldNum" sz="quarter" idx="12"/>
          </p:nvPr>
        </p:nvSpPr>
        <p:spPr/>
        <p:txBody>
          <a:bodyPr/>
          <a:lstStyle/>
          <a:p>
            <a:fld id="{B82CCC60-E8CD-4174-8B1A-7DF615B22EEF}" type="slidenum">
              <a:rPr lang="en-US" smtClean="0"/>
              <a:pPr/>
              <a:t>62</a:t>
            </a:fld>
            <a:endParaRPr lang="en-US"/>
          </a:p>
        </p:txBody>
      </p:sp>
      <p:pic>
        <p:nvPicPr>
          <p:cNvPr id="5" name="Picture 4">
            <a:extLst>
              <a:ext uri="{FF2B5EF4-FFF2-40B4-BE49-F238E27FC236}">
                <a16:creationId xmlns:a16="http://schemas.microsoft.com/office/drawing/2014/main" id="{3F50F2FE-88FB-12C8-AEE6-550820950659}"/>
              </a:ext>
            </a:extLst>
          </p:cNvPr>
          <p:cNvPicPr>
            <a:picLocks noChangeAspect="1"/>
          </p:cNvPicPr>
          <p:nvPr/>
        </p:nvPicPr>
        <p:blipFill>
          <a:blip r:embed="rId3"/>
          <a:stretch>
            <a:fillRect/>
          </a:stretch>
        </p:blipFill>
        <p:spPr>
          <a:xfrm>
            <a:off x="8200468" y="2207360"/>
            <a:ext cx="3991532" cy="1724266"/>
          </a:xfrm>
          <a:prstGeom prst="rect">
            <a:avLst/>
          </a:prstGeom>
        </p:spPr>
      </p:pic>
    </p:spTree>
    <p:extLst>
      <p:ext uri="{BB962C8B-B14F-4D97-AF65-F5344CB8AC3E}">
        <p14:creationId xmlns:p14="http://schemas.microsoft.com/office/powerpoint/2010/main" val="178788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BEE5-4EC8-F8CC-ACA8-069BCBC4B989}"/>
              </a:ext>
            </a:extLst>
          </p:cNvPr>
          <p:cNvSpPr>
            <a:spLocks noGrp="1"/>
          </p:cNvSpPr>
          <p:nvPr>
            <p:ph type="title"/>
          </p:nvPr>
        </p:nvSpPr>
        <p:spPr>
          <a:xfrm>
            <a:off x="629264" y="680310"/>
            <a:ext cx="10942155" cy="365125"/>
          </a:xfrm>
        </p:spPr>
        <p:txBody>
          <a:bodyPr>
            <a:normAutofit fontScale="90000"/>
          </a:bodyPr>
          <a:lstStyle/>
          <a:p>
            <a:r>
              <a:rPr lang="en-US"/>
              <a:t>Genome is fully covered.</a:t>
            </a:r>
            <a:br>
              <a:rPr lang="en-US"/>
            </a:br>
            <a:r>
              <a:rPr lang="en-US"/>
              <a:t>Can this be assembled?</a:t>
            </a:r>
          </a:p>
        </p:txBody>
      </p:sp>
      <p:sp>
        <p:nvSpPr>
          <p:cNvPr id="4" name="Slide Number Placeholder 3">
            <a:extLst>
              <a:ext uri="{FF2B5EF4-FFF2-40B4-BE49-F238E27FC236}">
                <a16:creationId xmlns:a16="http://schemas.microsoft.com/office/drawing/2014/main" id="{644A77BB-A657-B3C5-CC8F-B1CB19052664}"/>
              </a:ext>
            </a:extLst>
          </p:cNvPr>
          <p:cNvSpPr>
            <a:spLocks noGrp="1"/>
          </p:cNvSpPr>
          <p:nvPr>
            <p:ph type="sldNum" sz="quarter" idx="12"/>
          </p:nvPr>
        </p:nvSpPr>
        <p:spPr/>
        <p:txBody>
          <a:bodyPr/>
          <a:lstStyle/>
          <a:p>
            <a:fld id="{B82CCC60-E8CD-4174-8B1A-7DF615B22EEF}" type="slidenum">
              <a:rPr lang="en-US" smtClean="0"/>
              <a:pPr/>
              <a:t>63</a:t>
            </a:fld>
            <a:endParaRPr lang="en-US"/>
          </a:p>
        </p:txBody>
      </p:sp>
      <p:cxnSp>
        <p:nvCxnSpPr>
          <p:cNvPr id="5" name="Straight Connector 4">
            <a:extLst>
              <a:ext uri="{FF2B5EF4-FFF2-40B4-BE49-F238E27FC236}">
                <a16:creationId xmlns:a16="http://schemas.microsoft.com/office/drawing/2014/main" id="{B8152564-1CE0-5DED-2127-FBF73609E8E1}"/>
              </a:ext>
            </a:extLst>
          </p:cNvPr>
          <p:cNvCxnSpPr/>
          <p:nvPr/>
        </p:nvCxnSpPr>
        <p:spPr>
          <a:xfrm>
            <a:off x="1578455" y="4418326"/>
            <a:ext cx="839877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0DC067B-52F0-28D0-DC17-AD3F7C3443AE}"/>
              </a:ext>
            </a:extLst>
          </p:cNvPr>
          <p:cNvCxnSpPr>
            <a:cxnSpLocks/>
          </p:cNvCxnSpPr>
          <p:nvPr/>
        </p:nvCxnSpPr>
        <p:spPr>
          <a:xfrm>
            <a:off x="1578455" y="4004760"/>
            <a:ext cx="2265958"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CBE26E-8424-5747-E9B7-29316A791327}"/>
              </a:ext>
            </a:extLst>
          </p:cNvPr>
          <p:cNvCxnSpPr>
            <a:cxnSpLocks/>
          </p:cNvCxnSpPr>
          <p:nvPr/>
        </p:nvCxnSpPr>
        <p:spPr>
          <a:xfrm>
            <a:off x="3736636" y="4127663"/>
            <a:ext cx="2265958"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8FA18A0-A1C5-BCED-FD95-480CC02B9442}"/>
              </a:ext>
            </a:extLst>
          </p:cNvPr>
          <p:cNvCxnSpPr>
            <a:cxnSpLocks/>
          </p:cNvCxnSpPr>
          <p:nvPr/>
        </p:nvCxnSpPr>
        <p:spPr>
          <a:xfrm>
            <a:off x="6002594" y="3978294"/>
            <a:ext cx="1971367"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101D341-E3C8-339A-7DFB-50D0871C82B0}"/>
              </a:ext>
            </a:extLst>
          </p:cNvPr>
          <p:cNvCxnSpPr>
            <a:cxnSpLocks/>
          </p:cNvCxnSpPr>
          <p:nvPr/>
        </p:nvCxnSpPr>
        <p:spPr>
          <a:xfrm>
            <a:off x="7885849" y="4127663"/>
            <a:ext cx="2265958"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C03DBCA-0F54-E271-479E-30EF0F102969}"/>
              </a:ext>
            </a:extLst>
          </p:cNvPr>
          <p:cNvSpPr txBox="1"/>
          <p:nvPr/>
        </p:nvSpPr>
        <p:spPr>
          <a:xfrm>
            <a:off x="3244646" y="3490097"/>
            <a:ext cx="1354794" cy="369332"/>
          </a:xfrm>
          <a:prstGeom prst="rect">
            <a:avLst/>
          </a:prstGeom>
          <a:noFill/>
        </p:spPr>
        <p:txBody>
          <a:bodyPr wrap="none" rtlCol="0">
            <a:spAutoFit/>
          </a:bodyPr>
          <a:lstStyle/>
          <a:p>
            <a:r>
              <a:rPr lang="en-US"/>
              <a:t>1 bp overlap</a:t>
            </a:r>
          </a:p>
        </p:txBody>
      </p:sp>
      <p:sp>
        <p:nvSpPr>
          <p:cNvPr id="12" name="TextBox 11">
            <a:extLst>
              <a:ext uri="{FF2B5EF4-FFF2-40B4-BE49-F238E27FC236}">
                <a16:creationId xmlns:a16="http://schemas.microsoft.com/office/drawing/2014/main" id="{750A5AA0-1129-3611-1DAB-813E89FEE716}"/>
              </a:ext>
            </a:extLst>
          </p:cNvPr>
          <p:cNvSpPr txBox="1"/>
          <p:nvPr/>
        </p:nvSpPr>
        <p:spPr>
          <a:xfrm>
            <a:off x="5099432" y="3498981"/>
            <a:ext cx="1354794" cy="369332"/>
          </a:xfrm>
          <a:prstGeom prst="rect">
            <a:avLst/>
          </a:prstGeom>
          <a:noFill/>
        </p:spPr>
        <p:txBody>
          <a:bodyPr wrap="square" rtlCol="0">
            <a:spAutoFit/>
          </a:bodyPr>
          <a:lstStyle/>
          <a:p>
            <a:r>
              <a:rPr lang="en-US"/>
              <a:t>0 bp overlap</a:t>
            </a:r>
          </a:p>
        </p:txBody>
      </p:sp>
      <p:sp>
        <p:nvSpPr>
          <p:cNvPr id="13" name="TextBox 12">
            <a:extLst>
              <a:ext uri="{FF2B5EF4-FFF2-40B4-BE49-F238E27FC236}">
                <a16:creationId xmlns:a16="http://schemas.microsoft.com/office/drawing/2014/main" id="{9F1CE572-961A-AACD-849C-38F8CC5FDAF8}"/>
              </a:ext>
            </a:extLst>
          </p:cNvPr>
          <p:cNvSpPr txBox="1"/>
          <p:nvPr/>
        </p:nvSpPr>
        <p:spPr>
          <a:xfrm>
            <a:off x="7208452" y="3498981"/>
            <a:ext cx="1354794" cy="369332"/>
          </a:xfrm>
          <a:prstGeom prst="rect">
            <a:avLst/>
          </a:prstGeom>
          <a:noFill/>
        </p:spPr>
        <p:txBody>
          <a:bodyPr wrap="none" rtlCol="0">
            <a:spAutoFit/>
          </a:bodyPr>
          <a:lstStyle/>
          <a:p>
            <a:r>
              <a:rPr lang="en-US"/>
              <a:t>1 bp overlap</a:t>
            </a:r>
          </a:p>
        </p:txBody>
      </p:sp>
    </p:spTree>
    <p:extLst>
      <p:ext uri="{BB962C8B-B14F-4D97-AF65-F5344CB8AC3E}">
        <p14:creationId xmlns:p14="http://schemas.microsoft.com/office/powerpoint/2010/main" val="30855311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92C-2BBB-1798-1FFE-2A8A226B8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6FE828-2859-2593-2B3F-6CF9B2ACC138}"/>
              </a:ext>
            </a:extLst>
          </p:cNvPr>
          <p:cNvSpPr>
            <a:spLocks noGrp="1"/>
          </p:cNvSpPr>
          <p:nvPr>
            <p:ph type="title"/>
          </p:nvPr>
        </p:nvSpPr>
        <p:spPr/>
        <p:txBody>
          <a:bodyPr>
            <a:normAutofit fontScale="90000"/>
          </a:bodyPr>
          <a:lstStyle/>
          <a:p>
            <a:r>
              <a:rPr lang="en-US"/>
              <a:t>Real life correction to contig length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6C0A1E-F940-8A8B-DDFA-02DF5FFD5D21}"/>
                  </a:ext>
                </a:extLst>
              </p:cNvPr>
              <p:cNvSpPr>
                <a:spLocks noGrp="1"/>
              </p:cNvSpPr>
              <p:nvPr>
                <p:ph idx="1"/>
              </p:nvPr>
            </p:nvSpPr>
            <p:spPr>
              <a:xfrm>
                <a:off x="598620" y="1596540"/>
                <a:ext cx="10972800" cy="4886559"/>
              </a:xfrm>
            </p:spPr>
            <p:txBody>
              <a:bodyPr>
                <a:normAutofit fontScale="92500" lnSpcReduction="10000"/>
              </a:bodyPr>
              <a:lstStyle/>
              <a:p>
                <a:r>
                  <a:rPr lang="en-US" dirty="0"/>
                  <a:t>In reality, minimum overlap </a:t>
                </a:r>
                <a:r>
                  <a:rPr lang="en-US" i="1" dirty="0"/>
                  <a:t>O</a:t>
                </a:r>
                <a:r>
                  <a:rPr lang="en-US" dirty="0"/>
                  <a:t> is required to continue a contig.   Let </a:t>
                </a:r>
                <a14:m>
                  <m:oMath xmlns:m="http://schemas.openxmlformats.org/officeDocument/2006/math">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𝑂</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 </m:t>
                    </m:r>
                  </m:oMath>
                </a14:m>
                <a:r>
                  <a:rPr lang="en-US" dirty="0"/>
                  <a:t>. Our coverage </a:t>
                </a:r>
                <a14:m>
                  <m:oMath xmlns:m="http://schemas.openxmlformats.org/officeDocument/2006/math">
                    <m:r>
                      <m:rPr>
                        <m:nor/>
                      </m:rPr>
                      <a:rPr lang="en-US" i="1" dirty="0"/>
                      <m:t>λ</m:t>
                    </m:r>
                    <m:r>
                      <a:rPr lang="en-US" i="1" dirty="0">
                        <a:latin typeface="Cambria Math" panose="02040503050406030204" pitchFamily="18" charset="0"/>
                      </a:rPr>
                      <m:t> </m:t>
                    </m:r>
                  </m:oMath>
                </a14:m>
                <a:r>
                  <a:rPr lang="en-US" dirty="0"/>
                  <a:t>gets replaced by “effective” coverage </a:t>
                </a:r>
                <a14:m>
                  <m:oMath xmlns:m="http://schemas.openxmlformats.org/officeDocument/2006/math">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oMath>
                </a14:m>
                <a:r>
                  <a:rPr lang="en-US" dirty="0"/>
                  <a:t>. Then expected number of contigs becomes:</a:t>
                </a:r>
                <a:br>
                  <a:rPr lang="en-US" dirty="0"/>
                </a:b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smtClean="0"/>
                          <m:t>λ</m:t>
                        </m:r>
                      </m:sup>
                    </m:sSup>
                  </m:oMath>
                </a14:m>
                <a:endParaRPr lang="en-US" dirty="0"/>
              </a:p>
              <a:p>
                <a:r>
                  <a:rPr lang="en-US" dirty="0"/>
                  <a:t>Corrected formula for average contig size (remember </a:t>
                </a:r>
                <a:r>
                  <a:rPr lang="en-US" i="1" dirty="0"/>
                  <a:t>λ = NL/G )</a:t>
                </a:r>
                <a:r>
                  <a:rPr lang="en-US" dirty="0"/>
                  <a:t>:</a:t>
                </a:r>
              </a:p>
              <a:p>
                <a:pPr marL="0" indent="0">
                  <a:buNone/>
                </a:pPr>
                <a:br>
                  <a:rPr lang="en-US" dirty="0"/>
                </a:br>
                <a14:m>
                  <m:oMath xmlns:m="http://schemas.openxmlformats.org/officeDocument/2006/math">
                    <m:r>
                      <a:rPr lang="en-US" b="0" i="1" smtClean="0">
                        <a:latin typeface="Cambria Math" panose="02040503050406030204" pitchFamily="18" charset="0"/>
                      </a:rPr>
                      <m:t>𝐶</m:t>
                    </m:r>
                    <m:r>
                      <a:rPr lang="en-US" i="1" smtClean="0">
                        <a:latin typeface="Cambria Math" panose="02040503050406030204" pitchFamily="18" charset="0"/>
                      </a:rPr>
                      <m:t>=</m:t>
                    </m:r>
                    <m:f>
                      <m:fPr>
                        <m:ctrlPr>
                          <a:rPr lang="en-US"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𝑒</m:t>
                            </m:r>
                          </m:e>
                          <m:sup>
                            <m: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i="1" dirty="0">
                            <a:latin typeface="Cambria Math" panose="02040503050406030204" pitchFamily="18" charset="0"/>
                          </a:rPr>
                          <m:t>)</m:t>
                        </m:r>
                        <m:r>
                          <a:rPr lang="en-US" b="0" i="1" dirty="0" smtClean="0">
                            <a:latin typeface="Cambria Math" panose="02040503050406030204" pitchFamily="18" charset="0"/>
                          </a:rPr>
                          <m:t>+</m:t>
                        </m:r>
                        <m:r>
                          <a:rPr lang="en-US" b="0" i="1" dirty="0" smtClean="0">
                            <a:latin typeface="Cambria Math" panose="02040503050406030204" pitchFamily="18" charset="0"/>
                          </a:rPr>
                          <m:t>𝑂</m:t>
                        </m:r>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num>
                      <m:den>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den>
                    </m:f>
                    <m:r>
                      <a:rPr lang="en-US" b="0" i="0" smtClean="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𝑒</m:t>
                            </m:r>
                          </m:e>
                          <m:sup>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b="0" i="1" dirty="0" smtClean="0">
                            <a:latin typeface="Cambria Math" panose="02040503050406030204" pitchFamily="18" charset="0"/>
                          </a:rPr>
                          <m:t>−1</m:t>
                        </m:r>
                        <m:r>
                          <a:rPr lang="en-US" i="1" dirty="0">
                            <a:latin typeface="Cambria Math" panose="02040503050406030204" pitchFamily="18" charset="0"/>
                          </a:rPr>
                          <m:t>)</m:t>
                        </m:r>
                      </m:num>
                      <m:den>
                        <m:r>
                          <a:rPr lang="en-US" b="0" i="1" dirty="0" smtClean="0">
                            <a:latin typeface="Cambria Math" panose="02040503050406030204" pitchFamily="18" charset="0"/>
                          </a:rPr>
                          <m:t>𝑁</m:t>
                        </m:r>
                      </m:den>
                    </m:f>
                    <m:r>
                      <a:rPr lang="en-US" b="0" i="1" dirty="0" smtClean="0">
                        <a:latin typeface="Cambria Math" panose="02040503050406030204" pitchFamily="18" charset="0"/>
                      </a:rPr>
                      <m:t>+</m:t>
                    </m:r>
                    <m:r>
                      <a:rPr lang="en-US" i="1" dirty="0">
                        <a:latin typeface="Cambria Math" panose="02040503050406030204" pitchFamily="18" charset="0"/>
                      </a:rPr>
                      <m:t>𝐿</m:t>
                    </m:r>
                    <m:r>
                      <a:rPr lang="el-GR" i="1" dirty="0">
                        <a:latin typeface="Cambria Math" panose="02040503050406030204" pitchFamily="18" charset="0"/>
                        <a:ea typeface="Cambria Math" panose="02040503050406030204" pitchFamily="18" charset="0"/>
                      </a:rPr>
                      <m:t>𝜌</m:t>
                    </m:r>
                  </m:oMath>
                </a14:m>
                <a:r>
                  <a:rPr lang="en-US" b="0" dirty="0"/>
                  <a:t>=</a:t>
                </a:r>
                <a:r>
                  <a:rPr lang="en-US" dirty="0"/>
                  <a:t> </a:t>
                </a:r>
                <a14:m>
                  <m:oMath xmlns:m="http://schemas.openxmlformats.org/officeDocument/2006/math">
                    <m:r>
                      <a:rPr lang="en-US" i="1">
                        <a:latin typeface="Cambria Math" panose="02040503050406030204" pitchFamily="18" charset="0"/>
                      </a:rPr>
                      <m:t>𝐿</m:t>
                    </m:r>
                    <m:d>
                      <m:dPr>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i="1">
                                <a:latin typeface="Cambria Math" panose="02040503050406030204" pitchFamily="18" charset="0"/>
                              </a:rPr>
                              <m:t>−1</m:t>
                            </m:r>
                          </m:num>
                          <m:den>
                            <m:r>
                              <m:rPr>
                                <m:nor/>
                              </m:rPr>
                              <a:rPr lang="en-US" i="1" dirty="0"/>
                              <m:t>λ</m:t>
                            </m:r>
                          </m:den>
                        </m:f>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𝜌</m:t>
                        </m:r>
                      </m:e>
                    </m:d>
                  </m:oMath>
                </a14:m>
                <a:endParaRPr lang="en-US" b="0" dirty="0"/>
              </a:p>
              <a:p>
                <a:pPr marL="0" indent="0">
                  <a:buNone/>
                </a:pPr>
                <a:endParaRPr lang="en-US" dirty="0"/>
              </a:p>
              <a:p>
                <a:r>
                  <a:rPr lang="en-US" dirty="0"/>
                  <a:t>What happens when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i="1" smtClean="0">
                        <a:latin typeface="Cambria Math" panose="02040503050406030204" pitchFamily="18" charset="0"/>
                        <a:ea typeface="Cambria Math" panose="02040503050406030204" pitchFamily="18" charset="0"/>
                      </a:rPr>
                      <m:t>→1</m:t>
                    </m:r>
                  </m:oMath>
                </a14:m>
                <a:r>
                  <a:rPr lang="en-US" dirty="0"/>
                  <a:t>(very short reads) or when</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→0</m:t>
                    </m:r>
                  </m:oMath>
                </a14:m>
                <a:r>
                  <a:rPr lang="en-US" i="1" dirty="0"/>
                  <a:t> </a:t>
                </a:r>
                <a:r>
                  <a:rPr lang="en-US" dirty="0"/>
                  <a:t>(very long reads)  ?</a:t>
                </a:r>
              </a:p>
            </p:txBody>
          </p:sp>
        </mc:Choice>
        <mc:Fallback>
          <p:sp>
            <p:nvSpPr>
              <p:cNvPr id="3" name="Content Placeholder 2">
                <a:extLst>
                  <a:ext uri="{FF2B5EF4-FFF2-40B4-BE49-F238E27FC236}">
                    <a16:creationId xmlns:a16="http://schemas.microsoft.com/office/drawing/2014/main" id="{7A6C0A1E-F940-8A8B-DDFA-02DF5FFD5D21}"/>
                  </a:ext>
                </a:extLst>
              </p:cNvPr>
              <p:cNvSpPr>
                <a:spLocks noGrp="1" noRot="1" noChangeAspect="1" noMove="1" noResize="1" noEditPoints="1" noAdjustHandles="1" noChangeArrowheads="1" noChangeShapeType="1" noTextEdit="1"/>
              </p:cNvSpPr>
              <p:nvPr>
                <p:ph idx="1"/>
              </p:nvPr>
            </p:nvSpPr>
            <p:spPr>
              <a:xfrm>
                <a:off x="598620" y="1596540"/>
                <a:ext cx="10972800" cy="4886559"/>
              </a:xfrm>
              <a:blipFill>
                <a:blip r:embed="rId2"/>
                <a:stretch>
                  <a:fillRect l="-833" t="-125" r="-144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0D0638E-C7F1-E1B1-7CB6-792B40B9B424}"/>
              </a:ext>
            </a:extLst>
          </p:cNvPr>
          <p:cNvSpPr>
            <a:spLocks noGrp="1"/>
          </p:cNvSpPr>
          <p:nvPr>
            <p:ph type="sldNum" sz="quarter" idx="12"/>
          </p:nvPr>
        </p:nvSpPr>
        <p:spPr/>
        <p:txBody>
          <a:bodyPr/>
          <a:lstStyle/>
          <a:p>
            <a:fld id="{B82CCC60-E8CD-4174-8B1A-7DF615B22EEF}" type="slidenum">
              <a:rPr lang="en-US" smtClean="0"/>
              <a:pPr/>
              <a:t>64</a:t>
            </a:fld>
            <a:endParaRPr lang="en-US"/>
          </a:p>
        </p:txBody>
      </p:sp>
    </p:spTree>
    <p:extLst>
      <p:ext uri="{BB962C8B-B14F-4D97-AF65-F5344CB8AC3E}">
        <p14:creationId xmlns:p14="http://schemas.microsoft.com/office/powerpoint/2010/main" val="65128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8662</TotalTime>
  <Words>2978</Words>
  <Application>Microsoft Office PowerPoint</Application>
  <PresentationFormat>Widescreen</PresentationFormat>
  <Paragraphs>392</Paragraphs>
  <Slides>64</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64</vt:i4>
      </vt:variant>
    </vt:vector>
  </HeadingPairs>
  <TitlesOfParts>
    <vt:vector size="72" baseType="lpstr">
      <vt:lpstr>Arial</vt:lpstr>
      <vt:lpstr>Calibri</vt:lpstr>
      <vt:lpstr>Cambria Math</vt:lpstr>
      <vt:lpstr>Consolas</vt:lpstr>
      <vt:lpstr>Courier New</vt:lpstr>
      <vt:lpstr>Trebuchet MS</vt:lpstr>
      <vt:lpstr>Wingdings</vt:lpstr>
      <vt:lpstr>Office Theme</vt:lpstr>
      <vt:lpstr>PowerPoint Presentation</vt:lpstr>
      <vt:lpstr>PowerPoint Presentation</vt:lpstr>
      <vt:lpstr>Introduction to the course</vt:lpstr>
      <vt:lpstr>More on the grades</vt:lpstr>
      <vt:lpstr>Reading list and presentations</vt:lpstr>
      <vt:lpstr>Concepts we will learn</vt:lpstr>
      <vt:lpstr>Computing facilities</vt:lpstr>
      <vt:lpstr>What is DNA?</vt:lpstr>
      <vt:lpstr>Nucleotide: Phosphate, Base and Pentose sugar</vt:lpstr>
      <vt:lpstr>Nucleotide: Phosphate, Base and Pentose sugar</vt:lpstr>
      <vt:lpstr>Nucleotide: Phosphate, Base and Pentose sugar</vt:lpstr>
      <vt:lpstr>DNA replication</vt:lpstr>
      <vt:lpstr>Complementary strands</vt:lpstr>
      <vt:lpstr>DNA extraction</vt:lpstr>
      <vt:lpstr>DNA Extraction -Video</vt:lpstr>
      <vt:lpstr>Library preparation</vt:lpstr>
      <vt:lpstr>Library preparation</vt:lpstr>
      <vt:lpstr>DNA sequencing overview</vt:lpstr>
      <vt:lpstr>DNA sequencing data: (pairs of) reads</vt:lpstr>
      <vt:lpstr>Types of sequencing reads</vt:lpstr>
      <vt:lpstr>Types of sequencing reads</vt:lpstr>
      <vt:lpstr>Current DNA sequencing technologies</vt:lpstr>
      <vt:lpstr>Repeat regions cause mistakes</vt:lpstr>
      <vt:lpstr>Long reads help avoid mistakes</vt:lpstr>
      <vt:lpstr>Sequencing data formats</vt:lpstr>
      <vt:lpstr>Quality score</vt:lpstr>
      <vt:lpstr>Phred33 vs Phred64 encoding</vt:lpstr>
      <vt:lpstr>Fasta format</vt:lpstr>
      <vt:lpstr>Example fasta/qual format</vt:lpstr>
      <vt:lpstr>Fastq format</vt:lpstr>
      <vt:lpstr>Example fastq format</vt:lpstr>
      <vt:lpstr>BAM/SAM format</vt:lpstr>
      <vt:lpstr>BAM/SAM format</vt:lpstr>
      <vt:lpstr>SAM/BAM and samtools</vt:lpstr>
      <vt:lpstr>Lab 1: Convert fastq to fasta</vt:lpstr>
      <vt:lpstr>SAM format</vt:lpstr>
      <vt:lpstr>National Center for Biotechnology Information</vt:lpstr>
      <vt:lpstr>National Center for Biotechnology Information</vt:lpstr>
      <vt:lpstr>Finding information at NCBI</vt:lpstr>
      <vt:lpstr>Finding information at NCBI</vt:lpstr>
      <vt:lpstr>Finding information at NCBI</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vt:lpstr>
      <vt:lpstr>Finding information at NCBI:SRA</vt:lpstr>
      <vt:lpstr>Finding information at NCBI:SRA</vt:lpstr>
      <vt:lpstr>Downloading data from NCBI SRA: small sets</vt:lpstr>
      <vt:lpstr>Downloading data from NCBI SRA</vt:lpstr>
      <vt:lpstr>Using fastq-dump (part of sratoolkit)</vt:lpstr>
      <vt:lpstr>Coverage</vt:lpstr>
      <vt:lpstr>How much coverage is sufficient?</vt:lpstr>
      <vt:lpstr>Poisson distribution</vt:lpstr>
      <vt:lpstr>Example of a Poisson process</vt:lpstr>
      <vt:lpstr>Poisson distribution</vt:lpstr>
      <vt:lpstr>Poisson distribution and coverage</vt:lpstr>
      <vt:lpstr>Fraction of the genome covered</vt:lpstr>
      <vt:lpstr>Number of contigs and average length</vt:lpstr>
      <vt:lpstr>Genome is fully covered. Can this be assembled?</vt:lpstr>
      <vt:lpstr>Real life correction to contig length</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33</cp:revision>
  <dcterms:created xsi:type="dcterms:W3CDTF">2013-08-21T19:17:07Z</dcterms:created>
  <dcterms:modified xsi:type="dcterms:W3CDTF">2026-09-04T13:36:10Z</dcterms:modified>
</cp:coreProperties>
</file>