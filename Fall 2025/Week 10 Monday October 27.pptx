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850" r:id="rId2"/>
    <p:sldId id="572" r:id="rId3"/>
    <p:sldId id="823" r:id="rId4"/>
    <p:sldId id="825" r:id="rId5"/>
    <p:sldId id="827" r:id="rId6"/>
    <p:sldId id="826" r:id="rId7"/>
    <p:sldId id="828" r:id="rId8"/>
    <p:sldId id="83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7" autoAdjust="0"/>
    <p:restoredTop sz="93721" autoAdjust="0"/>
  </p:normalViewPr>
  <p:slideViewPr>
    <p:cSldViewPr snapToGrid="0">
      <p:cViewPr varScale="1">
        <p:scale>
          <a:sx n="99" d="100"/>
          <a:sy n="99" d="100"/>
        </p:scale>
        <p:origin x="240" y="84"/>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8553A319-8433-4677-8F80-E28D63617D4C}"/>
    <pc:docChg chg="delSld modSld">
      <pc:chgData name="Aleksey Zimin" userId="7f2637d0bc515791" providerId="LiveId" clId="{8553A319-8433-4677-8F80-E28D63617D4C}" dt="2025-10-29T14:22:29.650" v="23" actId="47"/>
      <pc:docMkLst>
        <pc:docMk/>
      </pc:docMkLst>
      <pc:sldChg chg="del">
        <pc:chgData name="Aleksey Zimin" userId="7f2637d0bc515791" providerId="LiveId" clId="{8553A319-8433-4677-8F80-E28D63617D4C}" dt="2025-10-29T14:22:17.133" v="22" actId="47"/>
        <pc:sldMkLst>
          <pc:docMk/>
          <pc:sldMk cId="1052403946" sldId="272"/>
        </pc:sldMkLst>
      </pc:sldChg>
      <pc:sldChg chg="del">
        <pc:chgData name="Aleksey Zimin" userId="7f2637d0bc515791" providerId="LiveId" clId="{8553A319-8433-4677-8F80-E28D63617D4C}" dt="2025-10-29T14:22:29.650" v="23" actId="47"/>
        <pc:sldMkLst>
          <pc:docMk/>
          <pc:sldMk cId="582660925" sldId="557"/>
        </pc:sldMkLst>
      </pc:sldChg>
      <pc:sldChg chg="del">
        <pc:chgData name="Aleksey Zimin" userId="7f2637d0bc515791" providerId="LiveId" clId="{8553A319-8433-4677-8F80-E28D63617D4C}" dt="2025-10-29T14:22:29.650" v="23" actId="47"/>
        <pc:sldMkLst>
          <pc:docMk/>
          <pc:sldMk cId="897960614" sldId="559"/>
        </pc:sldMkLst>
      </pc:sldChg>
      <pc:sldChg chg="del">
        <pc:chgData name="Aleksey Zimin" userId="7f2637d0bc515791" providerId="LiveId" clId="{8553A319-8433-4677-8F80-E28D63617D4C}" dt="2025-10-29T14:22:29.650" v="23" actId="47"/>
        <pc:sldMkLst>
          <pc:docMk/>
          <pc:sldMk cId="2016871750" sldId="560"/>
        </pc:sldMkLst>
      </pc:sldChg>
      <pc:sldChg chg="del">
        <pc:chgData name="Aleksey Zimin" userId="7f2637d0bc515791" providerId="LiveId" clId="{8553A319-8433-4677-8F80-E28D63617D4C}" dt="2025-10-29T14:22:29.650" v="23" actId="47"/>
        <pc:sldMkLst>
          <pc:docMk/>
          <pc:sldMk cId="3059937519" sldId="811"/>
        </pc:sldMkLst>
      </pc:sldChg>
      <pc:sldChg chg="del">
        <pc:chgData name="Aleksey Zimin" userId="7f2637d0bc515791" providerId="LiveId" clId="{8553A319-8433-4677-8F80-E28D63617D4C}" dt="2025-10-29T14:22:29.650" v="23" actId="47"/>
        <pc:sldMkLst>
          <pc:docMk/>
          <pc:sldMk cId="1248438669" sldId="824"/>
        </pc:sldMkLst>
      </pc:sldChg>
      <pc:sldChg chg="del">
        <pc:chgData name="Aleksey Zimin" userId="7f2637d0bc515791" providerId="LiveId" clId="{8553A319-8433-4677-8F80-E28D63617D4C}" dt="2025-10-29T14:22:29.650" v="23" actId="47"/>
        <pc:sldMkLst>
          <pc:docMk/>
          <pc:sldMk cId="1495454639" sldId="832"/>
        </pc:sldMkLst>
      </pc:sldChg>
      <pc:sldChg chg="del">
        <pc:chgData name="Aleksey Zimin" userId="7f2637d0bc515791" providerId="LiveId" clId="{8553A319-8433-4677-8F80-E28D63617D4C}" dt="2025-10-29T14:22:29.650" v="23" actId="47"/>
        <pc:sldMkLst>
          <pc:docMk/>
          <pc:sldMk cId="3625668558" sldId="833"/>
        </pc:sldMkLst>
      </pc:sldChg>
      <pc:sldChg chg="del">
        <pc:chgData name="Aleksey Zimin" userId="7f2637d0bc515791" providerId="LiveId" clId="{8553A319-8433-4677-8F80-E28D63617D4C}" dt="2025-10-29T14:22:29.650" v="23" actId="47"/>
        <pc:sldMkLst>
          <pc:docMk/>
          <pc:sldMk cId="2230780895" sldId="834"/>
        </pc:sldMkLst>
      </pc:sldChg>
      <pc:sldChg chg="del">
        <pc:chgData name="Aleksey Zimin" userId="7f2637d0bc515791" providerId="LiveId" clId="{8553A319-8433-4677-8F80-E28D63617D4C}" dt="2025-10-29T14:22:29.650" v="23" actId="47"/>
        <pc:sldMkLst>
          <pc:docMk/>
          <pc:sldMk cId="664404228" sldId="835"/>
        </pc:sldMkLst>
      </pc:sldChg>
      <pc:sldChg chg="del">
        <pc:chgData name="Aleksey Zimin" userId="7f2637d0bc515791" providerId="LiveId" clId="{8553A319-8433-4677-8F80-E28D63617D4C}" dt="2025-10-29T14:22:29.650" v="23" actId="47"/>
        <pc:sldMkLst>
          <pc:docMk/>
          <pc:sldMk cId="3256696827" sldId="836"/>
        </pc:sldMkLst>
      </pc:sldChg>
      <pc:sldChg chg="del">
        <pc:chgData name="Aleksey Zimin" userId="7f2637d0bc515791" providerId="LiveId" clId="{8553A319-8433-4677-8F80-E28D63617D4C}" dt="2025-10-29T14:22:29.650" v="23" actId="47"/>
        <pc:sldMkLst>
          <pc:docMk/>
          <pc:sldMk cId="1946252673" sldId="837"/>
        </pc:sldMkLst>
      </pc:sldChg>
      <pc:sldChg chg="del">
        <pc:chgData name="Aleksey Zimin" userId="7f2637d0bc515791" providerId="LiveId" clId="{8553A319-8433-4677-8F80-E28D63617D4C}" dt="2025-10-29T14:22:29.650" v="23" actId="47"/>
        <pc:sldMkLst>
          <pc:docMk/>
          <pc:sldMk cId="1295660035" sldId="838"/>
        </pc:sldMkLst>
      </pc:sldChg>
      <pc:sldChg chg="del">
        <pc:chgData name="Aleksey Zimin" userId="7f2637d0bc515791" providerId="LiveId" clId="{8553A319-8433-4677-8F80-E28D63617D4C}" dt="2025-10-29T14:22:29.650" v="23" actId="47"/>
        <pc:sldMkLst>
          <pc:docMk/>
          <pc:sldMk cId="1256113951" sldId="839"/>
        </pc:sldMkLst>
      </pc:sldChg>
      <pc:sldChg chg="del">
        <pc:chgData name="Aleksey Zimin" userId="7f2637d0bc515791" providerId="LiveId" clId="{8553A319-8433-4677-8F80-E28D63617D4C}" dt="2025-10-29T14:22:29.650" v="23" actId="47"/>
        <pc:sldMkLst>
          <pc:docMk/>
          <pc:sldMk cId="3012806712" sldId="840"/>
        </pc:sldMkLst>
      </pc:sldChg>
      <pc:sldChg chg="del">
        <pc:chgData name="Aleksey Zimin" userId="7f2637d0bc515791" providerId="LiveId" clId="{8553A319-8433-4677-8F80-E28D63617D4C}" dt="2025-10-29T14:22:29.650" v="23" actId="47"/>
        <pc:sldMkLst>
          <pc:docMk/>
          <pc:sldMk cId="763290966" sldId="841"/>
        </pc:sldMkLst>
      </pc:sldChg>
      <pc:sldChg chg="del">
        <pc:chgData name="Aleksey Zimin" userId="7f2637d0bc515791" providerId="LiveId" clId="{8553A319-8433-4677-8F80-E28D63617D4C}" dt="2025-10-29T14:22:29.650" v="23" actId="47"/>
        <pc:sldMkLst>
          <pc:docMk/>
          <pc:sldMk cId="2459509777" sldId="842"/>
        </pc:sldMkLst>
      </pc:sldChg>
      <pc:sldChg chg="del">
        <pc:chgData name="Aleksey Zimin" userId="7f2637d0bc515791" providerId="LiveId" clId="{8553A319-8433-4677-8F80-E28D63617D4C}" dt="2025-10-29T14:22:29.650" v="23" actId="47"/>
        <pc:sldMkLst>
          <pc:docMk/>
          <pc:sldMk cId="4155191155" sldId="843"/>
        </pc:sldMkLst>
      </pc:sldChg>
      <pc:sldChg chg="del">
        <pc:chgData name="Aleksey Zimin" userId="7f2637d0bc515791" providerId="LiveId" clId="{8553A319-8433-4677-8F80-E28D63617D4C}" dt="2025-10-29T14:22:29.650" v="23" actId="47"/>
        <pc:sldMkLst>
          <pc:docMk/>
          <pc:sldMk cId="1098893626" sldId="844"/>
        </pc:sldMkLst>
      </pc:sldChg>
      <pc:sldChg chg="del">
        <pc:chgData name="Aleksey Zimin" userId="7f2637d0bc515791" providerId="LiveId" clId="{8553A319-8433-4677-8F80-E28D63617D4C}" dt="2025-10-29T14:22:29.650" v="23" actId="47"/>
        <pc:sldMkLst>
          <pc:docMk/>
          <pc:sldMk cId="3967168509" sldId="845"/>
        </pc:sldMkLst>
      </pc:sldChg>
      <pc:sldChg chg="del">
        <pc:chgData name="Aleksey Zimin" userId="7f2637d0bc515791" providerId="LiveId" clId="{8553A319-8433-4677-8F80-E28D63617D4C}" dt="2025-10-29T14:22:29.650" v="23" actId="47"/>
        <pc:sldMkLst>
          <pc:docMk/>
          <pc:sldMk cId="3641111415" sldId="846"/>
        </pc:sldMkLst>
      </pc:sldChg>
      <pc:sldChg chg="modSp mod">
        <pc:chgData name="Aleksey Zimin" userId="7f2637d0bc515791" providerId="LiveId" clId="{8553A319-8433-4677-8F80-E28D63617D4C}" dt="2025-10-29T14:22:10.568" v="21" actId="20577"/>
        <pc:sldMkLst>
          <pc:docMk/>
          <pc:sldMk cId="1812347551" sldId="850"/>
        </pc:sldMkLst>
        <pc:spChg chg="mod">
          <ac:chgData name="Aleksey Zimin" userId="7f2637d0bc515791" providerId="LiveId" clId="{8553A319-8433-4677-8F80-E28D63617D4C}" dt="2025-10-29T14:22:10.568" v="21" actId="20577"/>
          <ac:spMkLst>
            <pc:docMk/>
            <pc:sldMk cId="1812347551" sldId="850"/>
            <ac:spMk id="3" creationId="{15BAB270-8CBA-89C2-3120-EF8B9E1726C7}"/>
          </ac:spMkLst>
        </pc:spChg>
      </pc:sldChg>
      <pc:sldChg chg="del">
        <pc:chgData name="Aleksey Zimin" userId="7f2637d0bc515791" providerId="LiveId" clId="{8553A319-8433-4677-8F80-E28D63617D4C}" dt="2025-10-29T14:22:29.650" v="23" actId="47"/>
        <pc:sldMkLst>
          <pc:docMk/>
          <pc:sldMk cId="523482158" sldId="851"/>
        </pc:sldMkLst>
      </pc:sldChg>
      <pc:sldChg chg="del">
        <pc:chgData name="Aleksey Zimin" userId="7f2637d0bc515791" providerId="LiveId" clId="{8553A319-8433-4677-8F80-E28D63617D4C}" dt="2025-10-29T14:22:29.650" v="23" actId="47"/>
        <pc:sldMkLst>
          <pc:docMk/>
          <pc:sldMk cId="2628352046" sldId="852"/>
        </pc:sldMkLst>
      </pc:sldChg>
      <pc:sldChg chg="del">
        <pc:chgData name="Aleksey Zimin" userId="7f2637d0bc515791" providerId="LiveId" clId="{8553A319-8433-4677-8F80-E28D63617D4C}" dt="2025-10-29T14:22:29.650" v="23" actId="47"/>
        <pc:sldMkLst>
          <pc:docMk/>
          <pc:sldMk cId="688161546" sldId="853"/>
        </pc:sldMkLst>
      </pc:sldChg>
      <pc:sldChg chg="del">
        <pc:chgData name="Aleksey Zimin" userId="7f2637d0bc515791" providerId="LiveId" clId="{8553A319-8433-4677-8F80-E28D63617D4C}" dt="2025-10-29T14:22:29.650" v="23" actId="47"/>
        <pc:sldMkLst>
          <pc:docMk/>
          <pc:sldMk cId="1582605635" sldId="854"/>
        </pc:sldMkLst>
      </pc:sldChg>
      <pc:sldChg chg="del">
        <pc:chgData name="Aleksey Zimin" userId="7f2637d0bc515791" providerId="LiveId" clId="{8553A319-8433-4677-8F80-E28D63617D4C}" dt="2025-10-29T14:22:29.650" v="23" actId="47"/>
        <pc:sldMkLst>
          <pc:docMk/>
          <pc:sldMk cId="2893015969" sldId="855"/>
        </pc:sldMkLst>
      </pc:sldChg>
      <pc:sldChg chg="del">
        <pc:chgData name="Aleksey Zimin" userId="7f2637d0bc515791" providerId="LiveId" clId="{8553A319-8433-4677-8F80-E28D63617D4C}" dt="2025-10-29T14:22:29.650" v="23" actId="47"/>
        <pc:sldMkLst>
          <pc:docMk/>
          <pc:sldMk cId="2155246616" sldId="856"/>
        </pc:sldMkLst>
      </pc:sldChg>
      <pc:sldChg chg="del">
        <pc:chgData name="Aleksey Zimin" userId="7f2637d0bc515791" providerId="LiveId" clId="{8553A319-8433-4677-8F80-E28D63617D4C}" dt="2025-10-29T14:22:29.650" v="23" actId="47"/>
        <pc:sldMkLst>
          <pc:docMk/>
          <pc:sldMk cId="140951592" sldId="857"/>
        </pc:sldMkLst>
      </pc:sldChg>
      <pc:sldChg chg="del">
        <pc:chgData name="Aleksey Zimin" userId="7f2637d0bc515791" providerId="LiveId" clId="{8553A319-8433-4677-8F80-E28D63617D4C}" dt="2025-10-29T14:22:29.650" v="23" actId="47"/>
        <pc:sldMkLst>
          <pc:docMk/>
          <pc:sldMk cId="3851234347" sldId="858"/>
        </pc:sldMkLst>
      </pc:sldChg>
      <pc:sldChg chg="del">
        <pc:chgData name="Aleksey Zimin" userId="7f2637d0bc515791" providerId="LiveId" clId="{8553A319-8433-4677-8F80-E28D63617D4C}" dt="2025-10-29T14:22:29.650" v="23" actId="47"/>
        <pc:sldMkLst>
          <pc:docMk/>
          <pc:sldMk cId="2509772218" sldId="859"/>
        </pc:sldMkLst>
      </pc:sldChg>
      <pc:sldChg chg="del">
        <pc:chgData name="Aleksey Zimin" userId="7f2637d0bc515791" providerId="LiveId" clId="{8553A319-8433-4677-8F80-E28D63617D4C}" dt="2025-10-29T14:22:29.650" v="23" actId="47"/>
        <pc:sldMkLst>
          <pc:docMk/>
          <pc:sldMk cId="3349687225" sldId="860"/>
        </pc:sldMkLst>
      </pc:sldChg>
      <pc:sldChg chg="del">
        <pc:chgData name="Aleksey Zimin" userId="7f2637d0bc515791" providerId="LiveId" clId="{8553A319-8433-4677-8F80-E28D63617D4C}" dt="2025-10-29T14:22:29.650" v="23" actId="47"/>
        <pc:sldMkLst>
          <pc:docMk/>
          <pc:sldMk cId="1777305015" sldId="861"/>
        </pc:sldMkLst>
      </pc:sldChg>
      <pc:sldChg chg="del">
        <pc:chgData name="Aleksey Zimin" userId="7f2637d0bc515791" providerId="LiveId" clId="{8553A319-8433-4677-8F80-E28D63617D4C}" dt="2025-10-29T14:22:29.650" v="23" actId="47"/>
        <pc:sldMkLst>
          <pc:docMk/>
          <pc:sldMk cId="3443782089" sldId="862"/>
        </pc:sldMkLst>
      </pc:sldChg>
      <pc:sldChg chg="del">
        <pc:chgData name="Aleksey Zimin" userId="7f2637d0bc515791" providerId="LiveId" clId="{8553A319-8433-4677-8F80-E28D63617D4C}" dt="2025-10-29T14:22:29.650" v="23" actId="47"/>
        <pc:sldMkLst>
          <pc:docMk/>
          <pc:sldMk cId="1731479648" sldId="863"/>
        </pc:sldMkLst>
      </pc:sldChg>
      <pc:sldChg chg="del">
        <pc:chgData name="Aleksey Zimin" userId="7f2637d0bc515791" providerId="LiveId" clId="{8553A319-8433-4677-8F80-E28D63617D4C}" dt="2025-10-29T14:22:29.650" v="23" actId="47"/>
        <pc:sldMkLst>
          <pc:docMk/>
          <pc:sldMk cId="80240427" sldId="864"/>
        </pc:sldMkLst>
      </pc:sldChg>
      <pc:sldChg chg="del">
        <pc:chgData name="Aleksey Zimin" userId="7f2637d0bc515791" providerId="LiveId" clId="{8553A319-8433-4677-8F80-E28D63617D4C}" dt="2025-10-29T14:22:29.650" v="23" actId="47"/>
        <pc:sldMkLst>
          <pc:docMk/>
          <pc:sldMk cId="2634646025" sldId="8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10/29/2025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10/29/2025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10/29/2025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10/29/2025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958E8-6553-6846-4A14-22724CEEB930}"/>
              </a:ext>
            </a:extLst>
          </p:cNvPr>
          <p:cNvSpPr>
            <a:spLocks noGrp="1"/>
          </p:cNvSpPr>
          <p:nvPr>
            <p:ph type="title"/>
          </p:nvPr>
        </p:nvSpPr>
        <p:spPr/>
        <p:txBody>
          <a:bodyPr>
            <a:normAutofit fontScale="90000"/>
          </a:bodyPr>
          <a:lstStyle/>
          <a:p>
            <a:r>
              <a:rPr lang="en-US" dirty="0"/>
              <a:t>Lab #5: Jaccard similarity</a:t>
            </a:r>
          </a:p>
        </p:txBody>
      </p:sp>
      <p:sp>
        <p:nvSpPr>
          <p:cNvPr id="3" name="Content Placeholder 2">
            <a:extLst>
              <a:ext uri="{FF2B5EF4-FFF2-40B4-BE49-F238E27FC236}">
                <a16:creationId xmlns:a16="http://schemas.microsoft.com/office/drawing/2014/main" id="{15BAB270-8CBA-89C2-3120-EF8B9E1726C7}"/>
              </a:ext>
            </a:extLst>
          </p:cNvPr>
          <p:cNvSpPr>
            <a:spLocks noGrp="1"/>
          </p:cNvSpPr>
          <p:nvPr>
            <p:ph idx="1"/>
          </p:nvPr>
        </p:nvSpPr>
        <p:spPr>
          <a:xfrm>
            <a:off x="598620" y="1596540"/>
            <a:ext cx="10972800" cy="5261460"/>
          </a:xfrm>
        </p:spPr>
        <p:txBody>
          <a:bodyPr>
            <a:normAutofit fontScale="70000" lnSpcReduction="20000"/>
          </a:bodyPr>
          <a:lstStyle/>
          <a:p>
            <a:r>
              <a:rPr lang="en-US" dirty="0"/>
              <a:t>In this lab assignment you will write set of functions to compute Jaccard similarity between genomes based on comparison of their fixed size sketches. Due November 10</a:t>
            </a:r>
            <a:r>
              <a:rPr lang="en-US" baseline="30000" dirty="0"/>
              <a:t>th</a:t>
            </a:r>
            <a:r>
              <a:rPr lang="en-US" dirty="0"/>
              <a:t> at 8:00pm</a:t>
            </a:r>
          </a:p>
          <a:p>
            <a:r>
              <a:rPr lang="en-US" dirty="0"/>
              <a:t>The goal is to write a Python script named </a:t>
            </a:r>
            <a:r>
              <a:rPr lang="en-US" b="1" dirty="0"/>
              <a:t>jaccard.py</a:t>
            </a:r>
            <a:r>
              <a:rPr lang="en-US" dirty="0"/>
              <a:t> containing the following functions:</a:t>
            </a:r>
          </a:p>
          <a:p>
            <a:pPr lvl="1"/>
            <a:r>
              <a:rPr lang="en-US" i="1" dirty="0" err="1"/>
              <a:t>reverse_complement</a:t>
            </a:r>
            <a:r>
              <a:rPr lang="en-US" i="1" dirty="0"/>
              <a:t>(seq): </a:t>
            </a:r>
            <a:r>
              <a:rPr lang="en-US" dirty="0"/>
              <a:t>returns reverse complement of sequence seq; </a:t>
            </a:r>
            <a:r>
              <a:rPr lang="en-US" u="sng" dirty="0"/>
              <a:t>reuse this function from Lab #2</a:t>
            </a:r>
            <a:r>
              <a:rPr lang="en-US" dirty="0"/>
              <a:t>.</a:t>
            </a:r>
          </a:p>
          <a:p>
            <a:pPr lvl="1"/>
            <a:r>
              <a:rPr lang="en-US" i="1" dirty="0" err="1"/>
              <a:t>compute_num_value</a:t>
            </a:r>
            <a:r>
              <a:rPr lang="en-US" i="1" dirty="0"/>
              <a:t> (seq): </a:t>
            </a:r>
            <a:r>
              <a:rPr lang="en-US" dirty="0"/>
              <a:t>returns minimum numerical value between forward and reverse versions of the sequence </a:t>
            </a:r>
            <a:r>
              <a:rPr lang="en-US" i="1" dirty="0"/>
              <a:t>seq</a:t>
            </a:r>
            <a:r>
              <a:rPr lang="en-US" dirty="0"/>
              <a:t>; </a:t>
            </a:r>
            <a:r>
              <a:rPr lang="en-US" u="sng" dirty="0"/>
              <a:t>reuse this function from Lab #2</a:t>
            </a:r>
            <a:r>
              <a:rPr lang="en-US" dirty="0"/>
              <a:t>.</a:t>
            </a:r>
          </a:p>
          <a:p>
            <a:pPr lvl="1"/>
            <a:r>
              <a:rPr lang="en-US" dirty="0"/>
              <a:t>(G:30pt,U:30pt) </a:t>
            </a:r>
            <a:r>
              <a:rPr lang="en-US" i="1" dirty="0" err="1"/>
              <a:t>load_fasta_to_dict</a:t>
            </a:r>
            <a:r>
              <a:rPr lang="en-US" i="1" dirty="0"/>
              <a:t>(</a:t>
            </a:r>
            <a:r>
              <a:rPr lang="en-US" i="1" dirty="0" err="1"/>
              <a:t>fasta_path</a:t>
            </a:r>
            <a:r>
              <a:rPr lang="en-US" i="1" dirty="0"/>
              <a:t>): </a:t>
            </a:r>
            <a:r>
              <a:rPr lang="en-US" dirty="0"/>
              <a:t>parses fasta file </a:t>
            </a:r>
            <a:r>
              <a:rPr lang="en-US" i="1" dirty="0" err="1"/>
              <a:t>fasta_path</a:t>
            </a:r>
            <a:r>
              <a:rPr lang="en-US" i="1" dirty="0"/>
              <a:t> </a:t>
            </a:r>
            <a:r>
              <a:rPr lang="en-US" dirty="0"/>
              <a:t>and returns a dictionary where keys are names of fasta sequences, and values are the genome sequences</a:t>
            </a:r>
          </a:p>
          <a:p>
            <a:pPr lvl="1"/>
            <a:r>
              <a:rPr lang="en-US" dirty="0"/>
              <a:t>(G:30pt,U:30pt) </a:t>
            </a:r>
            <a:r>
              <a:rPr lang="en-US" i="1" dirty="0" err="1"/>
              <a:t>compute_sketch</a:t>
            </a:r>
            <a:r>
              <a:rPr lang="en-US" i="1" dirty="0"/>
              <a:t>(</a:t>
            </a:r>
            <a:r>
              <a:rPr lang="en-US" i="1" dirty="0" err="1"/>
              <a:t>seq_dict,k,s</a:t>
            </a:r>
            <a:r>
              <a:rPr lang="en-US" i="1" dirty="0"/>
              <a:t>): </a:t>
            </a:r>
            <a:r>
              <a:rPr lang="en-US" dirty="0"/>
              <a:t>returns a sketch, which is an array of </a:t>
            </a:r>
            <a:r>
              <a:rPr lang="en-US" i="1" dirty="0"/>
              <a:t>s</a:t>
            </a:r>
            <a:r>
              <a:rPr lang="en-US" dirty="0"/>
              <a:t> smallest distinct integer k-mer values sorted from smallest to largest for all k-</a:t>
            </a:r>
            <a:r>
              <a:rPr lang="en-US" dirty="0" err="1"/>
              <a:t>mers</a:t>
            </a:r>
            <a:r>
              <a:rPr lang="en-US" dirty="0"/>
              <a:t> of size </a:t>
            </a:r>
            <a:r>
              <a:rPr lang="en-US" i="1" dirty="0"/>
              <a:t>k</a:t>
            </a:r>
            <a:r>
              <a:rPr lang="en-US" dirty="0"/>
              <a:t> in all genome sequences in </a:t>
            </a:r>
            <a:r>
              <a:rPr lang="en-US" i="1" dirty="0" err="1"/>
              <a:t>seq_dict</a:t>
            </a:r>
            <a:endParaRPr lang="en-US" i="1" dirty="0"/>
          </a:p>
          <a:p>
            <a:pPr lvl="1"/>
            <a:r>
              <a:rPr lang="en-US" dirty="0"/>
              <a:t>(G:30pt,U:40pt) </a:t>
            </a:r>
            <a:r>
              <a:rPr lang="en-US" i="1" dirty="0" err="1"/>
              <a:t>compare_sketches</a:t>
            </a:r>
            <a:r>
              <a:rPr lang="en-US" i="1" dirty="0"/>
              <a:t>(sketch1,sketch2,s): </a:t>
            </a:r>
            <a:r>
              <a:rPr lang="en-US" dirty="0"/>
              <a:t>computes Jaccard similarity for sketches </a:t>
            </a:r>
            <a:r>
              <a:rPr lang="en-US" i="1" dirty="0"/>
              <a:t>sketch1</a:t>
            </a:r>
            <a:r>
              <a:rPr lang="en-US" dirty="0"/>
              <a:t> and </a:t>
            </a:r>
            <a:r>
              <a:rPr lang="en-US" i="1" dirty="0"/>
              <a:t>sketch2</a:t>
            </a:r>
            <a:r>
              <a:rPr lang="en-US" dirty="0"/>
              <a:t> of size </a:t>
            </a:r>
            <a:r>
              <a:rPr lang="en-US" i="1" dirty="0"/>
              <a:t>s, </a:t>
            </a:r>
            <a:r>
              <a:rPr lang="en-US" dirty="0"/>
              <a:t>returns a floating-point number between 0 and 1</a:t>
            </a:r>
            <a:r>
              <a:rPr lang="en-US" i="1" dirty="0"/>
              <a:t>.</a:t>
            </a:r>
          </a:p>
          <a:p>
            <a:r>
              <a:rPr lang="en-US" dirty="0"/>
              <a:t>Graduate students only: (10pt) download two HIV virus sequences from NCBI: accessions GCA_003109165.1 and GCA_003109225.1; use s=20, vary K from 6 to 101, plot Jaccard(K,s).  At what value of K Jaccard similarity becomes equal to 0? Upload a figure containing plot of Jaccard(K,s) as function of K. Add a box with value of K’ where Jaccard (K,20)’==0</a:t>
            </a:r>
          </a:p>
        </p:txBody>
      </p:sp>
      <p:sp>
        <p:nvSpPr>
          <p:cNvPr id="4" name="Slide Number Placeholder 3">
            <a:extLst>
              <a:ext uri="{FF2B5EF4-FFF2-40B4-BE49-F238E27FC236}">
                <a16:creationId xmlns:a16="http://schemas.microsoft.com/office/drawing/2014/main" id="{72CAADF0-F1F7-C3B8-ED06-EFFA1A9808E4}"/>
              </a:ext>
            </a:extLst>
          </p:cNvPr>
          <p:cNvSpPr>
            <a:spLocks noGrp="1"/>
          </p:cNvSpPr>
          <p:nvPr>
            <p:ph type="sldNum" sz="quarter" idx="12"/>
          </p:nvPr>
        </p:nvSpPr>
        <p:spPr/>
        <p:txBody>
          <a:bodyPr/>
          <a:lstStyle/>
          <a:p>
            <a:r>
              <a:rPr lang="en-US" dirty="0"/>
              <a:t>‘</a:t>
            </a:r>
            <a:fld id="{B82CCC60-E8CD-4174-8B1A-7DF615B22EEF}" type="slidenum">
              <a:rPr lang="en-US" smtClean="0"/>
              <a:pPr/>
              <a:t>1</a:t>
            </a:fld>
            <a:endParaRPr lang="en-US" dirty="0"/>
          </a:p>
        </p:txBody>
      </p:sp>
    </p:spTree>
    <p:extLst>
      <p:ext uri="{BB962C8B-B14F-4D97-AF65-F5344CB8AC3E}">
        <p14:creationId xmlns:p14="http://schemas.microsoft.com/office/powerpoint/2010/main" val="1812347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4263-242C-6CC7-B01C-AFEB51159959}"/>
              </a:ext>
            </a:extLst>
          </p:cNvPr>
          <p:cNvSpPr>
            <a:spLocks noGrp="1"/>
          </p:cNvSpPr>
          <p:nvPr>
            <p:ph type="title"/>
          </p:nvPr>
        </p:nvSpPr>
        <p:spPr/>
        <p:txBody>
          <a:bodyPr>
            <a:normAutofit fontScale="90000"/>
          </a:bodyPr>
          <a:lstStyle/>
          <a:p>
            <a:r>
              <a:rPr lang="en-US"/>
              <a:t>Jaccard similarity </a:t>
            </a:r>
            <a:r>
              <a:rPr lang="en-US" dirty="0"/>
              <a:t>example</a:t>
            </a:r>
          </a:p>
        </p:txBody>
      </p:sp>
      <p:sp>
        <p:nvSpPr>
          <p:cNvPr id="4" name="Slide Number Placeholder 3">
            <a:extLst>
              <a:ext uri="{FF2B5EF4-FFF2-40B4-BE49-F238E27FC236}">
                <a16:creationId xmlns:a16="http://schemas.microsoft.com/office/drawing/2014/main" id="{DF16F097-DD93-03E1-4C18-E74BAA43F5DD}"/>
              </a:ext>
            </a:extLst>
          </p:cNvPr>
          <p:cNvSpPr>
            <a:spLocks noGrp="1"/>
          </p:cNvSpPr>
          <p:nvPr>
            <p:ph type="sldNum" sz="quarter" idx="12"/>
          </p:nvPr>
        </p:nvSpPr>
        <p:spPr/>
        <p:txBody>
          <a:bodyPr/>
          <a:lstStyle/>
          <a:p>
            <a:fld id="{B82CCC60-E8CD-4174-8B1A-7DF615B22EEF}" type="slidenum">
              <a:rPr lang="en-US" smtClean="0"/>
              <a:pPr/>
              <a:t>2</a:t>
            </a:fld>
            <a:endParaRPr lang="en-US"/>
          </a:p>
        </p:txBody>
      </p:sp>
      <p:pic>
        <p:nvPicPr>
          <p:cNvPr id="6" name="Picture 5">
            <a:extLst>
              <a:ext uri="{FF2B5EF4-FFF2-40B4-BE49-F238E27FC236}">
                <a16:creationId xmlns:a16="http://schemas.microsoft.com/office/drawing/2014/main" id="{7DF11E5F-D808-C7A6-A6C8-ABC8D0FF5E7F}"/>
              </a:ext>
            </a:extLst>
          </p:cNvPr>
          <p:cNvPicPr>
            <a:picLocks noChangeAspect="1"/>
          </p:cNvPicPr>
          <p:nvPr/>
        </p:nvPicPr>
        <p:blipFill>
          <a:blip r:embed="rId2"/>
          <a:stretch>
            <a:fillRect/>
          </a:stretch>
        </p:blipFill>
        <p:spPr>
          <a:xfrm>
            <a:off x="950685" y="2356839"/>
            <a:ext cx="7586294" cy="450116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9F9420-DCE3-AB8F-F68E-52DDC1D0B528}"/>
                  </a:ext>
                </a:extLst>
              </p:cNvPr>
              <p:cNvSpPr txBox="1"/>
              <p:nvPr/>
            </p:nvSpPr>
            <p:spPr>
              <a:xfrm>
                <a:off x="4743832" y="5074047"/>
                <a:ext cx="5783943" cy="90948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b="0" i="1" smtClean="0">
                                          <a:latin typeface="Cambria Math" panose="02040503050406030204" pitchFamily="18" charset="0"/>
                                        </a:rPr>
                                        <m:t>)</m:t>
                                      </m:r>
                                    </m:e>
                                  </m:nary>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 </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509F9420-DCE3-AB8F-F68E-52DDC1D0B528}"/>
                  </a:ext>
                </a:extLst>
              </p:cNvPr>
              <p:cNvSpPr txBox="1">
                <a:spLocks noRot="1" noChangeAspect="1" noMove="1" noResize="1" noEditPoints="1" noAdjustHandles="1" noChangeArrowheads="1" noChangeShapeType="1" noTextEdit="1"/>
              </p:cNvSpPr>
              <p:nvPr/>
            </p:nvSpPr>
            <p:spPr>
              <a:xfrm>
                <a:off x="4743832" y="5074047"/>
                <a:ext cx="5783943" cy="909480"/>
              </a:xfrm>
              <a:prstGeom prst="rect">
                <a:avLst/>
              </a:prstGeom>
              <a:blipFill>
                <a:blip r:embed="rId3"/>
                <a:stretch>
                  <a:fillRect/>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7BF95251-9893-30FB-7630-A9AFBA80724F}"/>
              </a:ext>
            </a:extLst>
          </p:cNvPr>
          <p:cNvPicPr>
            <a:picLocks noChangeAspect="1"/>
          </p:cNvPicPr>
          <p:nvPr/>
        </p:nvPicPr>
        <p:blipFill>
          <a:blip r:embed="rId4"/>
          <a:stretch>
            <a:fillRect/>
          </a:stretch>
        </p:blipFill>
        <p:spPr>
          <a:xfrm>
            <a:off x="3077028" y="1329213"/>
            <a:ext cx="7679346" cy="98021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8472F7-10E2-DEB7-8AAB-3E44B78188C9}"/>
                  </a:ext>
                </a:extLst>
              </p:cNvPr>
              <p:cNvSpPr txBox="1"/>
              <p:nvPr/>
            </p:nvSpPr>
            <p:spPr>
              <a:xfrm>
                <a:off x="1531256" y="2309428"/>
                <a:ext cx="805543" cy="52322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i="1" smtClean="0">
                          <a:latin typeface="Cambria Math" panose="02040503050406030204" pitchFamily="18" charset="0"/>
                        </a:rPr>
                        <m:t>𝐴</m:t>
                      </m:r>
                      <m:r>
                        <a:rPr lang="en-US" sz="2800" i="1" smtClean="0">
                          <a:latin typeface="Cambria Math" panose="02040503050406030204" pitchFamily="18" charset="0"/>
                        </a:rPr>
                        <m:t>) </m:t>
                      </m:r>
                    </m:oMath>
                  </m:oMathPara>
                </a14:m>
                <a:endParaRPr lang="en-US" sz="2800" dirty="0"/>
              </a:p>
            </p:txBody>
          </p:sp>
        </mc:Choice>
        <mc:Fallback xmlns="">
          <p:sp>
            <p:nvSpPr>
              <p:cNvPr id="11" name="TextBox 10">
                <a:extLst>
                  <a:ext uri="{FF2B5EF4-FFF2-40B4-BE49-F238E27FC236}">
                    <a16:creationId xmlns:a16="http://schemas.microsoft.com/office/drawing/2014/main" id="{DC8472F7-10E2-DEB7-8AAB-3E44B78188C9}"/>
                  </a:ext>
                </a:extLst>
              </p:cNvPr>
              <p:cNvSpPr txBox="1">
                <a:spLocks noRot="1" noChangeAspect="1" noMove="1" noResize="1" noEditPoints="1" noAdjustHandles="1" noChangeArrowheads="1" noChangeShapeType="1" noTextEdit="1"/>
              </p:cNvSpPr>
              <p:nvPr/>
            </p:nvSpPr>
            <p:spPr>
              <a:xfrm>
                <a:off x="1531256" y="2309428"/>
                <a:ext cx="80554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C831720-D3D5-94BD-3BF6-78A0FD0F4890}"/>
                  </a:ext>
                </a:extLst>
              </p:cNvPr>
              <p:cNvSpPr txBox="1"/>
              <p:nvPr/>
            </p:nvSpPr>
            <p:spPr>
              <a:xfrm>
                <a:off x="1465942" y="4468998"/>
                <a:ext cx="805543" cy="52322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b="0" i="1" smtClean="0">
                          <a:latin typeface="Cambria Math" panose="02040503050406030204" pitchFamily="18" charset="0"/>
                        </a:rPr>
                        <m:t>𝐵</m:t>
                      </m:r>
                      <m:r>
                        <a:rPr lang="en-US" sz="2800" i="1" smtClean="0">
                          <a:latin typeface="Cambria Math" panose="02040503050406030204" pitchFamily="18" charset="0"/>
                        </a:rPr>
                        <m:t>) </m:t>
                      </m:r>
                    </m:oMath>
                  </m:oMathPara>
                </a14:m>
                <a:endParaRPr lang="en-US" sz="2800" dirty="0"/>
              </a:p>
            </p:txBody>
          </p:sp>
        </mc:Choice>
        <mc:Fallback xmlns="">
          <p:sp>
            <p:nvSpPr>
              <p:cNvPr id="12" name="TextBox 11">
                <a:extLst>
                  <a:ext uri="{FF2B5EF4-FFF2-40B4-BE49-F238E27FC236}">
                    <a16:creationId xmlns:a16="http://schemas.microsoft.com/office/drawing/2014/main" id="{6C831720-D3D5-94BD-3BF6-78A0FD0F4890}"/>
                  </a:ext>
                </a:extLst>
              </p:cNvPr>
              <p:cNvSpPr txBox="1">
                <a:spLocks noRot="1" noChangeAspect="1" noMove="1" noResize="1" noEditPoints="1" noAdjustHandles="1" noChangeArrowheads="1" noChangeShapeType="1" noTextEdit="1"/>
              </p:cNvSpPr>
              <p:nvPr/>
            </p:nvSpPr>
            <p:spPr>
              <a:xfrm>
                <a:off x="1465942" y="4468998"/>
                <a:ext cx="80554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AA15ABC-03D7-7630-6A8D-D6CDE5B828B6}"/>
                  </a:ext>
                </a:extLst>
              </p:cNvPr>
              <p:cNvSpPr txBox="1"/>
              <p:nvPr/>
            </p:nvSpPr>
            <p:spPr>
              <a:xfrm>
                <a:off x="2518228" y="2932742"/>
                <a:ext cx="1465944" cy="992516"/>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𝑆</m:t>
                      </m:r>
                      <m:r>
                        <a:rPr lang="en-US" sz="2400" i="1" smtClean="0">
                          <a:latin typeface="Cambria Math" panose="02040503050406030204" pitchFamily="18" charset="0"/>
                        </a:rPr>
                        <m:t>(</m:t>
                      </m:r>
                      <m:r>
                        <a:rPr lang="en-US" sz="2400" i="1" smtClean="0">
                          <a:latin typeface="Cambria Math" panose="02040503050406030204" pitchFamily="18" charset="0"/>
                        </a:rPr>
                        <m:t>𝐴</m:t>
                      </m:r>
                      <m:nary>
                        <m:naryPr>
                          <m:chr m:val="⋃"/>
                          <m:subHide m:val="on"/>
                          <m:supHide m:val="on"/>
                          <m:ctrlPr>
                            <a:rPr lang="en-US" sz="2400" i="1" smtClean="0">
                              <a:latin typeface="Cambria Math" panose="02040503050406030204" pitchFamily="18" charset="0"/>
                            </a:rPr>
                          </m:ctrlPr>
                        </m:naryPr>
                        <m:sub/>
                        <m:sup/>
                        <m:e>
                          <m:r>
                            <a:rPr lang="en-US" sz="2400" b="0" i="1" smtClean="0">
                              <a:latin typeface="Cambria Math" panose="02040503050406030204" pitchFamily="18" charset="0"/>
                            </a:rPr>
                            <m:t>𝐵</m:t>
                          </m:r>
                          <m:r>
                            <a:rPr lang="en-US" sz="2400" b="0" i="1" smtClean="0">
                              <a:latin typeface="Cambria Math" panose="02040503050406030204" pitchFamily="18" charset="0"/>
                            </a:rPr>
                            <m:t>)</m:t>
                          </m:r>
                        </m:e>
                      </m:nary>
                    </m:oMath>
                  </m:oMathPara>
                </a14:m>
                <a:endParaRPr lang="en-US" sz="2400" dirty="0"/>
              </a:p>
            </p:txBody>
          </p:sp>
        </mc:Choice>
        <mc:Fallback xmlns="">
          <p:sp>
            <p:nvSpPr>
              <p:cNvPr id="13" name="TextBox 12">
                <a:extLst>
                  <a:ext uri="{FF2B5EF4-FFF2-40B4-BE49-F238E27FC236}">
                    <a16:creationId xmlns:a16="http://schemas.microsoft.com/office/drawing/2014/main" id="{7AA15ABC-03D7-7630-6A8D-D6CDE5B828B6}"/>
                  </a:ext>
                </a:extLst>
              </p:cNvPr>
              <p:cNvSpPr txBox="1">
                <a:spLocks noRot="1" noChangeAspect="1" noMove="1" noResize="1" noEditPoints="1" noAdjustHandles="1" noChangeArrowheads="1" noChangeShapeType="1" noTextEdit="1"/>
              </p:cNvSpPr>
              <p:nvPr/>
            </p:nvSpPr>
            <p:spPr>
              <a:xfrm>
                <a:off x="2518228" y="2932742"/>
                <a:ext cx="1465944" cy="99251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4876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B8FCB-73ED-8DDD-93C0-2D14E24CB9C3}"/>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D81C5115-8A33-E86F-8D76-7D36BE76A7A5}"/>
              </a:ext>
            </a:extLst>
          </p:cNvPr>
          <p:cNvSpPr>
            <a:spLocks noGrp="1"/>
          </p:cNvSpPr>
          <p:nvPr>
            <p:ph idx="1"/>
          </p:nvPr>
        </p:nvSpPr>
        <p:spPr>
          <a:xfrm>
            <a:off x="598620" y="1596540"/>
            <a:ext cx="4970907" cy="5124936"/>
          </a:xfrm>
        </p:spPr>
        <p:txBody>
          <a:bodyPr>
            <a:normAutofit lnSpcReduction="10000"/>
          </a:bodyPr>
          <a:lstStyle/>
          <a:p>
            <a:r>
              <a:rPr lang="en-US" dirty="0"/>
              <a:t>Use spliced alignments</a:t>
            </a:r>
          </a:p>
          <a:p>
            <a:r>
              <a:rPr lang="en-US" dirty="0"/>
              <a:t>Typically faster and more accurate</a:t>
            </a:r>
          </a:p>
          <a:p>
            <a:r>
              <a:rPr lang="en-US" dirty="0"/>
              <a:t>Build </a:t>
            </a:r>
            <a:r>
              <a:rPr lang="en-US" i="1" dirty="0"/>
              <a:t>splice graph:</a:t>
            </a:r>
          </a:p>
          <a:p>
            <a:pPr lvl="1"/>
            <a:r>
              <a:rPr lang="en-US" dirty="0"/>
              <a:t>Nodes are exons</a:t>
            </a:r>
          </a:p>
          <a:p>
            <a:pPr lvl="1"/>
            <a:r>
              <a:rPr lang="en-US" dirty="0"/>
              <a:t>Edges are introns</a:t>
            </a:r>
          </a:p>
          <a:p>
            <a:pPr lvl="1"/>
            <a:r>
              <a:rPr lang="en-US" dirty="0"/>
              <a:t>Edge weight is the number of spliced reads</a:t>
            </a:r>
          </a:p>
          <a:p>
            <a:r>
              <a:rPr lang="en-US" dirty="0"/>
              <a:t>Remember that these data represent several linear transcripts</a:t>
            </a:r>
          </a:p>
        </p:txBody>
      </p:sp>
      <p:sp>
        <p:nvSpPr>
          <p:cNvPr id="4" name="Slide Number Placeholder 3">
            <a:extLst>
              <a:ext uri="{FF2B5EF4-FFF2-40B4-BE49-F238E27FC236}">
                <a16:creationId xmlns:a16="http://schemas.microsoft.com/office/drawing/2014/main" id="{2A1FD99D-5F07-0441-DA42-26D97D6949C5}"/>
              </a:ext>
            </a:extLst>
          </p:cNvPr>
          <p:cNvSpPr>
            <a:spLocks noGrp="1"/>
          </p:cNvSpPr>
          <p:nvPr>
            <p:ph type="sldNum" sz="quarter" idx="12"/>
          </p:nvPr>
        </p:nvSpPr>
        <p:spPr/>
        <p:txBody>
          <a:bodyPr/>
          <a:lstStyle/>
          <a:p>
            <a:fld id="{B82CCC60-E8CD-4174-8B1A-7DF615B22EEF}" type="slidenum">
              <a:rPr lang="en-US" smtClean="0"/>
              <a:pPr/>
              <a:t>3</a:t>
            </a:fld>
            <a:endParaRPr lang="en-US"/>
          </a:p>
        </p:txBody>
      </p:sp>
      <p:pic>
        <p:nvPicPr>
          <p:cNvPr id="6" name="Picture 5">
            <a:extLst>
              <a:ext uri="{FF2B5EF4-FFF2-40B4-BE49-F238E27FC236}">
                <a16:creationId xmlns:a16="http://schemas.microsoft.com/office/drawing/2014/main" id="{770E8454-EDB9-F313-7508-D659A7DF43B8}"/>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12E39988-27F3-BD0D-FD4F-3B4D1610A782}"/>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Tree>
    <p:extLst>
      <p:ext uri="{BB962C8B-B14F-4D97-AF65-F5344CB8AC3E}">
        <p14:creationId xmlns:p14="http://schemas.microsoft.com/office/powerpoint/2010/main" val="2068933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76769-3BB3-9D98-65BC-4DE6E616B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DBFAC-04B0-8310-4F4E-270443094130}"/>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0714195D-A767-9659-DDA1-23587D59564F}"/>
              </a:ext>
            </a:extLst>
          </p:cNvPr>
          <p:cNvSpPr>
            <a:spLocks noGrp="1"/>
          </p:cNvSpPr>
          <p:nvPr>
            <p:ph idx="1"/>
          </p:nvPr>
        </p:nvSpPr>
        <p:spPr>
          <a:xfrm>
            <a:off x="598620" y="1596540"/>
            <a:ext cx="4970907" cy="4581150"/>
          </a:xfrm>
        </p:spPr>
        <p:txBody>
          <a:bodyPr>
            <a:normAutofit fontScale="92500" lnSpcReduction="10000"/>
          </a:bodyPr>
          <a:lstStyle/>
          <a:p>
            <a:r>
              <a:rPr lang="en-US" dirty="0"/>
              <a:t>Can be solved as a variant of </a:t>
            </a:r>
            <a:r>
              <a:rPr lang="en-US" i="1" dirty="0"/>
              <a:t>maximum flow </a:t>
            </a:r>
            <a:r>
              <a:rPr lang="en-US" dirty="0"/>
              <a:t>problem</a:t>
            </a:r>
          </a:p>
          <a:p>
            <a:r>
              <a:rPr lang="en-US" dirty="0"/>
              <a:t>The problem: distribute paths</a:t>
            </a:r>
            <a:r>
              <a:rPr lang="en-US"/>
              <a:t>(flows)  </a:t>
            </a:r>
            <a:r>
              <a:rPr lang="en-US" dirty="0"/>
              <a:t>between several linear transcripts</a:t>
            </a:r>
          </a:p>
          <a:p>
            <a:r>
              <a:rPr lang="en-US" dirty="0"/>
              <a:t>Algorithm: </a:t>
            </a:r>
          </a:p>
          <a:p>
            <a:pPr lvl="1"/>
            <a:r>
              <a:rPr lang="en-US" dirty="0"/>
              <a:t>Compute the path of heaviest coverage</a:t>
            </a:r>
          </a:p>
          <a:p>
            <a:pPr lvl="1"/>
            <a:r>
              <a:rPr lang="en-US" dirty="0"/>
              <a:t>Remove the reads used in the path</a:t>
            </a:r>
          </a:p>
          <a:p>
            <a:pPr lvl="1"/>
            <a:r>
              <a:rPr lang="en-US" dirty="0"/>
              <a:t>iterate</a:t>
            </a:r>
          </a:p>
        </p:txBody>
      </p:sp>
      <p:sp>
        <p:nvSpPr>
          <p:cNvPr id="4" name="Slide Number Placeholder 3">
            <a:extLst>
              <a:ext uri="{FF2B5EF4-FFF2-40B4-BE49-F238E27FC236}">
                <a16:creationId xmlns:a16="http://schemas.microsoft.com/office/drawing/2014/main" id="{3CB789D3-06F2-FC77-BADE-3F6B2303F541}"/>
              </a:ext>
            </a:extLst>
          </p:cNvPr>
          <p:cNvSpPr>
            <a:spLocks noGrp="1"/>
          </p:cNvSpPr>
          <p:nvPr>
            <p:ph type="sldNum" sz="quarter" idx="12"/>
          </p:nvPr>
        </p:nvSpPr>
        <p:spPr/>
        <p:txBody>
          <a:bodyPr/>
          <a:lstStyle/>
          <a:p>
            <a:fld id="{B82CCC60-E8CD-4174-8B1A-7DF615B22EEF}" type="slidenum">
              <a:rPr lang="en-US" smtClean="0"/>
              <a:pPr/>
              <a:t>4</a:t>
            </a:fld>
            <a:endParaRPr lang="en-US"/>
          </a:p>
        </p:txBody>
      </p:sp>
      <p:pic>
        <p:nvPicPr>
          <p:cNvPr id="6" name="Picture 5">
            <a:extLst>
              <a:ext uri="{FF2B5EF4-FFF2-40B4-BE49-F238E27FC236}">
                <a16:creationId xmlns:a16="http://schemas.microsoft.com/office/drawing/2014/main" id="{199C9638-0304-684A-D4FF-F9B86446983B}"/>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887CB075-DB85-4070-7EB0-681537271ECC}"/>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Tree>
    <p:extLst>
      <p:ext uri="{BB962C8B-B14F-4D97-AF65-F5344CB8AC3E}">
        <p14:creationId xmlns:p14="http://schemas.microsoft.com/office/powerpoint/2010/main" val="2622166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8E07-771E-28C1-81AA-B358535A4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5722D-FE48-BC1F-6D65-6F842DF021E7}"/>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290F84CA-11C3-FE17-D1F8-EB5ED3AC57B4}"/>
              </a:ext>
            </a:extLst>
          </p:cNvPr>
          <p:cNvSpPr>
            <a:spLocks noGrp="1"/>
          </p:cNvSpPr>
          <p:nvPr>
            <p:ph idx="1"/>
          </p:nvPr>
        </p:nvSpPr>
        <p:spPr>
          <a:xfrm>
            <a:off x="598620" y="1596540"/>
            <a:ext cx="4970907" cy="4581150"/>
          </a:xfrm>
        </p:spPr>
        <p:txBody>
          <a:bodyPr>
            <a:normAutofit/>
          </a:bodyPr>
          <a:lstStyle/>
          <a:p>
            <a:r>
              <a:rPr lang="en-US" dirty="0"/>
              <a:t>Path: 1-2-3-4-6 f=3</a:t>
            </a:r>
          </a:p>
          <a:p>
            <a:endParaRPr lang="en-US" dirty="0"/>
          </a:p>
        </p:txBody>
      </p:sp>
      <p:sp>
        <p:nvSpPr>
          <p:cNvPr id="4" name="Slide Number Placeholder 3">
            <a:extLst>
              <a:ext uri="{FF2B5EF4-FFF2-40B4-BE49-F238E27FC236}">
                <a16:creationId xmlns:a16="http://schemas.microsoft.com/office/drawing/2014/main" id="{9F0C04EC-E66E-726D-76C1-5EA462FD85FD}"/>
              </a:ext>
            </a:extLst>
          </p:cNvPr>
          <p:cNvSpPr>
            <a:spLocks noGrp="1"/>
          </p:cNvSpPr>
          <p:nvPr>
            <p:ph type="sldNum" sz="quarter" idx="12"/>
          </p:nvPr>
        </p:nvSpPr>
        <p:spPr/>
        <p:txBody>
          <a:bodyPr/>
          <a:lstStyle/>
          <a:p>
            <a:fld id="{B82CCC60-E8CD-4174-8B1A-7DF615B22EEF}" type="slidenum">
              <a:rPr lang="en-US" smtClean="0"/>
              <a:pPr/>
              <a:t>5</a:t>
            </a:fld>
            <a:endParaRPr lang="en-US"/>
          </a:p>
        </p:txBody>
      </p:sp>
      <p:pic>
        <p:nvPicPr>
          <p:cNvPr id="6" name="Picture 5">
            <a:extLst>
              <a:ext uri="{FF2B5EF4-FFF2-40B4-BE49-F238E27FC236}">
                <a16:creationId xmlns:a16="http://schemas.microsoft.com/office/drawing/2014/main" id="{BAA57B4D-B9D9-888A-5D3A-8A2943D000B1}"/>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648D4E6D-C6D7-1C6B-DACF-E4B296FF8B85}"/>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5C23F08-2910-F8E8-917E-2A5E4F30FE99}"/>
              </a:ext>
            </a:extLst>
          </p:cNvPr>
          <p:cNvSpPr/>
          <p:nvPr/>
        </p:nvSpPr>
        <p:spPr>
          <a:xfrm>
            <a:off x="5842001" y="2104508"/>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CD6D16-3E96-DDAE-9D24-4C002FEE5F8F}"/>
              </a:ext>
            </a:extLst>
          </p:cNvPr>
          <p:cNvSpPr/>
          <p:nvPr/>
        </p:nvSpPr>
        <p:spPr>
          <a:xfrm>
            <a:off x="5842001" y="3097259"/>
            <a:ext cx="30770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0B91601-87F8-7A63-07ED-14E2FE51B903}"/>
              </a:ext>
            </a:extLst>
          </p:cNvPr>
          <p:cNvSpPr/>
          <p:nvPr/>
        </p:nvSpPr>
        <p:spPr>
          <a:xfrm>
            <a:off x="5776687" y="3783173"/>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F0FC09D-BCFF-0269-AB72-AD1E9788EAFB}"/>
              </a:ext>
            </a:extLst>
          </p:cNvPr>
          <p:cNvSpPr/>
          <p:nvPr/>
        </p:nvSpPr>
        <p:spPr>
          <a:xfrm>
            <a:off x="7627257" y="3466591"/>
            <a:ext cx="2300514"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A6A2DF3-25A9-0C5D-2925-970778EFB44A}"/>
              </a:ext>
            </a:extLst>
          </p:cNvPr>
          <p:cNvSpPr/>
          <p:nvPr/>
        </p:nvSpPr>
        <p:spPr>
          <a:xfrm>
            <a:off x="8919029" y="2525945"/>
            <a:ext cx="1074057"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8C468DC-A475-1389-4282-2D75D0C0B3F7}"/>
              </a:ext>
            </a:extLst>
          </p:cNvPr>
          <p:cNvSpPr/>
          <p:nvPr/>
        </p:nvSpPr>
        <p:spPr>
          <a:xfrm>
            <a:off x="7670800" y="2895277"/>
            <a:ext cx="3410857"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2FA5F51-E95E-1486-4D87-6B7452CD25E4}"/>
              </a:ext>
            </a:extLst>
          </p:cNvPr>
          <p:cNvSpPr/>
          <p:nvPr/>
        </p:nvSpPr>
        <p:spPr>
          <a:xfrm>
            <a:off x="9993085" y="2579509"/>
            <a:ext cx="174897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2C54B39-3B66-6B2C-A916-1B51866E008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87F76A4-9986-3A09-2CD6-B9AECC28978B}"/>
              </a:ext>
            </a:extLst>
          </p:cNvPr>
          <p:cNvSpPr/>
          <p:nvPr/>
        </p:nvSpPr>
        <p:spPr>
          <a:xfrm>
            <a:off x="9927771" y="3516634"/>
            <a:ext cx="1988458"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13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5C09E-B877-0527-80DC-A8488DA15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F8C4B-B815-187D-1439-1C2A456E1B99}"/>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DA9A05D2-4151-9ADF-2D2E-F216DC620456}"/>
              </a:ext>
            </a:extLst>
          </p:cNvPr>
          <p:cNvSpPr>
            <a:spLocks noGrp="1"/>
          </p:cNvSpPr>
          <p:nvPr>
            <p:ph idx="1"/>
          </p:nvPr>
        </p:nvSpPr>
        <p:spPr>
          <a:xfrm>
            <a:off x="598620" y="1596540"/>
            <a:ext cx="4970907" cy="4581150"/>
          </a:xfrm>
        </p:spPr>
        <p:txBody>
          <a:bodyPr>
            <a:normAutofit/>
          </a:bodyPr>
          <a:lstStyle/>
          <a:p>
            <a:r>
              <a:rPr lang="en-US" dirty="0"/>
              <a:t>Path: 1-2-3-4-6 f=3</a:t>
            </a:r>
          </a:p>
          <a:p>
            <a:r>
              <a:rPr lang="en-US" dirty="0"/>
              <a:t>Remove reads used in the first path</a:t>
            </a:r>
          </a:p>
          <a:p>
            <a:r>
              <a:rPr lang="en-US" dirty="0"/>
              <a:t>Second path:1-3-5-6-7 f=2</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13FE4DD-24CE-5655-7161-F7B166B5256A}"/>
              </a:ext>
            </a:extLst>
          </p:cNvPr>
          <p:cNvSpPr>
            <a:spLocks noGrp="1"/>
          </p:cNvSpPr>
          <p:nvPr>
            <p:ph type="sldNum" sz="quarter" idx="12"/>
          </p:nvPr>
        </p:nvSpPr>
        <p:spPr/>
        <p:txBody>
          <a:bodyPr/>
          <a:lstStyle/>
          <a:p>
            <a:fld id="{B82CCC60-E8CD-4174-8B1A-7DF615B22EEF}" type="slidenum">
              <a:rPr lang="en-US" smtClean="0"/>
              <a:pPr/>
              <a:t>6</a:t>
            </a:fld>
            <a:endParaRPr lang="en-US"/>
          </a:p>
        </p:txBody>
      </p:sp>
      <p:pic>
        <p:nvPicPr>
          <p:cNvPr id="6" name="Picture 5">
            <a:extLst>
              <a:ext uri="{FF2B5EF4-FFF2-40B4-BE49-F238E27FC236}">
                <a16:creationId xmlns:a16="http://schemas.microsoft.com/office/drawing/2014/main" id="{9594CD53-1BC7-5F06-58A9-B771D7BA7AEB}"/>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1E83E689-5182-6F2C-5EE0-666F79D46C6C}"/>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112C66D-0114-6434-BF62-F47733D19722}"/>
              </a:ext>
            </a:extLst>
          </p:cNvPr>
          <p:cNvSpPr/>
          <p:nvPr/>
        </p:nvSpPr>
        <p:spPr>
          <a:xfrm>
            <a:off x="5842001" y="2459987"/>
            <a:ext cx="1785256" cy="61914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02EEB7-86C5-DE20-C399-6E272D4D0E5A}"/>
              </a:ext>
            </a:extLst>
          </p:cNvPr>
          <p:cNvSpPr/>
          <p:nvPr/>
        </p:nvSpPr>
        <p:spPr>
          <a:xfrm>
            <a:off x="5842001" y="3377271"/>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F9CDFD2-3157-AFB2-BBFB-93DCFED035AF}"/>
              </a:ext>
            </a:extLst>
          </p:cNvPr>
          <p:cNvSpPr/>
          <p:nvPr/>
        </p:nvSpPr>
        <p:spPr>
          <a:xfrm>
            <a:off x="7590972" y="3824391"/>
            <a:ext cx="1146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8ECFE83-B9A8-CFCB-2CC9-CDE73DC22001}"/>
              </a:ext>
            </a:extLst>
          </p:cNvPr>
          <p:cNvSpPr/>
          <p:nvPr/>
        </p:nvSpPr>
        <p:spPr>
          <a:xfrm>
            <a:off x="7587343" y="2168217"/>
            <a:ext cx="1202963" cy="59514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2D513AD-A856-2D4C-51F0-F00AAC31BB02}"/>
              </a:ext>
            </a:extLst>
          </p:cNvPr>
          <p:cNvSpPr/>
          <p:nvPr/>
        </p:nvSpPr>
        <p:spPr>
          <a:xfrm>
            <a:off x="8941360" y="2157914"/>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238D21-2F25-C07E-AB00-03C8700AFDE2}"/>
              </a:ext>
            </a:extLst>
          </p:cNvPr>
          <p:cNvSpPr/>
          <p:nvPr/>
        </p:nvSpPr>
        <p:spPr>
          <a:xfrm>
            <a:off x="8790306" y="3824391"/>
            <a:ext cx="229135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87B226F-3088-D8FA-B14E-470022164B8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271F83-C084-F29D-87A2-B593D9CBA3A4}"/>
              </a:ext>
            </a:extLst>
          </p:cNvPr>
          <p:cNvSpPr/>
          <p:nvPr/>
        </p:nvSpPr>
        <p:spPr>
          <a:xfrm>
            <a:off x="11294305" y="2853176"/>
            <a:ext cx="723523"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FC6B678-6BF7-B521-AD7A-702E4F11557F}"/>
              </a:ext>
            </a:extLst>
          </p:cNvPr>
          <p:cNvSpPr/>
          <p:nvPr/>
        </p:nvSpPr>
        <p:spPr>
          <a:xfrm>
            <a:off x="8919029" y="3085350"/>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087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77FB7-F59C-067A-142B-AAA48C141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71A5D-50A9-5F0E-92E1-371D18D2AE76}"/>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21DA65E0-89AA-C828-6221-34BC6BD9CBB9}"/>
              </a:ext>
            </a:extLst>
          </p:cNvPr>
          <p:cNvSpPr>
            <a:spLocks noGrp="1"/>
          </p:cNvSpPr>
          <p:nvPr>
            <p:ph idx="1"/>
          </p:nvPr>
        </p:nvSpPr>
        <p:spPr>
          <a:xfrm>
            <a:off x="598620" y="1596540"/>
            <a:ext cx="4970907" cy="4581150"/>
          </a:xfrm>
        </p:spPr>
        <p:txBody>
          <a:bodyPr>
            <a:normAutofit/>
          </a:bodyPr>
          <a:lstStyle/>
          <a:p>
            <a:r>
              <a:rPr lang="en-US" dirty="0"/>
              <a:t>Path: 1-2-3-4-6-7 f=3</a:t>
            </a:r>
          </a:p>
          <a:p>
            <a:r>
              <a:rPr lang="en-US" dirty="0"/>
              <a:t>Remove reads used in the first path</a:t>
            </a:r>
          </a:p>
          <a:p>
            <a:r>
              <a:rPr lang="en-US" dirty="0"/>
              <a:t>Second path:1-3-5 f=2</a:t>
            </a:r>
          </a:p>
          <a:p>
            <a:r>
              <a:rPr lang="en-US" dirty="0"/>
              <a:t>Remove reads used in the second path</a:t>
            </a:r>
          </a:p>
          <a:p>
            <a:r>
              <a:rPr lang="en-US" dirty="0"/>
              <a:t>Third path: 2-4-5 f=1</a:t>
            </a:r>
          </a:p>
          <a:p>
            <a:endParaRPr lang="en-US" dirty="0"/>
          </a:p>
          <a:p>
            <a:endParaRPr lang="en-US" dirty="0"/>
          </a:p>
        </p:txBody>
      </p:sp>
      <p:sp>
        <p:nvSpPr>
          <p:cNvPr id="4" name="Slide Number Placeholder 3">
            <a:extLst>
              <a:ext uri="{FF2B5EF4-FFF2-40B4-BE49-F238E27FC236}">
                <a16:creationId xmlns:a16="http://schemas.microsoft.com/office/drawing/2014/main" id="{8E581366-5F9C-CB1F-C236-76170A73462D}"/>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6" name="Picture 5">
            <a:extLst>
              <a:ext uri="{FF2B5EF4-FFF2-40B4-BE49-F238E27FC236}">
                <a16:creationId xmlns:a16="http://schemas.microsoft.com/office/drawing/2014/main" id="{83BB448E-566A-02F8-351C-A9F0535000C6}"/>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0CF70B1E-B3BA-32E4-9D81-EF29C640A245}"/>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2C54394-EB65-2C2A-C6EB-632B746E6606}"/>
              </a:ext>
            </a:extLst>
          </p:cNvPr>
          <p:cNvSpPr/>
          <p:nvPr/>
        </p:nvSpPr>
        <p:spPr>
          <a:xfrm>
            <a:off x="5842001" y="2157914"/>
            <a:ext cx="1785256" cy="921215"/>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E97092-D4C7-6DE3-8D42-1C6364F1ECED}"/>
              </a:ext>
            </a:extLst>
          </p:cNvPr>
          <p:cNvSpPr/>
          <p:nvPr/>
        </p:nvSpPr>
        <p:spPr>
          <a:xfrm>
            <a:off x="5842001" y="3377271"/>
            <a:ext cx="1785256" cy="63097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DA87554-53CB-24DE-3173-A3AF82E41A8B}"/>
              </a:ext>
            </a:extLst>
          </p:cNvPr>
          <p:cNvSpPr/>
          <p:nvPr/>
        </p:nvSpPr>
        <p:spPr>
          <a:xfrm>
            <a:off x="7590972" y="3516634"/>
            <a:ext cx="2634342" cy="677089"/>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756F1B-A1C8-2F69-689F-0392F3FAC3B2}"/>
              </a:ext>
            </a:extLst>
          </p:cNvPr>
          <p:cNvSpPr/>
          <p:nvPr/>
        </p:nvSpPr>
        <p:spPr>
          <a:xfrm>
            <a:off x="7587343" y="2168217"/>
            <a:ext cx="1202963" cy="59514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8BAC44-D27F-4950-030B-2F6DAC61CF24}"/>
              </a:ext>
            </a:extLst>
          </p:cNvPr>
          <p:cNvSpPr/>
          <p:nvPr/>
        </p:nvSpPr>
        <p:spPr>
          <a:xfrm>
            <a:off x="8941360" y="2157914"/>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5A6E1C-12BB-ECD0-C563-D19816E862BB}"/>
              </a:ext>
            </a:extLst>
          </p:cNvPr>
          <p:cNvSpPr/>
          <p:nvPr/>
        </p:nvSpPr>
        <p:spPr>
          <a:xfrm>
            <a:off x="8790306" y="3824391"/>
            <a:ext cx="229135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57AC092-797E-7891-B16B-DD698CCE75F4}"/>
              </a:ext>
            </a:extLst>
          </p:cNvPr>
          <p:cNvSpPr/>
          <p:nvPr/>
        </p:nvSpPr>
        <p:spPr>
          <a:xfrm>
            <a:off x="10014857" y="2533167"/>
            <a:ext cx="1807029"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616010E-AE03-FA92-588A-454779F55CE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A1883DF-A1EF-00E0-0EAB-EA0C0F770DDE}"/>
              </a:ext>
            </a:extLst>
          </p:cNvPr>
          <p:cNvSpPr/>
          <p:nvPr/>
        </p:nvSpPr>
        <p:spPr>
          <a:xfrm>
            <a:off x="9927771" y="3516634"/>
            <a:ext cx="979715"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AFA0D1B-D6AF-0D01-AC8D-577FB3FD6454}"/>
              </a:ext>
            </a:extLst>
          </p:cNvPr>
          <p:cNvSpPr/>
          <p:nvPr/>
        </p:nvSpPr>
        <p:spPr>
          <a:xfrm>
            <a:off x="10907486" y="3516634"/>
            <a:ext cx="914400"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C945850-9D3B-2E98-B61C-D6454E981ACD}"/>
              </a:ext>
            </a:extLst>
          </p:cNvPr>
          <p:cNvSpPr/>
          <p:nvPr/>
        </p:nvSpPr>
        <p:spPr>
          <a:xfrm>
            <a:off x="10755087" y="2853176"/>
            <a:ext cx="126274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5E49316-8E21-0DB7-3F25-00AFD7BCDD80}"/>
              </a:ext>
            </a:extLst>
          </p:cNvPr>
          <p:cNvSpPr/>
          <p:nvPr/>
        </p:nvSpPr>
        <p:spPr>
          <a:xfrm>
            <a:off x="8919029" y="3085350"/>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C998247-07A0-7442-F5BD-E0938136CA90}"/>
              </a:ext>
            </a:extLst>
          </p:cNvPr>
          <p:cNvSpPr/>
          <p:nvPr/>
        </p:nvSpPr>
        <p:spPr>
          <a:xfrm>
            <a:off x="7587343" y="2759215"/>
            <a:ext cx="2427514"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5598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BB8C-6D26-E7CE-00B3-168F05C536BC}"/>
              </a:ext>
            </a:extLst>
          </p:cNvPr>
          <p:cNvSpPr>
            <a:spLocks noGrp="1"/>
          </p:cNvSpPr>
          <p:nvPr>
            <p:ph type="title"/>
          </p:nvPr>
        </p:nvSpPr>
        <p:spPr/>
        <p:txBody>
          <a:bodyPr>
            <a:normAutofit fontScale="90000"/>
          </a:bodyPr>
          <a:lstStyle/>
          <a:p>
            <a:r>
              <a:rPr lang="en-US" dirty="0"/>
              <a:t>Evaluating transcript assembly</a:t>
            </a:r>
          </a:p>
        </p:txBody>
      </p:sp>
      <p:sp>
        <p:nvSpPr>
          <p:cNvPr id="3" name="Content Placeholder 2">
            <a:extLst>
              <a:ext uri="{FF2B5EF4-FFF2-40B4-BE49-F238E27FC236}">
                <a16:creationId xmlns:a16="http://schemas.microsoft.com/office/drawing/2014/main" id="{EA47D1B9-170D-520A-C276-39860A1323E0}"/>
              </a:ext>
            </a:extLst>
          </p:cNvPr>
          <p:cNvSpPr>
            <a:spLocks noGrp="1"/>
          </p:cNvSpPr>
          <p:nvPr>
            <p:ph idx="1"/>
          </p:nvPr>
        </p:nvSpPr>
        <p:spPr>
          <a:xfrm>
            <a:off x="598620" y="1596540"/>
            <a:ext cx="10972800" cy="4581150"/>
          </a:xfrm>
        </p:spPr>
        <p:txBody>
          <a:bodyPr>
            <a:normAutofit lnSpcReduction="10000"/>
          </a:bodyPr>
          <a:lstStyle/>
          <a:p>
            <a:r>
              <a:rPr lang="en-US" dirty="0">
                <a:latin typeface="Calibri" panose="020F0502020204030204" pitchFamily="34" charset="0"/>
                <a:cs typeface="Calibri" panose="020F0502020204030204" pitchFamily="34" charset="0"/>
              </a:rPr>
              <a:t>We want to compare the assembly output against a benchmark transcriptome where correct sequences of all transcripts are known.</a:t>
            </a:r>
          </a:p>
          <a:p>
            <a:pPr marL="285750" indent="-285750">
              <a:buFontTx/>
              <a:buChar char="-"/>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Limitations of using a known reference transcriptome</a:t>
            </a:r>
            <a:r>
              <a:rPr lang="en-US" dirty="0">
                <a:latin typeface="Calibri" panose="020F0502020204030204" pitchFamily="34" charset="0"/>
                <a:cs typeface="Calibri" panose="020F0502020204030204" pitchFamily="34" charset="0"/>
              </a:rPr>
              <a:t>:</a:t>
            </a:r>
          </a:p>
          <a:p>
            <a:pPr marL="285750" indent="-285750">
              <a:buFontTx/>
              <a:buChar char="-"/>
            </a:pPr>
            <a:r>
              <a:rPr lang="en-US" dirty="0">
                <a:latin typeface="Calibri" panose="020F0502020204030204" pitchFamily="34" charset="0"/>
                <a:cs typeface="Calibri" panose="020F0502020204030204" pitchFamily="34" charset="0"/>
              </a:rPr>
              <a:t>variability in the transcriptome (e.g. among e.g. cell types) makes  it impossible to determine whether sequences from the reference that are missing from the assembled transcriptome are due to assembly errors, or whether they were not expressed in the library sequenced</a:t>
            </a:r>
          </a:p>
          <a:p>
            <a:pPr marL="285750" indent="-285750">
              <a:buFontTx/>
              <a:buChar char="-"/>
            </a:pPr>
            <a:r>
              <a:rPr lang="en-US" dirty="0">
                <a:latin typeface="Calibri" panose="020F0502020204030204" pitchFamily="34" charset="0"/>
                <a:cs typeface="Calibri" panose="020F0502020204030204" pitchFamily="34" charset="0"/>
              </a:rPr>
              <a:t>transcriptome sequences may also vary between the individual under study and the reference</a:t>
            </a:r>
          </a:p>
        </p:txBody>
      </p:sp>
      <p:sp>
        <p:nvSpPr>
          <p:cNvPr id="4" name="Slide Number Placeholder 3">
            <a:extLst>
              <a:ext uri="{FF2B5EF4-FFF2-40B4-BE49-F238E27FC236}">
                <a16:creationId xmlns:a16="http://schemas.microsoft.com/office/drawing/2014/main" id="{93F364A0-E602-1C0F-ABF0-AD654D7FC850}"/>
              </a:ext>
            </a:extLst>
          </p:cNvPr>
          <p:cNvSpPr>
            <a:spLocks noGrp="1"/>
          </p:cNvSpPr>
          <p:nvPr>
            <p:ph type="sldNum" sz="quarter" idx="12"/>
          </p:nvPr>
        </p:nvSpPr>
        <p:spPr/>
        <p:txBody>
          <a:bodyPr/>
          <a:lstStyle/>
          <a:p>
            <a:fld id="{B82CCC60-E8CD-4174-8B1A-7DF615B22EEF}" type="slidenum">
              <a:rPr lang="en-US" smtClean="0"/>
              <a:pPr/>
              <a:t>8</a:t>
            </a:fld>
            <a:endParaRPr lang="en-US"/>
          </a:p>
        </p:txBody>
      </p:sp>
    </p:spTree>
    <p:extLst>
      <p:ext uri="{BB962C8B-B14F-4D97-AF65-F5344CB8AC3E}">
        <p14:creationId xmlns:p14="http://schemas.microsoft.com/office/powerpoint/2010/main" val="2290969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14629</TotalTime>
  <Words>695</Words>
  <Application>Microsoft Office PowerPoint</Application>
  <PresentationFormat>Widescreen</PresentationFormat>
  <Paragraphs>61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 Math</vt:lpstr>
      <vt:lpstr>Trebuchet MS</vt:lpstr>
      <vt:lpstr>Office Theme</vt:lpstr>
      <vt:lpstr>Lab #5: Jaccard similarity</vt:lpstr>
      <vt:lpstr>Jaccard similarity example</vt:lpstr>
      <vt:lpstr>Assembly of aligned RNA-seq data</vt:lpstr>
      <vt:lpstr>Assembly of aligned RNA-seq data</vt:lpstr>
      <vt:lpstr>Assembly of aligned RNA-seq data</vt:lpstr>
      <vt:lpstr>Assembly of aligned RNA-seq data</vt:lpstr>
      <vt:lpstr>Assembly of aligned RNA-seq data</vt:lpstr>
      <vt:lpstr>Evaluating transcript assembly</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Aleksey Zimin</cp:lastModifiedBy>
  <cp:revision>76</cp:revision>
  <dcterms:created xsi:type="dcterms:W3CDTF">2013-08-21T19:17:07Z</dcterms:created>
  <dcterms:modified xsi:type="dcterms:W3CDTF">2025-10-29T14:22:30Z</dcterms:modified>
</cp:coreProperties>
</file>