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865" r:id="rId2"/>
    <p:sldId id="871" r:id="rId3"/>
    <p:sldId id="872" r:id="rId4"/>
    <p:sldId id="873" r:id="rId5"/>
    <p:sldId id="874" r:id="rId6"/>
    <p:sldId id="875" r:id="rId7"/>
    <p:sldId id="876" r:id="rId8"/>
    <p:sldId id="877" r:id="rId9"/>
    <p:sldId id="878" r:id="rId10"/>
    <p:sldId id="879" r:id="rId11"/>
    <p:sldId id="882" r:id="rId12"/>
    <p:sldId id="883" r:id="rId13"/>
    <p:sldId id="884" r:id="rId14"/>
    <p:sldId id="885" r:id="rId15"/>
    <p:sldId id="886" r:id="rId16"/>
    <p:sldId id="887" r:id="rId17"/>
    <p:sldId id="888" r:id="rId18"/>
    <p:sldId id="890" r:id="rId19"/>
    <p:sldId id="891" r:id="rId20"/>
    <p:sldId id="894" r:id="rId21"/>
    <p:sldId id="89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D68B1C"/>
    <a:srgbClr val="BE0260"/>
    <a:srgbClr val="D0005E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1-07T18:02:31.062" v="1" actId="47"/>
      <pc:docMkLst>
        <pc:docMk/>
      </pc:docMkLst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763290966" sldId="841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523482158" sldId="851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2628352046" sldId="852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688161546" sldId="853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582605635" sldId="854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2893015969" sldId="855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2155246616" sldId="856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40951592" sldId="857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851234347" sldId="858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2509772218" sldId="859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349687225" sldId="860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777305015" sldId="861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443782089" sldId="862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731479648" sldId="863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80240427" sldId="864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640467478" sldId="866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749512955" sldId="868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007581351" sldId="869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2143161316" sldId="870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972945173" sldId="880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888440136" sldId="881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752308720" sldId="892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872453536" sldId="893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2253551215" sldId="896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512676943" sldId="897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765495272" sldId="898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3424257516" sldId="899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401334548" sldId="901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208939962" sldId="902"/>
        </pc:sldMkLst>
      </pc:sldChg>
      <pc:sldChg chg="del">
        <pc:chgData name="Aleksey Zimin" userId="7f2637d0bc515791" providerId="LiveId" clId="{8553A319-8433-4677-8F80-E28D63617D4C}" dt="2025-11-07T18:02:17.715" v="0" actId="47"/>
        <pc:sldMkLst>
          <pc:docMk/>
          <pc:sldMk cId="1927832509" sldId="903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4101191634" sldId="904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1351066996" sldId="905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1016114428" sldId="906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3477854863" sldId="907"/>
        </pc:sldMkLst>
      </pc:sldChg>
      <pc:sldChg chg="del">
        <pc:chgData name="Aleksey Zimin" userId="7f2637d0bc515791" providerId="LiveId" clId="{8553A319-8433-4677-8F80-E28D63617D4C}" dt="2025-11-07T18:02:31.062" v="1" actId="47"/>
        <pc:sldMkLst>
          <pc:docMk/>
          <pc:sldMk cId="1153982227" sldId="90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5:17:0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6:23:32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6:23:32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6:23:32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6:23:3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17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19:26:2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3.png"/><Relationship Id="rId10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8.png"/><Relationship Id="rId4" Type="http://schemas.openxmlformats.org/officeDocument/2006/relationships/customXml" Target="../ink/ink6.xml"/><Relationship Id="rId9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7.png"/><Relationship Id="rId4" Type="http://schemas.openxmlformats.org/officeDocument/2006/relationships/customXml" Target="../ink/ink10.xml"/><Relationship Id="rId9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37.png"/><Relationship Id="rId4" Type="http://schemas.openxmlformats.org/officeDocument/2006/relationships/customXml" Target="../ink/ink14.xml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37.png"/><Relationship Id="rId4" Type="http://schemas.openxmlformats.org/officeDocument/2006/relationships/customXml" Target="../ink/ink18.xml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37.png"/><Relationship Id="rId4" Type="http://schemas.openxmlformats.org/officeDocument/2006/relationships/customXml" Target="../ink/ink22.xml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37.png"/><Relationship Id="rId4" Type="http://schemas.openxmlformats.org/officeDocument/2006/relationships/customXml" Target="../ink/ink26.xml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5" Type="http://schemas.openxmlformats.org/officeDocument/2006/relationships/image" Target="../media/image37.png"/><Relationship Id="rId4" Type="http://schemas.openxmlformats.org/officeDocument/2006/relationships/customXml" Target="../ink/ink30.xml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36.png"/><Relationship Id="rId7" Type="http://schemas.openxmlformats.org/officeDocument/2006/relationships/image" Target="../media/image48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5" Type="http://schemas.openxmlformats.org/officeDocument/2006/relationships/image" Target="../media/image47.png"/><Relationship Id="rId4" Type="http://schemas.openxmlformats.org/officeDocument/2006/relationships/customXml" Target="../ink/ink34.xml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6.png"/><Relationship Id="rId4" Type="http://schemas.openxmlformats.org/officeDocument/2006/relationships/customXml" Target="../ink/ink4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5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customXml" Target="../ink/ink5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80.png"/><Relationship Id="rId4" Type="http://schemas.openxmlformats.org/officeDocument/2006/relationships/customXml" Target="../ink/ink5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80.png"/><Relationship Id="rId4" Type="http://schemas.openxmlformats.org/officeDocument/2006/relationships/customXml" Target="../ink/ink5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220.png"/><Relationship Id="rId4" Type="http://schemas.openxmlformats.org/officeDocument/2006/relationships/customXml" Target="../ink/ink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0712-84F4-9B72-B202-DCC6B2B0E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25FF-F196-D470-BDE3-7F2595F6D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Imagine that we cannot observe/measure the states directly, but the states emit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goal is to determine the most likely sequence of states given the model and the observed data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1BA-BA60-E69C-7CE7-EB603784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9A4F1F-7A20-26AC-FE40-91C37AA1F624}"/>
              </a:ext>
            </a:extLst>
          </p:cNvPr>
          <p:cNvSpPr/>
          <p:nvPr/>
        </p:nvSpPr>
        <p:spPr>
          <a:xfrm>
            <a:off x="3715656" y="3269436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252672-5240-96D1-B041-84A73062D82D}"/>
              </a:ext>
            </a:extLst>
          </p:cNvPr>
          <p:cNvSpPr/>
          <p:nvPr/>
        </p:nvSpPr>
        <p:spPr>
          <a:xfrm>
            <a:off x="6676571" y="3269436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F51F26-1599-C12B-FE80-3291D29F99CB}"/>
                  </a:ext>
                </a:extLst>
              </p14:cNvPr>
              <p14:cNvContentPartPr/>
              <p14:nvPr/>
            </p14:nvContentPartPr>
            <p14:xfrm>
              <a:off x="4412234" y="2992476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F51F26-1599-C12B-FE80-3291D29F99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6114" y="2986356"/>
                <a:ext cx="2355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5E8C6D2-7495-622D-7520-FA7113ECCA2B}"/>
                  </a:ext>
                </a:extLst>
              </p14:cNvPr>
              <p14:cNvContentPartPr/>
              <p14:nvPr/>
            </p14:nvContentPartPr>
            <p14:xfrm>
              <a:off x="4413674" y="4110996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5E8C6D2-7495-622D-7520-FA7113ECCA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7554" y="4104876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8D7ECD4-15F5-F3BC-3E1A-614291CC5092}"/>
                  </a:ext>
                </a:extLst>
              </p14:cNvPr>
              <p14:cNvContentPartPr/>
              <p14:nvPr/>
            </p14:nvContentPartPr>
            <p14:xfrm>
              <a:off x="7474394" y="3138636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8D7ECD4-15F5-F3BC-3E1A-614291CC50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68274" y="3132516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054F4F-C2FE-D616-6B8E-5E49C125446C}"/>
                  </a:ext>
                </a:extLst>
              </p14:cNvPr>
              <p14:cNvContentPartPr/>
              <p14:nvPr/>
            </p14:nvContentPartPr>
            <p14:xfrm>
              <a:off x="2481914" y="2949996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054F4F-C2FE-D616-6B8E-5E49C12544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75794" y="2943876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B2250BE-9C6E-1116-B192-21813B8F8A40}"/>
              </a:ext>
            </a:extLst>
          </p:cNvPr>
          <p:cNvSpPr txBox="1"/>
          <p:nvPr/>
        </p:nvSpPr>
        <p:spPr>
          <a:xfrm>
            <a:off x="5188622" y="260952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49013-ED6B-462D-858D-88698E8EF942}"/>
              </a:ext>
            </a:extLst>
          </p:cNvPr>
          <p:cNvSpPr txBox="1"/>
          <p:nvPr/>
        </p:nvSpPr>
        <p:spPr>
          <a:xfrm>
            <a:off x="5188622" y="466796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D2B55-E3E6-344F-363B-931C99B21FEF}"/>
              </a:ext>
            </a:extLst>
          </p:cNvPr>
          <p:cNvSpPr txBox="1"/>
          <p:nvPr/>
        </p:nvSpPr>
        <p:spPr>
          <a:xfrm>
            <a:off x="7976180" y="27073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CC6130-52AC-9110-4D7D-BD535EBEE328}"/>
              </a:ext>
            </a:extLst>
          </p:cNvPr>
          <p:cNvSpPr txBox="1"/>
          <p:nvPr/>
        </p:nvSpPr>
        <p:spPr>
          <a:xfrm>
            <a:off x="2929508" y="258066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206314-B8C3-404F-8FB0-6889C90E22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0566" y="2207982"/>
            <a:ext cx="1930854" cy="282790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C895273-52C4-40C6-A84C-951A0C6BF9C8}"/>
              </a:ext>
            </a:extLst>
          </p:cNvPr>
          <p:cNvSpPr/>
          <p:nvPr/>
        </p:nvSpPr>
        <p:spPr>
          <a:xfrm>
            <a:off x="9522794" y="2127564"/>
            <a:ext cx="2219551" cy="3069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4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30217-F9CB-BA87-8E50-27F9F1DB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0862-4CF4-F655-58FA-A061B6CF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7515E-FD50-DFBC-DC5E-BF086D26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Hidden Markov Model is a Markov model that emits data at each state with different probability distributions, and transition probabilities are known (or can be estimated)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Blue state emits data distributed according to probabilities P</a:t>
            </a:r>
            <a:r>
              <a:rPr lang="en-US" baseline="-25000" dirty="0"/>
              <a:t>b</a:t>
            </a:r>
            <a:r>
              <a:rPr lang="en-US" dirty="0"/>
              <a:t> and Green state emits data distributed with probabilities P</a:t>
            </a:r>
            <a:r>
              <a:rPr lang="en-US" baseline="-25000" dirty="0"/>
              <a:t>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38625-2B7A-38A7-EC06-7D88AEC7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029330-5B64-40F5-F23B-851D8E7B51C2}"/>
              </a:ext>
            </a:extLst>
          </p:cNvPr>
          <p:cNvSpPr/>
          <p:nvPr/>
        </p:nvSpPr>
        <p:spPr>
          <a:xfrm>
            <a:off x="3844417" y="343690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138FAB-1C37-68E8-DC59-73F902AA8755}"/>
              </a:ext>
            </a:extLst>
          </p:cNvPr>
          <p:cNvSpPr/>
          <p:nvPr/>
        </p:nvSpPr>
        <p:spPr>
          <a:xfrm>
            <a:off x="6805332" y="343690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9FB03D-231E-D48F-1FC2-F765BC6AF61A}"/>
                  </a:ext>
                </a:extLst>
              </p14:cNvPr>
              <p14:cNvContentPartPr/>
              <p14:nvPr/>
            </p14:nvContentPartPr>
            <p14:xfrm>
              <a:off x="4540995" y="315994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9FB03D-231E-D48F-1FC2-F765BC6AF6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4874" y="315382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7B67913-6EEA-DE13-19E1-3571A72FDAF3}"/>
                  </a:ext>
                </a:extLst>
              </p14:cNvPr>
              <p14:cNvContentPartPr/>
              <p14:nvPr/>
            </p14:nvContentPartPr>
            <p14:xfrm>
              <a:off x="4542435" y="427846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7B67913-6EEA-DE13-19E1-3571A72FDA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6315" y="427234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4BF825-DD48-0C51-4DDE-36833D49A6E5}"/>
                  </a:ext>
                </a:extLst>
              </p14:cNvPr>
              <p14:cNvContentPartPr/>
              <p14:nvPr/>
            </p14:nvContentPartPr>
            <p14:xfrm>
              <a:off x="7603155" y="330610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4BF825-DD48-0C51-4DDE-36833D49A6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97035" y="329998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6608982-D253-41F2-B626-8BD9A1EB39E0}"/>
                  </a:ext>
                </a:extLst>
              </p14:cNvPr>
              <p14:cNvContentPartPr/>
              <p14:nvPr/>
            </p14:nvContentPartPr>
            <p14:xfrm>
              <a:off x="2610675" y="311746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6608982-D253-41F2-B626-8BD9A1EB39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04555" y="311134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E11B187-B37C-E90F-11EA-77A5C60BDC5E}"/>
              </a:ext>
            </a:extLst>
          </p:cNvPr>
          <p:cNvSpPr txBox="1"/>
          <p:nvPr/>
        </p:nvSpPr>
        <p:spPr>
          <a:xfrm>
            <a:off x="5317383" y="277698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FA82D-5863-61D8-77E5-08E2C891570F}"/>
              </a:ext>
            </a:extLst>
          </p:cNvPr>
          <p:cNvSpPr txBox="1"/>
          <p:nvPr/>
        </p:nvSpPr>
        <p:spPr>
          <a:xfrm>
            <a:off x="5317383" y="48354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70824C-F46F-D8E4-D876-688C21794D27}"/>
              </a:ext>
            </a:extLst>
          </p:cNvPr>
          <p:cNvSpPr txBox="1"/>
          <p:nvPr/>
        </p:nvSpPr>
        <p:spPr>
          <a:xfrm>
            <a:off x="8104941" y="287485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5B373-DF56-97B4-DFE0-416EF22CA411}"/>
              </a:ext>
            </a:extLst>
          </p:cNvPr>
          <p:cNvSpPr txBox="1"/>
          <p:nvPr/>
        </p:nvSpPr>
        <p:spPr>
          <a:xfrm>
            <a:off x="3058269" y="274813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</p:spTree>
    <p:extLst>
      <p:ext uri="{BB962C8B-B14F-4D97-AF65-F5344CB8AC3E}">
        <p14:creationId xmlns:p14="http://schemas.microsoft.com/office/powerpoint/2010/main" val="326113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8B34-EC6C-7ECD-8975-DE5F1D2D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4E25-34EC-4BC9-7887-C4C1ED75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AE1AC-CDE4-B4C2-0A21-47173E19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83180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Imagine the following game:  </a:t>
            </a:r>
          </a:p>
          <a:p>
            <a:pPr lvl="1"/>
            <a:r>
              <a:rPr lang="en-US" dirty="0"/>
              <a:t>One coin is </a:t>
            </a:r>
            <a:r>
              <a:rPr lang="en-US" b="1" dirty="0"/>
              <a:t>fair</a:t>
            </a:r>
            <a:r>
              <a:rPr lang="en-US" dirty="0"/>
              <a:t>: probability of heads or tails is 50%</a:t>
            </a:r>
          </a:p>
          <a:p>
            <a:pPr lvl="1"/>
            <a:r>
              <a:rPr lang="en-US" dirty="0"/>
              <a:t>One coin is </a:t>
            </a:r>
            <a:r>
              <a:rPr lang="en-US" b="1" dirty="0"/>
              <a:t>biased</a:t>
            </a:r>
            <a:r>
              <a:rPr lang="en-US" dirty="0"/>
              <a:t>: probability of heads is 90%</a:t>
            </a:r>
          </a:p>
          <a:p>
            <a:pPr lvl="1"/>
            <a:r>
              <a:rPr lang="en-US" dirty="0"/>
              <a:t>Coins </a:t>
            </a:r>
            <a:r>
              <a:rPr lang="en-US" b="1" dirty="0"/>
              <a:t>look identical </a:t>
            </a:r>
            <a:r>
              <a:rPr lang="en-US" dirty="0"/>
              <a:t>to us (state cannot be observed directly)</a:t>
            </a:r>
          </a:p>
          <a:p>
            <a:pPr lvl="1"/>
            <a:endParaRPr lang="en-US" dirty="0"/>
          </a:p>
          <a:p>
            <a:r>
              <a:rPr lang="en-US" dirty="0"/>
              <a:t>The game (repeats N times): </a:t>
            </a:r>
          </a:p>
          <a:p>
            <a:pPr lvl="1"/>
            <a:r>
              <a:rPr lang="en-US" dirty="0"/>
              <a:t>Dealer picks a coin with probability 50% in secret, flips it and makes the result visible</a:t>
            </a:r>
          </a:p>
          <a:p>
            <a:pPr lvl="1"/>
            <a:r>
              <a:rPr lang="en-US" dirty="0"/>
              <a:t>Dealer then switches the coin with probability 20% in secret</a:t>
            </a:r>
          </a:p>
          <a:p>
            <a:pPr lvl="1"/>
            <a:endParaRPr lang="en-US" dirty="0"/>
          </a:p>
          <a:p>
            <a:r>
              <a:rPr lang="en-US" dirty="0"/>
              <a:t>Our goal is to guess which coin is used at every toss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F5BE-CFA4-5AEB-FB72-B7A7BE36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DB01BF-D79D-10CB-74F4-2D087991B988}"/>
              </a:ext>
            </a:extLst>
          </p:cNvPr>
          <p:cNvSpPr/>
          <p:nvPr/>
        </p:nvSpPr>
        <p:spPr>
          <a:xfrm>
            <a:off x="3725708" y="509014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E227F6-38B9-61CE-281C-BC262468FA31}"/>
              </a:ext>
            </a:extLst>
          </p:cNvPr>
          <p:cNvSpPr/>
          <p:nvPr/>
        </p:nvSpPr>
        <p:spPr>
          <a:xfrm>
            <a:off x="6686623" y="509014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8E43E4B-FB25-6479-DA90-D0451598F2C3}"/>
                  </a:ext>
                </a:extLst>
              </p14:cNvPr>
              <p14:cNvContentPartPr/>
              <p14:nvPr/>
            </p14:nvContentPartPr>
            <p14:xfrm>
              <a:off x="4422286" y="481318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8E43E4B-FB25-6479-DA90-D0451598F2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6165" y="480706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2A546A-642C-77F7-7EE7-529E62872156}"/>
                  </a:ext>
                </a:extLst>
              </p14:cNvPr>
              <p14:cNvContentPartPr/>
              <p14:nvPr/>
            </p14:nvContentPartPr>
            <p14:xfrm>
              <a:off x="4423726" y="593170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2A546A-642C-77F7-7EE7-529E628721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606" y="592558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84ABD6A-1698-6007-1C62-67FB8B6EB29A}"/>
                  </a:ext>
                </a:extLst>
              </p14:cNvPr>
              <p14:cNvContentPartPr/>
              <p14:nvPr/>
            </p14:nvContentPartPr>
            <p14:xfrm>
              <a:off x="7484446" y="495934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84ABD6A-1698-6007-1C62-67FB8B6EB2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8326" y="495322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9214677-80B7-A650-4D6C-4C8D7236E00A}"/>
                  </a:ext>
                </a:extLst>
              </p14:cNvPr>
              <p14:cNvContentPartPr/>
              <p14:nvPr/>
            </p14:nvContentPartPr>
            <p14:xfrm>
              <a:off x="2491966" y="477070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9214677-80B7-A650-4D6C-4C8D7236E0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846" y="476458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0A503C6-5C8E-14BA-B5E4-1A6280A8A57C}"/>
              </a:ext>
            </a:extLst>
          </p:cNvPr>
          <p:cNvSpPr txBox="1"/>
          <p:nvPr/>
        </p:nvSpPr>
        <p:spPr>
          <a:xfrm>
            <a:off x="5198674" y="44302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633C3-9234-65CA-6C0C-564B3DE63320}"/>
              </a:ext>
            </a:extLst>
          </p:cNvPr>
          <p:cNvSpPr txBox="1"/>
          <p:nvPr/>
        </p:nvSpPr>
        <p:spPr>
          <a:xfrm>
            <a:off x="5198674" y="6488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1D2A0-FA3F-A1E3-8CF2-5CD91BB32C7F}"/>
              </a:ext>
            </a:extLst>
          </p:cNvPr>
          <p:cNvSpPr txBox="1"/>
          <p:nvPr/>
        </p:nvSpPr>
        <p:spPr>
          <a:xfrm>
            <a:off x="7986232" y="452809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BB83F-94F6-CAFA-6FC1-23F9A55E16C0}"/>
              </a:ext>
            </a:extLst>
          </p:cNvPr>
          <p:cNvSpPr txBox="1"/>
          <p:nvPr/>
        </p:nvSpPr>
        <p:spPr>
          <a:xfrm>
            <a:off x="2939560" y="4401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74FC00-7F74-CDAB-A40E-CFEF423255BB}"/>
              </a:ext>
            </a:extLst>
          </p:cNvPr>
          <p:cNvSpPr txBox="1"/>
          <p:nvPr/>
        </p:nvSpPr>
        <p:spPr>
          <a:xfrm>
            <a:off x="3761820" y="5355420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187BE-DC35-BD8B-06FA-D82F328C9564}"/>
              </a:ext>
            </a:extLst>
          </p:cNvPr>
          <p:cNvSpPr txBox="1"/>
          <p:nvPr/>
        </p:nvSpPr>
        <p:spPr>
          <a:xfrm>
            <a:off x="6711335" y="535542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</p:spTree>
    <p:extLst>
      <p:ext uri="{BB962C8B-B14F-4D97-AF65-F5344CB8AC3E}">
        <p14:creationId xmlns:p14="http://schemas.microsoft.com/office/powerpoint/2010/main" val="41520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702D-E791-7332-90A1-24058B1B0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BB2B-D2DE-A216-CE73-F304CD1B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4D567-7692-99EC-0858-6D96C357A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831808"/>
          </a:xfrm>
        </p:spPr>
        <p:txBody>
          <a:bodyPr>
            <a:normAutofit/>
          </a:bodyPr>
          <a:lstStyle/>
          <a:p>
            <a:r>
              <a:rPr lang="en-US" dirty="0"/>
              <a:t>A walk in HMM from the dealer’s perspective: 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FFBB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HTHH</a:t>
            </a:r>
          </a:p>
          <a:p>
            <a:r>
              <a:rPr lang="en-US" dirty="0"/>
              <a:t>We observe: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HTHH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1E706-1F82-C454-F077-0927AB67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DD9513-33A5-1792-58D0-0C35B5F00527}"/>
              </a:ext>
            </a:extLst>
          </p:cNvPr>
          <p:cNvSpPr/>
          <p:nvPr/>
        </p:nvSpPr>
        <p:spPr>
          <a:xfrm>
            <a:off x="3725708" y="509014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82A174-BDA0-A1A2-C8CB-C322EA5B3D90}"/>
              </a:ext>
            </a:extLst>
          </p:cNvPr>
          <p:cNvSpPr/>
          <p:nvPr/>
        </p:nvSpPr>
        <p:spPr>
          <a:xfrm>
            <a:off x="6686623" y="509014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BC47E8-9EE8-DC92-8C84-EE6FEC919BF1}"/>
                  </a:ext>
                </a:extLst>
              </p14:cNvPr>
              <p14:cNvContentPartPr/>
              <p14:nvPr/>
            </p14:nvContentPartPr>
            <p14:xfrm>
              <a:off x="4422286" y="481318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BC47E8-9EE8-DC92-8C84-EE6FEC919B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6165" y="480706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C88B532-DEDB-8044-B453-F46927CB347B}"/>
                  </a:ext>
                </a:extLst>
              </p14:cNvPr>
              <p14:cNvContentPartPr/>
              <p14:nvPr/>
            </p14:nvContentPartPr>
            <p14:xfrm>
              <a:off x="4423726" y="593170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C88B532-DEDB-8044-B453-F46927CB34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606" y="592558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4134525-3FCC-C0AB-2CD4-E73FDFDB4C08}"/>
                  </a:ext>
                </a:extLst>
              </p14:cNvPr>
              <p14:cNvContentPartPr/>
              <p14:nvPr/>
            </p14:nvContentPartPr>
            <p14:xfrm>
              <a:off x="7484446" y="495934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4134525-3FCC-C0AB-2CD4-E73FDFDB4C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8326" y="495322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A1350D-F674-D736-D4DE-D27287C24D3A}"/>
                  </a:ext>
                </a:extLst>
              </p14:cNvPr>
              <p14:cNvContentPartPr/>
              <p14:nvPr/>
            </p14:nvContentPartPr>
            <p14:xfrm>
              <a:off x="2491966" y="477070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A1350D-F674-D736-D4DE-D27287C24D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846" y="476458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AF2DBBA-8A5D-B8DB-4904-FDD066D89B9A}"/>
              </a:ext>
            </a:extLst>
          </p:cNvPr>
          <p:cNvSpPr txBox="1"/>
          <p:nvPr/>
        </p:nvSpPr>
        <p:spPr>
          <a:xfrm>
            <a:off x="5198674" y="44302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FBC51-D720-D0AC-D0F0-87174BE5D3CC}"/>
              </a:ext>
            </a:extLst>
          </p:cNvPr>
          <p:cNvSpPr txBox="1"/>
          <p:nvPr/>
        </p:nvSpPr>
        <p:spPr>
          <a:xfrm>
            <a:off x="5198674" y="6488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75C6D-6088-0237-0623-D3EE73BD39D2}"/>
              </a:ext>
            </a:extLst>
          </p:cNvPr>
          <p:cNvSpPr txBox="1"/>
          <p:nvPr/>
        </p:nvSpPr>
        <p:spPr>
          <a:xfrm>
            <a:off x="7986232" y="452809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ED02FB-4C79-C7AC-BAFE-EA03E7CBB3E8}"/>
              </a:ext>
            </a:extLst>
          </p:cNvPr>
          <p:cNvSpPr txBox="1"/>
          <p:nvPr/>
        </p:nvSpPr>
        <p:spPr>
          <a:xfrm>
            <a:off x="2939560" y="4401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90408-1228-540B-72C7-27A54CA064DC}"/>
              </a:ext>
            </a:extLst>
          </p:cNvPr>
          <p:cNvSpPr txBox="1"/>
          <p:nvPr/>
        </p:nvSpPr>
        <p:spPr>
          <a:xfrm>
            <a:off x="3761820" y="5355420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8265B-EEAE-95FD-8BBD-DA30A0DB3174}"/>
              </a:ext>
            </a:extLst>
          </p:cNvPr>
          <p:cNvSpPr txBox="1"/>
          <p:nvPr/>
        </p:nvSpPr>
        <p:spPr>
          <a:xfrm>
            <a:off x="6711335" y="535542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</p:spTree>
    <p:extLst>
      <p:ext uri="{BB962C8B-B14F-4D97-AF65-F5344CB8AC3E}">
        <p14:creationId xmlns:p14="http://schemas.microsoft.com/office/powerpoint/2010/main" val="304159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A9FE-9ECF-3DB4-B21D-D3F16DF3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DACF-B005-5BCC-E9BE-21E29D6A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122E6-B362-AFF3-6A31-4E7966D91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83180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walk in HMM from the dealer’s perspective: 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FFBB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HTHH</a:t>
            </a:r>
          </a:p>
          <a:p>
            <a:r>
              <a:rPr lang="en-US" dirty="0"/>
              <a:t>It is easy for the dealer to compute the probability:</a:t>
            </a:r>
            <a:br>
              <a:rPr lang="en-US" dirty="0"/>
            </a:br>
            <a:r>
              <a:rPr lang="en-US" dirty="0" err="1"/>
              <a:t>Pr</a:t>
            </a:r>
            <a:r>
              <a:rPr lang="en-US" dirty="0"/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FFBB</a:t>
            </a:r>
            <a:r>
              <a:rPr lang="en-US" dirty="0">
                <a:cs typeface="Courier New" panose="02070309020205020404" pitchFamily="49" charset="0"/>
              </a:rPr>
              <a:t>)=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(start in F)*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(emit H in F)*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(stay in F)* 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(emit T in F)* 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(switch to B)* 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(emit H in B)*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(stay in B)* </a:t>
            </a:r>
            <a:r>
              <a:rPr lang="en-US" dirty="0" err="1">
                <a:cs typeface="Courier New" panose="02070309020205020404" pitchFamily="49" charset="0"/>
              </a:rPr>
              <a:t>Pr</a:t>
            </a:r>
            <a:r>
              <a:rPr lang="en-US" dirty="0">
                <a:cs typeface="Courier New" panose="02070309020205020404" pitchFamily="49" charset="0"/>
              </a:rPr>
              <a:t>(emit H in B) = 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</a:rPr>
              <a:t>0.5*0.5*0.8*0.5*0.2*0.9*0.8*0.9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5982B-5F33-B9E6-B77B-24962F05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39ADAA-9D2A-298D-DD69-A5BE32D0C565}"/>
              </a:ext>
            </a:extLst>
          </p:cNvPr>
          <p:cNvSpPr/>
          <p:nvPr/>
        </p:nvSpPr>
        <p:spPr>
          <a:xfrm>
            <a:off x="3725708" y="509014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78906-3134-B264-5987-CC4F215A1860}"/>
              </a:ext>
            </a:extLst>
          </p:cNvPr>
          <p:cNvSpPr/>
          <p:nvPr/>
        </p:nvSpPr>
        <p:spPr>
          <a:xfrm>
            <a:off x="6686623" y="509014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4D23E3-96BA-5D6B-4952-2916A41FC51F}"/>
                  </a:ext>
                </a:extLst>
              </p14:cNvPr>
              <p14:cNvContentPartPr/>
              <p14:nvPr/>
            </p14:nvContentPartPr>
            <p14:xfrm>
              <a:off x="4422286" y="481318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4D23E3-96BA-5D6B-4952-2916A41FC5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6165" y="480706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F86BA86-54F1-1332-5EE1-F9F4753BD315}"/>
                  </a:ext>
                </a:extLst>
              </p14:cNvPr>
              <p14:cNvContentPartPr/>
              <p14:nvPr/>
            </p14:nvContentPartPr>
            <p14:xfrm>
              <a:off x="4423726" y="593170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F86BA86-54F1-1332-5EE1-F9F4753BD3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606" y="592558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DEE59B-326F-9578-BF8F-46C193D81738}"/>
                  </a:ext>
                </a:extLst>
              </p14:cNvPr>
              <p14:cNvContentPartPr/>
              <p14:nvPr/>
            </p14:nvContentPartPr>
            <p14:xfrm>
              <a:off x="7484446" y="495934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DEE59B-326F-9578-BF8F-46C193D817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8326" y="495322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CAB885-0764-64B5-ACF3-84306CBBFD8B}"/>
                  </a:ext>
                </a:extLst>
              </p14:cNvPr>
              <p14:cNvContentPartPr/>
              <p14:nvPr/>
            </p14:nvContentPartPr>
            <p14:xfrm>
              <a:off x="2491966" y="477070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CAB885-0764-64B5-ACF3-84306CBBFD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846" y="476458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DBDF70-2D97-4FF2-B51A-50B5FEBCF94A}"/>
              </a:ext>
            </a:extLst>
          </p:cNvPr>
          <p:cNvSpPr txBox="1"/>
          <p:nvPr/>
        </p:nvSpPr>
        <p:spPr>
          <a:xfrm>
            <a:off x="5198674" y="44302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66F49-BF0D-FBB4-5844-C7AD498F2BEC}"/>
              </a:ext>
            </a:extLst>
          </p:cNvPr>
          <p:cNvSpPr txBox="1"/>
          <p:nvPr/>
        </p:nvSpPr>
        <p:spPr>
          <a:xfrm>
            <a:off x="5198674" y="6488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CB788-4FD3-045E-A387-4E9010F9EA7A}"/>
              </a:ext>
            </a:extLst>
          </p:cNvPr>
          <p:cNvSpPr txBox="1"/>
          <p:nvPr/>
        </p:nvSpPr>
        <p:spPr>
          <a:xfrm>
            <a:off x="7986232" y="452809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619AE-643D-A691-0B0F-AE1FE0FD9664}"/>
              </a:ext>
            </a:extLst>
          </p:cNvPr>
          <p:cNvSpPr txBox="1"/>
          <p:nvPr/>
        </p:nvSpPr>
        <p:spPr>
          <a:xfrm>
            <a:off x="2939560" y="4401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D557C3-3A3D-0FF5-5A4E-7B5562363ED9}"/>
              </a:ext>
            </a:extLst>
          </p:cNvPr>
          <p:cNvSpPr txBox="1"/>
          <p:nvPr/>
        </p:nvSpPr>
        <p:spPr>
          <a:xfrm>
            <a:off x="3761820" y="5355420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89ADA8-AE0B-2FA3-7C4E-24D5BF713063}"/>
              </a:ext>
            </a:extLst>
          </p:cNvPr>
          <p:cNvSpPr txBox="1"/>
          <p:nvPr/>
        </p:nvSpPr>
        <p:spPr>
          <a:xfrm>
            <a:off x="6711335" y="535542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</p:spTree>
    <p:extLst>
      <p:ext uri="{BB962C8B-B14F-4D97-AF65-F5344CB8AC3E}">
        <p14:creationId xmlns:p14="http://schemas.microsoft.com/office/powerpoint/2010/main" val="841664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BA45-1CED-D738-3D4E-97ABCC9A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9515-861D-2B62-EFE7-C139A3E4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AC204-01C9-954A-CDCA-0CEB4C5AB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831808"/>
          </a:xfrm>
        </p:spPr>
        <p:txBody>
          <a:bodyPr>
            <a:normAutofit/>
          </a:bodyPr>
          <a:lstStyle/>
          <a:p>
            <a:r>
              <a:rPr lang="en-US" dirty="0"/>
              <a:t>A walk in HMM from the dealer’s perspective: 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FFBB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HTHH</a:t>
            </a:r>
          </a:p>
          <a:p>
            <a:r>
              <a:rPr lang="en-US" dirty="0"/>
              <a:t>What can we do?  The coins are hidden from us!</a:t>
            </a:r>
          </a:p>
          <a:p>
            <a:r>
              <a:rPr lang="en-US" dirty="0"/>
              <a:t>Try all possible sequences of 4-letter combinations of F and B, compute probabilities (2^4)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64F8C-F966-5408-DEB5-27C9EC48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7BAC98-E2F6-6DB9-850C-EC92F5C00319}"/>
              </a:ext>
            </a:extLst>
          </p:cNvPr>
          <p:cNvSpPr/>
          <p:nvPr/>
        </p:nvSpPr>
        <p:spPr>
          <a:xfrm>
            <a:off x="3725708" y="509014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6765AC-5D7E-D806-9988-4FE92DC39D5D}"/>
              </a:ext>
            </a:extLst>
          </p:cNvPr>
          <p:cNvSpPr/>
          <p:nvPr/>
        </p:nvSpPr>
        <p:spPr>
          <a:xfrm>
            <a:off x="6686623" y="509014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E51B1E-B8C7-60B5-A372-35666C77E84D}"/>
                  </a:ext>
                </a:extLst>
              </p14:cNvPr>
              <p14:cNvContentPartPr/>
              <p14:nvPr/>
            </p14:nvContentPartPr>
            <p14:xfrm>
              <a:off x="4422286" y="481318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E51B1E-B8C7-60B5-A372-35666C77E8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6165" y="480706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19F17E-B23F-E567-BF0D-8405FA4AAB5E}"/>
                  </a:ext>
                </a:extLst>
              </p14:cNvPr>
              <p14:cNvContentPartPr/>
              <p14:nvPr/>
            </p14:nvContentPartPr>
            <p14:xfrm>
              <a:off x="4423726" y="593170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19F17E-B23F-E567-BF0D-8405FA4AAB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606" y="592558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905D0C6-3704-9AF6-9B9C-3F6D71ABB845}"/>
                  </a:ext>
                </a:extLst>
              </p14:cNvPr>
              <p14:cNvContentPartPr/>
              <p14:nvPr/>
            </p14:nvContentPartPr>
            <p14:xfrm>
              <a:off x="7484446" y="495934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905D0C6-3704-9AF6-9B9C-3F6D71ABB8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8326" y="495322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BE658BA-C980-01DF-D40A-6CF1B9AFC93A}"/>
                  </a:ext>
                </a:extLst>
              </p14:cNvPr>
              <p14:cNvContentPartPr/>
              <p14:nvPr/>
            </p14:nvContentPartPr>
            <p14:xfrm>
              <a:off x="2491966" y="477070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BE658BA-C980-01DF-D40A-6CF1B9AFC9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846" y="476458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7F86296-B2AD-EA38-155E-CC326EED969F}"/>
              </a:ext>
            </a:extLst>
          </p:cNvPr>
          <p:cNvSpPr txBox="1"/>
          <p:nvPr/>
        </p:nvSpPr>
        <p:spPr>
          <a:xfrm>
            <a:off x="5198674" y="44302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6DF8B8-73A9-E400-9157-79A24241F29F}"/>
              </a:ext>
            </a:extLst>
          </p:cNvPr>
          <p:cNvSpPr txBox="1"/>
          <p:nvPr/>
        </p:nvSpPr>
        <p:spPr>
          <a:xfrm>
            <a:off x="5198674" y="6488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259B2-C629-9A96-B5CF-4757CAA9A4DA}"/>
              </a:ext>
            </a:extLst>
          </p:cNvPr>
          <p:cNvSpPr txBox="1"/>
          <p:nvPr/>
        </p:nvSpPr>
        <p:spPr>
          <a:xfrm>
            <a:off x="7986232" y="452809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A9687-0F74-3940-DC92-79A8E0FB5291}"/>
              </a:ext>
            </a:extLst>
          </p:cNvPr>
          <p:cNvSpPr txBox="1"/>
          <p:nvPr/>
        </p:nvSpPr>
        <p:spPr>
          <a:xfrm>
            <a:off x="2939560" y="4401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12CFE8-320E-CAF3-F358-5E16C444DA30}"/>
              </a:ext>
            </a:extLst>
          </p:cNvPr>
          <p:cNvSpPr txBox="1"/>
          <p:nvPr/>
        </p:nvSpPr>
        <p:spPr>
          <a:xfrm>
            <a:off x="3761820" y="5355420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E1A07-65B7-D036-0E9C-E894626A3889}"/>
              </a:ext>
            </a:extLst>
          </p:cNvPr>
          <p:cNvSpPr txBox="1"/>
          <p:nvPr/>
        </p:nvSpPr>
        <p:spPr>
          <a:xfrm>
            <a:off x="6711335" y="535542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</p:spTree>
    <p:extLst>
      <p:ext uri="{BB962C8B-B14F-4D97-AF65-F5344CB8AC3E}">
        <p14:creationId xmlns:p14="http://schemas.microsoft.com/office/powerpoint/2010/main" val="74975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F56C-3590-4B93-8794-A19D3CDE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7462-F74A-A55E-066C-0C69AA13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77FF9-F8F5-C646-8BB3-0620F9F2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168BAB-2083-2502-D353-A25A7769FBD0}"/>
              </a:ext>
            </a:extLst>
          </p:cNvPr>
          <p:cNvSpPr/>
          <p:nvPr/>
        </p:nvSpPr>
        <p:spPr>
          <a:xfrm>
            <a:off x="3725708" y="5090143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DE4518-21A0-2244-5507-5AD14D5C2E2B}"/>
              </a:ext>
            </a:extLst>
          </p:cNvPr>
          <p:cNvSpPr/>
          <p:nvPr/>
        </p:nvSpPr>
        <p:spPr>
          <a:xfrm>
            <a:off x="6686623" y="5090143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033EE1-80CB-5702-2CB6-DE987248708D}"/>
                  </a:ext>
                </a:extLst>
              </p14:cNvPr>
              <p14:cNvContentPartPr/>
              <p14:nvPr/>
            </p14:nvContentPartPr>
            <p14:xfrm>
              <a:off x="4422286" y="4813183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033EE1-80CB-5702-2CB6-DE98724870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16165" y="4807063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5C6ED7-F3FE-564F-2717-7064027198B9}"/>
                  </a:ext>
                </a:extLst>
              </p14:cNvPr>
              <p14:cNvContentPartPr/>
              <p14:nvPr/>
            </p14:nvContentPartPr>
            <p14:xfrm>
              <a:off x="4423726" y="5931703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5C6ED7-F3FE-564F-2717-7064027198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7606" y="5925583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96853C-B616-36DA-7743-F106416E6323}"/>
                  </a:ext>
                </a:extLst>
              </p14:cNvPr>
              <p14:cNvContentPartPr/>
              <p14:nvPr/>
            </p14:nvContentPartPr>
            <p14:xfrm>
              <a:off x="7484446" y="4959343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96853C-B616-36DA-7743-F106416E63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78326" y="4953223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3CFBEF3-2A45-9C85-0AED-68B77005B598}"/>
                  </a:ext>
                </a:extLst>
              </p14:cNvPr>
              <p14:cNvContentPartPr/>
              <p14:nvPr/>
            </p14:nvContentPartPr>
            <p14:xfrm>
              <a:off x="2491966" y="4770703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3CFBEF3-2A45-9C85-0AED-68B77005B5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5846" y="4764583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55E23F1-9141-CDC8-3129-D654535A5391}"/>
              </a:ext>
            </a:extLst>
          </p:cNvPr>
          <p:cNvSpPr txBox="1"/>
          <p:nvPr/>
        </p:nvSpPr>
        <p:spPr>
          <a:xfrm>
            <a:off x="5198674" y="44302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18C88-F96A-498E-6BE3-1B27D738DB2D}"/>
              </a:ext>
            </a:extLst>
          </p:cNvPr>
          <p:cNvSpPr txBox="1"/>
          <p:nvPr/>
        </p:nvSpPr>
        <p:spPr>
          <a:xfrm>
            <a:off x="5198674" y="6488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6286BF-186E-7F87-8853-637AEE049781}"/>
              </a:ext>
            </a:extLst>
          </p:cNvPr>
          <p:cNvSpPr txBox="1"/>
          <p:nvPr/>
        </p:nvSpPr>
        <p:spPr>
          <a:xfrm>
            <a:off x="7986232" y="452809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1FE02-EDB6-4A36-A4E3-5E2B36B98B72}"/>
              </a:ext>
            </a:extLst>
          </p:cNvPr>
          <p:cNvSpPr txBox="1"/>
          <p:nvPr/>
        </p:nvSpPr>
        <p:spPr>
          <a:xfrm>
            <a:off x="2939560" y="4401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FA2C9-3513-886F-8292-5CA9EAAC743E}"/>
              </a:ext>
            </a:extLst>
          </p:cNvPr>
          <p:cNvSpPr txBox="1"/>
          <p:nvPr/>
        </p:nvSpPr>
        <p:spPr>
          <a:xfrm>
            <a:off x="3761820" y="5355420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B9025-2CB3-D674-3F51-301E214E656B}"/>
              </a:ext>
            </a:extLst>
          </p:cNvPr>
          <p:cNvSpPr txBox="1"/>
          <p:nvPr/>
        </p:nvSpPr>
        <p:spPr>
          <a:xfrm>
            <a:off x="6711335" y="535542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544100-A62F-C523-3AD0-4CC8E61D938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6191511" y="2049049"/>
            <a:ext cx="1829726" cy="21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D4DF3E-91B5-006C-6AC5-F0A8C7EFA5E7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4308596" y="2024743"/>
            <a:ext cx="1584204" cy="191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5F7F59-92A0-108A-C231-D82E7358C146}"/>
              </a:ext>
            </a:extLst>
          </p:cNvPr>
          <p:cNvSpPr txBox="1"/>
          <p:nvPr/>
        </p:nvSpPr>
        <p:spPr>
          <a:xfrm>
            <a:off x="4180283" y="2215900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B41A51-5584-AF95-46C4-8A3E56BBC18C}"/>
              </a:ext>
            </a:extLst>
          </p:cNvPr>
          <p:cNvSpPr txBox="1"/>
          <p:nvPr/>
        </p:nvSpPr>
        <p:spPr>
          <a:xfrm>
            <a:off x="7866387" y="225914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7DF2FDD-6C92-50D9-B70B-E8D8B631BB69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4308596" y="2585232"/>
            <a:ext cx="1128284" cy="283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30D506-CFCF-6E2B-6035-378B817F4A6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3194126" y="2585232"/>
            <a:ext cx="1114470" cy="276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594BEDE-2B6B-B365-8191-FEFDC6A2C5D1}"/>
              </a:ext>
            </a:extLst>
          </p:cNvPr>
          <p:cNvSpPr txBox="1"/>
          <p:nvPr/>
        </p:nvSpPr>
        <p:spPr>
          <a:xfrm>
            <a:off x="3049453" y="2856606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7E97F8-6B68-959D-4940-AD88F0300ACC}"/>
              </a:ext>
            </a:extLst>
          </p:cNvPr>
          <p:cNvSpPr txBox="1"/>
          <p:nvPr/>
        </p:nvSpPr>
        <p:spPr>
          <a:xfrm>
            <a:off x="5289760" y="279154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5C44153-F2E4-FF49-72C3-FD639BBAC441}"/>
              </a:ext>
            </a:extLst>
          </p:cNvPr>
          <p:cNvCxnSpPr>
            <a:cxnSpLocks/>
          </p:cNvCxnSpPr>
          <p:nvPr/>
        </p:nvCxnSpPr>
        <p:spPr>
          <a:xfrm>
            <a:off x="8009788" y="2543401"/>
            <a:ext cx="1128284" cy="283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93BE003-39D7-FD54-6B09-6DD3710576EE}"/>
              </a:ext>
            </a:extLst>
          </p:cNvPr>
          <p:cNvCxnSpPr>
            <a:cxnSpLocks/>
          </p:cNvCxnSpPr>
          <p:nvPr/>
        </p:nvCxnSpPr>
        <p:spPr>
          <a:xfrm flipH="1">
            <a:off x="6895318" y="2543401"/>
            <a:ext cx="1114470" cy="276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5A2ADD9-281F-00DE-EF14-9CCEAD2BE942}"/>
              </a:ext>
            </a:extLst>
          </p:cNvPr>
          <p:cNvSpPr txBox="1"/>
          <p:nvPr/>
        </p:nvSpPr>
        <p:spPr>
          <a:xfrm>
            <a:off x="6804789" y="2813572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7133D1-B946-E1EC-E694-B1462B688298}"/>
              </a:ext>
            </a:extLst>
          </p:cNvPr>
          <p:cNvSpPr txBox="1"/>
          <p:nvPr/>
        </p:nvSpPr>
        <p:spPr>
          <a:xfrm>
            <a:off x="8881447" y="278002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ADA61D5-C87A-3E4E-F78B-A8C0A488C03D}"/>
              </a:ext>
            </a:extLst>
          </p:cNvPr>
          <p:cNvCxnSpPr>
            <a:cxnSpLocks/>
          </p:cNvCxnSpPr>
          <p:nvPr/>
        </p:nvCxnSpPr>
        <p:spPr>
          <a:xfrm>
            <a:off x="3160563" y="3194188"/>
            <a:ext cx="416019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277F3A6-A29F-18A7-7E8A-E3E0CBBA4FEB}"/>
              </a:ext>
            </a:extLst>
          </p:cNvPr>
          <p:cNvCxnSpPr>
            <a:cxnSpLocks/>
          </p:cNvCxnSpPr>
          <p:nvPr/>
        </p:nvCxnSpPr>
        <p:spPr>
          <a:xfrm flipH="1">
            <a:off x="2775558" y="3194188"/>
            <a:ext cx="385005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B3AE2B1-70EA-567F-677B-71FC41B041AF}"/>
              </a:ext>
            </a:extLst>
          </p:cNvPr>
          <p:cNvSpPr txBox="1"/>
          <p:nvPr/>
        </p:nvSpPr>
        <p:spPr>
          <a:xfrm>
            <a:off x="2595418" y="3355050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60D809-CE3A-9234-5EA0-F4DFB757F53C}"/>
              </a:ext>
            </a:extLst>
          </p:cNvPr>
          <p:cNvSpPr txBox="1"/>
          <p:nvPr/>
        </p:nvSpPr>
        <p:spPr>
          <a:xfrm>
            <a:off x="3462080" y="336118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13685AF-B62E-F060-05DB-06BA6A920117}"/>
              </a:ext>
            </a:extLst>
          </p:cNvPr>
          <p:cNvCxnSpPr>
            <a:cxnSpLocks/>
          </p:cNvCxnSpPr>
          <p:nvPr/>
        </p:nvCxnSpPr>
        <p:spPr>
          <a:xfrm>
            <a:off x="5436880" y="3189663"/>
            <a:ext cx="416019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E5E76BD-C7A7-4FBC-834A-F011E3E10EC5}"/>
              </a:ext>
            </a:extLst>
          </p:cNvPr>
          <p:cNvCxnSpPr>
            <a:cxnSpLocks/>
          </p:cNvCxnSpPr>
          <p:nvPr/>
        </p:nvCxnSpPr>
        <p:spPr>
          <a:xfrm flipH="1">
            <a:off x="5051875" y="3189663"/>
            <a:ext cx="385005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758A69F-7F15-B35A-3637-1FC576F1C1FE}"/>
              </a:ext>
            </a:extLst>
          </p:cNvPr>
          <p:cNvSpPr txBox="1"/>
          <p:nvPr/>
        </p:nvSpPr>
        <p:spPr>
          <a:xfrm>
            <a:off x="4871735" y="3350525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6BCE03-1696-4511-58D7-EDEE0428EEA4}"/>
              </a:ext>
            </a:extLst>
          </p:cNvPr>
          <p:cNvSpPr txBox="1"/>
          <p:nvPr/>
        </p:nvSpPr>
        <p:spPr>
          <a:xfrm>
            <a:off x="5738397" y="335666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684E74E-3D5E-197F-8F4D-7C7A21164D8B}"/>
              </a:ext>
            </a:extLst>
          </p:cNvPr>
          <p:cNvCxnSpPr>
            <a:cxnSpLocks/>
          </p:cNvCxnSpPr>
          <p:nvPr/>
        </p:nvCxnSpPr>
        <p:spPr>
          <a:xfrm>
            <a:off x="6949462" y="3215235"/>
            <a:ext cx="416019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6A97F96-4CF9-D7B4-3D10-FABB67BA2C98}"/>
              </a:ext>
            </a:extLst>
          </p:cNvPr>
          <p:cNvCxnSpPr>
            <a:cxnSpLocks/>
          </p:cNvCxnSpPr>
          <p:nvPr/>
        </p:nvCxnSpPr>
        <p:spPr>
          <a:xfrm flipH="1">
            <a:off x="6564457" y="3215235"/>
            <a:ext cx="385005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18B5CD3-6F16-1B16-72D1-3571933F78D1}"/>
              </a:ext>
            </a:extLst>
          </p:cNvPr>
          <p:cNvSpPr txBox="1"/>
          <p:nvPr/>
        </p:nvSpPr>
        <p:spPr>
          <a:xfrm>
            <a:off x="6384317" y="3376097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0417D5-DD9D-3E3A-4B08-574146D16637}"/>
              </a:ext>
            </a:extLst>
          </p:cNvPr>
          <p:cNvSpPr txBox="1"/>
          <p:nvPr/>
        </p:nvSpPr>
        <p:spPr>
          <a:xfrm>
            <a:off x="7250979" y="338223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EFD062F-6722-5D8C-EABE-4F202AF28ABD}"/>
              </a:ext>
            </a:extLst>
          </p:cNvPr>
          <p:cNvCxnSpPr>
            <a:cxnSpLocks/>
          </p:cNvCxnSpPr>
          <p:nvPr/>
        </p:nvCxnSpPr>
        <p:spPr>
          <a:xfrm>
            <a:off x="8972340" y="3102827"/>
            <a:ext cx="416019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F4554D9-3164-70FD-14BA-AF1AE232D1CD}"/>
              </a:ext>
            </a:extLst>
          </p:cNvPr>
          <p:cNvCxnSpPr>
            <a:cxnSpLocks/>
          </p:cNvCxnSpPr>
          <p:nvPr/>
        </p:nvCxnSpPr>
        <p:spPr>
          <a:xfrm flipH="1">
            <a:off x="8587335" y="3102827"/>
            <a:ext cx="385005" cy="22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A36C914-632F-5D2E-0D54-DA1CDE0BD284}"/>
              </a:ext>
            </a:extLst>
          </p:cNvPr>
          <p:cNvSpPr txBox="1"/>
          <p:nvPr/>
        </p:nvSpPr>
        <p:spPr>
          <a:xfrm>
            <a:off x="8407195" y="3263689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FEF200-7B9C-9B54-34FB-FA64335B2091}"/>
              </a:ext>
            </a:extLst>
          </p:cNvPr>
          <p:cNvSpPr txBox="1"/>
          <p:nvPr/>
        </p:nvSpPr>
        <p:spPr>
          <a:xfrm>
            <a:off x="9273857" y="326982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EA0E46A-7074-BD59-28E5-FED0E1A6F859}"/>
              </a:ext>
            </a:extLst>
          </p:cNvPr>
          <p:cNvCxnSpPr>
            <a:cxnSpLocks/>
          </p:cNvCxnSpPr>
          <p:nvPr/>
        </p:nvCxnSpPr>
        <p:spPr>
          <a:xfrm>
            <a:off x="2788970" y="3652498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F371E66-1FBC-595E-2DAF-62CA0F5AFF7C}"/>
              </a:ext>
            </a:extLst>
          </p:cNvPr>
          <p:cNvCxnSpPr>
            <a:cxnSpLocks/>
          </p:cNvCxnSpPr>
          <p:nvPr/>
        </p:nvCxnSpPr>
        <p:spPr>
          <a:xfrm flipH="1">
            <a:off x="2471840" y="3657012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C8770D27-1DFB-6C26-C4E4-5EC68F25BAAF}"/>
              </a:ext>
            </a:extLst>
          </p:cNvPr>
          <p:cNvSpPr txBox="1"/>
          <p:nvPr/>
        </p:nvSpPr>
        <p:spPr>
          <a:xfrm>
            <a:off x="2324072" y="3717812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E8D0CCF-7DE4-EC7D-868E-42A18235F3B5}"/>
              </a:ext>
            </a:extLst>
          </p:cNvPr>
          <p:cNvSpPr txBox="1"/>
          <p:nvPr/>
        </p:nvSpPr>
        <p:spPr>
          <a:xfrm>
            <a:off x="2849694" y="37211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C5E2350-97CA-65D4-CD1E-EE6C091C33DE}"/>
              </a:ext>
            </a:extLst>
          </p:cNvPr>
          <p:cNvCxnSpPr>
            <a:cxnSpLocks/>
          </p:cNvCxnSpPr>
          <p:nvPr/>
        </p:nvCxnSpPr>
        <p:spPr>
          <a:xfrm>
            <a:off x="3701428" y="3670852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4EC40E5-DE50-3F73-DFAF-7880D37339D5}"/>
              </a:ext>
            </a:extLst>
          </p:cNvPr>
          <p:cNvCxnSpPr>
            <a:cxnSpLocks/>
          </p:cNvCxnSpPr>
          <p:nvPr/>
        </p:nvCxnSpPr>
        <p:spPr>
          <a:xfrm flipH="1">
            <a:off x="3384298" y="3675366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B31E9EC-7221-32DF-0185-DB96FEDB994A}"/>
              </a:ext>
            </a:extLst>
          </p:cNvPr>
          <p:cNvSpPr txBox="1"/>
          <p:nvPr/>
        </p:nvSpPr>
        <p:spPr>
          <a:xfrm>
            <a:off x="3236530" y="3736166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9890BF-D665-CB4C-2267-C3D98636592E}"/>
              </a:ext>
            </a:extLst>
          </p:cNvPr>
          <p:cNvSpPr txBox="1"/>
          <p:nvPr/>
        </p:nvSpPr>
        <p:spPr>
          <a:xfrm>
            <a:off x="3762152" y="373950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26448AC-810F-D2B7-293D-A50274869F54}"/>
              </a:ext>
            </a:extLst>
          </p:cNvPr>
          <p:cNvCxnSpPr>
            <a:cxnSpLocks/>
          </p:cNvCxnSpPr>
          <p:nvPr/>
        </p:nvCxnSpPr>
        <p:spPr>
          <a:xfrm>
            <a:off x="4988219" y="3674195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34B40D3-65F1-F4A7-2F94-C80F2805D5F1}"/>
              </a:ext>
            </a:extLst>
          </p:cNvPr>
          <p:cNvCxnSpPr>
            <a:cxnSpLocks/>
          </p:cNvCxnSpPr>
          <p:nvPr/>
        </p:nvCxnSpPr>
        <p:spPr>
          <a:xfrm flipH="1">
            <a:off x="4671089" y="3678709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4EDC359-9662-662F-480A-04DB7BE7564A}"/>
              </a:ext>
            </a:extLst>
          </p:cNvPr>
          <p:cNvSpPr txBox="1"/>
          <p:nvPr/>
        </p:nvSpPr>
        <p:spPr>
          <a:xfrm>
            <a:off x="4523321" y="3739509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11A9C0F-45E2-8ACD-759A-995642DB329F}"/>
              </a:ext>
            </a:extLst>
          </p:cNvPr>
          <p:cNvSpPr txBox="1"/>
          <p:nvPr/>
        </p:nvSpPr>
        <p:spPr>
          <a:xfrm>
            <a:off x="5048943" y="37428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BA7985D-6D52-E1A4-F03C-66711155101A}"/>
              </a:ext>
            </a:extLst>
          </p:cNvPr>
          <p:cNvCxnSpPr>
            <a:cxnSpLocks/>
          </p:cNvCxnSpPr>
          <p:nvPr/>
        </p:nvCxnSpPr>
        <p:spPr>
          <a:xfrm>
            <a:off x="5901778" y="3673533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0CAC981-9C5D-E0F3-1192-FE0AD61778D8}"/>
              </a:ext>
            </a:extLst>
          </p:cNvPr>
          <p:cNvCxnSpPr>
            <a:cxnSpLocks/>
          </p:cNvCxnSpPr>
          <p:nvPr/>
        </p:nvCxnSpPr>
        <p:spPr>
          <a:xfrm flipH="1">
            <a:off x="5584648" y="3678047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E7B6A6A-D55C-73F2-2752-AA4CAB8EFA31}"/>
              </a:ext>
            </a:extLst>
          </p:cNvPr>
          <p:cNvSpPr txBox="1"/>
          <p:nvPr/>
        </p:nvSpPr>
        <p:spPr>
          <a:xfrm>
            <a:off x="5436880" y="3738847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331DC9-4721-8181-87D7-65EA11CC3182}"/>
              </a:ext>
            </a:extLst>
          </p:cNvPr>
          <p:cNvSpPr txBox="1"/>
          <p:nvPr/>
        </p:nvSpPr>
        <p:spPr>
          <a:xfrm>
            <a:off x="5962502" y="374219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9C59EEE-5962-12B0-9429-CA3F4E585410}"/>
              </a:ext>
            </a:extLst>
          </p:cNvPr>
          <p:cNvCxnSpPr>
            <a:cxnSpLocks/>
          </p:cNvCxnSpPr>
          <p:nvPr/>
        </p:nvCxnSpPr>
        <p:spPr>
          <a:xfrm>
            <a:off x="6647603" y="3683517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6282897-9A20-ED07-FB9E-72DE7861C289}"/>
              </a:ext>
            </a:extLst>
          </p:cNvPr>
          <p:cNvCxnSpPr>
            <a:cxnSpLocks/>
          </p:cNvCxnSpPr>
          <p:nvPr/>
        </p:nvCxnSpPr>
        <p:spPr>
          <a:xfrm flipH="1">
            <a:off x="6330473" y="3688031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94349BB-F173-8FDC-4A94-BF4BE0283E9F}"/>
              </a:ext>
            </a:extLst>
          </p:cNvPr>
          <p:cNvSpPr txBox="1"/>
          <p:nvPr/>
        </p:nvSpPr>
        <p:spPr>
          <a:xfrm>
            <a:off x="6182705" y="3748831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0D73A51-FD40-01FA-F0CB-94BECAB18F81}"/>
              </a:ext>
            </a:extLst>
          </p:cNvPr>
          <p:cNvSpPr txBox="1"/>
          <p:nvPr/>
        </p:nvSpPr>
        <p:spPr>
          <a:xfrm>
            <a:off x="6708327" y="375217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D7E3C20-3DE9-7419-3348-7F7FD634BC52}"/>
              </a:ext>
            </a:extLst>
          </p:cNvPr>
          <p:cNvCxnSpPr>
            <a:cxnSpLocks/>
          </p:cNvCxnSpPr>
          <p:nvPr/>
        </p:nvCxnSpPr>
        <p:spPr>
          <a:xfrm>
            <a:off x="7398589" y="3680920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2ED2343-70C8-7BB3-E4FD-5D10045A632B}"/>
              </a:ext>
            </a:extLst>
          </p:cNvPr>
          <p:cNvCxnSpPr>
            <a:cxnSpLocks/>
          </p:cNvCxnSpPr>
          <p:nvPr/>
        </p:nvCxnSpPr>
        <p:spPr>
          <a:xfrm flipH="1">
            <a:off x="7081459" y="3685434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1C1EB76-1FDC-1EAC-DEC5-5362F858DD4F}"/>
              </a:ext>
            </a:extLst>
          </p:cNvPr>
          <p:cNvSpPr txBox="1"/>
          <p:nvPr/>
        </p:nvSpPr>
        <p:spPr>
          <a:xfrm>
            <a:off x="6933691" y="3746234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19814A4-549E-57B4-E220-9F23201D7AA0}"/>
              </a:ext>
            </a:extLst>
          </p:cNvPr>
          <p:cNvSpPr txBox="1"/>
          <p:nvPr/>
        </p:nvSpPr>
        <p:spPr>
          <a:xfrm>
            <a:off x="7459313" y="37495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82205B9-B8EC-0CA4-307D-9BCD391214A3}"/>
              </a:ext>
            </a:extLst>
          </p:cNvPr>
          <p:cNvCxnSpPr>
            <a:cxnSpLocks/>
          </p:cNvCxnSpPr>
          <p:nvPr/>
        </p:nvCxnSpPr>
        <p:spPr>
          <a:xfrm>
            <a:off x="8725465" y="3620120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60D731A-F1AB-7FEC-CE44-1F619384908A}"/>
              </a:ext>
            </a:extLst>
          </p:cNvPr>
          <p:cNvCxnSpPr>
            <a:cxnSpLocks/>
          </p:cNvCxnSpPr>
          <p:nvPr/>
        </p:nvCxnSpPr>
        <p:spPr>
          <a:xfrm flipH="1">
            <a:off x="8408335" y="3624634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9FDE23E-54BA-5718-4479-BEF0CF76D019}"/>
              </a:ext>
            </a:extLst>
          </p:cNvPr>
          <p:cNvSpPr txBox="1"/>
          <p:nvPr/>
        </p:nvSpPr>
        <p:spPr>
          <a:xfrm>
            <a:off x="8260567" y="3685434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DE760F0-101E-AE7A-7557-7DBDF8AD6336}"/>
              </a:ext>
            </a:extLst>
          </p:cNvPr>
          <p:cNvSpPr txBox="1"/>
          <p:nvPr/>
        </p:nvSpPr>
        <p:spPr>
          <a:xfrm>
            <a:off x="8786189" y="36887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1C72E8A-B379-6671-23B3-957F1C8EB146}"/>
              </a:ext>
            </a:extLst>
          </p:cNvPr>
          <p:cNvCxnSpPr>
            <a:cxnSpLocks/>
          </p:cNvCxnSpPr>
          <p:nvPr/>
        </p:nvCxnSpPr>
        <p:spPr>
          <a:xfrm>
            <a:off x="9476451" y="3617523"/>
            <a:ext cx="203202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86E9E57-E0A2-C03E-5BB3-C00EF44D03C0}"/>
              </a:ext>
            </a:extLst>
          </p:cNvPr>
          <p:cNvCxnSpPr>
            <a:cxnSpLocks/>
          </p:cNvCxnSpPr>
          <p:nvPr/>
        </p:nvCxnSpPr>
        <p:spPr>
          <a:xfrm flipH="1">
            <a:off x="9159321" y="3622037"/>
            <a:ext cx="217714" cy="12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B710DF3-3AEA-DF07-D3CA-17EEAC519A63}"/>
              </a:ext>
            </a:extLst>
          </p:cNvPr>
          <p:cNvSpPr txBox="1"/>
          <p:nvPr/>
        </p:nvSpPr>
        <p:spPr>
          <a:xfrm>
            <a:off x="9011553" y="3682837"/>
            <a:ext cx="256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130D8EE-69DC-C586-4B34-20D937CA6A6A}"/>
              </a:ext>
            </a:extLst>
          </p:cNvPr>
          <p:cNvSpPr txBox="1"/>
          <p:nvPr/>
        </p:nvSpPr>
        <p:spPr>
          <a:xfrm>
            <a:off x="9537175" y="36861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EC5C4C3-8DB3-9E15-0F4A-BED8CB4DDFFC}"/>
              </a:ext>
            </a:extLst>
          </p:cNvPr>
          <p:cNvSpPr txBox="1"/>
          <p:nvPr/>
        </p:nvSpPr>
        <p:spPr>
          <a:xfrm>
            <a:off x="293038" y="3041272"/>
            <a:ext cx="17211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2^4=16 probabilities,</a:t>
            </a:r>
          </a:p>
          <a:p>
            <a:endParaRPr lang="en-US" dirty="0"/>
          </a:p>
          <a:p>
            <a:r>
              <a:rPr lang="en-US" dirty="0"/>
              <a:t>Pick the guess with the highest probability</a:t>
            </a:r>
          </a:p>
          <a:p>
            <a:endParaRPr lang="en-US" dirty="0"/>
          </a:p>
          <a:p>
            <a:r>
              <a:rPr lang="en-US" dirty="0"/>
              <a:t>Not feasible to do for long runs!!!</a:t>
            </a:r>
          </a:p>
        </p:txBody>
      </p:sp>
    </p:spTree>
    <p:extLst>
      <p:ext uri="{BB962C8B-B14F-4D97-AF65-F5344CB8AC3E}">
        <p14:creationId xmlns:p14="http://schemas.microsoft.com/office/powerpoint/2010/main" val="1943159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F253-89E7-0465-DAF4-6D73C0D5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7CFA-E0D0-5101-9B09-B3F74A8D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Hidden Markov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17FA-5AC5-854C-F5F8-6D1821D54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5"/>
          </a:xfrm>
        </p:spPr>
        <p:txBody>
          <a:bodyPr>
            <a:normAutofit/>
          </a:bodyPr>
          <a:lstStyle/>
          <a:p>
            <a:r>
              <a:rPr lang="en-US" dirty="0"/>
              <a:t>Use Viterbi algorithm for long runs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Input: HMM and the sequence: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HHTH…</a:t>
            </a: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Output: a state sequence with maximum probability: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FFBB…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9757B-DB65-DE71-4327-8D519450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38FF10-107A-4C95-6B8F-542808F2A0CD}"/>
              </a:ext>
            </a:extLst>
          </p:cNvPr>
          <p:cNvSpPr/>
          <p:nvPr/>
        </p:nvSpPr>
        <p:spPr>
          <a:xfrm>
            <a:off x="1821382" y="3218542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4732E7-07DF-738E-6014-B81CE824F0DF}"/>
              </a:ext>
            </a:extLst>
          </p:cNvPr>
          <p:cNvSpPr/>
          <p:nvPr/>
        </p:nvSpPr>
        <p:spPr>
          <a:xfrm>
            <a:off x="4782297" y="3218542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15967F-B6B0-C776-C325-78C6F3F98FAD}"/>
                  </a:ext>
                </a:extLst>
              </p14:cNvPr>
              <p14:cNvContentPartPr/>
              <p14:nvPr/>
            </p14:nvContentPartPr>
            <p14:xfrm>
              <a:off x="2517960" y="2941582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15967F-B6B0-C776-C325-78C6F3F98F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1839" y="2935462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8DB9AE-9DED-841B-6A7C-A4CD94033AD8}"/>
                  </a:ext>
                </a:extLst>
              </p14:cNvPr>
              <p14:cNvContentPartPr/>
              <p14:nvPr/>
            </p14:nvContentPartPr>
            <p14:xfrm>
              <a:off x="2519400" y="4060102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8DB9AE-9DED-841B-6A7C-A4CD94033A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3280" y="4053982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C824E5-1878-9F08-65A5-85A7B106A254}"/>
                  </a:ext>
                </a:extLst>
              </p14:cNvPr>
              <p14:cNvContentPartPr/>
              <p14:nvPr/>
            </p14:nvContentPartPr>
            <p14:xfrm>
              <a:off x="5580120" y="3087742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C824E5-1878-9F08-65A5-85A7B106A2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74000" y="3081622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D41D02-7C53-37CE-3D83-5D114FC54EE6}"/>
                  </a:ext>
                </a:extLst>
              </p14:cNvPr>
              <p14:cNvContentPartPr/>
              <p14:nvPr/>
            </p14:nvContentPartPr>
            <p14:xfrm>
              <a:off x="587640" y="2899102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D41D02-7C53-37CE-3D83-5D114FC54E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520" y="2892982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3CA6EC5-03AB-A87F-9D63-5E75D3619AE1}"/>
              </a:ext>
            </a:extLst>
          </p:cNvPr>
          <p:cNvSpPr txBox="1"/>
          <p:nvPr/>
        </p:nvSpPr>
        <p:spPr>
          <a:xfrm>
            <a:off x="3294348" y="255862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85412-90C4-5868-BB41-94101C59E7DE}"/>
              </a:ext>
            </a:extLst>
          </p:cNvPr>
          <p:cNvSpPr txBox="1"/>
          <p:nvPr/>
        </p:nvSpPr>
        <p:spPr>
          <a:xfrm>
            <a:off x="3294348" y="461706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85EB9-4E25-29D8-BC1C-4D85EAF4477D}"/>
              </a:ext>
            </a:extLst>
          </p:cNvPr>
          <p:cNvSpPr txBox="1"/>
          <p:nvPr/>
        </p:nvSpPr>
        <p:spPr>
          <a:xfrm>
            <a:off x="6081906" y="26564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2A640-9A05-46AC-3404-B665E2C7C971}"/>
              </a:ext>
            </a:extLst>
          </p:cNvPr>
          <p:cNvSpPr txBox="1"/>
          <p:nvPr/>
        </p:nvSpPr>
        <p:spPr>
          <a:xfrm>
            <a:off x="1035234" y="252977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78BA12-5779-380B-B815-80A9BE84ED46}"/>
              </a:ext>
            </a:extLst>
          </p:cNvPr>
          <p:cNvSpPr txBox="1"/>
          <p:nvPr/>
        </p:nvSpPr>
        <p:spPr>
          <a:xfrm>
            <a:off x="1857494" y="3483819"/>
            <a:ext cx="827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 (F)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B8FBA-2792-5873-D2FD-004660DA78C8}"/>
              </a:ext>
            </a:extLst>
          </p:cNvPr>
          <p:cNvSpPr txBox="1"/>
          <p:nvPr/>
        </p:nvSpPr>
        <p:spPr>
          <a:xfrm>
            <a:off x="4807009" y="348381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 (B)</a:t>
            </a:r>
          </a:p>
        </p:txBody>
      </p:sp>
    </p:spTree>
    <p:extLst>
      <p:ext uri="{BB962C8B-B14F-4D97-AF65-F5344CB8AC3E}">
        <p14:creationId xmlns:p14="http://schemas.microsoft.com/office/powerpoint/2010/main" val="213141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2AD2-4470-E3A7-6098-7F8431AE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finding with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5289-F96A-3ABB-8FA2-895A3D3D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78431"/>
          </a:xfrm>
        </p:spPr>
        <p:txBody>
          <a:bodyPr/>
          <a:lstStyle/>
          <a:p>
            <a:r>
              <a:rPr lang="en-US" dirty="0"/>
              <a:t>We know the sequence of a genome, how can we find where the coding sequences are?</a:t>
            </a:r>
            <a:br>
              <a:rPr lang="en-US" dirty="0"/>
            </a:br>
            <a:r>
              <a:rPr lang="en-US" dirty="0"/>
              <a:t>AGA</a:t>
            </a:r>
            <a:r>
              <a:rPr lang="en-US" dirty="0">
                <a:solidFill>
                  <a:srgbClr val="FF0000"/>
                </a:solidFill>
              </a:rPr>
              <a:t>ATGGATAGATAG</a:t>
            </a:r>
            <a:r>
              <a:rPr lang="en-US" dirty="0"/>
              <a:t>GATAATA</a:t>
            </a:r>
            <a:r>
              <a:rPr lang="en-US" dirty="0">
                <a:solidFill>
                  <a:srgbClr val="FF0000"/>
                </a:solidFill>
              </a:rPr>
              <a:t>ATGGGAAATTGA</a:t>
            </a:r>
            <a:r>
              <a:rPr lang="en-US" dirty="0"/>
              <a:t>TTTAAATTTA  --?</a:t>
            </a:r>
          </a:p>
          <a:p>
            <a:endParaRPr lang="en-US" dirty="0"/>
          </a:p>
          <a:p>
            <a:r>
              <a:rPr lang="en-US" dirty="0"/>
              <a:t>The coding/noncoding regions are </a:t>
            </a:r>
            <a:r>
              <a:rPr lang="en-US" i="1" dirty="0"/>
              <a:t>hidden states </a:t>
            </a:r>
            <a:r>
              <a:rPr lang="en-US" dirty="0"/>
              <a:t>(like the coins)</a:t>
            </a:r>
          </a:p>
          <a:p>
            <a:r>
              <a:rPr lang="en-US" dirty="0"/>
              <a:t>Patterns of letters within coding and noncoding sequences </a:t>
            </a:r>
            <a:r>
              <a:rPr lang="en-US" i="1" dirty="0"/>
              <a:t>differ</a:t>
            </a:r>
            <a:endParaRPr lang="en-US" dirty="0"/>
          </a:p>
          <a:p>
            <a:r>
              <a:rPr lang="en-US" dirty="0"/>
              <a:t>We can use the RNA-seq data or a closely related genome to:</a:t>
            </a:r>
          </a:p>
          <a:p>
            <a:pPr lvl="1"/>
            <a:r>
              <a:rPr lang="en-US" dirty="0"/>
              <a:t>compute patterns for coding/noncoding sequence -- these are our </a:t>
            </a:r>
            <a:r>
              <a:rPr lang="en-US" i="1" dirty="0"/>
              <a:t>emission probabilities</a:t>
            </a:r>
          </a:p>
          <a:p>
            <a:pPr lvl="1"/>
            <a:r>
              <a:rPr lang="en-US" dirty="0"/>
              <a:t>compute transition probabilities between coding/noncoding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7FC57-277B-DD7F-3E83-B27DB898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AC69-F640-3672-34EE-74554EC7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0898-19B7-76FE-4AFE-5E152604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finding with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03A78-2368-9F29-197B-E45A2D94E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2614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Closely related annotated genome:</a:t>
            </a:r>
            <a:br>
              <a:rPr lang="en-US" dirty="0"/>
            </a:br>
            <a:r>
              <a:rPr lang="en-US" dirty="0"/>
              <a:t>AGA</a:t>
            </a:r>
            <a:r>
              <a:rPr lang="en-US" dirty="0">
                <a:solidFill>
                  <a:srgbClr val="FF0000"/>
                </a:solidFill>
              </a:rPr>
              <a:t>ATGGGTAGATAG</a:t>
            </a:r>
            <a:r>
              <a:rPr lang="en-US" dirty="0"/>
              <a:t>GATCATA</a:t>
            </a:r>
            <a:r>
              <a:rPr lang="en-US" dirty="0">
                <a:solidFill>
                  <a:srgbClr val="FF0000"/>
                </a:solidFill>
              </a:rPr>
              <a:t>ATGGCAAATTGA</a:t>
            </a:r>
            <a:r>
              <a:rPr lang="en-US" dirty="0"/>
              <a:t>TTTATATTTA </a:t>
            </a:r>
          </a:p>
          <a:p>
            <a:r>
              <a:rPr lang="en-US" dirty="0"/>
              <a:t>Assume a model: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44 letters, 2 coding-&gt;non-coding and 2 non-coding-&gt; coding transitions</a:t>
            </a:r>
          </a:p>
          <a:p>
            <a:r>
              <a:rPr lang="en-US" i="1" dirty="0"/>
              <a:t>Train</a:t>
            </a:r>
            <a:r>
              <a:rPr lang="en-US" dirty="0"/>
              <a:t> the model by computing emission probabilities:</a:t>
            </a:r>
          </a:p>
          <a:p>
            <a:pPr lvl="1"/>
            <a:r>
              <a:rPr lang="en-US" dirty="0"/>
              <a:t>Coding: A:9/24, C:1/24, G:8/24, T:6/24</a:t>
            </a:r>
          </a:p>
          <a:p>
            <a:pPr lvl="1"/>
            <a:r>
              <a:rPr lang="en-US" dirty="0"/>
              <a:t>Noncoding: A:8/20, C:1/20, G:2/20, T:9/20</a:t>
            </a:r>
          </a:p>
          <a:p>
            <a:r>
              <a:rPr lang="en-US" dirty="0"/>
              <a:t>Use Viterbi algorithm to figure out most likely sequence of states (N or C) given the model and emission probabilities; label the letters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829D-62A4-4F36-C414-30BCB30B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B9D89AB-EA6A-1F39-E4D1-D4C51956D421}"/>
              </a:ext>
            </a:extLst>
          </p:cNvPr>
          <p:cNvSpPr/>
          <p:nvPr/>
        </p:nvSpPr>
        <p:spPr>
          <a:xfrm>
            <a:off x="6770753" y="2754818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7AF0C9-E395-9EC2-D538-788120EB9A03}"/>
              </a:ext>
            </a:extLst>
          </p:cNvPr>
          <p:cNvSpPr/>
          <p:nvPr/>
        </p:nvSpPr>
        <p:spPr>
          <a:xfrm>
            <a:off x="9731668" y="2754818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FF7EFF-ABAF-19F4-3A77-BC3AD834F069}"/>
                  </a:ext>
                </a:extLst>
              </p14:cNvPr>
              <p14:cNvContentPartPr/>
              <p14:nvPr/>
            </p14:nvContentPartPr>
            <p14:xfrm>
              <a:off x="7467331" y="2477858"/>
              <a:ext cx="2343600" cy="472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FF7EFF-ABAF-19F4-3A77-BC3AD834F0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1210" y="2471738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479AC8-80E6-FC31-7D49-3AE0F71873D8}"/>
                  </a:ext>
                </a:extLst>
              </p14:cNvPr>
              <p14:cNvContentPartPr/>
              <p14:nvPr/>
            </p14:nvContentPartPr>
            <p14:xfrm>
              <a:off x="7468771" y="3596378"/>
              <a:ext cx="2502720" cy="400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479AC8-80E6-FC31-7D49-3AE0F71873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2651" y="3590258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13E774-4061-239B-26B6-96B72909AF0D}"/>
                  </a:ext>
                </a:extLst>
              </p14:cNvPr>
              <p14:cNvContentPartPr/>
              <p14:nvPr/>
            </p14:nvContentPartPr>
            <p14:xfrm>
              <a:off x="10529491" y="2624018"/>
              <a:ext cx="1329840" cy="137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13E774-4061-239B-26B6-96B72909AF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3371" y="2617898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EFFE29-C076-070C-461D-52BA77EB6362}"/>
                  </a:ext>
                </a:extLst>
              </p14:cNvPr>
              <p14:cNvContentPartPr/>
              <p14:nvPr/>
            </p14:nvContentPartPr>
            <p14:xfrm>
              <a:off x="5537011" y="2435378"/>
              <a:ext cx="1371600" cy="134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EFFE29-C076-070C-461D-52BA77EB63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30891" y="2429258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F423B44-7238-F22F-F7D1-13914ACE33F9}"/>
              </a:ext>
            </a:extLst>
          </p:cNvPr>
          <p:cNvSpPr txBox="1"/>
          <p:nvPr/>
        </p:nvSpPr>
        <p:spPr>
          <a:xfrm>
            <a:off x="8243719" y="209490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1/22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FE142-0C7E-E30F-BC28-91029A1E4C39}"/>
              </a:ext>
            </a:extLst>
          </p:cNvPr>
          <p:cNvSpPr txBox="1"/>
          <p:nvPr/>
        </p:nvSpPr>
        <p:spPr>
          <a:xfrm>
            <a:off x="8243719" y="415334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245E6-446F-D6DD-D873-912928473E08}"/>
              </a:ext>
            </a:extLst>
          </p:cNvPr>
          <p:cNvSpPr txBox="1"/>
          <p:nvPr/>
        </p:nvSpPr>
        <p:spPr>
          <a:xfrm>
            <a:off x="10823155" y="2250712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21/22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17330-0991-BB74-4E7D-D1CDA5DDEEC4}"/>
              </a:ext>
            </a:extLst>
          </p:cNvPr>
          <p:cNvSpPr txBox="1"/>
          <p:nvPr/>
        </p:nvSpPr>
        <p:spPr>
          <a:xfrm>
            <a:off x="5800335" y="210852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21/22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316D95-D1D9-C44D-88FA-F6DF5E9246E2}"/>
              </a:ext>
            </a:extLst>
          </p:cNvPr>
          <p:cNvSpPr txBox="1"/>
          <p:nvPr/>
        </p:nvSpPr>
        <p:spPr>
          <a:xfrm>
            <a:off x="6835154" y="2877737"/>
            <a:ext cx="835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Coding</a:t>
            </a:r>
            <a:br>
              <a:rPr lang="en-US" dirty="0"/>
            </a:br>
            <a:r>
              <a:rPr lang="en-US" dirty="0"/>
              <a:t>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51EE45-B1D7-2130-A400-516514C91402}"/>
              </a:ext>
            </a:extLst>
          </p:cNvPr>
          <p:cNvSpPr txBox="1"/>
          <p:nvPr/>
        </p:nvSpPr>
        <p:spPr>
          <a:xfrm>
            <a:off x="9860544" y="2731374"/>
            <a:ext cx="8079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</a:t>
            </a:r>
            <a:br>
              <a:rPr lang="en-US" dirty="0"/>
            </a:br>
            <a:r>
              <a:rPr lang="en-US" dirty="0"/>
              <a:t>coding</a:t>
            </a:r>
            <a:br>
              <a:rPr lang="en-US" dirty="0"/>
            </a:br>
            <a:r>
              <a:rPr lang="en-US" dirty="0"/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169709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383B-57E8-8426-E9B2-F8B08888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4E40-D459-3413-C789-D3A6249A7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232033"/>
          </a:xfrm>
        </p:spPr>
        <p:txBody>
          <a:bodyPr>
            <a:normAutofit fontScale="92500"/>
          </a:bodyPr>
          <a:lstStyle/>
          <a:p>
            <a:r>
              <a:rPr lang="en-US" dirty="0"/>
              <a:t>Let's consider the following simple HMM for coding/non-coding regions of DNA. This model is composed of 2 states, C (coding) and N (non-coding).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AC70A-40B1-7BE0-0F13-CC7563B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00B5C-8833-0573-6433-CDF16FFC3174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837D1E-C824-4D38-3E44-175345078A28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98F8D4-32E2-D22F-CDAB-D4B025E2D5D2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275128-51D8-4160-7033-96D9AEF08A83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881E24-0825-D9BE-3589-7B7020E83921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1E9DE-2BE4-3551-D4F8-5D6090DD44B5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2400C1-5A91-B00F-70E1-31311B6AE0D5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786695-1B52-A7A6-6691-CF75F66DA301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0EEE9E-980C-529C-7B73-FFE2D84E5420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8063C21-A161-3C73-63C1-1151A03E276F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E84933-3B96-B7B4-31B8-874CE728A0D4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4198DD9-E962-1FF0-F53E-0E125156FE8E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4198DD9-E962-1FF0-F53E-0E125156FE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4FA7466-D832-6FE4-6427-054900F9CB3D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4FA7466-D832-6FE4-6427-054900F9CB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233339F-F742-0CAF-3AAA-F7CFF71F34DA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AA1FD-571E-DA41-2ED3-8CAC942F260D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70218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E885-5B7D-EBFD-B63D-C48C87FF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36A0-2AF5-CC22-A801-101F9251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08DC-02E3-40FF-DD97-23370E304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5696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There are several paths through hidden states (C and N) that lead to this sequence, e.g. NNCCCCNNN</a:t>
            </a:r>
          </a:p>
          <a:p>
            <a:r>
              <a:rPr lang="en-US" dirty="0"/>
              <a:t>Prob(S) through this path is 0.5*0.2*0.6*0.2*0.4*0.3*...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4668E-8F8D-4864-CF40-178AA1C8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A5AD5-1C70-75F5-CD55-0E615525E654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DB8BD0-3C2B-7318-5E5A-108B163A329A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C31601-05E6-FB18-C3D9-D4BE2E314B35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A0F4F18-07F0-CC7A-F542-F9F6F3CEF0D1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D4C40-8A7C-873B-D500-CFA1DD00F7A2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EC965-B672-2760-4B9C-19FE288D2FFB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C7DA6-7FB4-9D00-EE84-79E38DCEDB84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53836A-20D7-0C0B-00D2-5189014D038D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11056B-78D3-5B4F-73BE-0CDA64BA9C00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0CF8B3D-60F9-A3F3-903D-A4987CD080C1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2BDD48-899E-48CD-C89A-C7E741E79F14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339CE19-8BFF-BCBE-3B49-853277366905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339CE19-8BFF-BCBE-3B49-8532773669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A3A51AD-2F7D-3A31-E52E-877075D65435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A3A51AD-2F7D-3A31-E52E-877075D654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8C73F6E-54D5-45BD-0317-CADFE5EF115B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144901-6FAD-6A63-B0D1-1A35879DC63F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1452179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D082-5C55-91A8-2DD1-B537010F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1A75-8B5B-119B-131F-1CB7FAEB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E8D11-182B-65B5-2D67-E39B819B0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3" y="5040427"/>
            <a:ext cx="11109407" cy="15696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There are several paths through hidden states (C and N) that lead to this sequence, but they do not have the same </a:t>
            </a:r>
            <a:r>
              <a:rPr lang="en-US" b="1" dirty="0"/>
              <a:t>probability</a:t>
            </a:r>
          </a:p>
          <a:p>
            <a:r>
              <a:rPr lang="en-US" dirty="0"/>
              <a:t>The </a:t>
            </a:r>
            <a:r>
              <a:rPr lang="en-US" b="1" dirty="0"/>
              <a:t>Viterbi algorithm </a:t>
            </a:r>
            <a:r>
              <a:rPr lang="en-US" dirty="0"/>
              <a:t>allows us to compute the most probable (best)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E68D9-D3B9-51CE-7241-35739725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D2E36-8E38-DCEA-6168-39EB78FC9426}"/>
              </a:ext>
            </a:extLst>
          </p:cNvPr>
          <p:cNvSpPr txBox="1"/>
          <p:nvPr/>
        </p:nvSpPr>
        <p:spPr>
          <a:xfrm>
            <a:off x="5909911" y="1514877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5C7B58-2C9D-24AD-7336-05BFF06A5BEF}"/>
              </a:ext>
            </a:extLst>
          </p:cNvPr>
          <p:cNvCxnSpPr>
            <a:cxnSpLocks/>
          </p:cNvCxnSpPr>
          <p:nvPr/>
        </p:nvCxnSpPr>
        <p:spPr>
          <a:xfrm flipH="1">
            <a:off x="5303520" y="2082767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C9963E-310B-3C2D-F2CC-D2625714C7BD}"/>
              </a:ext>
            </a:extLst>
          </p:cNvPr>
          <p:cNvCxnSpPr>
            <a:cxnSpLocks/>
          </p:cNvCxnSpPr>
          <p:nvPr/>
        </p:nvCxnSpPr>
        <p:spPr>
          <a:xfrm>
            <a:off x="6420050" y="2082767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FE7B12-B90C-F781-B178-878211277959}"/>
              </a:ext>
            </a:extLst>
          </p:cNvPr>
          <p:cNvSpPr txBox="1"/>
          <p:nvPr/>
        </p:nvSpPr>
        <p:spPr>
          <a:xfrm>
            <a:off x="527468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62B0A-345E-390C-230B-D14C8823FA56}"/>
              </a:ext>
            </a:extLst>
          </p:cNvPr>
          <p:cNvSpPr txBox="1"/>
          <p:nvPr/>
        </p:nvSpPr>
        <p:spPr>
          <a:xfrm>
            <a:off x="6729663" y="189810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8CC1B7-E00B-29C7-7426-7184E2C0FB6F}"/>
              </a:ext>
            </a:extLst>
          </p:cNvPr>
          <p:cNvSpPr txBox="1"/>
          <p:nvPr/>
        </p:nvSpPr>
        <p:spPr>
          <a:xfrm>
            <a:off x="4803518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AECA3-9CDF-21BB-2BCF-EF5DBC86D1C6}"/>
              </a:ext>
            </a:extLst>
          </p:cNvPr>
          <p:cNvSpPr txBox="1"/>
          <p:nvPr/>
        </p:nvSpPr>
        <p:spPr>
          <a:xfrm>
            <a:off x="6698084" y="2459504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E80D44-E5D9-1FDB-66DF-B4F3FE62A62A}"/>
              </a:ext>
            </a:extLst>
          </p:cNvPr>
          <p:cNvCxnSpPr>
            <a:cxnSpLocks/>
          </p:cNvCxnSpPr>
          <p:nvPr/>
        </p:nvCxnSpPr>
        <p:spPr>
          <a:xfrm>
            <a:off x="5919961" y="3095530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84BDDE-1FC4-0472-F878-77337369E192}"/>
              </a:ext>
            </a:extLst>
          </p:cNvPr>
          <p:cNvCxnSpPr>
            <a:cxnSpLocks/>
          </p:cNvCxnSpPr>
          <p:nvPr/>
        </p:nvCxnSpPr>
        <p:spPr>
          <a:xfrm flipH="1">
            <a:off x="5919961" y="347226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CB1928-36C4-766A-C76E-E2227B19D406}"/>
              </a:ext>
            </a:extLst>
          </p:cNvPr>
          <p:cNvSpPr txBox="1"/>
          <p:nvPr/>
        </p:nvSpPr>
        <p:spPr>
          <a:xfrm>
            <a:off x="5951515" y="27564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9E99DB-20A5-5D4D-EBA0-F50AB1315FAC}"/>
              </a:ext>
            </a:extLst>
          </p:cNvPr>
          <p:cNvSpPr txBox="1"/>
          <p:nvPr/>
        </p:nvSpPr>
        <p:spPr>
          <a:xfrm>
            <a:off x="5957893" y="349784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8A8C1BA-B8F4-67C8-6C0C-1788529C0F4B}"/>
                  </a:ext>
                </a:extLst>
              </p14:cNvPr>
              <p14:cNvContentPartPr/>
              <p14:nvPr/>
            </p14:nvContentPartPr>
            <p14:xfrm>
              <a:off x="7819170" y="2627049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8A8C1BA-B8F4-67C8-6C0C-1788529C0F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3050" y="2620929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D6A4E78-26AC-134B-D5D9-7AB5835D6DB9}"/>
                  </a:ext>
                </a:extLst>
              </p14:cNvPr>
              <p14:cNvContentPartPr/>
              <p14:nvPr/>
            </p14:nvContentPartPr>
            <p14:xfrm rot="10800000">
              <a:off x="3297754" y="2494139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D6A4E78-26AC-134B-D5D9-7AB5835D6D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291634" y="2488019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0E6B3BD-0D75-E8F5-41C5-FDA5616DC628}"/>
              </a:ext>
            </a:extLst>
          </p:cNvPr>
          <p:cNvSpPr txBox="1"/>
          <p:nvPr/>
        </p:nvSpPr>
        <p:spPr>
          <a:xfrm>
            <a:off x="2798313" y="29959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10C1D9-FC1E-1B1C-0493-3C6B1D0D1D03}"/>
              </a:ext>
            </a:extLst>
          </p:cNvPr>
          <p:cNvSpPr txBox="1"/>
          <p:nvPr/>
        </p:nvSpPr>
        <p:spPr>
          <a:xfrm>
            <a:off x="9193778" y="305912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4ABB4-3AB9-DDB5-60B9-79A733FB0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262" y="1290780"/>
            <a:ext cx="2257740" cy="3410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053595-BADF-4C23-EF16-2321CE20CD0A}"/>
              </a:ext>
            </a:extLst>
          </p:cNvPr>
          <p:cNvSpPr txBox="1"/>
          <p:nvPr/>
        </p:nvSpPr>
        <p:spPr>
          <a:xfrm>
            <a:off x="9663347" y="4673451"/>
            <a:ext cx="2407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Andrew James Viterbi</a:t>
            </a:r>
          </a:p>
          <a:p>
            <a:r>
              <a:rPr lang="en-US" dirty="0"/>
              <a:t>Image credit: Wikipedia</a:t>
            </a:r>
          </a:p>
        </p:txBody>
      </p:sp>
    </p:spTree>
    <p:extLst>
      <p:ext uri="{BB962C8B-B14F-4D97-AF65-F5344CB8AC3E}">
        <p14:creationId xmlns:p14="http://schemas.microsoft.com/office/powerpoint/2010/main" val="354971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79F87-CF8C-7154-EBA1-24BB49DE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AF11-B67B-03F1-BFA8-4D940D2B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5ADF-09CC-14A1-E031-F2DC938B9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1819053"/>
            <a:ext cx="10847671" cy="4822379"/>
          </a:xfrm>
        </p:spPr>
        <p:txBody>
          <a:bodyPr>
            <a:normAutofit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GGCACTGAA</a:t>
            </a:r>
          </a:p>
          <a:p>
            <a:r>
              <a:rPr lang="en-US" dirty="0"/>
              <a:t>The probability of the best </a:t>
            </a:r>
            <a:br>
              <a:rPr lang="en-US" dirty="0"/>
            </a:br>
            <a:r>
              <a:rPr lang="en-US" dirty="0"/>
              <a:t>path ending in state </a:t>
            </a:r>
            <a:r>
              <a:rPr lang="en-US" i="1" dirty="0"/>
              <a:t>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observation </a:t>
            </a:r>
            <a:r>
              <a:rPr lang="en-US" i="1" dirty="0" err="1"/>
              <a:t>i</a:t>
            </a:r>
            <a:r>
              <a:rPr lang="en-US" dirty="0"/>
              <a:t> is: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EB87-43A9-2C77-497C-37E12F70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EA932-9DAB-7801-2761-66315AC986C7}"/>
              </a:ext>
            </a:extLst>
          </p:cNvPr>
          <p:cNvSpPr txBox="1"/>
          <p:nvPr/>
        </p:nvSpPr>
        <p:spPr>
          <a:xfrm>
            <a:off x="8325852" y="1659255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0134AF-7567-8095-EDAD-572184BD70B8}"/>
              </a:ext>
            </a:extLst>
          </p:cNvPr>
          <p:cNvCxnSpPr>
            <a:cxnSpLocks/>
          </p:cNvCxnSpPr>
          <p:nvPr/>
        </p:nvCxnSpPr>
        <p:spPr>
          <a:xfrm flipH="1">
            <a:off x="7719461" y="2227145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2B6A63-EB49-0F73-8F3C-B40D637B43FA}"/>
              </a:ext>
            </a:extLst>
          </p:cNvPr>
          <p:cNvCxnSpPr>
            <a:cxnSpLocks/>
          </p:cNvCxnSpPr>
          <p:nvPr/>
        </p:nvCxnSpPr>
        <p:spPr>
          <a:xfrm>
            <a:off x="8835991" y="2227145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D76057-D642-7806-D58F-1779B42EAC64}"/>
              </a:ext>
            </a:extLst>
          </p:cNvPr>
          <p:cNvSpPr txBox="1"/>
          <p:nvPr/>
        </p:nvSpPr>
        <p:spPr>
          <a:xfrm>
            <a:off x="769062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D1124-EC66-4315-10D0-081B71D07B7F}"/>
              </a:ext>
            </a:extLst>
          </p:cNvPr>
          <p:cNvSpPr txBox="1"/>
          <p:nvPr/>
        </p:nvSpPr>
        <p:spPr>
          <a:xfrm>
            <a:off x="914560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FBE85-4D34-004F-987A-03D1B0304CD9}"/>
              </a:ext>
            </a:extLst>
          </p:cNvPr>
          <p:cNvSpPr txBox="1"/>
          <p:nvPr/>
        </p:nvSpPr>
        <p:spPr>
          <a:xfrm>
            <a:off x="7219459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C7037-E4D7-7BAE-9C8F-AA19AE39ADFD}"/>
              </a:ext>
            </a:extLst>
          </p:cNvPr>
          <p:cNvSpPr txBox="1"/>
          <p:nvPr/>
        </p:nvSpPr>
        <p:spPr>
          <a:xfrm>
            <a:off x="9114025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1EEEA7-CE97-6D1F-12D1-0EE13619D70B}"/>
              </a:ext>
            </a:extLst>
          </p:cNvPr>
          <p:cNvCxnSpPr>
            <a:cxnSpLocks/>
          </p:cNvCxnSpPr>
          <p:nvPr/>
        </p:nvCxnSpPr>
        <p:spPr>
          <a:xfrm>
            <a:off x="8335902" y="3239908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923779-5FFB-EDBC-FD70-681BEBAF7E25}"/>
              </a:ext>
            </a:extLst>
          </p:cNvPr>
          <p:cNvCxnSpPr>
            <a:cxnSpLocks/>
          </p:cNvCxnSpPr>
          <p:nvPr/>
        </p:nvCxnSpPr>
        <p:spPr>
          <a:xfrm flipH="1">
            <a:off x="8335902" y="361664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D9A03D-49CD-EA22-B420-804E7F96B24A}"/>
              </a:ext>
            </a:extLst>
          </p:cNvPr>
          <p:cNvSpPr txBox="1"/>
          <p:nvPr/>
        </p:nvSpPr>
        <p:spPr>
          <a:xfrm>
            <a:off x="8367456" y="29008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F0219-6BB7-4E7C-4AC7-54B2A5BB1E5C}"/>
              </a:ext>
            </a:extLst>
          </p:cNvPr>
          <p:cNvSpPr txBox="1"/>
          <p:nvPr/>
        </p:nvSpPr>
        <p:spPr>
          <a:xfrm>
            <a:off x="8373834" y="36422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6599EEB-12F8-0722-89B5-3BBBA55E9E00}"/>
                  </a:ext>
                </a:extLst>
              </p14:cNvPr>
              <p14:cNvContentPartPr/>
              <p14:nvPr/>
            </p14:nvContentPartPr>
            <p14:xfrm>
              <a:off x="10235111" y="277142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6599EEB-12F8-0722-89B5-3BBBA55E9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8991" y="276530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4C6E1D-FCF8-A7BC-5B96-8906A40803EC}"/>
                  </a:ext>
                </a:extLst>
              </p14:cNvPr>
              <p14:cNvContentPartPr/>
              <p14:nvPr/>
            </p14:nvContentPartPr>
            <p14:xfrm rot="10800000">
              <a:off x="5713695" y="2638517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4C6E1D-FCF8-A7BC-5B96-8906A4080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707575" y="2632397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30F779E-563F-19DD-605A-20EDC1AC5F57}"/>
              </a:ext>
            </a:extLst>
          </p:cNvPr>
          <p:cNvSpPr txBox="1"/>
          <p:nvPr/>
        </p:nvSpPr>
        <p:spPr>
          <a:xfrm>
            <a:off x="5214254" y="3140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ABD210-2224-FC93-F1D8-C2235AC73F53}"/>
              </a:ext>
            </a:extLst>
          </p:cNvPr>
          <p:cNvSpPr txBox="1"/>
          <p:nvPr/>
        </p:nvSpPr>
        <p:spPr>
          <a:xfrm>
            <a:off x="11609719" y="32035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7D650-3E93-BC0D-4C08-09A227AD354A}"/>
                  </a:ext>
                </a:extLst>
              </p:cNvPr>
              <p:cNvSpPr txBox="1"/>
              <p:nvPr/>
            </p:nvSpPr>
            <p:spPr>
              <a:xfrm>
                <a:off x="598620" y="4574406"/>
                <a:ext cx="6379128" cy="619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07D650-3E93-BC0D-4C08-09A227AD3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20" y="4574406"/>
                <a:ext cx="637912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44FF7F-3A92-FE2D-25CF-60CDC4012A93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530417" y="5121801"/>
            <a:ext cx="749450" cy="319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98A6AA-09A9-E4F1-A9D7-FD298D159A57}"/>
              </a:ext>
            </a:extLst>
          </p:cNvPr>
          <p:cNvSpPr txBox="1"/>
          <p:nvPr/>
        </p:nvSpPr>
        <p:spPr>
          <a:xfrm>
            <a:off x="799557" y="5441103"/>
            <a:ext cx="1461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to observe element </a:t>
            </a:r>
            <a:r>
              <a:rPr lang="en-US" i="1" dirty="0" err="1"/>
              <a:t>i</a:t>
            </a:r>
            <a:r>
              <a:rPr lang="en-US" dirty="0"/>
              <a:t> in state </a:t>
            </a:r>
            <a:r>
              <a:rPr lang="en-US" i="1" dirty="0"/>
              <a:t>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1730B-B539-4973-B04D-C977F07144F6}"/>
              </a:ext>
            </a:extLst>
          </p:cNvPr>
          <p:cNvSpPr txBox="1"/>
          <p:nvPr/>
        </p:nvSpPr>
        <p:spPr>
          <a:xfrm>
            <a:off x="5844189" y="5568142"/>
            <a:ext cx="2105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transition from state </a:t>
            </a:r>
            <a:r>
              <a:rPr lang="en-US" i="1" dirty="0"/>
              <a:t>k</a:t>
            </a:r>
            <a:r>
              <a:rPr lang="en-US" dirty="0"/>
              <a:t> to state </a:t>
            </a:r>
            <a:r>
              <a:rPr lang="en-US" i="1" dirty="0"/>
              <a:t>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0B330A-BD8E-5430-50B8-4A5A35E2ABCB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036881" y="4979960"/>
            <a:ext cx="859938" cy="58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48E0BE-3D82-AF73-B276-DD51CC2D44E6}"/>
              </a:ext>
            </a:extLst>
          </p:cNvPr>
          <p:cNvCxnSpPr>
            <a:cxnSpLocks/>
          </p:cNvCxnSpPr>
          <p:nvPr/>
        </p:nvCxnSpPr>
        <p:spPr>
          <a:xfrm flipV="1">
            <a:off x="1530417" y="5121801"/>
            <a:ext cx="749450" cy="292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C49823B-D7B2-432F-E88E-4A0D04A39672}"/>
              </a:ext>
            </a:extLst>
          </p:cNvPr>
          <p:cNvSpPr txBox="1"/>
          <p:nvPr/>
        </p:nvSpPr>
        <p:spPr>
          <a:xfrm>
            <a:off x="3347200" y="5568142"/>
            <a:ext cx="2105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the best path ending at position </a:t>
            </a:r>
            <a:r>
              <a:rPr lang="en-US" i="1" dirty="0"/>
              <a:t>x-1</a:t>
            </a:r>
            <a:r>
              <a:rPr lang="en-US" dirty="0"/>
              <a:t> in state </a:t>
            </a:r>
            <a:r>
              <a:rPr lang="en-US" i="1" dirty="0"/>
              <a:t>k </a:t>
            </a:r>
            <a:r>
              <a:rPr lang="en-US" dirty="0"/>
              <a:t>with element </a:t>
            </a:r>
            <a:r>
              <a:rPr lang="en-US" i="1" dirty="0"/>
              <a:t>j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CE15B0-47EC-AD2F-5BB2-20E0276C889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399830" y="5118326"/>
            <a:ext cx="143294" cy="449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793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EE50-7F12-051A-5DF8-FDAA47F0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833A-C2AE-0CF3-7399-28B5B8BD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ADDA-A0FC-A89D-6DCD-DF12C3CB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1819053"/>
            <a:ext cx="10847671" cy="4822379"/>
          </a:xfrm>
        </p:spPr>
        <p:txBody>
          <a:bodyPr>
            <a:normAutofit/>
          </a:bodyPr>
          <a:lstStyle/>
          <a:p>
            <a:r>
              <a:rPr lang="en-US" dirty="0"/>
              <a:t>Consider the sequence S = </a:t>
            </a:r>
            <a:r>
              <a:rPr lang="en-US" b="1" dirty="0"/>
              <a:t>GG</a:t>
            </a:r>
            <a:r>
              <a:rPr lang="en-US" b="1" dirty="0">
                <a:solidFill>
                  <a:srgbClr val="018ACF"/>
                </a:solidFill>
              </a:rPr>
              <a:t>C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b="1" dirty="0"/>
              <a:t>CTGAA</a:t>
            </a:r>
          </a:p>
          <a:p>
            <a:r>
              <a:rPr lang="en-US" dirty="0"/>
              <a:t>The probability of the best </a:t>
            </a:r>
            <a:br>
              <a:rPr lang="en-US" dirty="0"/>
            </a:br>
            <a:r>
              <a:rPr lang="en-US" dirty="0"/>
              <a:t>path ending in state </a:t>
            </a:r>
            <a:r>
              <a:rPr lang="en-US" i="1" dirty="0"/>
              <a:t>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with observation </a:t>
            </a:r>
            <a:r>
              <a:rPr lang="en-US" i="1" dirty="0" err="1"/>
              <a:t>i</a:t>
            </a:r>
            <a:r>
              <a:rPr lang="en-US" dirty="0"/>
              <a:t> is: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In our example, the probability of the best path ending in state </a:t>
            </a:r>
            <a:r>
              <a:rPr lang="en-US" i="1" dirty="0"/>
              <a:t>l=</a:t>
            </a:r>
            <a:r>
              <a:rPr lang="en-US" dirty="0"/>
              <a:t>C with “A” at the 4</a:t>
            </a:r>
            <a:r>
              <a:rPr lang="en-US" baseline="30000" dirty="0"/>
              <a:t>th</a:t>
            </a:r>
            <a:r>
              <a:rPr lang="en-US" dirty="0"/>
              <a:t> position 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7C4BE-2845-4B25-7913-9152BB88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98B4D-B013-AB3E-3384-8691EF5821B7}"/>
              </a:ext>
            </a:extLst>
          </p:cNvPr>
          <p:cNvSpPr txBox="1"/>
          <p:nvPr/>
        </p:nvSpPr>
        <p:spPr>
          <a:xfrm>
            <a:off x="8325852" y="1659255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8C976B-2976-6F70-C194-102B2B565E32}"/>
              </a:ext>
            </a:extLst>
          </p:cNvPr>
          <p:cNvCxnSpPr>
            <a:cxnSpLocks/>
          </p:cNvCxnSpPr>
          <p:nvPr/>
        </p:nvCxnSpPr>
        <p:spPr>
          <a:xfrm flipH="1">
            <a:off x="7719461" y="2227145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F830A4-F212-DFCA-77F4-3AA7BF73FD87}"/>
              </a:ext>
            </a:extLst>
          </p:cNvPr>
          <p:cNvCxnSpPr>
            <a:cxnSpLocks/>
          </p:cNvCxnSpPr>
          <p:nvPr/>
        </p:nvCxnSpPr>
        <p:spPr>
          <a:xfrm>
            <a:off x="8835991" y="2227145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C928DF-2FB4-5FE7-BC93-870CB938D21B}"/>
              </a:ext>
            </a:extLst>
          </p:cNvPr>
          <p:cNvSpPr txBox="1"/>
          <p:nvPr/>
        </p:nvSpPr>
        <p:spPr>
          <a:xfrm>
            <a:off x="769062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E66B2-FBDC-B875-1D36-D88C4F2CB12B}"/>
              </a:ext>
            </a:extLst>
          </p:cNvPr>
          <p:cNvSpPr txBox="1"/>
          <p:nvPr/>
        </p:nvSpPr>
        <p:spPr>
          <a:xfrm>
            <a:off x="9145604" y="204247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F9BCC-AE7F-D0C8-DC14-3ECB78E14455}"/>
              </a:ext>
            </a:extLst>
          </p:cNvPr>
          <p:cNvSpPr txBox="1"/>
          <p:nvPr/>
        </p:nvSpPr>
        <p:spPr>
          <a:xfrm>
            <a:off x="7219459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89828-0853-1236-9EC2-6FEC9F8AC4D7}"/>
              </a:ext>
            </a:extLst>
          </p:cNvPr>
          <p:cNvSpPr txBox="1"/>
          <p:nvPr/>
        </p:nvSpPr>
        <p:spPr>
          <a:xfrm>
            <a:off x="9114025" y="2603882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D761C4-C1CB-65FC-0E84-BA63FE7E6ECA}"/>
              </a:ext>
            </a:extLst>
          </p:cNvPr>
          <p:cNvCxnSpPr>
            <a:cxnSpLocks/>
          </p:cNvCxnSpPr>
          <p:nvPr/>
        </p:nvCxnSpPr>
        <p:spPr>
          <a:xfrm>
            <a:off x="8335902" y="3239908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ECC020-E28D-66B8-C85D-48AE928C857B}"/>
              </a:ext>
            </a:extLst>
          </p:cNvPr>
          <p:cNvCxnSpPr>
            <a:cxnSpLocks/>
          </p:cNvCxnSpPr>
          <p:nvPr/>
        </p:nvCxnSpPr>
        <p:spPr>
          <a:xfrm flipH="1">
            <a:off x="8335902" y="361664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31C4918-0036-6716-488C-748E653A1175}"/>
              </a:ext>
            </a:extLst>
          </p:cNvPr>
          <p:cNvSpPr txBox="1"/>
          <p:nvPr/>
        </p:nvSpPr>
        <p:spPr>
          <a:xfrm>
            <a:off x="8367456" y="29008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D219-4765-79D9-A0CA-8F5EF857D865}"/>
              </a:ext>
            </a:extLst>
          </p:cNvPr>
          <p:cNvSpPr txBox="1"/>
          <p:nvPr/>
        </p:nvSpPr>
        <p:spPr>
          <a:xfrm>
            <a:off x="8373834" y="36422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5F49128-EA5C-C56C-978A-F0E5E6023245}"/>
                  </a:ext>
                </a:extLst>
              </p14:cNvPr>
              <p14:cNvContentPartPr/>
              <p14:nvPr/>
            </p14:nvContentPartPr>
            <p14:xfrm>
              <a:off x="10235111" y="277142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5F49128-EA5C-C56C-978A-F0E5E60232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8991" y="276530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320151B-7E63-A31B-F602-1D3A4EB30FC2}"/>
                  </a:ext>
                </a:extLst>
              </p14:cNvPr>
              <p14:cNvContentPartPr/>
              <p14:nvPr/>
            </p14:nvContentPartPr>
            <p14:xfrm rot="10800000">
              <a:off x="5713695" y="2638517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320151B-7E63-A31B-F602-1D3A4EB30F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707575" y="2632397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3921464-E8AF-2738-9C3B-DEB070FA88D5}"/>
              </a:ext>
            </a:extLst>
          </p:cNvPr>
          <p:cNvSpPr txBox="1"/>
          <p:nvPr/>
        </p:nvSpPr>
        <p:spPr>
          <a:xfrm>
            <a:off x="5214254" y="31403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AAB16-CF45-9B5A-4D0F-D9D9332BA76B}"/>
              </a:ext>
            </a:extLst>
          </p:cNvPr>
          <p:cNvSpPr txBox="1"/>
          <p:nvPr/>
        </p:nvSpPr>
        <p:spPr>
          <a:xfrm>
            <a:off x="11609719" y="32035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7A5F7B-8CEF-5D1E-C6C0-5703C9D4D65F}"/>
                  </a:ext>
                </a:extLst>
              </p:cNvPr>
              <p:cNvSpPr txBox="1"/>
              <p:nvPr/>
            </p:nvSpPr>
            <p:spPr>
              <a:xfrm>
                <a:off x="541142" y="4125373"/>
                <a:ext cx="6379128" cy="6192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7A5F7B-8CEF-5D1E-C6C0-5703C9D4D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2" y="4125373"/>
                <a:ext cx="637912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BC214B-5B3C-57E5-6757-EAEC9FF0575B}"/>
                  </a:ext>
                </a:extLst>
              </p:cNvPr>
              <p:cNvSpPr txBox="1"/>
              <p:nvPr/>
            </p:nvSpPr>
            <p:spPr>
              <a:xfrm>
                <a:off x="541141" y="5746803"/>
                <a:ext cx="8121595" cy="563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,4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18AC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𝑁𝐶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rgbClr val="018AC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,3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BC214B-5B3C-57E5-6757-EAEC9FF05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1" y="5746803"/>
                <a:ext cx="8121595" cy="563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34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944D-9524-E455-1A40-0F20734D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C750-9DB6-EB1A-24CD-74966419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1C6BE-2041-35F3-3B28-0A3B3F90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For simplicity, let’s convert </a:t>
            </a:r>
            <a:br>
              <a:rPr lang="en-US" dirty="0"/>
            </a:br>
            <a:r>
              <a:rPr lang="en-US" dirty="0"/>
              <a:t>everything to log</a:t>
            </a:r>
            <a:r>
              <a:rPr lang="en-US" baseline="-25000" dirty="0"/>
              <a:t>2</a:t>
            </a:r>
            <a:r>
              <a:rPr lang="en-US" dirty="0"/>
              <a:t>(p):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17DEB-E4EC-E871-B749-95D9250F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7C657-FEBD-6103-9932-95AF30413860}"/>
              </a:ext>
            </a:extLst>
          </p:cNvPr>
          <p:cNvSpPr txBox="1"/>
          <p:nvPr/>
        </p:nvSpPr>
        <p:spPr>
          <a:xfrm>
            <a:off x="7366526" y="1947884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B82A3E-0485-1797-48E6-7BCEA460F3B5}"/>
              </a:ext>
            </a:extLst>
          </p:cNvPr>
          <p:cNvCxnSpPr>
            <a:cxnSpLocks/>
          </p:cNvCxnSpPr>
          <p:nvPr/>
        </p:nvCxnSpPr>
        <p:spPr>
          <a:xfrm flipH="1">
            <a:off x="6760135" y="2515774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28BB0B-3FDF-5D1C-799D-9F0DED6BDD39}"/>
              </a:ext>
            </a:extLst>
          </p:cNvPr>
          <p:cNvCxnSpPr>
            <a:cxnSpLocks/>
          </p:cNvCxnSpPr>
          <p:nvPr/>
        </p:nvCxnSpPr>
        <p:spPr>
          <a:xfrm>
            <a:off x="7876665" y="2515774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FF821A0-B59A-A203-11DC-6273E1C8D880}"/>
              </a:ext>
            </a:extLst>
          </p:cNvPr>
          <p:cNvSpPr txBox="1"/>
          <p:nvPr/>
        </p:nvSpPr>
        <p:spPr>
          <a:xfrm>
            <a:off x="6731298" y="233110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FD3A1-AA3D-D987-8417-5E4CF4A784B2}"/>
              </a:ext>
            </a:extLst>
          </p:cNvPr>
          <p:cNvSpPr txBox="1"/>
          <p:nvPr/>
        </p:nvSpPr>
        <p:spPr>
          <a:xfrm>
            <a:off x="8186278" y="233110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291CE-F004-E685-F4FF-D5D4207D864D}"/>
              </a:ext>
            </a:extLst>
          </p:cNvPr>
          <p:cNvSpPr txBox="1"/>
          <p:nvPr/>
        </p:nvSpPr>
        <p:spPr>
          <a:xfrm>
            <a:off x="6260133" y="2892511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7B471-A4E8-D3F5-7A09-997EDE56D8BF}"/>
              </a:ext>
            </a:extLst>
          </p:cNvPr>
          <p:cNvSpPr txBox="1"/>
          <p:nvPr/>
        </p:nvSpPr>
        <p:spPr>
          <a:xfrm>
            <a:off x="8154699" y="2892511"/>
            <a:ext cx="873957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0.3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0.2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0.3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AD3631-8975-424F-BE34-92C20566789D}"/>
              </a:ext>
            </a:extLst>
          </p:cNvPr>
          <p:cNvCxnSpPr>
            <a:cxnSpLocks/>
          </p:cNvCxnSpPr>
          <p:nvPr/>
        </p:nvCxnSpPr>
        <p:spPr>
          <a:xfrm>
            <a:off x="7376576" y="3528537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44C5F2-4673-D30F-1B53-C88530371C40}"/>
              </a:ext>
            </a:extLst>
          </p:cNvPr>
          <p:cNvCxnSpPr>
            <a:cxnSpLocks/>
          </p:cNvCxnSpPr>
          <p:nvPr/>
        </p:nvCxnSpPr>
        <p:spPr>
          <a:xfrm flipH="1">
            <a:off x="7376576" y="390527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A3F4DE-931B-FFB9-E05A-2C5D2AE510CC}"/>
              </a:ext>
            </a:extLst>
          </p:cNvPr>
          <p:cNvSpPr txBox="1"/>
          <p:nvPr/>
        </p:nvSpPr>
        <p:spPr>
          <a:xfrm>
            <a:off x="7408130" y="31894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879C79-0019-BA09-55C4-01EF3FCDD2A9}"/>
              </a:ext>
            </a:extLst>
          </p:cNvPr>
          <p:cNvSpPr txBox="1"/>
          <p:nvPr/>
        </p:nvSpPr>
        <p:spPr>
          <a:xfrm>
            <a:off x="7414508" y="393085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62B38B4-A41A-67EA-8A0A-5878B9F1406C}"/>
                  </a:ext>
                </a:extLst>
              </p14:cNvPr>
              <p14:cNvContentPartPr/>
              <p14:nvPr/>
            </p14:nvContentPartPr>
            <p14:xfrm>
              <a:off x="9275785" y="3060056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62B38B4-A41A-67EA-8A0A-5878B9F140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69665" y="3053936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1E48CD5-8ED7-20F7-39A3-541DE932D956}"/>
                  </a:ext>
                </a:extLst>
              </p14:cNvPr>
              <p14:cNvContentPartPr/>
              <p14:nvPr/>
            </p14:nvContentPartPr>
            <p14:xfrm rot="10800000">
              <a:off x="4754369" y="2927146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1E48CD5-8ED7-20F7-39A3-541DE932D9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4748249" y="2921026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D0A320EC-7F46-0796-DDB9-D13004868453}"/>
              </a:ext>
            </a:extLst>
          </p:cNvPr>
          <p:cNvSpPr txBox="1"/>
          <p:nvPr/>
        </p:nvSpPr>
        <p:spPr>
          <a:xfrm>
            <a:off x="4254928" y="34290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50B36E-962F-5E03-1E90-7396FA491A9F}"/>
              </a:ext>
            </a:extLst>
          </p:cNvPr>
          <p:cNvSpPr txBox="1"/>
          <p:nvPr/>
        </p:nvSpPr>
        <p:spPr>
          <a:xfrm>
            <a:off x="10650393" y="349213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319763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E577-C5ED-CCEB-3703-88F38B90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9E75-3209-CCB0-7188-C2507BD0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527A-14E6-96AD-7488-4AC360433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For simplicity, let’s convert </a:t>
            </a:r>
            <a:br>
              <a:rPr lang="en-US" dirty="0"/>
            </a:br>
            <a:r>
              <a:rPr lang="en-US" dirty="0"/>
              <a:t>everything to log</a:t>
            </a:r>
            <a:r>
              <a:rPr lang="en-US" baseline="-25000" dirty="0"/>
              <a:t>2</a:t>
            </a:r>
            <a:r>
              <a:rPr lang="en-US" dirty="0"/>
              <a:t>(p):</a:t>
            </a:r>
          </a:p>
          <a:p>
            <a:endParaRPr lang="en-US" dirty="0"/>
          </a:p>
          <a:p>
            <a:r>
              <a:rPr lang="en-US" dirty="0"/>
              <a:t>This allows us to add</a:t>
            </a:r>
            <a:br>
              <a:rPr lang="en-US" dirty="0"/>
            </a:br>
            <a:r>
              <a:rPr lang="en-US" dirty="0"/>
              <a:t>probabilities instead of</a:t>
            </a:r>
            <a:br>
              <a:rPr lang="en-US" dirty="0"/>
            </a:br>
            <a:r>
              <a:rPr lang="en-US" dirty="0"/>
              <a:t>multiplying, which is</a:t>
            </a:r>
            <a:br>
              <a:rPr lang="en-US" dirty="0"/>
            </a:br>
            <a:r>
              <a:rPr lang="en-US" dirty="0"/>
              <a:t>more efficient and accurate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1210-5606-4BD3-D789-0683B27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1244F-0D89-6457-BE1E-D53CFA222DE0}"/>
              </a:ext>
            </a:extLst>
          </p:cNvPr>
          <p:cNvSpPr txBox="1"/>
          <p:nvPr/>
        </p:nvSpPr>
        <p:spPr>
          <a:xfrm>
            <a:off x="7366526" y="1947884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09ABE6-53B0-517B-5A65-71627E4731DA}"/>
              </a:ext>
            </a:extLst>
          </p:cNvPr>
          <p:cNvCxnSpPr>
            <a:cxnSpLocks/>
          </p:cNvCxnSpPr>
          <p:nvPr/>
        </p:nvCxnSpPr>
        <p:spPr>
          <a:xfrm flipH="1">
            <a:off x="6760135" y="2515774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132741-4680-E44E-6C2C-BDF23273CFE0}"/>
              </a:ext>
            </a:extLst>
          </p:cNvPr>
          <p:cNvCxnSpPr>
            <a:cxnSpLocks/>
          </p:cNvCxnSpPr>
          <p:nvPr/>
        </p:nvCxnSpPr>
        <p:spPr>
          <a:xfrm>
            <a:off x="7876665" y="2515774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E37393-F444-7840-A7D4-338583C70398}"/>
              </a:ext>
            </a:extLst>
          </p:cNvPr>
          <p:cNvSpPr txBox="1"/>
          <p:nvPr/>
        </p:nvSpPr>
        <p:spPr>
          <a:xfrm>
            <a:off x="6731298" y="23311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C9B785-62F4-D44B-C80C-490A5EB36254}"/>
              </a:ext>
            </a:extLst>
          </p:cNvPr>
          <p:cNvSpPr txBox="1"/>
          <p:nvPr/>
        </p:nvSpPr>
        <p:spPr>
          <a:xfrm>
            <a:off x="8186278" y="233110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59851-821A-8094-AA7B-9DD70073DBCA}"/>
              </a:ext>
            </a:extLst>
          </p:cNvPr>
          <p:cNvSpPr txBox="1"/>
          <p:nvPr/>
        </p:nvSpPr>
        <p:spPr>
          <a:xfrm>
            <a:off x="5961822" y="2892511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F47C8-9CAF-9575-4EE4-F6C3FEECACA8}"/>
              </a:ext>
            </a:extLst>
          </p:cNvPr>
          <p:cNvSpPr txBox="1"/>
          <p:nvPr/>
        </p:nvSpPr>
        <p:spPr>
          <a:xfrm>
            <a:off x="8154699" y="2892511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A3060B-CA71-FA12-D2B1-7A8358B3ED6E}"/>
              </a:ext>
            </a:extLst>
          </p:cNvPr>
          <p:cNvCxnSpPr>
            <a:cxnSpLocks/>
          </p:cNvCxnSpPr>
          <p:nvPr/>
        </p:nvCxnSpPr>
        <p:spPr>
          <a:xfrm>
            <a:off x="7376576" y="3608625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0E1F6-7AF6-86FE-D2EA-4896592671DE}"/>
              </a:ext>
            </a:extLst>
          </p:cNvPr>
          <p:cNvCxnSpPr>
            <a:cxnSpLocks/>
          </p:cNvCxnSpPr>
          <p:nvPr/>
        </p:nvCxnSpPr>
        <p:spPr>
          <a:xfrm flipH="1">
            <a:off x="7376576" y="390527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C32336-7B9B-65EA-E5AA-DBE52D3F82D8}"/>
              </a:ext>
            </a:extLst>
          </p:cNvPr>
          <p:cNvSpPr txBox="1"/>
          <p:nvPr/>
        </p:nvSpPr>
        <p:spPr>
          <a:xfrm>
            <a:off x="7449637" y="3171305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5C1AD-9059-15EF-77E3-A35CB9C3670B}"/>
              </a:ext>
            </a:extLst>
          </p:cNvPr>
          <p:cNvSpPr txBox="1"/>
          <p:nvPr/>
        </p:nvSpPr>
        <p:spPr>
          <a:xfrm>
            <a:off x="7311535" y="393168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A4B3183-0557-32C1-755A-EE89B9ACE3BE}"/>
                  </a:ext>
                </a:extLst>
              </p14:cNvPr>
              <p14:cNvContentPartPr/>
              <p14:nvPr/>
            </p14:nvContentPartPr>
            <p14:xfrm>
              <a:off x="9532722" y="3060868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A4B3183-0557-32C1-755A-EE89B9ACE3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6602" y="3054748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E038DFD-8B9C-7BAD-A21E-4B3CC9494039}"/>
                  </a:ext>
                </a:extLst>
              </p14:cNvPr>
              <p14:cNvContentPartPr/>
              <p14:nvPr/>
            </p14:nvContentPartPr>
            <p14:xfrm rot="10800000">
              <a:off x="4549405" y="2928705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E038DFD-8B9C-7BAD-A21E-4B3CC94940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4543285" y="2922585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D3277C0-11C2-C212-D4F2-0F9A5D7D4F7C}"/>
              </a:ext>
            </a:extLst>
          </p:cNvPr>
          <p:cNvSpPr txBox="1"/>
          <p:nvPr/>
        </p:nvSpPr>
        <p:spPr>
          <a:xfrm>
            <a:off x="5033400" y="34239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646632-9461-9334-6023-8EFD6FE1A7B5}"/>
              </a:ext>
            </a:extLst>
          </p:cNvPr>
          <p:cNvSpPr txBox="1"/>
          <p:nvPr/>
        </p:nvSpPr>
        <p:spPr>
          <a:xfrm>
            <a:off x="9823209" y="350488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</p:spTree>
    <p:extLst>
      <p:ext uri="{BB962C8B-B14F-4D97-AF65-F5344CB8AC3E}">
        <p14:creationId xmlns:p14="http://schemas.microsoft.com/office/powerpoint/2010/main" val="253779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AE38-039B-4447-2245-CF422E70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7082-FFD8-E80B-D0E8-FE1803A7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58E6-2353-4477-3014-F10A2B206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GCACTGAA</a:t>
            </a:r>
            <a:endParaRPr lang="en-US" dirty="0"/>
          </a:p>
          <a:p>
            <a:r>
              <a:rPr lang="en-US" dirty="0"/>
              <a:t>Log probability that the first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first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F6888-5503-D188-CEDA-D9026FD6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5CC4C-6DCD-E279-592D-413B231C9AB1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2F671A-4534-4F1B-19A8-8275662BDDE2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D70554-9BC3-4745-9BE3-7597885C8A8E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5BE31F-5B7B-D8F2-833C-14D2331F80FA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169E1-A8F9-F089-3EB0-5600DDCD00D4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D161F2-10C0-AAD1-82C2-07982963B0C2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F3175-EF6C-AC89-B6B4-BEA534D3BC26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935BEC-E80A-4901-0E69-A806229EE6C5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6D4757-B552-D285-3EEB-71DC3921D923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D77DA30-59BA-D2C0-3FD0-226CA3FEAE4A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434D29-F9DA-8510-9F7F-9F629B373AD6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AF3EBFD-97E7-1DDF-9460-CE45B409A8BB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AF3EBFD-97E7-1DDF-9460-CE45B409A8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719D1FF-015E-2CFD-D7B4-AADB312CAC7D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719D1FF-015E-2CFD-D7B4-AADB312CAC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44C4D70-C0C3-4E13-8150-BC09B025A391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8F922-B83B-1E70-6AD9-D17981785E20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D57122-3615-587B-0E96-78F13F620B8E}"/>
                  </a:ext>
                </a:extLst>
              </p:cNvPr>
              <p:cNvSpPr txBox="1"/>
              <p:nvPr/>
            </p:nvSpPr>
            <p:spPr>
              <a:xfrm>
                <a:off x="76444" y="3429000"/>
                <a:ext cx="52088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−1−1.737=−2.737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D57122-3615-587B-0E96-78F13F620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4" y="3429000"/>
                <a:ext cx="520884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1EF8F-78D7-6810-488E-BDAE9C386E3E}"/>
                  </a:ext>
                </a:extLst>
              </p:cNvPr>
              <p:cNvSpPr txBox="1"/>
              <p:nvPr/>
            </p:nvSpPr>
            <p:spPr>
              <a:xfrm>
                <a:off x="76444" y="5527464"/>
                <a:ext cx="520884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3.322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D1EF8F-78D7-6810-488E-BDAE9C386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4" y="5527464"/>
                <a:ext cx="520884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73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C62D-3DA5-D05D-1AC7-41483E89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9BD5-0AC4-3B0D-4A73-A13D3B77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A435-D433-07A6-8B5E-BCE4BC84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03A0E-2681-075D-844A-70B853F5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599CF-D883-70DB-5541-6ECFA4535EC4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08747C-7137-2AF6-0D8E-179CA5750C95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656253-496D-923C-29FD-CC7A01CB84F0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740AD09-D3EC-DE80-C01A-4F8C0FA36208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4D5AC-4FA2-AD81-96FE-5497875FA6C2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FA975-00D6-1694-134D-60B7508F57C6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C56A9-E1CB-7EA1-4B15-0A4988449ACC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98D920-BF07-330B-CF83-7BE0C216A494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9B9CA2-1F4A-C01A-30CA-AE82555289D9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31A8E76-DE19-BE1E-EFD1-1E4169D7701A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750610-170B-389C-4D8E-AAFE8200A21D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E33069-29D3-8807-E0B8-23D12AA9426E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E33069-29D3-8807-E0B8-23D12AA942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B77136E-ED72-7E25-8A04-B354660B1229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B77136E-ED72-7E25-8A04-B354660B1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5057914-1D20-5CCA-79F4-F0BC16A23466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9CFC80-AB6F-5FC1-B9E8-B02338367128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01EF8-4402-C8E2-9971-B56E100D8CD5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D01EF8-4402-C8E2-9971-B56E100D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48F9EE-B4BC-1B3A-4E63-862CEA5D5FF7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𝐶𝑁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48F9EE-B4BC-1B3A-4E63-862CEA5D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968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88EF-D146-06E0-F841-86B60A46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0023-2A85-7B34-0AC9-AD76C74D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4BBE-5CB5-9A21-94B8-99329501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B8868-33B7-A429-ACCA-5C76B437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7D3883-5E4B-8893-A248-D83D5797DF2E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CE31C-F41C-AD07-2BC1-3ABA9F7034DE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3E8E49-8039-3826-D3C4-B1C2A03B5303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4551B2-5464-652C-6358-F0EABAC07FFD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CB6DD-1A54-1BE0-C652-2468CF9B9B8D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F38AB-524F-D723-DC74-98D4467F6CC7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235F08-914F-9041-022F-075CC67824E4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0E059C-9872-DFD0-F099-6A7C448095D5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E83DF9-CD2F-2B8B-079C-891A3DD17D1C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419E6B-9CBE-329F-803F-D4876AFAF5FB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86DB1-DCE0-1F5C-2752-62DC222B7B7B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EAD7D7D-56CB-1290-2796-7D3AFD60BACE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EAD7D7D-56CB-1290-2796-7D3AFD60BA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C021A9-9344-302C-F924-7611D8C59C4C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C021A9-9344-302C-F924-7611D8C59C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4889560-51D9-9C4F-16C3-7B8F66243073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9D2F9-4DAF-7EB9-9507-6129B6FB920B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70661C-6DE6-E023-6B01-C5617F40FCF0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70661C-6DE6-E023-6B01-C5617F40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928E1-309C-82CC-5433-BF1BA91A35A3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𝐶𝑁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2928E1-309C-82CC-5433-BF1BA91A3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26D895C-F46C-748E-8484-3DABAA5CC9E9}"/>
              </a:ext>
            </a:extLst>
          </p:cNvPr>
          <p:cNvSpPr txBox="1"/>
          <p:nvPr/>
        </p:nvSpPr>
        <p:spPr>
          <a:xfrm>
            <a:off x="5344220" y="457320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5B030-0901-7137-02D1-41294CF03029}"/>
              </a:ext>
            </a:extLst>
          </p:cNvPr>
          <p:cNvSpPr txBox="1"/>
          <p:nvPr/>
        </p:nvSpPr>
        <p:spPr>
          <a:xfrm>
            <a:off x="7496422" y="458265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-3.322-1.322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721369-2FDA-447F-7223-E5700F53F534}"/>
              </a:ext>
            </a:extLst>
          </p:cNvPr>
          <p:cNvSpPr txBox="1"/>
          <p:nvPr/>
        </p:nvSpPr>
        <p:spPr>
          <a:xfrm>
            <a:off x="5194638" y="61924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32D477-882D-BC60-8AB1-4A2A79351211}"/>
              </a:ext>
            </a:extLst>
          </p:cNvPr>
          <p:cNvSpPr txBox="1"/>
          <p:nvPr/>
        </p:nvSpPr>
        <p:spPr>
          <a:xfrm>
            <a:off x="7472071" y="618624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-3.322-0.737</a:t>
            </a:r>
          </a:p>
        </p:txBody>
      </p:sp>
    </p:spTree>
    <p:extLst>
      <p:ext uri="{BB962C8B-B14F-4D97-AF65-F5344CB8AC3E}">
        <p14:creationId xmlns:p14="http://schemas.microsoft.com/office/powerpoint/2010/main" val="2702561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D6D47-634F-495A-ACA9-6DAB8815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5CF8-0F74-D3F9-48FF-DD6E7F5F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Viterbi algorithm for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50C50-0842-F47C-561F-930B2F9E0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7" y="1761423"/>
            <a:ext cx="10895798" cy="4880009"/>
          </a:xfrm>
        </p:spPr>
        <p:txBody>
          <a:bodyPr>
            <a:normAutofit/>
          </a:bodyPr>
          <a:lstStyle/>
          <a:p>
            <a:r>
              <a:rPr lang="en-US" dirty="0"/>
              <a:t>S = </a:t>
            </a:r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b="1" dirty="0"/>
              <a:t>CACTGAA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C: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Log probability that the second </a:t>
            </a:r>
            <a:r>
              <a:rPr lang="en-US" b="1" dirty="0">
                <a:solidFill>
                  <a:srgbClr val="FF0000"/>
                </a:solidFill>
              </a:rPr>
              <a:t>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was emitted by state N: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01CD7-ACC8-D651-D96E-B59D7B5E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70C68-B793-E963-305F-027C30E016E2}"/>
              </a:ext>
            </a:extLst>
          </p:cNvPr>
          <p:cNvSpPr txBox="1"/>
          <p:nvPr/>
        </p:nvSpPr>
        <p:spPr>
          <a:xfrm>
            <a:off x="8464957" y="1509423"/>
            <a:ext cx="7820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462C03-E70F-C153-2996-3FB2ECC316A6}"/>
              </a:ext>
            </a:extLst>
          </p:cNvPr>
          <p:cNvCxnSpPr>
            <a:cxnSpLocks/>
          </p:cNvCxnSpPr>
          <p:nvPr/>
        </p:nvCxnSpPr>
        <p:spPr>
          <a:xfrm flipH="1">
            <a:off x="7858566" y="2077313"/>
            <a:ext cx="798897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DEC7AA-2018-27D8-3663-E974A88F2C60}"/>
              </a:ext>
            </a:extLst>
          </p:cNvPr>
          <p:cNvCxnSpPr>
            <a:cxnSpLocks/>
          </p:cNvCxnSpPr>
          <p:nvPr/>
        </p:nvCxnSpPr>
        <p:spPr>
          <a:xfrm>
            <a:off x="8975096" y="2077313"/>
            <a:ext cx="744354" cy="27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87A251-D48B-D07F-A799-21EF7753BC2D}"/>
              </a:ext>
            </a:extLst>
          </p:cNvPr>
          <p:cNvSpPr txBox="1"/>
          <p:nvPr/>
        </p:nvSpPr>
        <p:spPr>
          <a:xfrm>
            <a:off x="782972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85725-A9E2-76C5-390A-4E7D61F611AA}"/>
              </a:ext>
            </a:extLst>
          </p:cNvPr>
          <p:cNvSpPr txBox="1"/>
          <p:nvPr/>
        </p:nvSpPr>
        <p:spPr>
          <a:xfrm>
            <a:off x="9284709" y="189264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7AD5D-5D29-FC53-B569-5807381282D4}"/>
              </a:ext>
            </a:extLst>
          </p:cNvPr>
          <p:cNvSpPr txBox="1"/>
          <p:nvPr/>
        </p:nvSpPr>
        <p:spPr>
          <a:xfrm>
            <a:off x="7060253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C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-2.322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58C9D-A2B3-2194-9CBE-EC0E4DFE5025}"/>
              </a:ext>
            </a:extLst>
          </p:cNvPr>
          <p:cNvSpPr txBox="1"/>
          <p:nvPr/>
        </p:nvSpPr>
        <p:spPr>
          <a:xfrm>
            <a:off x="9253130" y="2454050"/>
            <a:ext cx="1287532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       N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-1.737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 -2.322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 -1.737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F6BE74-FB6F-9BB1-ACBE-6C1AC237618C}"/>
              </a:ext>
            </a:extLst>
          </p:cNvPr>
          <p:cNvCxnSpPr>
            <a:cxnSpLocks/>
          </p:cNvCxnSpPr>
          <p:nvPr/>
        </p:nvCxnSpPr>
        <p:spPr>
          <a:xfrm>
            <a:off x="8475007" y="3170164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642B51-1C40-C41B-9CEB-CC1ED7968683}"/>
              </a:ext>
            </a:extLst>
          </p:cNvPr>
          <p:cNvCxnSpPr>
            <a:cxnSpLocks/>
          </p:cNvCxnSpPr>
          <p:nvPr/>
        </p:nvCxnSpPr>
        <p:spPr>
          <a:xfrm flipH="1">
            <a:off x="8475007" y="3466813"/>
            <a:ext cx="530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EC2E37-8F78-0566-7C59-F771F111CA15}"/>
              </a:ext>
            </a:extLst>
          </p:cNvPr>
          <p:cNvSpPr txBox="1"/>
          <p:nvPr/>
        </p:nvSpPr>
        <p:spPr>
          <a:xfrm>
            <a:off x="8548068" y="2732844"/>
            <a:ext cx="4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E4FF2-6BDD-366A-B125-A05804E16EC4}"/>
              </a:ext>
            </a:extLst>
          </p:cNvPr>
          <p:cNvSpPr txBox="1"/>
          <p:nvPr/>
        </p:nvSpPr>
        <p:spPr>
          <a:xfrm>
            <a:off x="8409966" y="34932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-1.322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B34C872-C7E9-9C97-073A-0AFE83519DB0}"/>
                  </a:ext>
                </a:extLst>
              </p14:cNvPr>
              <p14:cNvContentPartPr/>
              <p14:nvPr/>
            </p14:nvContentPartPr>
            <p14:xfrm>
              <a:off x="10631153" y="2622407"/>
              <a:ext cx="1329840" cy="1373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B34C872-C7E9-9C97-073A-0AFE83519D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5033" y="2616287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41CBFED-A52E-AF75-1585-8193672F260B}"/>
                  </a:ext>
                </a:extLst>
              </p14:cNvPr>
              <p14:cNvContentPartPr/>
              <p14:nvPr/>
            </p14:nvContentPartPr>
            <p14:xfrm rot="10800000">
              <a:off x="5647836" y="2490244"/>
              <a:ext cx="1329840" cy="137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41CBFED-A52E-AF75-1585-8193672F26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641716" y="2484124"/>
                <a:ext cx="1342080" cy="138528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1EBF042-3A73-39CA-C761-BE776F54381C}"/>
              </a:ext>
            </a:extLst>
          </p:cNvPr>
          <p:cNvSpPr txBox="1"/>
          <p:nvPr/>
        </p:nvSpPr>
        <p:spPr>
          <a:xfrm>
            <a:off x="6131831" y="298549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E80CAA-BA41-8F19-5B65-83C5133432EF}"/>
              </a:ext>
            </a:extLst>
          </p:cNvPr>
          <p:cNvSpPr txBox="1"/>
          <p:nvPr/>
        </p:nvSpPr>
        <p:spPr>
          <a:xfrm>
            <a:off x="10921640" y="306642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-0.737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93069F-CBC2-F7DC-1549-1FEDA6C5C9D0}"/>
                  </a:ext>
                </a:extLst>
              </p:cNvPr>
              <p:cNvSpPr txBox="1"/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−1.737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𝑁𝐶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=−5.474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93069F-CBC2-F7DC-1549-1FEDA6C5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61217"/>
                <a:ext cx="1135781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201C8-F9D7-BB99-0797-D1EC388D1484}"/>
                  </a:ext>
                </a:extLst>
              </p:cNvPr>
              <p:cNvSpPr txBox="1"/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2.322+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</a:rPr>
                                    <m:t>𝑪𝑵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𝑁𝑁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=−6.059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201C8-F9D7-BB99-0797-D1EC388D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7957"/>
                <a:ext cx="1135781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C6074DB-AFD4-F645-03E7-891C764A230F}"/>
              </a:ext>
            </a:extLst>
          </p:cNvPr>
          <p:cNvSpPr txBox="1"/>
          <p:nvPr/>
        </p:nvSpPr>
        <p:spPr>
          <a:xfrm>
            <a:off x="5344220" y="4573208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4DE38-328F-87F6-76B4-989C064CE5B1}"/>
              </a:ext>
            </a:extLst>
          </p:cNvPr>
          <p:cNvSpPr txBox="1"/>
          <p:nvPr/>
        </p:nvSpPr>
        <p:spPr>
          <a:xfrm>
            <a:off x="7496422" y="458265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-3.322-1.322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A705D-C9FB-E1F5-8A5C-CDFC85810C79}"/>
              </a:ext>
            </a:extLst>
          </p:cNvPr>
          <p:cNvSpPr txBox="1"/>
          <p:nvPr/>
        </p:nvSpPr>
        <p:spPr>
          <a:xfrm>
            <a:off x="5194638" y="61924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-2.737-1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2CB2C-5BF9-2717-48FE-2E0717D2B0C9}"/>
              </a:ext>
            </a:extLst>
          </p:cNvPr>
          <p:cNvSpPr txBox="1"/>
          <p:nvPr/>
        </p:nvSpPr>
        <p:spPr>
          <a:xfrm>
            <a:off x="7472071" y="618624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-3.322-0.737</a:t>
            </a:r>
          </a:p>
        </p:txBody>
      </p:sp>
    </p:spTree>
    <p:extLst>
      <p:ext uri="{BB962C8B-B14F-4D97-AF65-F5344CB8AC3E}">
        <p14:creationId xmlns:p14="http://schemas.microsoft.com/office/powerpoint/2010/main" val="152677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15461</TotalTime>
  <Words>1641</Words>
  <Application>Microsoft Office PowerPoint</Application>
  <PresentationFormat>Widescreen</PresentationFormat>
  <Paragraphs>476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Trebuchet MS</vt:lpstr>
      <vt:lpstr>Office Theme</vt:lpstr>
      <vt:lpstr>Hidden Markov Models</vt:lpstr>
      <vt:lpstr>Hidden Markov Models</vt:lpstr>
      <vt:lpstr>The game</vt:lpstr>
      <vt:lpstr>Hidden Markov Models</vt:lpstr>
      <vt:lpstr>Hidden Markov Models</vt:lpstr>
      <vt:lpstr>Hidden Markov Models</vt:lpstr>
      <vt:lpstr>Hidden Markov Models</vt:lpstr>
      <vt:lpstr>Hidden Markov Models</vt:lpstr>
      <vt:lpstr>Gene finding with HMMs</vt:lpstr>
      <vt:lpstr>Gene finding with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  <vt:lpstr>Viterbi algorithm for HMMs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91</cp:revision>
  <dcterms:created xsi:type="dcterms:W3CDTF">2013-08-21T19:17:07Z</dcterms:created>
  <dcterms:modified xsi:type="dcterms:W3CDTF">2025-11-07T18:02:39Z</dcterms:modified>
</cp:coreProperties>
</file>