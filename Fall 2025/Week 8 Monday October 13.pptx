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579" r:id="rId2"/>
    <p:sldId id="580" r:id="rId3"/>
    <p:sldId id="582" r:id="rId4"/>
    <p:sldId id="583" r:id="rId5"/>
    <p:sldId id="581" r:id="rId6"/>
    <p:sldId id="586" r:id="rId7"/>
    <p:sldId id="81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8B1C"/>
    <a:srgbClr val="BE0260"/>
    <a:srgbClr val="D0005E"/>
    <a:srgbClr val="018ACF"/>
    <a:srgbClr val="D09622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30" autoAdjust="0"/>
    <p:restoredTop sz="93721" autoAdjust="0"/>
  </p:normalViewPr>
  <p:slideViewPr>
    <p:cSldViewPr snapToGrid="0">
      <p:cViewPr varScale="1">
        <p:scale>
          <a:sx n="99" d="100"/>
          <a:sy n="99" d="100"/>
        </p:scale>
        <p:origin x="288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ksey Zimin" userId="7f2637d0bc515791" providerId="LiveId" clId="{8553A319-8433-4677-8F80-E28D63617D4C}"/>
    <pc:docChg chg="delSld">
      <pc:chgData name="Aleksey Zimin" userId="7f2637d0bc515791" providerId="LiveId" clId="{8553A319-8433-4677-8F80-E28D63617D4C}" dt="2025-10-13T13:23:12.384" v="1" actId="47"/>
      <pc:docMkLst>
        <pc:docMk/>
      </pc:docMkLst>
      <pc:sldChg chg="del">
        <pc:chgData name="Aleksey Zimin" userId="7f2637d0bc515791" providerId="LiveId" clId="{8553A319-8433-4677-8F80-E28D63617D4C}" dt="2025-10-13T13:23:12.384" v="1" actId="47"/>
        <pc:sldMkLst>
          <pc:docMk/>
          <pc:sldMk cId="2537393782" sldId="257"/>
        </pc:sldMkLst>
      </pc:sldChg>
      <pc:sldChg chg="del">
        <pc:chgData name="Aleksey Zimin" userId="7f2637d0bc515791" providerId="LiveId" clId="{8553A319-8433-4677-8F80-E28D63617D4C}" dt="2025-10-13T13:23:12.384" v="1" actId="47"/>
        <pc:sldMkLst>
          <pc:docMk/>
          <pc:sldMk cId="208986471" sldId="258"/>
        </pc:sldMkLst>
      </pc:sldChg>
      <pc:sldChg chg="del">
        <pc:chgData name="Aleksey Zimin" userId="7f2637d0bc515791" providerId="LiveId" clId="{8553A319-8433-4677-8F80-E28D63617D4C}" dt="2025-10-13T13:23:12.384" v="1" actId="47"/>
        <pc:sldMkLst>
          <pc:docMk/>
          <pc:sldMk cId="1529027372" sldId="260"/>
        </pc:sldMkLst>
      </pc:sldChg>
      <pc:sldChg chg="del">
        <pc:chgData name="Aleksey Zimin" userId="7f2637d0bc515791" providerId="LiveId" clId="{8553A319-8433-4677-8F80-E28D63617D4C}" dt="2025-10-13T13:23:12.384" v="1" actId="47"/>
        <pc:sldMkLst>
          <pc:docMk/>
          <pc:sldMk cId="1183394471" sldId="270"/>
        </pc:sldMkLst>
      </pc:sldChg>
      <pc:sldChg chg="del">
        <pc:chgData name="Aleksey Zimin" userId="7f2637d0bc515791" providerId="LiveId" clId="{8553A319-8433-4677-8F80-E28D63617D4C}" dt="2025-10-13T13:23:05.447" v="0" actId="47"/>
        <pc:sldMkLst>
          <pc:docMk/>
          <pc:sldMk cId="1052403946" sldId="272"/>
        </pc:sldMkLst>
      </pc:sldChg>
      <pc:sldChg chg="del">
        <pc:chgData name="Aleksey Zimin" userId="7f2637d0bc515791" providerId="LiveId" clId="{8553A319-8433-4677-8F80-E28D63617D4C}" dt="2025-10-13T13:23:12.384" v="1" actId="47"/>
        <pc:sldMkLst>
          <pc:docMk/>
          <pc:sldMk cId="285272752" sldId="399"/>
        </pc:sldMkLst>
      </pc:sldChg>
      <pc:sldChg chg="del">
        <pc:chgData name="Aleksey Zimin" userId="7f2637d0bc515791" providerId="LiveId" clId="{8553A319-8433-4677-8F80-E28D63617D4C}" dt="2025-10-13T13:23:12.384" v="1" actId="47"/>
        <pc:sldMkLst>
          <pc:docMk/>
          <pc:sldMk cId="582660925" sldId="557"/>
        </pc:sldMkLst>
      </pc:sldChg>
      <pc:sldChg chg="del">
        <pc:chgData name="Aleksey Zimin" userId="7f2637d0bc515791" providerId="LiveId" clId="{8553A319-8433-4677-8F80-E28D63617D4C}" dt="2025-10-13T13:23:12.384" v="1" actId="47"/>
        <pc:sldMkLst>
          <pc:docMk/>
          <pc:sldMk cId="897960614" sldId="559"/>
        </pc:sldMkLst>
      </pc:sldChg>
      <pc:sldChg chg="del">
        <pc:chgData name="Aleksey Zimin" userId="7f2637d0bc515791" providerId="LiveId" clId="{8553A319-8433-4677-8F80-E28D63617D4C}" dt="2025-10-13T13:23:12.384" v="1" actId="47"/>
        <pc:sldMkLst>
          <pc:docMk/>
          <pc:sldMk cId="2016871750" sldId="560"/>
        </pc:sldMkLst>
      </pc:sldChg>
      <pc:sldChg chg="del">
        <pc:chgData name="Aleksey Zimin" userId="7f2637d0bc515791" providerId="LiveId" clId="{8553A319-8433-4677-8F80-E28D63617D4C}" dt="2025-10-13T13:23:12.384" v="1" actId="47"/>
        <pc:sldMkLst>
          <pc:docMk/>
          <pc:sldMk cId="4236014852" sldId="584"/>
        </pc:sldMkLst>
      </pc:sldChg>
      <pc:sldChg chg="del">
        <pc:chgData name="Aleksey Zimin" userId="7f2637d0bc515791" providerId="LiveId" clId="{8553A319-8433-4677-8F80-E28D63617D4C}" dt="2025-10-13T13:23:12.384" v="1" actId="47"/>
        <pc:sldMkLst>
          <pc:docMk/>
          <pc:sldMk cId="462681112" sldId="585"/>
        </pc:sldMkLst>
      </pc:sldChg>
      <pc:sldChg chg="del">
        <pc:chgData name="Aleksey Zimin" userId="7f2637d0bc515791" providerId="LiveId" clId="{8553A319-8433-4677-8F80-E28D63617D4C}" dt="2025-10-13T13:23:12.384" v="1" actId="47"/>
        <pc:sldMkLst>
          <pc:docMk/>
          <pc:sldMk cId="2697071189" sldId="587"/>
        </pc:sldMkLst>
      </pc:sldChg>
      <pc:sldChg chg="del">
        <pc:chgData name="Aleksey Zimin" userId="7f2637d0bc515791" providerId="LiveId" clId="{8553A319-8433-4677-8F80-E28D63617D4C}" dt="2025-10-13T13:23:12.384" v="1" actId="47"/>
        <pc:sldMkLst>
          <pc:docMk/>
          <pc:sldMk cId="2956323222" sldId="588"/>
        </pc:sldMkLst>
      </pc:sldChg>
      <pc:sldChg chg="del">
        <pc:chgData name="Aleksey Zimin" userId="7f2637d0bc515791" providerId="LiveId" clId="{8553A319-8433-4677-8F80-E28D63617D4C}" dt="2025-10-13T13:23:12.384" v="1" actId="47"/>
        <pc:sldMkLst>
          <pc:docMk/>
          <pc:sldMk cId="869239991" sldId="801"/>
        </pc:sldMkLst>
      </pc:sldChg>
      <pc:sldChg chg="del">
        <pc:chgData name="Aleksey Zimin" userId="7f2637d0bc515791" providerId="LiveId" clId="{8553A319-8433-4677-8F80-E28D63617D4C}" dt="2025-10-13T13:23:12.384" v="1" actId="47"/>
        <pc:sldMkLst>
          <pc:docMk/>
          <pc:sldMk cId="494252847" sldId="802"/>
        </pc:sldMkLst>
      </pc:sldChg>
      <pc:sldChg chg="del">
        <pc:chgData name="Aleksey Zimin" userId="7f2637d0bc515791" providerId="LiveId" clId="{8553A319-8433-4677-8F80-E28D63617D4C}" dt="2025-10-13T13:23:12.384" v="1" actId="47"/>
        <pc:sldMkLst>
          <pc:docMk/>
          <pc:sldMk cId="2724807813" sldId="803"/>
        </pc:sldMkLst>
      </pc:sldChg>
      <pc:sldChg chg="del">
        <pc:chgData name="Aleksey Zimin" userId="7f2637d0bc515791" providerId="LiveId" clId="{8553A319-8433-4677-8F80-E28D63617D4C}" dt="2025-10-13T13:23:12.384" v="1" actId="47"/>
        <pc:sldMkLst>
          <pc:docMk/>
          <pc:sldMk cId="1722923118" sldId="805"/>
        </pc:sldMkLst>
      </pc:sldChg>
      <pc:sldChg chg="del">
        <pc:chgData name="Aleksey Zimin" userId="7f2637d0bc515791" providerId="LiveId" clId="{8553A319-8433-4677-8F80-E28D63617D4C}" dt="2025-10-13T13:23:12.384" v="1" actId="47"/>
        <pc:sldMkLst>
          <pc:docMk/>
          <pc:sldMk cId="3165595715" sldId="806"/>
        </pc:sldMkLst>
      </pc:sldChg>
      <pc:sldChg chg="del">
        <pc:chgData name="Aleksey Zimin" userId="7f2637d0bc515791" providerId="LiveId" clId="{8553A319-8433-4677-8F80-E28D63617D4C}" dt="2025-10-13T13:23:12.384" v="1" actId="47"/>
        <pc:sldMkLst>
          <pc:docMk/>
          <pc:sldMk cId="2104384076" sldId="807"/>
        </pc:sldMkLst>
      </pc:sldChg>
      <pc:sldChg chg="del">
        <pc:chgData name="Aleksey Zimin" userId="7f2637d0bc515791" providerId="LiveId" clId="{8553A319-8433-4677-8F80-E28D63617D4C}" dt="2025-10-13T13:23:12.384" v="1" actId="47"/>
        <pc:sldMkLst>
          <pc:docMk/>
          <pc:sldMk cId="511114794" sldId="808"/>
        </pc:sldMkLst>
      </pc:sldChg>
      <pc:sldChg chg="del">
        <pc:chgData name="Aleksey Zimin" userId="7f2637d0bc515791" providerId="LiveId" clId="{8553A319-8433-4677-8F80-E28D63617D4C}" dt="2025-10-13T13:23:12.384" v="1" actId="47"/>
        <pc:sldMkLst>
          <pc:docMk/>
          <pc:sldMk cId="3936240646" sldId="809"/>
        </pc:sldMkLst>
      </pc:sldChg>
      <pc:sldChg chg="del">
        <pc:chgData name="Aleksey Zimin" userId="7f2637d0bc515791" providerId="LiveId" clId="{8553A319-8433-4677-8F80-E28D63617D4C}" dt="2025-10-13T13:23:12.384" v="1" actId="47"/>
        <pc:sldMkLst>
          <pc:docMk/>
          <pc:sldMk cId="2153619108" sldId="810"/>
        </pc:sldMkLst>
      </pc:sldChg>
      <pc:sldChg chg="del">
        <pc:chgData name="Aleksey Zimin" userId="7f2637d0bc515791" providerId="LiveId" clId="{8553A319-8433-4677-8F80-E28D63617D4C}" dt="2025-10-13T13:23:12.384" v="1" actId="47"/>
        <pc:sldMkLst>
          <pc:docMk/>
          <pc:sldMk cId="3059937519" sldId="811"/>
        </pc:sldMkLst>
      </pc:sldChg>
      <pc:sldChg chg="del">
        <pc:chgData name="Aleksey Zimin" userId="7f2637d0bc515791" providerId="LiveId" clId="{8553A319-8433-4677-8F80-E28D63617D4C}" dt="2025-10-13T13:23:12.384" v="1" actId="47"/>
        <pc:sldMkLst>
          <pc:docMk/>
          <pc:sldMk cId="2608576022" sldId="812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13:18:47.19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1 164 24575,'241'2'0,"262"-4"0,-293-10 0,199-4 0,-153 19 0,216-6 0,-311-9 0,79-2 0,77 0 0,29 1 0,331-2 0,-74-13 0,-78-7 0,39 31 0,-298 7 0,1531-3 0,-1678 5 0,178 32 0,-83-14 0,344-8 0,-524-14 0,58 11 0,21 1 0,662-10 63,-401-5-1491,-351 2-5398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13:18:52.84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1 247 24575,'2440'0'0,"-2128"-16"0,-143 4 0,-10 1 0,133-5 0,-265 16 0,373-8 0,-285 1 0,168-35 0,-96 1 0,172-32 0,-234 60 0,0 5 0,155 11 0,-74 1 0,2266-4 0,-1983 27 0,18 1 0,-355-21 0,0 7 0,163 36 0,-154-22 0,630 76 0,-178-92 0,-363-15 0,-180 3 0,62 1 0,143-18 0,-154 8 0,-78 7 0,-1-1 0,48-10 0,55-20-1365,-122 30-5461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13:21:16.2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24575,'3'0'0,"0"0"0,0 1 0,0 0 0,-1 0 0,1-1 0,0 2 0,0-1 0,-1 0 0,1 0 0,0 1 0,-1 0 0,1-1 0,-1 1 0,0 0 0,0 0 0,4 4 0,32 45 0,-20-24 0,47 54 0,-30-39 0,-2 0 0,41 72 0,44 117 0,-49-91 0,159 240 0,-95-191 0,208 403 0,-289-484 0,114 211 0,-85-176 0,-40-68 0,78 108 0,32 41 0,-64-89 0,-58-94 0,-3 1 0,-1 0 0,-1 2 0,31 88 0,-48-116-273,0 0 0,0-1 0,2 0 0,14 21 0,-12-21-6553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3T13:21:18.2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1899 0 24293,'-1899'3315'0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61B90-1233-4265-A8E1-4CB85DE126F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13FD6-7C7B-4426-BFC4-490AC0CFB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77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8620" y="1138426"/>
            <a:ext cx="10363200" cy="13743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38293" y="4650641"/>
            <a:ext cx="8534400" cy="1374345"/>
          </a:xfrm>
        </p:spPr>
        <p:txBody>
          <a:bodyPr>
            <a:normAutofit/>
          </a:bodyPr>
          <a:lstStyle>
            <a:lvl1pPr marL="0" indent="0" algn="r">
              <a:buNone/>
              <a:defRPr sz="2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</a:p>
          <a:p>
            <a:r>
              <a:rPr lang="en-US" dirty="0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3EFF-6084-460D-96FA-2FA787A98816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680310"/>
            <a:ext cx="10972800" cy="45811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3918803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F86A1-0F17-41D8-9FFA-9520AF33BFC6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081" y="527605"/>
            <a:ext cx="9354927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D0005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082" y="1138425"/>
            <a:ext cx="9354927" cy="4275740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92F4-087A-4F4C-9829-F340F0646973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80BFE-E826-4B70-BF6B-3710B05194AF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182DA-5425-42F9-BDB8-0DBDA15B981E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527605"/>
            <a:ext cx="10972800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620" y="1596539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620" y="2226402"/>
            <a:ext cx="5386917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2388" y="1596539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2388" y="2226402"/>
            <a:ext cx="5389033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B7164-C7F7-495E-9D5F-43BBDEBECF81}" type="datetime1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C5AB8-78AA-4DA3-952F-F5057D2DAAA5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CB869-D2D8-4282-A525-D63712C1B900}" type="datetime1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8CF58-29B0-4D31-BE55-D9C1F05848B7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2F8-B2BD-4E07-9A92-E5080B238DFA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8673-6F42-4090-A040-176AF0E6DEAE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5288-B7FB-4510-97B0-C840A6671DDD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584950" y="1574800"/>
            <a:ext cx="4762500" cy="464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4550" y="1574800"/>
            <a:ext cx="5111750" cy="4648200"/>
          </a:xfrm>
          <a:prstGeom prst="rect">
            <a:avLst/>
          </a:prstGeom>
        </p:spPr>
        <p:txBody>
          <a:bodyPr/>
          <a:lstStyle>
            <a:lvl1pPr marL="279400" indent="-279400">
              <a:spcBef>
                <a:spcPts val="2250"/>
              </a:spcBef>
              <a:defRPr sz="1900"/>
            </a:lvl1pPr>
            <a:lvl2pPr marL="558800" indent="-279400">
              <a:spcBef>
                <a:spcPts val="2250"/>
              </a:spcBef>
              <a:defRPr sz="1900"/>
            </a:lvl2pPr>
            <a:lvl3pPr marL="838200" indent="-279400">
              <a:spcBef>
                <a:spcPts val="2250"/>
              </a:spcBef>
              <a:defRPr sz="1900"/>
            </a:lvl3pPr>
            <a:lvl4pPr marL="1117600" indent="-279400">
              <a:spcBef>
                <a:spcPts val="2250"/>
              </a:spcBef>
              <a:defRPr sz="1900"/>
            </a:lvl4pPr>
            <a:lvl5pPr marL="1397000" indent="-279400">
              <a:spcBef>
                <a:spcPts val="2250"/>
              </a:spcBef>
              <a:defRPr sz="19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939126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607208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889000"/>
            <a:ext cx="10502900" cy="508000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9427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8395F-151A-4402-98B5-C84E535B9AEF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5" r:id="rId13"/>
    <p:sldLayoutId id="2147483666" r:id="rId14"/>
    <p:sldLayoutId id="2147483667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eurology.org/doi/10.1212/NXI.0000000000000251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8.png"/><Relationship Id="rId4" Type="http://schemas.openxmlformats.org/officeDocument/2006/relationships/customXml" Target="../ink/ink2.xml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FF8B-7ECA-C64D-FA2B-BCFEEFCCE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Metagenomic data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7E92C7B-504D-6DC3-4C68-C647A150FB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10015" y="1138425"/>
            <a:ext cx="4192756" cy="39179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AF027-A525-628B-576F-4462F3A7A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51F317-6076-60E8-6ECF-526A018BD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736" y="5162543"/>
            <a:ext cx="4192757" cy="70389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08743D7-D6BE-901B-CFEA-3F0240C13E25}"/>
              </a:ext>
            </a:extLst>
          </p:cNvPr>
          <p:cNvSpPr txBox="1">
            <a:spLocks/>
          </p:cNvSpPr>
          <p:nvPr/>
        </p:nvSpPr>
        <p:spPr>
          <a:xfrm>
            <a:off x="598619" y="1596540"/>
            <a:ext cx="6909086" cy="45811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a typical genome project you want to sequence DNA from a single organism</a:t>
            </a:r>
          </a:p>
          <a:p>
            <a:r>
              <a:rPr lang="en-US" dirty="0"/>
              <a:t>Metagenomic data is sequenced from a sample intentionally containing many species (many of them unknown)</a:t>
            </a:r>
          </a:p>
          <a:p>
            <a:r>
              <a:rPr lang="en-US" dirty="0"/>
              <a:t>Important for studying composition of microorganisms (bacteria of fungus), diagnostics of diseases</a:t>
            </a:r>
          </a:p>
          <a:p>
            <a:r>
              <a:rPr lang="en-US" dirty="0">
                <a:hlinkClick r:id="rId4"/>
              </a:rPr>
              <a:t>https://www.neurology.org/doi/10.1212/NXI.0000000000000251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86871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92CFA-9895-FE23-736B-0ADCCDC9F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Characteristics of metagenomic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0B9E3-A9AD-BAD1-0027-F0D5944E8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Typically short reads (Illumina)</a:t>
            </a:r>
          </a:p>
          <a:p>
            <a:r>
              <a:rPr lang="en-US" dirty="0"/>
              <a:t>Number of species: unknown</a:t>
            </a:r>
          </a:p>
          <a:p>
            <a:r>
              <a:rPr lang="en-US" dirty="0"/>
              <a:t>Coverage of each species: unknown</a:t>
            </a:r>
          </a:p>
          <a:p>
            <a:r>
              <a:rPr lang="en-US" dirty="0"/>
              <a:t>Assembly possible? Maybe, but similar species can assemble together forming chimeric contigs</a:t>
            </a:r>
          </a:p>
          <a:p>
            <a:r>
              <a:rPr lang="en-US" dirty="0"/>
              <a:t>Preferred mode of analysis: K-</a:t>
            </a:r>
            <a:r>
              <a:rPr lang="en-US" dirty="0" err="1"/>
              <a:t>mers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1AC7E-93BD-3248-0387-86D1E1B0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810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CFA9E-52CD-A9B3-646D-3A27FD453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NCBI Taxonomy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EF711-9CE8-F047-1D7A-D8E212100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6562576" cy="5124936"/>
          </a:xfrm>
        </p:spPr>
        <p:txBody>
          <a:bodyPr>
            <a:normAutofit/>
          </a:bodyPr>
          <a:lstStyle/>
          <a:p>
            <a:r>
              <a:rPr lang="en-US" dirty="0"/>
              <a:t>The Taxonomy Database is a curated classification and nomenclature for all  organisms in the public sequence databases. </a:t>
            </a:r>
          </a:p>
          <a:p>
            <a:r>
              <a:rPr lang="en-US" dirty="0"/>
              <a:t>This currently represents about 10% of the described species of life on the planet.</a:t>
            </a:r>
          </a:p>
          <a:p>
            <a:r>
              <a:rPr lang="en-US" dirty="0"/>
              <a:t>These species are part of NCBI Taxonomy tree.  Each node on the tree has a </a:t>
            </a:r>
            <a:r>
              <a:rPr lang="en-US"/>
              <a:t>numerical ID.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40318-2B73-4E92-84B2-305EBCA6D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63A6EE-ADB5-83B0-A0BA-2B2DE1B85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355" y="1596540"/>
            <a:ext cx="5098171" cy="3492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271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9E514-AD74-45CB-0C67-6F2F6F320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NCBI Taxonomy Browser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826C5-D8D9-0630-D918-315B04F48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5272791" cy="3918803"/>
          </a:xfrm>
        </p:spPr>
        <p:txBody>
          <a:bodyPr/>
          <a:lstStyle/>
          <a:p>
            <a:r>
              <a:rPr lang="en-US" dirty="0"/>
              <a:t>By browsing the taxonomy tree one can find all known species, their ID and known evolutionary relationships</a:t>
            </a:r>
          </a:p>
          <a:p>
            <a:endParaRPr lang="en-US" dirty="0"/>
          </a:p>
          <a:p>
            <a:r>
              <a:rPr lang="en-US" dirty="0"/>
              <a:t>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EDE4F-6DEF-4722-E3E4-7D04A9366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70E1E7-A65C-E2DC-30E9-8E509C199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764" y="1596540"/>
            <a:ext cx="6145236" cy="4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79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57B61-F8AB-A062-29F0-CF1A276D0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Analysis of metagenomic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9AE2F-3CF7-74FC-3A8B-478629B96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69" y="1596540"/>
            <a:ext cx="6115001" cy="5124936"/>
          </a:xfrm>
        </p:spPr>
        <p:txBody>
          <a:bodyPr/>
          <a:lstStyle/>
          <a:p>
            <a:r>
              <a:rPr lang="en-US" dirty="0"/>
              <a:t>High resolution: </a:t>
            </a:r>
            <a:r>
              <a:rPr lang="en-US" dirty="0" err="1"/>
              <a:t>KrakenUniq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Build database of all k-</a:t>
            </a:r>
            <a:r>
              <a:rPr lang="en-US" dirty="0" err="1"/>
              <a:t>mers</a:t>
            </a:r>
            <a:r>
              <a:rPr lang="en-US" dirty="0"/>
              <a:t> in a set of species to be classified</a:t>
            </a:r>
          </a:p>
          <a:p>
            <a:pPr lvl="1"/>
            <a:r>
              <a:rPr lang="en-US" dirty="0"/>
              <a:t>Attach Taxonomic ID to each K-mer</a:t>
            </a:r>
          </a:p>
          <a:p>
            <a:pPr lvl="2"/>
            <a:r>
              <a:rPr lang="en-US" dirty="0"/>
              <a:t>Use the lowest common ancestor’s ID</a:t>
            </a:r>
          </a:p>
          <a:p>
            <a:pPr lvl="1"/>
            <a:r>
              <a:rPr lang="en-US" dirty="0"/>
              <a:t>Examine all k-</a:t>
            </a:r>
            <a:r>
              <a:rPr lang="en-US" dirty="0" err="1"/>
              <a:t>mers</a:t>
            </a:r>
            <a:r>
              <a:rPr lang="en-US" dirty="0"/>
              <a:t> in reads from metagenomic sample</a:t>
            </a:r>
          </a:p>
          <a:p>
            <a:pPr lvl="1"/>
            <a:r>
              <a:rPr lang="en-US" dirty="0"/>
              <a:t>Determine what Tax IDs are present</a:t>
            </a:r>
          </a:p>
          <a:p>
            <a:r>
              <a:rPr lang="en-US" dirty="0"/>
              <a:t>Databases are BIG!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8B1E6-CC2B-C02C-779C-A8585EC6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3B60D6-6328-2514-CC94-05026CF64D3F}"/>
              </a:ext>
            </a:extLst>
          </p:cNvPr>
          <p:cNvSpPr/>
          <p:nvPr/>
        </p:nvSpPr>
        <p:spPr>
          <a:xfrm>
            <a:off x="7555832" y="2009274"/>
            <a:ext cx="336884" cy="34891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95706D2-B99B-EB2C-DD1A-5D7F1E726BBE}"/>
              </a:ext>
            </a:extLst>
          </p:cNvPr>
          <p:cNvSpPr/>
          <p:nvPr/>
        </p:nvSpPr>
        <p:spPr>
          <a:xfrm>
            <a:off x="8229601" y="2018617"/>
            <a:ext cx="336884" cy="348915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DDA7B58-FAA1-F362-6A51-1ED812893526}"/>
              </a:ext>
            </a:extLst>
          </p:cNvPr>
          <p:cNvSpPr/>
          <p:nvPr/>
        </p:nvSpPr>
        <p:spPr>
          <a:xfrm>
            <a:off x="8903370" y="2004533"/>
            <a:ext cx="336884" cy="348915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BEE3CB4-D6E8-F6CA-BCFC-7D91E5377D66}"/>
              </a:ext>
            </a:extLst>
          </p:cNvPr>
          <p:cNvSpPr/>
          <p:nvPr/>
        </p:nvSpPr>
        <p:spPr>
          <a:xfrm>
            <a:off x="9586762" y="2771274"/>
            <a:ext cx="336884" cy="34891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D7F004E-04F0-C6CD-077B-AD99FE477246}"/>
              </a:ext>
            </a:extLst>
          </p:cNvPr>
          <p:cNvSpPr/>
          <p:nvPr/>
        </p:nvSpPr>
        <p:spPr>
          <a:xfrm>
            <a:off x="7904748" y="2771274"/>
            <a:ext cx="336884" cy="34891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64D15C6-573B-B89A-CBA2-F84A689ED567}"/>
              </a:ext>
            </a:extLst>
          </p:cNvPr>
          <p:cNvSpPr/>
          <p:nvPr/>
        </p:nvSpPr>
        <p:spPr>
          <a:xfrm>
            <a:off x="10035945" y="3381315"/>
            <a:ext cx="336884" cy="34891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27F90DD-EF2D-7172-13E0-EB72770F916A}"/>
              </a:ext>
            </a:extLst>
          </p:cNvPr>
          <p:cNvSpPr/>
          <p:nvPr/>
        </p:nvSpPr>
        <p:spPr>
          <a:xfrm>
            <a:off x="9084111" y="4078692"/>
            <a:ext cx="336884" cy="34891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008D9AD-11BD-D81D-0522-67D6B8457105}"/>
              </a:ext>
            </a:extLst>
          </p:cNvPr>
          <p:cNvSpPr/>
          <p:nvPr/>
        </p:nvSpPr>
        <p:spPr>
          <a:xfrm>
            <a:off x="8241632" y="3452262"/>
            <a:ext cx="336884" cy="348915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2E8079E-B514-0401-13B7-7C30F586117B}"/>
              </a:ext>
            </a:extLst>
          </p:cNvPr>
          <p:cNvSpPr/>
          <p:nvPr/>
        </p:nvSpPr>
        <p:spPr>
          <a:xfrm>
            <a:off x="8529182" y="2759253"/>
            <a:ext cx="336884" cy="34891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A583B0F-778F-0091-89CA-50714AC8E9D7}"/>
              </a:ext>
            </a:extLst>
          </p:cNvPr>
          <p:cNvCxnSpPr>
            <a:stCxn id="13" idx="1"/>
            <a:endCxn id="14" idx="5"/>
          </p:cNvCxnSpPr>
          <p:nvPr/>
        </p:nvCxnSpPr>
        <p:spPr>
          <a:xfrm flipH="1" flipV="1">
            <a:off x="8529180" y="3750080"/>
            <a:ext cx="604267" cy="379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A86C908-B026-F853-47C2-E24174F77745}"/>
              </a:ext>
            </a:extLst>
          </p:cNvPr>
          <p:cNvCxnSpPr>
            <a:cxnSpLocks/>
            <a:stCxn id="13" idx="7"/>
            <a:endCxn id="12" idx="3"/>
          </p:cNvCxnSpPr>
          <p:nvPr/>
        </p:nvCxnSpPr>
        <p:spPr>
          <a:xfrm flipV="1">
            <a:off x="9371659" y="3679133"/>
            <a:ext cx="713622" cy="4506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785D585-3609-6EE2-F9B7-4FFDB510680C}"/>
              </a:ext>
            </a:extLst>
          </p:cNvPr>
          <p:cNvCxnSpPr>
            <a:cxnSpLocks/>
            <a:stCxn id="14" idx="1"/>
            <a:endCxn id="11" idx="4"/>
          </p:cNvCxnSpPr>
          <p:nvPr/>
        </p:nvCxnSpPr>
        <p:spPr>
          <a:xfrm flipH="1" flipV="1">
            <a:off x="8073190" y="3120189"/>
            <a:ext cx="217778" cy="383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C832D16-CC81-3682-BC26-7E1B11275DFE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7783827" y="2354298"/>
            <a:ext cx="170257" cy="468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D194F66-8DFB-FBF1-ED82-B21CD5BF8FF4}"/>
              </a:ext>
            </a:extLst>
          </p:cNvPr>
          <p:cNvCxnSpPr>
            <a:cxnSpLocks/>
            <a:stCxn id="11" idx="0"/>
            <a:endCxn id="8" idx="3"/>
          </p:cNvCxnSpPr>
          <p:nvPr/>
        </p:nvCxnSpPr>
        <p:spPr>
          <a:xfrm flipV="1">
            <a:off x="8073190" y="2316435"/>
            <a:ext cx="205747" cy="454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7E9B26C-E1E5-3664-8E20-67693EA9AABB}"/>
              </a:ext>
            </a:extLst>
          </p:cNvPr>
          <p:cNvCxnSpPr>
            <a:cxnSpLocks/>
            <a:stCxn id="11" idx="7"/>
            <a:endCxn id="9" idx="3"/>
          </p:cNvCxnSpPr>
          <p:nvPr/>
        </p:nvCxnSpPr>
        <p:spPr>
          <a:xfrm flipV="1">
            <a:off x="8192296" y="2302351"/>
            <a:ext cx="760410" cy="520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471E71D-9544-6C51-E98F-A4FADBC7B714}"/>
              </a:ext>
            </a:extLst>
          </p:cNvPr>
          <p:cNvCxnSpPr>
            <a:cxnSpLocks/>
            <a:stCxn id="14" idx="7"/>
            <a:endCxn id="15" idx="4"/>
          </p:cNvCxnSpPr>
          <p:nvPr/>
        </p:nvCxnSpPr>
        <p:spPr>
          <a:xfrm flipV="1">
            <a:off x="8529180" y="3108168"/>
            <a:ext cx="168444" cy="3951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5630235-2C8E-2C54-BD04-B37C1BE83EC6}"/>
              </a:ext>
            </a:extLst>
          </p:cNvPr>
          <p:cNvCxnSpPr>
            <a:cxnSpLocks/>
            <a:stCxn id="12" idx="1"/>
            <a:endCxn id="10" idx="5"/>
          </p:cNvCxnSpPr>
          <p:nvPr/>
        </p:nvCxnSpPr>
        <p:spPr>
          <a:xfrm flipH="1" flipV="1">
            <a:off x="9874310" y="3069092"/>
            <a:ext cx="210971" cy="363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038184CA-550F-DF94-F9CB-4A1046BB0D4E}"/>
              </a:ext>
            </a:extLst>
          </p:cNvPr>
          <p:cNvSpPr/>
          <p:nvPr/>
        </p:nvSpPr>
        <p:spPr>
          <a:xfrm>
            <a:off x="10422961" y="2751632"/>
            <a:ext cx="336884" cy="348915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6631E49-9531-05F2-603D-80F87CE12556}"/>
              </a:ext>
            </a:extLst>
          </p:cNvPr>
          <p:cNvCxnSpPr>
            <a:cxnSpLocks/>
            <a:stCxn id="12" idx="7"/>
            <a:endCxn id="53" idx="3"/>
          </p:cNvCxnSpPr>
          <p:nvPr/>
        </p:nvCxnSpPr>
        <p:spPr>
          <a:xfrm flipV="1">
            <a:off x="10323493" y="3049450"/>
            <a:ext cx="148804" cy="382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958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358F3-7159-275B-0939-8E6931E35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D4855-2703-B0BB-38A7-160F10DC8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Analysis of metagenomic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BFE13-CB34-F0C3-363D-E640E7457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069" y="1596540"/>
            <a:ext cx="6115001" cy="5124936"/>
          </a:xfrm>
        </p:spPr>
        <p:txBody>
          <a:bodyPr/>
          <a:lstStyle/>
          <a:p>
            <a:r>
              <a:rPr lang="en-US" dirty="0"/>
              <a:t>High resolution: </a:t>
            </a:r>
            <a:r>
              <a:rPr lang="en-US" dirty="0" err="1"/>
              <a:t>KrakenUniq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Build database of all k-</a:t>
            </a:r>
            <a:r>
              <a:rPr lang="en-US" dirty="0" err="1"/>
              <a:t>mers</a:t>
            </a:r>
            <a:r>
              <a:rPr lang="en-US" dirty="0"/>
              <a:t> in a set of species to be classified</a:t>
            </a:r>
          </a:p>
          <a:p>
            <a:pPr lvl="1"/>
            <a:r>
              <a:rPr lang="en-US" dirty="0"/>
              <a:t>Attach Taxonomic ID to each K-mer</a:t>
            </a:r>
          </a:p>
          <a:p>
            <a:pPr lvl="2"/>
            <a:r>
              <a:rPr lang="en-US" dirty="0"/>
              <a:t>Use the lowest common ancestor’s ID</a:t>
            </a:r>
          </a:p>
          <a:p>
            <a:pPr lvl="1"/>
            <a:r>
              <a:rPr lang="en-US" dirty="0"/>
              <a:t>Examine all k-</a:t>
            </a:r>
            <a:r>
              <a:rPr lang="en-US" dirty="0" err="1"/>
              <a:t>mers</a:t>
            </a:r>
            <a:r>
              <a:rPr lang="en-US" dirty="0"/>
              <a:t> in reads from metagenomic sample</a:t>
            </a:r>
          </a:p>
          <a:p>
            <a:pPr lvl="1"/>
            <a:r>
              <a:rPr lang="en-US" dirty="0"/>
              <a:t>Determine what Tax IDs are present</a:t>
            </a:r>
          </a:p>
          <a:p>
            <a:r>
              <a:rPr lang="en-US" dirty="0"/>
              <a:t>Databases are BIG!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7DC64-079A-37B5-8907-FB76A3FB9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8BC043-165D-78F1-4497-E1915FBD7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448" y="1596540"/>
            <a:ext cx="5639587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068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E15C5-033F-EB4E-C156-4BD0622B4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Uniq in </a:t>
            </a:r>
            <a:r>
              <a:rPr lang="en-US" dirty="0" err="1"/>
              <a:t>KrakenUniq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8353F-5DE3-1457-DA73-463601C47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6B56381-9E09-D9C0-7959-7FD7F297F529}"/>
                  </a:ext>
                </a:extLst>
              </p14:cNvPr>
              <p14:cNvContentPartPr/>
              <p14:nvPr/>
            </p14:nvContentPartPr>
            <p14:xfrm>
              <a:off x="567227" y="4329966"/>
              <a:ext cx="3667320" cy="60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6B56381-9E09-D9C0-7959-7FD7F297F52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1107" y="4323846"/>
                <a:ext cx="367956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7D8D637-9EE0-F002-3C41-CB3E944CCD5F}"/>
                  </a:ext>
                </a:extLst>
              </p14:cNvPr>
              <p14:cNvContentPartPr/>
              <p14:nvPr/>
            </p14:nvContentPartPr>
            <p14:xfrm>
              <a:off x="5399147" y="4290366"/>
              <a:ext cx="4436280" cy="100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7D8D637-9EE0-F002-3C41-CB3E944CCD5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93027" y="4284246"/>
                <a:ext cx="4448520" cy="112320"/>
              </a:xfrm>
              <a:prstGeom prst="rect">
                <a:avLst/>
              </a:prstGeom>
            </p:spPr>
          </p:pic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309FAC0-9F0F-248B-49E0-BFC25CFDC5E9}"/>
              </a:ext>
            </a:extLst>
          </p:cNvPr>
          <p:cNvCxnSpPr/>
          <p:nvPr/>
        </p:nvCxnSpPr>
        <p:spPr>
          <a:xfrm>
            <a:off x="2079057" y="4090737"/>
            <a:ext cx="4138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66B9CF-5EE9-172C-ACCF-B4261C3351FB}"/>
              </a:ext>
            </a:extLst>
          </p:cNvPr>
          <p:cNvCxnSpPr/>
          <p:nvPr/>
        </p:nvCxnSpPr>
        <p:spPr>
          <a:xfrm>
            <a:off x="2079057" y="3935128"/>
            <a:ext cx="4138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36ECA1-74BE-A8D4-F512-F8E72202384C}"/>
              </a:ext>
            </a:extLst>
          </p:cNvPr>
          <p:cNvCxnSpPr/>
          <p:nvPr/>
        </p:nvCxnSpPr>
        <p:spPr>
          <a:xfrm>
            <a:off x="2008472" y="4183781"/>
            <a:ext cx="4138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97713A7-979B-4EE0-7771-DCB66E1E2323}"/>
              </a:ext>
            </a:extLst>
          </p:cNvPr>
          <p:cNvCxnSpPr/>
          <p:nvPr/>
        </p:nvCxnSpPr>
        <p:spPr>
          <a:xfrm>
            <a:off x="2205790" y="4008922"/>
            <a:ext cx="4138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D2AD0F-CE11-C409-62C0-74482C21156E}"/>
              </a:ext>
            </a:extLst>
          </p:cNvPr>
          <p:cNvCxnSpPr/>
          <p:nvPr/>
        </p:nvCxnSpPr>
        <p:spPr>
          <a:xfrm>
            <a:off x="2079057" y="3805188"/>
            <a:ext cx="4138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C9FF506-4E7C-B964-856F-76191C9F8386}"/>
              </a:ext>
            </a:extLst>
          </p:cNvPr>
          <p:cNvCxnSpPr/>
          <p:nvPr/>
        </p:nvCxnSpPr>
        <p:spPr>
          <a:xfrm>
            <a:off x="2079057" y="3716956"/>
            <a:ext cx="4138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FCA1D44-B48C-A300-C04E-53648FA211B8}"/>
              </a:ext>
            </a:extLst>
          </p:cNvPr>
          <p:cNvCxnSpPr/>
          <p:nvPr/>
        </p:nvCxnSpPr>
        <p:spPr>
          <a:xfrm>
            <a:off x="2008472" y="3609474"/>
            <a:ext cx="4138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8151BCF-F69F-723F-B7FA-F155FF5385A3}"/>
              </a:ext>
            </a:extLst>
          </p:cNvPr>
          <p:cNvCxnSpPr/>
          <p:nvPr/>
        </p:nvCxnSpPr>
        <p:spPr>
          <a:xfrm>
            <a:off x="8617193" y="4204636"/>
            <a:ext cx="4138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B21D3C5-0093-6AE1-875F-DD874A087CEC}"/>
              </a:ext>
            </a:extLst>
          </p:cNvPr>
          <p:cNvCxnSpPr/>
          <p:nvPr/>
        </p:nvCxnSpPr>
        <p:spPr>
          <a:xfrm>
            <a:off x="8135930" y="4090737"/>
            <a:ext cx="4138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430118E-BF13-53B7-11DB-494949C57680}"/>
              </a:ext>
            </a:extLst>
          </p:cNvPr>
          <p:cNvCxnSpPr/>
          <p:nvPr/>
        </p:nvCxnSpPr>
        <p:spPr>
          <a:xfrm>
            <a:off x="5399147" y="4183781"/>
            <a:ext cx="4138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94FFD8-4A5D-B2D6-BE0E-861791A630D8}"/>
              </a:ext>
            </a:extLst>
          </p:cNvPr>
          <p:cNvCxnSpPr/>
          <p:nvPr/>
        </p:nvCxnSpPr>
        <p:spPr>
          <a:xfrm>
            <a:off x="6847749" y="4090737"/>
            <a:ext cx="4138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BF22833-0BC5-0174-B105-0468167E512E}"/>
              </a:ext>
            </a:extLst>
          </p:cNvPr>
          <p:cNvCxnSpPr/>
          <p:nvPr/>
        </p:nvCxnSpPr>
        <p:spPr>
          <a:xfrm>
            <a:off x="7423661" y="4093946"/>
            <a:ext cx="4138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69BB583-8B21-D9C6-A2C2-BC463A6F584C}"/>
              </a:ext>
            </a:extLst>
          </p:cNvPr>
          <p:cNvCxnSpPr/>
          <p:nvPr/>
        </p:nvCxnSpPr>
        <p:spPr>
          <a:xfrm>
            <a:off x="9223585" y="4175760"/>
            <a:ext cx="4138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FDB8621-FB0B-D01F-9FC2-D1E8505C0572}"/>
              </a:ext>
            </a:extLst>
          </p:cNvPr>
          <p:cNvCxnSpPr/>
          <p:nvPr/>
        </p:nvCxnSpPr>
        <p:spPr>
          <a:xfrm>
            <a:off x="6096000" y="4183781"/>
            <a:ext cx="41388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9BDD9AA-753B-6CD7-52FF-9750DD861EF9}"/>
              </a:ext>
            </a:extLst>
          </p:cNvPr>
          <p:cNvSpPr txBox="1"/>
          <p:nvPr/>
        </p:nvSpPr>
        <p:spPr>
          <a:xfrm>
            <a:off x="1481725" y="4423010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Species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F17A60-9D01-FE5A-C193-4D14B5F65730}"/>
              </a:ext>
            </a:extLst>
          </p:cNvPr>
          <p:cNvSpPr txBox="1"/>
          <p:nvPr/>
        </p:nvSpPr>
        <p:spPr>
          <a:xfrm>
            <a:off x="7103857" y="4423010"/>
            <a:ext cx="105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Species 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83EA41-10AA-76CD-BAB4-D45D8E47E03A}"/>
              </a:ext>
            </a:extLst>
          </p:cNvPr>
          <p:cNvSpPr txBox="1"/>
          <p:nvPr/>
        </p:nvSpPr>
        <p:spPr>
          <a:xfrm>
            <a:off x="1232506" y="2528034"/>
            <a:ext cx="31469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 IN the sample due to </a:t>
            </a:r>
            <a:r>
              <a:rPr lang="en-US" i="1" dirty="0"/>
              <a:t>repeat</a:t>
            </a:r>
            <a:r>
              <a:rPr lang="en-US" dirty="0"/>
              <a:t> or </a:t>
            </a:r>
            <a:r>
              <a:rPr lang="en-US" i="1" dirty="0"/>
              <a:t>contamination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5B1692-0DE3-2BA3-B248-DA80A5175168}"/>
              </a:ext>
            </a:extLst>
          </p:cNvPr>
          <p:cNvSpPr txBox="1"/>
          <p:nvPr/>
        </p:nvSpPr>
        <p:spPr>
          <a:xfrm>
            <a:off x="6808855" y="3493875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the sample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1428A4E-C573-AD96-90C6-96976AFCB1E2}"/>
                  </a:ext>
                </a:extLst>
              </p14:cNvPr>
              <p14:cNvContentPartPr/>
              <p14:nvPr/>
            </p14:nvContentPartPr>
            <p14:xfrm>
              <a:off x="1876547" y="3435726"/>
              <a:ext cx="763920" cy="12657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1428A4E-C573-AD96-90C6-96976AFCB1E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70427" y="3429606"/>
                <a:ext cx="776160" cy="12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C77A02E-88A6-7029-EAB3-6F8D492FB2A7}"/>
                  </a:ext>
                </a:extLst>
              </p14:cNvPr>
              <p14:cNvContentPartPr/>
              <p14:nvPr/>
            </p14:nvContentPartPr>
            <p14:xfrm>
              <a:off x="1905347" y="3272286"/>
              <a:ext cx="684000" cy="11937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C77A02E-88A6-7029-EAB3-6F8D492FB2A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99227" y="3266166"/>
                <a:ext cx="696240" cy="120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8590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13816</TotalTime>
  <Words>313</Words>
  <Application>Microsoft Office PowerPoint</Application>
  <PresentationFormat>Widescreen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Trebuchet MS</vt:lpstr>
      <vt:lpstr>Office Theme</vt:lpstr>
      <vt:lpstr>Metagenomic data analysis</vt:lpstr>
      <vt:lpstr>Characteristics of metagenomic data</vt:lpstr>
      <vt:lpstr>NCBI Taxonomy</vt:lpstr>
      <vt:lpstr>NCBI Taxonomy Browser</vt:lpstr>
      <vt:lpstr>Analysis of metagenomic data</vt:lpstr>
      <vt:lpstr>Analysis of metagenomic data</vt:lpstr>
      <vt:lpstr>Why Uniq in KrakenUniq?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Aleksey Zimin</cp:lastModifiedBy>
  <cp:revision>64</cp:revision>
  <dcterms:created xsi:type="dcterms:W3CDTF">2013-08-21T19:17:07Z</dcterms:created>
  <dcterms:modified xsi:type="dcterms:W3CDTF">2025-10-13T13:23:15Z</dcterms:modified>
</cp:coreProperties>
</file>