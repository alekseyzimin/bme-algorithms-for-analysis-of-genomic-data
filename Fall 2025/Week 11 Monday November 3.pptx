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2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841" r:id="rId2"/>
    <p:sldId id="851" r:id="rId3"/>
    <p:sldId id="880" r:id="rId4"/>
    <p:sldId id="881" r:id="rId5"/>
    <p:sldId id="854" r:id="rId6"/>
    <p:sldId id="855" r:id="rId7"/>
    <p:sldId id="811" r:id="rId8"/>
    <p:sldId id="857" r:id="rId9"/>
    <p:sldId id="858" r:id="rId10"/>
    <p:sldId id="859" r:id="rId11"/>
    <p:sldId id="860" r:id="rId12"/>
    <p:sldId id="856" r:id="rId13"/>
    <p:sldId id="852" r:id="rId14"/>
    <p:sldId id="853" r:id="rId15"/>
    <p:sldId id="866" r:id="rId16"/>
    <p:sldId id="868" r:id="rId17"/>
    <p:sldId id="869" r:id="rId18"/>
    <p:sldId id="898" r:id="rId19"/>
    <p:sldId id="899" r:id="rId20"/>
    <p:sldId id="861" r:id="rId21"/>
    <p:sldId id="8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D68B1C"/>
    <a:srgbClr val="BE0260"/>
    <a:srgbClr val="D0005E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101" d="100"/>
          <a:sy n="101" d="100"/>
        </p:scale>
        <p:origin x="106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1-04T18:19:11.187" v="1" actId="47"/>
      <pc:docMkLst>
        <pc:docMk/>
      </pc:docMkLst>
      <pc:sldChg chg="del">
        <pc:chgData name="Aleksey Zimin" userId="7f2637d0bc515791" providerId="LiveId" clId="{8553A319-8433-4677-8F80-E28D63617D4C}" dt="2025-11-04T18:18:58.922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1731479648" sldId="863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80240427" sldId="864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634646025" sldId="865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143161316" sldId="870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3261130923" sldId="871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415209501" sldId="872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3041595195" sldId="873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841664835" sldId="874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749756353" sldId="875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1943159719" sldId="876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131417150" sldId="877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323728444" sldId="878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1697097188" sldId="879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702189588" sldId="882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1452179586" sldId="883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3549718570" sldId="884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941793736" sldId="885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352345771" sldId="886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3197633200" sldId="887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537798046" sldId="888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1574673349" sldId="890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3699968443" sldId="891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752308720" sldId="892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872453536" sldId="893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702561878" sldId="894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1526773716" sldId="895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2253551215" sldId="896"/>
        </pc:sldMkLst>
      </pc:sldChg>
      <pc:sldChg chg="del">
        <pc:chgData name="Aleksey Zimin" userId="7f2637d0bc515791" providerId="LiveId" clId="{8553A319-8433-4677-8F80-E28D63617D4C}" dt="2025-11-04T18:19:11.187" v="1" actId="47"/>
        <pc:sldMkLst>
          <pc:docMk/>
          <pc:sldMk cId="512676943" sldId="89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3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3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3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3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0:5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3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0:5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4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72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1BD8-BCC8-C0EF-A9DF-C9DD97B1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DDA73-1811-089C-435B-4F5704842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D8221-502F-E885-72EA-55CAE9B8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FC282-F475-4084-534F-F11AEBF72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7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3.png"/><Relationship Id="rId4" Type="http://schemas.openxmlformats.org/officeDocument/2006/relationships/customXml" Target="../ink/ink2.xml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37.png"/><Relationship Id="rId4" Type="http://schemas.openxmlformats.org/officeDocument/2006/relationships/customXml" Target="../ink/ink6.xml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customXml" Target="../ink/ink15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customXml" Target="../ink/ink14.xml"/><Relationship Id="rId2" Type="http://schemas.openxmlformats.org/officeDocument/2006/relationships/customXml" Target="../ink/ink9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customXml" Target="../ink/ink16.xml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39.png"/><Relationship Id="rId1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customXml" Target="../ink/ink1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customXml" Target="../ink/ink2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png"/><Relationship Id="rId4" Type="http://schemas.openxmlformats.org/officeDocument/2006/relationships/customXml" Target="../ink/ink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93AB-6DE7-8285-E0AC-5F1A1819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Ab initio </a:t>
            </a:r>
            <a:r>
              <a:rPr lang="en-US" dirty="0"/>
              <a:t>gene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6C4B-003F-16DC-7AF5-AFA961D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 fontScale="92500"/>
          </a:bodyPr>
          <a:lstStyle/>
          <a:p>
            <a:r>
              <a:rPr lang="en-US" dirty="0"/>
              <a:t>Transcriptome sequencing data does not provide comprehensive picture of expression – not all transcripts are expressed in all cells at the same time:  </a:t>
            </a:r>
          </a:p>
          <a:p>
            <a:pPr lvl="1"/>
            <a:r>
              <a:rPr lang="en-US" dirty="0"/>
              <a:t>Sequence many different cells under many conditions (expensive)</a:t>
            </a:r>
          </a:p>
          <a:p>
            <a:pPr lvl="1"/>
            <a:r>
              <a:rPr lang="en-US" dirty="0"/>
              <a:t>Supplement transcriptome sequencing data with an </a:t>
            </a:r>
            <a:r>
              <a:rPr lang="en-US" i="1" dirty="0"/>
              <a:t>ab initio </a:t>
            </a:r>
            <a:r>
              <a:rPr lang="en-US" dirty="0"/>
              <a:t>gene finding algorithm to find transcripts that a not expressed</a:t>
            </a:r>
          </a:p>
          <a:p>
            <a:r>
              <a:rPr lang="en-US" dirty="0"/>
              <a:t>Assembled transcripts have errors: </a:t>
            </a:r>
          </a:p>
          <a:p>
            <a:pPr lvl="1"/>
            <a:r>
              <a:rPr lang="en-US" dirty="0"/>
              <a:t>Use machine learning algorithms to detect errors in assembled transcripts</a:t>
            </a:r>
          </a:p>
          <a:p>
            <a:r>
              <a:rPr lang="en-US" dirty="0"/>
              <a:t>Machine learning:</a:t>
            </a:r>
          </a:p>
          <a:p>
            <a:pPr lvl="1"/>
            <a:r>
              <a:rPr lang="en-US" dirty="0"/>
              <a:t>Positional Weights/Markov chain/Hidden Markov Models</a:t>
            </a:r>
          </a:p>
          <a:p>
            <a:pPr lvl="1"/>
            <a:r>
              <a:rPr lang="en-US" dirty="0"/>
              <a:t>Convolution Neural Networks?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4308B-AFA2-E9DC-AA64-E27C6EAA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A960-9AED-42DD-A4CE-32DEB70A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AFB0-4CD4-49AE-5635-A884EF4A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18774"/>
          </a:xfrm>
        </p:spPr>
        <p:txBody>
          <a:bodyPr>
            <a:normAutofit/>
          </a:bodyPr>
          <a:lstStyle/>
          <a:p>
            <a:r>
              <a:rPr lang="en-US" dirty="0"/>
              <a:t>Protein coding and non-coding sequences have different patterns of letters</a:t>
            </a:r>
          </a:p>
          <a:p>
            <a:r>
              <a:rPr lang="en-US" dirty="0"/>
              <a:t>Spliceosome does not just cut out introns at GT-AG, it recognizes longer patterns around splice sites</a:t>
            </a:r>
          </a:p>
          <a:p>
            <a:r>
              <a:rPr lang="en-US" dirty="0"/>
              <a:t>We can look for the patterns with </a:t>
            </a:r>
            <a:r>
              <a:rPr lang="en-US" i="1" dirty="0"/>
              <a:t>machine learning </a:t>
            </a:r>
            <a:r>
              <a:rPr lang="en-US" dirty="0"/>
              <a:t>algorithms</a:t>
            </a:r>
          </a:p>
          <a:p>
            <a:r>
              <a:rPr lang="en-US" dirty="0"/>
              <a:t>We can model and test the patterns with:</a:t>
            </a:r>
          </a:p>
          <a:p>
            <a:pPr lvl="1"/>
            <a:r>
              <a:rPr lang="en-US" dirty="0"/>
              <a:t>Positional Probabilities or Positional Weights</a:t>
            </a:r>
          </a:p>
          <a:p>
            <a:pPr lvl="1"/>
            <a:r>
              <a:rPr lang="en-US" dirty="0"/>
              <a:t>Markov chains</a:t>
            </a:r>
          </a:p>
          <a:p>
            <a:pPr lvl="1"/>
            <a:r>
              <a:rPr lang="en-US" dirty="0"/>
              <a:t>Hidden Markov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C02BC-5B68-B2F7-B466-6A9EF3BC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7A19-48C7-CAB5-3B42-7AC453F6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chains and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79247-BA8E-D544-D04F-7E5DFFA98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can use Positional Probabilities and Markov chains to test whether the sequence patterns around features (such as splice sites GT-AG) correspond to what is expected, which allows us to:</a:t>
            </a:r>
          </a:p>
          <a:p>
            <a:pPr lvl="1"/>
            <a:r>
              <a:rPr lang="en-US" dirty="0"/>
              <a:t>Look for new features</a:t>
            </a:r>
          </a:p>
          <a:p>
            <a:pPr lvl="1"/>
            <a:r>
              <a:rPr lang="en-US" dirty="0"/>
              <a:t>Test for correctness of existing features obtained from the data </a:t>
            </a:r>
          </a:p>
          <a:p>
            <a:pPr lvl="1"/>
            <a:endParaRPr lang="en-US" dirty="0"/>
          </a:p>
          <a:p>
            <a:r>
              <a:rPr lang="en-US" dirty="0"/>
              <a:t>We will consider application of Positional Probabilities and Markov chains to splice site prediction/validation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 can use HMMs to locate regions of sequence that appear to have different properties (coding vs. non-coding)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FD11-A455-A3DA-E0EB-606C7312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4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478C-A1A6-A881-3E93-A5E9BCEA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Positional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67138-D3D4-43B0-3585-B216DBAF8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Positional probabilities is the most straightforward approach to detecting and testing sequence patterns</a:t>
            </a:r>
          </a:p>
          <a:p>
            <a:endParaRPr lang="en-US" dirty="0"/>
          </a:p>
          <a:p>
            <a:r>
              <a:rPr lang="en-US" dirty="0"/>
              <a:t>Positional probabilities simply quantify the probabilities of observing A,C,G,T at a certain location in genomic 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320E1-589A-B943-7021-B704A264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4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1159-66B4-F802-51EF-D98F37AD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Positional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685EC-5ECB-37DE-E37B-36FD6BAC8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9561380" cy="44481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can use known high-confidence splice sites in the annotation to compute Positional Probabilities: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dirty="0"/>
                </a:br>
                <a:r>
                  <a:rPr lang="en-US" dirty="0"/>
                  <a:t>,where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index goes over all letters in the alphabet (A,C,G,T),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index goes over positions within splice site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685EC-5ECB-37DE-E37B-36FD6BAC8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9561380" cy="4448125"/>
              </a:xfrm>
              <a:blipFill>
                <a:blip r:embed="rId2"/>
                <a:stretch>
                  <a:fillRect l="-1147" t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B723E-C021-7BCC-FD79-03C15E55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3FC08-85E5-49C2-8474-E4B32F15F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0" y="1546745"/>
            <a:ext cx="1474234" cy="449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0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A2FC-970A-A62F-0E5E-09E462F1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4FC8F-985A-EE0E-6C63-52322ABB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58264"/>
          </a:xfrm>
        </p:spPr>
        <p:txBody>
          <a:bodyPr>
            <a:normAutofit/>
          </a:bodyPr>
          <a:lstStyle/>
          <a:p>
            <a:r>
              <a:rPr lang="en-US" dirty="0"/>
              <a:t>Given DNA sequences:</a:t>
            </a:r>
          </a:p>
          <a:p>
            <a:r>
              <a:rPr lang="en-US" dirty="0"/>
              <a:t>                          The Positional Probability Matrix (PPM) is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               Computing these probabilities from the data is the </a:t>
            </a:r>
            <a:r>
              <a:rPr lang="en-US" i="1" dirty="0"/>
              <a:t>learning</a:t>
            </a:r>
            <a:r>
              <a:rPr lang="en-US" dirty="0"/>
              <a:t> part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8075B-C6EC-878C-343C-93D1AF68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5879F-E475-3C19-E172-10562D50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4" y="2140220"/>
            <a:ext cx="1474234" cy="4497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94426F-940C-D94F-F74D-3CCFED63F8DE}"/>
                  </a:ext>
                </a:extLst>
              </p:cNvPr>
              <p:cNvSpPr txBox="1"/>
              <p:nvPr/>
            </p:nvSpPr>
            <p:spPr>
              <a:xfrm>
                <a:off x="2653953" y="3334630"/>
                <a:ext cx="1474234" cy="69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6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94426F-940C-D94F-F74D-3CCFED63F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953" y="3334630"/>
                <a:ext cx="1474234" cy="690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4E0D884-29BF-0786-A15C-4F3742D30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624" y="2771608"/>
            <a:ext cx="7212028" cy="181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A422-EB5B-6C9F-83F4-CCA5AC38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 site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F78B9-9182-E692-99AF-1FA2D9B1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3D917-D8B8-7316-1BC8-4876A096C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217" y="2006518"/>
            <a:ext cx="8437459" cy="4091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66AE1-796E-6EAE-1517-76D18A95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4" y="2128063"/>
            <a:ext cx="3307736" cy="3901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3AD03D-16BF-6442-AF61-6D82FBBDE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989" y="760138"/>
            <a:ext cx="3894011" cy="1224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C7C38F-A22A-D105-3E87-477459DC8AFD}"/>
              </a:ext>
            </a:extLst>
          </p:cNvPr>
          <p:cNvSpPr txBox="1"/>
          <p:nvPr/>
        </p:nvSpPr>
        <p:spPr>
          <a:xfrm>
            <a:off x="931164" y="1651700"/>
            <a:ext cx="12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Donor (GT)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F0EAD-576D-79AD-537E-10C7899ACCEE}"/>
              </a:ext>
            </a:extLst>
          </p:cNvPr>
          <p:cNvSpPr txBox="1"/>
          <p:nvPr/>
        </p:nvSpPr>
        <p:spPr>
          <a:xfrm>
            <a:off x="6178078" y="1626138"/>
            <a:ext cx="1497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Acceptor (AG)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3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60D9-C78E-CB19-C14B-DD84F9C0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PWM to evaluate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2D7D5-8A36-45DC-A910-2A1EEAE7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0" y="1596540"/>
            <a:ext cx="11100640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calculate the probability of a sequence given a PPM, by multiplying the relevant probabilities at each position. For example, the probability of the sequence </a:t>
            </a:r>
            <a:r>
              <a:rPr lang="en-US" i="1" dirty="0"/>
              <a:t>S</a:t>
            </a:r>
            <a:r>
              <a:rPr lang="en-US" dirty="0"/>
              <a:t> = GAGGTAAAC can be calculated: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this to the probability of a random sequence (all probabilities are 0.25) 0.25^9=0.0000038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E8B4C-7A69-33EE-A22B-3EB95E69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EAE9E-A053-D0C9-B138-EB8D3E979FB0}"/>
                  </a:ext>
                </a:extLst>
              </p:cNvPr>
              <p:cNvSpPr txBox="1"/>
              <p:nvPr/>
            </p:nvSpPr>
            <p:spPr>
              <a:xfrm>
                <a:off x="1160131" y="3579687"/>
                <a:ext cx="1474234" cy="763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36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EAE9E-A053-D0C9-B138-EB8D3E979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131" y="3579687"/>
                <a:ext cx="1474234" cy="763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EAF85E8-95BD-654F-24B7-E3638372C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986" y="3057248"/>
            <a:ext cx="7212028" cy="1816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5CB57-5E06-8286-ED2F-D213FA35F718}"/>
                  </a:ext>
                </a:extLst>
              </p:cNvPr>
              <p:cNvSpPr txBox="1"/>
              <p:nvPr/>
            </p:nvSpPr>
            <p:spPr>
              <a:xfrm>
                <a:off x="785109" y="4949291"/>
                <a:ext cx="10599821" cy="624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)=.1∗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.6∗.7∗1∗1∗.1∗.7∗.2∗.2=0.0007056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5CB57-5E06-8286-ED2F-D213FA35F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09" y="4949291"/>
                <a:ext cx="10599821" cy="624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5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71B0-2712-EE95-0A7B-7EDE2ECD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PPM vs PWM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262FE-8C30-EE82-BA92-B49DAF2A1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PPM can be transformed int Positional Weight Matrix: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/>
                  <a:t> is the number of symbols in the alphabet (A,C,G,T), for DNA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dirty="0"/>
                  <a:t>.  For our example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262FE-8C30-EE82-BA92-B49DAF2A1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555" r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71BB5-4123-FAB7-C5B7-5B68FED7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DF6BDB-B240-D97E-DDC4-E15C830694FC}"/>
                  </a:ext>
                </a:extLst>
              </p:cNvPr>
              <p:cNvSpPr txBox="1"/>
              <p:nvPr/>
            </p:nvSpPr>
            <p:spPr>
              <a:xfrm>
                <a:off x="1298093" y="2087771"/>
                <a:ext cx="4797907" cy="1239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DF6BDB-B240-D97E-DDC4-E15C83069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93" y="2087771"/>
                <a:ext cx="4797907" cy="12391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275A70-8BBE-B71F-9E8C-13FD0BF1A837}"/>
                  </a:ext>
                </a:extLst>
              </p:cNvPr>
              <p:cNvSpPr txBox="1"/>
              <p:nvPr/>
            </p:nvSpPr>
            <p:spPr>
              <a:xfrm>
                <a:off x="74596" y="5207927"/>
                <a:ext cx="2601227" cy="69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275A70-8BBE-B71F-9E8C-13FD0BF1A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" y="5207927"/>
                <a:ext cx="2601227" cy="6908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93BD07C-4CCB-B5A4-E63E-281E743B1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933" y="4772215"/>
            <a:ext cx="883090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3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AF30-71A0-6C7B-822A-B6663A11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Scoring with PWMs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71B00-CD65-4A23-B7A9-D52ECBC4DD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228" y="1596540"/>
                <a:ext cx="12025772" cy="391880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Log of zero is minus infinity.  To deal with that on can add 1e-10 to each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then minus infinity becomes a large negative number</a:t>
                </a:r>
              </a:p>
              <a:p>
                <a:r>
                  <a:rPr lang="en-US" dirty="0"/>
                  <a:t>Since PWM elements are calculated using log likelihoods, the score of a sequence can be calculated by adding (rather than multiplying) the relevant values at each position in the PWM. For example, the score of the sequence </a:t>
                </a:r>
                <a:r>
                  <a:rPr lang="en-US" i="1" dirty="0"/>
                  <a:t>S</a:t>
                </a:r>
                <a:r>
                  <a:rPr lang="en-US" dirty="0"/>
                  <a:t> = GAGGTAAAC can be calculated: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−1.32+1.26+1.49+2+2+1.26+1.49−.32−.32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7.54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71B00-CD65-4A23-B7A9-D52ECBC4D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228" y="1596540"/>
                <a:ext cx="12025772" cy="3918803"/>
              </a:xfrm>
              <a:blipFill>
                <a:blip r:embed="rId2"/>
                <a:stretch>
                  <a:fillRect l="-912" t="-1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52DB0-4B64-B989-C4F7-5AF836F8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A02DB-91A1-5DD1-CA58-5411B37B6D37}"/>
                  </a:ext>
                </a:extLst>
              </p:cNvPr>
              <p:cNvSpPr txBox="1"/>
              <p:nvPr/>
            </p:nvSpPr>
            <p:spPr>
              <a:xfrm>
                <a:off x="166228" y="5665456"/>
                <a:ext cx="2601227" cy="69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A02DB-91A1-5DD1-CA58-5411B37B6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28" y="5665456"/>
                <a:ext cx="2601227" cy="690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4E81110-8A80-C523-87BE-AC44E2502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063" y="5192299"/>
            <a:ext cx="883090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7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AA63-EDD4-D4F9-4059-40F3AF78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PWM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4FEAC-25B3-ADFF-A8CA-95514D172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026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sequence score gives an indication of how different the sequence is from a random sequence (all weights are the same). </a:t>
            </a:r>
          </a:p>
          <a:p>
            <a:endParaRPr lang="en-US" dirty="0"/>
          </a:p>
          <a:p>
            <a:r>
              <a:rPr lang="en-US" dirty="0"/>
              <a:t>The score is 0 if the sequence has the same probability of being a valid pattern (splice site) and of being a random site. </a:t>
            </a:r>
          </a:p>
          <a:p>
            <a:endParaRPr lang="en-US" dirty="0"/>
          </a:p>
          <a:p>
            <a:r>
              <a:rPr lang="en-US" dirty="0"/>
              <a:t>The score is greater than 0 if it is more likely to be a valid splice site than a random site, and less than 0 if it is more likely to be a random site than a valid splice site.</a:t>
            </a:r>
          </a:p>
          <a:p>
            <a:endParaRPr lang="en-US" dirty="0"/>
          </a:p>
          <a:p>
            <a:r>
              <a:rPr lang="en-US" dirty="0"/>
              <a:t>This can be generalized to look or test any feature (donor splice site, acceptor splice site, coding start, </a:t>
            </a:r>
            <a:r>
              <a:rPr lang="en-US"/>
              <a:t>coding stop)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FE3ED-74F8-15DE-3F65-5ADBE284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8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E74E-4BE7-DCDD-CA7B-AC2E50DA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Drawback of PWMs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FADB7-8BC4-DA62-552C-EE4B427BA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PWMs assume statistical independence between positions in the pattern, as the probabilities for each position are calculated independently of other positions.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assumption does not match reality for splice site patterns</a:t>
            </a:r>
          </a:p>
          <a:p>
            <a:endParaRPr lang="en-US" dirty="0"/>
          </a:p>
          <a:p>
            <a:r>
              <a:rPr lang="en-US" dirty="0"/>
              <a:t>Longer correlations are present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A60F6-2593-7D0F-9015-9212932B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62A6-6CF6-33A1-9035-3D601E82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6B95C-02A4-9151-191B-9D8BCD6D1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7948614" cy="50160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Markov chains allow one to quantify correlations in patterns </a:t>
            </a:r>
          </a:p>
          <a:p>
            <a:r>
              <a:rPr lang="en-US" dirty="0"/>
              <a:t>Markov chain or Markov process is a stochastic process describing a sequence of possible events in which the probability of each event depends only on the state attained in the previous event. </a:t>
            </a:r>
          </a:p>
          <a:p>
            <a:r>
              <a:rPr lang="en-US" dirty="0"/>
              <a:t>Informally, this may be thought of as, "What happens next depends only on the state of affairs now." </a:t>
            </a:r>
          </a:p>
          <a:p>
            <a:r>
              <a:rPr lang="en-US" dirty="0"/>
              <a:t>Markov processes are named in honor of the Russian mathematician Andrey Markov.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2BC07-EBC6-D9FC-A9BA-EFB43DB0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806DA-61BA-845C-E315-7F828AE8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44" y="1252578"/>
            <a:ext cx="3362794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5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1F76-B980-0774-3059-8D2F97F54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1362D-6289-93C2-9175-08BB8693B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We will consider Discrete-time Markov Chains</a:t>
            </a:r>
          </a:p>
          <a:p>
            <a:r>
              <a:rPr lang="en-US" dirty="0"/>
              <a:t>A discrete-time Markov chain is a sequence of random variables 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, X</a:t>
            </a:r>
            <a:r>
              <a:rPr lang="en-US" i="1" baseline="-25000" dirty="0"/>
              <a:t>2</a:t>
            </a:r>
            <a:r>
              <a:rPr lang="en-US" i="1" dirty="0"/>
              <a:t>, X</a:t>
            </a:r>
            <a:r>
              <a:rPr lang="en-US" i="1" baseline="-25000" dirty="0"/>
              <a:t>3</a:t>
            </a:r>
            <a:r>
              <a:rPr lang="en-US" i="1" dirty="0"/>
              <a:t>, ... </a:t>
            </a:r>
            <a:r>
              <a:rPr lang="en-US" dirty="0"/>
              <a:t>with the Markov property, namely that the probability the next state depends only on the previous states:</a:t>
            </a:r>
          </a:p>
          <a:p>
            <a:endParaRPr lang="en-US" dirty="0"/>
          </a:p>
          <a:p>
            <a:endParaRPr lang="en-US" i="1" dirty="0"/>
          </a:p>
          <a:p>
            <a:r>
              <a:rPr lang="en-US" i="1" dirty="0"/>
              <a:t>Order</a:t>
            </a:r>
            <a:r>
              <a:rPr lang="en-US" dirty="0"/>
              <a:t> of the Markov chain is equal to the number of the previous states considered to determine the probability of the next state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24010-2C37-2FB8-95A9-C81A412B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420FFC-EA14-08C2-EC8D-168F8162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15" y="3718904"/>
            <a:ext cx="10637587" cy="5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6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BA50-468B-9A7B-2055-9462DED1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F569B-E796-AF0A-70C8-DD40FA3B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03D258-65BC-1899-A9DE-78941C62335D}"/>
              </a:ext>
            </a:extLst>
          </p:cNvPr>
          <p:cNvSpPr/>
          <p:nvPr/>
        </p:nvSpPr>
        <p:spPr>
          <a:xfrm>
            <a:off x="5929084" y="4470400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43DE0B-A74A-1BFE-4832-6070FE0945FB}"/>
              </a:ext>
            </a:extLst>
          </p:cNvPr>
          <p:cNvSpPr/>
          <p:nvPr/>
        </p:nvSpPr>
        <p:spPr>
          <a:xfrm>
            <a:off x="8889999" y="4470400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DAD338-3529-0BA9-BF9D-04D50CC07251}"/>
                  </a:ext>
                </a:extLst>
              </p14:cNvPr>
              <p14:cNvContentPartPr/>
              <p14:nvPr/>
            </p14:nvContentPartPr>
            <p14:xfrm>
              <a:off x="6625662" y="4193440"/>
              <a:ext cx="2343600" cy="47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DAD338-3529-0BA9-BF9D-04D50CC072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9542" y="4187320"/>
                <a:ext cx="23558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6670F-611A-8C09-FC4B-6073AD8420D3}"/>
                  </a:ext>
                </a:extLst>
              </p14:cNvPr>
              <p14:cNvContentPartPr/>
              <p14:nvPr/>
            </p14:nvContentPartPr>
            <p14:xfrm>
              <a:off x="6627102" y="5311960"/>
              <a:ext cx="2502720" cy="40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6670F-611A-8C09-FC4B-6073AD8420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0982" y="5305840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8A6678-029B-DE86-4569-5EB1C2527D45}"/>
                  </a:ext>
                </a:extLst>
              </p14:cNvPr>
              <p14:cNvContentPartPr/>
              <p14:nvPr/>
            </p14:nvContentPartPr>
            <p14:xfrm>
              <a:off x="9687822" y="4339600"/>
              <a:ext cx="1329840" cy="137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8A6678-029B-DE86-4569-5EB1C2527D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1702" y="4333480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18501D-3BFA-1759-BAC7-3D2CCD418F07}"/>
                  </a:ext>
                </a:extLst>
              </p14:cNvPr>
              <p14:cNvContentPartPr/>
              <p14:nvPr/>
            </p14:nvContentPartPr>
            <p14:xfrm>
              <a:off x="4695342" y="4150960"/>
              <a:ext cx="1371600" cy="134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18501D-3BFA-1759-BAC7-3D2CCD418F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9222" y="4144840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BD87FAF-6FC2-ED8F-985E-B67DB59F1172}"/>
              </a:ext>
            </a:extLst>
          </p:cNvPr>
          <p:cNvSpPr txBox="1"/>
          <p:nvPr/>
        </p:nvSpPr>
        <p:spPr>
          <a:xfrm>
            <a:off x="7402050" y="381048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8BEF8-AF42-0D49-94F4-10DEF6780D95}"/>
              </a:ext>
            </a:extLst>
          </p:cNvPr>
          <p:cNvSpPr txBox="1"/>
          <p:nvPr/>
        </p:nvSpPr>
        <p:spPr>
          <a:xfrm>
            <a:off x="7402050" y="58689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B9C477-3A97-9117-F829-B7BEBAA1ED59}"/>
              </a:ext>
            </a:extLst>
          </p:cNvPr>
          <p:cNvSpPr txBox="1"/>
          <p:nvPr/>
        </p:nvSpPr>
        <p:spPr>
          <a:xfrm>
            <a:off x="11017662" y="4822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189685-645B-1507-7902-1342429B1033}"/>
              </a:ext>
            </a:extLst>
          </p:cNvPr>
          <p:cNvSpPr txBox="1"/>
          <p:nvPr/>
        </p:nvSpPr>
        <p:spPr>
          <a:xfrm>
            <a:off x="5142936" y="37816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E1BCD-2B6A-0177-D5DE-D8080229269E}"/>
              </a:ext>
            </a:extLst>
          </p:cNvPr>
          <p:cNvSpPr txBox="1"/>
          <p:nvPr/>
        </p:nvSpPr>
        <p:spPr>
          <a:xfrm>
            <a:off x="5963771" y="2984203"/>
            <a:ext cx="3829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Outgoing probabilities must sum to 1 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50C94E-B231-39D3-72F0-7360E8C5C211}"/>
              </a:ext>
            </a:extLst>
          </p:cNvPr>
          <p:cNvSpPr txBox="1"/>
          <p:nvPr/>
        </p:nvSpPr>
        <p:spPr>
          <a:xfrm>
            <a:off x="586283" y="1654283"/>
            <a:ext cx="415774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Markov model has:</a:t>
            </a:r>
          </a:p>
          <a:p>
            <a:pPr marL="342900" indent="-342900">
              <a:buAutoNum type="arabicPeriod"/>
            </a:pPr>
            <a:r>
              <a:rPr lang="en-US" dirty="0"/>
              <a:t>A set of states</a:t>
            </a:r>
          </a:p>
          <a:p>
            <a:pPr marL="342900" indent="-342900">
              <a:buAutoNum type="arabicPeriod"/>
            </a:pPr>
            <a:r>
              <a:rPr lang="en-US" dirty="0"/>
              <a:t>Transition probabilities between states</a:t>
            </a:r>
          </a:p>
          <a:p>
            <a:pPr marL="342900" indent="-342900">
              <a:buAutoNum type="arabicPeriod"/>
            </a:pPr>
            <a:r>
              <a:rPr lang="en-US" dirty="0"/>
              <a:t>Probabilities of the starting states</a:t>
            </a:r>
          </a:p>
          <a:p>
            <a:endParaRPr lang="en-US" dirty="0"/>
          </a:p>
          <a:p>
            <a:r>
              <a:rPr lang="en-US" dirty="0"/>
              <a:t>Transition probability matrix: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    G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B  0.2  0.8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G  0.5  0.5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Starting probabilities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 = 0.6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(G) = 0.4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Markov walk: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BGGBGBGGGBBGBGGGBGGGGB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04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3951-AC80-E0AF-7E71-92F513EA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4F25-810E-77F3-6390-D68CB56F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51542-F298-E800-5A7F-583812C6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0B7F7D-E6D1-CDC0-7573-3011B9EFF025}"/>
              </a:ext>
            </a:extLst>
          </p:cNvPr>
          <p:cNvSpPr/>
          <p:nvPr/>
        </p:nvSpPr>
        <p:spPr>
          <a:xfrm>
            <a:off x="5929084" y="4470400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546F05-01AA-5B5D-4865-8108599C1BE2}"/>
              </a:ext>
            </a:extLst>
          </p:cNvPr>
          <p:cNvSpPr/>
          <p:nvPr/>
        </p:nvSpPr>
        <p:spPr>
          <a:xfrm>
            <a:off x="8889999" y="4470400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3B430CC-7913-8DB9-558C-B915C5076B41}"/>
                  </a:ext>
                </a:extLst>
              </p14:cNvPr>
              <p14:cNvContentPartPr/>
              <p14:nvPr/>
            </p14:nvContentPartPr>
            <p14:xfrm>
              <a:off x="6625662" y="4193440"/>
              <a:ext cx="2343600" cy="47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3B430CC-7913-8DB9-558C-B915C5076B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9541" y="4187320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5DF799E-9A78-C13D-0FAE-3923EBFB3ACD}"/>
                  </a:ext>
                </a:extLst>
              </p14:cNvPr>
              <p14:cNvContentPartPr/>
              <p14:nvPr/>
            </p14:nvContentPartPr>
            <p14:xfrm>
              <a:off x="6627102" y="5311960"/>
              <a:ext cx="2502720" cy="40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5DF799E-9A78-C13D-0FAE-3923EBFB3A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0982" y="5305840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8F5AAF6-B8A3-793B-DE8E-A6183F15A5AB}"/>
                  </a:ext>
                </a:extLst>
              </p14:cNvPr>
              <p14:cNvContentPartPr/>
              <p14:nvPr/>
            </p14:nvContentPartPr>
            <p14:xfrm>
              <a:off x="9687822" y="4339600"/>
              <a:ext cx="1329840" cy="137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8F5AAF6-B8A3-793B-DE8E-A6183F15A5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1702" y="4333480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4EF1FF-E8E6-1E6A-664C-820698237A8A}"/>
                  </a:ext>
                </a:extLst>
              </p14:cNvPr>
              <p14:cNvContentPartPr/>
              <p14:nvPr/>
            </p14:nvContentPartPr>
            <p14:xfrm>
              <a:off x="4695342" y="4150960"/>
              <a:ext cx="1371600" cy="134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4EF1FF-E8E6-1E6A-664C-820698237A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9222" y="4144840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317E113-FCA7-ECBF-6138-7A52B1DE4079}"/>
              </a:ext>
            </a:extLst>
          </p:cNvPr>
          <p:cNvSpPr txBox="1"/>
          <p:nvPr/>
        </p:nvSpPr>
        <p:spPr>
          <a:xfrm>
            <a:off x="7402050" y="381048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A37D2-51DA-8187-9EE3-88D52DCC9B06}"/>
              </a:ext>
            </a:extLst>
          </p:cNvPr>
          <p:cNvSpPr txBox="1"/>
          <p:nvPr/>
        </p:nvSpPr>
        <p:spPr>
          <a:xfrm>
            <a:off x="7402050" y="58689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AE215-EF32-3CE4-F086-4B0768385BE0}"/>
              </a:ext>
            </a:extLst>
          </p:cNvPr>
          <p:cNvSpPr txBox="1"/>
          <p:nvPr/>
        </p:nvSpPr>
        <p:spPr>
          <a:xfrm>
            <a:off x="11017662" y="4822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62830-B416-A51B-C17A-CEB45657B88F}"/>
              </a:ext>
            </a:extLst>
          </p:cNvPr>
          <p:cNvSpPr txBox="1"/>
          <p:nvPr/>
        </p:nvSpPr>
        <p:spPr>
          <a:xfrm>
            <a:off x="5142936" y="37816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B80CD-B586-BD85-55F4-B87AF6C1ED9C}"/>
              </a:ext>
            </a:extLst>
          </p:cNvPr>
          <p:cNvSpPr txBox="1"/>
          <p:nvPr/>
        </p:nvSpPr>
        <p:spPr>
          <a:xfrm>
            <a:off x="586283" y="1654283"/>
            <a:ext cx="8465972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any observed walk we can compute probability that this process generated the walk: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(BGGB)=0.6*0.8*0.5*0.5=0.072</a:t>
            </a:r>
          </a:p>
          <a:p>
            <a:r>
              <a:rPr lang="en-US" b="1" dirty="0">
                <a:cs typeface="Courier New" panose="02070309020205020404" pitchFamily="49" charset="0"/>
              </a:rPr>
              <a:t>How is this probability useful?</a:t>
            </a:r>
            <a:br>
              <a:rPr lang="en-US" b="1" dirty="0">
                <a:cs typeface="Courier New" panose="02070309020205020404" pitchFamily="49" charset="0"/>
              </a:rPr>
            </a:br>
            <a:r>
              <a:rPr lang="en-US" b="1" dirty="0">
                <a:cs typeface="Courier New" panose="02070309020205020404" pitchFamily="49" charset="0"/>
              </a:rPr>
              <a:t>We can use it to distinguish between two Markov Processes!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Transition probability matrix: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    G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B  0.2  0.8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G  0.5  0.5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Starting probabilities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 = 0.6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(G) = 0.4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951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DB58-5975-353D-CB08-0FC3DD95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0F31-EBCD-DC70-4601-DDF90F2E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A7543-0014-71FC-3CDF-C721ED84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113835-B715-C26D-59BD-226355604F30}"/>
              </a:ext>
            </a:extLst>
          </p:cNvPr>
          <p:cNvSpPr/>
          <p:nvPr/>
        </p:nvSpPr>
        <p:spPr>
          <a:xfrm>
            <a:off x="6627010" y="3730865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0C92F4-0F58-11B9-09E6-9D718E0BB8A3}"/>
              </a:ext>
            </a:extLst>
          </p:cNvPr>
          <p:cNvSpPr/>
          <p:nvPr/>
        </p:nvSpPr>
        <p:spPr>
          <a:xfrm>
            <a:off x="9587925" y="3730865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329504-1DD8-B0FE-2E48-0624DA49FD91}"/>
                  </a:ext>
                </a:extLst>
              </p14:cNvPr>
              <p14:cNvContentPartPr/>
              <p14:nvPr/>
            </p14:nvContentPartPr>
            <p14:xfrm>
              <a:off x="7323588" y="3453905"/>
              <a:ext cx="2343600" cy="47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329504-1DD8-B0FE-2E48-0624DA49FD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17467" y="3447785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951C65E-4C4F-A642-FD4F-C6D5BAF44BC0}"/>
                  </a:ext>
                </a:extLst>
              </p14:cNvPr>
              <p14:cNvContentPartPr/>
              <p14:nvPr/>
            </p14:nvContentPartPr>
            <p14:xfrm>
              <a:off x="7325028" y="4572425"/>
              <a:ext cx="2502720" cy="40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951C65E-4C4F-A642-FD4F-C6D5BAF44B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8908" y="4566305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6005D0E-8097-AB66-8EEA-D8268287C0D2}"/>
                  </a:ext>
                </a:extLst>
              </p14:cNvPr>
              <p14:cNvContentPartPr/>
              <p14:nvPr/>
            </p14:nvContentPartPr>
            <p14:xfrm>
              <a:off x="10385748" y="3600065"/>
              <a:ext cx="1329840" cy="137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6005D0E-8097-AB66-8EEA-D8268287C0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9628" y="3593945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5B48FB-5374-575D-AF20-9027723CA999}"/>
                  </a:ext>
                </a:extLst>
              </p14:cNvPr>
              <p14:cNvContentPartPr/>
              <p14:nvPr/>
            </p14:nvContentPartPr>
            <p14:xfrm>
              <a:off x="5393268" y="3411425"/>
              <a:ext cx="1371600" cy="134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5B48FB-5374-575D-AF20-9027723CA9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87148" y="3405305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1A913AE-D55F-950A-FACB-994181B8AF4A}"/>
              </a:ext>
            </a:extLst>
          </p:cNvPr>
          <p:cNvSpPr txBox="1"/>
          <p:nvPr/>
        </p:nvSpPr>
        <p:spPr>
          <a:xfrm>
            <a:off x="8099976" y="307095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D6A795-49A8-5F69-E841-445E6BCEA305}"/>
              </a:ext>
            </a:extLst>
          </p:cNvPr>
          <p:cNvSpPr txBox="1"/>
          <p:nvPr/>
        </p:nvSpPr>
        <p:spPr>
          <a:xfrm>
            <a:off x="8099976" y="512939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EA50E-9CC2-7B9E-3024-49DD7B9CD199}"/>
              </a:ext>
            </a:extLst>
          </p:cNvPr>
          <p:cNvSpPr txBox="1"/>
          <p:nvPr/>
        </p:nvSpPr>
        <p:spPr>
          <a:xfrm>
            <a:off x="11715588" y="408336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15ED56-5F6A-053C-CAC6-C35D01BEEF9F}"/>
              </a:ext>
            </a:extLst>
          </p:cNvPr>
          <p:cNvSpPr txBox="1"/>
          <p:nvPr/>
        </p:nvSpPr>
        <p:spPr>
          <a:xfrm>
            <a:off x="5840862" y="30420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94BA7D-F776-4BF8-E677-A0F6BD73892D}"/>
              </a:ext>
            </a:extLst>
          </p:cNvPr>
          <p:cNvSpPr txBox="1"/>
          <p:nvPr/>
        </p:nvSpPr>
        <p:spPr>
          <a:xfrm>
            <a:off x="586283" y="1654283"/>
            <a:ext cx="54836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Process 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(BGGB)=0.6*0.8*0.5*0.5=0.072</a:t>
            </a:r>
          </a:p>
          <a:p>
            <a:r>
              <a:rPr lang="en-US" dirty="0">
                <a:cs typeface="Courier New" panose="02070309020205020404" pitchFamily="49" charset="0"/>
              </a:rPr>
              <a:t>Process 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(BGGB)=0.5*0.5*0.5*0.5=0.0625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Process A is more likely!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86C4D9-A4BF-3ACC-9AD4-5FAFF3380081}"/>
              </a:ext>
            </a:extLst>
          </p:cNvPr>
          <p:cNvSpPr/>
          <p:nvPr/>
        </p:nvSpPr>
        <p:spPr>
          <a:xfrm>
            <a:off x="1477281" y="5129390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46441C-F392-A1D1-463F-BCE3C903679F}"/>
              </a:ext>
            </a:extLst>
          </p:cNvPr>
          <p:cNvSpPr/>
          <p:nvPr/>
        </p:nvSpPr>
        <p:spPr>
          <a:xfrm>
            <a:off x="4438196" y="5129390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927AD2-475D-60EA-9294-9FD2D429DD6D}"/>
                  </a:ext>
                </a:extLst>
              </p14:cNvPr>
              <p14:cNvContentPartPr/>
              <p14:nvPr/>
            </p14:nvContentPartPr>
            <p14:xfrm>
              <a:off x="2173859" y="4852430"/>
              <a:ext cx="2343600" cy="472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927AD2-475D-60EA-9294-9FD2D429DD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7738" y="4846310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2C0C83D-57FC-39B6-FF1B-31AB71CBDD14}"/>
                  </a:ext>
                </a:extLst>
              </p14:cNvPr>
              <p14:cNvContentPartPr/>
              <p14:nvPr/>
            </p14:nvContentPartPr>
            <p14:xfrm>
              <a:off x="2175299" y="5970950"/>
              <a:ext cx="2502720" cy="400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2C0C83D-57FC-39B6-FF1B-31AB71CBDD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9179" y="5964830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C9F6E6C-13D4-0E79-7A93-FEA024F8D1F2}"/>
                  </a:ext>
                </a:extLst>
              </p14:cNvPr>
              <p14:cNvContentPartPr/>
              <p14:nvPr/>
            </p14:nvContentPartPr>
            <p14:xfrm>
              <a:off x="5236019" y="4998590"/>
              <a:ext cx="1329840" cy="137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C9F6E6C-13D4-0E79-7A93-FEA024F8D1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29899" y="4992470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85D91A-D6E9-1E84-0338-6645A2494CD2}"/>
                  </a:ext>
                </a:extLst>
              </p14:cNvPr>
              <p14:cNvContentPartPr/>
              <p14:nvPr/>
            </p14:nvContentPartPr>
            <p14:xfrm>
              <a:off x="243539" y="4809950"/>
              <a:ext cx="1371600" cy="1343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85D91A-D6E9-1E84-0338-6645A2494C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7419" y="4803830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661DD2A-651A-E504-B6B9-053C3968D40C}"/>
              </a:ext>
            </a:extLst>
          </p:cNvPr>
          <p:cNvSpPr txBox="1"/>
          <p:nvPr/>
        </p:nvSpPr>
        <p:spPr>
          <a:xfrm>
            <a:off x="2950247" y="446947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8E3D20-DE82-E221-FC04-FFF6D9126165}"/>
              </a:ext>
            </a:extLst>
          </p:cNvPr>
          <p:cNvSpPr txBox="1"/>
          <p:nvPr/>
        </p:nvSpPr>
        <p:spPr>
          <a:xfrm>
            <a:off x="2950247" y="652791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701581-6B4A-D1BC-1234-12A7EE2E6F44}"/>
              </a:ext>
            </a:extLst>
          </p:cNvPr>
          <p:cNvSpPr txBox="1"/>
          <p:nvPr/>
        </p:nvSpPr>
        <p:spPr>
          <a:xfrm>
            <a:off x="6565859" y="548189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B85F7D-5A78-6D05-4A5E-C13E3A42E381}"/>
              </a:ext>
            </a:extLst>
          </p:cNvPr>
          <p:cNvSpPr txBox="1"/>
          <p:nvPr/>
        </p:nvSpPr>
        <p:spPr>
          <a:xfrm>
            <a:off x="691133" y="444061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668653-37D0-3DD2-1788-64D10F0F1F04}"/>
              </a:ext>
            </a:extLst>
          </p:cNvPr>
          <p:cNvSpPr txBox="1"/>
          <p:nvPr/>
        </p:nvSpPr>
        <p:spPr>
          <a:xfrm>
            <a:off x="6317274" y="2738760"/>
            <a:ext cx="507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A: Starting probabilities </a:t>
            </a:r>
            <a:r>
              <a:rPr lang="en-US" dirty="0" err="1"/>
              <a:t>Pr</a:t>
            </a:r>
            <a:r>
              <a:rPr lang="en-US" dirty="0"/>
              <a:t>(B)=0.6, </a:t>
            </a:r>
            <a:r>
              <a:rPr lang="en-US" dirty="0" err="1"/>
              <a:t>Pr</a:t>
            </a:r>
            <a:r>
              <a:rPr lang="en-US" dirty="0"/>
              <a:t>(G)=0.4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B7DEF5-589C-BED9-D558-419B038A9C43}"/>
              </a:ext>
            </a:extLst>
          </p:cNvPr>
          <p:cNvSpPr txBox="1"/>
          <p:nvPr/>
        </p:nvSpPr>
        <p:spPr>
          <a:xfrm>
            <a:off x="347037" y="4176790"/>
            <a:ext cx="507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B: Starting probabilities </a:t>
            </a:r>
            <a:r>
              <a:rPr lang="en-US" dirty="0" err="1"/>
              <a:t>Pr</a:t>
            </a:r>
            <a:r>
              <a:rPr lang="en-US" dirty="0"/>
              <a:t>(B)=0.5, </a:t>
            </a:r>
            <a:r>
              <a:rPr lang="en-US" dirty="0" err="1"/>
              <a:t>Pr</a:t>
            </a:r>
            <a:r>
              <a:rPr lang="en-US" dirty="0"/>
              <a:t>(G)=0.5</a:t>
            </a:r>
          </a:p>
        </p:txBody>
      </p:sp>
    </p:spTree>
    <p:extLst>
      <p:ext uri="{BB962C8B-B14F-4D97-AF65-F5344CB8AC3E}">
        <p14:creationId xmlns:p14="http://schemas.microsoft.com/office/powerpoint/2010/main" val="1007581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1830-2F22-BD90-EAE8-288CE00F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E52E-C178-5C96-DEF5-6B9A6F59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Training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CE8A-8961-BF4E-40DE-A60A651A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Training Markov chain involves estimating transition probability matrix from the data under a given model</a:t>
            </a:r>
          </a:p>
          <a:p>
            <a:r>
              <a:rPr lang="en-US" dirty="0"/>
              <a:t>Consider 1</a:t>
            </a:r>
            <a:r>
              <a:rPr lang="en-US" baseline="30000" dirty="0"/>
              <a:t>st</a:t>
            </a:r>
            <a:r>
              <a:rPr lang="en-US" dirty="0"/>
              <a:t> order Markov chain for DNA.  The probability of the next letter depends only on the previous letter in the pattern</a:t>
            </a:r>
          </a:p>
          <a:p>
            <a:r>
              <a:rPr lang="en-US" dirty="0"/>
              <a:t>One can estimate transition probabilities by counting all tuples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dirty="0"/>
              <a:t>=(“AA”,”AC”,”AG”,”AT”,”CA”,....,”TT”) in the DNA data, and dividing the count of each tuple starting with A, C, G, T by the total number of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dirty="0"/>
              <a:t> starting with A, C, G and 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To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      A     C    G    T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A   .1    .4   .4   .1</a:t>
            </a:r>
            <a:br>
              <a:rPr lang="en-US" dirty="0"/>
            </a:br>
            <a:r>
              <a:rPr lang="en-US" dirty="0"/>
              <a:t>                                                                                    From      C   .2    .2   .3   .3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G   .4    .4   .1   .1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T    .5    .1   .2   .2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rows must add up to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D7956-B3FD-B407-50A8-4BC58896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D88730-55CE-1903-FE19-C1BBC06C1308}"/>
              </a:ext>
            </a:extLst>
          </p:cNvPr>
          <p:cNvSpPr/>
          <p:nvPr/>
        </p:nvSpPr>
        <p:spPr>
          <a:xfrm>
            <a:off x="3012707" y="42928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1674E9-B7A4-E483-C0E4-1A2493297659}"/>
              </a:ext>
            </a:extLst>
          </p:cNvPr>
          <p:cNvSpPr/>
          <p:nvPr/>
        </p:nvSpPr>
        <p:spPr>
          <a:xfrm>
            <a:off x="4945780" y="42928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6E1422-10F4-B173-60AD-CC5AAD789030}"/>
              </a:ext>
            </a:extLst>
          </p:cNvPr>
          <p:cNvSpPr/>
          <p:nvPr/>
        </p:nvSpPr>
        <p:spPr>
          <a:xfrm>
            <a:off x="3012706" y="5638799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F1BB44-55C3-790B-8096-680B2C6C3776}"/>
              </a:ext>
            </a:extLst>
          </p:cNvPr>
          <p:cNvSpPr/>
          <p:nvPr/>
        </p:nvSpPr>
        <p:spPr>
          <a:xfrm>
            <a:off x="4945779" y="5638799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530CA4-291D-38A6-389D-70042A9E178C}"/>
              </a:ext>
            </a:extLst>
          </p:cNvPr>
          <p:cNvCxnSpPr>
            <a:cxnSpLocks/>
          </p:cNvCxnSpPr>
          <p:nvPr/>
        </p:nvCxnSpPr>
        <p:spPr>
          <a:xfrm>
            <a:off x="3647975" y="4629751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E1B286-7046-5E13-08D3-A3A9851766F4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3497432" y="4769377"/>
            <a:ext cx="1531513" cy="95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809807-A0AC-755E-BA42-837D89BA896B}"/>
              </a:ext>
            </a:extLst>
          </p:cNvPr>
          <p:cNvCxnSpPr>
            <a:cxnSpLocks/>
          </p:cNvCxnSpPr>
          <p:nvPr/>
        </p:nvCxnSpPr>
        <p:spPr>
          <a:xfrm>
            <a:off x="3158109" y="4851133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F949105-0B45-D33B-883D-5C2A583F7E38}"/>
                  </a:ext>
                </a:extLst>
              </p14:cNvPr>
              <p14:cNvContentPartPr/>
              <p14:nvPr/>
            </p14:nvContentPartPr>
            <p14:xfrm>
              <a:off x="2482029" y="4051326"/>
              <a:ext cx="676080" cy="72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F949105-0B45-D33B-883D-5C2A583F7E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5909" y="4045206"/>
                <a:ext cx="68832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B51CC2-844B-F65A-331D-E5AAC5DDE0F5}"/>
              </a:ext>
            </a:extLst>
          </p:cNvPr>
          <p:cNvCxnSpPr>
            <a:cxnSpLocks/>
          </p:cNvCxnSpPr>
          <p:nvPr/>
        </p:nvCxnSpPr>
        <p:spPr>
          <a:xfrm flipH="1">
            <a:off x="3647975" y="4494998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C22E34-9B1A-6FF9-6722-C167D1206891}"/>
              </a:ext>
            </a:extLst>
          </p:cNvPr>
          <p:cNvCxnSpPr>
            <a:cxnSpLocks/>
          </p:cNvCxnSpPr>
          <p:nvPr/>
        </p:nvCxnSpPr>
        <p:spPr>
          <a:xfrm>
            <a:off x="3647975" y="5966059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AB1EB7-16F2-4116-B746-63ED3F3884C1}"/>
              </a:ext>
            </a:extLst>
          </p:cNvPr>
          <p:cNvCxnSpPr>
            <a:cxnSpLocks/>
          </p:cNvCxnSpPr>
          <p:nvPr/>
        </p:nvCxnSpPr>
        <p:spPr>
          <a:xfrm flipH="1">
            <a:off x="3647975" y="5831306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97A8D2-5B10-8B5C-2225-A87F6194982F}"/>
              </a:ext>
            </a:extLst>
          </p:cNvPr>
          <p:cNvCxnSpPr>
            <a:cxnSpLocks/>
          </p:cNvCxnSpPr>
          <p:nvPr/>
        </p:nvCxnSpPr>
        <p:spPr>
          <a:xfrm flipV="1">
            <a:off x="3368842" y="4851133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0613DD-C423-8427-5E95-70334430298D}"/>
              </a:ext>
            </a:extLst>
          </p:cNvPr>
          <p:cNvCxnSpPr>
            <a:cxnSpLocks/>
          </p:cNvCxnSpPr>
          <p:nvPr/>
        </p:nvCxnSpPr>
        <p:spPr>
          <a:xfrm>
            <a:off x="5110734" y="4851133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846A1B-05DF-02B3-5569-A3A9C1CECF20}"/>
              </a:ext>
            </a:extLst>
          </p:cNvPr>
          <p:cNvCxnSpPr>
            <a:cxnSpLocks/>
          </p:cNvCxnSpPr>
          <p:nvPr/>
        </p:nvCxnSpPr>
        <p:spPr>
          <a:xfrm flipV="1">
            <a:off x="5321467" y="4851133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3CB235E-5115-5714-4CFE-743E54F28F07}"/>
                  </a:ext>
                </a:extLst>
              </p14:cNvPr>
              <p14:cNvContentPartPr/>
              <p14:nvPr/>
            </p14:nvContentPartPr>
            <p14:xfrm rot="8239620">
              <a:off x="5477077" y="4039666"/>
              <a:ext cx="676080" cy="72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3CB235E-5115-5714-4CFE-743E54F28F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8239620">
                <a:off x="5470957" y="4033546"/>
                <a:ext cx="688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613518A-7DB2-48FB-6968-443E937B063A}"/>
                  </a:ext>
                </a:extLst>
              </p14:cNvPr>
              <p14:cNvContentPartPr/>
              <p14:nvPr/>
            </p14:nvContentPartPr>
            <p14:xfrm rot="18253453">
              <a:off x="2427902" y="5830613"/>
              <a:ext cx="676080" cy="72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613518A-7DB2-48FB-6968-443E937B06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8253453">
                <a:off x="2421782" y="5824493"/>
                <a:ext cx="688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9FAC484-E233-B2DC-7236-C3766353B3B8}"/>
                  </a:ext>
                </a:extLst>
              </p14:cNvPr>
              <p14:cNvContentPartPr/>
              <p14:nvPr/>
            </p14:nvContentPartPr>
            <p14:xfrm rot="11019232">
              <a:off x="5397562" y="5874122"/>
              <a:ext cx="676080" cy="723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9FAC484-E233-B2DC-7236-C3766353B3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1019232">
                <a:off x="5391442" y="5868002"/>
                <a:ext cx="68832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CF8FDB-9316-7911-73BB-1103E226018A}"/>
              </a:ext>
            </a:extLst>
          </p:cNvPr>
          <p:cNvCxnSpPr>
            <a:cxnSpLocks/>
          </p:cNvCxnSpPr>
          <p:nvPr/>
        </p:nvCxnSpPr>
        <p:spPr>
          <a:xfrm flipH="1" flipV="1">
            <a:off x="3497432" y="4896290"/>
            <a:ext cx="1398592" cy="87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B94326-5DF3-E91F-2C87-131B174A124A}"/>
              </a:ext>
            </a:extLst>
          </p:cNvPr>
          <p:cNvCxnSpPr>
            <a:cxnSpLocks/>
          </p:cNvCxnSpPr>
          <p:nvPr/>
        </p:nvCxnSpPr>
        <p:spPr>
          <a:xfrm flipV="1">
            <a:off x="3611205" y="4780724"/>
            <a:ext cx="1284819" cy="90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BFF766-5FE9-0276-534A-876E4A9322B2}"/>
              </a:ext>
            </a:extLst>
          </p:cNvPr>
          <p:cNvCxnSpPr>
            <a:cxnSpLocks/>
          </p:cNvCxnSpPr>
          <p:nvPr/>
        </p:nvCxnSpPr>
        <p:spPr>
          <a:xfrm flipH="1">
            <a:off x="3630352" y="4904130"/>
            <a:ext cx="1315427" cy="86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66C14CA-88FE-1B7F-478F-6E161B35006D}"/>
              </a:ext>
            </a:extLst>
          </p:cNvPr>
          <p:cNvCxnSpPr>
            <a:cxnSpLocks/>
          </p:cNvCxnSpPr>
          <p:nvPr/>
        </p:nvCxnSpPr>
        <p:spPr>
          <a:xfrm>
            <a:off x="7325736" y="4769377"/>
            <a:ext cx="2404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E53995-9AB7-7CAF-24E4-BC605C1D4478}"/>
              </a:ext>
            </a:extLst>
          </p:cNvPr>
          <p:cNvCxnSpPr>
            <a:cxnSpLocks/>
          </p:cNvCxnSpPr>
          <p:nvPr/>
        </p:nvCxnSpPr>
        <p:spPr>
          <a:xfrm>
            <a:off x="7732947" y="4351347"/>
            <a:ext cx="0" cy="1614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95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4562-32A5-47EA-41DF-D9039FF1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983D-5AB3-5723-9340-BBD4D5C4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Scoring with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4D584-A877-B46B-2BDD-8844F77B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/>
          </a:bodyPr>
          <a:lstStyle/>
          <a:p>
            <a:r>
              <a:rPr lang="en-US" dirty="0"/>
              <a:t>Imagine sequence AGCG, all starting probabilities are equal to 0.25.  Its probability under this Markov model is P = 0.25*0.4*0.4*0.5</a:t>
            </a:r>
          </a:p>
          <a:p>
            <a:r>
              <a:rPr lang="en-US" dirty="0"/>
              <a:t>You can compare probabilities between different Markov chain models to see which model is more likely to have generated the pattern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To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A     C    G    T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A   .1    .4   .4   .1</a:t>
            </a:r>
            <a:br>
              <a:rPr lang="en-US" dirty="0"/>
            </a:br>
            <a:r>
              <a:rPr lang="en-US" dirty="0"/>
              <a:t>                                                                       From      C   .2    .2   .3   .3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G   .4    .4   .1   .1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T    .5    .1   .2   .2</a:t>
            </a:r>
            <a:br>
              <a:rPr lang="en-US" dirty="0"/>
            </a:br>
            <a:r>
              <a:rPr lang="en-US" dirty="0"/>
              <a:t>                                                                                  rows must add up to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D4E3-FB67-AB3C-18D7-C21E0ED2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12A8A2-7B59-9583-E70B-A8BBD1DB760D}"/>
              </a:ext>
            </a:extLst>
          </p:cNvPr>
          <p:cNvSpPr/>
          <p:nvPr/>
        </p:nvSpPr>
        <p:spPr>
          <a:xfrm>
            <a:off x="1867167" y="4095543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9FAF67-3970-E829-844D-FFB7DDFBE3BF}"/>
              </a:ext>
            </a:extLst>
          </p:cNvPr>
          <p:cNvSpPr/>
          <p:nvPr/>
        </p:nvSpPr>
        <p:spPr>
          <a:xfrm>
            <a:off x="3800240" y="4095543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C1D808-FD07-ECC4-51C1-161FE711A8EC}"/>
              </a:ext>
            </a:extLst>
          </p:cNvPr>
          <p:cNvSpPr/>
          <p:nvPr/>
        </p:nvSpPr>
        <p:spPr>
          <a:xfrm>
            <a:off x="1867166" y="5441475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840975-F43F-D221-DAF2-3FA3E262660F}"/>
              </a:ext>
            </a:extLst>
          </p:cNvPr>
          <p:cNvSpPr/>
          <p:nvPr/>
        </p:nvSpPr>
        <p:spPr>
          <a:xfrm>
            <a:off x="3800239" y="5441475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3E9D12-5D8A-018F-F65A-CF780E368CE3}"/>
              </a:ext>
            </a:extLst>
          </p:cNvPr>
          <p:cNvCxnSpPr>
            <a:cxnSpLocks/>
          </p:cNvCxnSpPr>
          <p:nvPr/>
        </p:nvCxnSpPr>
        <p:spPr>
          <a:xfrm>
            <a:off x="2502435" y="4432427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2E4DC2-8C6E-BE9B-7D9A-EAAB4CEAE969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2351892" y="4572053"/>
            <a:ext cx="1531513" cy="95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B5E933-91BB-5398-BDBA-1A49671895DF}"/>
              </a:ext>
            </a:extLst>
          </p:cNvPr>
          <p:cNvCxnSpPr>
            <a:cxnSpLocks/>
          </p:cNvCxnSpPr>
          <p:nvPr/>
        </p:nvCxnSpPr>
        <p:spPr>
          <a:xfrm>
            <a:off x="2012569" y="4653809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564B40-3474-D2D5-A753-80979674E91C}"/>
                  </a:ext>
                </a:extLst>
              </p14:cNvPr>
              <p14:cNvContentPartPr/>
              <p14:nvPr/>
            </p14:nvContentPartPr>
            <p14:xfrm>
              <a:off x="1336489" y="3854002"/>
              <a:ext cx="676080" cy="72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564B40-3474-D2D5-A753-80979674E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366" y="3847885"/>
                <a:ext cx="688327" cy="735474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096DD1-4E22-73D8-B014-16FA7D8EC284}"/>
              </a:ext>
            </a:extLst>
          </p:cNvPr>
          <p:cNvCxnSpPr>
            <a:cxnSpLocks/>
          </p:cNvCxnSpPr>
          <p:nvPr/>
        </p:nvCxnSpPr>
        <p:spPr>
          <a:xfrm flipH="1">
            <a:off x="2502435" y="4297674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ACC0FA-F7DD-F775-B632-6C806D860BEE}"/>
              </a:ext>
            </a:extLst>
          </p:cNvPr>
          <p:cNvCxnSpPr>
            <a:cxnSpLocks/>
          </p:cNvCxnSpPr>
          <p:nvPr/>
        </p:nvCxnSpPr>
        <p:spPr>
          <a:xfrm>
            <a:off x="2502435" y="5768735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70B382-BE0B-77CE-FB18-C76AA0235664}"/>
              </a:ext>
            </a:extLst>
          </p:cNvPr>
          <p:cNvCxnSpPr>
            <a:cxnSpLocks/>
          </p:cNvCxnSpPr>
          <p:nvPr/>
        </p:nvCxnSpPr>
        <p:spPr>
          <a:xfrm flipH="1">
            <a:off x="2502435" y="5633982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E98C20-80EC-AF53-2F19-3814E32D310B}"/>
              </a:ext>
            </a:extLst>
          </p:cNvPr>
          <p:cNvCxnSpPr>
            <a:cxnSpLocks/>
          </p:cNvCxnSpPr>
          <p:nvPr/>
        </p:nvCxnSpPr>
        <p:spPr>
          <a:xfrm flipV="1">
            <a:off x="2223302" y="4653809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27F4A9-E0E1-88FE-188E-D61674976C5D}"/>
              </a:ext>
            </a:extLst>
          </p:cNvPr>
          <p:cNvCxnSpPr>
            <a:cxnSpLocks/>
          </p:cNvCxnSpPr>
          <p:nvPr/>
        </p:nvCxnSpPr>
        <p:spPr>
          <a:xfrm>
            <a:off x="3965194" y="4653809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8DF921-36C7-DB95-9BA8-5A737AA962BA}"/>
              </a:ext>
            </a:extLst>
          </p:cNvPr>
          <p:cNvCxnSpPr>
            <a:cxnSpLocks/>
          </p:cNvCxnSpPr>
          <p:nvPr/>
        </p:nvCxnSpPr>
        <p:spPr>
          <a:xfrm flipV="1">
            <a:off x="4175927" y="4653809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99367F5-72F6-1F10-94D1-AC3562320F55}"/>
                  </a:ext>
                </a:extLst>
              </p14:cNvPr>
              <p14:cNvContentPartPr/>
              <p14:nvPr/>
            </p14:nvContentPartPr>
            <p14:xfrm rot="8239620">
              <a:off x="4331537" y="3842342"/>
              <a:ext cx="676080" cy="72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99367F5-72F6-1F10-94D1-AC3562320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8239620">
                <a:off x="4325414" y="3836225"/>
                <a:ext cx="688327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243284D-89D7-C818-5E11-F04932EF5D6A}"/>
                  </a:ext>
                </a:extLst>
              </p14:cNvPr>
              <p14:cNvContentPartPr/>
              <p14:nvPr/>
            </p14:nvContentPartPr>
            <p14:xfrm rot="18253453">
              <a:off x="1282362" y="5633289"/>
              <a:ext cx="676080" cy="72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243284D-89D7-C818-5E11-F04932EF5D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8253453">
                <a:off x="1276239" y="5627172"/>
                <a:ext cx="688327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339E501-BD7A-3E1A-04A5-09336F8EBFB5}"/>
                  </a:ext>
                </a:extLst>
              </p14:cNvPr>
              <p14:cNvContentPartPr/>
              <p14:nvPr/>
            </p14:nvContentPartPr>
            <p14:xfrm rot="11019232">
              <a:off x="4252022" y="5676798"/>
              <a:ext cx="676080" cy="723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339E501-BD7A-3E1A-04A5-09336F8EBF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1019232">
                <a:off x="4245899" y="5670681"/>
                <a:ext cx="688327" cy="735474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668BCA-890A-21E9-D316-C0E0CE0A80B4}"/>
              </a:ext>
            </a:extLst>
          </p:cNvPr>
          <p:cNvCxnSpPr>
            <a:cxnSpLocks/>
          </p:cNvCxnSpPr>
          <p:nvPr/>
        </p:nvCxnSpPr>
        <p:spPr>
          <a:xfrm flipH="1" flipV="1">
            <a:off x="2351892" y="4698966"/>
            <a:ext cx="1398592" cy="87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4D845D-58C7-6C13-D3CC-07B54692751A}"/>
              </a:ext>
            </a:extLst>
          </p:cNvPr>
          <p:cNvCxnSpPr>
            <a:cxnSpLocks/>
          </p:cNvCxnSpPr>
          <p:nvPr/>
        </p:nvCxnSpPr>
        <p:spPr>
          <a:xfrm flipV="1">
            <a:off x="2465665" y="4583400"/>
            <a:ext cx="1284819" cy="90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79EF97-00D7-8D08-8121-C77B5B81D10E}"/>
              </a:ext>
            </a:extLst>
          </p:cNvPr>
          <p:cNvCxnSpPr>
            <a:cxnSpLocks/>
          </p:cNvCxnSpPr>
          <p:nvPr/>
        </p:nvCxnSpPr>
        <p:spPr>
          <a:xfrm flipH="1">
            <a:off x="2484812" y="4706806"/>
            <a:ext cx="1315427" cy="86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188676-2728-DB3A-865C-39C679CB1E25}"/>
              </a:ext>
            </a:extLst>
          </p:cNvPr>
          <p:cNvCxnSpPr/>
          <p:nvPr/>
        </p:nvCxnSpPr>
        <p:spPr>
          <a:xfrm flipV="1">
            <a:off x="7945438" y="4301631"/>
            <a:ext cx="2657475" cy="11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BE28165-703F-50B1-AFFE-6326C6E7A967}"/>
              </a:ext>
            </a:extLst>
          </p:cNvPr>
          <p:cNvCxnSpPr>
            <a:cxnSpLocks/>
          </p:cNvCxnSpPr>
          <p:nvPr/>
        </p:nvCxnSpPr>
        <p:spPr>
          <a:xfrm>
            <a:off x="8312970" y="3939668"/>
            <a:ext cx="0" cy="1978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257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37D8-7DD7-C7AD-D3ED-0A62003E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Markov Weight Array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E0587-976A-8645-BAF8-D412EA4D0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Weight Array Matrix is a specific kind of Markov chain model that incorporates </a:t>
            </a:r>
            <a:r>
              <a:rPr lang="en-US" b="1" dirty="0"/>
              <a:t>positions</a:t>
            </a:r>
            <a:r>
              <a:rPr lang="en-US" dirty="0"/>
              <a:t> within the pattern</a:t>
            </a:r>
          </a:p>
          <a:p>
            <a:endParaRPr lang="en-US" dirty="0"/>
          </a:p>
          <a:p>
            <a:r>
              <a:rPr lang="en-US" dirty="0"/>
              <a:t>WAM works better than PWM in scoring patterns because it incorporates Markov chain transition probabilities</a:t>
            </a:r>
          </a:p>
          <a:p>
            <a:endParaRPr lang="en-US" dirty="0"/>
          </a:p>
          <a:p>
            <a:r>
              <a:rPr lang="en-US" dirty="0"/>
              <a:t>Computation of probabilities is the same as for the PPM, except the alphabet is tuples (“AA”,”AC”,”AG”,”AT”,”CA”,....,”TT”), size=16</a:t>
            </a:r>
          </a:p>
          <a:p>
            <a:endParaRPr lang="en-US" dirty="0"/>
          </a:p>
          <a:p>
            <a:r>
              <a:rPr lang="en-US" dirty="0"/>
              <a:t>Let each tuple be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Compute probabilities for every          , for a pattern of length </a:t>
            </a:r>
            <a:r>
              <a:rPr lang="en-US" i="1" dirty="0"/>
              <a:t>n</a:t>
            </a:r>
            <a:r>
              <a:rPr lang="en-US" dirty="0"/>
              <a:t>, the              matrix will have dimensions </a:t>
            </a:r>
            <a:r>
              <a:rPr lang="en-US" i="1" dirty="0"/>
              <a:t>16 </a:t>
            </a:r>
            <a:r>
              <a:rPr lang="en-US" dirty="0"/>
              <a:t>by </a:t>
            </a:r>
            <a:r>
              <a:rPr lang="en-US" i="1" dirty="0"/>
              <a:t>(n-1)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3488-16C5-7D26-0C1B-1EC0AA7C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F8DDE3-56D6-EF6B-9117-DDB8731FFFEF}"/>
                  </a:ext>
                </a:extLst>
              </p:cNvPr>
              <p:cNvSpPr txBox="1"/>
              <p:nvPr/>
            </p:nvSpPr>
            <p:spPr>
              <a:xfrm>
                <a:off x="9721375" y="5511370"/>
                <a:ext cx="1474234" cy="73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F8DDE3-56D6-EF6B-9117-DDB8731FF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1375" y="5511370"/>
                <a:ext cx="1474234" cy="7394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5C70B-BFD2-B94D-1FD5-8C83078724A2}"/>
                  </a:ext>
                </a:extLst>
              </p:cNvPr>
              <p:cNvSpPr txBox="1"/>
              <p:nvPr/>
            </p:nvSpPr>
            <p:spPr>
              <a:xfrm>
                <a:off x="5019717" y="5511370"/>
                <a:ext cx="14742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5C70B-BFD2-B94D-1FD5-8C8307872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717" y="5511370"/>
                <a:ext cx="147423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44CB0-B8D8-3410-4E06-1D3817C69C50}"/>
                  </a:ext>
                </a:extLst>
              </p:cNvPr>
              <p:cNvSpPr txBox="1"/>
              <p:nvPr/>
            </p:nvSpPr>
            <p:spPr>
              <a:xfrm>
                <a:off x="2952792" y="4739845"/>
                <a:ext cx="14742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44CB0-B8D8-3410-4E06-1D3817C69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792" y="4739845"/>
                <a:ext cx="147423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305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2E4A-9C03-C24C-7D44-6DDB30C6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DCA8-073B-2BCE-940F-3DFA29F3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Scoring with Markov WAM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E0F9-6B84-78E0-8AA7-8A09E4528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97751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Convert probabilities to weights by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k=16</a:t>
                </a:r>
                <a:br>
                  <a:rPr lang="en-US" i="1" dirty="0"/>
                </a:br>
                <a:br>
                  <a:rPr lang="en-US" i="1" dirty="0"/>
                </a:br>
                <a:endParaRPr lang="en-US" i="1" dirty="0"/>
              </a:p>
              <a:p>
                <a:endParaRPr lang="en-US" i="1" dirty="0"/>
              </a:p>
              <a:p>
                <a:r>
                  <a:rPr lang="en-US" dirty="0"/>
                  <a:t>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, where </a:t>
                </a:r>
                <a:br>
                  <a:rPr lang="en-US" dirty="0"/>
                </a:br>
                <a:r>
                  <a:rPr lang="en-US" i="1" dirty="0"/>
                  <a:t>S</a:t>
                </a:r>
                <a:r>
                  <a:rPr lang="en-US" dirty="0"/>
                  <a:t> is the string being scored,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is the positional weight of the first letter (starting probability)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 is the positional score of tuple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starting at position </a:t>
                </a:r>
                <a:r>
                  <a:rPr lang="en-US" i="1" dirty="0"/>
                  <a:t>j (j=0,...,n-1)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is of the positional weights for all tuples of letters in the pattern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E0F9-6B84-78E0-8AA7-8A09E4528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977515"/>
              </a:xfrm>
              <a:blipFill>
                <a:blip r:embed="rId2"/>
                <a:stretch>
                  <a:fillRect l="-1000" t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B5A9E-0BFF-C3E2-CC3D-5D1A2C40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DD4042-8A43-3B28-FB99-A424D208671D}"/>
                  </a:ext>
                </a:extLst>
              </p:cNvPr>
              <p:cNvSpPr txBox="1"/>
              <p:nvPr/>
            </p:nvSpPr>
            <p:spPr>
              <a:xfrm>
                <a:off x="2345892" y="2149649"/>
                <a:ext cx="4797907" cy="1350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DD4042-8A43-3B28-FB99-A424D2086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92" y="2149649"/>
                <a:ext cx="4797907" cy="1350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AA2238-149C-70C6-B1BC-E94DD206EFD6}"/>
                  </a:ext>
                </a:extLst>
              </p14:cNvPr>
              <p14:cNvContentPartPr/>
              <p14:nvPr/>
            </p14:nvContentPartPr>
            <p14:xfrm>
              <a:off x="1886229" y="112560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AA2238-149C-70C6-B1BC-E94DD206E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0109" y="111948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7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15229</TotalTime>
  <Words>1609</Words>
  <Application>Microsoft Office PowerPoint</Application>
  <PresentationFormat>Widescreen</PresentationFormat>
  <Paragraphs>208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Trebuchet MS</vt:lpstr>
      <vt:lpstr>Office Theme</vt:lpstr>
      <vt:lpstr>Ab initio gene finding</vt:lpstr>
      <vt:lpstr>Machine learning algorithms</vt:lpstr>
      <vt:lpstr>Markov chains and HMMs</vt:lpstr>
      <vt:lpstr>Positional Probabilities</vt:lpstr>
      <vt:lpstr>Positional probabilities</vt:lpstr>
      <vt:lpstr>Example</vt:lpstr>
      <vt:lpstr>Splice site patterns</vt:lpstr>
      <vt:lpstr>Using PWM to evaluate pattern</vt:lpstr>
      <vt:lpstr>PPM vs PWM</vt:lpstr>
      <vt:lpstr>Scoring with PWMs</vt:lpstr>
      <vt:lpstr>PWM score</vt:lpstr>
      <vt:lpstr>Drawback of PWMs</vt:lpstr>
      <vt:lpstr>Markov chain</vt:lpstr>
      <vt:lpstr>Markov chain</vt:lpstr>
      <vt:lpstr>Markov model</vt:lpstr>
      <vt:lpstr>Markov model</vt:lpstr>
      <vt:lpstr>Markov model</vt:lpstr>
      <vt:lpstr>Training Markov chain</vt:lpstr>
      <vt:lpstr>Scoring with Markov chain</vt:lpstr>
      <vt:lpstr>Markov Weight Array Matrix</vt:lpstr>
      <vt:lpstr>Scoring with Markov WAM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84</cp:revision>
  <dcterms:created xsi:type="dcterms:W3CDTF">2013-08-21T19:17:07Z</dcterms:created>
  <dcterms:modified xsi:type="dcterms:W3CDTF">2025-11-04T18:19:20Z</dcterms:modified>
</cp:coreProperties>
</file>