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820" r:id="rId2"/>
    <p:sldId id="814" r:id="rId3"/>
    <p:sldId id="816" r:id="rId4"/>
    <p:sldId id="829" r:id="rId5"/>
    <p:sldId id="830" r:id="rId6"/>
    <p:sldId id="803" r:id="rId7"/>
    <p:sldId id="813" r:id="rId8"/>
    <p:sldId id="822" r:id="rId9"/>
    <p:sldId id="266" r:id="rId10"/>
    <p:sldId id="82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8B1C"/>
    <a:srgbClr val="BE0260"/>
    <a:srgbClr val="D0005E"/>
    <a:srgbClr val="018ACF"/>
    <a:srgbClr val="D09622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27" autoAdjust="0"/>
    <p:restoredTop sz="93721" autoAdjust="0"/>
  </p:normalViewPr>
  <p:slideViewPr>
    <p:cSldViewPr snapToGrid="0">
      <p:cViewPr varScale="1">
        <p:scale>
          <a:sx n="99" d="100"/>
          <a:sy n="99" d="100"/>
        </p:scale>
        <p:origin x="24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sey Zimin" userId="7f2637d0bc515791" providerId="LiveId" clId="{8553A319-8433-4677-8F80-E28D63617D4C}"/>
    <pc:docChg chg="delSld">
      <pc:chgData name="Aleksey Zimin" userId="7f2637d0bc515791" providerId="LiveId" clId="{8553A319-8433-4677-8F80-E28D63617D4C}" dt="2025-10-24T14:30:03.865" v="1" actId="47"/>
      <pc:docMkLst>
        <pc:docMk/>
      </pc:docMkLst>
      <pc:sldChg chg="del">
        <pc:chgData name="Aleksey Zimin" userId="7f2637d0bc515791" providerId="LiveId" clId="{8553A319-8433-4677-8F80-E28D63617D4C}" dt="2025-10-24T14:29:43.689" v="0" actId="47"/>
        <pc:sldMkLst>
          <pc:docMk/>
          <pc:sldMk cId="208986471" sldId="258"/>
        </pc:sldMkLst>
      </pc:sldChg>
      <pc:sldChg chg="del">
        <pc:chgData name="Aleksey Zimin" userId="7f2637d0bc515791" providerId="LiveId" clId="{8553A319-8433-4677-8F80-E28D63617D4C}" dt="2025-10-24T14:29:43.689" v="0" actId="47"/>
        <pc:sldMkLst>
          <pc:docMk/>
          <pc:sldMk cId="1183394471" sldId="270"/>
        </pc:sldMkLst>
      </pc:sldChg>
      <pc:sldChg chg="del">
        <pc:chgData name="Aleksey Zimin" userId="7f2637d0bc515791" providerId="LiveId" clId="{8553A319-8433-4677-8F80-E28D63617D4C}" dt="2025-10-24T14:29:43.689" v="0" actId="47"/>
        <pc:sldMkLst>
          <pc:docMk/>
          <pc:sldMk cId="1052403946" sldId="272"/>
        </pc:sldMkLst>
      </pc:sldChg>
      <pc:sldChg chg="del">
        <pc:chgData name="Aleksey Zimin" userId="7f2637d0bc515791" providerId="LiveId" clId="{8553A319-8433-4677-8F80-E28D63617D4C}" dt="2025-10-24T14:29:43.689" v="0" actId="47"/>
        <pc:sldMkLst>
          <pc:docMk/>
          <pc:sldMk cId="285272752" sldId="399"/>
        </pc:sldMkLst>
      </pc:sldChg>
      <pc:sldChg chg="del">
        <pc:chgData name="Aleksey Zimin" userId="7f2637d0bc515791" providerId="LiveId" clId="{8553A319-8433-4677-8F80-E28D63617D4C}" dt="2025-10-24T14:30:03.865" v="1" actId="47"/>
        <pc:sldMkLst>
          <pc:docMk/>
          <pc:sldMk cId="582660925" sldId="557"/>
        </pc:sldMkLst>
      </pc:sldChg>
      <pc:sldChg chg="del">
        <pc:chgData name="Aleksey Zimin" userId="7f2637d0bc515791" providerId="LiveId" clId="{8553A319-8433-4677-8F80-E28D63617D4C}" dt="2025-10-24T14:30:03.865" v="1" actId="47"/>
        <pc:sldMkLst>
          <pc:docMk/>
          <pc:sldMk cId="897960614" sldId="559"/>
        </pc:sldMkLst>
      </pc:sldChg>
      <pc:sldChg chg="del">
        <pc:chgData name="Aleksey Zimin" userId="7f2637d0bc515791" providerId="LiveId" clId="{8553A319-8433-4677-8F80-E28D63617D4C}" dt="2025-10-24T14:30:03.865" v="1" actId="47"/>
        <pc:sldMkLst>
          <pc:docMk/>
          <pc:sldMk cId="2016871750" sldId="560"/>
        </pc:sldMkLst>
      </pc:sldChg>
      <pc:sldChg chg="del">
        <pc:chgData name="Aleksey Zimin" userId="7f2637d0bc515791" providerId="LiveId" clId="{8553A319-8433-4677-8F80-E28D63617D4C}" dt="2025-10-24T14:29:43.689" v="0" actId="47"/>
        <pc:sldMkLst>
          <pc:docMk/>
          <pc:sldMk cId="2956323222" sldId="588"/>
        </pc:sldMkLst>
      </pc:sldChg>
      <pc:sldChg chg="del">
        <pc:chgData name="Aleksey Zimin" userId="7f2637d0bc515791" providerId="LiveId" clId="{8553A319-8433-4677-8F80-E28D63617D4C}" dt="2025-10-24T14:29:43.689" v="0" actId="47"/>
        <pc:sldMkLst>
          <pc:docMk/>
          <pc:sldMk cId="869239991" sldId="801"/>
        </pc:sldMkLst>
      </pc:sldChg>
      <pc:sldChg chg="del">
        <pc:chgData name="Aleksey Zimin" userId="7f2637d0bc515791" providerId="LiveId" clId="{8553A319-8433-4677-8F80-E28D63617D4C}" dt="2025-10-24T14:29:43.689" v="0" actId="47"/>
        <pc:sldMkLst>
          <pc:docMk/>
          <pc:sldMk cId="494252847" sldId="802"/>
        </pc:sldMkLst>
      </pc:sldChg>
      <pc:sldChg chg="del">
        <pc:chgData name="Aleksey Zimin" userId="7f2637d0bc515791" providerId="LiveId" clId="{8553A319-8433-4677-8F80-E28D63617D4C}" dt="2025-10-24T14:29:43.689" v="0" actId="47"/>
        <pc:sldMkLst>
          <pc:docMk/>
          <pc:sldMk cId="1722923118" sldId="805"/>
        </pc:sldMkLst>
      </pc:sldChg>
      <pc:sldChg chg="del">
        <pc:chgData name="Aleksey Zimin" userId="7f2637d0bc515791" providerId="LiveId" clId="{8553A319-8433-4677-8F80-E28D63617D4C}" dt="2025-10-24T14:29:43.689" v="0" actId="47"/>
        <pc:sldMkLst>
          <pc:docMk/>
          <pc:sldMk cId="3059937519" sldId="811"/>
        </pc:sldMkLst>
      </pc:sldChg>
      <pc:sldChg chg="del">
        <pc:chgData name="Aleksey Zimin" userId="7f2637d0bc515791" providerId="LiveId" clId="{8553A319-8433-4677-8F80-E28D63617D4C}" dt="2025-10-24T14:29:43.689" v="0" actId="47"/>
        <pc:sldMkLst>
          <pc:docMk/>
          <pc:sldMk cId="2608576022" sldId="812"/>
        </pc:sldMkLst>
      </pc:sldChg>
      <pc:sldChg chg="del">
        <pc:chgData name="Aleksey Zimin" userId="7f2637d0bc515791" providerId="LiveId" clId="{8553A319-8433-4677-8F80-E28D63617D4C}" dt="2025-10-24T14:29:43.689" v="0" actId="47"/>
        <pc:sldMkLst>
          <pc:docMk/>
          <pc:sldMk cId="2408950623" sldId="815"/>
        </pc:sldMkLst>
      </pc:sldChg>
      <pc:sldChg chg="del">
        <pc:chgData name="Aleksey Zimin" userId="7f2637d0bc515791" providerId="LiveId" clId="{8553A319-8433-4677-8F80-E28D63617D4C}" dt="2025-10-24T14:29:43.689" v="0" actId="47"/>
        <pc:sldMkLst>
          <pc:docMk/>
          <pc:sldMk cId="1531555332" sldId="817"/>
        </pc:sldMkLst>
      </pc:sldChg>
      <pc:sldChg chg="del">
        <pc:chgData name="Aleksey Zimin" userId="7f2637d0bc515791" providerId="LiveId" clId="{8553A319-8433-4677-8F80-E28D63617D4C}" dt="2025-10-24T14:29:43.689" v="0" actId="47"/>
        <pc:sldMkLst>
          <pc:docMk/>
          <pc:sldMk cId="2666247001" sldId="818"/>
        </pc:sldMkLst>
      </pc:sldChg>
      <pc:sldChg chg="del">
        <pc:chgData name="Aleksey Zimin" userId="7f2637d0bc515791" providerId="LiveId" clId="{8553A319-8433-4677-8F80-E28D63617D4C}" dt="2025-10-24T14:29:43.689" v="0" actId="47"/>
        <pc:sldMkLst>
          <pc:docMk/>
          <pc:sldMk cId="1171435911" sldId="819"/>
        </pc:sldMkLst>
      </pc:sldChg>
      <pc:sldChg chg="del">
        <pc:chgData name="Aleksey Zimin" userId="7f2637d0bc515791" providerId="LiveId" clId="{8553A319-8433-4677-8F80-E28D63617D4C}" dt="2025-10-24T14:29:43.689" v="0" actId="47"/>
        <pc:sldMkLst>
          <pc:docMk/>
          <pc:sldMk cId="2178426597" sldId="821"/>
        </pc:sldMkLst>
      </pc:sldChg>
      <pc:sldChg chg="del">
        <pc:chgData name="Aleksey Zimin" userId="7f2637d0bc515791" providerId="LiveId" clId="{8553A319-8433-4677-8F80-E28D63617D4C}" dt="2025-10-24T14:30:03.865" v="1" actId="47"/>
        <pc:sldMkLst>
          <pc:docMk/>
          <pc:sldMk cId="1248438669" sldId="824"/>
        </pc:sldMkLst>
      </pc:sldChg>
      <pc:sldChg chg="del">
        <pc:chgData name="Aleksey Zimin" userId="7f2637d0bc515791" providerId="LiveId" clId="{8553A319-8433-4677-8F80-E28D63617D4C}" dt="2025-10-24T14:30:03.865" v="1" actId="47"/>
        <pc:sldMkLst>
          <pc:docMk/>
          <pc:sldMk cId="2622166328" sldId="825"/>
        </pc:sldMkLst>
      </pc:sldChg>
      <pc:sldChg chg="del">
        <pc:chgData name="Aleksey Zimin" userId="7f2637d0bc515791" providerId="LiveId" clId="{8553A319-8433-4677-8F80-E28D63617D4C}" dt="2025-10-24T14:30:03.865" v="1" actId="47"/>
        <pc:sldMkLst>
          <pc:docMk/>
          <pc:sldMk cId="2174087718" sldId="826"/>
        </pc:sldMkLst>
      </pc:sldChg>
      <pc:sldChg chg="del">
        <pc:chgData name="Aleksey Zimin" userId="7f2637d0bc515791" providerId="LiveId" clId="{8553A319-8433-4677-8F80-E28D63617D4C}" dt="2025-10-24T14:30:03.865" v="1" actId="47"/>
        <pc:sldMkLst>
          <pc:docMk/>
          <pc:sldMk cId="14013305" sldId="827"/>
        </pc:sldMkLst>
      </pc:sldChg>
      <pc:sldChg chg="del">
        <pc:chgData name="Aleksey Zimin" userId="7f2637d0bc515791" providerId="LiveId" clId="{8553A319-8433-4677-8F80-E28D63617D4C}" dt="2025-10-24T14:30:03.865" v="1" actId="47"/>
        <pc:sldMkLst>
          <pc:docMk/>
          <pc:sldMk cId="2055598344" sldId="828"/>
        </pc:sldMkLst>
      </pc:sldChg>
      <pc:sldChg chg="del">
        <pc:chgData name="Aleksey Zimin" userId="7f2637d0bc515791" providerId="LiveId" clId="{8553A319-8433-4677-8F80-E28D63617D4C}" dt="2025-10-24T14:30:03.865" v="1" actId="47"/>
        <pc:sldMkLst>
          <pc:docMk/>
          <pc:sldMk cId="2290969468" sldId="831"/>
        </pc:sldMkLst>
      </pc:sldChg>
      <pc:sldChg chg="del">
        <pc:chgData name="Aleksey Zimin" userId="7f2637d0bc515791" providerId="LiveId" clId="{8553A319-8433-4677-8F80-E28D63617D4C}" dt="2025-10-24T14:30:03.865" v="1" actId="47"/>
        <pc:sldMkLst>
          <pc:docMk/>
          <pc:sldMk cId="1495454639" sldId="832"/>
        </pc:sldMkLst>
      </pc:sldChg>
      <pc:sldChg chg="del">
        <pc:chgData name="Aleksey Zimin" userId="7f2637d0bc515791" providerId="LiveId" clId="{8553A319-8433-4677-8F80-E28D63617D4C}" dt="2025-10-24T14:30:03.865" v="1" actId="47"/>
        <pc:sldMkLst>
          <pc:docMk/>
          <pc:sldMk cId="3625668558" sldId="833"/>
        </pc:sldMkLst>
      </pc:sldChg>
      <pc:sldChg chg="del">
        <pc:chgData name="Aleksey Zimin" userId="7f2637d0bc515791" providerId="LiveId" clId="{8553A319-8433-4677-8F80-E28D63617D4C}" dt="2025-10-24T14:30:03.865" v="1" actId="47"/>
        <pc:sldMkLst>
          <pc:docMk/>
          <pc:sldMk cId="2230780895" sldId="834"/>
        </pc:sldMkLst>
      </pc:sldChg>
      <pc:sldChg chg="del">
        <pc:chgData name="Aleksey Zimin" userId="7f2637d0bc515791" providerId="LiveId" clId="{8553A319-8433-4677-8F80-E28D63617D4C}" dt="2025-10-24T14:30:03.865" v="1" actId="47"/>
        <pc:sldMkLst>
          <pc:docMk/>
          <pc:sldMk cId="664404228" sldId="835"/>
        </pc:sldMkLst>
      </pc:sldChg>
      <pc:sldChg chg="del">
        <pc:chgData name="Aleksey Zimin" userId="7f2637d0bc515791" providerId="LiveId" clId="{8553A319-8433-4677-8F80-E28D63617D4C}" dt="2025-10-24T14:30:03.865" v="1" actId="47"/>
        <pc:sldMkLst>
          <pc:docMk/>
          <pc:sldMk cId="3256696827" sldId="836"/>
        </pc:sldMkLst>
      </pc:sldChg>
      <pc:sldChg chg="del">
        <pc:chgData name="Aleksey Zimin" userId="7f2637d0bc515791" providerId="LiveId" clId="{8553A319-8433-4677-8F80-E28D63617D4C}" dt="2025-10-24T14:30:03.865" v="1" actId="47"/>
        <pc:sldMkLst>
          <pc:docMk/>
          <pc:sldMk cId="1946252673" sldId="837"/>
        </pc:sldMkLst>
      </pc:sldChg>
      <pc:sldChg chg="del">
        <pc:chgData name="Aleksey Zimin" userId="7f2637d0bc515791" providerId="LiveId" clId="{8553A319-8433-4677-8F80-E28D63617D4C}" dt="2025-10-24T14:30:03.865" v="1" actId="47"/>
        <pc:sldMkLst>
          <pc:docMk/>
          <pc:sldMk cId="1295660035" sldId="838"/>
        </pc:sldMkLst>
      </pc:sldChg>
      <pc:sldChg chg="del">
        <pc:chgData name="Aleksey Zimin" userId="7f2637d0bc515791" providerId="LiveId" clId="{8553A319-8433-4677-8F80-E28D63617D4C}" dt="2025-10-24T14:30:03.865" v="1" actId="47"/>
        <pc:sldMkLst>
          <pc:docMk/>
          <pc:sldMk cId="1256113951" sldId="839"/>
        </pc:sldMkLst>
      </pc:sldChg>
      <pc:sldChg chg="del">
        <pc:chgData name="Aleksey Zimin" userId="7f2637d0bc515791" providerId="LiveId" clId="{8553A319-8433-4677-8F80-E28D63617D4C}" dt="2025-10-24T14:30:03.865" v="1" actId="47"/>
        <pc:sldMkLst>
          <pc:docMk/>
          <pc:sldMk cId="3012806712" sldId="840"/>
        </pc:sldMkLst>
      </pc:sldChg>
      <pc:sldChg chg="del">
        <pc:chgData name="Aleksey Zimin" userId="7f2637d0bc515791" providerId="LiveId" clId="{8553A319-8433-4677-8F80-E28D63617D4C}" dt="2025-10-24T14:30:03.865" v="1" actId="47"/>
        <pc:sldMkLst>
          <pc:docMk/>
          <pc:sldMk cId="763290966" sldId="841"/>
        </pc:sldMkLst>
      </pc:sldChg>
      <pc:sldChg chg="del">
        <pc:chgData name="Aleksey Zimin" userId="7f2637d0bc515791" providerId="LiveId" clId="{8553A319-8433-4677-8F80-E28D63617D4C}" dt="2025-10-24T14:30:03.865" v="1" actId="47"/>
        <pc:sldMkLst>
          <pc:docMk/>
          <pc:sldMk cId="2459509777" sldId="842"/>
        </pc:sldMkLst>
      </pc:sldChg>
      <pc:sldChg chg="del">
        <pc:chgData name="Aleksey Zimin" userId="7f2637d0bc515791" providerId="LiveId" clId="{8553A319-8433-4677-8F80-E28D63617D4C}" dt="2025-10-24T14:30:03.865" v="1" actId="47"/>
        <pc:sldMkLst>
          <pc:docMk/>
          <pc:sldMk cId="4155191155" sldId="843"/>
        </pc:sldMkLst>
      </pc:sldChg>
      <pc:sldChg chg="del">
        <pc:chgData name="Aleksey Zimin" userId="7f2637d0bc515791" providerId="LiveId" clId="{8553A319-8433-4677-8F80-E28D63617D4C}" dt="2025-10-24T14:30:03.865" v="1" actId="47"/>
        <pc:sldMkLst>
          <pc:docMk/>
          <pc:sldMk cId="1098893626" sldId="844"/>
        </pc:sldMkLst>
      </pc:sldChg>
      <pc:sldChg chg="del">
        <pc:chgData name="Aleksey Zimin" userId="7f2637d0bc515791" providerId="LiveId" clId="{8553A319-8433-4677-8F80-E28D63617D4C}" dt="2025-10-24T14:30:03.865" v="1" actId="47"/>
        <pc:sldMkLst>
          <pc:docMk/>
          <pc:sldMk cId="3967168509" sldId="845"/>
        </pc:sldMkLst>
      </pc:sldChg>
      <pc:sldChg chg="del">
        <pc:chgData name="Aleksey Zimin" userId="7f2637d0bc515791" providerId="LiveId" clId="{8553A319-8433-4677-8F80-E28D63617D4C}" dt="2025-10-24T14:30:03.865" v="1" actId="47"/>
        <pc:sldMkLst>
          <pc:docMk/>
          <pc:sldMk cId="3641111415" sldId="846"/>
        </pc:sldMkLst>
      </pc:sldChg>
      <pc:sldChg chg="del">
        <pc:chgData name="Aleksey Zimin" userId="7f2637d0bc515791" providerId="LiveId" clId="{8553A319-8433-4677-8F80-E28D63617D4C}" dt="2025-10-24T14:29:43.689" v="0" actId="47"/>
        <pc:sldMkLst>
          <pc:docMk/>
          <pc:sldMk cId="1514994576" sldId="847"/>
        </pc:sldMkLst>
      </pc:sldChg>
      <pc:sldChg chg="del">
        <pc:chgData name="Aleksey Zimin" userId="7f2637d0bc515791" providerId="LiveId" clId="{8553A319-8433-4677-8F80-E28D63617D4C}" dt="2025-10-24T14:29:43.689" v="0" actId="47"/>
        <pc:sldMkLst>
          <pc:docMk/>
          <pc:sldMk cId="1311118566" sldId="848"/>
        </pc:sldMkLst>
      </pc:sldChg>
      <pc:sldChg chg="del">
        <pc:chgData name="Aleksey Zimin" userId="7f2637d0bc515791" providerId="LiveId" clId="{8553A319-8433-4677-8F80-E28D63617D4C}" dt="2025-10-24T14:29:43.689" v="0" actId="47"/>
        <pc:sldMkLst>
          <pc:docMk/>
          <pc:sldMk cId="3263766814" sldId="84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61B90-1233-4265-A8E1-4CB85DE126FB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13FD6-7C7B-4426-BFC4-490AC0CFB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77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8620" y="1138426"/>
            <a:ext cx="10363200" cy="13743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38293" y="4650641"/>
            <a:ext cx="8534400" cy="1374345"/>
          </a:xfrm>
        </p:spPr>
        <p:txBody>
          <a:bodyPr>
            <a:normAutofit/>
          </a:bodyPr>
          <a:lstStyle>
            <a:lvl1pPr marL="0" indent="0" algn="r">
              <a:buNone/>
              <a:defRPr sz="2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</a:p>
          <a:p>
            <a:r>
              <a:rPr lang="en-US" dirty="0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3EFF-6084-460D-96FA-2FA787A98816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680310"/>
            <a:ext cx="10972800" cy="45811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3918803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F86A1-0F17-41D8-9FFA-9520AF33BFC6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081" y="527605"/>
            <a:ext cx="9354927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D0005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082" y="1138425"/>
            <a:ext cx="9354927" cy="4275740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92F4-087A-4F4C-9829-F340F0646973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0BFE-E826-4B70-BF6B-3710B05194AF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182DA-5425-42F9-BDB8-0DBDA15B981E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527605"/>
            <a:ext cx="10972800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620" y="1596539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620" y="2226402"/>
            <a:ext cx="5386917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2388" y="1596539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2388" y="2226402"/>
            <a:ext cx="5389033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B7164-C7F7-495E-9D5F-43BBDEBECF81}" type="datetime1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C5AB8-78AA-4DA3-952F-F5057D2DAAA5}" type="datetime1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CB869-D2D8-4282-A525-D63712C1B900}" type="datetime1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8CF58-29B0-4D31-BE55-D9C1F05848B7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2F8-B2BD-4E07-9A92-E5080B238DFA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8673-6F42-4090-A040-176AF0E6DEAE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5288-B7FB-4510-97B0-C840A6671DDD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584950" y="1574800"/>
            <a:ext cx="4762500" cy="464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4550" y="1574800"/>
            <a:ext cx="5111750" cy="4648200"/>
          </a:xfrm>
          <a:prstGeom prst="rect">
            <a:avLst/>
          </a:prstGeom>
        </p:spPr>
        <p:txBody>
          <a:bodyPr/>
          <a:lstStyle>
            <a:lvl1pPr marL="279400" indent="-279400">
              <a:spcBef>
                <a:spcPts val="2250"/>
              </a:spcBef>
              <a:defRPr sz="1900"/>
            </a:lvl1pPr>
            <a:lvl2pPr marL="558800" indent="-279400">
              <a:spcBef>
                <a:spcPts val="2250"/>
              </a:spcBef>
              <a:defRPr sz="1900"/>
            </a:lvl2pPr>
            <a:lvl3pPr marL="838200" indent="-279400">
              <a:spcBef>
                <a:spcPts val="2250"/>
              </a:spcBef>
              <a:defRPr sz="1900"/>
            </a:lvl3pPr>
            <a:lvl4pPr marL="1117600" indent="-279400">
              <a:spcBef>
                <a:spcPts val="2250"/>
              </a:spcBef>
              <a:defRPr sz="1900"/>
            </a:lvl4pPr>
            <a:lvl5pPr marL="1397000" indent="-279400">
              <a:spcBef>
                <a:spcPts val="2250"/>
              </a:spcBef>
              <a:defRPr sz="19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939126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607208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889000"/>
            <a:ext cx="10502900" cy="508000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9427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8395F-151A-4402-98B5-C84E535B9AEF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5" r:id="rId13"/>
    <p:sldLayoutId id="2147483666" r:id="rId14"/>
    <p:sldLayoutId id="2147483667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9FF03-1C74-268A-5AF8-8C9C0B21E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Uses of transcriptome sequencing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7446B-93CC-11C9-E2C5-1BA68F9FC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Transcript </a:t>
            </a:r>
            <a:r>
              <a:rPr lang="en-US" u="sng" dirty="0"/>
              <a:t>assembly</a:t>
            </a:r>
          </a:p>
          <a:p>
            <a:pPr lvl="1"/>
            <a:r>
              <a:rPr lang="en-US" dirty="0"/>
              <a:t>Can help figure out which genome sequences are transcribed, locate exons/introns</a:t>
            </a:r>
          </a:p>
          <a:p>
            <a:pPr lvl="1"/>
            <a:r>
              <a:rPr lang="en-US" dirty="0"/>
              <a:t>Use transcripts for genome annotation</a:t>
            </a:r>
          </a:p>
          <a:p>
            <a:r>
              <a:rPr lang="en-US" dirty="0"/>
              <a:t>Transcript </a:t>
            </a:r>
            <a:r>
              <a:rPr lang="en-US" u="sng" dirty="0"/>
              <a:t>quantification</a:t>
            </a:r>
          </a:p>
          <a:p>
            <a:pPr lvl="1"/>
            <a:r>
              <a:rPr lang="en-US" dirty="0"/>
              <a:t>Figure out which transcripts are expressed</a:t>
            </a:r>
          </a:p>
          <a:p>
            <a:pPr lvl="1"/>
            <a:r>
              <a:rPr lang="en-US" dirty="0"/>
              <a:t>Could be very different in different tissues, under different conditions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2B01E-96D2-B659-340E-1939EEB55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87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191F8-69F6-43F3-E982-879D1E511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Transcriptome assembly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D4ADE-4A7A-707D-9291-F8A7CB3E0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68C1109E-9899-10B8-DBBD-9B935B5FF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732" y="1389681"/>
            <a:ext cx="6324601" cy="4922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29019B-DB26-8FE2-584B-B3734B3262F0}"/>
              </a:ext>
            </a:extLst>
          </p:cNvPr>
          <p:cNvSpPr txBox="1"/>
          <p:nvPr/>
        </p:nvSpPr>
        <p:spPr>
          <a:xfrm>
            <a:off x="3057295" y="6563172"/>
            <a:ext cx="47402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Figure from: Haas, B. J. &amp; Zody, M. C. Nature Biotech. 28, 421–423 (2010)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518A04-2809-2A60-BF7F-854F5018142C}"/>
              </a:ext>
            </a:extLst>
          </p:cNvPr>
          <p:cNvSpPr txBox="1"/>
          <p:nvPr/>
        </p:nvSpPr>
        <p:spPr>
          <a:xfrm>
            <a:off x="9546265" y="5275609"/>
            <a:ext cx="1384866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Stored in a </a:t>
            </a:r>
          </a:p>
          <a:p>
            <a:r>
              <a:rPr lang="en-US"/>
              <a:t>GFF/GTF file</a:t>
            </a: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07ABC69E-385C-C683-848A-BFD054ABD5E3}"/>
              </a:ext>
            </a:extLst>
          </p:cNvPr>
          <p:cNvSpPr/>
          <p:nvPr/>
        </p:nvSpPr>
        <p:spPr>
          <a:xfrm>
            <a:off x="1517027" y="5234015"/>
            <a:ext cx="7820809" cy="777041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518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5893F-B60E-D546-753D-48778A592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De novo </a:t>
            </a:r>
            <a:r>
              <a:rPr lang="en-US" dirty="0"/>
              <a:t>transcript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8449F-55B1-194F-4F6F-2C3A0E95C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5124936"/>
          </a:xfrm>
        </p:spPr>
        <p:txBody>
          <a:bodyPr>
            <a:normAutofit/>
          </a:bodyPr>
          <a:lstStyle/>
          <a:p>
            <a:r>
              <a:rPr lang="en-US" dirty="0"/>
              <a:t>Similar to genome (contig) assembly</a:t>
            </a:r>
          </a:p>
          <a:p>
            <a:r>
              <a:rPr lang="en-US" dirty="0"/>
              <a:t>Obstacles:</a:t>
            </a:r>
          </a:p>
          <a:p>
            <a:pPr lvl="1"/>
            <a:r>
              <a:rPr lang="en-US" dirty="0"/>
              <a:t>Highly uneven coverage of different transcripts and along a transcript</a:t>
            </a:r>
          </a:p>
          <a:p>
            <a:pPr lvl="1"/>
            <a:r>
              <a:rPr lang="en-US" dirty="0"/>
              <a:t>Gaps in transcript coverage and repeats?</a:t>
            </a:r>
          </a:p>
          <a:p>
            <a:pPr lvl="1"/>
            <a:r>
              <a:rPr lang="en-US" dirty="0"/>
              <a:t>We do not know where the splice sites are!</a:t>
            </a:r>
          </a:p>
          <a:p>
            <a:pPr lvl="1"/>
            <a:r>
              <a:rPr lang="en-US" dirty="0"/>
              <a:t>Alternative splicing: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I do not recommend doing this unless there is no genome available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BA3F9-AE35-5818-38B3-F95086B70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37B3B2-E2F1-3A7E-4591-1CDE65AEDA6B}"/>
              </a:ext>
            </a:extLst>
          </p:cNvPr>
          <p:cNvCxnSpPr>
            <a:cxnSpLocks/>
          </p:cNvCxnSpPr>
          <p:nvPr/>
        </p:nvCxnSpPr>
        <p:spPr>
          <a:xfrm>
            <a:off x="1747164" y="5014376"/>
            <a:ext cx="1246293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C0A8C3-D7EC-C3F6-A5AA-394FFC4BB0D7}"/>
              </a:ext>
            </a:extLst>
          </p:cNvPr>
          <p:cNvCxnSpPr>
            <a:cxnSpLocks/>
          </p:cNvCxnSpPr>
          <p:nvPr/>
        </p:nvCxnSpPr>
        <p:spPr>
          <a:xfrm>
            <a:off x="3205213" y="5014376"/>
            <a:ext cx="1507779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C72EE9-D004-ACB2-F4E2-4D3776FFD209}"/>
              </a:ext>
            </a:extLst>
          </p:cNvPr>
          <p:cNvCxnSpPr>
            <a:cxnSpLocks/>
          </p:cNvCxnSpPr>
          <p:nvPr/>
        </p:nvCxnSpPr>
        <p:spPr>
          <a:xfrm>
            <a:off x="6136285" y="5014376"/>
            <a:ext cx="1507779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D9576E-A089-A7C6-0247-F290EEB202F7}"/>
              </a:ext>
            </a:extLst>
          </p:cNvPr>
          <p:cNvCxnSpPr>
            <a:cxnSpLocks/>
          </p:cNvCxnSpPr>
          <p:nvPr/>
        </p:nvCxnSpPr>
        <p:spPr>
          <a:xfrm>
            <a:off x="6136285" y="5515343"/>
            <a:ext cx="82278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06A51C-9A89-8968-4BAA-5C073CEA1306}"/>
              </a:ext>
            </a:extLst>
          </p:cNvPr>
          <p:cNvCxnSpPr>
            <a:cxnSpLocks/>
          </p:cNvCxnSpPr>
          <p:nvPr/>
        </p:nvCxnSpPr>
        <p:spPr>
          <a:xfrm>
            <a:off x="2223436" y="5515343"/>
            <a:ext cx="1466248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178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1A78E-161B-CC00-3A02-C46DD56B9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A6F1A-3AD4-F1D6-23AA-4E40051DF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De novo </a:t>
            </a:r>
            <a:r>
              <a:rPr lang="en-US" dirty="0"/>
              <a:t>transcript assemblers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74AFB-743C-34D0-7003-B525A782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4658A0-7C99-A7ED-FDC2-66F83C0A4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202" y="1138425"/>
            <a:ext cx="5480005" cy="2983368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A321FFA-837B-8ECC-96C1-FBC2B6207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Short-read: Trinity, based on </a:t>
            </a:r>
            <a:r>
              <a:rPr lang="en-US" dirty="0" err="1"/>
              <a:t>DeBruijn</a:t>
            </a:r>
            <a:r>
              <a:rPr lang="en-US" dirty="0"/>
              <a:t> graph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56EF7A9-B4C1-D186-93E8-87644A7C0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19" y="2038993"/>
            <a:ext cx="4263091" cy="476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278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AE075-24C5-FDF6-048C-28555E416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71D83-BCD3-890A-F67E-EB7F2C673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De novo </a:t>
            </a:r>
            <a:r>
              <a:rPr lang="en-US" dirty="0"/>
              <a:t>transcript assemblers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70544-CFE1-9ECF-AD01-B8CB5F6E6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36EF185-5E64-D4CB-8891-C65E4FC3D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Long read: RNA-Bloom2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8DE2275-1C32-5F13-66B5-2D5E8461C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629" y="1596540"/>
            <a:ext cx="4761527" cy="23164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6D7578-5F8A-67F7-E3B9-7D89647F9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79422"/>
            <a:ext cx="5762092" cy="425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436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6AE29-4A2D-B3A0-D4EA-CE07B6AE9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Spliced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AD1E1-6FBD-1E46-1494-5F1DF6B2D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1"/>
            <a:ext cx="10972800" cy="2012934"/>
          </a:xfrm>
        </p:spPr>
        <p:txBody>
          <a:bodyPr/>
          <a:lstStyle/>
          <a:p>
            <a:r>
              <a:rPr lang="en-US" dirty="0"/>
              <a:t>We can (more reliably) find transcripts on the genome by spliced alignment of transcriptome reads</a:t>
            </a:r>
          </a:p>
          <a:p>
            <a:r>
              <a:rPr lang="en-US" dirty="0"/>
              <a:t>Spliced alignment is gapped alignment with specific sequence patterns around gaps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7867D-EB0C-6360-7F8B-53D714A0A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AE7A6B-B335-D8E2-F1EA-CA0F191C456B}"/>
              </a:ext>
            </a:extLst>
          </p:cNvPr>
          <p:cNvCxnSpPr/>
          <p:nvPr/>
        </p:nvCxnSpPr>
        <p:spPr>
          <a:xfrm>
            <a:off x="2767442" y="3709390"/>
            <a:ext cx="4514248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D6B6CB3-BC49-DDDF-D46B-75CF4C680FC5}"/>
              </a:ext>
            </a:extLst>
          </p:cNvPr>
          <p:cNvSpPr txBox="1"/>
          <p:nvPr/>
        </p:nvSpPr>
        <p:spPr>
          <a:xfrm>
            <a:off x="3941724" y="3250405"/>
            <a:ext cx="200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Transcriptome read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28F98F-0850-AC4D-748D-3422888C8A03}"/>
              </a:ext>
            </a:extLst>
          </p:cNvPr>
          <p:cNvSpPr txBox="1"/>
          <p:nvPr/>
        </p:nvSpPr>
        <p:spPr>
          <a:xfrm>
            <a:off x="248583" y="4539656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Genome</a:t>
            </a:r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77241136-0273-09BE-CD1F-962D8DB28C97}"/>
              </a:ext>
            </a:extLst>
          </p:cNvPr>
          <p:cNvSpPr/>
          <p:nvPr/>
        </p:nvSpPr>
        <p:spPr>
          <a:xfrm>
            <a:off x="1804915" y="3709357"/>
            <a:ext cx="2926079" cy="845419"/>
          </a:xfrm>
          <a:prstGeom prst="parallelogram">
            <a:avLst>
              <a:gd name="adj" fmla="val 113808"/>
            </a:avLst>
          </a:prstGeom>
          <a:solidFill>
            <a:schemeClr val="accent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91E84084-0767-93D2-7479-AA019C88EEA7}"/>
              </a:ext>
            </a:extLst>
          </p:cNvPr>
          <p:cNvSpPr/>
          <p:nvPr/>
        </p:nvSpPr>
        <p:spPr>
          <a:xfrm flipH="1">
            <a:off x="4730992" y="3709324"/>
            <a:ext cx="3513223" cy="845419"/>
          </a:xfrm>
          <a:prstGeom prst="parallelogram">
            <a:avLst>
              <a:gd name="adj" fmla="val 113808"/>
            </a:avLst>
          </a:prstGeom>
          <a:solidFill>
            <a:schemeClr val="accent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13E2B2-0B82-D800-5474-D4212DD843C9}"/>
              </a:ext>
            </a:extLst>
          </p:cNvPr>
          <p:cNvSpPr txBox="1"/>
          <p:nvPr/>
        </p:nvSpPr>
        <p:spPr>
          <a:xfrm>
            <a:off x="1660370" y="4554743"/>
            <a:ext cx="6937248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        GT                          AG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5DF2A2-E39B-D51D-25E9-FA0CC154F284}"/>
              </a:ext>
            </a:extLst>
          </p:cNvPr>
          <p:cNvSpPr txBox="1"/>
          <p:nvPr/>
        </p:nvSpPr>
        <p:spPr>
          <a:xfrm>
            <a:off x="1804915" y="4554743"/>
            <a:ext cx="194299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0A23BC-6666-6288-15FE-1EFA8C91BD1C}"/>
              </a:ext>
            </a:extLst>
          </p:cNvPr>
          <p:cNvSpPr txBox="1"/>
          <p:nvPr/>
        </p:nvSpPr>
        <p:spPr>
          <a:xfrm>
            <a:off x="5711462" y="4554743"/>
            <a:ext cx="2532754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AE3FE0-F43E-B799-B2F9-4DD4440F8CF0}"/>
              </a:ext>
            </a:extLst>
          </p:cNvPr>
          <p:cNvSpPr txBox="1"/>
          <p:nvPr/>
        </p:nvSpPr>
        <p:spPr>
          <a:xfrm>
            <a:off x="8771467" y="4147377"/>
            <a:ext cx="3221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Forward or “+” strand alignment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657E309-E61F-BDEA-C6FC-D1B81B3F9B67}"/>
              </a:ext>
            </a:extLst>
          </p:cNvPr>
          <p:cNvCxnSpPr/>
          <p:nvPr/>
        </p:nvCxnSpPr>
        <p:spPr>
          <a:xfrm>
            <a:off x="2767442" y="5241582"/>
            <a:ext cx="4514248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6E700E5-2D8B-C6FC-E9C2-83E16FA49EB1}"/>
              </a:ext>
            </a:extLst>
          </p:cNvPr>
          <p:cNvSpPr txBox="1"/>
          <p:nvPr/>
        </p:nvSpPr>
        <p:spPr>
          <a:xfrm>
            <a:off x="248583" y="6071848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Genome</a:t>
            </a:r>
          </a:p>
        </p:txBody>
      </p: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5FBF33BB-A7FC-26B2-BBE3-B0B2CDA6187B}"/>
              </a:ext>
            </a:extLst>
          </p:cNvPr>
          <p:cNvSpPr/>
          <p:nvPr/>
        </p:nvSpPr>
        <p:spPr>
          <a:xfrm>
            <a:off x="1804915" y="5241549"/>
            <a:ext cx="2926079" cy="845419"/>
          </a:xfrm>
          <a:prstGeom prst="parallelogram">
            <a:avLst>
              <a:gd name="adj" fmla="val 113808"/>
            </a:avLst>
          </a:prstGeom>
          <a:solidFill>
            <a:schemeClr val="accent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1C89B375-9B7E-2E21-2D6D-C490335F2EA0}"/>
              </a:ext>
            </a:extLst>
          </p:cNvPr>
          <p:cNvSpPr/>
          <p:nvPr/>
        </p:nvSpPr>
        <p:spPr>
          <a:xfrm flipH="1">
            <a:off x="4730992" y="5241516"/>
            <a:ext cx="3513223" cy="845419"/>
          </a:xfrm>
          <a:prstGeom prst="parallelogram">
            <a:avLst>
              <a:gd name="adj" fmla="val 113808"/>
            </a:avLst>
          </a:prstGeom>
          <a:solidFill>
            <a:schemeClr val="accent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F6FDC8-F68A-8405-1E3D-C40D09B3D4BF}"/>
              </a:ext>
            </a:extLst>
          </p:cNvPr>
          <p:cNvSpPr txBox="1"/>
          <p:nvPr/>
        </p:nvSpPr>
        <p:spPr>
          <a:xfrm>
            <a:off x="1660370" y="6086935"/>
            <a:ext cx="6937248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        CT                          AC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18D108-07C6-6F38-4029-65F6D7DADC0B}"/>
              </a:ext>
            </a:extLst>
          </p:cNvPr>
          <p:cNvSpPr txBox="1"/>
          <p:nvPr/>
        </p:nvSpPr>
        <p:spPr>
          <a:xfrm>
            <a:off x="1804915" y="6086935"/>
            <a:ext cx="194299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4127FE-ED2B-F845-4C25-112B9EF0F30C}"/>
              </a:ext>
            </a:extLst>
          </p:cNvPr>
          <p:cNvSpPr txBox="1"/>
          <p:nvPr/>
        </p:nvSpPr>
        <p:spPr>
          <a:xfrm>
            <a:off x="5711462" y="6086935"/>
            <a:ext cx="2532754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1EF227-7D66-4F3D-F10E-5330F63F0151}"/>
              </a:ext>
            </a:extLst>
          </p:cNvPr>
          <p:cNvSpPr txBox="1"/>
          <p:nvPr/>
        </p:nvSpPr>
        <p:spPr>
          <a:xfrm>
            <a:off x="8771467" y="5679569"/>
            <a:ext cx="3177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Reverse or “-” strand alignment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7B7317-4F90-B75A-206D-33D415608938}"/>
              </a:ext>
            </a:extLst>
          </p:cNvPr>
          <p:cNvSpPr txBox="1"/>
          <p:nvPr/>
        </p:nvSpPr>
        <p:spPr>
          <a:xfrm>
            <a:off x="7281690" y="3460571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AAAAAAA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65D1C3-4FFC-ADCD-5173-E78A72229992}"/>
              </a:ext>
            </a:extLst>
          </p:cNvPr>
          <p:cNvSpPr txBox="1"/>
          <p:nvPr/>
        </p:nvSpPr>
        <p:spPr>
          <a:xfrm>
            <a:off x="1660370" y="5030796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AAAAAAA</a:t>
            </a:r>
          </a:p>
        </p:txBody>
      </p:sp>
    </p:spTree>
    <p:extLst>
      <p:ext uri="{BB962C8B-B14F-4D97-AF65-F5344CB8AC3E}">
        <p14:creationId xmlns:p14="http://schemas.microsoft.com/office/powerpoint/2010/main" val="2724807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9ECC3-070D-CCA8-230C-E0FEB3518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841FD-1C9D-C024-B226-ECEEC8D21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Spliced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18FC5-5CDB-A308-36F3-ED14400B7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1"/>
            <a:ext cx="10972800" cy="2012934"/>
          </a:xfrm>
        </p:spPr>
        <p:txBody>
          <a:bodyPr/>
          <a:lstStyle/>
          <a:p>
            <a:r>
              <a:rPr lang="en-US" dirty="0"/>
              <a:t>We expect GT-AG (CT-AC) </a:t>
            </a:r>
            <a:r>
              <a:rPr lang="en-US" i="1" dirty="0"/>
              <a:t>canonical </a:t>
            </a:r>
            <a:r>
              <a:rPr lang="en-US" dirty="0"/>
              <a:t>splice sites</a:t>
            </a:r>
          </a:p>
          <a:p>
            <a:r>
              <a:rPr lang="en-US" dirty="0"/>
              <a:t>Other combinations are possible (GC-AG or AT-AC)</a:t>
            </a:r>
          </a:p>
          <a:p>
            <a:r>
              <a:rPr lang="en-US" dirty="0"/>
              <a:t>Un-spliced aligned reads – strand unknown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1C91F-2633-ACBB-FDA2-74DB14847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FA27BB0-DAD0-39D3-30BD-CD54660582A7}"/>
              </a:ext>
            </a:extLst>
          </p:cNvPr>
          <p:cNvCxnSpPr/>
          <p:nvPr/>
        </p:nvCxnSpPr>
        <p:spPr>
          <a:xfrm>
            <a:off x="2767442" y="3709390"/>
            <a:ext cx="4514248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12A3F7E-B3D0-67BF-726F-32AA10D5D8A8}"/>
              </a:ext>
            </a:extLst>
          </p:cNvPr>
          <p:cNvSpPr txBox="1"/>
          <p:nvPr/>
        </p:nvSpPr>
        <p:spPr>
          <a:xfrm>
            <a:off x="3941724" y="3250405"/>
            <a:ext cx="200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Transcriptome read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E1F2D2-0DB7-830C-0C58-AD8E4149D72D}"/>
              </a:ext>
            </a:extLst>
          </p:cNvPr>
          <p:cNvSpPr txBox="1"/>
          <p:nvPr/>
        </p:nvSpPr>
        <p:spPr>
          <a:xfrm>
            <a:off x="248583" y="4539656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Genome</a:t>
            </a:r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7E550692-3459-2B73-0753-02503242919A}"/>
              </a:ext>
            </a:extLst>
          </p:cNvPr>
          <p:cNvSpPr/>
          <p:nvPr/>
        </p:nvSpPr>
        <p:spPr>
          <a:xfrm>
            <a:off x="1804915" y="3709357"/>
            <a:ext cx="2926079" cy="845419"/>
          </a:xfrm>
          <a:prstGeom prst="parallelogram">
            <a:avLst>
              <a:gd name="adj" fmla="val 113808"/>
            </a:avLst>
          </a:prstGeom>
          <a:solidFill>
            <a:schemeClr val="accent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D589332D-C7CF-C425-55A2-5968C1088873}"/>
              </a:ext>
            </a:extLst>
          </p:cNvPr>
          <p:cNvSpPr/>
          <p:nvPr/>
        </p:nvSpPr>
        <p:spPr>
          <a:xfrm flipH="1">
            <a:off x="4730992" y="3709324"/>
            <a:ext cx="3513223" cy="845419"/>
          </a:xfrm>
          <a:prstGeom prst="parallelogram">
            <a:avLst>
              <a:gd name="adj" fmla="val 113808"/>
            </a:avLst>
          </a:prstGeom>
          <a:solidFill>
            <a:schemeClr val="accent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6E4775-1806-EBC7-8C12-FF893ABEB4B3}"/>
              </a:ext>
            </a:extLst>
          </p:cNvPr>
          <p:cNvSpPr txBox="1"/>
          <p:nvPr/>
        </p:nvSpPr>
        <p:spPr>
          <a:xfrm>
            <a:off x="1660370" y="4554743"/>
            <a:ext cx="6937248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        GT                          AG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C791C1-D347-D4B1-90F7-F7C7104A3DCB}"/>
              </a:ext>
            </a:extLst>
          </p:cNvPr>
          <p:cNvSpPr txBox="1"/>
          <p:nvPr/>
        </p:nvSpPr>
        <p:spPr>
          <a:xfrm>
            <a:off x="1804915" y="4554743"/>
            <a:ext cx="194299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099BE0-956D-E087-F1F3-7209EF120199}"/>
              </a:ext>
            </a:extLst>
          </p:cNvPr>
          <p:cNvSpPr txBox="1"/>
          <p:nvPr/>
        </p:nvSpPr>
        <p:spPr>
          <a:xfrm>
            <a:off x="5711462" y="4554743"/>
            <a:ext cx="2532754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16FA0D-5920-8F0F-083C-5F80B99C00C9}"/>
              </a:ext>
            </a:extLst>
          </p:cNvPr>
          <p:cNvSpPr txBox="1"/>
          <p:nvPr/>
        </p:nvSpPr>
        <p:spPr>
          <a:xfrm>
            <a:off x="8771467" y="4147377"/>
            <a:ext cx="3221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Forward or “+” strand alignment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4822D7-124E-0D4E-ED3B-DC9E6E98D5FC}"/>
              </a:ext>
            </a:extLst>
          </p:cNvPr>
          <p:cNvCxnSpPr/>
          <p:nvPr/>
        </p:nvCxnSpPr>
        <p:spPr>
          <a:xfrm>
            <a:off x="2767442" y="5241582"/>
            <a:ext cx="4514248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C5285C2-404F-3505-7533-2C8D67B48E63}"/>
              </a:ext>
            </a:extLst>
          </p:cNvPr>
          <p:cNvSpPr txBox="1"/>
          <p:nvPr/>
        </p:nvSpPr>
        <p:spPr>
          <a:xfrm>
            <a:off x="248583" y="6071848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Genome</a:t>
            </a:r>
          </a:p>
        </p:txBody>
      </p: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24D0A0AA-A361-7FEF-9386-7FCC9C7C7253}"/>
              </a:ext>
            </a:extLst>
          </p:cNvPr>
          <p:cNvSpPr/>
          <p:nvPr/>
        </p:nvSpPr>
        <p:spPr>
          <a:xfrm>
            <a:off x="1804915" y="5241549"/>
            <a:ext cx="2926079" cy="845419"/>
          </a:xfrm>
          <a:prstGeom prst="parallelogram">
            <a:avLst>
              <a:gd name="adj" fmla="val 113808"/>
            </a:avLst>
          </a:prstGeom>
          <a:solidFill>
            <a:schemeClr val="accent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DEE29FCF-C66A-9FA6-40EC-11263BC92E75}"/>
              </a:ext>
            </a:extLst>
          </p:cNvPr>
          <p:cNvSpPr/>
          <p:nvPr/>
        </p:nvSpPr>
        <p:spPr>
          <a:xfrm flipH="1">
            <a:off x="4730992" y="5241516"/>
            <a:ext cx="3513223" cy="845419"/>
          </a:xfrm>
          <a:prstGeom prst="parallelogram">
            <a:avLst>
              <a:gd name="adj" fmla="val 113808"/>
            </a:avLst>
          </a:prstGeom>
          <a:solidFill>
            <a:schemeClr val="accent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7AA8EE-CF6E-18E4-EBF4-D803B5109192}"/>
              </a:ext>
            </a:extLst>
          </p:cNvPr>
          <p:cNvSpPr txBox="1"/>
          <p:nvPr/>
        </p:nvSpPr>
        <p:spPr>
          <a:xfrm>
            <a:off x="1660370" y="6086935"/>
            <a:ext cx="6937248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        CT                          AC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D4EEF1-02A7-844E-21CC-4C9B89B1CA33}"/>
              </a:ext>
            </a:extLst>
          </p:cNvPr>
          <p:cNvSpPr txBox="1"/>
          <p:nvPr/>
        </p:nvSpPr>
        <p:spPr>
          <a:xfrm>
            <a:off x="1804915" y="6086935"/>
            <a:ext cx="194299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2FD060-78EF-11BB-5E9F-2510127F9173}"/>
              </a:ext>
            </a:extLst>
          </p:cNvPr>
          <p:cNvSpPr txBox="1"/>
          <p:nvPr/>
        </p:nvSpPr>
        <p:spPr>
          <a:xfrm>
            <a:off x="5711462" y="6086935"/>
            <a:ext cx="2532754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750EEB-0CBC-576B-F48C-FF06703BD49B}"/>
              </a:ext>
            </a:extLst>
          </p:cNvPr>
          <p:cNvSpPr txBox="1"/>
          <p:nvPr/>
        </p:nvSpPr>
        <p:spPr>
          <a:xfrm>
            <a:off x="8771467" y="5679569"/>
            <a:ext cx="3177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Reverse or “-” strand alignment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05C15B-9785-D5F8-2DC4-53E8C1D95A3F}"/>
              </a:ext>
            </a:extLst>
          </p:cNvPr>
          <p:cNvSpPr txBox="1"/>
          <p:nvPr/>
        </p:nvSpPr>
        <p:spPr>
          <a:xfrm>
            <a:off x="7281690" y="3460571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AAAAAAA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72AF44-7BEB-227C-6A1B-1CED772E87D7}"/>
              </a:ext>
            </a:extLst>
          </p:cNvPr>
          <p:cNvSpPr txBox="1"/>
          <p:nvPr/>
        </p:nvSpPr>
        <p:spPr>
          <a:xfrm>
            <a:off x="1660370" y="5030796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AAAAAAA</a:t>
            </a:r>
          </a:p>
        </p:txBody>
      </p:sp>
    </p:spTree>
    <p:extLst>
      <p:ext uri="{BB962C8B-B14F-4D97-AF65-F5344CB8AC3E}">
        <p14:creationId xmlns:p14="http://schemas.microsoft.com/office/powerpoint/2010/main" val="1749372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8B8CD-FE69-7B2A-4664-D58DBAC5A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Spliced alignment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1407C-9244-6D1A-4CE2-EC221D47F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4143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Illumina RNA-seq reads </a:t>
            </a:r>
          </a:p>
          <a:p>
            <a:pPr lvl="1"/>
            <a:r>
              <a:rPr lang="en-US" dirty="0"/>
              <a:t>STAR</a:t>
            </a:r>
          </a:p>
          <a:p>
            <a:pPr lvl="1"/>
            <a:r>
              <a:rPr lang="en-US" dirty="0"/>
              <a:t>HISAT2</a:t>
            </a:r>
          </a:p>
          <a:p>
            <a:r>
              <a:rPr lang="en-US" dirty="0"/>
              <a:t>Long reads (PacBio or ONT):</a:t>
            </a:r>
          </a:p>
          <a:p>
            <a:pPr lvl="1"/>
            <a:r>
              <a:rPr lang="en-US" dirty="0"/>
              <a:t>Minimap2</a:t>
            </a:r>
          </a:p>
          <a:p>
            <a:r>
              <a:rPr lang="en-US" dirty="0"/>
              <a:t>Spliced alignments sometimes produce errors/miss splice sites </a:t>
            </a:r>
          </a:p>
          <a:p>
            <a:pPr lvl="1"/>
            <a:r>
              <a:rPr lang="en-US" dirty="0"/>
              <a:t>“anchors” may be short</a:t>
            </a:r>
          </a:p>
          <a:p>
            <a:pPr marL="914400" lvl="2" indent="0">
              <a:buNone/>
            </a:pPr>
            <a:r>
              <a:rPr lang="en-US" dirty="0">
                <a:highlight>
                  <a:srgbClr val="00FFFF"/>
                </a:highlight>
              </a:rPr>
              <a:t>AGATAA</a:t>
            </a:r>
            <a:r>
              <a:rPr lang="en-US" dirty="0"/>
              <a:t>|(GT)……………(AG)|</a:t>
            </a:r>
            <a:r>
              <a:rPr lang="en-US" dirty="0">
                <a:highlight>
                  <a:srgbClr val="00FFFF"/>
                </a:highlight>
              </a:rPr>
              <a:t>GT</a:t>
            </a:r>
            <a:r>
              <a:rPr lang="en-US" dirty="0"/>
              <a:t> or </a:t>
            </a:r>
            <a:r>
              <a:rPr lang="en-US" dirty="0">
                <a:highlight>
                  <a:srgbClr val="00FFFF"/>
                </a:highlight>
              </a:rPr>
              <a:t>AGATAAGT</a:t>
            </a:r>
            <a:r>
              <a:rPr lang="en-US" dirty="0"/>
              <a:t> ? </a:t>
            </a:r>
          </a:p>
          <a:p>
            <a:pPr lvl="1"/>
            <a:r>
              <a:rPr lang="en-US" dirty="0"/>
              <a:t>Non-canonical splice sites can be off</a:t>
            </a:r>
          </a:p>
          <a:p>
            <a:r>
              <a:rPr lang="en-US" dirty="0"/>
              <a:t>Errors in Oxford Nanopore Technologies reads (especially indels) can lead to imprecise splice site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FEB76-40B7-1CDF-FA18-9A99763D0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283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B930E-0559-0DA2-C7D6-9FA3A1A5F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 format for spliced alignment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C9582D-B5FB-116C-8289-AB6D4D6EE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5266" y="1466810"/>
            <a:ext cx="2788534" cy="2977868"/>
          </a:xfrm>
        </p:spPr>
        <p:txBody>
          <a:bodyPr/>
          <a:lstStyle/>
          <a:p>
            <a:r>
              <a:rPr lang="en-US" dirty="0"/>
              <a:t>Examples of CIGAR strings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C35A2B-7867-B446-7320-DD75F22F0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31" y="4255227"/>
            <a:ext cx="10593278" cy="24292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6B290-6FEF-824F-1943-CEFB211CD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31" y="1484618"/>
            <a:ext cx="7608053" cy="2694902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332A2B-BCED-0687-C2F2-736353587C2E}"/>
              </a:ext>
            </a:extLst>
          </p:cNvPr>
          <p:cNvCxnSpPr/>
          <p:nvPr/>
        </p:nvCxnSpPr>
        <p:spPr>
          <a:xfrm>
            <a:off x="309031" y="4179520"/>
            <a:ext cx="7422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1A4E14A-16E7-DCF9-546A-1E9042271586}"/>
              </a:ext>
            </a:extLst>
          </p:cNvPr>
          <p:cNvSpPr/>
          <p:nvPr/>
        </p:nvSpPr>
        <p:spPr>
          <a:xfrm>
            <a:off x="4093029" y="1879600"/>
            <a:ext cx="1625600" cy="16256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B5BC4D-6BFF-4B7A-7CAA-0A1E2D06EB35}"/>
              </a:ext>
            </a:extLst>
          </p:cNvPr>
          <p:cNvSpPr/>
          <p:nvPr/>
        </p:nvSpPr>
        <p:spPr>
          <a:xfrm>
            <a:off x="3055966" y="5687122"/>
            <a:ext cx="371175" cy="24532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696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B8FCB-73ED-8DDD-93C0-2D14E24CB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Assembly of aligned RNA-seq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C5115-8A33-E86F-8D76-7D36BE76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4970907" cy="51249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Use spliced alignments</a:t>
            </a:r>
          </a:p>
          <a:p>
            <a:r>
              <a:rPr lang="en-US" dirty="0"/>
              <a:t>Typically faster and more accurate</a:t>
            </a:r>
          </a:p>
          <a:p>
            <a:r>
              <a:rPr lang="en-US" dirty="0"/>
              <a:t>Build </a:t>
            </a:r>
            <a:r>
              <a:rPr lang="en-US" i="1" dirty="0"/>
              <a:t>splice graph:</a:t>
            </a:r>
          </a:p>
          <a:p>
            <a:pPr lvl="1"/>
            <a:r>
              <a:rPr lang="en-US" dirty="0"/>
              <a:t>Nodes are exons</a:t>
            </a:r>
          </a:p>
          <a:p>
            <a:pPr lvl="1"/>
            <a:r>
              <a:rPr lang="en-US" dirty="0"/>
              <a:t>Edges are introns</a:t>
            </a:r>
          </a:p>
          <a:p>
            <a:pPr lvl="1"/>
            <a:r>
              <a:rPr lang="en-US" dirty="0"/>
              <a:t>Edge weight is the number of spliced reads</a:t>
            </a:r>
          </a:p>
          <a:p>
            <a:r>
              <a:rPr lang="en-US" dirty="0"/>
              <a:t>Remember that these data represent several linear transcripts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FD99D-5F07-0441-DA42-26D97D694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0E8454-EDB9-F313-7508-D659A7DF4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250" y="1596540"/>
            <a:ext cx="6422690" cy="5026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E39988-27F3-BD0D-FD4F-3B4D1610A782}"/>
              </a:ext>
            </a:extLst>
          </p:cNvPr>
          <p:cNvSpPr txBox="1"/>
          <p:nvPr/>
        </p:nvSpPr>
        <p:spPr>
          <a:xfrm>
            <a:off x="4395718" y="1313038"/>
            <a:ext cx="7853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credit: https://www.biorxiv.org/content/10.1101/2024.02.09.579380v1.full</a:t>
            </a:r>
          </a:p>
        </p:txBody>
      </p:sp>
    </p:spTree>
    <p:extLst>
      <p:ext uri="{BB962C8B-B14F-4D97-AF65-F5344CB8AC3E}">
        <p14:creationId xmlns:p14="http://schemas.microsoft.com/office/powerpoint/2010/main" val="2068933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14349</TotalTime>
  <Words>398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Uses of transcriptome sequencing</vt:lpstr>
      <vt:lpstr>Transcriptome assembly</vt:lpstr>
      <vt:lpstr>De novo transcript assembly</vt:lpstr>
      <vt:lpstr>De novo transcript assemblers</vt:lpstr>
      <vt:lpstr>De novo transcript assemblers</vt:lpstr>
      <vt:lpstr>Spliced alignment</vt:lpstr>
      <vt:lpstr>Spliced alignment</vt:lpstr>
      <vt:lpstr>Spliced alignment programs</vt:lpstr>
      <vt:lpstr>SAM format for spliced alignment</vt:lpstr>
      <vt:lpstr>Assembly of aligned RNA-seq data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Aleksey Zimin</cp:lastModifiedBy>
  <cp:revision>72</cp:revision>
  <dcterms:created xsi:type="dcterms:W3CDTF">2013-08-21T19:17:07Z</dcterms:created>
  <dcterms:modified xsi:type="dcterms:W3CDTF">2025-10-24T14:30:13Z</dcterms:modified>
</cp:coreProperties>
</file>