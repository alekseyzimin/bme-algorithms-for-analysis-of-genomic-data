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801" r:id="rId2"/>
    <p:sldId id="818" r:id="rId3"/>
    <p:sldId id="815" r:id="rId4"/>
    <p:sldId id="847" r:id="rId5"/>
    <p:sldId id="848" r:id="rId6"/>
    <p:sldId id="849" r:id="rId7"/>
    <p:sldId id="819" r:id="rId8"/>
    <p:sldId id="258" r:id="rId9"/>
    <p:sldId id="399" r:id="rId10"/>
    <p:sldId id="82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8B1C"/>
    <a:srgbClr val="BE0260"/>
    <a:srgbClr val="D0005E"/>
    <a:srgbClr val="018ACF"/>
    <a:srgbClr val="D09622"/>
    <a:srgbClr val="CC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27" autoAdjust="0"/>
    <p:restoredTop sz="93721" autoAdjust="0"/>
  </p:normalViewPr>
  <p:slideViewPr>
    <p:cSldViewPr snapToGrid="0">
      <p:cViewPr varScale="1">
        <p:scale>
          <a:sx n="99" d="100"/>
          <a:sy n="99" d="100"/>
        </p:scale>
        <p:origin x="240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152705" cy="1527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ksey Zimin" userId="7f2637d0bc515791" providerId="LiveId" clId="{8553A319-8433-4677-8F80-E28D63617D4C}"/>
    <pc:docChg chg="delSld">
      <pc:chgData name="Aleksey Zimin" userId="7f2637d0bc515791" providerId="LiveId" clId="{8553A319-8433-4677-8F80-E28D63617D4C}" dt="2025-10-22T13:28:36.109" v="1" actId="47"/>
      <pc:docMkLst>
        <pc:docMk/>
      </pc:docMkLst>
      <pc:sldChg chg="del">
        <pc:chgData name="Aleksey Zimin" userId="7f2637d0bc515791" providerId="LiveId" clId="{8553A319-8433-4677-8F80-E28D63617D4C}" dt="2025-10-22T13:28:36.109" v="1" actId="47"/>
        <pc:sldMkLst>
          <pc:docMk/>
          <pc:sldMk cId="1095696619" sldId="266"/>
        </pc:sldMkLst>
      </pc:sldChg>
      <pc:sldChg chg="del">
        <pc:chgData name="Aleksey Zimin" userId="7f2637d0bc515791" providerId="LiveId" clId="{8553A319-8433-4677-8F80-E28D63617D4C}" dt="2025-10-22T13:28:24.867" v="0" actId="47"/>
        <pc:sldMkLst>
          <pc:docMk/>
          <pc:sldMk cId="1183394471" sldId="270"/>
        </pc:sldMkLst>
      </pc:sldChg>
      <pc:sldChg chg="del">
        <pc:chgData name="Aleksey Zimin" userId="7f2637d0bc515791" providerId="LiveId" clId="{8553A319-8433-4677-8F80-E28D63617D4C}" dt="2025-10-22T13:28:24.867" v="0" actId="47"/>
        <pc:sldMkLst>
          <pc:docMk/>
          <pc:sldMk cId="1052403946" sldId="272"/>
        </pc:sldMkLst>
      </pc:sldChg>
      <pc:sldChg chg="del">
        <pc:chgData name="Aleksey Zimin" userId="7f2637d0bc515791" providerId="LiveId" clId="{8553A319-8433-4677-8F80-E28D63617D4C}" dt="2025-10-22T13:28:36.109" v="1" actId="47"/>
        <pc:sldMkLst>
          <pc:docMk/>
          <pc:sldMk cId="582660925" sldId="557"/>
        </pc:sldMkLst>
      </pc:sldChg>
      <pc:sldChg chg="del">
        <pc:chgData name="Aleksey Zimin" userId="7f2637d0bc515791" providerId="LiveId" clId="{8553A319-8433-4677-8F80-E28D63617D4C}" dt="2025-10-22T13:28:36.109" v="1" actId="47"/>
        <pc:sldMkLst>
          <pc:docMk/>
          <pc:sldMk cId="897960614" sldId="559"/>
        </pc:sldMkLst>
      </pc:sldChg>
      <pc:sldChg chg="del">
        <pc:chgData name="Aleksey Zimin" userId="7f2637d0bc515791" providerId="LiveId" clId="{8553A319-8433-4677-8F80-E28D63617D4C}" dt="2025-10-22T13:28:36.109" v="1" actId="47"/>
        <pc:sldMkLst>
          <pc:docMk/>
          <pc:sldMk cId="2016871750" sldId="560"/>
        </pc:sldMkLst>
      </pc:sldChg>
      <pc:sldChg chg="del">
        <pc:chgData name="Aleksey Zimin" userId="7f2637d0bc515791" providerId="LiveId" clId="{8553A319-8433-4677-8F80-E28D63617D4C}" dt="2025-10-22T13:28:24.867" v="0" actId="47"/>
        <pc:sldMkLst>
          <pc:docMk/>
          <pc:sldMk cId="2956323222" sldId="588"/>
        </pc:sldMkLst>
      </pc:sldChg>
      <pc:sldChg chg="del">
        <pc:chgData name="Aleksey Zimin" userId="7f2637d0bc515791" providerId="LiveId" clId="{8553A319-8433-4677-8F80-E28D63617D4C}" dt="2025-10-22T13:28:24.867" v="0" actId="47"/>
        <pc:sldMkLst>
          <pc:docMk/>
          <pc:sldMk cId="494252847" sldId="802"/>
        </pc:sldMkLst>
      </pc:sldChg>
      <pc:sldChg chg="del">
        <pc:chgData name="Aleksey Zimin" userId="7f2637d0bc515791" providerId="LiveId" clId="{8553A319-8433-4677-8F80-E28D63617D4C}" dt="2025-10-22T13:28:36.109" v="1" actId="47"/>
        <pc:sldMkLst>
          <pc:docMk/>
          <pc:sldMk cId="2724807813" sldId="803"/>
        </pc:sldMkLst>
      </pc:sldChg>
      <pc:sldChg chg="del">
        <pc:chgData name="Aleksey Zimin" userId="7f2637d0bc515791" providerId="LiveId" clId="{8553A319-8433-4677-8F80-E28D63617D4C}" dt="2025-10-22T13:28:24.867" v="0" actId="47"/>
        <pc:sldMkLst>
          <pc:docMk/>
          <pc:sldMk cId="1722923118" sldId="805"/>
        </pc:sldMkLst>
      </pc:sldChg>
      <pc:sldChg chg="del">
        <pc:chgData name="Aleksey Zimin" userId="7f2637d0bc515791" providerId="LiveId" clId="{8553A319-8433-4677-8F80-E28D63617D4C}" dt="2025-10-22T13:28:24.867" v="0" actId="47"/>
        <pc:sldMkLst>
          <pc:docMk/>
          <pc:sldMk cId="3059937519" sldId="811"/>
        </pc:sldMkLst>
      </pc:sldChg>
      <pc:sldChg chg="del">
        <pc:chgData name="Aleksey Zimin" userId="7f2637d0bc515791" providerId="LiveId" clId="{8553A319-8433-4677-8F80-E28D63617D4C}" dt="2025-10-22T13:28:24.867" v="0" actId="47"/>
        <pc:sldMkLst>
          <pc:docMk/>
          <pc:sldMk cId="2608576022" sldId="812"/>
        </pc:sldMkLst>
      </pc:sldChg>
      <pc:sldChg chg="del">
        <pc:chgData name="Aleksey Zimin" userId="7f2637d0bc515791" providerId="LiveId" clId="{8553A319-8433-4677-8F80-E28D63617D4C}" dt="2025-10-22T13:28:36.109" v="1" actId="47"/>
        <pc:sldMkLst>
          <pc:docMk/>
          <pc:sldMk cId="1749372544" sldId="813"/>
        </pc:sldMkLst>
      </pc:sldChg>
      <pc:sldChg chg="del">
        <pc:chgData name="Aleksey Zimin" userId="7f2637d0bc515791" providerId="LiveId" clId="{8553A319-8433-4677-8F80-E28D63617D4C}" dt="2025-10-22T13:28:36.109" v="1" actId="47"/>
        <pc:sldMkLst>
          <pc:docMk/>
          <pc:sldMk cId="2465518171" sldId="814"/>
        </pc:sldMkLst>
      </pc:sldChg>
      <pc:sldChg chg="del">
        <pc:chgData name="Aleksey Zimin" userId="7f2637d0bc515791" providerId="LiveId" clId="{8553A319-8433-4677-8F80-E28D63617D4C}" dt="2025-10-22T13:28:36.109" v="1" actId="47"/>
        <pc:sldMkLst>
          <pc:docMk/>
          <pc:sldMk cId="2474178406" sldId="816"/>
        </pc:sldMkLst>
      </pc:sldChg>
      <pc:sldChg chg="del">
        <pc:chgData name="Aleksey Zimin" userId="7f2637d0bc515791" providerId="LiveId" clId="{8553A319-8433-4677-8F80-E28D63617D4C}" dt="2025-10-22T13:28:24.867" v="0" actId="47"/>
        <pc:sldMkLst>
          <pc:docMk/>
          <pc:sldMk cId="1531555332" sldId="817"/>
        </pc:sldMkLst>
      </pc:sldChg>
      <pc:sldChg chg="del">
        <pc:chgData name="Aleksey Zimin" userId="7f2637d0bc515791" providerId="LiveId" clId="{8553A319-8433-4677-8F80-E28D63617D4C}" dt="2025-10-22T13:28:36.109" v="1" actId="47"/>
        <pc:sldMkLst>
          <pc:docMk/>
          <pc:sldMk cId="2740878212" sldId="820"/>
        </pc:sldMkLst>
      </pc:sldChg>
      <pc:sldChg chg="del">
        <pc:chgData name="Aleksey Zimin" userId="7f2637d0bc515791" providerId="LiveId" clId="{8553A319-8433-4677-8F80-E28D63617D4C}" dt="2025-10-22T13:28:36.109" v="1" actId="47"/>
        <pc:sldMkLst>
          <pc:docMk/>
          <pc:sldMk cId="4009283481" sldId="822"/>
        </pc:sldMkLst>
      </pc:sldChg>
      <pc:sldChg chg="del">
        <pc:chgData name="Aleksey Zimin" userId="7f2637d0bc515791" providerId="LiveId" clId="{8553A319-8433-4677-8F80-E28D63617D4C}" dt="2025-10-22T13:28:36.109" v="1" actId="47"/>
        <pc:sldMkLst>
          <pc:docMk/>
          <pc:sldMk cId="2068933949" sldId="823"/>
        </pc:sldMkLst>
      </pc:sldChg>
      <pc:sldChg chg="del">
        <pc:chgData name="Aleksey Zimin" userId="7f2637d0bc515791" providerId="LiveId" clId="{8553A319-8433-4677-8F80-E28D63617D4C}" dt="2025-10-22T13:28:36.109" v="1" actId="47"/>
        <pc:sldMkLst>
          <pc:docMk/>
          <pc:sldMk cId="1248438669" sldId="824"/>
        </pc:sldMkLst>
      </pc:sldChg>
      <pc:sldChg chg="del">
        <pc:chgData name="Aleksey Zimin" userId="7f2637d0bc515791" providerId="LiveId" clId="{8553A319-8433-4677-8F80-E28D63617D4C}" dt="2025-10-22T13:28:36.109" v="1" actId="47"/>
        <pc:sldMkLst>
          <pc:docMk/>
          <pc:sldMk cId="2622166328" sldId="825"/>
        </pc:sldMkLst>
      </pc:sldChg>
      <pc:sldChg chg="del">
        <pc:chgData name="Aleksey Zimin" userId="7f2637d0bc515791" providerId="LiveId" clId="{8553A319-8433-4677-8F80-E28D63617D4C}" dt="2025-10-22T13:28:36.109" v="1" actId="47"/>
        <pc:sldMkLst>
          <pc:docMk/>
          <pc:sldMk cId="2174087718" sldId="826"/>
        </pc:sldMkLst>
      </pc:sldChg>
      <pc:sldChg chg="del">
        <pc:chgData name="Aleksey Zimin" userId="7f2637d0bc515791" providerId="LiveId" clId="{8553A319-8433-4677-8F80-E28D63617D4C}" dt="2025-10-22T13:28:36.109" v="1" actId="47"/>
        <pc:sldMkLst>
          <pc:docMk/>
          <pc:sldMk cId="14013305" sldId="827"/>
        </pc:sldMkLst>
      </pc:sldChg>
      <pc:sldChg chg="del">
        <pc:chgData name="Aleksey Zimin" userId="7f2637d0bc515791" providerId="LiveId" clId="{8553A319-8433-4677-8F80-E28D63617D4C}" dt="2025-10-22T13:28:36.109" v="1" actId="47"/>
        <pc:sldMkLst>
          <pc:docMk/>
          <pc:sldMk cId="2055598344" sldId="828"/>
        </pc:sldMkLst>
      </pc:sldChg>
      <pc:sldChg chg="del">
        <pc:chgData name="Aleksey Zimin" userId="7f2637d0bc515791" providerId="LiveId" clId="{8553A319-8433-4677-8F80-E28D63617D4C}" dt="2025-10-22T13:28:36.109" v="1" actId="47"/>
        <pc:sldMkLst>
          <pc:docMk/>
          <pc:sldMk cId="4181278750" sldId="829"/>
        </pc:sldMkLst>
      </pc:sldChg>
      <pc:sldChg chg="del">
        <pc:chgData name="Aleksey Zimin" userId="7f2637d0bc515791" providerId="LiveId" clId="{8553A319-8433-4677-8F80-E28D63617D4C}" dt="2025-10-22T13:28:36.109" v="1" actId="47"/>
        <pc:sldMkLst>
          <pc:docMk/>
          <pc:sldMk cId="2374436574" sldId="830"/>
        </pc:sldMkLst>
      </pc:sldChg>
      <pc:sldChg chg="del">
        <pc:chgData name="Aleksey Zimin" userId="7f2637d0bc515791" providerId="LiveId" clId="{8553A319-8433-4677-8F80-E28D63617D4C}" dt="2025-10-22T13:28:36.109" v="1" actId="47"/>
        <pc:sldMkLst>
          <pc:docMk/>
          <pc:sldMk cId="2290969468" sldId="831"/>
        </pc:sldMkLst>
      </pc:sldChg>
      <pc:sldChg chg="del">
        <pc:chgData name="Aleksey Zimin" userId="7f2637d0bc515791" providerId="LiveId" clId="{8553A319-8433-4677-8F80-E28D63617D4C}" dt="2025-10-22T13:28:36.109" v="1" actId="47"/>
        <pc:sldMkLst>
          <pc:docMk/>
          <pc:sldMk cId="1495454639" sldId="832"/>
        </pc:sldMkLst>
      </pc:sldChg>
      <pc:sldChg chg="del">
        <pc:chgData name="Aleksey Zimin" userId="7f2637d0bc515791" providerId="LiveId" clId="{8553A319-8433-4677-8F80-E28D63617D4C}" dt="2025-10-22T13:28:36.109" v="1" actId="47"/>
        <pc:sldMkLst>
          <pc:docMk/>
          <pc:sldMk cId="3625668558" sldId="833"/>
        </pc:sldMkLst>
      </pc:sldChg>
      <pc:sldChg chg="del">
        <pc:chgData name="Aleksey Zimin" userId="7f2637d0bc515791" providerId="LiveId" clId="{8553A319-8433-4677-8F80-E28D63617D4C}" dt="2025-10-22T13:28:36.109" v="1" actId="47"/>
        <pc:sldMkLst>
          <pc:docMk/>
          <pc:sldMk cId="2230780895" sldId="834"/>
        </pc:sldMkLst>
      </pc:sldChg>
      <pc:sldChg chg="del">
        <pc:chgData name="Aleksey Zimin" userId="7f2637d0bc515791" providerId="LiveId" clId="{8553A319-8433-4677-8F80-E28D63617D4C}" dt="2025-10-22T13:28:36.109" v="1" actId="47"/>
        <pc:sldMkLst>
          <pc:docMk/>
          <pc:sldMk cId="664404228" sldId="835"/>
        </pc:sldMkLst>
      </pc:sldChg>
      <pc:sldChg chg="del">
        <pc:chgData name="Aleksey Zimin" userId="7f2637d0bc515791" providerId="LiveId" clId="{8553A319-8433-4677-8F80-E28D63617D4C}" dt="2025-10-22T13:28:36.109" v="1" actId="47"/>
        <pc:sldMkLst>
          <pc:docMk/>
          <pc:sldMk cId="3256696827" sldId="836"/>
        </pc:sldMkLst>
      </pc:sldChg>
      <pc:sldChg chg="del">
        <pc:chgData name="Aleksey Zimin" userId="7f2637d0bc515791" providerId="LiveId" clId="{8553A319-8433-4677-8F80-E28D63617D4C}" dt="2025-10-22T13:28:36.109" v="1" actId="47"/>
        <pc:sldMkLst>
          <pc:docMk/>
          <pc:sldMk cId="1946252673" sldId="837"/>
        </pc:sldMkLst>
      </pc:sldChg>
      <pc:sldChg chg="del">
        <pc:chgData name="Aleksey Zimin" userId="7f2637d0bc515791" providerId="LiveId" clId="{8553A319-8433-4677-8F80-E28D63617D4C}" dt="2025-10-22T13:28:36.109" v="1" actId="47"/>
        <pc:sldMkLst>
          <pc:docMk/>
          <pc:sldMk cId="1295660035" sldId="838"/>
        </pc:sldMkLst>
      </pc:sldChg>
      <pc:sldChg chg="del">
        <pc:chgData name="Aleksey Zimin" userId="7f2637d0bc515791" providerId="LiveId" clId="{8553A319-8433-4677-8F80-E28D63617D4C}" dt="2025-10-22T13:28:36.109" v="1" actId="47"/>
        <pc:sldMkLst>
          <pc:docMk/>
          <pc:sldMk cId="1256113951" sldId="839"/>
        </pc:sldMkLst>
      </pc:sldChg>
      <pc:sldChg chg="del">
        <pc:chgData name="Aleksey Zimin" userId="7f2637d0bc515791" providerId="LiveId" clId="{8553A319-8433-4677-8F80-E28D63617D4C}" dt="2025-10-22T13:28:36.109" v="1" actId="47"/>
        <pc:sldMkLst>
          <pc:docMk/>
          <pc:sldMk cId="3012806712" sldId="840"/>
        </pc:sldMkLst>
      </pc:sldChg>
      <pc:sldChg chg="del">
        <pc:chgData name="Aleksey Zimin" userId="7f2637d0bc515791" providerId="LiveId" clId="{8553A319-8433-4677-8F80-E28D63617D4C}" dt="2025-10-22T13:28:36.109" v="1" actId="47"/>
        <pc:sldMkLst>
          <pc:docMk/>
          <pc:sldMk cId="763290966" sldId="841"/>
        </pc:sldMkLst>
      </pc:sldChg>
      <pc:sldChg chg="del">
        <pc:chgData name="Aleksey Zimin" userId="7f2637d0bc515791" providerId="LiveId" clId="{8553A319-8433-4677-8F80-E28D63617D4C}" dt="2025-10-22T13:28:36.109" v="1" actId="47"/>
        <pc:sldMkLst>
          <pc:docMk/>
          <pc:sldMk cId="2459509777" sldId="842"/>
        </pc:sldMkLst>
      </pc:sldChg>
      <pc:sldChg chg="del">
        <pc:chgData name="Aleksey Zimin" userId="7f2637d0bc515791" providerId="LiveId" clId="{8553A319-8433-4677-8F80-E28D63617D4C}" dt="2025-10-22T13:28:36.109" v="1" actId="47"/>
        <pc:sldMkLst>
          <pc:docMk/>
          <pc:sldMk cId="4155191155" sldId="843"/>
        </pc:sldMkLst>
      </pc:sldChg>
      <pc:sldChg chg="del">
        <pc:chgData name="Aleksey Zimin" userId="7f2637d0bc515791" providerId="LiveId" clId="{8553A319-8433-4677-8F80-E28D63617D4C}" dt="2025-10-22T13:28:36.109" v="1" actId="47"/>
        <pc:sldMkLst>
          <pc:docMk/>
          <pc:sldMk cId="1098893626" sldId="844"/>
        </pc:sldMkLst>
      </pc:sldChg>
      <pc:sldChg chg="del">
        <pc:chgData name="Aleksey Zimin" userId="7f2637d0bc515791" providerId="LiveId" clId="{8553A319-8433-4677-8F80-E28D63617D4C}" dt="2025-10-22T13:28:36.109" v="1" actId="47"/>
        <pc:sldMkLst>
          <pc:docMk/>
          <pc:sldMk cId="3967168509" sldId="845"/>
        </pc:sldMkLst>
      </pc:sldChg>
      <pc:sldChg chg="del">
        <pc:chgData name="Aleksey Zimin" userId="7f2637d0bc515791" providerId="LiveId" clId="{8553A319-8433-4677-8F80-E28D63617D4C}" dt="2025-10-22T13:28:36.109" v="1" actId="47"/>
        <pc:sldMkLst>
          <pc:docMk/>
          <pc:sldMk cId="3641111415" sldId="84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C61B90-1233-4265-A8E1-4CB85DE126FB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313FD6-7C7B-4426-BFC4-490AC0CFB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9771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98620" y="1138426"/>
            <a:ext cx="10363200" cy="137434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38293" y="4650641"/>
            <a:ext cx="8534400" cy="1374345"/>
          </a:xfrm>
        </p:spPr>
        <p:txBody>
          <a:bodyPr>
            <a:normAutofit/>
          </a:bodyPr>
          <a:lstStyle>
            <a:lvl1pPr marL="0" indent="0" algn="r">
              <a:buNone/>
              <a:defRPr sz="2600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</a:t>
            </a:r>
          </a:p>
          <a:p>
            <a:r>
              <a:rPr lang="en-US" dirty="0"/>
              <a:t>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73EFF-6084-460D-96FA-2FA787A98816}" type="datetime1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875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620" y="680310"/>
            <a:ext cx="10972800" cy="458115"/>
          </a:xfrm>
        </p:spPr>
        <p:txBody>
          <a:bodyPr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3918803"/>
          </a:xfrm>
        </p:spPr>
        <p:txBody>
          <a:bodyPr/>
          <a:lstStyle>
            <a:lvl1pPr>
              <a:defRPr sz="28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F86A1-0F17-41D8-9FFA-9520AF33BFC6}" type="datetime1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471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1081" y="527605"/>
            <a:ext cx="9354927" cy="610820"/>
          </a:xfrm>
        </p:spPr>
        <p:txBody>
          <a:bodyPr>
            <a:normAutofit/>
          </a:bodyPr>
          <a:lstStyle>
            <a:lvl1pPr algn="l">
              <a:defRPr sz="3600">
                <a:solidFill>
                  <a:srgbClr val="D0005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31082" y="1138425"/>
            <a:ext cx="9354927" cy="4275740"/>
          </a:xfrm>
        </p:spPr>
        <p:txBody>
          <a:bodyPr/>
          <a:lstStyle>
            <a:lvl1pPr>
              <a:defRPr sz="28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692F4-087A-4F4C-9829-F340F0646973}" type="datetime1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3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80BFE-E826-4B70-BF6B-3710B05194AF}" type="datetime1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441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182DA-5425-42F9-BDB8-0DBDA15B981E}" type="datetime1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91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620" y="527605"/>
            <a:ext cx="10972800" cy="610820"/>
          </a:xfrm>
        </p:spPr>
        <p:txBody>
          <a:bodyPr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8620" y="1596539"/>
            <a:ext cx="53869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D0005E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620" y="2226402"/>
            <a:ext cx="5386917" cy="3035058"/>
          </a:xfrm>
        </p:spPr>
        <p:txBody>
          <a:bodyPr/>
          <a:lstStyle>
            <a:lvl1pPr>
              <a:defRPr sz="24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 sz="2000"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 sz="1800"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 sz="1600"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 sz="1600">
                <a:solidFill>
                  <a:schemeClr val="tx2">
                    <a:lumMod val="50000"/>
                  </a:schemeClr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2388" y="1596539"/>
            <a:ext cx="5389033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D0005E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2388" y="2226402"/>
            <a:ext cx="5389033" cy="3035058"/>
          </a:xfrm>
        </p:spPr>
        <p:txBody>
          <a:bodyPr/>
          <a:lstStyle>
            <a:lvl1pPr>
              <a:defRPr sz="24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 sz="2000"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 sz="1800"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 sz="1600"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 sz="1600">
                <a:solidFill>
                  <a:schemeClr val="tx2">
                    <a:lumMod val="50000"/>
                  </a:schemeClr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B7164-C7F7-495E-9D5F-43BBDEBECF81}" type="datetime1">
              <a:rPr lang="en-US" smtClean="0"/>
              <a:t>10/22/2025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11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C5AB8-78AA-4DA3-952F-F5057D2DAAA5}" type="datetime1">
              <a:rPr lang="en-US" smtClean="0"/>
              <a:t>10/22/2025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77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CB869-D2D8-4282-A525-D63712C1B900}" type="datetime1">
              <a:rPr lang="en-US" smtClean="0"/>
              <a:t>10/22/2025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864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8CF58-29B0-4D31-BE55-D9C1F05848B7}" type="datetime1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452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692F8-B2BD-4E07-9A92-E5080B238DFA}" type="datetime1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07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88673-6F42-4090-A040-176AF0E6DEAE}" type="datetime1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665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15288-B7FB-4510-97B0-C840A6671DDD}" type="datetime1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6099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age"/>
          <p:cNvSpPr>
            <a:spLocks noGrp="1"/>
          </p:cNvSpPr>
          <p:nvPr>
            <p:ph type="pic" sz="half" idx="13"/>
          </p:nvPr>
        </p:nvSpPr>
        <p:spPr>
          <a:xfrm>
            <a:off x="6584950" y="1574800"/>
            <a:ext cx="4762500" cy="46482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44550" y="1574800"/>
            <a:ext cx="5111750" cy="4648200"/>
          </a:xfrm>
          <a:prstGeom prst="rect">
            <a:avLst/>
          </a:prstGeom>
        </p:spPr>
        <p:txBody>
          <a:bodyPr/>
          <a:lstStyle>
            <a:lvl1pPr marL="279400" indent="-279400">
              <a:spcBef>
                <a:spcPts val="2250"/>
              </a:spcBef>
              <a:defRPr sz="1900"/>
            </a:lvl1pPr>
            <a:lvl2pPr marL="558800" indent="-279400">
              <a:spcBef>
                <a:spcPts val="2250"/>
              </a:spcBef>
              <a:defRPr sz="1900"/>
            </a:lvl2pPr>
            <a:lvl3pPr marL="838200" indent="-279400">
              <a:spcBef>
                <a:spcPts val="2250"/>
              </a:spcBef>
              <a:defRPr sz="1900"/>
            </a:lvl3pPr>
            <a:lvl4pPr marL="1117600" indent="-279400">
              <a:spcBef>
                <a:spcPts val="2250"/>
              </a:spcBef>
              <a:defRPr sz="1900"/>
            </a:lvl4pPr>
            <a:lvl5pPr marL="1397000" indent="-279400">
              <a:spcBef>
                <a:spcPts val="2250"/>
              </a:spcBef>
              <a:defRPr sz="19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89391267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06072081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>
            <a:spLocks noGrp="1"/>
          </p:cNvSpPr>
          <p:nvPr>
            <p:ph type="body" idx="1"/>
          </p:nvPr>
        </p:nvSpPr>
        <p:spPr>
          <a:xfrm>
            <a:off x="844550" y="889000"/>
            <a:ext cx="10502900" cy="5080000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Trebuchet MS"/>
                <a:ea typeface="Trebuchet MS"/>
                <a:cs typeface="Trebuchet MS"/>
                <a:sym typeface="Trebuchet MS"/>
              </a:defRPr>
            </a:lvl1pPr>
            <a:lvl2pPr>
              <a:defRPr sz="2400">
                <a:latin typeface="Trebuchet MS"/>
                <a:ea typeface="Trebuchet MS"/>
                <a:cs typeface="Trebuchet MS"/>
                <a:sym typeface="Trebuchet MS"/>
              </a:defRPr>
            </a:lvl2pPr>
            <a:lvl3pPr>
              <a:defRPr sz="2400">
                <a:latin typeface="Trebuchet MS"/>
                <a:ea typeface="Trebuchet MS"/>
                <a:cs typeface="Trebuchet MS"/>
                <a:sym typeface="Trebuchet MS"/>
              </a:defRPr>
            </a:lvl3pPr>
            <a:lvl4pPr>
              <a:defRPr sz="2400">
                <a:latin typeface="Trebuchet MS"/>
                <a:ea typeface="Trebuchet MS"/>
                <a:cs typeface="Trebuchet MS"/>
                <a:sym typeface="Trebuchet MS"/>
              </a:defRPr>
            </a:lvl4pPr>
            <a:lvl5pPr>
              <a:defRPr sz="2400">
                <a:latin typeface="Trebuchet MS"/>
                <a:ea typeface="Trebuchet MS"/>
                <a:cs typeface="Trebuchet MS"/>
                <a:sym typeface="Trebuchet MS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3942711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08395F-151A-4402-98B5-C84E535B9AEF}" type="datetime1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039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5" r:id="rId13"/>
    <p:sldLayoutId id="2147483666" r:id="rId14"/>
    <p:sldLayoutId id="2147483667" r:id="rId15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he-Sequence-Ontology/Specifications/blob/master/gff3.md" TargetMode="External"/><Relationship Id="rId2" Type="http://schemas.openxmlformats.org/officeDocument/2006/relationships/hyperlink" Target="http://mblab.wustl.edu/GTF22.html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NICUp8C6rm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E4CD6-2875-FDFF-7915-3B5BC5ED0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Gene representation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CE131A-8F86-E8C2-F884-2B211290AF52}"/>
              </a:ext>
            </a:extLst>
          </p:cNvPr>
          <p:cNvSpPr txBox="1"/>
          <p:nvPr/>
        </p:nvSpPr>
        <p:spPr>
          <a:xfrm>
            <a:off x="1231392" y="1690688"/>
            <a:ext cx="6937248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gene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6989CC-F401-9C7F-BE81-57FCE2113215}"/>
              </a:ext>
            </a:extLst>
          </p:cNvPr>
          <p:cNvSpPr txBox="1"/>
          <p:nvPr/>
        </p:nvSpPr>
        <p:spPr>
          <a:xfrm>
            <a:off x="1243584" y="2724912"/>
            <a:ext cx="6937248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transcript or mRNA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6E6592B-A895-0274-FBE9-7791705A327B}"/>
              </a:ext>
            </a:extLst>
          </p:cNvPr>
          <p:cNvCxnSpPr>
            <a:stCxn id="5" idx="2"/>
            <a:endCxn id="6" idx="0"/>
          </p:cNvCxnSpPr>
          <p:nvPr/>
        </p:nvCxnSpPr>
        <p:spPr>
          <a:xfrm>
            <a:off x="4700016" y="2060020"/>
            <a:ext cx="12192" cy="6648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2244EA0-0956-D2AA-7CA8-9A33C6844948}"/>
              </a:ext>
            </a:extLst>
          </p:cNvPr>
          <p:cNvSpPr txBox="1"/>
          <p:nvPr/>
        </p:nvSpPr>
        <p:spPr>
          <a:xfrm>
            <a:off x="2816352" y="3419821"/>
            <a:ext cx="5364480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transcript or mRNA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58A096-7FB8-C20C-8676-197D29A15AAC}"/>
              </a:ext>
            </a:extLst>
          </p:cNvPr>
          <p:cNvSpPr txBox="1"/>
          <p:nvPr/>
        </p:nvSpPr>
        <p:spPr>
          <a:xfrm>
            <a:off x="4447032" y="2834860"/>
            <a:ext cx="5852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…</a:t>
            </a:r>
          </a:p>
        </p:txBody>
      </p:sp>
      <p:sp>
        <p:nvSpPr>
          <p:cNvPr id="29" name="Arrow: Curved Right 28">
            <a:extLst>
              <a:ext uri="{FF2B5EF4-FFF2-40B4-BE49-F238E27FC236}">
                <a16:creationId xmlns:a16="http://schemas.microsoft.com/office/drawing/2014/main" id="{0370C6CE-81CA-6CCD-65EE-69ADDAC38234}"/>
              </a:ext>
            </a:extLst>
          </p:cNvPr>
          <p:cNvSpPr/>
          <p:nvPr/>
        </p:nvSpPr>
        <p:spPr>
          <a:xfrm>
            <a:off x="170688" y="2909578"/>
            <a:ext cx="975360" cy="1963222"/>
          </a:xfrm>
          <a:prstGeom prst="curvedRightArrow">
            <a:avLst>
              <a:gd name="adj1" fmla="val 7218"/>
              <a:gd name="adj2" fmla="val 12200"/>
              <a:gd name="adj3" fmla="val 25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54955FC-436E-ABF6-AE14-A372900D7D37}"/>
              </a:ext>
            </a:extLst>
          </p:cNvPr>
          <p:cNvSpPr txBox="1"/>
          <p:nvPr/>
        </p:nvSpPr>
        <p:spPr>
          <a:xfrm>
            <a:off x="1243584" y="4350256"/>
            <a:ext cx="975360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B063514-D8A9-C932-48C1-F4561C3CC214}"/>
              </a:ext>
            </a:extLst>
          </p:cNvPr>
          <p:cNvSpPr txBox="1"/>
          <p:nvPr/>
        </p:nvSpPr>
        <p:spPr>
          <a:xfrm>
            <a:off x="2218944" y="4350256"/>
            <a:ext cx="975360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exon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4A35B60-FA54-FCB1-742D-B12EE37E77DD}"/>
              </a:ext>
            </a:extLst>
          </p:cNvPr>
          <p:cNvSpPr txBox="1"/>
          <p:nvPr/>
        </p:nvSpPr>
        <p:spPr>
          <a:xfrm>
            <a:off x="3182112" y="4350256"/>
            <a:ext cx="1530096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31BB656-58F9-7621-B1CE-332DF54FEA8E}"/>
              </a:ext>
            </a:extLst>
          </p:cNvPr>
          <p:cNvSpPr txBox="1"/>
          <p:nvPr/>
        </p:nvSpPr>
        <p:spPr>
          <a:xfrm>
            <a:off x="4700016" y="4350256"/>
            <a:ext cx="1347216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exon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EFD9D4C-CA1B-2EDF-A1FE-946CD0FCF595}"/>
              </a:ext>
            </a:extLst>
          </p:cNvPr>
          <p:cNvSpPr txBox="1"/>
          <p:nvPr/>
        </p:nvSpPr>
        <p:spPr>
          <a:xfrm>
            <a:off x="6047232" y="4350256"/>
            <a:ext cx="2121408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exon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3C13542-4436-33FE-8C48-A5674CFAA7D4}"/>
              </a:ext>
            </a:extLst>
          </p:cNvPr>
          <p:cNvSpPr txBox="1"/>
          <p:nvPr/>
        </p:nvSpPr>
        <p:spPr>
          <a:xfrm>
            <a:off x="1231392" y="5015148"/>
            <a:ext cx="975360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5’ UTR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094E4C5-C7A3-E092-294C-0D9DD1F37B42}"/>
              </a:ext>
            </a:extLst>
          </p:cNvPr>
          <p:cNvSpPr txBox="1"/>
          <p:nvPr/>
        </p:nvSpPr>
        <p:spPr>
          <a:xfrm>
            <a:off x="2206752" y="5015148"/>
            <a:ext cx="975360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5’ UTR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F2EB241-1E1B-C811-B334-4FEB236BCD15}"/>
              </a:ext>
            </a:extLst>
          </p:cNvPr>
          <p:cNvSpPr txBox="1"/>
          <p:nvPr/>
        </p:nvSpPr>
        <p:spPr>
          <a:xfrm>
            <a:off x="3169920" y="5015148"/>
            <a:ext cx="890016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5’UTR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DBEBE1D-4A2E-4D05-67A7-FFB4902707D7}"/>
              </a:ext>
            </a:extLst>
          </p:cNvPr>
          <p:cNvSpPr txBox="1"/>
          <p:nvPr/>
        </p:nvSpPr>
        <p:spPr>
          <a:xfrm>
            <a:off x="4687824" y="5015148"/>
            <a:ext cx="1359408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CDS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86D510E-FE24-4A85-C78F-9F091043147F}"/>
              </a:ext>
            </a:extLst>
          </p:cNvPr>
          <p:cNvSpPr txBox="1"/>
          <p:nvPr/>
        </p:nvSpPr>
        <p:spPr>
          <a:xfrm>
            <a:off x="6047232" y="5015148"/>
            <a:ext cx="1219200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CDS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A1FFBC8-C0D0-936E-682D-2BF90662D638}"/>
              </a:ext>
            </a:extLst>
          </p:cNvPr>
          <p:cNvSpPr txBox="1"/>
          <p:nvPr/>
        </p:nvSpPr>
        <p:spPr>
          <a:xfrm>
            <a:off x="7266432" y="5015148"/>
            <a:ext cx="890016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3’ UTR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ACE45AD-F52B-FFC3-1723-E991FA166FCC}"/>
              </a:ext>
            </a:extLst>
          </p:cNvPr>
          <p:cNvSpPr txBox="1"/>
          <p:nvPr/>
        </p:nvSpPr>
        <p:spPr>
          <a:xfrm>
            <a:off x="4059936" y="5015148"/>
            <a:ext cx="627888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CDS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CCF03DF-1787-C9C4-3011-3A1E0B1F5466}"/>
              </a:ext>
            </a:extLst>
          </p:cNvPr>
          <p:cNvCxnSpPr>
            <a:cxnSpLocks/>
          </p:cNvCxnSpPr>
          <p:nvPr/>
        </p:nvCxnSpPr>
        <p:spPr>
          <a:xfrm flipV="1">
            <a:off x="4059936" y="5555552"/>
            <a:ext cx="0" cy="4023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60072C10-6691-3471-5CFE-C3D2214AE3AA}"/>
              </a:ext>
            </a:extLst>
          </p:cNvPr>
          <p:cNvSpPr txBox="1"/>
          <p:nvPr/>
        </p:nvSpPr>
        <p:spPr>
          <a:xfrm>
            <a:off x="3380232" y="6000405"/>
            <a:ext cx="1359408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Start codon (ATG)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B6BAFE07-0244-24EF-14C3-2083ABAA9386}"/>
              </a:ext>
            </a:extLst>
          </p:cNvPr>
          <p:cNvCxnSpPr>
            <a:cxnSpLocks/>
          </p:cNvCxnSpPr>
          <p:nvPr/>
        </p:nvCxnSpPr>
        <p:spPr>
          <a:xfrm flipV="1">
            <a:off x="7266432" y="5530747"/>
            <a:ext cx="0" cy="4023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172C458D-7A2E-36C9-00EB-45D4A5F4735D}"/>
              </a:ext>
            </a:extLst>
          </p:cNvPr>
          <p:cNvSpPr txBox="1"/>
          <p:nvPr/>
        </p:nvSpPr>
        <p:spPr>
          <a:xfrm>
            <a:off x="6412991" y="5975600"/>
            <a:ext cx="1743455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Stop codon (TAA,TAG,TGA)</a:t>
            </a:r>
          </a:p>
        </p:txBody>
      </p:sp>
      <p:pic>
        <p:nvPicPr>
          <p:cNvPr id="3" name="Picture 2" descr="A picture containing text&#10;&#10;Description automatically generated">
            <a:extLst>
              <a:ext uri="{FF2B5EF4-FFF2-40B4-BE49-F238E27FC236}">
                <a16:creationId xmlns:a16="http://schemas.microsoft.com/office/drawing/2014/main" id="{1C32671D-0127-95B6-D8BE-06B7F6D8188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199" b="24212"/>
          <a:stretch/>
        </p:blipFill>
        <p:spPr>
          <a:xfrm>
            <a:off x="8519160" y="1540660"/>
            <a:ext cx="7482545" cy="4988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239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5898C-DA9B-EAF4-75E3-64DAF912A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GTF vs GFF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A856BE-53E0-3368-5EDE-53D04AED2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85234F3-B2E6-5841-AF5C-70B4F0B320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888" y="1938111"/>
            <a:ext cx="10972800" cy="28500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There are many versions of GFF/GTF, the two most popular are: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222222"/>
                </a:solidFill>
                <a:latin typeface="arial" panose="020B0604020202020204" pitchFamily="34" charset="0"/>
              </a:rPr>
              <a:t>GTF2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 (Gene Transfer Format):</a:t>
            </a:r>
            <a:b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</a:b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  <a:hlinkClick r:id="rId2"/>
              </a:rPr>
              <a:t>http://mblab.wustl.edu/GTF22.html</a:t>
            </a:r>
            <a:endParaRPr lang="en-US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222222"/>
                </a:solidFill>
                <a:latin typeface="arial" panose="020B0604020202020204" pitchFamily="34" charset="0"/>
              </a:rPr>
              <a:t>GFF3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 (</a:t>
            </a:r>
            <a:r>
              <a:rPr lang="en-US" dirty="0"/>
              <a:t>Generic Feature Format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): </a:t>
            </a:r>
            <a:b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</a:b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  <a:hlinkClick r:id="rId3"/>
              </a:rPr>
              <a:t>https://github.com/The-Sequence-Ontology/Specifications/blob/master/gff3.md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62470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39D4D-76D4-B95D-0362-002659003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620" y="136525"/>
            <a:ext cx="5497380" cy="1076258"/>
          </a:xfrm>
        </p:spPr>
        <p:txBody>
          <a:bodyPr>
            <a:normAutofit fontScale="90000"/>
          </a:bodyPr>
          <a:lstStyle/>
          <a:p>
            <a:r>
              <a:rPr lang="en-US" dirty="0"/>
              <a:t>Similarities and differences between GTF and GFF files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DCE818-DBC3-BB26-4375-20EFAB6B2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8B1F64A-5142-EDE7-A81E-5611FD2A6CCE}"/>
              </a:ext>
            </a:extLst>
          </p:cNvPr>
          <p:cNvSpPr/>
          <p:nvPr/>
        </p:nvSpPr>
        <p:spPr>
          <a:xfrm>
            <a:off x="138212" y="1450282"/>
            <a:ext cx="10767212" cy="57861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22222"/>
                </a:solidFill>
              </a:rPr>
              <a:t>SIMILAR:</a:t>
            </a:r>
            <a:r>
              <a:rPr lang="en-US" sz="2000" dirty="0">
                <a:solidFill>
                  <a:srgbClr val="222222"/>
                </a:solidFill>
              </a:rPr>
              <a:t> 9 columns tab-separated; Attribute (9</a:t>
            </a:r>
            <a:r>
              <a:rPr lang="en-US" sz="2000" baseline="30000" dirty="0">
                <a:solidFill>
                  <a:srgbClr val="222222"/>
                </a:solidFill>
              </a:rPr>
              <a:t>th</a:t>
            </a:r>
            <a:r>
              <a:rPr lang="en-US" sz="2000" dirty="0">
                <a:solidFill>
                  <a:srgbClr val="222222"/>
                </a:solidFill>
              </a:rPr>
              <a:t> column) are semicolon-separated; coordinates are 1-based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22222"/>
                </a:solidFill>
              </a:rPr>
              <a:t>GTF2 (Gene Transfer Format ):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22222"/>
                </a:solidFill>
              </a:rPr>
              <a:t>“Feature” must contain </a:t>
            </a:r>
            <a:r>
              <a:rPr lang="en-US" sz="2000" dirty="0"/>
              <a:t>"CDS", ”exon”, "</a:t>
            </a:r>
            <a:r>
              <a:rPr lang="en-US" sz="2000" dirty="0" err="1"/>
              <a:t>start_codon</a:t>
            </a:r>
            <a:r>
              <a:rPr lang="en-US" sz="2000" dirty="0"/>
              <a:t>", "</a:t>
            </a:r>
            <a:r>
              <a:rPr lang="en-US" sz="2000" dirty="0" err="1"/>
              <a:t>stop_codon</a:t>
            </a:r>
            <a:r>
              <a:rPr lang="en-US" sz="2000" dirty="0"/>
              <a:t>“; </a:t>
            </a:r>
            <a:br>
              <a:rPr lang="en-US" sz="2000" dirty="0"/>
            </a:br>
            <a:r>
              <a:rPr lang="en-US" sz="2000" dirty="0"/>
              <a:t>optional “5UTR”, “3UTR”, “transcript”</a:t>
            </a:r>
            <a:endParaRPr lang="en-US" sz="2000" u="sng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Attributes must contain </a:t>
            </a:r>
            <a:r>
              <a:rPr lang="en-US" sz="2000" u="sng" dirty="0"/>
              <a:t>space-separated</a:t>
            </a:r>
            <a:r>
              <a:rPr lang="en-US" sz="2000" dirty="0"/>
              <a:t> </a:t>
            </a:r>
            <a:r>
              <a:rPr lang="en-US" sz="2000" i="1" dirty="0" err="1"/>
              <a:t>gene_id</a:t>
            </a:r>
            <a:r>
              <a:rPr lang="en-US" sz="2000" i="1" dirty="0"/>
              <a:t> “value”; </a:t>
            </a:r>
            <a:r>
              <a:rPr lang="en-US" sz="2000" i="1" dirty="0" err="1"/>
              <a:t>transcript_id</a:t>
            </a:r>
            <a:r>
              <a:rPr lang="en-US" sz="2000" i="1" dirty="0"/>
              <a:t> “value”; </a:t>
            </a:r>
            <a:r>
              <a:rPr lang="en-US" sz="2000" dirty="0"/>
              <a:t>separated by semicolons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22222"/>
                </a:solidFill>
              </a:rPr>
              <a:t>GFF3 (</a:t>
            </a:r>
            <a:r>
              <a:rPr lang="en-US" sz="2400" dirty="0"/>
              <a:t>Generic Feature Format</a:t>
            </a:r>
            <a:r>
              <a:rPr lang="en-US" sz="2400" dirty="0">
                <a:solidFill>
                  <a:srgbClr val="222222"/>
                </a:solidFill>
              </a:rPr>
              <a:t>):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Transcript typically has “mRNA” feature, feature list is not strict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Attributes must be </a:t>
            </a:r>
            <a:r>
              <a:rPr lang="en-US" sz="2000" u="sng" dirty="0"/>
              <a:t>“=“-separated</a:t>
            </a:r>
            <a:r>
              <a:rPr lang="en-US" sz="2000" dirty="0"/>
              <a:t> </a:t>
            </a:r>
            <a:r>
              <a:rPr lang="en-US" sz="2000" i="1" dirty="0"/>
              <a:t>tag=value; </a:t>
            </a:r>
            <a:r>
              <a:rPr lang="en-US" sz="2000" dirty="0"/>
              <a:t>separated by semicolons, any “=“ or “;” in the values must be escaped as %3D and %3B (hex value preceded by %)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Tags: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i="1" dirty="0"/>
              <a:t>ID – </a:t>
            </a:r>
            <a:r>
              <a:rPr lang="en-US" sz="2000" dirty="0"/>
              <a:t>required for features that have children, or those that span multiple lines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i="1" dirty="0"/>
              <a:t>Name</a:t>
            </a:r>
            <a:r>
              <a:rPr lang="en-US" sz="2000" dirty="0"/>
              <a:t> – display name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i="1" dirty="0"/>
              <a:t>Alias</a:t>
            </a:r>
            <a:r>
              <a:rPr lang="en-US" sz="2000" dirty="0"/>
              <a:t> – secondary name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i="1" dirty="0"/>
              <a:t>Parent</a:t>
            </a:r>
            <a:r>
              <a:rPr lang="en-US" sz="2000" dirty="0"/>
              <a:t> – parent of a feature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i="1" dirty="0"/>
              <a:t>Note – </a:t>
            </a:r>
            <a:r>
              <a:rPr lang="en-US" sz="2000" dirty="0"/>
              <a:t>free text note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8950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E87C8-0E18-8CC8-B114-A0EB8C547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GTF file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0F45D1-6AAC-463C-0B53-985ADA5E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F9E45A9-228C-618E-71B0-73DE216A81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47602"/>
            <a:ext cx="11789217" cy="4250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9945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11852-E410-6D6F-6185-71204B101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GFF file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270456-2DA3-75E2-F6B5-93E94FB03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B79774C-3F03-C22F-9DC4-F516D9C2D3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592866"/>
            <a:ext cx="10558272" cy="5265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1185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47E6E-1757-6F3D-58B0-79EE5538B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Parsing GTF/GFF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9AAB6-BA30-7BA6-58A3-B800EBF208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4833136"/>
          </a:xfrm>
        </p:spPr>
        <p:txBody>
          <a:bodyPr/>
          <a:lstStyle/>
          <a:p>
            <a:r>
              <a:rPr lang="en-US" dirty="0"/>
              <a:t>Split by ‘\t’ (tab)</a:t>
            </a:r>
          </a:p>
          <a:p>
            <a:r>
              <a:rPr lang="en-US" dirty="0"/>
              <a:t>GTF attributes field[8]: use pattern matching to extract values:</a:t>
            </a:r>
          </a:p>
          <a:p>
            <a:pPr lvl="1"/>
            <a:r>
              <a:rPr lang="en-US" dirty="0"/>
              <a:t>Values are: tag "value"; space separated</a:t>
            </a:r>
          </a:p>
          <a:p>
            <a:pPr lvl="1"/>
            <a:r>
              <a:rPr lang="en-US" dirty="0"/>
              <a:t>Perl: =~ /</a:t>
            </a:r>
            <a:r>
              <a:rPr lang="en-US" dirty="0" err="1"/>
              <a:t>transcript_id</a:t>
            </a:r>
            <a:r>
              <a:rPr lang="en-US" dirty="0"/>
              <a:t> "(\S+)";/</a:t>
            </a:r>
          </a:p>
          <a:p>
            <a:pPr lvl="1"/>
            <a:r>
              <a:rPr lang="en-US" dirty="0"/>
              <a:t>Python: </a:t>
            </a:r>
            <a:r>
              <a:rPr lang="en-US" dirty="0" err="1"/>
              <a:t>re.search</a:t>
            </a:r>
            <a:r>
              <a:rPr lang="en-US" dirty="0"/>
              <a:t>(</a:t>
            </a:r>
            <a:r>
              <a:rPr lang="en-US" dirty="0" err="1"/>
              <a:t>r'transcript_id</a:t>
            </a:r>
            <a:r>
              <a:rPr lang="en-US" dirty="0"/>
              <a:t>\s+"([^"]+)"', line)</a:t>
            </a:r>
          </a:p>
          <a:p>
            <a:r>
              <a:rPr lang="en-US" dirty="0"/>
              <a:t>GFF attributes field[8]: have to split</a:t>
            </a:r>
          </a:p>
          <a:p>
            <a:pPr lvl="1"/>
            <a:r>
              <a:rPr lang="en-US" dirty="0"/>
              <a:t>Values are: tag=value;  no spaces no ";" or "=" in values or tags</a:t>
            </a:r>
          </a:p>
          <a:p>
            <a:pPr lvl="1"/>
            <a:r>
              <a:rPr lang="en-US" dirty="0"/>
              <a:t>Split at ";", then split </a:t>
            </a:r>
            <a:r>
              <a:rPr lang="en-US"/>
              <a:t>at "="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2B3027-79B9-FB80-83E5-8AD543449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7668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97CB8-792C-495A-4E48-231193AB6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GTF/GFF frame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9AF043-6EB6-EA6E-DE6F-6C0B632B43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Frame is field 8</a:t>
            </a:r>
          </a:p>
          <a:p>
            <a:r>
              <a:rPr lang="en-US" dirty="0"/>
              <a:t>Only used for CDS records</a:t>
            </a:r>
          </a:p>
          <a:p>
            <a:r>
              <a:rPr lang="en-US" dirty="0"/>
              <a:t>Values: </a:t>
            </a:r>
          </a:p>
          <a:p>
            <a:pPr lvl="1"/>
            <a:r>
              <a:rPr lang="en-US" dirty="0"/>
              <a:t>0 means that the </a:t>
            </a:r>
            <a:r>
              <a:rPr lang="en-US" u="sng" dirty="0"/>
              <a:t>first</a:t>
            </a:r>
            <a:r>
              <a:rPr lang="en-US" dirty="0"/>
              <a:t> base of the feature is the </a:t>
            </a:r>
            <a:r>
              <a:rPr lang="en-US" u="sng" dirty="0"/>
              <a:t>first</a:t>
            </a:r>
            <a:r>
              <a:rPr lang="en-US" dirty="0"/>
              <a:t> base of a codon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r>
              <a:rPr lang="en-US" dirty="0"/>
              <a:t>1 means that the </a:t>
            </a:r>
            <a:r>
              <a:rPr lang="en-US" u="sng" dirty="0"/>
              <a:t>second</a:t>
            </a:r>
            <a:r>
              <a:rPr lang="en-US" dirty="0"/>
              <a:t> base is the </a:t>
            </a:r>
            <a:r>
              <a:rPr lang="en-US" u="sng" dirty="0"/>
              <a:t>first</a:t>
            </a:r>
            <a:r>
              <a:rPr lang="en-US" dirty="0"/>
              <a:t> base of a codon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2 means that the </a:t>
            </a:r>
            <a:r>
              <a:rPr lang="en-US" u="sng" dirty="0"/>
              <a:t>third</a:t>
            </a:r>
            <a:r>
              <a:rPr lang="en-US" dirty="0"/>
              <a:t> base is the </a:t>
            </a:r>
            <a:r>
              <a:rPr lang="en-US" u="sng" dirty="0"/>
              <a:t>first</a:t>
            </a:r>
            <a:r>
              <a:rPr lang="en-US" dirty="0"/>
              <a:t> base of a codon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21FE4C-F5EF-84D8-B7BF-1D3EF4060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9D6F9D-D826-5287-C17A-0DD530E6B56C}"/>
              </a:ext>
            </a:extLst>
          </p:cNvPr>
          <p:cNvSpPr txBox="1"/>
          <p:nvPr/>
        </p:nvSpPr>
        <p:spPr>
          <a:xfrm>
            <a:off x="1559994" y="3429000"/>
            <a:ext cx="4840805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GCGAGGACT…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3EED0C2-4504-51DA-7114-84D8705FB018}"/>
              </a:ext>
            </a:extLst>
          </p:cNvPr>
          <p:cNvCxnSpPr/>
          <p:nvPr/>
        </p:nvCxnSpPr>
        <p:spPr>
          <a:xfrm>
            <a:off x="2068286" y="3497943"/>
            <a:ext cx="0" cy="23222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620C4CE-5C16-4704-BF41-48C7790607EC}"/>
              </a:ext>
            </a:extLst>
          </p:cNvPr>
          <p:cNvCxnSpPr/>
          <p:nvPr/>
        </p:nvCxnSpPr>
        <p:spPr>
          <a:xfrm>
            <a:off x="2489201" y="3497943"/>
            <a:ext cx="0" cy="23222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A9EC49B-BBB0-EF30-5993-2C27583C05B6}"/>
              </a:ext>
            </a:extLst>
          </p:cNvPr>
          <p:cNvSpPr txBox="1"/>
          <p:nvPr/>
        </p:nvSpPr>
        <p:spPr>
          <a:xfrm>
            <a:off x="1559994" y="4472171"/>
            <a:ext cx="4840805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AGCGAGGACT…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1FA9189-C0C5-E030-C9D5-B2FF90C6A41B}"/>
              </a:ext>
            </a:extLst>
          </p:cNvPr>
          <p:cNvCxnSpPr/>
          <p:nvPr/>
        </p:nvCxnSpPr>
        <p:spPr>
          <a:xfrm>
            <a:off x="1792514" y="4541114"/>
            <a:ext cx="0" cy="23222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509A5CF-947A-415D-291C-2FFC8F6C6286}"/>
              </a:ext>
            </a:extLst>
          </p:cNvPr>
          <p:cNvCxnSpPr/>
          <p:nvPr/>
        </p:nvCxnSpPr>
        <p:spPr>
          <a:xfrm>
            <a:off x="2206173" y="4541114"/>
            <a:ext cx="0" cy="23222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0A9E1C6-7842-7730-4777-8E9E3C8917E6}"/>
              </a:ext>
            </a:extLst>
          </p:cNvPr>
          <p:cNvCxnSpPr/>
          <p:nvPr/>
        </p:nvCxnSpPr>
        <p:spPr>
          <a:xfrm>
            <a:off x="2619830" y="4541114"/>
            <a:ext cx="0" cy="23222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3946A67-AE54-92DE-759B-5559E8467971}"/>
              </a:ext>
            </a:extLst>
          </p:cNvPr>
          <p:cNvSpPr txBox="1"/>
          <p:nvPr/>
        </p:nvSpPr>
        <p:spPr>
          <a:xfrm>
            <a:off x="1559994" y="5364758"/>
            <a:ext cx="4840805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TAGCGAGGACT…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ED32FCC-FB66-76EE-FA64-184AB54CD2E7}"/>
              </a:ext>
            </a:extLst>
          </p:cNvPr>
          <p:cNvCxnSpPr/>
          <p:nvPr/>
        </p:nvCxnSpPr>
        <p:spPr>
          <a:xfrm>
            <a:off x="1894114" y="5433701"/>
            <a:ext cx="0" cy="23222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3645944-CD4A-75EC-6697-2B26ABCF5A77}"/>
              </a:ext>
            </a:extLst>
          </p:cNvPr>
          <p:cNvCxnSpPr/>
          <p:nvPr/>
        </p:nvCxnSpPr>
        <p:spPr>
          <a:xfrm>
            <a:off x="2293259" y="5433701"/>
            <a:ext cx="0" cy="23222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992990C-281C-A25E-A347-058AAEB67EB8}"/>
              </a:ext>
            </a:extLst>
          </p:cNvPr>
          <p:cNvCxnSpPr/>
          <p:nvPr/>
        </p:nvCxnSpPr>
        <p:spPr>
          <a:xfrm>
            <a:off x="2714172" y="5433701"/>
            <a:ext cx="0" cy="23222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37E790C3-57B4-40FB-A4E3-D32D1DEA0A8F}"/>
              </a:ext>
            </a:extLst>
          </p:cNvPr>
          <p:cNvSpPr/>
          <p:nvPr/>
        </p:nvSpPr>
        <p:spPr>
          <a:xfrm>
            <a:off x="6400799" y="1902109"/>
            <a:ext cx="1902373" cy="19706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5F6870B-9395-45E5-99D6-F94CF6B54705}"/>
              </a:ext>
            </a:extLst>
          </p:cNvPr>
          <p:cNvSpPr txBox="1"/>
          <p:nvPr/>
        </p:nvSpPr>
        <p:spPr>
          <a:xfrm>
            <a:off x="6408545" y="1835256"/>
            <a:ext cx="7296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5’ UTR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C7BD65C-33D9-4D64-9363-C61D7DAA9DF2}"/>
              </a:ext>
            </a:extLst>
          </p:cNvPr>
          <p:cNvSpPr/>
          <p:nvPr/>
        </p:nvSpPr>
        <p:spPr>
          <a:xfrm>
            <a:off x="7138232" y="1716317"/>
            <a:ext cx="2344891" cy="526231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C9A87BF-1F91-42E7-A4E3-212A45B94C44}"/>
              </a:ext>
            </a:extLst>
          </p:cNvPr>
          <p:cNvGrpSpPr/>
          <p:nvPr/>
        </p:nvGrpSpPr>
        <p:grpSpPr>
          <a:xfrm>
            <a:off x="7121380" y="1835258"/>
            <a:ext cx="1302053" cy="338554"/>
            <a:chOff x="3128159" y="2647615"/>
            <a:chExt cx="1302053" cy="338554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BAC46E3-7CB5-4A0B-AF3A-D294D47BA0DB}"/>
                </a:ext>
              </a:extLst>
            </p:cNvPr>
            <p:cNvSpPr/>
            <p:nvPr/>
          </p:nvSpPr>
          <p:spPr>
            <a:xfrm>
              <a:off x="3161862" y="2718358"/>
              <a:ext cx="1164020" cy="19706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F2DA397-7252-4919-933D-6D426C00182E}"/>
                </a:ext>
              </a:extLst>
            </p:cNvPr>
            <p:cNvSpPr txBox="1"/>
            <p:nvPr/>
          </p:nvSpPr>
          <p:spPr>
            <a:xfrm>
              <a:off x="3128159" y="2647615"/>
              <a:ext cx="13020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ATG…        AG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7F542A9-6ED4-48EF-B3B9-0E0D95163009}"/>
              </a:ext>
            </a:extLst>
          </p:cNvPr>
          <p:cNvGrpSpPr/>
          <p:nvPr/>
        </p:nvGrpSpPr>
        <p:grpSpPr>
          <a:xfrm>
            <a:off x="8238653" y="1835258"/>
            <a:ext cx="1303549" cy="338554"/>
            <a:chOff x="5049474" y="2647615"/>
            <a:chExt cx="1303549" cy="338554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79EE3ED-8D38-493F-B360-D24E51A2E1C3}"/>
                </a:ext>
              </a:extLst>
            </p:cNvPr>
            <p:cNvSpPr/>
            <p:nvPr/>
          </p:nvSpPr>
          <p:spPr>
            <a:xfrm>
              <a:off x="5129924" y="2718358"/>
              <a:ext cx="1164020" cy="19706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467DF11-FCDE-4E38-A2BB-34174B571FCF}"/>
                </a:ext>
              </a:extLst>
            </p:cNvPr>
            <p:cNvSpPr txBox="1"/>
            <p:nvPr/>
          </p:nvSpPr>
          <p:spPr>
            <a:xfrm>
              <a:off x="5049474" y="2647615"/>
              <a:ext cx="130354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G           …TAA</a:t>
              </a:r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C199E8F2-F779-4331-954C-D7C778126627}"/>
              </a:ext>
            </a:extLst>
          </p:cNvPr>
          <p:cNvSpPr/>
          <p:nvPr/>
        </p:nvSpPr>
        <p:spPr>
          <a:xfrm>
            <a:off x="9484403" y="1906001"/>
            <a:ext cx="597340" cy="19706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2197471-3402-49D8-97C4-1F3D7BC8DCBB}"/>
              </a:ext>
            </a:extLst>
          </p:cNvPr>
          <p:cNvSpPr txBox="1"/>
          <p:nvPr/>
        </p:nvSpPr>
        <p:spPr>
          <a:xfrm>
            <a:off x="9427384" y="1835258"/>
            <a:ext cx="7296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3’ UTR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098C640-12D5-463D-B464-35852C361808}"/>
              </a:ext>
            </a:extLst>
          </p:cNvPr>
          <p:cNvSpPr/>
          <p:nvPr/>
        </p:nvSpPr>
        <p:spPr>
          <a:xfrm>
            <a:off x="10071656" y="1905999"/>
            <a:ext cx="597340" cy="19706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5644A1E-63E5-456B-8403-729AB87DE1B7}"/>
              </a:ext>
            </a:extLst>
          </p:cNvPr>
          <p:cNvSpPr txBox="1"/>
          <p:nvPr/>
        </p:nvSpPr>
        <p:spPr>
          <a:xfrm>
            <a:off x="10014637" y="1835256"/>
            <a:ext cx="7296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3’ UTR</a:t>
            </a:r>
          </a:p>
        </p:txBody>
      </p:sp>
    </p:spTree>
    <p:extLst>
      <p:ext uri="{BB962C8B-B14F-4D97-AF65-F5344CB8AC3E}">
        <p14:creationId xmlns:p14="http://schemas.microsoft.com/office/powerpoint/2010/main" val="11714359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9B1D4-055D-57FF-35F8-0EA592F3F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transcripts are obtained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2E4D15-E297-1A1E-B9ED-FD9A0E742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Two methods</a:t>
            </a:r>
          </a:p>
          <a:p>
            <a:pPr lvl="1"/>
            <a:r>
              <a:rPr lang="en-US" dirty="0"/>
              <a:t>Ribosome depletion (</a:t>
            </a:r>
            <a:r>
              <a:rPr lang="en-US" dirty="0" err="1"/>
              <a:t>ribo</a:t>
            </a:r>
            <a:r>
              <a:rPr lang="en-US" dirty="0"/>
              <a:t>-zero)</a:t>
            </a:r>
          </a:p>
          <a:p>
            <a:pPr lvl="1"/>
            <a:r>
              <a:rPr lang="en-US" dirty="0"/>
              <a:t>Poly-A capture</a:t>
            </a:r>
          </a:p>
          <a:p>
            <a:pPr lvl="1"/>
            <a:endParaRPr lang="en-US" dirty="0"/>
          </a:p>
          <a:p>
            <a:r>
              <a:rPr lang="en-US" dirty="0"/>
              <a:t>Dominant method is Poly-A capture (EST, RNA-Seq, Iso-Seq, ONT sequencing)</a:t>
            </a:r>
          </a:p>
          <a:p>
            <a:pPr lvl="1"/>
            <a:r>
              <a:rPr lang="en-US" dirty="0"/>
              <a:t>Reads mature transcripts with introns spliced out</a:t>
            </a:r>
          </a:p>
          <a:p>
            <a:pPr lvl="1"/>
            <a:r>
              <a:rPr lang="en-US" dirty="0"/>
              <a:t>Requires fresh good quality RNA</a:t>
            </a:r>
          </a:p>
          <a:p>
            <a:pPr lvl="1"/>
            <a:r>
              <a:rPr lang="en-US" dirty="0"/>
              <a:t>Good for transcriptome assembly</a:t>
            </a:r>
          </a:p>
          <a:p>
            <a:pPr lvl="1"/>
            <a:endParaRPr lang="en-US" dirty="0"/>
          </a:p>
          <a:p>
            <a:r>
              <a:rPr lang="en-US" dirty="0" err="1"/>
              <a:t>Ribo</a:t>
            </a:r>
            <a:r>
              <a:rPr lang="en-US" dirty="0"/>
              <a:t>-zero can be used for degraded RNA</a:t>
            </a:r>
          </a:p>
          <a:p>
            <a:pPr lvl="1"/>
            <a:r>
              <a:rPr lang="en-US" dirty="0"/>
              <a:t>Maybe OK for quantification</a:t>
            </a:r>
          </a:p>
          <a:p>
            <a:pPr lvl="1"/>
            <a:r>
              <a:rPr lang="en-US" dirty="0"/>
              <a:t>Bad for transcriptome assembly</a:t>
            </a:r>
          </a:p>
        </p:txBody>
      </p:sp>
    </p:spTree>
    <p:extLst>
      <p:ext uri="{BB962C8B-B14F-4D97-AF65-F5344CB8AC3E}">
        <p14:creationId xmlns:p14="http://schemas.microsoft.com/office/powerpoint/2010/main" val="2089864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23DDAED0-8501-493D-AF69-64959C122D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116" y="952070"/>
            <a:ext cx="4004553" cy="590593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5DBE408-4F08-4410-888C-35B18B874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1AFB5-CD11-684F-BCC6-06E220628C5A}" type="slidenum">
              <a:rPr lang="en-US" smtClean="0"/>
              <a:t>9</a:t>
            </a:fld>
            <a:endParaRPr lang="en-US"/>
          </a:p>
        </p:txBody>
      </p:sp>
      <p:pic>
        <p:nvPicPr>
          <p:cNvPr id="5" name="Picture 4" descr="A picture containing chart&#10;&#10;Description automatically generated">
            <a:extLst>
              <a:ext uri="{FF2B5EF4-FFF2-40B4-BE49-F238E27FC236}">
                <a16:creationId xmlns:a16="http://schemas.microsoft.com/office/drawing/2014/main" id="{1BA0638B-F30B-4432-95FE-A31529CF22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980452"/>
            <a:ext cx="8183117" cy="584916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885B2A9-BE68-4E8C-95C8-688C2393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325"/>
            <a:ext cx="7344916" cy="920127"/>
          </a:xfrm>
        </p:spPr>
        <p:txBody>
          <a:bodyPr/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Short read Illumina RNA-seq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AD3350-B517-4C89-B083-7A035F477302}"/>
              </a:ext>
            </a:extLst>
          </p:cNvPr>
          <p:cNvSpPr txBox="1"/>
          <p:nvPr/>
        </p:nvSpPr>
        <p:spPr>
          <a:xfrm>
            <a:off x="533696" y="6356350"/>
            <a:ext cx="7115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and Logsdon GA, </a:t>
            </a:r>
            <a:r>
              <a:rPr lang="en-US" sz="1400" dirty="0" err="1"/>
              <a:t>Vollger</a:t>
            </a:r>
            <a:r>
              <a:rPr lang="en-US" sz="1400" dirty="0"/>
              <a:t> MR, Eichler EE. Long-read human genome sequencing and its applications. Nature Reviews Genetics. 2020 Oct;21(10):597-614.</a:t>
            </a:r>
          </a:p>
        </p:txBody>
      </p:sp>
    </p:spTree>
    <p:extLst>
      <p:ext uri="{BB962C8B-B14F-4D97-AF65-F5344CB8AC3E}">
        <p14:creationId xmlns:p14="http://schemas.microsoft.com/office/powerpoint/2010/main" val="2852727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A0B78-50A1-CB69-AE55-1559BE8F9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Long read RNA sequencing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B0602A-91D5-A16E-E6CE-22ACC59499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4581150"/>
          </a:xfrm>
        </p:spPr>
        <p:txBody>
          <a:bodyPr/>
          <a:lstStyle/>
          <a:p>
            <a:r>
              <a:rPr lang="en-US" dirty="0"/>
              <a:t>Long read technologies can capture entire transcripts</a:t>
            </a:r>
          </a:p>
          <a:p>
            <a:r>
              <a:rPr lang="en-US" dirty="0"/>
              <a:t>They work well for transcript assembly and quantification</a:t>
            </a:r>
          </a:p>
          <a:p>
            <a:r>
              <a:rPr lang="en-US" dirty="0"/>
              <a:t>PacBio “IsoSeq” or “</a:t>
            </a:r>
            <a:r>
              <a:rPr lang="en-US" dirty="0" err="1"/>
              <a:t>Kinnex</a:t>
            </a:r>
            <a:r>
              <a:rPr lang="en-US" dirty="0"/>
              <a:t>” protocols</a:t>
            </a:r>
          </a:p>
          <a:p>
            <a:pPr lvl="1"/>
            <a:r>
              <a:rPr lang="en-US" dirty="0" err="1"/>
              <a:t>Kinnex</a:t>
            </a:r>
            <a:r>
              <a:rPr lang="en-US" dirty="0"/>
              <a:t> provides comparable cost per GB (~$10) compared to Illumina RNA-seq</a:t>
            </a:r>
          </a:p>
          <a:p>
            <a:pPr lvl="1"/>
            <a:r>
              <a:rPr lang="en-US" dirty="0">
                <a:hlinkClick r:id="rId2" tooltip="Share link"/>
              </a:rPr>
              <a:t>https://youtu.be/NICUp8C6rms</a:t>
            </a:r>
            <a:endParaRPr lang="en-US" dirty="0"/>
          </a:p>
          <a:p>
            <a:r>
              <a:rPr lang="en-US" dirty="0"/>
              <a:t>Oxford Nanopore cDNA or direct RNA sequencing</a:t>
            </a:r>
          </a:p>
          <a:p>
            <a:pPr lvl="1"/>
            <a:r>
              <a:rPr lang="en-US" dirty="0"/>
              <a:t>Still high error rates (5-7%)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793DB-B159-E435-7320-EBDA31066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426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14286</TotalTime>
  <Words>613</Words>
  <Application>Microsoft Office PowerPoint</Application>
  <PresentationFormat>Widescreen</PresentationFormat>
  <Paragraphs>95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Arial</vt:lpstr>
      <vt:lpstr>Calibri</vt:lpstr>
      <vt:lpstr>Helvetica</vt:lpstr>
      <vt:lpstr>Trebuchet MS</vt:lpstr>
      <vt:lpstr>Office Theme</vt:lpstr>
      <vt:lpstr>Gene representation</vt:lpstr>
      <vt:lpstr>GTF vs GFF</vt:lpstr>
      <vt:lpstr>Similarities and differences between GTF and GFF files</vt:lpstr>
      <vt:lpstr>Example GTF file</vt:lpstr>
      <vt:lpstr>Example GFF file</vt:lpstr>
      <vt:lpstr>Parsing GTF/GFF files</vt:lpstr>
      <vt:lpstr>GTF/GFF frame</vt:lpstr>
      <vt:lpstr>How transcripts are obtained</vt:lpstr>
      <vt:lpstr>Short read Illumina RNA-seq</vt:lpstr>
      <vt:lpstr>Long read RNA sequencing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Julian</dc:creator>
  <cp:lastModifiedBy>Aleksey Zimin</cp:lastModifiedBy>
  <cp:revision>70</cp:revision>
  <dcterms:created xsi:type="dcterms:W3CDTF">2013-08-21T19:17:07Z</dcterms:created>
  <dcterms:modified xsi:type="dcterms:W3CDTF">2025-10-22T13:28:39Z</dcterms:modified>
</cp:coreProperties>
</file>