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915" r:id="rId2"/>
    <p:sldId id="916" r:id="rId3"/>
    <p:sldId id="917" r:id="rId4"/>
    <p:sldId id="918" r:id="rId5"/>
    <p:sldId id="927" r:id="rId6"/>
    <p:sldId id="919" r:id="rId7"/>
    <p:sldId id="922" r:id="rId8"/>
    <p:sldId id="923" r:id="rId9"/>
    <p:sldId id="924" r:id="rId10"/>
    <p:sldId id="920" r:id="rId11"/>
    <p:sldId id="921" r:id="rId12"/>
    <p:sldId id="909" r:id="rId13"/>
    <p:sldId id="882" r:id="rId14"/>
    <p:sldId id="883" r:id="rId15"/>
    <p:sldId id="884" r:id="rId16"/>
    <p:sldId id="885" r:id="rId17"/>
    <p:sldId id="886" r:id="rId18"/>
    <p:sldId id="887" r:id="rId19"/>
    <p:sldId id="888" r:id="rId20"/>
    <p:sldId id="890" r:id="rId21"/>
    <p:sldId id="891" r:id="rId22"/>
    <p:sldId id="894" r:id="rId23"/>
    <p:sldId id="895" r:id="rId24"/>
    <p:sldId id="892" r:id="rId25"/>
    <p:sldId id="896" r:id="rId26"/>
    <p:sldId id="893" r:id="rId27"/>
    <p:sldId id="89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ACF"/>
    <a:srgbClr val="D68B1C"/>
    <a:srgbClr val="BE0260"/>
    <a:srgbClr val="D0005E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7" autoAdjust="0"/>
    <p:restoredTop sz="93721" autoAdjust="0"/>
  </p:normalViewPr>
  <p:slideViewPr>
    <p:cSldViewPr snapToGrid="0">
      <p:cViewPr varScale="1">
        <p:scale>
          <a:sx n="101" d="100"/>
          <a:sy n="101" d="100"/>
        </p:scale>
        <p:origin x="106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8553A319-8433-4677-8F80-E28D63617D4C}"/>
    <pc:docChg chg="custSel delSld modSld">
      <pc:chgData name="Aleksey Zimin" userId="7f2637d0bc515791" providerId="LiveId" clId="{8553A319-8433-4677-8F80-E28D63617D4C}" dt="2025-11-10T15:24:41.431" v="7" actId="114"/>
      <pc:docMkLst>
        <pc:docMk/>
      </pc:docMkLst>
      <pc:sldChg chg="del">
        <pc:chgData name="Aleksey Zimin" userId="7f2637d0bc515791" providerId="LiveId" clId="{8553A319-8433-4677-8F80-E28D63617D4C}" dt="2025-11-10T14:35:38.654" v="0" actId="47"/>
        <pc:sldMkLst>
          <pc:docMk/>
          <pc:sldMk cId="1052403946" sldId="272"/>
        </pc:sldMkLst>
      </pc:sldChg>
      <pc:sldChg chg="del">
        <pc:chgData name="Aleksey Zimin" userId="7f2637d0bc515791" providerId="LiveId" clId="{8553A319-8433-4677-8F80-E28D63617D4C}" dt="2025-11-10T14:35:49.829" v="1" actId="47"/>
        <pc:sldMkLst>
          <pc:docMk/>
          <pc:sldMk cId="582660925" sldId="557"/>
        </pc:sldMkLst>
      </pc:sldChg>
      <pc:sldChg chg="del">
        <pc:chgData name="Aleksey Zimin" userId="7f2637d0bc515791" providerId="LiveId" clId="{8553A319-8433-4677-8F80-E28D63617D4C}" dt="2025-11-10T14:35:49.829" v="1" actId="47"/>
        <pc:sldMkLst>
          <pc:docMk/>
          <pc:sldMk cId="897960614" sldId="559"/>
        </pc:sldMkLst>
      </pc:sldChg>
      <pc:sldChg chg="del">
        <pc:chgData name="Aleksey Zimin" userId="7f2637d0bc515791" providerId="LiveId" clId="{8553A319-8433-4677-8F80-E28D63617D4C}" dt="2025-11-10T14:35:49.829" v="1" actId="47"/>
        <pc:sldMkLst>
          <pc:docMk/>
          <pc:sldMk cId="2016871750" sldId="560"/>
        </pc:sldMkLst>
      </pc:sldChg>
      <pc:sldChg chg="del">
        <pc:chgData name="Aleksey Zimin" userId="7f2637d0bc515791" providerId="LiveId" clId="{8553A319-8433-4677-8F80-E28D63617D4C}" dt="2025-11-10T14:35:49.829" v="1" actId="47"/>
        <pc:sldMkLst>
          <pc:docMk/>
          <pc:sldMk cId="4101191634" sldId="904"/>
        </pc:sldMkLst>
      </pc:sldChg>
      <pc:sldChg chg="del">
        <pc:chgData name="Aleksey Zimin" userId="7f2637d0bc515791" providerId="LiveId" clId="{8553A319-8433-4677-8F80-E28D63617D4C}" dt="2025-11-10T14:35:49.829" v="1" actId="47"/>
        <pc:sldMkLst>
          <pc:docMk/>
          <pc:sldMk cId="1351066996" sldId="905"/>
        </pc:sldMkLst>
      </pc:sldChg>
      <pc:sldChg chg="del">
        <pc:chgData name="Aleksey Zimin" userId="7f2637d0bc515791" providerId="LiveId" clId="{8553A319-8433-4677-8F80-E28D63617D4C}" dt="2025-11-10T14:35:49.829" v="1" actId="47"/>
        <pc:sldMkLst>
          <pc:docMk/>
          <pc:sldMk cId="1016114428" sldId="906"/>
        </pc:sldMkLst>
      </pc:sldChg>
      <pc:sldChg chg="del">
        <pc:chgData name="Aleksey Zimin" userId="7f2637d0bc515791" providerId="LiveId" clId="{8553A319-8433-4677-8F80-E28D63617D4C}" dt="2025-11-10T14:35:49.829" v="1" actId="47"/>
        <pc:sldMkLst>
          <pc:docMk/>
          <pc:sldMk cId="3477854863" sldId="907"/>
        </pc:sldMkLst>
      </pc:sldChg>
      <pc:sldChg chg="modSp mod">
        <pc:chgData name="Aleksey Zimin" userId="7f2637d0bc515791" providerId="LiveId" clId="{8553A319-8433-4677-8F80-E28D63617D4C}" dt="2025-11-10T15:24:41.431" v="7" actId="114"/>
        <pc:sldMkLst>
          <pc:docMk/>
          <pc:sldMk cId="4041367344" sldId="909"/>
        </pc:sldMkLst>
        <pc:spChg chg="mod">
          <ac:chgData name="Aleksey Zimin" userId="7f2637d0bc515791" providerId="LiveId" clId="{8553A319-8433-4677-8F80-E28D63617D4C}" dt="2025-11-10T15:24:41.431" v="7" actId="114"/>
          <ac:spMkLst>
            <pc:docMk/>
            <pc:sldMk cId="4041367344" sldId="909"/>
            <ac:spMk id="3" creationId="{DC1FCB77-9759-C6B5-1779-46F8E35B2ABD}"/>
          </ac:spMkLst>
        </pc:spChg>
      </pc:sldChg>
      <pc:sldChg chg="del">
        <pc:chgData name="Aleksey Zimin" userId="7f2637d0bc515791" providerId="LiveId" clId="{8553A319-8433-4677-8F80-E28D63617D4C}" dt="2025-11-10T14:35:49.829" v="1" actId="47"/>
        <pc:sldMkLst>
          <pc:docMk/>
          <pc:sldMk cId="3453028118" sldId="910"/>
        </pc:sldMkLst>
      </pc:sldChg>
      <pc:sldChg chg="del">
        <pc:chgData name="Aleksey Zimin" userId="7f2637d0bc515791" providerId="LiveId" clId="{8553A319-8433-4677-8F80-E28D63617D4C}" dt="2025-11-10T14:35:49.829" v="1" actId="47"/>
        <pc:sldMkLst>
          <pc:docMk/>
          <pc:sldMk cId="517721296" sldId="911"/>
        </pc:sldMkLst>
      </pc:sldChg>
      <pc:sldChg chg="del">
        <pc:chgData name="Aleksey Zimin" userId="7f2637d0bc515791" providerId="LiveId" clId="{8553A319-8433-4677-8F80-E28D63617D4C}" dt="2025-11-10T14:35:49.829" v="1" actId="47"/>
        <pc:sldMkLst>
          <pc:docMk/>
          <pc:sldMk cId="3169417761" sldId="912"/>
        </pc:sldMkLst>
      </pc:sldChg>
      <pc:sldChg chg="del">
        <pc:chgData name="Aleksey Zimin" userId="7f2637d0bc515791" providerId="LiveId" clId="{8553A319-8433-4677-8F80-E28D63617D4C}" dt="2025-11-10T14:35:49.829" v="1" actId="47"/>
        <pc:sldMkLst>
          <pc:docMk/>
          <pc:sldMk cId="4222899637" sldId="913"/>
        </pc:sldMkLst>
      </pc:sldChg>
      <pc:sldChg chg="del">
        <pc:chgData name="Aleksey Zimin" userId="7f2637d0bc515791" providerId="LiveId" clId="{8553A319-8433-4677-8F80-E28D63617D4C}" dt="2025-11-10T14:35:49.829" v="1" actId="47"/>
        <pc:sldMkLst>
          <pc:docMk/>
          <pc:sldMk cId="1532946543" sldId="914"/>
        </pc:sldMkLst>
      </pc:sldChg>
      <pc:sldChg chg="del">
        <pc:chgData name="Aleksey Zimin" userId="7f2637d0bc515791" providerId="LiveId" clId="{8553A319-8433-4677-8F80-E28D63617D4C}" dt="2025-11-10T14:35:49.829" v="1" actId="47"/>
        <pc:sldMkLst>
          <pc:docMk/>
          <pc:sldMk cId="2349153104" sldId="925"/>
        </pc:sldMkLst>
      </pc:sldChg>
      <pc:sldChg chg="del">
        <pc:chgData name="Aleksey Zimin" userId="7f2637d0bc515791" providerId="LiveId" clId="{8553A319-8433-4677-8F80-E28D63617D4C}" dt="2025-11-10T14:35:49.829" v="1" actId="47"/>
        <pc:sldMkLst>
          <pc:docMk/>
          <pc:sldMk cId="4191912452" sldId="926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kseyzimin/BME-Algorithms-for-Analysis-of-Genomic-Data/raw/refs/heads/main/testing20.txt" TargetMode="External"/><Relationship Id="rId2" Type="http://schemas.openxmlformats.org/officeDocument/2006/relationships/hyperlink" Target="https://github.com/alekseyzimin/BME-Algorithms-for-Analysis-of-Genomic-Data/raw/refs/heads/main/training.tx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customXml" Target="../ink/ink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6.png"/><Relationship Id="rId4" Type="http://schemas.openxmlformats.org/officeDocument/2006/relationships/customXml" Target="../ink/ink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customXml" Target="../ink/ink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customXml" Target="../ink/ink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80.png"/><Relationship Id="rId4" Type="http://schemas.openxmlformats.org/officeDocument/2006/relationships/customXml" Target="../ink/ink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80.png"/><Relationship Id="rId4" Type="http://schemas.openxmlformats.org/officeDocument/2006/relationships/customXml" Target="../ink/ink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5" Type="http://schemas.openxmlformats.org/officeDocument/2006/relationships/image" Target="../media/image220.png"/><Relationship Id="rId4" Type="http://schemas.openxmlformats.org/officeDocument/2006/relationships/customXml" Target="../ink/ink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5125-9095-5C54-C2D1-74402F97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Paper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FB1F7-3766-7314-227F-7A2227F6B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918560"/>
          </a:xfrm>
        </p:spPr>
        <p:txBody>
          <a:bodyPr>
            <a:normAutofit/>
          </a:bodyPr>
          <a:lstStyle/>
          <a:p>
            <a:r>
              <a:rPr lang="en-US" dirty="0"/>
              <a:t>You have 10 minutes:  no outline, 10 slides maximum</a:t>
            </a:r>
          </a:p>
          <a:p>
            <a:r>
              <a:rPr lang="en-US" dirty="0"/>
              <a:t>The best part is the abstract – it usually contains statement of the problem and conclusions</a:t>
            </a:r>
          </a:p>
          <a:p>
            <a:r>
              <a:rPr lang="en-US" dirty="0"/>
              <a:t>It is OK if you finish 1-2 minutes early, please try to not go over time limit</a:t>
            </a:r>
          </a:p>
          <a:p>
            <a:r>
              <a:rPr lang="en-US" dirty="0"/>
              <a:t>Please bring your talk to class in PDF or PPT format on a USB stick, or you can present from your laptop (USB-C or HDMI)</a:t>
            </a:r>
          </a:p>
          <a:p>
            <a:r>
              <a:rPr lang="en-US" dirty="0"/>
              <a:t>Don’t try to describe everything, describe the key point or key algorithm in the paper</a:t>
            </a:r>
          </a:p>
          <a:p>
            <a:r>
              <a:rPr lang="en-US" dirty="0"/>
              <a:t>You will get full credit for presenting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7081B-7FDA-11D6-2EB0-2A35F622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15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64B2B-4FF1-9227-2D3F-A459E373D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680310"/>
            <a:ext cx="7326180" cy="45811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SAMBA tool uses long reads to improve the contiguity of genome assemblies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97CF-1182-FB10-3B57-13C41D66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CDBE6-7176-C936-B389-0BCEFD1BB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883" y="2333440"/>
            <a:ext cx="7230484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534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00A17-6577-2675-2787-5AE7BF638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 with long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94619-3480-B492-6091-FC2915C69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SAMBA (Scaffolding Assemblies with Multiple Big Alignments) tool uses long reads to re-scaffold contigs from an existing genome assembly and to fill gaps in those scaffolds</a:t>
            </a:r>
          </a:p>
          <a:p>
            <a:r>
              <a:rPr lang="en-US" dirty="0"/>
              <a:t>The tool is designed to use 10-30x coverage in long read data with a set of existing contigs, although it can function with lower or higher coverage as well.</a:t>
            </a:r>
          </a:p>
          <a:p>
            <a:r>
              <a:rPr lang="en-US" dirty="0"/>
              <a:t>Open-source, available on github, included into MaSuRCA genome assembly package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03B59-C192-23B3-E87F-879592C31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40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392CA-5924-C3D7-3EE9-7FB6F674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SAMBA algorithm: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F0F78-148F-1C42-0645-75833A47F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 reads to the contigs with minimap2</a:t>
            </a:r>
          </a:p>
          <a:p>
            <a:r>
              <a:rPr lang="en-US" dirty="0"/>
              <a:t>Use reads that align to two different contigs in such a way that they can be joined to generate </a:t>
            </a:r>
            <a:r>
              <a:rPr lang="en-US" b="1" dirty="0"/>
              <a:t>links</a:t>
            </a:r>
            <a:r>
              <a:rPr lang="en-US" dirty="0"/>
              <a:t> between contigs:</a:t>
            </a:r>
          </a:p>
          <a:p>
            <a:pPr lvl="1"/>
            <a:r>
              <a:rPr lang="en-US" dirty="0"/>
              <a:t>Sum of overhangs&lt;500bp (default) on each side</a:t>
            </a:r>
          </a:p>
          <a:p>
            <a:pPr lvl="1"/>
            <a:r>
              <a:rPr lang="en-US" dirty="0"/>
              <a:t>Overlap &gt; 2500bp on each side</a:t>
            </a:r>
          </a:p>
          <a:p>
            <a:pPr lvl="1"/>
            <a:r>
              <a:rPr lang="en-US" dirty="0"/>
              <a:t>Mode than one read required to suggest a merge between two contigs, implied gap size must be consistent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E477B-C661-5876-6BD4-5EAB3150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359C31-79F2-83F6-8361-E42C880BD4A1}"/>
              </a:ext>
            </a:extLst>
          </p:cNvPr>
          <p:cNvCxnSpPr>
            <a:cxnSpLocks/>
          </p:cNvCxnSpPr>
          <p:nvPr/>
        </p:nvCxnSpPr>
        <p:spPr>
          <a:xfrm>
            <a:off x="2219325" y="5878205"/>
            <a:ext cx="3076575" cy="824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79E13E-18C9-719B-D3E0-E7DC2092F0E6}"/>
              </a:ext>
            </a:extLst>
          </p:cNvPr>
          <p:cNvCxnSpPr>
            <a:cxnSpLocks/>
          </p:cNvCxnSpPr>
          <p:nvPr/>
        </p:nvCxnSpPr>
        <p:spPr>
          <a:xfrm flipV="1">
            <a:off x="5819775" y="5878205"/>
            <a:ext cx="3270250" cy="824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D7DE06-83BF-146A-D796-6EBB5E351185}"/>
              </a:ext>
            </a:extLst>
          </p:cNvPr>
          <p:cNvCxnSpPr>
            <a:cxnSpLocks/>
          </p:cNvCxnSpPr>
          <p:nvPr/>
        </p:nvCxnSpPr>
        <p:spPr>
          <a:xfrm>
            <a:off x="3057525" y="5610225"/>
            <a:ext cx="456247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B9F0D29-6563-5178-3FC0-A9D40B8D9B12}"/>
              </a:ext>
            </a:extLst>
          </p:cNvPr>
          <p:cNvSpPr/>
          <p:nvPr/>
        </p:nvSpPr>
        <p:spPr>
          <a:xfrm>
            <a:off x="3610197" y="5638800"/>
            <a:ext cx="1238029" cy="239405"/>
          </a:xfrm>
          <a:prstGeom prst="rect">
            <a:avLst/>
          </a:prstGeom>
          <a:pattFill prst="narVert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4EC3B9-6B76-DBD8-E3C0-1DE819318A80}"/>
              </a:ext>
            </a:extLst>
          </p:cNvPr>
          <p:cNvSpPr/>
          <p:nvPr/>
        </p:nvSpPr>
        <p:spPr>
          <a:xfrm>
            <a:off x="6391275" y="5638800"/>
            <a:ext cx="1085852" cy="239405"/>
          </a:xfrm>
          <a:prstGeom prst="rect">
            <a:avLst/>
          </a:prstGeom>
          <a:pattFill prst="narVert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AB31F72E-CAED-522B-87F3-44445CD8763C}"/>
              </a:ext>
            </a:extLst>
          </p:cNvPr>
          <p:cNvSpPr/>
          <p:nvPr/>
        </p:nvSpPr>
        <p:spPr>
          <a:xfrm rot="5400000">
            <a:off x="3249926" y="5221380"/>
            <a:ext cx="171451" cy="54909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FAA910B3-8061-128D-33E5-7ADB1FFAA8C9}"/>
              </a:ext>
            </a:extLst>
          </p:cNvPr>
          <p:cNvSpPr/>
          <p:nvPr/>
        </p:nvSpPr>
        <p:spPr>
          <a:xfrm rot="16200000">
            <a:off x="4981638" y="5811592"/>
            <a:ext cx="180851" cy="44767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16E86D-B4E0-4131-51DC-2D0B9497FB17}"/>
              </a:ext>
            </a:extLst>
          </p:cNvPr>
          <p:cNvSpPr txBox="1"/>
          <p:nvPr/>
        </p:nvSpPr>
        <p:spPr>
          <a:xfrm>
            <a:off x="4747032" y="6122288"/>
            <a:ext cx="109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Overhang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6F41C2-30B3-67BE-9608-A58EF75BBE18}"/>
              </a:ext>
            </a:extLst>
          </p:cNvPr>
          <p:cNvSpPr txBox="1"/>
          <p:nvPr/>
        </p:nvSpPr>
        <p:spPr>
          <a:xfrm>
            <a:off x="2786783" y="5040868"/>
            <a:ext cx="109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Overhang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48B195-8C56-BBBF-92B4-9EB1C4E9E56C}"/>
              </a:ext>
            </a:extLst>
          </p:cNvPr>
          <p:cNvSpPr txBox="1"/>
          <p:nvPr/>
        </p:nvSpPr>
        <p:spPr>
          <a:xfrm>
            <a:off x="3649296" y="5573836"/>
            <a:ext cx="91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FF0444-1325-D64F-CA9C-B8F653665D9C}"/>
              </a:ext>
            </a:extLst>
          </p:cNvPr>
          <p:cNvSpPr txBox="1"/>
          <p:nvPr/>
        </p:nvSpPr>
        <p:spPr>
          <a:xfrm>
            <a:off x="6535096" y="5566515"/>
            <a:ext cx="91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39E273-9C2B-AC8E-BD39-1DD116FBE377}"/>
              </a:ext>
            </a:extLst>
          </p:cNvPr>
          <p:cNvSpPr txBox="1"/>
          <p:nvPr/>
        </p:nvSpPr>
        <p:spPr>
          <a:xfrm>
            <a:off x="1739173" y="5935847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Contig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59057B-356A-66E1-5F62-9BABADA2BA5F}"/>
              </a:ext>
            </a:extLst>
          </p:cNvPr>
          <p:cNvSpPr txBox="1"/>
          <p:nvPr/>
        </p:nvSpPr>
        <p:spPr>
          <a:xfrm>
            <a:off x="8258398" y="6007128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Contig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E6CA76-7C74-4890-C575-BBC807B763B9}"/>
              </a:ext>
            </a:extLst>
          </p:cNvPr>
          <p:cNvSpPr txBox="1"/>
          <p:nvPr/>
        </p:nvSpPr>
        <p:spPr>
          <a:xfrm>
            <a:off x="4987198" y="5182340"/>
            <a:ext cx="111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 read</a:t>
            </a:r>
          </a:p>
        </p:txBody>
      </p:sp>
    </p:spTree>
    <p:extLst>
      <p:ext uri="{BB962C8B-B14F-4D97-AF65-F5344CB8AC3E}">
        <p14:creationId xmlns:p14="http://schemas.microsoft.com/office/powerpoint/2010/main" val="2557872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392CA-5924-C3D7-3EE9-7FB6F674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SAMBA algorithm: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F0F78-148F-1C42-0645-75833A47F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set of links yields the graph of contigs: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Contig1 Contig2 gap orientation</a:t>
            </a:r>
            <a:br>
              <a:rPr lang="en-US" dirty="0"/>
            </a:br>
            <a:r>
              <a:rPr lang="en-US" dirty="0"/>
              <a:t>Contig1 Contig3 gap orientation</a:t>
            </a:r>
            <a:br>
              <a:rPr lang="en-US" dirty="0"/>
            </a:br>
            <a:r>
              <a:rPr lang="en-US" dirty="0"/>
              <a:t>Contig2 Contig3 gap orientation</a:t>
            </a:r>
            <a:br>
              <a:rPr lang="en-US" dirty="0"/>
            </a:br>
            <a:r>
              <a:rPr lang="en-US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E477B-C661-5876-6BD4-5EAB3150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359C31-79F2-83F6-8361-E42C880BD4A1}"/>
              </a:ext>
            </a:extLst>
          </p:cNvPr>
          <p:cNvCxnSpPr>
            <a:cxnSpLocks/>
          </p:cNvCxnSpPr>
          <p:nvPr/>
        </p:nvCxnSpPr>
        <p:spPr>
          <a:xfrm>
            <a:off x="2219325" y="5878205"/>
            <a:ext cx="3076575" cy="824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79E13E-18C9-719B-D3E0-E7DC2092F0E6}"/>
              </a:ext>
            </a:extLst>
          </p:cNvPr>
          <p:cNvCxnSpPr>
            <a:cxnSpLocks/>
          </p:cNvCxnSpPr>
          <p:nvPr/>
        </p:nvCxnSpPr>
        <p:spPr>
          <a:xfrm flipV="1">
            <a:off x="5819775" y="5878205"/>
            <a:ext cx="3270250" cy="824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D7DE06-83BF-146A-D796-6EBB5E351185}"/>
              </a:ext>
            </a:extLst>
          </p:cNvPr>
          <p:cNvCxnSpPr>
            <a:cxnSpLocks/>
          </p:cNvCxnSpPr>
          <p:nvPr/>
        </p:nvCxnSpPr>
        <p:spPr>
          <a:xfrm>
            <a:off x="3057525" y="5610225"/>
            <a:ext cx="456247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B9F0D29-6563-5178-3FC0-A9D40B8D9B12}"/>
              </a:ext>
            </a:extLst>
          </p:cNvPr>
          <p:cNvSpPr/>
          <p:nvPr/>
        </p:nvSpPr>
        <p:spPr>
          <a:xfrm>
            <a:off x="3610197" y="5638800"/>
            <a:ext cx="1238029" cy="239405"/>
          </a:xfrm>
          <a:prstGeom prst="rect">
            <a:avLst/>
          </a:prstGeom>
          <a:pattFill prst="narVert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4EC3B9-6B76-DBD8-E3C0-1DE819318A80}"/>
              </a:ext>
            </a:extLst>
          </p:cNvPr>
          <p:cNvSpPr/>
          <p:nvPr/>
        </p:nvSpPr>
        <p:spPr>
          <a:xfrm>
            <a:off x="6391275" y="5638800"/>
            <a:ext cx="1085852" cy="239405"/>
          </a:xfrm>
          <a:prstGeom prst="rect">
            <a:avLst/>
          </a:prstGeom>
          <a:pattFill prst="narVert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AB31F72E-CAED-522B-87F3-44445CD8763C}"/>
              </a:ext>
            </a:extLst>
          </p:cNvPr>
          <p:cNvSpPr/>
          <p:nvPr/>
        </p:nvSpPr>
        <p:spPr>
          <a:xfrm rot="5400000">
            <a:off x="3249926" y="5221380"/>
            <a:ext cx="171451" cy="54909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FAA910B3-8061-128D-33E5-7ADB1FFAA8C9}"/>
              </a:ext>
            </a:extLst>
          </p:cNvPr>
          <p:cNvSpPr/>
          <p:nvPr/>
        </p:nvSpPr>
        <p:spPr>
          <a:xfrm rot="16200000">
            <a:off x="4981638" y="5811592"/>
            <a:ext cx="180851" cy="44767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16E86D-B4E0-4131-51DC-2D0B9497FB17}"/>
              </a:ext>
            </a:extLst>
          </p:cNvPr>
          <p:cNvSpPr txBox="1"/>
          <p:nvPr/>
        </p:nvSpPr>
        <p:spPr>
          <a:xfrm>
            <a:off x="4747032" y="6122288"/>
            <a:ext cx="109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Overhang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6F41C2-30B3-67BE-9608-A58EF75BBE18}"/>
              </a:ext>
            </a:extLst>
          </p:cNvPr>
          <p:cNvSpPr txBox="1"/>
          <p:nvPr/>
        </p:nvSpPr>
        <p:spPr>
          <a:xfrm>
            <a:off x="2786783" y="5040868"/>
            <a:ext cx="109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Overhang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48B195-8C56-BBBF-92B4-9EB1C4E9E56C}"/>
              </a:ext>
            </a:extLst>
          </p:cNvPr>
          <p:cNvSpPr txBox="1"/>
          <p:nvPr/>
        </p:nvSpPr>
        <p:spPr>
          <a:xfrm>
            <a:off x="3649296" y="5573836"/>
            <a:ext cx="91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FF0444-1325-D64F-CA9C-B8F653665D9C}"/>
              </a:ext>
            </a:extLst>
          </p:cNvPr>
          <p:cNvSpPr txBox="1"/>
          <p:nvPr/>
        </p:nvSpPr>
        <p:spPr>
          <a:xfrm>
            <a:off x="6535096" y="5566515"/>
            <a:ext cx="91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39E273-9C2B-AC8E-BD39-1DD116FBE377}"/>
              </a:ext>
            </a:extLst>
          </p:cNvPr>
          <p:cNvSpPr txBox="1"/>
          <p:nvPr/>
        </p:nvSpPr>
        <p:spPr>
          <a:xfrm>
            <a:off x="1739173" y="5935847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Contig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59057B-356A-66E1-5F62-9BABADA2BA5F}"/>
              </a:ext>
            </a:extLst>
          </p:cNvPr>
          <p:cNvSpPr txBox="1"/>
          <p:nvPr/>
        </p:nvSpPr>
        <p:spPr>
          <a:xfrm>
            <a:off x="8258398" y="6007128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Contig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E6CA76-7C74-4890-C575-BBC807B763B9}"/>
              </a:ext>
            </a:extLst>
          </p:cNvPr>
          <p:cNvSpPr txBox="1"/>
          <p:nvPr/>
        </p:nvSpPr>
        <p:spPr>
          <a:xfrm>
            <a:off x="4987198" y="5182340"/>
            <a:ext cx="111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 read</a:t>
            </a:r>
          </a:p>
        </p:txBody>
      </p:sp>
    </p:spTree>
    <p:extLst>
      <p:ext uri="{BB962C8B-B14F-4D97-AF65-F5344CB8AC3E}">
        <p14:creationId xmlns:p14="http://schemas.microsoft.com/office/powerpoint/2010/main" val="141857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8F5F-93A5-0FDB-7549-3D4A7B813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SAMBA algorithm: Graph of contigs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8AF21-6AF3-EF73-E0D1-153822AC6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39BAF4-6B4D-3E29-3D2F-F9CE4264F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08" y="1470906"/>
            <a:ext cx="4353533" cy="5068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23E2C8-0719-C497-2A33-F09AFFBF2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876" y="3864586"/>
            <a:ext cx="4048690" cy="23911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60ABC9-DD62-449E-B544-DD78F3220C3E}"/>
              </a:ext>
            </a:extLst>
          </p:cNvPr>
          <p:cNvSpPr txBox="1"/>
          <p:nvPr/>
        </p:nvSpPr>
        <p:spPr>
          <a:xfrm>
            <a:off x="6373876" y="1378121"/>
            <a:ext cx="30691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Resolve three features:</a:t>
            </a:r>
            <a:br>
              <a:rPr lang="en-US" sz="2800" dirty="0"/>
            </a:br>
            <a:r>
              <a:rPr lang="en-US" sz="2800" dirty="0"/>
              <a:t>1. Linear paths</a:t>
            </a:r>
          </a:p>
          <a:p>
            <a:r>
              <a:rPr lang="en-US" sz="2800" dirty="0"/>
              <a:t>2. Bubbles</a:t>
            </a:r>
          </a:p>
          <a:p>
            <a:r>
              <a:rPr lang="en-US" sz="2800" dirty="0"/>
              <a:t>3. Short repeats</a:t>
            </a:r>
          </a:p>
        </p:txBody>
      </p:sp>
    </p:spTree>
    <p:extLst>
      <p:ext uri="{BB962C8B-B14F-4D97-AF65-F5344CB8AC3E}">
        <p14:creationId xmlns:p14="http://schemas.microsoft.com/office/powerpoint/2010/main" val="389453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92392-380D-1CF4-60C4-CA3A2A57F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SAMBA algorithm: Consensus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978E6-B556-AC5B-9F99-B6FDEC2D7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0842E0-6E36-BFD1-F105-2923BD55CEED}"/>
              </a:ext>
            </a:extLst>
          </p:cNvPr>
          <p:cNvCxnSpPr>
            <a:cxnSpLocks/>
          </p:cNvCxnSpPr>
          <p:nvPr/>
        </p:nvCxnSpPr>
        <p:spPr>
          <a:xfrm>
            <a:off x="1933575" y="3649355"/>
            <a:ext cx="247400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B862C4-4434-EF81-CE14-E9DE9C3326FF}"/>
              </a:ext>
            </a:extLst>
          </p:cNvPr>
          <p:cNvCxnSpPr>
            <a:cxnSpLocks/>
          </p:cNvCxnSpPr>
          <p:nvPr/>
        </p:nvCxnSpPr>
        <p:spPr>
          <a:xfrm>
            <a:off x="6162675" y="3649355"/>
            <a:ext cx="2641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F55664-BCEF-0419-801D-E90E07B09253}"/>
              </a:ext>
            </a:extLst>
          </p:cNvPr>
          <p:cNvCxnSpPr>
            <a:cxnSpLocks/>
          </p:cNvCxnSpPr>
          <p:nvPr/>
        </p:nvCxnSpPr>
        <p:spPr>
          <a:xfrm>
            <a:off x="2771775" y="3381375"/>
            <a:ext cx="456247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5D76E0A-D621-7E9E-62E2-E864AD1F4254}"/>
              </a:ext>
            </a:extLst>
          </p:cNvPr>
          <p:cNvSpPr txBox="1"/>
          <p:nvPr/>
        </p:nvSpPr>
        <p:spPr>
          <a:xfrm>
            <a:off x="1453423" y="3706997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Contig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6845EE-8861-1E82-D9F4-DAF5A137B259}"/>
              </a:ext>
            </a:extLst>
          </p:cNvPr>
          <p:cNvSpPr txBox="1"/>
          <p:nvPr/>
        </p:nvSpPr>
        <p:spPr>
          <a:xfrm>
            <a:off x="7921402" y="3706997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Contig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D0EF59-B1DE-B87B-824B-A9CD040EA984}"/>
              </a:ext>
            </a:extLst>
          </p:cNvPr>
          <p:cNvSpPr txBox="1"/>
          <p:nvPr/>
        </p:nvSpPr>
        <p:spPr>
          <a:xfrm>
            <a:off x="4331260" y="1782102"/>
            <a:ext cx="120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 reads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4E80D4-6E96-B88F-DF61-FC18ED6EBAC6}"/>
              </a:ext>
            </a:extLst>
          </p:cNvPr>
          <p:cNvCxnSpPr>
            <a:cxnSpLocks/>
          </p:cNvCxnSpPr>
          <p:nvPr/>
        </p:nvCxnSpPr>
        <p:spPr>
          <a:xfrm>
            <a:off x="3133726" y="3181350"/>
            <a:ext cx="456247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EFCAED-8FB7-9352-2704-1C20FBE8F9A3}"/>
              </a:ext>
            </a:extLst>
          </p:cNvPr>
          <p:cNvCxnSpPr>
            <a:cxnSpLocks/>
          </p:cNvCxnSpPr>
          <p:nvPr/>
        </p:nvCxnSpPr>
        <p:spPr>
          <a:xfrm>
            <a:off x="2524125" y="3000375"/>
            <a:ext cx="456247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8C9642-F938-7D31-4FEB-943F481D1C34}"/>
              </a:ext>
            </a:extLst>
          </p:cNvPr>
          <p:cNvCxnSpPr>
            <a:cxnSpLocks/>
          </p:cNvCxnSpPr>
          <p:nvPr/>
        </p:nvCxnSpPr>
        <p:spPr>
          <a:xfrm>
            <a:off x="3533775" y="2828925"/>
            <a:ext cx="456247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A1355C1-BCD5-EDC5-647C-1371A70C0E65}"/>
              </a:ext>
            </a:extLst>
          </p:cNvPr>
          <p:cNvCxnSpPr>
            <a:cxnSpLocks/>
          </p:cNvCxnSpPr>
          <p:nvPr/>
        </p:nvCxnSpPr>
        <p:spPr>
          <a:xfrm>
            <a:off x="2786062" y="2638425"/>
            <a:ext cx="54530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9286772-EAE1-7CD5-11D4-9ECC2224E726}"/>
              </a:ext>
            </a:extLst>
          </p:cNvPr>
          <p:cNvCxnSpPr>
            <a:cxnSpLocks/>
          </p:cNvCxnSpPr>
          <p:nvPr/>
        </p:nvCxnSpPr>
        <p:spPr>
          <a:xfrm>
            <a:off x="3471862" y="2438400"/>
            <a:ext cx="456247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51666D4-3182-9000-D1DC-F7F2DAF400CB}"/>
              </a:ext>
            </a:extLst>
          </p:cNvPr>
          <p:cNvSpPr/>
          <p:nvPr/>
        </p:nvSpPr>
        <p:spPr>
          <a:xfrm>
            <a:off x="3567333" y="2419350"/>
            <a:ext cx="3519267" cy="1238250"/>
          </a:xfrm>
          <a:prstGeom prst="rect">
            <a:avLst/>
          </a:prstGeom>
          <a:solidFill>
            <a:schemeClr val="accent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0B346D2-F63D-F704-1C79-96099B9DB62C}"/>
              </a:ext>
            </a:extLst>
          </p:cNvPr>
          <p:cNvCxnSpPr>
            <a:cxnSpLocks/>
          </p:cNvCxnSpPr>
          <p:nvPr/>
        </p:nvCxnSpPr>
        <p:spPr>
          <a:xfrm>
            <a:off x="4767261" y="3649355"/>
            <a:ext cx="1047751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09301EB-17F4-DB25-380D-7C3E5E53B8D3}"/>
              </a:ext>
            </a:extLst>
          </p:cNvPr>
          <p:cNvSpPr txBox="1"/>
          <p:nvPr/>
        </p:nvSpPr>
        <p:spPr>
          <a:xfrm>
            <a:off x="4805362" y="3669267"/>
            <a:ext cx="100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Contig 2 (repeat)</a:t>
            </a:r>
          </a:p>
        </p:txBody>
      </p:sp>
    </p:spTree>
    <p:extLst>
      <p:ext uri="{BB962C8B-B14F-4D97-AF65-F5344CB8AC3E}">
        <p14:creationId xmlns:p14="http://schemas.microsoft.com/office/powerpoint/2010/main" val="1952634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492BA-03FA-CC6D-3459-ACDB0EC1D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EEAC-12EC-94F0-C4FF-6005D74BB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SAMBA algorithm: Consensus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3D09C-8A92-A8A4-DEDF-4DA82EA0F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BB6DCB-5F95-8B16-A7D4-80BFC115E40E}"/>
              </a:ext>
            </a:extLst>
          </p:cNvPr>
          <p:cNvCxnSpPr>
            <a:cxnSpLocks/>
          </p:cNvCxnSpPr>
          <p:nvPr/>
        </p:nvCxnSpPr>
        <p:spPr>
          <a:xfrm>
            <a:off x="1933575" y="3649355"/>
            <a:ext cx="247400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399514-92E4-4EAC-A9AB-341ACC07BC7A}"/>
              </a:ext>
            </a:extLst>
          </p:cNvPr>
          <p:cNvCxnSpPr>
            <a:cxnSpLocks/>
          </p:cNvCxnSpPr>
          <p:nvPr/>
        </p:nvCxnSpPr>
        <p:spPr>
          <a:xfrm>
            <a:off x="6162675" y="3649355"/>
            <a:ext cx="2641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876672-A291-FC11-F0E1-F5120889346F}"/>
              </a:ext>
            </a:extLst>
          </p:cNvPr>
          <p:cNvSpPr txBox="1"/>
          <p:nvPr/>
        </p:nvSpPr>
        <p:spPr>
          <a:xfrm>
            <a:off x="1453423" y="3706997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Contig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ABAFBD-D536-F38F-1318-EEE5EDFDA512}"/>
              </a:ext>
            </a:extLst>
          </p:cNvPr>
          <p:cNvSpPr txBox="1"/>
          <p:nvPr/>
        </p:nvSpPr>
        <p:spPr>
          <a:xfrm>
            <a:off x="7921402" y="3706997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Contig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999542-5BC6-D144-C217-E1B0DBD9BB0C}"/>
              </a:ext>
            </a:extLst>
          </p:cNvPr>
          <p:cNvSpPr txBox="1"/>
          <p:nvPr/>
        </p:nvSpPr>
        <p:spPr>
          <a:xfrm>
            <a:off x="4367385" y="2467902"/>
            <a:ext cx="1728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a “patch”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FAACB-1B7E-0E6E-1359-3BA495A3EEB9}"/>
              </a:ext>
            </a:extLst>
          </p:cNvPr>
          <p:cNvSpPr/>
          <p:nvPr/>
        </p:nvSpPr>
        <p:spPr>
          <a:xfrm>
            <a:off x="3567333" y="3401286"/>
            <a:ext cx="3519267" cy="256313"/>
          </a:xfrm>
          <a:prstGeom prst="rect">
            <a:avLst/>
          </a:prstGeom>
          <a:solidFill>
            <a:schemeClr val="accent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327077D-08F6-04EA-4A40-179A69225840}"/>
              </a:ext>
            </a:extLst>
          </p:cNvPr>
          <p:cNvCxnSpPr>
            <a:cxnSpLocks/>
          </p:cNvCxnSpPr>
          <p:nvPr/>
        </p:nvCxnSpPr>
        <p:spPr>
          <a:xfrm>
            <a:off x="4767261" y="3649355"/>
            <a:ext cx="1047751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FADCADF-030E-2AED-361A-BE30394214A6}"/>
              </a:ext>
            </a:extLst>
          </p:cNvPr>
          <p:cNvSpPr txBox="1"/>
          <p:nvPr/>
        </p:nvSpPr>
        <p:spPr>
          <a:xfrm>
            <a:off x="4805362" y="3669267"/>
            <a:ext cx="100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Contig 2 (repeat)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AE29AAD-849F-6A38-F27D-027D8C76FA91}"/>
              </a:ext>
            </a:extLst>
          </p:cNvPr>
          <p:cNvCxnSpPr>
            <a:cxnSpLocks/>
          </p:cNvCxnSpPr>
          <p:nvPr/>
        </p:nvCxnSpPr>
        <p:spPr>
          <a:xfrm>
            <a:off x="3567333" y="3412091"/>
            <a:ext cx="351926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641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D135D-887B-82BE-58FD-A65F53162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29E2-655B-86FB-0294-77F06E57A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SAMBA algorithm: Consensus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6D0B7-0909-29FC-17AD-24730019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116A26-B63B-AEAF-BB82-528841EEA422}"/>
              </a:ext>
            </a:extLst>
          </p:cNvPr>
          <p:cNvCxnSpPr>
            <a:cxnSpLocks/>
          </p:cNvCxnSpPr>
          <p:nvPr/>
        </p:nvCxnSpPr>
        <p:spPr>
          <a:xfrm>
            <a:off x="1933575" y="3649355"/>
            <a:ext cx="247400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92FE8C-6C2A-CAF1-00DE-D7E60454DA73}"/>
              </a:ext>
            </a:extLst>
          </p:cNvPr>
          <p:cNvCxnSpPr>
            <a:cxnSpLocks/>
          </p:cNvCxnSpPr>
          <p:nvPr/>
        </p:nvCxnSpPr>
        <p:spPr>
          <a:xfrm>
            <a:off x="6162675" y="3649355"/>
            <a:ext cx="2641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1F50F43-4F59-7F49-C4EE-27E31ADC0202}"/>
              </a:ext>
            </a:extLst>
          </p:cNvPr>
          <p:cNvSpPr txBox="1"/>
          <p:nvPr/>
        </p:nvSpPr>
        <p:spPr>
          <a:xfrm>
            <a:off x="4367385" y="3758908"/>
            <a:ext cx="15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Merged contig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BF2A86-782C-5C87-B1A4-0725F10CF4C9}"/>
              </a:ext>
            </a:extLst>
          </p:cNvPr>
          <p:cNvSpPr txBox="1"/>
          <p:nvPr/>
        </p:nvSpPr>
        <p:spPr>
          <a:xfrm>
            <a:off x="4367385" y="2467902"/>
            <a:ext cx="796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Merge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3CC24E5-15D9-965A-609F-E881C1C064B0}"/>
              </a:ext>
            </a:extLst>
          </p:cNvPr>
          <p:cNvCxnSpPr>
            <a:cxnSpLocks/>
          </p:cNvCxnSpPr>
          <p:nvPr/>
        </p:nvCxnSpPr>
        <p:spPr>
          <a:xfrm>
            <a:off x="4767261" y="3649355"/>
            <a:ext cx="1047751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D97CAB-198C-0016-4027-685341684675}"/>
              </a:ext>
            </a:extLst>
          </p:cNvPr>
          <p:cNvCxnSpPr>
            <a:cxnSpLocks/>
          </p:cNvCxnSpPr>
          <p:nvPr/>
        </p:nvCxnSpPr>
        <p:spPr>
          <a:xfrm>
            <a:off x="3559400" y="3649355"/>
            <a:ext cx="351926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20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42DF8-08D0-4842-BF1A-10FC59645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526474"/>
            <a:ext cx="7059480" cy="458115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Result: Arabidopsis thaliana assembly, PacBio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92403-420F-6B5A-2128-97BB59922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Longer contigs, fewer errors compared to </a:t>
            </a:r>
            <a:r>
              <a:rPr lang="en-US" dirty="0" err="1"/>
              <a:t>LRScaf</a:t>
            </a:r>
            <a:r>
              <a:rPr lang="en-US" dirty="0"/>
              <a:t>, SMIS and LINKS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B6E58-1D95-B1F1-83E7-4FA196196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83DDAE-C461-F8AE-AACE-F0F88A521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303" y="2072627"/>
            <a:ext cx="8935697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71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5F5BA-FDA9-E2D2-7F51-CD874B35E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32C31-9C13-7764-0394-188D84A8F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SAMBA is an effective tool aimed at improving contiguity of existing genome assemblies with long reads</a:t>
            </a:r>
          </a:p>
          <a:p>
            <a:r>
              <a:rPr lang="en-US" dirty="0"/>
              <a:t>No need to re-assemble, useful in cases where original data is no longer available</a:t>
            </a:r>
          </a:p>
          <a:p>
            <a:r>
              <a:rPr lang="en-US" dirty="0"/>
              <a:t>Can use both PacBio and Oxford nanopore long reads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17015-753A-FA5C-8F18-06A5C582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72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CB90E-4F93-2D9F-010E-6CD0D7C2A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41" y="488864"/>
            <a:ext cx="10972800" cy="458115"/>
          </a:xfrm>
        </p:spPr>
        <p:txBody>
          <a:bodyPr>
            <a:normAutofit fontScale="90000"/>
          </a:bodyPr>
          <a:lstStyle/>
          <a:p>
            <a:r>
              <a:rPr lang="en-US" dirty="0"/>
              <a:t>Lab #6: Training and scoring with </a:t>
            </a:r>
            <a:br>
              <a:rPr lang="en-US" dirty="0"/>
            </a:br>
            <a:r>
              <a:rPr lang="en-US" dirty="0"/>
              <a:t>PWM and WAM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CB77-9759-C6B5-1779-46F8E35B2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48" y="1638552"/>
            <a:ext cx="10972800" cy="521944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Lab #6: Due Friday November 21</a:t>
            </a:r>
            <a:r>
              <a:rPr lang="en-US" baseline="30000" dirty="0"/>
              <a:t>st</a:t>
            </a:r>
            <a:r>
              <a:rPr lang="en-US" dirty="0"/>
              <a:t> at 8:00pm.  In this lab assignment you will implement training and scoring with Positional Weight and Weight Array (graduate only) matrices. Submit through </a:t>
            </a:r>
            <a:r>
              <a:rPr lang="en-US" dirty="0" err="1"/>
              <a:t>GradeScope’s</a:t>
            </a:r>
            <a:r>
              <a:rPr lang="en-US" dirty="0"/>
              <a:t> </a:t>
            </a:r>
            <a:r>
              <a:rPr lang="en-US" dirty="0" err="1"/>
              <a:t>autograder</a:t>
            </a:r>
            <a:r>
              <a:rPr lang="en-US" dirty="0"/>
              <a:t>.</a:t>
            </a:r>
          </a:p>
          <a:p>
            <a:r>
              <a:rPr lang="en-US" dirty="0"/>
              <a:t>Data: training </a:t>
            </a:r>
            <a:r>
              <a:rPr lang="en-US" dirty="0">
                <a:hlinkClick r:id="rId2"/>
              </a:rPr>
              <a:t>https://github.com/alekseyzimin/BME-Algorithms-for-Analysis-of-Genomic-Data/raw/refs/heads/main/training.txt</a:t>
            </a:r>
            <a:r>
              <a:rPr lang="en-US" dirty="0"/>
              <a:t> testing </a:t>
            </a:r>
            <a:r>
              <a:rPr lang="en-US" dirty="0">
                <a:hlinkClick r:id="rId3"/>
              </a:rPr>
              <a:t>https://github.com/alekseyzimin/BME-Algorithms-for-Analysis-of-Genomic-Data/raw/refs/heads/main/testing20.txt</a:t>
            </a:r>
            <a:r>
              <a:rPr lang="en-US" dirty="0"/>
              <a:t>. When computing logs of probabilities, add 1e-16 to the probability to avoid getting log(0)</a:t>
            </a:r>
          </a:p>
          <a:p>
            <a:r>
              <a:rPr lang="en-US" dirty="0"/>
              <a:t>The assignment is to write the following functions in python and submit them through </a:t>
            </a:r>
            <a:r>
              <a:rPr lang="en-US" dirty="0" err="1"/>
              <a:t>autograder</a:t>
            </a:r>
            <a:r>
              <a:rPr lang="en-US" dirty="0"/>
              <a:t> in </a:t>
            </a:r>
            <a:r>
              <a:rPr lang="en-US" i="1" dirty="0"/>
              <a:t>train_score_pwm.py </a:t>
            </a:r>
            <a:r>
              <a:rPr lang="en-US" dirty="0"/>
              <a:t>file:</a:t>
            </a:r>
          </a:p>
          <a:p>
            <a:pPr lvl="1"/>
            <a:r>
              <a:rPr lang="en-US" dirty="0"/>
              <a:t>(G:10pts,U:10pts) </a:t>
            </a:r>
            <a:r>
              <a:rPr lang="en-US" i="1" dirty="0" err="1"/>
              <a:t>load_sequences</a:t>
            </a:r>
            <a:r>
              <a:rPr lang="en-US" i="1" dirty="0"/>
              <a:t>(file) </a:t>
            </a:r>
            <a:r>
              <a:rPr lang="en-US" dirty="0"/>
              <a:t>: reads strings from file, one string per line, returns array of strings</a:t>
            </a:r>
          </a:p>
          <a:p>
            <a:pPr lvl="1"/>
            <a:r>
              <a:rPr lang="en-US" dirty="0"/>
              <a:t>(G:25pts,U:50pts) </a:t>
            </a:r>
            <a:r>
              <a:rPr lang="en-US" i="1" dirty="0" err="1"/>
              <a:t>compute_pwm</a:t>
            </a:r>
            <a:r>
              <a:rPr lang="en-US" i="1" dirty="0"/>
              <a:t>(sequences) </a:t>
            </a:r>
            <a:r>
              <a:rPr lang="en-US" dirty="0"/>
              <a:t>:</a:t>
            </a:r>
            <a:r>
              <a:rPr lang="en-US" i="1" dirty="0"/>
              <a:t> </a:t>
            </a:r>
            <a:r>
              <a:rPr lang="en-US" dirty="0"/>
              <a:t>computes positional weights from training data in the array of strings </a:t>
            </a:r>
            <a:r>
              <a:rPr lang="en-US" i="1" dirty="0"/>
              <a:t>sequences</a:t>
            </a:r>
            <a:r>
              <a:rPr lang="en-US" dirty="0"/>
              <a:t>, returns dictionary of positional weights </a:t>
            </a:r>
            <a:r>
              <a:rPr lang="en-US" i="1" dirty="0" err="1"/>
              <a:t>pwm</a:t>
            </a:r>
            <a:r>
              <a:rPr lang="en-US" i="1" dirty="0"/>
              <a:t>[base][position]=weight</a:t>
            </a:r>
            <a:r>
              <a:rPr lang="en-US" dirty="0"/>
              <a:t>; base is “ACGT”, position is from </a:t>
            </a:r>
            <a:r>
              <a:rPr lang="en-US" i="1" dirty="0"/>
              <a:t>0</a:t>
            </a:r>
            <a:r>
              <a:rPr lang="en-US" dirty="0"/>
              <a:t> to </a:t>
            </a:r>
            <a:r>
              <a:rPr lang="en-US" i="1" dirty="0" err="1"/>
              <a:t>len</a:t>
            </a:r>
            <a:r>
              <a:rPr lang="en-US" i="1" dirty="0"/>
              <a:t>(sequences[0])-1</a:t>
            </a:r>
          </a:p>
          <a:p>
            <a:pPr lvl="1"/>
            <a:r>
              <a:rPr lang="en-US" dirty="0"/>
              <a:t>(G:20pts,U:40pts) </a:t>
            </a:r>
            <a:r>
              <a:rPr lang="en-US" i="1" dirty="0" err="1"/>
              <a:t>score_pwm</a:t>
            </a:r>
            <a:r>
              <a:rPr lang="en-US" i="1" dirty="0"/>
              <a:t>(</a:t>
            </a:r>
            <a:r>
              <a:rPr lang="en-US" i="1" dirty="0" err="1"/>
              <a:t>sequences,pwm</a:t>
            </a:r>
            <a:r>
              <a:rPr lang="en-US" i="1" dirty="0"/>
              <a:t>) </a:t>
            </a:r>
            <a:r>
              <a:rPr lang="en-US" dirty="0"/>
              <a:t>: returns array of numerical positional weight scores for array of DNA sequences </a:t>
            </a:r>
            <a:r>
              <a:rPr lang="en-US" i="1" dirty="0" err="1"/>
              <a:t>sequences</a:t>
            </a:r>
            <a:r>
              <a:rPr lang="en-US" dirty="0"/>
              <a:t> and positional weight matrix (dictionary) </a:t>
            </a:r>
            <a:r>
              <a:rPr lang="en-US" i="1" dirty="0" err="1"/>
              <a:t>pwm</a:t>
            </a:r>
            <a:endParaRPr lang="en-US" i="1" dirty="0"/>
          </a:p>
          <a:p>
            <a:r>
              <a:rPr lang="en-US" dirty="0"/>
              <a:t>Graduate students only:</a:t>
            </a:r>
          </a:p>
          <a:p>
            <a:pPr lvl="1"/>
            <a:r>
              <a:rPr lang="en-US" dirty="0"/>
              <a:t>(G:25pts) </a:t>
            </a:r>
            <a:r>
              <a:rPr lang="en-US" i="1" dirty="0" err="1"/>
              <a:t>compute_wam</a:t>
            </a:r>
            <a:r>
              <a:rPr lang="en-US" i="1" dirty="0"/>
              <a:t>(sequences) </a:t>
            </a:r>
            <a:r>
              <a:rPr lang="en-US" dirty="0"/>
              <a:t>: computes Weight Array Matrix from training data in the array of strings sequences, returns dictionary of weights </a:t>
            </a:r>
            <a:r>
              <a:rPr lang="en-US" i="1" dirty="0" err="1"/>
              <a:t>wam</a:t>
            </a:r>
            <a:r>
              <a:rPr lang="en-US" i="1" dirty="0"/>
              <a:t>[tuple][position]=weight</a:t>
            </a:r>
            <a:r>
              <a:rPr lang="en-US" dirty="0"/>
              <a:t>; tuple is “AA, “AC”,...,”TT”, position is from </a:t>
            </a:r>
            <a:r>
              <a:rPr lang="en-US" i="1" dirty="0"/>
              <a:t>0</a:t>
            </a:r>
            <a:r>
              <a:rPr lang="en-US" dirty="0"/>
              <a:t> to </a:t>
            </a:r>
            <a:r>
              <a:rPr lang="en-US" i="1" dirty="0" err="1"/>
              <a:t>len</a:t>
            </a:r>
            <a:r>
              <a:rPr lang="en-US" i="1" dirty="0"/>
              <a:t>(sequences[0])-2</a:t>
            </a:r>
          </a:p>
          <a:p>
            <a:pPr lvl="1"/>
            <a:r>
              <a:rPr lang="en-US" dirty="0"/>
              <a:t>(G:20pts) </a:t>
            </a:r>
            <a:r>
              <a:rPr lang="en-US" i="1" dirty="0" err="1"/>
              <a:t>score_wam</a:t>
            </a:r>
            <a:r>
              <a:rPr lang="en-US" i="1" dirty="0"/>
              <a:t>(</a:t>
            </a:r>
            <a:r>
              <a:rPr lang="en-US" i="1" dirty="0" err="1"/>
              <a:t>sequences,pwm,wam</a:t>
            </a:r>
            <a:r>
              <a:rPr lang="en-US" i="1" dirty="0"/>
              <a:t>) </a:t>
            </a:r>
            <a:r>
              <a:rPr lang="en-US" dirty="0"/>
              <a:t>: returns array of numerical Weight Array scores for array of DNA sequences </a:t>
            </a:r>
            <a:r>
              <a:rPr lang="en-US" i="1" dirty="0" err="1"/>
              <a:t>sequences</a:t>
            </a:r>
            <a:r>
              <a:rPr lang="en-US" dirty="0"/>
              <a:t>, positional weight matrix (dictionary) </a:t>
            </a:r>
            <a:r>
              <a:rPr lang="en-US" i="1" dirty="0" err="1"/>
              <a:t>pwm</a:t>
            </a:r>
            <a:r>
              <a:rPr lang="en-US" dirty="0"/>
              <a:t>, and weight array matrix (dictionary) </a:t>
            </a:r>
            <a:r>
              <a:rPr lang="en-US" i="1" dirty="0" err="1"/>
              <a:t>wam</a:t>
            </a:r>
            <a:endParaRPr lang="en-US" i="1" dirty="0"/>
          </a:p>
          <a:p>
            <a:pPr lvl="1"/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44356-1842-3AF4-773F-C9432856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67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383B-57E8-8426-E9B2-F8B08888C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04E40-D459-3413-C789-D3A6249A7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13" y="5040427"/>
            <a:ext cx="11109407" cy="1232033"/>
          </a:xfrm>
        </p:spPr>
        <p:txBody>
          <a:bodyPr>
            <a:normAutofit fontScale="92500"/>
          </a:bodyPr>
          <a:lstStyle/>
          <a:p>
            <a:r>
              <a:rPr lang="en-US" dirty="0"/>
              <a:t>Let's consider the following simple HMM for coding/non-coding regions of DNA. This model is composed of 2 states, C (coding) and N (non-coding).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AC70A-40B1-7BE0-0F13-CC7563BB6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00B5C-8833-0573-6433-CDF16FFC3174}"/>
              </a:ext>
            </a:extLst>
          </p:cNvPr>
          <p:cNvSpPr txBox="1"/>
          <p:nvPr/>
        </p:nvSpPr>
        <p:spPr>
          <a:xfrm>
            <a:off x="5909911" y="1514877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837D1E-C824-4D38-3E44-175345078A28}"/>
              </a:ext>
            </a:extLst>
          </p:cNvPr>
          <p:cNvCxnSpPr>
            <a:cxnSpLocks/>
          </p:cNvCxnSpPr>
          <p:nvPr/>
        </p:nvCxnSpPr>
        <p:spPr>
          <a:xfrm flipH="1">
            <a:off x="5303520" y="2082767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98F8D4-32E2-D22F-CDAB-D4B025E2D5D2}"/>
              </a:ext>
            </a:extLst>
          </p:cNvPr>
          <p:cNvCxnSpPr>
            <a:cxnSpLocks/>
          </p:cNvCxnSpPr>
          <p:nvPr/>
        </p:nvCxnSpPr>
        <p:spPr>
          <a:xfrm>
            <a:off x="6420050" y="2082767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E275128-51D8-4160-7033-96D9AEF08A83}"/>
              </a:ext>
            </a:extLst>
          </p:cNvPr>
          <p:cNvSpPr txBox="1"/>
          <p:nvPr/>
        </p:nvSpPr>
        <p:spPr>
          <a:xfrm>
            <a:off x="5274683" y="189810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881E24-0825-D9BE-3589-7B7020E83921}"/>
              </a:ext>
            </a:extLst>
          </p:cNvPr>
          <p:cNvSpPr txBox="1"/>
          <p:nvPr/>
        </p:nvSpPr>
        <p:spPr>
          <a:xfrm>
            <a:off x="6729663" y="189810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E1E9DE-2BE4-3551-D4F8-5D6090DD44B5}"/>
              </a:ext>
            </a:extLst>
          </p:cNvPr>
          <p:cNvSpPr txBox="1"/>
          <p:nvPr/>
        </p:nvSpPr>
        <p:spPr>
          <a:xfrm>
            <a:off x="4803518" y="2459504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2400C1-5A91-B00F-70E1-31311B6AE0D5}"/>
              </a:ext>
            </a:extLst>
          </p:cNvPr>
          <p:cNvSpPr txBox="1"/>
          <p:nvPr/>
        </p:nvSpPr>
        <p:spPr>
          <a:xfrm>
            <a:off x="6698084" y="2459504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786695-1B52-A7A6-6691-CF75F66DA301}"/>
              </a:ext>
            </a:extLst>
          </p:cNvPr>
          <p:cNvCxnSpPr>
            <a:cxnSpLocks/>
          </p:cNvCxnSpPr>
          <p:nvPr/>
        </p:nvCxnSpPr>
        <p:spPr>
          <a:xfrm>
            <a:off x="5919961" y="3095530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0EEE9E-980C-529C-7B73-FFE2D84E5420}"/>
              </a:ext>
            </a:extLst>
          </p:cNvPr>
          <p:cNvCxnSpPr>
            <a:cxnSpLocks/>
          </p:cNvCxnSpPr>
          <p:nvPr/>
        </p:nvCxnSpPr>
        <p:spPr>
          <a:xfrm flipH="1">
            <a:off x="5919961" y="3472267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8063C21-A161-3C73-63C1-1151A03E276F}"/>
              </a:ext>
            </a:extLst>
          </p:cNvPr>
          <p:cNvSpPr txBox="1"/>
          <p:nvPr/>
        </p:nvSpPr>
        <p:spPr>
          <a:xfrm>
            <a:off x="5951515" y="275642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E84933-3B96-B7B4-31B8-874CE728A0D4}"/>
              </a:ext>
            </a:extLst>
          </p:cNvPr>
          <p:cNvSpPr txBox="1"/>
          <p:nvPr/>
        </p:nvSpPr>
        <p:spPr>
          <a:xfrm>
            <a:off x="5957893" y="349784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4198DD9-E962-1FF0-F53E-0E125156FE8E}"/>
                  </a:ext>
                </a:extLst>
              </p14:cNvPr>
              <p14:cNvContentPartPr/>
              <p14:nvPr/>
            </p14:nvContentPartPr>
            <p14:xfrm>
              <a:off x="7819170" y="2627049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4198DD9-E962-1FF0-F53E-0E125156FE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3050" y="2620929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4FA7466-D832-6FE4-6427-054900F9CB3D}"/>
                  </a:ext>
                </a:extLst>
              </p14:cNvPr>
              <p14:cNvContentPartPr/>
              <p14:nvPr/>
            </p14:nvContentPartPr>
            <p14:xfrm rot="10800000">
              <a:off x="3297754" y="2494139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4FA7466-D832-6FE4-6427-054900F9CB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3291634" y="2488019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9233339F-F742-0CAF-3AAA-F7CFF71F34DA}"/>
              </a:ext>
            </a:extLst>
          </p:cNvPr>
          <p:cNvSpPr txBox="1"/>
          <p:nvPr/>
        </p:nvSpPr>
        <p:spPr>
          <a:xfrm>
            <a:off x="2798313" y="299599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2AA1FD-571E-DA41-2ED3-8CAC942F260D}"/>
              </a:ext>
            </a:extLst>
          </p:cNvPr>
          <p:cNvSpPr txBox="1"/>
          <p:nvPr/>
        </p:nvSpPr>
        <p:spPr>
          <a:xfrm>
            <a:off x="9193778" y="305912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</a:p>
        </p:txBody>
      </p:sp>
    </p:spTree>
    <p:extLst>
      <p:ext uri="{BB962C8B-B14F-4D97-AF65-F5344CB8AC3E}">
        <p14:creationId xmlns:p14="http://schemas.microsoft.com/office/powerpoint/2010/main" val="702189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BE885-5B7D-EBFD-B63D-C48C87FF6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936A0-2AF5-CC22-A801-101F92515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508DC-02E3-40FF-DD97-23370E304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13" y="5040427"/>
            <a:ext cx="11109407" cy="15696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Consider the sequence S = </a:t>
            </a:r>
            <a:r>
              <a:rPr lang="en-US" b="1" dirty="0"/>
              <a:t>GGCACTGAA</a:t>
            </a:r>
          </a:p>
          <a:p>
            <a:r>
              <a:rPr lang="en-US" dirty="0"/>
              <a:t>There are several paths through hidden states (C and N) that lead to this sequence, e.g. NNCCCCNNN</a:t>
            </a:r>
          </a:p>
          <a:p>
            <a:r>
              <a:rPr lang="en-US" dirty="0"/>
              <a:t>Prob(S) through this path is 0.5*0.2*0.6*0.2*0.4*0.3*...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4668E-8F8D-4864-CF40-178AA1C80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A5AD5-1C70-75F5-CD55-0E615525E654}"/>
              </a:ext>
            </a:extLst>
          </p:cNvPr>
          <p:cNvSpPr txBox="1"/>
          <p:nvPr/>
        </p:nvSpPr>
        <p:spPr>
          <a:xfrm>
            <a:off x="5909911" y="1514877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DB8BD0-3C2B-7318-5E5A-108B163A329A}"/>
              </a:ext>
            </a:extLst>
          </p:cNvPr>
          <p:cNvCxnSpPr>
            <a:cxnSpLocks/>
          </p:cNvCxnSpPr>
          <p:nvPr/>
        </p:nvCxnSpPr>
        <p:spPr>
          <a:xfrm flipH="1">
            <a:off x="5303520" y="2082767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C31601-05E6-FB18-C3D9-D4BE2E314B35}"/>
              </a:ext>
            </a:extLst>
          </p:cNvPr>
          <p:cNvCxnSpPr>
            <a:cxnSpLocks/>
          </p:cNvCxnSpPr>
          <p:nvPr/>
        </p:nvCxnSpPr>
        <p:spPr>
          <a:xfrm>
            <a:off x="6420050" y="2082767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A0F4F18-07F0-CC7A-F542-F9F6F3CEF0D1}"/>
              </a:ext>
            </a:extLst>
          </p:cNvPr>
          <p:cNvSpPr txBox="1"/>
          <p:nvPr/>
        </p:nvSpPr>
        <p:spPr>
          <a:xfrm>
            <a:off x="5274683" y="189810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7D4C40-8A7C-873B-D500-CFA1DD00F7A2}"/>
              </a:ext>
            </a:extLst>
          </p:cNvPr>
          <p:cNvSpPr txBox="1"/>
          <p:nvPr/>
        </p:nvSpPr>
        <p:spPr>
          <a:xfrm>
            <a:off x="6729663" y="189810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6EC965-B672-2760-4B9C-19FE288D2FFB}"/>
              </a:ext>
            </a:extLst>
          </p:cNvPr>
          <p:cNvSpPr txBox="1"/>
          <p:nvPr/>
        </p:nvSpPr>
        <p:spPr>
          <a:xfrm>
            <a:off x="4803518" y="2459504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4C7DA6-7FB4-9D00-EE84-79E38DCEDB84}"/>
              </a:ext>
            </a:extLst>
          </p:cNvPr>
          <p:cNvSpPr txBox="1"/>
          <p:nvPr/>
        </p:nvSpPr>
        <p:spPr>
          <a:xfrm>
            <a:off x="6698084" y="2459504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53836A-20D7-0C0B-00D2-5189014D038D}"/>
              </a:ext>
            </a:extLst>
          </p:cNvPr>
          <p:cNvCxnSpPr>
            <a:cxnSpLocks/>
          </p:cNvCxnSpPr>
          <p:nvPr/>
        </p:nvCxnSpPr>
        <p:spPr>
          <a:xfrm>
            <a:off x="5919961" y="3095530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211056B-78D3-5B4F-73BE-0CDA64BA9C00}"/>
              </a:ext>
            </a:extLst>
          </p:cNvPr>
          <p:cNvCxnSpPr>
            <a:cxnSpLocks/>
          </p:cNvCxnSpPr>
          <p:nvPr/>
        </p:nvCxnSpPr>
        <p:spPr>
          <a:xfrm flipH="1">
            <a:off x="5919961" y="3472267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0CF8B3D-60F9-A3F3-903D-A4987CD080C1}"/>
              </a:ext>
            </a:extLst>
          </p:cNvPr>
          <p:cNvSpPr txBox="1"/>
          <p:nvPr/>
        </p:nvSpPr>
        <p:spPr>
          <a:xfrm>
            <a:off x="5951515" y="275642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2BDD48-899E-48CD-C89A-C7E741E79F14}"/>
              </a:ext>
            </a:extLst>
          </p:cNvPr>
          <p:cNvSpPr txBox="1"/>
          <p:nvPr/>
        </p:nvSpPr>
        <p:spPr>
          <a:xfrm>
            <a:off x="5957893" y="349784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339CE19-8BFF-BCBE-3B49-853277366905}"/>
                  </a:ext>
                </a:extLst>
              </p14:cNvPr>
              <p14:cNvContentPartPr/>
              <p14:nvPr/>
            </p14:nvContentPartPr>
            <p14:xfrm>
              <a:off x="7819170" y="2627049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339CE19-8BFF-BCBE-3B49-8532773669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3050" y="2620929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A3A51AD-2F7D-3A31-E52E-877075D65435}"/>
                  </a:ext>
                </a:extLst>
              </p14:cNvPr>
              <p14:cNvContentPartPr/>
              <p14:nvPr/>
            </p14:nvContentPartPr>
            <p14:xfrm rot="10800000">
              <a:off x="3297754" y="2494139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A3A51AD-2F7D-3A31-E52E-877075D654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3291634" y="2488019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38C73F6E-54D5-45BD-0317-CADFE5EF115B}"/>
              </a:ext>
            </a:extLst>
          </p:cNvPr>
          <p:cNvSpPr txBox="1"/>
          <p:nvPr/>
        </p:nvSpPr>
        <p:spPr>
          <a:xfrm>
            <a:off x="2798313" y="299599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144901-6FAD-6A63-B0D1-1A35879DC63F}"/>
              </a:ext>
            </a:extLst>
          </p:cNvPr>
          <p:cNvSpPr txBox="1"/>
          <p:nvPr/>
        </p:nvSpPr>
        <p:spPr>
          <a:xfrm>
            <a:off x="9193778" y="305912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</a:p>
        </p:txBody>
      </p:sp>
    </p:spTree>
    <p:extLst>
      <p:ext uri="{BB962C8B-B14F-4D97-AF65-F5344CB8AC3E}">
        <p14:creationId xmlns:p14="http://schemas.microsoft.com/office/powerpoint/2010/main" val="1452179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BD082-5C55-91A8-2DD1-B537010F6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11A75-8B5B-119B-131F-1CB7FAEB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E8D11-182B-65B5-2D67-E39B819B0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13" y="5040427"/>
            <a:ext cx="11109407" cy="15696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Consider the sequence S = </a:t>
            </a:r>
            <a:r>
              <a:rPr lang="en-US" b="1" dirty="0"/>
              <a:t>GGCACTGAA</a:t>
            </a:r>
          </a:p>
          <a:p>
            <a:r>
              <a:rPr lang="en-US" dirty="0"/>
              <a:t>There are several paths through hidden states (C and N) that lead to this sequence, but they do not have the same </a:t>
            </a:r>
            <a:r>
              <a:rPr lang="en-US" b="1" dirty="0"/>
              <a:t>probability</a:t>
            </a:r>
          </a:p>
          <a:p>
            <a:r>
              <a:rPr lang="en-US" dirty="0"/>
              <a:t>The </a:t>
            </a:r>
            <a:r>
              <a:rPr lang="en-US" b="1" dirty="0"/>
              <a:t>Viterbi algorithm </a:t>
            </a:r>
            <a:r>
              <a:rPr lang="en-US" dirty="0"/>
              <a:t>allows us to compute the most probable (best) path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E68D9-D3B9-51CE-7241-35739725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D2E36-8E38-DCEA-6168-39EB78FC9426}"/>
              </a:ext>
            </a:extLst>
          </p:cNvPr>
          <p:cNvSpPr txBox="1"/>
          <p:nvPr/>
        </p:nvSpPr>
        <p:spPr>
          <a:xfrm>
            <a:off x="5909911" y="1514877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5C7B58-2C9D-24AD-7336-05BFF06A5BEF}"/>
              </a:ext>
            </a:extLst>
          </p:cNvPr>
          <p:cNvCxnSpPr>
            <a:cxnSpLocks/>
          </p:cNvCxnSpPr>
          <p:nvPr/>
        </p:nvCxnSpPr>
        <p:spPr>
          <a:xfrm flipH="1">
            <a:off x="5303520" y="2082767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C9963E-310B-3C2D-F2CC-D2625714C7BD}"/>
              </a:ext>
            </a:extLst>
          </p:cNvPr>
          <p:cNvCxnSpPr>
            <a:cxnSpLocks/>
          </p:cNvCxnSpPr>
          <p:nvPr/>
        </p:nvCxnSpPr>
        <p:spPr>
          <a:xfrm>
            <a:off x="6420050" y="2082767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0FE7B12-B90C-F781-B178-878211277959}"/>
              </a:ext>
            </a:extLst>
          </p:cNvPr>
          <p:cNvSpPr txBox="1"/>
          <p:nvPr/>
        </p:nvSpPr>
        <p:spPr>
          <a:xfrm>
            <a:off x="5274683" y="189810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062B0A-345E-390C-230B-D14C8823FA56}"/>
              </a:ext>
            </a:extLst>
          </p:cNvPr>
          <p:cNvSpPr txBox="1"/>
          <p:nvPr/>
        </p:nvSpPr>
        <p:spPr>
          <a:xfrm>
            <a:off x="6729663" y="189810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8CC1B7-E00B-29C7-7426-7184E2C0FB6F}"/>
              </a:ext>
            </a:extLst>
          </p:cNvPr>
          <p:cNvSpPr txBox="1"/>
          <p:nvPr/>
        </p:nvSpPr>
        <p:spPr>
          <a:xfrm>
            <a:off x="4803518" y="2459504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5AECA3-9CDF-21BB-2BCF-EF5DBC86D1C6}"/>
              </a:ext>
            </a:extLst>
          </p:cNvPr>
          <p:cNvSpPr txBox="1"/>
          <p:nvPr/>
        </p:nvSpPr>
        <p:spPr>
          <a:xfrm>
            <a:off x="6698084" y="2459504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E80D44-E5D9-1FDB-66DF-B4F3FE62A62A}"/>
              </a:ext>
            </a:extLst>
          </p:cNvPr>
          <p:cNvCxnSpPr>
            <a:cxnSpLocks/>
          </p:cNvCxnSpPr>
          <p:nvPr/>
        </p:nvCxnSpPr>
        <p:spPr>
          <a:xfrm>
            <a:off x="5919961" y="3095530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684BDDE-1FC4-0472-F878-77337369E192}"/>
              </a:ext>
            </a:extLst>
          </p:cNvPr>
          <p:cNvCxnSpPr>
            <a:cxnSpLocks/>
          </p:cNvCxnSpPr>
          <p:nvPr/>
        </p:nvCxnSpPr>
        <p:spPr>
          <a:xfrm flipH="1">
            <a:off x="5919961" y="3472267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6CB1928-36C4-766A-C76E-E2227B19D406}"/>
              </a:ext>
            </a:extLst>
          </p:cNvPr>
          <p:cNvSpPr txBox="1"/>
          <p:nvPr/>
        </p:nvSpPr>
        <p:spPr>
          <a:xfrm>
            <a:off x="5951515" y="275642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9E99DB-20A5-5D4D-EBA0-F50AB1315FAC}"/>
              </a:ext>
            </a:extLst>
          </p:cNvPr>
          <p:cNvSpPr txBox="1"/>
          <p:nvPr/>
        </p:nvSpPr>
        <p:spPr>
          <a:xfrm>
            <a:off x="5957893" y="349784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8A8C1BA-B8F4-67C8-6C0C-1788529C0F4B}"/>
                  </a:ext>
                </a:extLst>
              </p14:cNvPr>
              <p14:cNvContentPartPr/>
              <p14:nvPr/>
            </p14:nvContentPartPr>
            <p14:xfrm>
              <a:off x="7819170" y="2627049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8A8C1BA-B8F4-67C8-6C0C-1788529C0F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3050" y="2620929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D6A4E78-26AC-134B-D5D9-7AB5835D6DB9}"/>
                  </a:ext>
                </a:extLst>
              </p14:cNvPr>
              <p14:cNvContentPartPr/>
              <p14:nvPr/>
            </p14:nvContentPartPr>
            <p14:xfrm rot="10800000">
              <a:off x="3297754" y="2494139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D6A4E78-26AC-134B-D5D9-7AB5835D6D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3291634" y="2488019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80E6B3BD-0D75-E8F5-41C5-FDA5616DC628}"/>
              </a:ext>
            </a:extLst>
          </p:cNvPr>
          <p:cNvSpPr txBox="1"/>
          <p:nvPr/>
        </p:nvSpPr>
        <p:spPr>
          <a:xfrm>
            <a:off x="2798313" y="299599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10C1D9-FC1E-1B1C-0493-3C6B1D0D1D03}"/>
              </a:ext>
            </a:extLst>
          </p:cNvPr>
          <p:cNvSpPr txBox="1"/>
          <p:nvPr/>
        </p:nvSpPr>
        <p:spPr>
          <a:xfrm>
            <a:off x="9193778" y="305912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E4ABB4-3AB9-DDB5-60B9-79A733FB0C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8262" y="1290780"/>
            <a:ext cx="2257740" cy="34104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053595-BADF-4C23-EF16-2321CE20CD0A}"/>
              </a:ext>
            </a:extLst>
          </p:cNvPr>
          <p:cNvSpPr txBox="1"/>
          <p:nvPr/>
        </p:nvSpPr>
        <p:spPr>
          <a:xfrm>
            <a:off x="9663347" y="4673451"/>
            <a:ext cx="2407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Andrew James Viterbi</a:t>
            </a:r>
          </a:p>
          <a:p>
            <a:r>
              <a:rPr lang="en-US" dirty="0"/>
              <a:t>Image credit: Wikipedia</a:t>
            </a:r>
          </a:p>
        </p:txBody>
      </p:sp>
    </p:spTree>
    <p:extLst>
      <p:ext uri="{BB962C8B-B14F-4D97-AF65-F5344CB8AC3E}">
        <p14:creationId xmlns:p14="http://schemas.microsoft.com/office/powerpoint/2010/main" val="3549718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79F87-CF8C-7154-EBA1-24BB49DEC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4AF11-B67B-03F1-BFA8-4D940D2B2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C5ADF-09CC-14A1-E031-F2DC938B9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133" y="1819053"/>
            <a:ext cx="10847671" cy="4822379"/>
          </a:xfrm>
        </p:spPr>
        <p:txBody>
          <a:bodyPr>
            <a:normAutofit/>
          </a:bodyPr>
          <a:lstStyle/>
          <a:p>
            <a:r>
              <a:rPr lang="en-US" dirty="0"/>
              <a:t>Consider the sequence S = </a:t>
            </a:r>
            <a:r>
              <a:rPr lang="en-US" b="1" dirty="0"/>
              <a:t>GGCACTGAA</a:t>
            </a:r>
          </a:p>
          <a:p>
            <a:r>
              <a:rPr lang="en-US" dirty="0"/>
              <a:t>The probability of the best </a:t>
            </a:r>
            <a:br>
              <a:rPr lang="en-US" dirty="0"/>
            </a:br>
            <a:r>
              <a:rPr lang="en-US" dirty="0"/>
              <a:t>path ending in state </a:t>
            </a:r>
            <a:r>
              <a:rPr lang="en-US" i="1" dirty="0"/>
              <a:t>l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with observation </a:t>
            </a:r>
            <a:r>
              <a:rPr lang="en-US" i="1" dirty="0" err="1"/>
              <a:t>i</a:t>
            </a:r>
            <a:r>
              <a:rPr lang="en-US" dirty="0"/>
              <a:t> is: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2EB87-43A9-2C77-497C-37E12F70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FEA932-9DAB-7801-2761-66315AC986C7}"/>
              </a:ext>
            </a:extLst>
          </p:cNvPr>
          <p:cNvSpPr txBox="1"/>
          <p:nvPr/>
        </p:nvSpPr>
        <p:spPr>
          <a:xfrm>
            <a:off x="8325852" y="1659255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0134AF-7567-8095-EDAD-572184BD70B8}"/>
              </a:ext>
            </a:extLst>
          </p:cNvPr>
          <p:cNvCxnSpPr>
            <a:cxnSpLocks/>
          </p:cNvCxnSpPr>
          <p:nvPr/>
        </p:nvCxnSpPr>
        <p:spPr>
          <a:xfrm flipH="1">
            <a:off x="7719461" y="2227145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2B6A63-EB49-0F73-8F3C-B40D637B43FA}"/>
              </a:ext>
            </a:extLst>
          </p:cNvPr>
          <p:cNvCxnSpPr>
            <a:cxnSpLocks/>
          </p:cNvCxnSpPr>
          <p:nvPr/>
        </p:nvCxnSpPr>
        <p:spPr>
          <a:xfrm>
            <a:off x="8835991" y="2227145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D76057-D642-7806-D58F-1779B42EAC64}"/>
              </a:ext>
            </a:extLst>
          </p:cNvPr>
          <p:cNvSpPr txBox="1"/>
          <p:nvPr/>
        </p:nvSpPr>
        <p:spPr>
          <a:xfrm>
            <a:off x="7690624" y="204247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6D1124-EC66-4315-10D0-081B71D07B7F}"/>
              </a:ext>
            </a:extLst>
          </p:cNvPr>
          <p:cNvSpPr txBox="1"/>
          <p:nvPr/>
        </p:nvSpPr>
        <p:spPr>
          <a:xfrm>
            <a:off x="9145604" y="204247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FBE85-4D34-004F-987A-03D1B0304CD9}"/>
              </a:ext>
            </a:extLst>
          </p:cNvPr>
          <p:cNvSpPr txBox="1"/>
          <p:nvPr/>
        </p:nvSpPr>
        <p:spPr>
          <a:xfrm>
            <a:off x="7219459" y="2603882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EC7037-E4D7-7BAE-9C8F-AA19AE39ADFD}"/>
              </a:ext>
            </a:extLst>
          </p:cNvPr>
          <p:cNvSpPr txBox="1"/>
          <p:nvPr/>
        </p:nvSpPr>
        <p:spPr>
          <a:xfrm>
            <a:off x="9114025" y="2603882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1EEEA7-CE97-6D1F-12D1-0EE13619D70B}"/>
              </a:ext>
            </a:extLst>
          </p:cNvPr>
          <p:cNvCxnSpPr>
            <a:cxnSpLocks/>
          </p:cNvCxnSpPr>
          <p:nvPr/>
        </p:nvCxnSpPr>
        <p:spPr>
          <a:xfrm>
            <a:off x="8335902" y="3239908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F923779-5FFB-EDBC-FD70-681BEBAF7E25}"/>
              </a:ext>
            </a:extLst>
          </p:cNvPr>
          <p:cNvCxnSpPr>
            <a:cxnSpLocks/>
          </p:cNvCxnSpPr>
          <p:nvPr/>
        </p:nvCxnSpPr>
        <p:spPr>
          <a:xfrm flipH="1">
            <a:off x="8335902" y="3616645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0D9A03D-49CD-EA22-B420-804E7F96B24A}"/>
              </a:ext>
            </a:extLst>
          </p:cNvPr>
          <p:cNvSpPr txBox="1"/>
          <p:nvPr/>
        </p:nvSpPr>
        <p:spPr>
          <a:xfrm>
            <a:off x="8367456" y="290080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0F0219-6BB7-4E7C-4AC7-54B2A5BB1E5C}"/>
              </a:ext>
            </a:extLst>
          </p:cNvPr>
          <p:cNvSpPr txBox="1"/>
          <p:nvPr/>
        </p:nvSpPr>
        <p:spPr>
          <a:xfrm>
            <a:off x="8373834" y="364222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6599EEB-12F8-0722-89B5-3BBBA55E9E00}"/>
                  </a:ext>
                </a:extLst>
              </p14:cNvPr>
              <p14:cNvContentPartPr/>
              <p14:nvPr/>
            </p14:nvContentPartPr>
            <p14:xfrm>
              <a:off x="10235111" y="2771427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6599EEB-12F8-0722-89B5-3BBBA55E9E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28991" y="2765307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C4C6E1D-FCF8-A7BC-5B96-8906A40803EC}"/>
                  </a:ext>
                </a:extLst>
              </p14:cNvPr>
              <p14:cNvContentPartPr/>
              <p14:nvPr/>
            </p14:nvContentPartPr>
            <p14:xfrm rot="10800000">
              <a:off x="5713695" y="2638517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C4C6E1D-FCF8-A7BC-5B96-8906A40803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707575" y="2632397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230F779E-563F-19DD-605A-20EDC1AC5F57}"/>
              </a:ext>
            </a:extLst>
          </p:cNvPr>
          <p:cNvSpPr txBox="1"/>
          <p:nvPr/>
        </p:nvSpPr>
        <p:spPr>
          <a:xfrm>
            <a:off x="5214254" y="314037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ABD210-2224-FC93-F1D8-C2235AC73F53}"/>
              </a:ext>
            </a:extLst>
          </p:cNvPr>
          <p:cNvSpPr txBox="1"/>
          <p:nvPr/>
        </p:nvSpPr>
        <p:spPr>
          <a:xfrm>
            <a:off x="11609719" y="320350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07D650-3E93-BC0D-4C08-09A227AD354A}"/>
                  </a:ext>
                </a:extLst>
              </p:cNvPr>
              <p:cNvSpPr txBox="1"/>
              <p:nvPr/>
            </p:nvSpPr>
            <p:spPr>
              <a:xfrm>
                <a:off x="598620" y="4574406"/>
                <a:ext cx="6379128" cy="6192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=(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07D650-3E93-BC0D-4C08-09A227AD3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20" y="4574406"/>
                <a:ext cx="6379128" cy="6192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B44FF7F-3A92-FE2D-25CF-60CDC4012A93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530417" y="5121801"/>
            <a:ext cx="749450" cy="319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998A6AA-09A9-E4F1-A9D7-FD298D159A57}"/>
              </a:ext>
            </a:extLst>
          </p:cNvPr>
          <p:cNvSpPr txBox="1"/>
          <p:nvPr/>
        </p:nvSpPr>
        <p:spPr>
          <a:xfrm>
            <a:off x="799557" y="5441103"/>
            <a:ext cx="1461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to observe element </a:t>
            </a:r>
            <a:r>
              <a:rPr lang="en-US" i="1" dirty="0" err="1"/>
              <a:t>i</a:t>
            </a:r>
            <a:r>
              <a:rPr lang="en-US" dirty="0"/>
              <a:t> in state </a:t>
            </a:r>
            <a:r>
              <a:rPr lang="en-US" i="1" dirty="0"/>
              <a:t>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E1730B-B539-4973-B04D-C977F07144F6}"/>
              </a:ext>
            </a:extLst>
          </p:cNvPr>
          <p:cNvSpPr txBox="1"/>
          <p:nvPr/>
        </p:nvSpPr>
        <p:spPr>
          <a:xfrm>
            <a:off x="5844189" y="5568142"/>
            <a:ext cx="2105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of transition from state </a:t>
            </a:r>
            <a:r>
              <a:rPr lang="en-US" i="1" dirty="0"/>
              <a:t>k</a:t>
            </a:r>
            <a:r>
              <a:rPr lang="en-US" dirty="0"/>
              <a:t> to state </a:t>
            </a:r>
            <a:r>
              <a:rPr lang="en-US" i="1" dirty="0"/>
              <a:t>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0B330A-BD8E-5430-50B8-4A5A35E2ABCB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6036881" y="4979960"/>
            <a:ext cx="859938" cy="588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48E0BE-3D82-AF73-B276-DD51CC2D44E6}"/>
              </a:ext>
            </a:extLst>
          </p:cNvPr>
          <p:cNvCxnSpPr>
            <a:cxnSpLocks/>
          </p:cNvCxnSpPr>
          <p:nvPr/>
        </p:nvCxnSpPr>
        <p:spPr>
          <a:xfrm flipV="1">
            <a:off x="1530417" y="5121801"/>
            <a:ext cx="749450" cy="292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C49823B-D7B2-432F-E88E-4A0D04A39672}"/>
              </a:ext>
            </a:extLst>
          </p:cNvPr>
          <p:cNvSpPr txBox="1"/>
          <p:nvPr/>
        </p:nvSpPr>
        <p:spPr>
          <a:xfrm>
            <a:off x="3347200" y="5568142"/>
            <a:ext cx="2105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of the best path ending at position </a:t>
            </a:r>
            <a:r>
              <a:rPr lang="en-US" i="1" dirty="0"/>
              <a:t>x-1</a:t>
            </a:r>
            <a:r>
              <a:rPr lang="en-US" dirty="0"/>
              <a:t> in state </a:t>
            </a:r>
            <a:r>
              <a:rPr lang="en-US" i="1" dirty="0"/>
              <a:t>k </a:t>
            </a:r>
            <a:r>
              <a:rPr lang="en-US" dirty="0"/>
              <a:t>with element </a:t>
            </a:r>
            <a:r>
              <a:rPr lang="en-US" i="1" dirty="0"/>
              <a:t>j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1CE15B0-47EC-AD2F-5BB2-20E0276C8898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4399830" y="5118326"/>
            <a:ext cx="143294" cy="449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793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2EE50-7F12-051A-5DF8-FDAA47F02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833A-C2AE-0CF3-7399-28B5B8BDF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0ADDA-A0FC-A89D-6DCD-DF12C3CB4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133" y="1819053"/>
            <a:ext cx="10847671" cy="4822379"/>
          </a:xfrm>
        </p:spPr>
        <p:txBody>
          <a:bodyPr>
            <a:normAutofit/>
          </a:bodyPr>
          <a:lstStyle/>
          <a:p>
            <a:r>
              <a:rPr lang="en-US" dirty="0"/>
              <a:t>Consider the sequence S = </a:t>
            </a:r>
            <a:r>
              <a:rPr lang="en-US" b="1" dirty="0"/>
              <a:t>GG</a:t>
            </a:r>
            <a:r>
              <a:rPr lang="en-US" b="1" dirty="0">
                <a:solidFill>
                  <a:srgbClr val="018ACF"/>
                </a:solidFill>
              </a:rPr>
              <a:t>C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b="1" dirty="0"/>
              <a:t>CTGAA</a:t>
            </a:r>
          </a:p>
          <a:p>
            <a:r>
              <a:rPr lang="en-US" dirty="0"/>
              <a:t>The probability of the best </a:t>
            </a:r>
            <a:br>
              <a:rPr lang="en-US" dirty="0"/>
            </a:br>
            <a:r>
              <a:rPr lang="en-US" dirty="0"/>
              <a:t>path ending in state </a:t>
            </a:r>
            <a:r>
              <a:rPr lang="en-US" i="1" dirty="0"/>
              <a:t>l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with observation </a:t>
            </a:r>
            <a:r>
              <a:rPr lang="en-US" i="1" dirty="0" err="1"/>
              <a:t>i</a:t>
            </a:r>
            <a:r>
              <a:rPr lang="en-US" dirty="0"/>
              <a:t> is: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In our example, the probability of the best path ending in state </a:t>
            </a:r>
            <a:r>
              <a:rPr lang="en-US" i="1" dirty="0"/>
              <a:t>l=</a:t>
            </a:r>
            <a:r>
              <a:rPr lang="en-US" dirty="0"/>
              <a:t>C with “A” at the 4</a:t>
            </a:r>
            <a:r>
              <a:rPr lang="en-US" baseline="30000" dirty="0"/>
              <a:t>th</a:t>
            </a:r>
            <a:r>
              <a:rPr lang="en-US" dirty="0"/>
              <a:t> position is: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7C4BE-2845-4B25-7913-9152BB88B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298B4D-B013-AB3E-3384-8691EF5821B7}"/>
              </a:ext>
            </a:extLst>
          </p:cNvPr>
          <p:cNvSpPr txBox="1"/>
          <p:nvPr/>
        </p:nvSpPr>
        <p:spPr>
          <a:xfrm>
            <a:off x="8325852" y="1659255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8C976B-2976-6F70-C194-102B2B565E32}"/>
              </a:ext>
            </a:extLst>
          </p:cNvPr>
          <p:cNvCxnSpPr>
            <a:cxnSpLocks/>
          </p:cNvCxnSpPr>
          <p:nvPr/>
        </p:nvCxnSpPr>
        <p:spPr>
          <a:xfrm flipH="1">
            <a:off x="7719461" y="2227145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2F830A4-F212-DFCA-77F4-3AA7BF73FD87}"/>
              </a:ext>
            </a:extLst>
          </p:cNvPr>
          <p:cNvCxnSpPr>
            <a:cxnSpLocks/>
          </p:cNvCxnSpPr>
          <p:nvPr/>
        </p:nvCxnSpPr>
        <p:spPr>
          <a:xfrm>
            <a:off x="8835991" y="2227145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1C928DF-2FB4-5FE7-BC93-870CB938D21B}"/>
              </a:ext>
            </a:extLst>
          </p:cNvPr>
          <p:cNvSpPr txBox="1"/>
          <p:nvPr/>
        </p:nvSpPr>
        <p:spPr>
          <a:xfrm>
            <a:off x="7690624" y="204247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6E66B2-FBDC-B875-1D36-D88C4F2CB12B}"/>
              </a:ext>
            </a:extLst>
          </p:cNvPr>
          <p:cNvSpPr txBox="1"/>
          <p:nvPr/>
        </p:nvSpPr>
        <p:spPr>
          <a:xfrm>
            <a:off x="9145604" y="204247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CF9BCC-AE7F-D0C8-DC14-3ECB78E14455}"/>
              </a:ext>
            </a:extLst>
          </p:cNvPr>
          <p:cNvSpPr txBox="1"/>
          <p:nvPr/>
        </p:nvSpPr>
        <p:spPr>
          <a:xfrm>
            <a:off x="7219459" y="2603882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289828-0853-1236-9EC2-6FEC9F8AC4D7}"/>
              </a:ext>
            </a:extLst>
          </p:cNvPr>
          <p:cNvSpPr txBox="1"/>
          <p:nvPr/>
        </p:nvSpPr>
        <p:spPr>
          <a:xfrm>
            <a:off x="9114025" y="2603882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2D761C4-C1CB-65FC-0E84-BA63FE7E6ECA}"/>
              </a:ext>
            </a:extLst>
          </p:cNvPr>
          <p:cNvCxnSpPr>
            <a:cxnSpLocks/>
          </p:cNvCxnSpPr>
          <p:nvPr/>
        </p:nvCxnSpPr>
        <p:spPr>
          <a:xfrm>
            <a:off x="8335902" y="3239908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ECC020-E28D-66B8-C85D-48AE928C857B}"/>
              </a:ext>
            </a:extLst>
          </p:cNvPr>
          <p:cNvCxnSpPr>
            <a:cxnSpLocks/>
          </p:cNvCxnSpPr>
          <p:nvPr/>
        </p:nvCxnSpPr>
        <p:spPr>
          <a:xfrm flipH="1">
            <a:off x="8335902" y="3616645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31C4918-0036-6716-488C-748E653A1175}"/>
              </a:ext>
            </a:extLst>
          </p:cNvPr>
          <p:cNvSpPr txBox="1"/>
          <p:nvPr/>
        </p:nvSpPr>
        <p:spPr>
          <a:xfrm>
            <a:off x="8367456" y="290080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00D219-4765-79D9-A0CA-8F5EF857D865}"/>
              </a:ext>
            </a:extLst>
          </p:cNvPr>
          <p:cNvSpPr txBox="1"/>
          <p:nvPr/>
        </p:nvSpPr>
        <p:spPr>
          <a:xfrm>
            <a:off x="8373834" y="364222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5F49128-EA5C-C56C-978A-F0E5E6023245}"/>
                  </a:ext>
                </a:extLst>
              </p14:cNvPr>
              <p14:cNvContentPartPr/>
              <p14:nvPr/>
            </p14:nvContentPartPr>
            <p14:xfrm>
              <a:off x="10235111" y="2771427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5F49128-EA5C-C56C-978A-F0E5E60232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28991" y="2765307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320151B-7E63-A31B-F602-1D3A4EB30FC2}"/>
                  </a:ext>
                </a:extLst>
              </p14:cNvPr>
              <p14:cNvContentPartPr/>
              <p14:nvPr/>
            </p14:nvContentPartPr>
            <p14:xfrm rot="10800000">
              <a:off x="5713695" y="2638517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320151B-7E63-A31B-F602-1D3A4EB30F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707575" y="2632397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A3921464-E8AF-2738-9C3B-DEB070FA88D5}"/>
              </a:ext>
            </a:extLst>
          </p:cNvPr>
          <p:cNvSpPr txBox="1"/>
          <p:nvPr/>
        </p:nvSpPr>
        <p:spPr>
          <a:xfrm>
            <a:off x="5214254" y="314037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2AAB16-CF45-9B5A-4D0F-D9D9332BA76B}"/>
              </a:ext>
            </a:extLst>
          </p:cNvPr>
          <p:cNvSpPr txBox="1"/>
          <p:nvPr/>
        </p:nvSpPr>
        <p:spPr>
          <a:xfrm>
            <a:off x="11609719" y="320350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7A5F7B-8CEF-5D1E-C6C0-5703C9D4D65F}"/>
                  </a:ext>
                </a:extLst>
              </p:cNvPr>
              <p:cNvSpPr txBox="1"/>
              <p:nvPr/>
            </p:nvSpPr>
            <p:spPr>
              <a:xfrm>
                <a:off x="541142" y="4125373"/>
                <a:ext cx="6379128" cy="6192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=(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7A5F7B-8CEF-5D1E-C6C0-5703C9D4D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42" y="4125373"/>
                <a:ext cx="6379128" cy="6192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BC214B-5B3C-57E5-6757-EAEC9FF0575B}"/>
                  </a:ext>
                </a:extLst>
              </p:cNvPr>
              <p:cNvSpPr txBox="1"/>
              <p:nvPr/>
            </p:nvSpPr>
            <p:spPr>
              <a:xfrm>
                <a:off x="541141" y="5746803"/>
                <a:ext cx="8121595" cy="5636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,4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18AC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𝑁𝐶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solidFill>
                                <a:srgbClr val="018AC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,3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BC214B-5B3C-57E5-6757-EAEC9FF05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41" y="5746803"/>
                <a:ext cx="8121595" cy="5636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345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5944D-9524-E455-1A40-0F20734D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C750-9DB6-EB1A-24CD-749664193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1C6BE-2041-35F3-3B28-0A3B3F902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1761423"/>
            <a:ext cx="10895798" cy="4880009"/>
          </a:xfrm>
        </p:spPr>
        <p:txBody>
          <a:bodyPr>
            <a:normAutofit/>
          </a:bodyPr>
          <a:lstStyle/>
          <a:p>
            <a:r>
              <a:rPr lang="en-US" dirty="0"/>
              <a:t>For simplicity, let’s convert </a:t>
            </a:r>
            <a:br>
              <a:rPr lang="en-US" dirty="0"/>
            </a:br>
            <a:r>
              <a:rPr lang="en-US" dirty="0"/>
              <a:t>everything to log</a:t>
            </a:r>
            <a:r>
              <a:rPr lang="en-US" baseline="-25000" dirty="0"/>
              <a:t>2</a:t>
            </a:r>
            <a:r>
              <a:rPr lang="en-US" dirty="0"/>
              <a:t>(p):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17DEB-E4EC-E871-B749-95D9250F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7C657-FEBD-6103-9932-95AF30413860}"/>
              </a:ext>
            </a:extLst>
          </p:cNvPr>
          <p:cNvSpPr txBox="1"/>
          <p:nvPr/>
        </p:nvSpPr>
        <p:spPr>
          <a:xfrm>
            <a:off x="7366526" y="1947884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B82A3E-0485-1797-48E6-7BCEA460F3B5}"/>
              </a:ext>
            </a:extLst>
          </p:cNvPr>
          <p:cNvCxnSpPr>
            <a:cxnSpLocks/>
          </p:cNvCxnSpPr>
          <p:nvPr/>
        </p:nvCxnSpPr>
        <p:spPr>
          <a:xfrm flipH="1">
            <a:off x="6760135" y="2515774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28BB0B-3FDF-5D1C-799D-9F0DED6BDD39}"/>
              </a:ext>
            </a:extLst>
          </p:cNvPr>
          <p:cNvCxnSpPr>
            <a:cxnSpLocks/>
          </p:cNvCxnSpPr>
          <p:nvPr/>
        </p:nvCxnSpPr>
        <p:spPr>
          <a:xfrm>
            <a:off x="7876665" y="2515774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FF821A0-B59A-A203-11DC-6273E1C8D880}"/>
              </a:ext>
            </a:extLst>
          </p:cNvPr>
          <p:cNvSpPr txBox="1"/>
          <p:nvPr/>
        </p:nvSpPr>
        <p:spPr>
          <a:xfrm>
            <a:off x="6731298" y="233110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1FD3A1-AA3D-D987-8417-5E4CF4A784B2}"/>
              </a:ext>
            </a:extLst>
          </p:cNvPr>
          <p:cNvSpPr txBox="1"/>
          <p:nvPr/>
        </p:nvSpPr>
        <p:spPr>
          <a:xfrm>
            <a:off x="8186278" y="233110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5291CE-F004-E685-F4FF-D5D4207D864D}"/>
              </a:ext>
            </a:extLst>
          </p:cNvPr>
          <p:cNvSpPr txBox="1"/>
          <p:nvPr/>
        </p:nvSpPr>
        <p:spPr>
          <a:xfrm>
            <a:off x="6260133" y="2892511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C7B471-A4E8-D3F5-7A09-997EDE56D8BF}"/>
              </a:ext>
            </a:extLst>
          </p:cNvPr>
          <p:cNvSpPr txBox="1"/>
          <p:nvPr/>
        </p:nvSpPr>
        <p:spPr>
          <a:xfrm>
            <a:off x="8154699" y="2892511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AD3631-8975-424F-BE34-92C20566789D}"/>
              </a:ext>
            </a:extLst>
          </p:cNvPr>
          <p:cNvCxnSpPr>
            <a:cxnSpLocks/>
          </p:cNvCxnSpPr>
          <p:nvPr/>
        </p:nvCxnSpPr>
        <p:spPr>
          <a:xfrm>
            <a:off x="7376576" y="3528537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44C5F2-4673-D30F-1B53-C88530371C40}"/>
              </a:ext>
            </a:extLst>
          </p:cNvPr>
          <p:cNvCxnSpPr>
            <a:cxnSpLocks/>
          </p:cNvCxnSpPr>
          <p:nvPr/>
        </p:nvCxnSpPr>
        <p:spPr>
          <a:xfrm flipH="1">
            <a:off x="7376576" y="3905274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A3F4DE-931B-FFB9-E05A-2C5D2AE510CC}"/>
              </a:ext>
            </a:extLst>
          </p:cNvPr>
          <p:cNvSpPr txBox="1"/>
          <p:nvPr/>
        </p:nvSpPr>
        <p:spPr>
          <a:xfrm>
            <a:off x="7408130" y="318943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879C79-0019-BA09-55C4-01EF3FCDD2A9}"/>
              </a:ext>
            </a:extLst>
          </p:cNvPr>
          <p:cNvSpPr txBox="1"/>
          <p:nvPr/>
        </p:nvSpPr>
        <p:spPr>
          <a:xfrm>
            <a:off x="7414508" y="393085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62B38B4-A41A-67EA-8A0A-5878B9F1406C}"/>
                  </a:ext>
                </a:extLst>
              </p14:cNvPr>
              <p14:cNvContentPartPr/>
              <p14:nvPr/>
            </p14:nvContentPartPr>
            <p14:xfrm>
              <a:off x="9275785" y="3060056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62B38B4-A41A-67EA-8A0A-5878B9F140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69665" y="3053936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1E48CD5-8ED7-20F7-39A3-541DE932D956}"/>
                  </a:ext>
                </a:extLst>
              </p14:cNvPr>
              <p14:cNvContentPartPr/>
              <p14:nvPr/>
            </p14:nvContentPartPr>
            <p14:xfrm rot="10800000">
              <a:off x="4754369" y="2927146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1E48CD5-8ED7-20F7-39A3-541DE932D9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4748249" y="2921026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D0A320EC-7F46-0796-DDB9-D13004868453}"/>
              </a:ext>
            </a:extLst>
          </p:cNvPr>
          <p:cNvSpPr txBox="1"/>
          <p:nvPr/>
        </p:nvSpPr>
        <p:spPr>
          <a:xfrm>
            <a:off x="4254928" y="34290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50B36E-962F-5E03-1E90-7396FA491A9F}"/>
              </a:ext>
            </a:extLst>
          </p:cNvPr>
          <p:cNvSpPr txBox="1"/>
          <p:nvPr/>
        </p:nvSpPr>
        <p:spPr>
          <a:xfrm>
            <a:off x="10650393" y="349213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</a:p>
        </p:txBody>
      </p:sp>
    </p:spTree>
    <p:extLst>
      <p:ext uri="{BB962C8B-B14F-4D97-AF65-F5344CB8AC3E}">
        <p14:creationId xmlns:p14="http://schemas.microsoft.com/office/powerpoint/2010/main" val="3197633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E577-C5ED-CCEB-3703-88F38B90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49E75-3209-CCB0-7188-C2507BD0C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9527A-14E6-96AD-7488-4AC360433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1761423"/>
            <a:ext cx="10895798" cy="4880009"/>
          </a:xfrm>
        </p:spPr>
        <p:txBody>
          <a:bodyPr>
            <a:normAutofit/>
          </a:bodyPr>
          <a:lstStyle/>
          <a:p>
            <a:r>
              <a:rPr lang="en-US" dirty="0"/>
              <a:t>For simplicity, let’s convert </a:t>
            </a:r>
            <a:br>
              <a:rPr lang="en-US" dirty="0"/>
            </a:br>
            <a:r>
              <a:rPr lang="en-US" dirty="0"/>
              <a:t>everything to log</a:t>
            </a:r>
            <a:r>
              <a:rPr lang="en-US" baseline="-25000" dirty="0"/>
              <a:t>2</a:t>
            </a:r>
            <a:r>
              <a:rPr lang="en-US" dirty="0"/>
              <a:t>(p):</a:t>
            </a:r>
          </a:p>
          <a:p>
            <a:endParaRPr lang="en-US" dirty="0"/>
          </a:p>
          <a:p>
            <a:r>
              <a:rPr lang="en-US" dirty="0"/>
              <a:t>This allows us to add</a:t>
            </a:r>
            <a:br>
              <a:rPr lang="en-US" dirty="0"/>
            </a:br>
            <a:r>
              <a:rPr lang="en-US" dirty="0"/>
              <a:t>probabilities instead of</a:t>
            </a:r>
            <a:br>
              <a:rPr lang="en-US" dirty="0"/>
            </a:br>
            <a:r>
              <a:rPr lang="en-US" dirty="0"/>
              <a:t>multiplying, which is</a:t>
            </a:r>
            <a:br>
              <a:rPr lang="en-US" dirty="0"/>
            </a:br>
            <a:r>
              <a:rPr lang="en-US" dirty="0"/>
              <a:t>more efficient and accurate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F1210-5606-4BD3-D789-0683B276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1244F-0D89-6457-BE1E-D53CFA222DE0}"/>
              </a:ext>
            </a:extLst>
          </p:cNvPr>
          <p:cNvSpPr txBox="1"/>
          <p:nvPr/>
        </p:nvSpPr>
        <p:spPr>
          <a:xfrm>
            <a:off x="7366526" y="1947884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09ABE6-53B0-517B-5A65-71627E4731DA}"/>
              </a:ext>
            </a:extLst>
          </p:cNvPr>
          <p:cNvCxnSpPr>
            <a:cxnSpLocks/>
          </p:cNvCxnSpPr>
          <p:nvPr/>
        </p:nvCxnSpPr>
        <p:spPr>
          <a:xfrm flipH="1">
            <a:off x="6760135" y="2515774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132741-4680-E44E-6C2C-BDF23273CFE0}"/>
              </a:ext>
            </a:extLst>
          </p:cNvPr>
          <p:cNvCxnSpPr>
            <a:cxnSpLocks/>
          </p:cNvCxnSpPr>
          <p:nvPr/>
        </p:nvCxnSpPr>
        <p:spPr>
          <a:xfrm>
            <a:off x="7876665" y="2515774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4E37393-F444-7840-A7D4-338583C70398}"/>
              </a:ext>
            </a:extLst>
          </p:cNvPr>
          <p:cNvSpPr txBox="1"/>
          <p:nvPr/>
        </p:nvSpPr>
        <p:spPr>
          <a:xfrm>
            <a:off x="6731298" y="233110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C9B785-62F4-D44B-C80C-490A5EB36254}"/>
              </a:ext>
            </a:extLst>
          </p:cNvPr>
          <p:cNvSpPr txBox="1"/>
          <p:nvPr/>
        </p:nvSpPr>
        <p:spPr>
          <a:xfrm>
            <a:off x="8186278" y="233110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B59851-821A-8094-AA7B-9DD70073DBCA}"/>
              </a:ext>
            </a:extLst>
          </p:cNvPr>
          <p:cNvSpPr txBox="1"/>
          <p:nvPr/>
        </p:nvSpPr>
        <p:spPr>
          <a:xfrm>
            <a:off x="5961822" y="2892511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-2.322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9F47C8-9CAF-9575-4EE4-F6C3FEECACA8}"/>
              </a:ext>
            </a:extLst>
          </p:cNvPr>
          <p:cNvSpPr txBox="1"/>
          <p:nvPr/>
        </p:nvSpPr>
        <p:spPr>
          <a:xfrm>
            <a:off x="8154699" y="2892511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-1.737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A3060B-CA71-FA12-D2B1-7A8358B3ED6E}"/>
              </a:ext>
            </a:extLst>
          </p:cNvPr>
          <p:cNvCxnSpPr>
            <a:cxnSpLocks/>
          </p:cNvCxnSpPr>
          <p:nvPr/>
        </p:nvCxnSpPr>
        <p:spPr>
          <a:xfrm>
            <a:off x="7376576" y="3608625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620E1F6-7AF6-86FE-D2EA-4896592671DE}"/>
              </a:ext>
            </a:extLst>
          </p:cNvPr>
          <p:cNvCxnSpPr>
            <a:cxnSpLocks/>
          </p:cNvCxnSpPr>
          <p:nvPr/>
        </p:nvCxnSpPr>
        <p:spPr>
          <a:xfrm flipH="1">
            <a:off x="7376576" y="3905274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AC32336-7B9B-65EA-E5AA-DBE52D3F82D8}"/>
              </a:ext>
            </a:extLst>
          </p:cNvPr>
          <p:cNvSpPr txBox="1"/>
          <p:nvPr/>
        </p:nvSpPr>
        <p:spPr>
          <a:xfrm>
            <a:off x="7449637" y="3171305"/>
            <a:ext cx="40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75C1AD-9059-15EF-77E3-A35CB9C3670B}"/>
              </a:ext>
            </a:extLst>
          </p:cNvPr>
          <p:cNvSpPr txBox="1"/>
          <p:nvPr/>
        </p:nvSpPr>
        <p:spPr>
          <a:xfrm>
            <a:off x="7311535" y="3931683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-1.322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A4B3183-0557-32C1-755A-EE89B9ACE3BE}"/>
                  </a:ext>
                </a:extLst>
              </p14:cNvPr>
              <p14:cNvContentPartPr/>
              <p14:nvPr/>
            </p14:nvContentPartPr>
            <p14:xfrm>
              <a:off x="9532722" y="3060868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A4B3183-0557-32C1-755A-EE89B9ACE3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6602" y="3054748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E038DFD-8B9C-7BAD-A21E-4B3CC9494039}"/>
                  </a:ext>
                </a:extLst>
              </p14:cNvPr>
              <p14:cNvContentPartPr/>
              <p14:nvPr/>
            </p14:nvContentPartPr>
            <p14:xfrm rot="10800000">
              <a:off x="4549405" y="2928705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E038DFD-8B9C-7BAD-A21E-4B3CC94940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4543285" y="2922585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4D3277C0-11C2-C212-D4F2-0F9A5D7D4F7C}"/>
              </a:ext>
            </a:extLst>
          </p:cNvPr>
          <p:cNvSpPr txBox="1"/>
          <p:nvPr/>
        </p:nvSpPr>
        <p:spPr>
          <a:xfrm>
            <a:off x="5033400" y="342395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646632-9461-9334-6023-8EFD6FE1A7B5}"/>
              </a:ext>
            </a:extLst>
          </p:cNvPr>
          <p:cNvSpPr txBox="1"/>
          <p:nvPr/>
        </p:nvSpPr>
        <p:spPr>
          <a:xfrm>
            <a:off x="9823209" y="3504889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-0.737</a:t>
            </a:r>
          </a:p>
        </p:txBody>
      </p:sp>
    </p:spTree>
    <p:extLst>
      <p:ext uri="{BB962C8B-B14F-4D97-AF65-F5344CB8AC3E}">
        <p14:creationId xmlns:p14="http://schemas.microsoft.com/office/powerpoint/2010/main" val="2537798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5AE38-039B-4447-2245-CF422E701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7082-FFD8-E80B-D0E8-FE1803A74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C58E6-2353-4477-3014-F10A2B206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1761423"/>
            <a:ext cx="10895798" cy="4880009"/>
          </a:xfrm>
        </p:spPr>
        <p:txBody>
          <a:bodyPr>
            <a:normAutofit/>
          </a:bodyPr>
          <a:lstStyle/>
          <a:p>
            <a:r>
              <a:rPr lang="en-US" dirty="0"/>
              <a:t>S =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b="1" dirty="0"/>
              <a:t>GCACTGAA</a:t>
            </a:r>
            <a:endParaRPr lang="en-US" dirty="0"/>
          </a:p>
          <a:p>
            <a:r>
              <a:rPr lang="en-US" dirty="0"/>
              <a:t>Log probability that the first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C: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 probability that the first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N: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F6888-5503-D188-CEDA-D9026FD6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5CC4C-6DCD-E279-592D-413B231C9AB1}"/>
              </a:ext>
            </a:extLst>
          </p:cNvPr>
          <p:cNvSpPr txBox="1"/>
          <p:nvPr/>
        </p:nvSpPr>
        <p:spPr>
          <a:xfrm>
            <a:off x="8464957" y="1509423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2F671A-4534-4F1B-19A8-8275662BDDE2}"/>
              </a:ext>
            </a:extLst>
          </p:cNvPr>
          <p:cNvCxnSpPr>
            <a:cxnSpLocks/>
          </p:cNvCxnSpPr>
          <p:nvPr/>
        </p:nvCxnSpPr>
        <p:spPr>
          <a:xfrm flipH="1">
            <a:off x="7858566" y="2077313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D70554-9BC3-4745-9BE3-7597885C8A8E}"/>
              </a:ext>
            </a:extLst>
          </p:cNvPr>
          <p:cNvCxnSpPr>
            <a:cxnSpLocks/>
          </p:cNvCxnSpPr>
          <p:nvPr/>
        </p:nvCxnSpPr>
        <p:spPr>
          <a:xfrm>
            <a:off x="8975096" y="2077313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75BE31F-5B7B-D8F2-833C-14D2331F80FA}"/>
              </a:ext>
            </a:extLst>
          </p:cNvPr>
          <p:cNvSpPr txBox="1"/>
          <p:nvPr/>
        </p:nvSpPr>
        <p:spPr>
          <a:xfrm>
            <a:off x="782972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1169E1-A8F9-F089-3EB0-5600DDCD00D4}"/>
              </a:ext>
            </a:extLst>
          </p:cNvPr>
          <p:cNvSpPr txBox="1"/>
          <p:nvPr/>
        </p:nvSpPr>
        <p:spPr>
          <a:xfrm>
            <a:off x="928470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D161F2-10C0-AAD1-82C2-07982963B0C2}"/>
              </a:ext>
            </a:extLst>
          </p:cNvPr>
          <p:cNvSpPr txBox="1"/>
          <p:nvPr/>
        </p:nvSpPr>
        <p:spPr>
          <a:xfrm>
            <a:off x="7060253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-2.322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6F3175-EF6C-AC89-B6B4-BEA534D3BC26}"/>
              </a:ext>
            </a:extLst>
          </p:cNvPr>
          <p:cNvSpPr txBox="1"/>
          <p:nvPr/>
        </p:nvSpPr>
        <p:spPr>
          <a:xfrm>
            <a:off x="9253130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-1.737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B935BEC-E80A-4901-0E69-A806229EE6C5}"/>
              </a:ext>
            </a:extLst>
          </p:cNvPr>
          <p:cNvCxnSpPr>
            <a:cxnSpLocks/>
          </p:cNvCxnSpPr>
          <p:nvPr/>
        </p:nvCxnSpPr>
        <p:spPr>
          <a:xfrm>
            <a:off x="8475007" y="3170164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6D4757-B552-D285-3EEB-71DC3921D923}"/>
              </a:ext>
            </a:extLst>
          </p:cNvPr>
          <p:cNvCxnSpPr>
            <a:cxnSpLocks/>
          </p:cNvCxnSpPr>
          <p:nvPr/>
        </p:nvCxnSpPr>
        <p:spPr>
          <a:xfrm flipH="1">
            <a:off x="8475007" y="3466813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D77DA30-59BA-D2C0-3FD0-226CA3FEAE4A}"/>
              </a:ext>
            </a:extLst>
          </p:cNvPr>
          <p:cNvSpPr txBox="1"/>
          <p:nvPr/>
        </p:nvSpPr>
        <p:spPr>
          <a:xfrm>
            <a:off x="8548068" y="2732844"/>
            <a:ext cx="40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434D29-F9DA-8510-9F7F-9F629B373AD6}"/>
              </a:ext>
            </a:extLst>
          </p:cNvPr>
          <p:cNvSpPr txBox="1"/>
          <p:nvPr/>
        </p:nvSpPr>
        <p:spPr>
          <a:xfrm>
            <a:off x="8409966" y="3493222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-1.322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AF3EBFD-97E7-1DDF-9460-CE45B409A8BB}"/>
                  </a:ext>
                </a:extLst>
              </p14:cNvPr>
              <p14:cNvContentPartPr/>
              <p14:nvPr/>
            </p14:nvContentPartPr>
            <p14:xfrm>
              <a:off x="10631153" y="2622407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AF3EBFD-97E7-1DDF-9460-CE45B409A8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033" y="2616287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719D1FF-015E-2CFD-D7B4-AADB312CAC7D}"/>
                  </a:ext>
                </a:extLst>
              </p14:cNvPr>
              <p14:cNvContentPartPr/>
              <p14:nvPr/>
            </p14:nvContentPartPr>
            <p14:xfrm rot="10800000">
              <a:off x="5647836" y="2490244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719D1FF-015E-2CFD-D7B4-AADB312CAC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641716" y="2484124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F44C4D70-C0C3-4E13-8150-BC09B025A391}"/>
              </a:ext>
            </a:extLst>
          </p:cNvPr>
          <p:cNvSpPr txBox="1"/>
          <p:nvPr/>
        </p:nvSpPr>
        <p:spPr>
          <a:xfrm>
            <a:off x="6131831" y="298549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68F922-B83B-1E70-6AD9-D17981785E20}"/>
              </a:ext>
            </a:extLst>
          </p:cNvPr>
          <p:cNvSpPr txBox="1"/>
          <p:nvPr/>
        </p:nvSpPr>
        <p:spPr>
          <a:xfrm>
            <a:off x="10921640" y="306642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-0.737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D57122-3615-587B-0E96-78F13F620B8E}"/>
                  </a:ext>
                </a:extLst>
              </p:cNvPr>
              <p:cNvSpPr txBox="1"/>
              <p:nvPr/>
            </p:nvSpPr>
            <p:spPr>
              <a:xfrm>
                <a:off x="76444" y="3429000"/>
                <a:ext cx="520884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−1−1.737=−2.737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D57122-3615-587B-0E96-78F13F620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44" y="3429000"/>
                <a:ext cx="5208841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D1EF8F-78D7-6810-488E-BDAE9C386E3E}"/>
                  </a:ext>
                </a:extLst>
              </p:cNvPr>
              <p:cNvSpPr txBox="1"/>
              <p:nvPr/>
            </p:nvSpPr>
            <p:spPr>
              <a:xfrm>
                <a:off x="76444" y="5527464"/>
                <a:ext cx="520884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−1−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2.322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3.322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D1EF8F-78D7-6810-488E-BDAE9C386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44" y="5527464"/>
                <a:ext cx="5208841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673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2C62D-3DA5-D05D-1AC7-41483E899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9BD5-0AC4-3B0D-4A73-A13D3B77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9A435-D433-07A6-8B5E-BCE4BC845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1761423"/>
            <a:ext cx="10895798" cy="4880009"/>
          </a:xfrm>
        </p:spPr>
        <p:txBody>
          <a:bodyPr>
            <a:normAutofit/>
          </a:bodyPr>
          <a:lstStyle/>
          <a:p>
            <a:r>
              <a:rPr lang="en-US" dirty="0"/>
              <a:t>S = </a:t>
            </a:r>
            <a:r>
              <a:rPr lang="en-US" b="1" dirty="0">
                <a:solidFill>
                  <a:schemeClr val="tx1"/>
                </a:solidFill>
              </a:rPr>
              <a:t>G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b="1" dirty="0"/>
              <a:t>CACTGAA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Log probability that the second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C: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 probability that the second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N: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03A0E-2681-075D-844A-70B853F5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599CF-D883-70DB-5541-6ECFA4535EC4}"/>
              </a:ext>
            </a:extLst>
          </p:cNvPr>
          <p:cNvSpPr txBox="1"/>
          <p:nvPr/>
        </p:nvSpPr>
        <p:spPr>
          <a:xfrm>
            <a:off x="8464957" y="1509423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08747C-7137-2AF6-0D8E-179CA5750C95}"/>
              </a:ext>
            </a:extLst>
          </p:cNvPr>
          <p:cNvCxnSpPr>
            <a:cxnSpLocks/>
          </p:cNvCxnSpPr>
          <p:nvPr/>
        </p:nvCxnSpPr>
        <p:spPr>
          <a:xfrm flipH="1">
            <a:off x="7858566" y="2077313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656253-496D-923C-29FD-CC7A01CB84F0}"/>
              </a:ext>
            </a:extLst>
          </p:cNvPr>
          <p:cNvCxnSpPr>
            <a:cxnSpLocks/>
          </p:cNvCxnSpPr>
          <p:nvPr/>
        </p:nvCxnSpPr>
        <p:spPr>
          <a:xfrm>
            <a:off x="8975096" y="2077313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40AD09-D3EC-DE80-C01A-4F8C0FA36208}"/>
              </a:ext>
            </a:extLst>
          </p:cNvPr>
          <p:cNvSpPr txBox="1"/>
          <p:nvPr/>
        </p:nvSpPr>
        <p:spPr>
          <a:xfrm>
            <a:off x="782972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54D5AC-4FA2-AD81-96FE-5497875FA6C2}"/>
              </a:ext>
            </a:extLst>
          </p:cNvPr>
          <p:cNvSpPr txBox="1"/>
          <p:nvPr/>
        </p:nvSpPr>
        <p:spPr>
          <a:xfrm>
            <a:off x="928470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DFA975-00D6-1694-134D-60B7508F57C6}"/>
              </a:ext>
            </a:extLst>
          </p:cNvPr>
          <p:cNvSpPr txBox="1"/>
          <p:nvPr/>
        </p:nvSpPr>
        <p:spPr>
          <a:xfrm>
            <a:off x="7060253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-2.322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0C56A9-E1CB-7EA1-4B15-0A4988449ACC}"/>
              </a:ext>
            </a:extLst>
          </p:cNvPr>
          <p:cNvSpPr txBox="1"/>
          <p:nvPr/>
        </p:nvSpPr>
        <p:spPr>
          <a:xfrm>
            <a:off x="9253130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-1.737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98D920-BF07-330B-CF83-7BE0C216A494}"/>
              </a:ext>
            </a:extLst>
          </p:cNvPr>
          <p:cNvCxnSpPr>
            <a:cxnSpLocks/>
          </p:cNvCxnSpPr>
          <p:nvPr/>
        </p:nvCxnSpPr>
        <p:spPr>
          <a:xfrm>
            <a:off x="8475007" y="3170164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9B9CA2-1F4A-C01A-30CA-AE82555289D9}"/>
              </a:ext>
            </a:extLst>
          </p:cNvPr>
          <p:cNvCxnSpPr>
            <a:cxnSpLocks/>
          </p:cNvCxnSpPr>
          <p:nvPr/>
        </p:nvCxnSpPr>
        <p:spPr>
          <a:xfrm flipH="1">
            <a:off x="8475007" y="3466813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31A8E76-DE19-BE1E-EFD1-1E4169D7701A}"/>
              </a:ext>
            </a:extLst>
          </p:cNvPr>
          <p:cNvSpPr txBox="1"/>
          <p:nvPr/>
        </p:nvSpPr>
        <p:spPr>
          <a:xfrm>
            <a:off x="8548068" y="2732844"/>
            <a:ext cx="40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750610-170B-389C-4D8E-AAFE8200A21D}"/>
              </a:ext>
            </a:extLst>
          </p:cNvPr>
          <p:cNvSpPr txBox="1"/>
          <p:nvPr/>
        </p:nvSpPr>
        <p:spPr>
          <a:xfrm>
            <a:off x="8409966" y="3493222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-1.322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7E33069-29D3-8807-E0B8-23D12AA9426E}"/>
                  </a:ext>
                </a:extLst>
              </p14:cNvPr>
              <p14:cNvContentPartPr/>
              <p14:nvPr/>
            </p14:nvContentPartPr>
            <p14:xfrm>
              <a:off x="10631153" y="2622407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7E33069-29D3-8807-E0B8-23D12AA942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033" y="2616287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B77136E-ED72-7E25-8A04-B354660B1229}"/>
                  </a:ext>
                </a:extLst>
              </p14:cNvPr>
              <p14:cNvContentPartPr/>
              <p14:nvPr/>
            </p14:nvContentPartPr>
            <p14:xfrm rot="10800000">
              <a:off x="5647836" y="2490244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B77136E-ED72-7E25-8A04-B354660B12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641716" y="2484124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5057914-1D20-5CCA-79F4-F0BC16A23466}"/>
              </a:ext>
            </a:extLst>
          </p:cNvPr>
          <p:cNvSpPr txBox="1"/>
          <p:nvPr/>
        </p:nvSpPr>
        <p:spPr>
          <a:xfrm>
            <a:off x="6131831" y="298549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9CFC80-AB6F-5FC1-B9E8-B02338367128}"/>
              </a:ext>
            </a:extLst>
          </p:cNvPr>
          <p:cNvSpPr txBox="1"/>
          <p:nvPr/>
        </p:nvSpPr>
        <p:spPr>
          <a:xfrm>
            <a:off x="10921640" y="306642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-0.737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D01EF8-4402-C8E2-9971-B56E100D8CD5}"/>
                  </a:ext>
                </a:extLst>
              </p:cNvPr>
              <p:cNvSpPr txBox="1"/>
              <p:nvPr/>
            </p:nvSpPr>
            <p:spPr>
              <a:xfrm>
                <a:off x="0" y="4161217"/>
                <a:ext cx="1135781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−1.737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𝑁𝐶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=−5.474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D01EF8-4402-C8E2-9971-B56E100D8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61217"/>
                <a:ext cx="1135781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48F9EE-B4BC-1B3A-4E63-862CEA5D5FF7}"/>
                  </a:ext>
                </a:extLst>
              </p:cNvPr>
              <p:cNvSpPr txBox="1"/>
              <p:nvPr/>
            </p:nvSpPr>
            <p:spPr>
              <a:xfrm>
                <a:off x="0" y="5787957"/>
                <a:ext cx="1135781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2.322+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𝐶𝑁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𝑁𝑁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=−6.059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48F9EE-B4BC-1B3A-4E63-862CEA5D5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87957"/>
                <a:ext cx="1135781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968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388EF-D146-06E0-F841-86B60A46A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0023-2A85-7B34-0AC9-AD76C74D6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04BBE-5CB5-9A21-94B8-99329501E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1761423"/>
            <a:ext cx="10895798" cy="4880009"/>
          </a:xfrm>
        </p:spPr>
        <p:txBody>
          <a:bodyPr>
            <a:normAutofit/>
          </a:bodyPr>
          <a:lstStyle/>
          <a:p>
            <a:r>
              <a:rPr lang="en-US" dirty="0"/>
              <a:t>S = </a:t>
            </a:r>
            <a:r>
              <a:rPr lang="en-US" b="1" dirty="0">
                <a:solidFill>
                  <a:schemeClr val="tx1"/>
                </a:solidFill>
              </a:rPr>
              <a:t>G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b="1" dirty="0"/>
              <a:t>CACTGAA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Log probability that the second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C: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 probability that the second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N: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B8868-33B7-A429-ACCA-5C76B437D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7D3883-5E4B-8893-A248-D83D5797DF2E}"/>
              </a:ext>
            </a:extLst>
          </p:cNvPr>
          <p:cNvSpPr txBox="1"/>
          <p:nvPr/>
        </p:nvSpPr>
        <p:spPr>
          <a:xfrm>
            <a:off x="8464957" y="1509423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ECE31C-F41C-AD07-2BC1-3ABA9F7034DE}"/>
              </a:ext>
            </a:extLst>
          </p:cNvPr>
          <p:cNvCxnSpPr>
            <a:cxnSpLocks/>
          </p:cNvCxnSpPr>
          <p:nvPr/>
        </p:nvCxnSpPr>
        <p:spPr>
          <a:xfrm flipH="1">
            <a:off x="7858566" y="2077313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3E8E49-8039-3826-D3C4-B1C2A03B5303}"/>
              </a:ext>
            </a:extLst>
          </p:cNvPr>
          <p:cNvCxnSpPr>
            <a:cxnSpLocks/>
          </p:cNvCxnSpPr>
          <p:nvPr/>
        </p:nvCxnSpPr>
        <p:spPr>
          <a:xfrm>
            <a:off x="8975096" y="2077313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4551B2-5464-652C-6358-F0EABAC07FFD}"/>
              </a:ext>
            </a:extLst>
          </p:cNvPr>
          <p:cNvSpPr txBox="1"/>
          <p:nvPr/>
        </p:nvSpPr>
        <p:spPr>
          <a:xfrm>
            <a:off x="782972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6CB6DD-1A54-1BE0-C652-2468CF9B9B8D}"/>
              </a:ext>
            </a:extLst>
          </p:cNvPr>
          <p:cNvSpPr txBox="1"/>
          <p:nvPr/>
        </p:nvSpPr>
        <p:spPr>
          <a:xfrm>
            <a:off x="928470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DF38AB-524F-D723-DC74-98D4467F6CC7}"/>
              </a:ext>
            </a:extLst>
          </p:cNvPr>
          <p:cNvSpPr txBox="1"/>
          <p:nvPr/>
        </p:nvSpPr>
        <p:spPr>
          <a:xfrm>
            <a:off x="7060253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-2.322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235F08-914F-9041-022F-075CC67824E4}"/>
              </a:ext>
            </a:extLst>
          </p:cNvPr>
          <p:cNvSpPr txBox="1"/>
          <p:nvPr/>
        </p:nvSpPr>
        <p:spPr>
          <a:xfrm>
            <a:off x="9253130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-1.737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0E059C-9872-DFD0-F099-6A7C448095D5}"/>
              </a:ext>
            </a:extLst>
          </p:cNvPr>
          <p:cNvCxnSpPr>
            <a:cxnSpLocks/>
          </p:cNvCxnSpPr>
          <p:nvPr/>
        </p:nvCxnSpPr>
        <p:spPr>
          <a:xfrm>
            <a:off x="8475007" y="3170164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E83DF9-CD2F-2B8B-079C-891A3DD17D1C}"/>
              </a:ext>
            </a:extLst>
          </p:cNvPr>
          <p:cNvCxnSpPr>
            <a:cxnSpLocks/>
          </p:cNvCxnSpPr>
          <p:nvPr/>
        </p:nvCxnSpPr>
        <p:spPr>
          <a:xfrm flipH="1">
            <a:off x="8475007" y="3466813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2419E6B-9CBE-329F-803F-D4876AFAF5FB}"/>
              </a:ext>
            </a:extLst>
          </p:cNvPr>
          <p:cNvSpPr txBox="1"/>
          <p:nvPr/>
        </p:nvSpPr>
        <p:spPr>
          <a:xfrm>
            <a:off x="8548068" y="2732844"/>
            <a:ext cx="40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086DB1-DCE0-1F5C-2752-62DC222B7B7B}"/>
              </a:ext>
            </a:extLst>
          </p:cNvPr>
          <p:cNvSpPr txBox="1"/>
          <p:nvPr/>
        </p:nvSpPr>
        <p:spPr>
          <a:xfrm>
            <a:off x="8409966" y="3493222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-1.322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EAD7D7D-56CB-1290-2796-7D3AFD60BACE}"/>
                  </a:ext>
                </a:extLst>
              </p14:cNvPr>
              <p14:cNvContentPartPr/>
              <p14:nvPr/>
            </p14:nvContentPartPr>
            <p14:xfrm>
              <a:off x="10631153" y="2622407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EAD7D7D-56CB-1290-2796-7D3AFD60BA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033" y="2616287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8C021A9-9344-302C-F924-7611D8C59C4C}"/>
                  </a:ext>
                </a:extLst>
              </p14:cNvPr>
              <p14:cNvContentPartPr/>
              <p14:nvPr/>
            </p14:nvContentPartPr>
            <p14:xfrm rot="10800000">
              <a:off x="5647836" y="2490244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8C021A9-9344-302C-F924-7611D8C59C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641716" y="2484124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34889560-51D9-9C4F-16C3-7B8F66243073}"/>
              </a:ext>
            </a:extLst>
          </p:cNvPr>
          <p:cNvSpPr txBox="1"/>
          <p:nvPr/>
        </p:nvSpPr>
        <p:spPr>
          <a:xfrm>
            <a:off x="6131831" y="298549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9D2F9-4DAF-7EB9-9507-6129B6FB920B}"/>
              </a:ext>
            </a:extLst>
          </p:cNvPr>
          <p:cNvSpPr txBox="1"/>
          <p:nvPr/>
        </p:nvSpPr>
        <p:spPr>
          <a:xfrm>
            <a:off x="10921640" y="306642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-0.737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70661C-6DE6-E023-6B01-C5617F40FCF0}"/>
                  </a:ext>
                </a:extLst>
              </p:cNvPr>
              <p:cNvSpPr txBox="1"/>
              <p:nvPr/>
            </p:nvSpPr>
            <p:spPr>
              <a:xfrm>
                <a:off x="0" y="4161217"/>
                <a:ext cx="1135781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−1.737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𝑁𝐶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=−5.474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70661C-6DE6-E023-6B01-C5617F40F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61217"/>
                <a:ext cx="1135781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2928E1-309C-82CC-5433-BF1BA91A35A3}"/>
                  </a:ext>
                </a:extLst>
              </p:cNvPr>
              <p:cNvSpPr txBox="1"/>
              <p:nvPr/>
            </p:nvSpPr>
            <p:spPr>
              <a:xfrm>
                <a:off x="0" y="5787957"/>
                <a:ext cx="1135781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2.322+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𝐶𝑁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𝑁𝑁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=−6.059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2928E1-309C-82CC-5433-BF1BA91A3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87957"/>
                <a:ext cx="1135781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26D895C-F46C-748E-8484-3DABAA5CC9E9}"/>
              </a:ext>
            </a:extLst>
          </p:cNvPr>
          <p:cNvSpPr txBox="1"/>
          <p:nvPr/>
        </p:nvSpPr>
        <p:spPr>
          <a:xfrm>
            <a:off x="5344220" y="4573208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-2.737-1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45B030-0901-7137-02D1-41294CF03029}"/>
              </a:ext>
            </a:extLst>
          </p:cNvPr>
          <p:cNvSpPr txBox="1"/>
          <p:nvPr/>
        </p:nvSpPr>
        <p:spPr>
          <a:xfrm>
            <a:off x="7496422" y="4582656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-3.322-1.322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721369-2FDA-447F-7223-E5700F53F534}"/>
              </a:ext>
            </a:extLst>
          </p:cNvPr>
          <p:cNvSpPr txBox="1"/>
          <p:nvPr/>
        </p:nvSpPr>
        <p:spPr>
          <a:xfrm>
            <a:off x="5194638" y="6192431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-2.737-1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32D477-882D-BC60-8AB1-4A2A79351211}"/>
              </a:ext>
            </a:extLst>
          </p:cNvPr>
          <p:cNvSpPr txBox="1"/>
          <p:nvPr/>
        </p:nvSpPr>
        <p:spPr>
          <a:xfrm>
            <a:off x="7472071" y="6186246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-3.322-0.737</a:t>
            </a:r>
          </a:p>
        </p:txBody>
      </p:sp>
    </p:spTree>
    <p:extLst>
      <p:ext uri="{BB962C8B-B14F-4D97-AF65-F5344CB8AC3E}">
        <p14:creationId xmlns:p14="http://schemas.microsoft.com/office/powerpoint/2010/main" val="2702561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D6D47-634F-495A-ACA9-6DAB8815D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5CF8-0F74-D3F9-48FF-DD6E7F5F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50C50-0842-F47C-561F-930B2F9E0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1761423"/>
            <a:ext cx="10895798" cy="4880009"/>
          </a:xfrm>
        </p:spPr>
        <p:txBody>
          <a:bodyPr>
            <a:normAutofit/>
          </a:bodyPr>
          <a:lstStyle/>
          <a:p>
            <a:r>
              <a:rPr lang="en-US" dirty="0"/>
              <a:t>S = </a:t>
            </a:r>
            <a:r>
              <a:rPr lang="en-US" b="1" dirty="0">
                <a:solidFill>
                  <a:schemeClr val="tx1"/>
                </a:solidFill>
              </a:rPr>
              <a:t>G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b="1" dirty="0"/>
              <a:t>CACTGAA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Log probability that the second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C: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 probability that the second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N: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01CD7-ACC8-D651-D96E-B59D7B5E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570C68-B793-E963-305F-027C30E016E2}"/>
              </a:ext>
            </a:extLst>
          </p:cNvPr>
          <p:cNvSpPr txBox="1"/>
          <p:nvPr/>
        </p:nvSpPr>
        <p:spPr>
          <a:xfrm>
            <a:off x="8464957" y="1509423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E462C03-E70F-C153-2996-3FB2ECC316A6}"/>
              </a:ext>
            </a:extLst>
          </p:cNvPr>
          <p:cNvCxnSpPr>
            <a:cxnSpLocks/>
          </p:cNvCxnSpPr>
          <p:nvPr/>
        </p:nvCxnSpPr>
        <p:spPr>
          <a:xfrm flipH="1">
            <a:off x="7858566" y="2077313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DEC7AA-2018-27D8-3663-E974A88F2C60}"/>
              </a:ext>
            </a:extLst>
          </p:cNvPr>
          <p:cNvCxnSpPr>
            <a:cxnSpLocks/>
          </p:cNvCxnSpPr>
          <p:nvPr/>
        </p:nvCxnSpPr>
        <p:spPr>
          <a:xfrm>
            <a:off x="8975096" y="2077313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087A251-D48B-D07F-A799-21EF7753BC2D}"/>
              </a:ext>
            </a:extLst>
          </p:cNvPr>
          <p:cNvSpPr txBox="1"/>
          <p:nvPr/>
        </p:nvSpPr>
        <p:spPr>
          <a:xfrm>
            <a:off x="782972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685725-A9E2-76C5-390A-4E7D61F611AA}"/>
              </a:ext>
            </a:extLst>
          </p:cNvPr>
          <p:cNvSpPr txBox="1"/>
          <p:nvPr/>
        </p:nvSpPr>
        <p:spPr>
          <a:xfrm>
            <a:off x="928470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A7AD5D-5D29-FC53-B569-5807381282D4}"/>
              </a:ext>
            </a:extLst>
          </p:cNvPr>
          <p:cNvSpPr txBox="1"/>
          <p:nvPr/>
        </p:nvSpPr>
        <p:spPr>
          <a:xfrm>
            <a:off x="7060253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-2.322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A58C9D-A2B3-2194-9CBE-EC0E4DFE5025}"/>
              </a:ext>
            </a:extLst>
          </p:cNvPr>
          <p:cNvSpPr txBox="1"/>
          <p:nvPr/>
        </p:nvSpPr>
        <p:spPr>
          <a:xfrm>
            <a:off x="9253130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-1.737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F6BE74-FB6F-9BB1-ACBE-6C1AC237618C}"/>
              </a:ext>
            </a:extLst>
          </p:cNvPr>
          <p:cNvCxnSpPr>
            <a:cxnSpLocks/>
          </p:cNvCxnSpPr>
          <p:nvPr/>
        </p:nvCxnSpPr>
        <p:spPr>
          <a:xfrm>
            <a:off x="8475007" y="3170164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642B51-1C40-C41B-9CEB-CC1ED7968683}"/>
              </a:ext>
            </a:extLst>
          </p:cNvPr>
          <p:cNvCxnSpPr>
            <a:cxnSpLocks/>
          </p:cNvCxnSpPr>
          <p:nvPr/>
        </p:nvCxnSpPr>
        <p:spPr>
          <a:xfrm flipH="1">
            <a:off x="8475007" y="3466813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FEC2E37-8F78-0566-7C59-F771F111CA15}"/>
              </a:ext>
            </a:extLst>
          </p:cNvPr>
          <p:cNvSpPr txBox="1"/>
          <p:nvPr/>
        </p:nvSpPr>
        <p:spPr>
          <a:xfrm>
            <a:off x="8548068" y="2732844"/>
            <a:ext cx="40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BE4FF2-6BDD-366A-B125-A05804E16EC4}"/>
              </a:ext>
            </a:extLst>
          </p:cNvPr>
          <p:cNvSpPr txBox="1"/>
          <p:nvPr/>
        </p:nvSpPr>
        <p:spPr>
          <a:xfrm>
            <a:off x="8409966" y="3493222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-1.322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B34C872-C7E9-9C97-073A-0AFE83519DB0}"/>
                  </a:ext>
                </a:extLst>
              </p14:cNvPr>
              <p14:cNvContentPartPr/>
              <p14:nvPr/>
            </p14:nvContentPartPr>
            <p14:xfrm>
              <a:off x="10631153" y="2622407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B34C872-C7E9-9C97-073A-0AFE83519D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033" y="2616287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41CBFED-A52E-AF75-1585-8193672F260B}"/>
                  </a:ext>
                </a:extLst>
              </p14:cNvPr>
              <p14:cNvContentPartPr/>
              <p14:nvPr/>
            </p14:nvContentPartPr>
            <p14:xfrm rot="10800000">
              <a:off x="5647836" y="2490244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41CBFED-A52E-AF75-1585-8193672F26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641716" y="2484124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1EBF042-3A73-39CA-C761-BE776F54381C}"/>
              </a:ext>
            </a:extLst>
          </p:cNvPr>
          <p:cNvSpPr txBox="1"/>
          <p:nvPr/>
        </p:nvSpPr>
        <p:spPr>
          <a:xfrm>
            <a:off x="6131831" y="298549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E80CAA-BA41-8F19-5B65-83C5133432EF}"/>
              </a:ext>
            </a:extLst>
          </p:cNvPr>
          <p:cNvSpPr txBox="1"/>
          <p:nvPr/>
        </p:nvSpPr>
        <p:spPr>
          <a:xfrm>
            <a:off x="10921640" y="306642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-0.737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93069F-CBC2-F7DC-1549-1FEDA6C5C9D0}"/>
                  </a:ext>
                </a:extLst>
              </p:cNvPr>
              <p:cNvSpPr txBox="1"/>
              <p:nvPr/>
            </p:nvSpPr>
            <p:spPr>
              <a:xfrm>
                <a:off x="0" y="4161217"/>
                <a:ext cx="1135781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−1.737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𝑁𝐶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=−5.474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93069F-CBC2-F7DC-1549-1FEDA6C5C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61217"/>
                <a:ext cx="1135781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1201C8-F9D7-BB99-0797-D1EC388D1484}"/>
                  </a:ext>
                </a:extLst>
              </p:cNvPr>
              <p:cNvSpPr txBox="1"/>
              <p:nvPr/>
            </p:nvSpPr>
            <p:spPr>
              <a:xfrm>
                <a:off x="0" y="5787957"/>
                <a:ext cx="1135781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2.322+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𝑪𝑵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𝑁𝑁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=−6.059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1201C8-F9D7-BB99-0797-D1EC388D1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87957"/>
                <a:ext cx="1135781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C6074DB-AFD4-F645-03E7-891C764A230F}"/>
              </a:ext>
            </a:extLst>
          </p:cNvPr>
          <p:cNvSpPr txBox="1"/>
          <p:nvPr/>
        </p:nvSpPr>
        <p:spPr>
          <a:xfrm>
            <a:off x="5344220" y="4573208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-2.737-1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A4DE38-328F-87F6-76B4-989C064CE5B1}"/>
              </a:ext>
            </a:extLst>
          </p:cNvPr>
          <p:cNvSpPr txBox="1"/>
          <p:nvPr/>
        </p:nvSpPr>
        <p:spPr>
          <a:xfrm>
            <a:off x="7496422" y="4582656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-3.322-1.322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CA705D-C9FB-E1F5-8A5C-CDFC85810C79}"/>
              </a:ext>
            </a:extLst>
          </p:cNvPr>
          <p:cNvSpPr txBox="1"/>
          <p:nvPr/>
        </p:nvSpPr>
        <p:spPr>
          <a:xfrm>
            <a:off x="5194638" y="6192431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-2.737-1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82CB2C-5BF9-2717-48FE-2E0717D2B0C9}"/>
              </a:ext>
            </a:extLst>
          </p:cNvPr>
          <p:cNvSpPr txBox="1"/>
          <p:nvPr/>
        </p:nvSpPr>
        <p:spPr>
          <a:xfrm>
            <a:off x="7472071" y="6186246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-3.322-0.737</a:t>
            </a:r>
          </a:p>
        </p:txBody>
      </p:sp>
    </p:spTree>
    <p:extLst>
      <p:ext uri="{BB962C8B-B14F-4D97-AF65-F5344CB8AC3E}">
        <p14:creationId xmlns:p14="http://schemas.microsoft.com/office/powerpoint/2010/main" val="1526773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0031B-A635-BFDE-F6A3-6DD06DDEB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3F83A-9701-E218-14CC-65FC4A25E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954FC-4143-25A4-D0F9-899879DCF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1761423"/>
            <a:ext cx="10895798" cy="4880009"/>
          </a:xfrm>
        </p:spPr>
        <p:txBody>
          <a:bodyPr>
            <a:normAutofit/>
          </a:bodyPr>
          <a:lstStyle/>
          <a:p>
            <a:r>
              <a:rPr lang="en-US" dirty="0"/>
              <a:t>S = </a:t>
            </a:r>
            <a:r>
              <a:rPr lang="en-US" b="1" dirty="0">
                <a:solidFill>
                  <a:schemeClr val="tx1"/>
                </a:solidFill>
              </a:rPr>
              <a:t>GGC</a:t>
            </a:r>
            <a:r>
              <a:rPr lang="en-US" b="1" dirty="0"/>
              <a:t>ACTGAA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Iteratively compute probabilities, record values and where you came from in two matrices (arrays):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AFEDF-77F3-27FB-3556-BC8150CA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459888"/>
            <a:ext cx="2844800" cy="365125"/>
          </a:xfrm>
        </p:spPr>
        <p:txBody>
          <a:bodyPr/>
          <a:lstStyle/>
          <a:p>
            <a:fld id="{B82CCC60-E8CD-4174-8B1A-7DF615B22EE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55EA0-9CEA-0E64-FC55-E372263A91DC}"/>
              </a:ext>
            </a:extLst>
          </p:cNvPr>
          <p:cNvSpPr txBox="1"/>
          <p:nvPr/>
        </p:nvSpPr>
        <p:spPr>
          <a:xfrm>
            <a:off x="8464957" y="1509423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5C1C95-AF77-6A9D-9274-2BEC94D47D2E}"/>
              </a:ext>
            </a:extLst>
          </p:cNvPr>
          <p:cNvCxnSpPr>
            <a:cxnSpLocks/>
          </p:cNvCxnSpPr>
          <p:nvPr/>
        </p:nvCxnSpPr>
        <p:spPr>
          <a:xfrm flipH="1">
            <a:off x="7858566" y="2077313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DEAC32-5F99-E681-8A0B-DB1CDB6161F5}"/>
              </a:ext>
            </a:extLst>
          </p:cNvPr>
          <p:cNvCxnSpPr>
            <a:cxnSpLocks/>
          </p:cNvCxnSpPr>
          <p:nvPr/>
        </p:nvCxnSpPr>
        <p:spPr>
          <a:xfrm>
            <a:off x="8975096" y="2077313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B0C97A9-1086-0130-6AB5-31F460FD6AAA}"/>
              </a:ext>
            </a:extLst>
          </p:cNvPr>
          <p:cNvSpPr txBox="1"/>
          <p:nvPr/>
        </p:nvSpPr>
        <p:spPr>
          <a:xfrm>
            <a:off x="782972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80338A-F86F-C60E-74C8-AB214333E3CD}"/>
              </a:ext>
            </a:extLst>
          </p:cNvPr>
          <p:cNvSpPr txBox="1"/>
          <p:nvPr/>
        </p:nvSpPr>
        <p:spPr>
          <a:xfrm>
            <a:off x="928470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CBD5D2-20A6-599A-3106-D5A7ADCBA1B7}"/>
              </a:ext>
            </a:extLst>
          </p:cNvPr>
          <p:cNvSpPr txBox="1"/>
          <p:nvPr/>
        </p:nvSpPr>
        <p:spPr>
          <a:xfrm>
            <a:off x="7060253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-2.322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41DC14-7DC0-AB27-9C19-B9596FAB1732}"/>
              </a:ext>
            </a:extLst>
          </p:cNvPr>
          <p:cNvSpPr txBox="1"/>
          <p:nvPr/>
        </p:nvSpPr>
        <p:spPr>
          <a:xfrm>
            <a:off x="9253130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-1.737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0D035C-E708-574A-BEDF-F6D5DC5F305F}"/>
              </a:ext>
            </a:extLst>
          </p:cNvPr>
          <p:cNvCxnSpPr>
            <a:cxnSpLocks/>
          </p:cNvCxnSpPr>
          <p:nvPr/>
        </p:nvCxnSpPr>
        <p:spPr>
          <a:xfrm>
            <a:off x="8475007" y="3170164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147BB9E-2C4E-6859-64E9-5F1A8FA458BA}"/>
              </a:ext>
            </a:extLst>
          </p:cNvPr>
          <p:cNvCxnSpPr>
            <a:cxnSpLocks/>
          </p:cNvCxnSpPr>
          <p:nvPr/>
        </p:nvCxnSpPr>
        <p:spPr>
          <a:xfrm flipH="1">
            <a:off x="8475007" y="3466813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25E04A2-5052-E00E-A8DF-4DC47FD56395}"/>
              </a:ext>
            </a:extLst>
          </p:cNvPr>
          <p:cNvSpPr txBox="1"/>
          <p:nvPr/>
        </p:nvSpPr>
        <p:spPr>
          <a:xfrm>
            <a:off x="8548068" y="2732844"/>
            <a:ext cx="40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33468D-4D3C-5C3D-6177-2907565B7ACC}"/>
              </a:ext>
            </a:extLst>
          </p:cNvPr>
          <p:cNvSpPr txBox="1"/>
          <p:nvPr/>
        </p:nvSpPr>
        <p:spPr>
          <a:xfrm>
            <a:off x="8409966" y="3493222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-1.322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D6B11A1-8DE0-9A15-1150-2DCF2926993B}"/>
                  </a:ext>
                </a:extLst>
              </p14:cNvPr>
              <p14:cNvContentPartPr/>
              <p14:nvPr/>
            </p14:nvContentPartPr>
            <p14:xfrm>
              <a:off x="10631153" y="2622407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D6B11A1-8DE0-9A15-1150-2DCF292699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033" y="2616287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99FB070-E437-322F-05B5-BE692BEBA05A}"/>
                  </a:ext>
                </a:extLst>
              </p14:cNvPr>
              <p14:cNvContentPartPr/>
              <p14:nvPr/>
            </p14:nvContentPartPr>
            <p14:xfrm rot="10800000">
              <a:off x="5647836" y="2490244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99FB070-E437-322F-05B5-BE692BEBA0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641716" y="2484124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3ABC3F08-2608-0C34-CDDD-52F232439025}"/>
              </a:ext>
            </a:extLst>
          </p:cNvPr>
          <p:cNvSpPr txBox="1"/>
          <p:nvPr/>
        </p:nvSpPr>
        <p:spPr>
          <a:xfrm>
            <a:off x="6131831" y="298549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C187AE-1909-7275-E13D-A0E04FA0FB02}"/>
              </a:ext>
            </a:extLst>
          </p:cNvPr>
          <p:cNvSpPr txBox="1"/>
          <p:nvPr/>
        </p:nvSpPr>
        <p:spPr>
          <a:xfrm>
            <a:off x="10921640" y="306642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-0.737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D9984B-E9E2-8840-E7CC-13FAF6F69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422240"/>
              </p:ext>
            </p:extLst>
          </p:nvPr>
        </p:nvGraphicFramePr>
        <p:xfrm>
          <a:off x="685110" y="5256432"/>
          <a:ext cx="1023653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653">
                  <a:extLst>
                    <a:ext uri="{9D8B030D-6E8A-4147-A177-3AD203B41FA5}">
                      <a16:colId xmlns:a16="http://schemas.microsoft.com/office/drawing/2014/main" val="617901540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1382025072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2255369741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2534610364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232939563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3182373488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4024621562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2359178037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1376732356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536027699"/>
                    </a:ext>
                  </a:extLst>
                </a:gridCol>
              </a:tblGrid>
              <a:tr h="3572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156900"/>
                  </a:ext>
                </a:extLst>
              </a:tr>
              <a:tr h="357286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-25.65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968220"/>
                  </a:ext>
                </a:extLst>
              </a:tr>
              <a:tr h="357286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-6.06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-24.49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171233"/>
                  </a:ext>
                </a:extLst>
              </a:tr>
            </a:tbl>
          </a:graphicData>
        </a:graphic>
      </p:graphicFrame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6D49546-E012-AEC5-CE31-BEA827415CE7}"/>
              </a:ext>
            </a:extLst>
          </p:cNvPr>
          <p:cNvCxnSpPr>
            <a:cxnSpLocks/>
          </p:cNvCxnSpPr>
          <p:nvPr/>
        </p:nvCxnSpPr>
        <p:spPr>
          <a:xfrm>
            <a:off x="2596202" y="5784644"/>
            <a:ext cx="320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64A706A-D802-09AC-9EFC-623F8C25A58A}"/>
              </a:ext>
            </a:extLst>
          </p:cNvPr>
          <p:cNvCxnSpPr>
            <a:cxnSpLocks/>
          </p:cNvCxnSpPr>
          <p:nvPr/>
        </p:nvCxnSpPr>
        <p:spPr>
          <a:xfrm>
            <a:off x="2596202" y="5937044"/>
            <a:ext cx="243115" cy="223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36B0FBC-CE1C-014D-18E0-E43CCD765982}"/>
              </a:ext>
            </a:extLst>
          </p:cNvPr>
          <p:cNvCxnSpPr>
            <a:cxnSpLocks/>
          </p:cNvCxnSpPr>
          <p:nvPr/>
        </p:nvCxnSpPr>
        <p:spPr>
          <a:xfrm>
            <a:off x="3605251" y="5784644"/>
            <a:ext cx="320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E5B8E87-5E0C-E484-CC70-6FAE56CE469E}"/>
              </a:ext>
            </a:extLst>
          </p:cNvPr>
          <p:cNvCxnSpPr>
            <a:cxnSpLocks/>
          </p:cNvCxnSpPr>
          <p:nvPr/>
        </p:nvCxnSpPr>
        <p:spPr>
          <a:xfrm>
            <a:off x="3605251" y="5937044"/>
            <a:ext cx="243115" cy="223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C3E83A8-2A3C-21BD-96EF-F11AC1518989}"/>
              </a:ext>
            </a:extLst>
          </p:cNvPr>
          <p:cNvCxnSpPr>
            <a:cxnSpLocks/>
          </p:cNvCxnSpPr>
          <p:nvPr/>
        </p:nvCxnSpPr>
        <p:spPr>
          <a:xfrm>
            <a:off x="4614300" y="5784644"/>
            <a:ext cx="320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682A854-33B1-B945-8F04-46AE8EF3545D}"/>
              </a:ext>
            </a:extLst>
          </p:cNvPr>
          <p:cNvCxnSpPr>
            <a:cxnSpLocks/>
          </p:cNvCxnSpPr>
          <p:nvPr/>
        </p:nvCxnSpPr>
        <p:spPr>
          <a:xfrm>
            <a:off x="4614300" y="5937044"/>
            <a:ext cx="243115" cy="223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7878DA0-24E9-B52B-8605-F3A8FC6CE4ED}"/>
              </a:ext>
            </a:extLst>
          </p:cNvPr>
          <p:cNvCxnSpPr>
            <a:cxnSpLocks/>
          </p:cNvCxnSpPr>
          <p:nvPr/>
        </p:nvCxnSpPr>
        <p:spPr>
          <a:xfrm>
            <a:off x="5645806" y="6160354"/>
            <a:ext cx="320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4C04903-636C-6488-6801-1AB4EEDC269F}"/>
              </a:ext>
            </a:extLst>
          </p:cNvPr>
          <p:cNvCxnSpPr>
            <a:cxnSpLocks/>
          </p:cNvCxnSpPr>
          <p:nvPr/>
        </p:nvCxnSpPr>
        <p:spPr>
          <a:xfrm flipV="1">
            <a:off x="5681817" y="5805072"/>
            <a:ext cx="284106" cy="232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F733F80-EB56-9DF5-891B-7649115CEF88}"/>
              </a:ext>
            </a:extLst>
          </p:cNvPr>
          <p:cNvCxnSpPr>
            <a:cxnSpLocks/>
          </p:cNvCxnSpPr>
          <p:nvPr/>
        </p:nvCxnSpPr>
        <p:spPr>
          <a:xfrm>
            <a:off x="6674105" y="6160354"/>
            <a:ext cx="320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94A0F28-ECDC-5ABF-2134-780E32B5EB16}"/>
              </a:ext>
            </a:extLst>
          </p:cNvPr>
          <p:cNvCxnSpPr>
            <a:cxnSpLocks/>
          </p:cNvCxnSpPr>
          <p:nvPr/>
        </p:nvCxnSpPr>
        <p:spPr>
          <a:xfrm>
            <a:off x="9743419" y="6168375"/>
            <a:ext cx="320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16FF031-AD16-6A23-0AE2-A29F442D3FCE}"/>
              </a:ext>
            </a:extLst>
          </p:cNvPr>
          <p:cNvCxnSpPr>
            <a:cxnSpLocks/>
          </p:cNvCxnSpPr>
          <p:nvPr/>
        </p:nvCxnSpPr>
        <p:spPr>
          <a:xfrm>
            <a:off x="7688566" y="6168375"/>
            <a:ext cx="320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A231164-5FB9-077F-6276-16F5B3E39305}"/>
              </a:ext>
            </a:extLst>
          </p:cNvPr>
          <p:cNvCxnSpPr>
            <a:cxnSpLocks/>
          </p:cNvCxnSpPr>
          <p:nvPr/>
        </p:nvCxnSpPr>
        <p:spPr>
          <a:xfrm>
            <a:off x="8743955" y="6168375"/>
            <a:ext cx="320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308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0A2DB-67C4-514E-DA41-67A03FA63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7157C-7C57-7FDF-366C-CFC85C29D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F5083-295F-6E63-6FD2-C483D62B7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1761423"/>
            <a:ext cx="10895798" cy="4880009"/>
          </a:xfrm>
        </p:spPr>
        <p:txBody>
          <a:bodyPr>
            <a:normAutofit/>
          </a:bodyPr>
          <a:lstStyle/>
          <a:p>
            <a:r>
              <a:rPr lang="en-US" dirty="0"/>
              <a:t>S = </a:t>
            </a:r>
            <a:r>
              <a:rPr lang="en-US" b="1" dirty="0">
                <a:solidFill>
                  <a:schemeClr val="tx1"/>
                </a:solidFill>
              </a:rPr>
              <a:t>GG</a:t>
            </a:r>
            <a:r>
              <a:rPr lang="en-US" b="1" dirty="0"/>
              <a:t>CACTGAA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Backtrack: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09A93-6C6E-E4A9-7E80-DE519154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537713-8E4F-5E95-1893-411F318234A0}"/>
              </a:ext>
            </a:extLst>
          </p:cNvPr>
          <p:cNvSpPr txBox="1"/>
          <p:nvPr/>
        </p:nvSpPr>
        <p:spPr>
          <a:xfrm>
            <a:off x="8464957" y="1509423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865345-2291-7144-2E7E-99087C9F9C5F}"/>
              </a:ext>
            </a:extLst>
          </p:cNvPr>
          <p:cNvCxnSpPr>
            <a:cxnSpLocks/>
          </p:cNvCxnSpPr>
          <p:nvPr/>
        </p:nvCxnSpPr>
        <p:spPr>
          <a:xfrm flipH="1">
            <a:off x="7858566" y="2077313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51FEE8-ECD3-A558-51B6-CE3218CDE8B3}"/>
              </a:ext>
            </a:extLst>
          </p:cNvPr>
          <p:cNvCxnSpPr>
            <a:cxnSpLocks/>
          </p:cNvCxnSpPr>
          <p:nvPr/>
        </p:nvCxnSpPr>
        <p:spPr>
          <a:xfrm>
            <a:off x="8975096" y="2077313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BECC602-8A90-47C9-8042-A517A9727FD5}"/>
              </a:ext>
            </a:extLst>
          </p:cNvPr>
          <p:cNvSpPr txBox="1"/>
          <p:nvPr/>
        </p:nvSpPr>
        <p:spPr>
          <a:xfrm>
            <a:off x="782972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D108E0-483A-730C-C1E6-2E7907A254AD}"/>
              </a:ext>
            </a:extLst>
          </p:cNvPr>
          <p:cNvSpPr txBox="1"/>
          <p:nvPr/>
        </p:nvSpPr>
        <p:spPr>
          <a:xfrm>
            <a:off x="928470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C96E0C-C401-801D-CF35-29E631BCE4EE}"/>
              </a:ext>
            </a:extLst>
          </p:cNvPr>
          <p:cNvSpPr txBox="1"/>
          <p:nvPr/>
        </p:nvSpPr>
        <p:spPr>
          <a:xfrm>
            <a:off x="7060253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-2.322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3E0AFD-E681-FE74-65B2-8BE2CC307CB2}"/>
              </a:ext>
            </a:extLst>
          </p:cNvPr>
          <p:cNvSpPr txBox="1"/>
          <p:nvPr/>
        </p:nvSpPr>
        <p:spPr>
          <a:xfrm>
            <a:off x="9253130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-1.737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8035F8-BBA5-5DCA-7ECC-8FB71846D08E}"/>
              </a:ext>
            </a:extLst>
          </p:cNvPr>
          <p:cNvCxnSpPr>
            <a:cxnSpLocks/>
          </p:cNvCxnSpPr>
          <p:nvPr/>
        </p:nvCxnSpPr>
        <p:spPr>
          <a:xfrm>
            <a:off x="8475007" y="3170164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3A50CC-8E07-7D32-E147-480C1EEF959B}"/>
              </a:ext>
            </a:extLst>
          </p:cNvPr>
          <p:cNvCxnSpPr>
            <a:cxnSpLocks/>
          </p:cNvCxnSpPr>
          <p:nvPr/>
        </p:nvCxnSpPr>
        <p:spPr>
          <a:xfrm flipH="1">
            <a:off x="8475007" y="3466813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24479ED-1BA4-B907-7D62-474DDDBCC598}"/>
              </a:ext>
            </a:extLst>
          </p:cNvPr>
          <p:cNvSpPr txBox="1"/>
          <p:nvPr/>
        </p:nvSpPr>
        <p:spPr>
          <a:xfrm>
            <a:off x="8548068" y="2732844"/>
            <a:ext cx="40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88A16F-C6BD-14C9-FF0F-AB380B2A3E64}"/>
              </a:ext>
            </a:extLst>
          </p:cNvPr>
          <p:cNvSpPr txBox="1"/>
          <p:nvPr/>
        </p:nvSpPr>
        <p:spPr>
          <a:xfrm>
            <a:off x="8409966" y="3493222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-1.322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0CEF2F5-5355-52AF-C3E4-BB40D88CB5BB}"/>
                  </a:ext>
                </a:extLst>
              </p14:cNvPr>
              <p14:cNvContentPartPr/>
              <p14:nvPr/>
            </p14:nvContentPartPr>
            <p14:xfrm>
              <a:off x="10631153" y="2622407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0CEF2F5-5355-52AF-C3E4-BB40D88CB5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033" y="2616287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67936D0-A0CC-F857-CE2B-DFED9E5F21A7}"/>
                  </a:ext>
                </a:extLst>
              </p14:cNvPr>
              <p14:cNvContentPartPr/>
              <p14:nvPr/>
            </p14:nvContentPartPr>
            <p14:xfrm rot="10800000">
              <a:off x="5647836" y="2490244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67936D0-A0CC-F857-CE2B-DFED9E5F21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641716" y="2484124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67B7B1E-690D-0C15-64FC-A8901452A210}"/>
              </a:ext>
            </a:extLst>
          </p:cNvPr>
          <p:cNvSpPr txBox="1"/>
          <p:nvPr/>
        </p:nvSpPr>
        <p:spPr>
          <a:xfrm>
            <a:off x="6131831" y="298549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EA518B-CCA9-5071-41F8-F8DA1A44E775}"/>
              </a:ext>
            </a:extLst>
          </p:cNvPr>
          <p:cNvSpPr txBox="1"/>
          <p:nvPr/>
        </p:nvSpPr>
        <p:spPr>
          <a:xfrm>
            <a:off x="10921640" y="306642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-0.737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2A6B515-9E10-C0AC-C993-FE057971DAC7}"/>
              </a:ext>
            </a:extLst>
          </p:cNvPr>
          <p:cNvGraphicFramePr>
            <a:graphicFrameLocks noGrp="1"/>
          </p:cNvGraphicFramePr>
          <p:nvPr/>
        </p:nvGraphicFramePr>
        <p:xfrm>
          <a:off x="598618" y="4592103"/>
          <a:ext cx="1023653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653">
                  <a:extLst>
                    <a:ext uri="{9D8B030D-6E8A-4147-A177-3AD203B41FA5}">
                      <a16:colId xmlns:a16="http://schemas.microsoft.com/office/drawing/2014/main" val="617901540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1382025072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2255369741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2534610364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232939563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3182373488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4024621562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2359178037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1376732356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536027699"/>
                    </a:ext>
                  </a:extLst>
                </a:gridCol>
              </a:tblGrid>
              <a:tr h="35728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156900"/>
                  </a:ext>
                </a:extLst>
              </a:tr>
              <a:tr h="357286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-25.65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968220"/>
                  </a:ext>
                </a:extLst>
              </a:tr>
              <a:tr h="357286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-6.06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-24.49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171233"/>
                  </a:ext>
                </a:extLst>
              </a:tr>
            </a:tbl>
          </a:graphicData>
        </a:graphic>
      </p:graphicFrame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59BB902-625D-028B-4ED3-3EFC9ACAB179}"/>
              </a:ext>
            </a:extLst>
          </p:cNvPr>
          <p:cNvCxnSpPr>
            <a:cxnSpLocks/>
          </p:cNvCxnSpPr>
          <p:nvPr/>
        </p:nvCxnSpPr>
        <p:spPr>
          <a:xfrm>
            <a:off x="2509710" y="5120315"/>
            <a:ext cx="3201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51FA353-F12B-CFE8-A72D-5E6B190EF97C}"/>
              </a:ext>
            </a:extLst>
          </p:cNvPr>
          <p:cNvCxnSpPr>
            <a:cxnSpLocks/>
          </p:cNvCxnSpPr>
          <p:nvPr/>
        </p:nvCxnSpPr>
        <p:spPr>
          <a:xfrm>
            <a:off x="2509710" y="5272715"/>
            <a:ext cx="243115" cy="223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9A92606-CBDF-9EC8-E9C7-3AE242D51A0C}"/>
              </a:ext>
            </a:extLst>
          </p:cNvPr>
          <p:cNvCxnSpPr>
            <a:cxnSpLocks/>
          </p:cNvCxnSpPr>
          <p:nvPr/>
        </p:nvCxnSpPr>
        <p:spPr>
          <a:xfrm>
            <a:off x="3518759" y="5120315"/>
            <a:ext cx="3201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28AB39C-0E3A-28BD-7564-86B1A4941FC9}"/>
              </a:ext>
            </a:extLst>
          </p:cNvPr>
          <p:cNvCxnSpPr>
            <a:cxnSpLocks/>
          </p:cNvCxnSpPr>
          <p:nvPr/>
        </p:nvCxnSpPr>
        <p:spPr>
          <a:xfrm>
            <a:off x="3518759" y="5272715"/>
            <a:ext cx="243115" cy="223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A7E2809-D547-B87D-6A08-DBC557D25B1A}"/>
              </a:ext>
            </a:extLst>
          </p:cNvPr>
          <p:cNvCxnSpPr>
            <a:cxnSpLocks/>
          </p:cNvCxnSpPr>
          <p:nvPr/>
        </p:nvCxnSpPr>
        <p:spPr>
          <a:xfrm>
            <a:off x="4527808" y="5120315"/>
            <a:ext cx="320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10C8D6A-D0E2-4019-B445-AA4D2EBFD722}"/>
              </a:ext>
            </a:extLst>
          </p:cNvPr>
          <p:cNvCxnSpPr>
            <a:cxnSpLocks/>
          </p:cNvCxnSpPr>
          <p:nvPr/>
        </p:nvCxnSpPr>
        <p:spPr>
          <a:xfrm>
            <a:off x="4527808" y="5272715"/>
            <a:ext cx="243115" cy="223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311DE8A-8403-D9C2-0171-D5D9EBB8B1D9}"/>
              </a:ext>
            </a:extLst>
          </p:cNvPr>
          <p:cNvCxnSpPr>
            <a:cxnSpLocks/>
          </p:cNvCxnSpPr>
          <p:nvPr/>
        </p:nvCxnSpPr>
        <p:spPr>
          <a:xfrm>
            <a:off x="5559314" y="5496025"/>
            <a:ext cx="3201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93D0F2F-B298-0584-FA7D-9A7A1C665320}"/>
              </a:ext>
            </a:extLst>
          </p:cNvPr>
          <p:cNvCxnSpPr>
            <a:cxnSpLocks/>
          </p:cNvCxnSpPr>
          <p:nvPr/>
        </p:nvCxnSpPr>
        <p:spPr>
          <a:xfrm flipV="1">
            <a:off x="5595325" y="5140743"/>
            <a:ext cx="284106" cy="232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3C71346-B5E3-5B6D-1AC4-C3506E8C3731}"/>
              </a:ext>
            </a:extLst>
          </p:cNvPr>
          <p:cNvCxnSpPr>
            <a:cxnSpLocks/>
          </p:cNvCxnSpPr>
          <p:nvPr/>
        </p:nvCxnSpPr>
        <p:spPr>
          <a:xfrm>
            <a:off x="6587613" y="5496025"/>
            <a:ext cx="3201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56F2060-9BFA-E8C3-35C6-2B61E0D1E716}"/>
              </a:ext>
            </a:extLst>
          </p:cNvPr>
          <p:cNvCxnSpPr>
            <a:cxnSpLocks/>
          </p:cNvCxnSpPr>
          <p:nvPr/>
        </p:nvCxnSpPr>
        <p:spPr>
          <a:xfrm>
            <a:off x="9656927" y="5504046"/>
            <a:ext cx="3201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6139335-AAC8-D89E-7134-4EEC136EFFF2}"/>
              </a:ext>
            </a:extLst>
          </p:cNvPr>
          <p:cNvCxnSpPr>
            <a:cxnSpLocks/>
          </p:cNvCxnSpPr>
          <p:nvPr/>
        </p:nvCxnSpPr>
        <p:spPr>
          <a:xfrm>
            <a:off x="7602074" y="5504046"/>
            <a:ext cx="3201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D539DFC-9F79-8B66-72A0-50BC961F392A}"/>
              </a:ext>
            </a:extLst>
          </p:cNvPr>
          <p:cNvCxnSpPr>
            <a:cxnSpLocks/>
          </p:cNvCxnSpPr>
          <p:nvPr/>
        </p:nvCxnSpPr>
        <p:spPr>
          <a:xfrm>
            <a:off x="8657463" y="5504046"/>
            <a:ext cx="3201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551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F3CFC-673A-DE95-0F64-6A7B06990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E695-7828-6C93-FACA-7204D8C92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75A06-6D83-2F1A-07B3-FB04FB3C3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1761423"/>
            <a:ext cx="10895798" cy="4880009"/>
          </a:xfrm>
        </p:spPr>
        <p:txBody>
          <a:bodyPr>
            <a:normAutofit/>
          </a:bodyPr>
          <a:lstStyle/>
          <a:p>
            <a:r>
              <a:rPr lang="en-US" dirty="0"/>
              <a:t>S = </a:t>
            </a:r>
            <a:r>
              <a:rPr lang="en-US" b="1" dirty="0">
                <a:solidFill>
                  <a:schemeClr val="tx1"/>
                </a:solidFill>
              </a:rPr>
              <a:t>GG</a:t>
            </a:r>
            <a:r>
              <a:rPr lang="en-US" b="1" dirty="0"/>
              <a:t>CACTGAA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Backtrack: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most probable path is: CCCNNNNNN, its probability is 2</a:t>
            </a:r>
            <a:r>
              <a:rPr lang="en-US" baseline="30000" dirty="0"/>
              <a:t>-24.49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ADC6F-AF4F-038F-4D76-337A13F03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F6A0A-EE60-301E-D270-950E40BEB7DF}"/>
              </a:ext>
            </a:extLst>
          </p:cNvPr>
          <p:cNvSpPr txBox="1"/>
          <p:nvPr/>
        </p:nvSpPr>
        <p:spPr>
          <a:xfrm>
            <a:off x="8464957" y="1509423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223EE5-ED80-56C7-E9AE-BF5E9C9817D3}"/>
              </a:ext>
            </a:extLst>
          </p:cNvPr>
          <p:cNvCxnSpPr>
            <a:cxnSpLocks/>
          </p:cNvCxnSpPr>
          <p:nvPr/>
        </p:nvCxnSpPr>
        <p:spPr>
          <a:xfrm flipH="1">
            <a:off x="7858566" y="2077313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09E4BC-5F11-95FD-F869-3E29F17C99EE}"/>
              </a:ext>
            </a:extLst>
          </p:cNvPr>
          <p:cNvCxnSpPr>
            <a:cxnSpLocks/>
          </p:cNvCxnSpPr>
          <p:nvPr/>
        </p:nvCxnSpPr>
        <p:spPr>
          <a:xfrm>
            <a:off x="8975096" y="2077313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09CC022-23DE-2D76-6D3B-C8328D04E628}"/>
              </a:ext>
            </a:extLst>
          </p:cNvPr>
          <p:cNvSpPr txBox="1"/>
          <p:nvPr/>
        </p:nvSpPr>
        <p:spPr>
          <a:xfrm>
            <a:off x="782972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329298-5A43-D72E-B927-BCBA07646EEF}"/>
              </a:ext>
            </a:extLst>
          </p:cNvPr>
          <p:cNvSpPr txBox="1"/>
          <p:nvPr/>
        </p:nvSpPr>
        <p:spPr>
          <a:xfrm>
            <a:off x="928470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18A454-0090-42A4-9EA7-D397AA0F3DFA}"/>
              </a:ext>
            </a:extLst>
          </p:cNvPr>
          <p:cNvSpPr txBox="1"/>
          <p:nvPr/>
        </p:nvSpPr>
        <p:spPr>
          <a:xfrm>
            <a:off x="7060253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-2.322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1C8F84-C02B-A49C-785F-2020F44A08B5}"/>
              </a:ext>
            </a:extLst>
          </p:cNvPr>
          <p:cNvSpPr txBox="1"/>
          <p:nvPr/>
        </p:nvSpPr>
        <p:spPr>
          <a:xfrm>
            <a:off x="9253130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-1.737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C09C42-013E-DD68-D28C-A9048CBA26D5}"/>
              </a:ext>
            </a:extLst>
          </p:cNvPr>
          <p:cNvCxnSpPr>
            <a:cxnSpLocks/>
          </p:cNvCxnSpPr>
          <p:nvPr/>
        </p:nvCxnSpPr>
        <p:spPr>
          <a:xfrm>
            <a:off x="8475007" y="3170164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1F124C-5AF8-5505-AF83-78749C1D85AE}"/>
              </a:ext>
            </a:extLst>
          </p:cNvPr>
          <p:cNvCxnSpPr>
            <a:cxnSpLocks/>
          </p:cNvCxnSpPr>
          <p:nvPr/>
        </p:nvCxnSpPr>
        <p:spPr>
          <a:xfrm flipH="1">
            <a:off x="8475007" y="3466813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D7607C5-F57E-DFAC-1BB2-0262E352525B}"/>
              </a:ext>
            </a:extLst>
          </p:cNvPr>
          <p:cNvSpPr txBox="1"/>
          <p:nvPr/>
        </p:nvSpPr>
        <p:spPr>
          <a:xfrm>
            <a:off x="8548068" y="2732844"/>
            <a:ext cx="40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F9E47F-932A-5B8A-162D-AFB448384AE8}"/>
              </a:ext>
            </a:extLst>
          </p:cNvPr>
          <p:cNvSpPr txBox="1"/>
          <p:nvPr/>
        </p:nvSpPr>
        <p:spPr>
          <a:xfrm>
            <a:off x="8409966" y="3493222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-1.322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EB9FFC7-53A0-CB9B-2AAD-203F77E66297}"/>
                  </a:ext>
                </a:extLst>
              </p14:cNvPr>
              <p14:cNvContentPartPr/>
              <p14:nvPr/>
            </p14:nvContentPartPr>
            <p14:xfrm>
              <a:off x="10631153" y="2622407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EB9FFC7-53A0-CB9B-2AAD-203F77E662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033" y="2616287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30F9C39-8D6E-8C4F-DB06-693716EB5102}"/>
                  </a:ext>
                </a:extLst>
              </p14:cNvPr>
              <p14:cNvContentPartPr/>
              <p14:nvPr/>
            </p14:nvContentPartPr>
            <p14:xfrm rot="10800000">
              <a:off x="5647836" y="2490244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30F9C39-8D6E-8C4F-DB06-693716EB51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641716" y="2484124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A2C4F18D-3742-2509-75A2-515E0268A7D1}"/>
              </a:ext>
            </a:extLst>
          </p:cNvPr>
          <p:cNvSpPr txBox="1"/>
          <p:nvPr/>
        </p:nvSpPr>
        <p:spPr>
          <a:xfrm>
            <a:off x="6131831" y="298549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6FF042-E5B7-B0CF-718C-94B09C78B7EE}"/>
              </a:ext>
            </a:extLst>
          </p:cNvPr>
          <p:cNvSpPr txBox="1"/>
          <p:nvPr/>
        </p:nvSpPr>
        <p:spPr>
          <a:xfrm>
            <a:off x="10921640" y="306642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-0.737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C6B9E8E-2D1B-3FC1-C66A-2F9ED095BA66}"/>
              </a:ext>
            </a:extLst>
          </p:cNvPr>
          <p:cNvGraphicFramePr>
            <a:graphicFrameLocks noGrp="1"/>
          </p:cNvGraphicFramePr>
          <p:nvPr/>
        </p:nvGraphicFramePr>
        <p:xfrm>
          <a:off x="598618" y="4592103"/>
          <a:ext cx="1023653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653">
                  <a:extLst>
                    <a:ext uri="{9D8B030D-6E8A-4147-A177-3AD203B41FA5}">
                      <a16:colId xmlns:a16="http://schemas.microsoft.com/office/drawing/2014/main" val="617901540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1382025072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2255369741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2534610364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232939563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3182373488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4024621562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2359178037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1376732356"/>
                    </a:ext>
                  </a:extLst>
                </a:gridCol>
                <a:gridCol w="1023653">
                  <a:extLst>
                    <a:ext uri="{9D8B030D-6E8A-4147-A177-3AD203B41FA5}">
                      <a16:colId xmlns:a16="http://schemas.microsoft.com/office/drawing/2014/main" val="536027699"/>
                    </a:ext>
                  </a:extLst>
                </a:gridCol>
              </a:tblGrid>
              <a:tr h="35728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156900"/>
                  </a:ext>
                </a:extLst>
              </a:tr>
              <a:tr h="357286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-25.65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968220"/>
                  </a:ext>
                </a:extLst>
              </a:tr>
              <a:tr h="357286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-6.06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-24.49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171233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28AD076-4BE8-4CCC-3C67-87B108A5F64B}"/>
              </a:ext>
            </a:extLst>
          </p:cNvPr>
          <p:cNvCxnSpPr>
            <a:cxnSpLocks/>
          </p:cNvCxnSpPr>
          <p:nvPr/>
        </p:nvCxnSpPr>
        <p:spPr>
          <a:xfrm flipH="1">
            <a:off x="9656927" y="5524990"/>
            <a:ext cx="290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455BF45-740A-4A7F-7597-A8A01DE9FC08}"/>
              </a:ext>
            </a:extLst>
          </p:cNvPr>
          <p:cNvCxnSpPr>
            <a:cxnSpLocks/>
          </p:cNvCxnSpPr>
          <p:nvPr/>
        </p:nvCxnSpPr>
        <p:spPr>
          <a:xfrm flipH="1">
            <a:off x="8644005" y="5524990"/>
            <a:ext cx="290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A0745D-878E-BA89-4778-86CE5214753F}"/>
              </a:ext>
            </a:extLst>
          </p:cNvPr>
          <p:cNvCxnSpPr>
            <a:cxnSpLocks/>
          </p:cNvCxnSpPr>
          <p:nvPr/>
        </p:nvCxnSpPr>
        <p:spPr>
          <a:xfrm flipH="1">
            <a:off x="7568326" y="5524990"/>
            <a:ext cx="290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3F15091-DE57-FA65-C479-942D357FE227}"/>
              </a:ext>
            </a:extLst>
          </p:cNvPr>
          <p:cNvCxnSpPr>
            <a:cxnSpLocks/>
          </p:cNvCxnSpPr>
          <p:nvPr/>
        </p:nvCxnSpPr>
        <p:spPr>
          <a:xfrm flipH="1">
            <a:off x="5579009" y="5505326"/>
            <a:ext cx="290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D92E898-934A-816F-2D4B-AEF1A2509180}"/>
              </a:ext>
            </a:extLst>
          </p:cNvPr>
          <p:cNvCxnSpPr>
            <a:cxnSpLocks/>
          </p:cNvCxnSpPr>
          <p:nvPr/>
        </p:nvCxnSpPr>
        <p:spPr>
          <a:xfrm flipH="1">
            <a:off x="6598964" y="5505326"/>
            <a:ext cx="290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EE89E41-6F73-E187-3F01-CE5EEE10DF35}"/>
              </a:ext>
            </a:extLst>
          </p:cNvPr>
          <p:cNvCxnSpPr>
            <a:cxnSpLocks/>
          </p:cNvCxnSpPr>
          <p:nvPr/>
        </p:nvCxnSpPr>
        <p:spPr>
          <a:xfrm flipH="1" flipV="1">
            <a:off x="4532671" y="5171768"/>
            <a:ext cx="309717" cy="318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009C73-734E-72DF-8B99-0881B4FEBCD5}"/>
              </a:ext>
            </a:extLst>
          </p:cNvPr>
          <p:cNvCxnSpPr>
            <a:cxnSpLocks/>
          </p:cNvCxnSpPr>
          <p:nvPr/>
        </p:nvCxnSpPr>
        <p:spPr>
          <a:xfrm flipH="1">
            <a:off x="3509928" y="5171768"/>
            <a:ext cx="290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C0A35C8-FA09-AA65-F07B-AD48CD18D139}"/>
              </a:ext>
            </a:extLst>
          </p:cNvPr>
          <p:cNvCxnSpPr>
            <a:cxnSpLocks/>
          </p:cNvCxnSpPr>
          <p:nvPr/>
        </p:nvCxnSpPr>
        <p:spPr>
          <a:xfrm flipH="1">
            <a:off x="2477541" y="5171768"/>
            <a:ext cx="290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453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7C45D-7C74-5ADF-F4BA-A371030E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Viterbi algorithm: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2ED8A-7847-C033-1DBA-D4BE94A67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Viterbi algorithm is used to compute the most probable path (as well as its probability). It requires knowledge of the parameters of the HMM model and a particular output sequence and it finds the state sequence that is most likely to have generated that output sequence. </a:t>
            </a:r>
          </a:p>
          <a:p>
            <a:r>
              <a:rPr lang="en-US" dirty="0"/>
              <a:t>It works by finding a maximum over all possible state sequences.</a:t>
            </a:r>
          </a:p>
          <a:p>
            <a:r>
              <a:rPr lang="en-US" dirty="0"/>
              <a:t>In sequence analysis, this method can be used for example to predict coding vs non-­coding sequences.</a:t>
            </a:r>
          </a:p>
          <a:p>
            <a:r>
              <a:rPr lang="en-US" dirty="0"/>
              <a:t>Similar (in spirit) to Smith-Waterman alignment!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BCB23-C345-B844-AF42-21EC3BE0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76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15575</TotalTime>
  <Words>2162</Words>
  <Application>Microsoft Office PowerPoint</Application>
  <PresentationFormat>Widescreen</PresentationFormat>
  <Paragraphs>517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Cambria Math</vt:lpstr>
      <vt:lpstr>Courier New</vt:lpstr>
      <vt:lpstr>Trebuchet MS</vt:lpstr>
      <vt:lpstr>Office Theme</vt:lpstr>
      <vt:lpstr>Paper presentation</vt:lpstr>
      <vt:lpstr>The SAMBA tool uses long reads to improve the contiguity of genome assemblies </vt:lpstr>
      <vt:lpstr>Scaffolding with long reads</vt:lpstr>
      <vt:lpstr>The SAMBA algorithm: links</vt:lpstr>
      <vt:lpstr>The SAMBA algorithm: links</vt:lpstr>
      <vt:lpstr>The SAMBA algorithm: Graph of contigs</vt:lpstr>
      <vt:lpstr>The SAMBA algorithm: Consensus</vt:lpstr>
      <vt:lpstr>The SAMBA algorithm: Consensus</vt:lpstr>
      <vt:lpstr>The SAMBA algorithm: Consensus</vt:lpstr>
      <vt:lpstr>Result: Arabidopsis thaliana assembly, PacBio reads</vt:lpstr>
      <vt:lpstr>Summary</vt:lpstr>
      <vt:lpstr>Lab #6: Training and scoring with  PWM and WAM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The Viterbi algorithm: summary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96</cp:revision>
  <dcterms:created xsi:type="dcterms:W3CDTF">2013-08-21T19:17:07Z</dcterms:created>
  <dcterms:modified xsi:type="dcterms:W3CDTF">2025-11-10T15:24:42Z</dcterms:modified>
</cp:coreProperties>
</file>