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2" r:id="rId2"/>
    <p:sldId id="588" r:id="rId3"/>
    <p:sldId id="802" r:id="rId4"/>
    <p:sldId id="850" r:id="rId5"/>
    <p:sldId id="801" r:id="rId6"/>
    <p:sldId id="818" r:id="rId7"/>
    <p:sldId id="815" r:id="rId8"/>
    <p:sldId id="847" r:id="rId9"/>
    <p:sldId id="848" r:id="rId10"/>
    <p:sldId id="849" r:id="rId11"/>
    <p:sldId id="819" r:id="rId12"/>
    <p:sldId id="258" r:id="rId13"/>
    <p:sldId id="399" r:id="rId14"/>
    <p:sldId id="821" r:id="rId15"/>
    <p:sldId id="820" r:id="rId16"/>
    <p:sldId id="814" r:id="rId17"/>
    <p:sldId id="816" r:id="rId18"/>
    <p:sldId id="829" r:id="rId19"/>
    <p:sldId id="830" r:id="rId20"/>
    <p:sldId id="803" r:id="rId21"/>
    <p:sldId id="813" r:id="rId22"/>
    <p:sldId id="822" r:id="rId23"/>
    <p:sldId id="266" r:id="rId24"/>
    <p:sldId id="823" r:id="rId25"/>
    <p:sldId id="825" r:id="rId26"/>
    <p:sldId id="827" r:id="rId27"/>
    <p:sldId id="826" r:id="rId28"/>
    <p:sldId id="82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7111C-6173-4713-A271-7E589660E8A9}" v="2" dt="2026-10-20T18:24:13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6" d="100"/>
          <a:sy n="96" d="100"/>
        </p:scale>
        <p:origin x="77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5F359FD6-B8E9-41DA-90EC-0BA4FD0F3073}"/>
    <pc:docChg chg="addSld delSld modSld">
      <pc:chgData name="Aleksey Zimin" userId="7f2637d0bc515791" providerId="LiveId" clId="{5F359FD6-B8E9-41DA-90EC-0BA4FD0F3073}" dt="2026-10-20T18:24:13.093" v="6"/>
      <pc:docMkLst>
        <pc:docMk/>
      </pc:docMkLst>
      <pc:sldChg chg="del">
        <pc:chgData name="Aleksey Zimin" userId="7f2637d0bc515791" providerId="LiveId" clId="{5F359FD6-B8E9-41DA-90EC-0BA4FD0F3073}" dt="2026-10-19T17:59:47.563" v="3" actId="47"/>
        <pc:sldMkLst>
          <pc:docMk/>
          <pc:sldMk cId="1183394471" sldId="270"/>
        </pc:sldMkLst>
      </pc:sldChg>
      <pc:sldChg chg="del">
        <pc:chgData name="Aleksey Zimin" userId="7f2637d0bc515791" providerId="LiveId" clId="{5F359FD6-B8E9-41DA-90EC-0BA4FD0F3073}" dt="2026-10-19T17:56:04.901" v="1" actId="47"/>
        <pc:sldMkLst>
          <pc:docMk/>
          <pc:sldMk cId="1722923118" sldId="805"/>
        </pc:sldMkLst>
      </pc:sldChg>
      <pc:sldChg chg="del">
        <pc:chgData name="Aleksey Zimin" userId="7f2637d0bc515791" providerId="LiveId" clId="{5F359FD6-B8E9-41DA-90EC-0BA4FD0F3073}" dt="2026-10-19T17:55:51.601" v="0" actId="2696"/>
        <pc:sldMkLst>
          <pc:docMk/>
          <pc:sldMk cId="3059937519" sldId="811"/>
        </pc:sldMkLst>
      </pc:sldChg>
      <pc:sldChg chg="del">
        <pc:chgData name="Aleksey Zimin" userId="7f2637d0bc515791" providerId="LiveId" clId="{5F359FD6-B8E9-41DA-90EC-0BA4FD0F3073}" dt="2026-10-20T18:21:17.221" v="5" actId="2696"/>
        <pc:sldMkLst>
          <pc:docMk/>
          <pc:sldMk cId="2608576022" sldId="812"/>
        </pc:sldMkLst>
      </pc:sldChg>
      <pc:sldChg chg="del">
        <pc:chgData name="Aleksey Zimin" userId="7f2637d0bc515791" providerId="LiveId" clId="{5F359FD6-B8E9-41DA-90EC-0BA4FD0F3073}" dt="2026-10-20T18:20:59.868" v="4" actId="2696"/>
        <pc:sldMkLst>
          <pc:docMk/>
          <pc:sldMk cId="1531555332" sldId="817"/>
        </pc:sldMkLst>
      </pc:sldChg>
      <pc:sldChg chg="add">
        <pc:chgData name="Aleksey Zimin" userId="7f2637d0bc515791" providerId="LiveId" clId="{5F359FD6-B8E9-41DA-90EC-0BA4FD0F3073}" dt="2026-10-20T18:24:13.093" v="6"/>
        <pc:sldMkLst>
          <pc:docMk/>
          <pc:sldMk cId="2068933949" sldId="823"/>
        </pc:sldMkLst>
      </pc:sldChg>
      <pc:sldChg chg="add">
        <pc:chgData name="Aleksey Zimin" userId="7f2637d0bc515791" providerId="LiveId" clId="{5F359FD6-B8E9-41DA-90EC-0BA4FD0F3073}" dt="2026-10-20T18:24:13.093" v="6"/>
        <pc:sldMkLst>
          <pc:docMk/>
          <pc:sldMk cId="2622166328" sldId="825"/>
        </pc:sldMkLst>
      </pc:sldChg>
      <pc:sldChg chg="add">
        <pc:chgData name="Aleksey Zimin" userId="7f2637d0bc515791" providerId="LiveId" clId="{5F359FD6-B8E9-41DA-90EC-0BA4FD0F3073}" dt="2026-10-20T18:24:13.093" v="6"/>
        <pc:sldMkLst>
          <pc:docMk/>
          <pc:sldMk cId="2174087718" sldId="826"/>
        </pc:sldMkLst>
      </pc:sldChg>
      <pc:sldChg chg="add">
        <pc:chgData name="Aleksey Zimin" userId="7f2637d0bc515791" providerId="LiveId" clId="{5F359FD6-B8E9-41DA-90EC-0BA4FD0F3073}" dt="2026-10-20T18:24:13.093" v="6"/>
        <pc:sldMkLst>
          <pc:docMk/>
          <pc:sldMk cId="14013305" sldId="827"/>
        </pc:sldMkLst>
      </pc:sldChg>
      <pc:sldChg chg="add">
        <pc:chgData name="Aleksey Zimin" userId="7f2637d0bc515791" providerId="LiveId" clId="{5F359FD6-B8E9-41DA-90EC-0BA4FD0F3073}" dt="2026-10-20T18:24:13.093" v="6"/>
        <pc:sldMkLst>
          <pc:docMk/>
          <pc:sldMk cId="2055598344" sldId="828"/>
        </pc:sldMkLst>
      </pc:sldChg>
      <pc:sldChg chg="add">
        <pc:chgData name="Aleksey Zimin" userId="7f2637d0bc515791" providerId="LiveId" clId="{5F359FD6-B8E9-41DA-90EC-0BA4FD0F3073}" dt="2026-10-19T17:59:37.134" v="2"/>
        <pc:sldMkLst>
          <pc:docMk/>
          <pc:sldMk cId="1478409895" sldId="8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-Sequence-Ontology/Specifications/blob/master/gff3.md" TargetMode="External"/><Relationship Id="rId2" Type="http://schemas.openxmlformats.org/officeDocument/2006/relationships/hyperlink" Target="https://mblab.wustl.edu/GTF2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-Sequence-Ontology/Specifications/blob/master/gff3.md" TargetMode="External"/><Relationship Id="rId2" Type="http://schemas.openxmlformats.org/officeDocument/2006/relationships/hyperlink" Target="http://mblab.wustl.edu/GTF22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NICUp8C6rm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Week 9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</a:t>
            </a:r>
            <a:r>
              <a:rPr lang="en-US" sz="2400"/>
              <a:t>BME 580.417/707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72995B-4320-43AF-3DB5-9B70D4398B1C}"/>
              </a:ext>
            </a:extLst>
          </p:cNvPr>
          <p:cNvSpPr/>
          <p:nvPr/>
        </p:nvSpPr>
        <p:spPr>
          <a:xfrm>
            <a:off x="2623087" y="4006386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0BFE1-98C9-C0EF-A1F9-99C03FE9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931E-3F3A-E6D9-8B63-643D1877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Transcripts are sequences of exons after the introns are </a:t>
            </a:r>
            <a:r>
              <a:rPr lang="en-US" i="1" dirty="0"/>
              <a:t>spliced out:</a:t>
            </a:r>
            <a:br>
              <a:rPr lang="en-US" i="1" dirty="0"/>
            </a:br>
            <a:r>
              <a:rPr lang="en-US" i="1" dirty="0"/>
              <a:t>                                          </a:t>
            </a:r>
            <a:r>
              <a:rPr lang="en-US" dirty="0"/>
              <a:t>genome</a:t>
            </a:r>
            <a:br>
              <a:rPr lang="en-US" i="1" dirty="0"/>
            </a:br>
            <a:br>
              <a:rPr lang="en-US" i="1" dirty="0"/>
            </a:br>
            <a:r>
              <a:rPr lang="en-US" dirty="0"/>
              <a:t>                      exon1                        exon2        exon3</a:t>
            </a:r>
            <a:br>
              <a:rPr lang="en-US" dirty="0"/>
            </a:br>
            <a:r>
              <a:rPr lang="en-US" dirty="0"/>
              <a:t>                                         transcript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exon1            exon2   exon3</a:t>
            </a:r>
          </a:p>
          <a:p>
            <a:r>
              <a:rPr lang="en-US" i="1" dirty="0"/>
              <a:t>UTRs </a:t>
            </a:r>
            <a:r>
              <a:rPr lang="en-US" dirty="0"/>
              <a:t>are </a:t>
            </a:r>
            <a:r>
              <a:rPr lang="en-US" dirty="0" err="1"/>
              <a:t>UnTRanslated</a:t>
            </a:r>
            <a:r>
              <a:rPr lang="en-US" dirty="0"/>
              <a:t> sequences before and after the </a:t>
            </a:r>
            <a:r>
              <a:rPr lang="en-US" i="1" dirty="0"/>
              <a:t>protein coding region</a:t>
            </a:r>
          </a:p>
          <a:p>
            <a:r>
              <a:rPr lang="en-US" dirty="0"/>
              <a:t>Protein </a:t>
            </a:r>
            <a:r>
              <a:rPr lang="en-US" dirty="0" err="1"/>
              <a:t>CoDing</a:t>
            </a:r>
            <a:r>
              <a:rPr lang="en-US" dirty="0"/>
              <a:t> Sequence (CDS) starts with a start codon (ATG) and ends with a stop (TAG, TAA, or TGA) for eukaryotic genomes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EE634-7018-6907-7FC6-1759CF01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3AEA9-0D11-BDD0-0CEA-0C975E6AA3B2}"/>
              </a:ext>
            </a:extLst>
          </p:cNvPr>
          <p:cNvSpPr/>
          <p:nvPr/>
        </p:nvSpPr>
        <p:spPr>
          <a:xfrm>
            <a:off x="1997842" y="2524981"/>
            <a:ext cx="6739758" cy="1970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08E98A-85C2-5F08-85DA-F58133609335}"/>
              </a:ext>
            </a:extLst>
          </p:cNvPr>
          <p:cNvSpPr/>
          <p:nvPr/>
        </p:nvSpPr>
        <p:spPr>
          <a:xfrm>
            <a:off x="2423509" y="2524981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67893-9E07-2182-D438-6D9F091C65A9}"/>
              </a:ext>
            </a:extLst>
          </p:cNvPr>
          <p:cNvSpPr/>
          <p:nvPr/>
        </p:nvSpPr>
        <p:spPr>
          <a:xfrm>
            <a:off x="5129924" y="2524980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0BDE4-42B5-42A5-6F41-4040F4C3FF9C}"/>
              </a:ext>
            </a:extLst>
          </p:cNvPr>
          <p:cNvSpPr/>
          <p:nvPr/>
        </p:nvSpPr>
        <p:spPr>
          <a:xfrm>
            <a:off x="7239000" y="2524979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2C141B-9640-9021-525E-B5BB7309DF96}"/>
              </a:ext>
            </a:extLst>
          </p:cNvPr>
          <p:cNvGrpSpPr/>
          <p:nvPr/>
        </p:nvGrpSpPr>
        <p:grpSpPr>
          <a:xfrm>
            <a:off x="3128160" y="2454236"/>
            <a:ext cx="1197722" cy="338554"/>
            <a:chOff x="3128160" y="2647615"/>
            <a:chExt cx="1197722" cy="3385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96EA1D-0343-9789-0127-985F2C43418B}"/>
                </a:ext>
              </a:extLst>
            </p:cNvPr>
            <p:cNvSpPr/>
            <p:nvPr/>
          </p:nvSpPr>
          <p:spPr>
            <a:xfrm>
              <a:off x="3161862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5D04C0-D82A-5EAE-17E9-6226229A2587}"/>
                </a:ext>
              </a:extLst>
            </p:cNvPr>
            <p:cNvSpPr txBox="1"/>
            <p:nvPr/>
          </p:nvSpPr>
          <p:spPr>
            <a:xfrm>
              <a:off x="3128160" y="2647615"/>
              <a:ext cx="651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ATG…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9C6338-EF7E-A116-4FC3-C3F16F0962D5}"/>
              </a:ext>
            </a:extLst>
          </p:cNvPr>
          <p:cNvGrpSpPr/>
          <p:nvPr/>
        </p:nvGrpSpPr>
        <p:grpSpPr>
          <a:xfrm>
            <a:off x="5129924" y="2454236"/>
            <a:ext cx="1223098" cy="338554"/>
            <a:chOff x="5129924" y="2647615"/>
            <a:chExt cx="1223098" cy="3385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5BB529-416D-94BA-C9D4-069CEBECD7FF}"/>
                </a:ext>
              </a:extLst>
            </p:cNvPr>
            <p:cNvSpPr/>
            <p:nvPr/>
          </p:nvSpPr>
          <p:spPr>
            <a:xfrm>
              <a:off x="5129924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CDAF76-5233-937D-C62C-3066F02893C9}"/>
                </a:ext>
              </a:extLst>
            </p:cNvPr>
            <p:cNvSpPr txBox="1"/>
            <p:nvPr/>
          </p:nvSpPr>
          <p:spPr>
            <a:xfrm>
              <a:off x="5706691" y="2647615"/>
              <a:ext cx="6463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…TAA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D8FDF01-BA62-58DA-1E5C-4BA25040CB69}"/>
              </a:ext>
            </a:extLst>
          </p:cNvPr>
          <p:cNvSpPr txBox="1"/>
          <p:nvPr/>
        </p:nvSpPr>
        <p:spPr>
          <a:xfrm>
            <a:off x="2630833" y="3939533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5’ UTR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4A231-9B4E-DC09-B996-EFEFC6942B50}"/>
              </a:ext>
            </a:extLst>
          </p:cNvPr>
          <p:cNvSpPr txBox="1"/>
          <p:nvPr/>
        </p:nvSpPr>
        <p:spPr>
          <a:xfrm>
            <a:off x="6356048" y="245423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FCC16D-AE72-176C-E68D-F4A908B5A4A5}"/>
              </a:ext>
            </a:extLst>
          </p:cNvPr>
          <p:cNvSpPr txBox="1"/>
          <p:nvPr/>
        </p:nvSpPr>
        <p:spPr>
          <a:xfrm>
            <a:off x="7181981" y="245423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CA6243-1E31-1459-5D6C-998843BC7DCD}"/>
              </a:ext>
            </a:extLst>
          </p:cNvPr>
          <p:cNvSpPr/>
          <p:nvPr/>
        </p:nvSpPr>
        <p:spPr>
          <a:xfrm>
            <a:off x="3360520" y="3820594"/>
            <a:ext cx="2344891" cy="5262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E4B6BA-A9BA-6D45-5BE1-3DDE439AEAF5}"/>
              </a:ext>
            </a:extLst>
          </p:cNvPr>
          <p:cNvGrpSpPr/>
          <p:nvPr/>
        </p:nvGrpSpPr>
        <p:grpSpPr>
          <a:xfrm>
            <a:off x="3343669" y="3939535"/>
            <a:ext cx="1197722" cy="338554"/>
            <a:chOff x="3128160" y="2647615"/>
            <a:chExt cx="1197722" cy="33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6205F9-6BE5-0A46-1D66-C86D7D310F84}"/>
                </a:ext>
              </a:extLst>
            </p:cNvPr>
            <p:cNvSpPr/>
            <p:nvPr/>
          </p:nvSpPr>
          <p:spPr>
            <a:xfrm>
              <a:off x="3161862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A7537C-419C-A181-9401-396BF1908F97}"/>
                </a:ext>
              </a:extLst>
            </p:cNvPr>
            <p:cNvSpPr txBox="1"/>
            <p:nvPr/>
          </p:nvSpPr>
          <p:spPr>
            <a:xfrm>
              <a:off x="3128160" y="2647615"/>
              <a:ext cx="651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ATG…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A53705-28E8-06B3-BB2C-89DDC10DB2C6}"/>
              </a:ext>
            </a:extLst>
          </p:cNvPr>
          <p:cNvGrpSpPr/>
          <p:nvPr/>
        </p:nvGrpSpPr>
        <p:grpSpPr>
          <a:xfrm>
            <a:off x="4541391" y="3939535"/>
            <a:ext cx="1223098" cy="338554"/>
            <a:chOff x="5129924" y="2647615"/>
            <a:chExt cx="1223098" cy="33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4DFDDC-657E-BD59-A079-349CA4324627}"/>
                </a:ext>
              </a:extLst>
            </p:cNvPr>
            <p:cNvSpPr/>
            <p:nvPr/>
          </p:nvSpPr>
          <p:spPr>
            <a:xfrm>
              <a:off x="5129924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2765A4-4699-F701-7262-FE2DD5B481A5}"/>
                </a:ext>
              </a:extLst>
            </p:cNvPr>
            <p:cNvSpPr txBox="1"/>
            <p:nvPr/>
          </p:nvSpPr>
          <p:spPr>
            <a:xfrm>
              <a:off x="5706691" y="2647615"/>
              <a:ext cx="6463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…TAA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6EB13B1-A9B1-10AB-5FDD-755D3901D431}"/>
              </a:ext>
            </a:extLst>
          </p:cNvPr>
          <p:cNvSpPr/>
          <p:nvPr/>
        </p:nvSpPr>
        <p:spPr>
          <a:xfrm>
            <a:off x="5706691" y="4010278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13BC6A-E143-0595-228F-E7DA6DD1FD23}"/>
              </a:ext>
            </a:extLst>
          </p:cNvPr>
          <p:cNvSpPr txBox="1"/>
          <p:nvPr/>
        </p:nvSpPr>
        <p:spPr>
          <a:xfrm>
            <a:off x="5649672" y="3939535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B965DA-D356-3633-4078-FA95EF69CFFF}"/>
              </a:ext>
            </a:extLst>
          </p:cNvPr>
          <p:cNvSpPr/>
          <p:nvPr/>
        </p:nvSpPr>
        <p:spPr>
          <a:xfrm>
            <a:off x="6293944" y="4010276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DAA8AB-C618-B806-1BF3-A378EEE8DB76}"/>
              </a:ext>
            </a:extLst>
          </p:cNvPr>
          <p:cNvSpPr txBox="1"/>
          <p:nvPr/>
        </p:nvSpPr>
        <p:spPr>
          <a:xfrm>
            <a:off x="6236925" y="3939533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</p:spTree>
    <p:extLst>
      <p:ext uri="{BB962C8B-B14F-4D97-AF65-F5344CB8AC3E}">
        <p14:creationId xmlns:p14="http://schemas.microsoft.com/office/powerpoint/2010/main" val="295632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7A86-9D53-ECE1-10F0-3DFA72F6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5614F-2141-D805-7003-E447624F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 is a locus on the genome containing one or more transcripts</a:t>
            </a:r>
          </a:p>
          <a:p>
            <a:r>
              <a:rPr lang="en-US" dirty="0"/>
              <a:t>Multiple transcripts per gene are possible due to </a:t>
            </a:r>
            <a:r>
              <a:rPr lang="en-US" i="1" dirty="0"/>
              <a:t>alternative splicing</a:t>
            </a:r>
            <a:endParaRPr lang="en-US" dirty="0"/>
          </a:p>
          <a:p>
            <a:r>
              <a:rPr lang="en-US" dirty="0"/>
              <a:t>Gene starts at the start of the leftmost transcript and ends at the end of the rightmost transcript.  All transcripts in a gene are on the </a:t>
            </a:r>
            <a:r>
              <a:rPr lang="en-US" i="1" dirty="0"/>
              <a:t>same strand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648B-9A0A-BF7A-73E5-3A45C198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0FF6B-7092-2220-A49C-FB2CBF82EEF9}"/>
              </a:ext>
            </a:extLst>
          </p:cNvPr>
          <p:cNvSpPr/>
          <p:nvPr/>
        </p:nvSpPr>
        <p:spPr>
          <a:xfrm>
            <a:off x="1853463" y="4860161"/>
            <a:ext cx="6739758" cy="1970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3F882-CBB7-98ED-2A11-9B4A1C0A0EAA}"/>
              </a:ext>
            </a:extLst>
          </p:cNvPr>
          <p:cNvSpPr/>
          <p:nvPr/>
        </p:nvSpPr>
        <p:spPr>
          <a:xfrm>
            <a:off x="2279130" y="4860161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322F0-D278-A807-962B-33999619E9EA}"/>
              </a:ext>
            </a:extLst>
          </p:cNvPr>
          <p:cNvSpPr/>
          <p:nvPr/>
        </p:nvSpPr>
        <p:spPr>
          <a:xfrm>
            <a:off x="4985545" y="4860160"/>
            <a:ext cx="1237746" cy="19706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AD7F41-2A7D-89B0-5263-F532AA26F130}"/>
              </a:ext>
            </a:extLst>
          </p:cNvPr>
          <p:cNvSpPr/>
          <p:nvPr/>
        </p:nvSpPr>
        <p:spPr>
          <a:xfrm>
            <a:off x="7624408" y="4860159"/>
            <a:ext cx="749969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6CB2C-2853-C10D-C9DE-68A5B198AEB9}"/>
              </a:ext>
            </a:extLst>
          </p:cNvPr>
          <p:cNvSpPr/>
          <p:nvPr/>
        </p:nvSpPr>
        <p:spPr>
          <a:xfrm>
            <a:off x="1853463" y="5416808"/>
            <a:ext cx="6739758" cy="1970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D661C-A63A-1FF2-29AC-5EEE8968E20A}"/>
              </a:ext>
            </a:extLst>
          </p:cNvPr>
          <p:cNvSpPr/>
          <p:nvPr/>
        </p:nvSpPr>
        <p:spPr>
          <a:xfrm>
            <a:off x="2279130" y="5416808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E20EC-28BF-6FDF-6F9B-DACECBC8AF3A}"/>
              </a:ext>
            </a:extLst>
          </p:cNvPr>
          <p:cNvSpPr/>
          <p:nvPr/>
        </p:nvSpPr>
        <p:spPr>
          <a:xfrm>
            <a:off x="7094621" y="5416806"/>
            <a:ext cx="1029102" cy="18563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exon4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9C2D2BE8-FFB2-BAE0-302A-2FB60D1AE5FC}"/>
              </a:ext>
            </a:extLst>
          </p:cNvPr>
          <p:cNvSpPr/>
          <p:nvPr/>
        </p:nvSpPr>
        <p:spPr>
          <a:xfrm rot="16200000">
            <a:off x="5137832" y="1456211"/>
            <a:ext cx="387068" cy="6104473"/>
          </a:xfrm>
          <a:prstGeom prst="righ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706F93-10B3-8526-0062-52EE5F7B81FA}"/>
              </a:ext>
            </a:extLst>
          </p:cNvPr>
          <p:cNvSpPr txBox="1"/>
          <p:nvPr/>
        </p:nvSpPr>
        <p:spPr>
          <a:xfrm>
            <a:off x="8806531" y="4774027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29772-870C-BD1A-034F-8F419F210D7F}"/>
              </a:ext>
            </a:extLst>
          </p:cNvPr>
          <p:cNvSpPr txBox="1"/>
          <p:nvPr/>
        </p:nvSpPr>
        <p:spPr>
          <a:xfrm>
            <a:off x="4985545" y="390119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49FE-F8C9-5860-97AF-C3552CCF0AB4}"/>
              </a:ext>
            </a:extLst>
          </p:cNvPr>
          <p:cNvSpPr txBox="1"/>
          <p:nvPr/>
        </p:nvSpPr>
        <p:spPr>
          <a:xfrm>
            <a:off x="8806531" y="5327666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7A1E7-C011-0C69-1103-2BE58041A543}"/>
              </a:ext>
            </a:extLst>
          </p:cNvPr>
          <p:cNvSpPr txBox="1"/>
          <p:nvPr/>
        </p:nvSpPr>
        <p:spPr>
          <a:xfrm>
            <a:off x="4147860" y="4561707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4172B1-9B65-35EF-97ED-D9FE9E848B59}"/>
              </a:ext>
            </a:extLst>
          </p:cNvPr>
          <p:cNvSpPr txBox="1"/>
          <p:nvPr/>
        </p:nvSpPr>
        <p:spPr>
          <a:xfrm>
            <a:off x="6475900" y="4575798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intron2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9F4B74-AB40-6101-F89C-30AFDBD85713}"/>
              </a:ext>
            </a:extLst>
          </p:cNvPr>
          <p:cNvSpPr txBox="1"/>
          <p:nvPr/>
        </p:nvSpPr>
        <p:spPr>
          <a:xfrm>
            <a:off x="5160205" y="5141133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intron3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2419F4-DFC7-B4F3-2768-C7300EB7FF26}"/>
              </a:ext>
            </a:extLst>
          </p:cNvPr>
          <p:cNvSpPr txBox="1"/>
          <p:nvPr/>
        </p:nvSpPr>
        <p:spPr>
          <a:xfrm>
            <a:off x="4119287" y="4780179"/>
            <a:ext cx="44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9C6854-D304-3E82-D5A3-38BF91300B9E}"/>
              </a:ext>
            </a:extLst>
          </p:cNvPr>
          <p:cNvSpPr txBox="1"/>
          <p:nvPr/>
        </p:nvSpPr>
        <p:spPr>
          <a:xfrm>
            <a:off x="7228331" y="4789078"/>
            <a:ext cx="46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C8003E-43D2-C2F6-E0E0-76FA1557C446}"/>
              </a:ext>
            </a:extLst>
          </p:cNvPr>
          <p:cNvSpPr txBox="1"/>
          <p:nvPr/>
        </p:nvSpPr>
        <p:spPr>
          <a:xfrm>
            <a:off x="4097119" y="5327666"/>
            <a:ext cx="44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3057D-9605-84BD-824F-D388112AAAE9}"/>
              </a:ext>
            </a:extLst>
          </p:cNvPr>
          <p:cNvSpPr txBox="1"/>
          <p:nvPr/>
        </p:nvSpPr>
        <p:spPr>
          <a:xfrm>
            <a:off x="6717303" y="5325799"/>
            <a:ext cx="46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2467A-3C15-E9D3-9411-24068AB9C379}"/>
              </a:ext>
            </a:extLst>
          </p:cNvPr>
          <p:cNvSpPr txBox="1"/>
          <p:nvPr/>
        </p:nvSpPr>
        <p:spPr>
          <a:xfrm>
            <a:off x="4616706" y="4786127"/>
            <a:ext cx="46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2C4AA2-405D-34FF-9183-08F4B5AD3F85}"/>
              </a:ext>
            </a:extLst>
          </p:cNvPr>
          <p:cNvSpPr txBox="1"/>
          <p:nvPr/>
        </p:nvSpPr>
        <p:spPr>
          <a:xfrm>
            <a:off x="6159295" y="4780179"/>
            <a:ext cx="44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</p:spTree>
    <p:extLst>
      <p:ext uri="{BB962C8B-B14F-4D97-AF65-F5344CB8AC3E}">
        <p14:creationId xmlns:p14="http://schemas.microsoft.com/office/powerpoint/2010/main" val="49425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/>
          <p:nvPr/>
        </p:nvSpPr>
        <p:spPr>
          <a:xfrm>
            <a:off x="180940" y="18979"/>
            <a:ext cx="6862916" cy="11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9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 defTabSz="410766" hangingPunct="0"/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G</a:t>
            </a:r>
            <a:r>
              <a:rPr lang="en-US"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FF/GTF</a:t>
            </a:r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 files provide a map for all known genome features</a:t>
            </a:r>
          </a:p>
        </p:txBody>
      </p:sp>
      <p:graphicFrame>
        <p:nvGraphicFramePr>
          <p:cNvPr id="358" name="Table 358"/>
          <p:cNvGraphicFramePr/>
          <p:nvPr/>
        </p:nvGraphicFramePr>
        <p:xfrm>
          <a:off x="303278" y="1547491"/>
          <a:ext cx="6147561" cy="3763018"/>
        </p:xfrm>
        <a:graphic>
          <a:graphicData uri="http://schemas.openxmlformats.org/drawingml/2006/table">
            <a:tbl>
              <a:tblPr firstRow="1" firstCol="1"/>
              <a:tblGrid>
                <a:gridCol w="99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err="1">
                          <a:sym typeface="Helvetica Neue Medium"/>
                        </a:rPr>
                        <a:t>Seqname</a:t>
                      </a:r>
                      <a:endParaRPr sz="1600">
                        <a:sym typeface="Helvetica Neue Medium"/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chromosome, scaffold or contig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Source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the datasource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Feature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Feature type (e.g. gene, exon, transcript, CDS, five_prime_UTR)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Start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Start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End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Empty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‘.’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Strand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Defined as + (forward) or - (reverse)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Frame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Either ‘0’, ‘1’, or ‘2’ - indicating reading frame by base position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Attribute</a:t>
                      </a: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A semicolon separated list of other info about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85234F3-B2E6-5841-AF5C-70B4F0B320BD}"/>
              </a:ext>
            </a:extLst>
          </p:cNvPr>
          <p:cNvSpPr/>
          <p:nvPr/>
        </p:nvSpPr>
        <p:spPr>
          <a:xfrm>
            <a:off x="304039" y="5383485"/>
            <a:ext cx="66819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GFF has many versions, but the two most popular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GTF2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(Gene Transfer Format):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2"/>
              </a:rPr>
              <a:t>https://mblab.wustl.edu/GTF2.html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GFF3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</a:t>
            </a:r>
            <a:r>
              <a:rPr lang="en-US" dirty="0"/>
              <a:t>Generic Feature Format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):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3"/>
              </a:rPr>
              <a:t>https://github.com/The-Sequence-Ontology/Specifications/blob/master/gff3.md</a:t>
            </a:r>
            <a:endParaRPr lang="en-US" dirty="0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086458E7-D221-7E7A-B73C-78B2F3AE85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6601340" y="1428890"/>
            <a:ext cx="7482545" cy="52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0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2" y="1690688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89CC-F401-9C7F-BE81-57FCE2113215}"/>
              </a:ext>
            </a:extLst>
          </p:cNvPr>
          <p:cNvSpPr txBox="1"/>
          <p:nvPr/>
        </p:nvSpPr>
        <p:spPr>
          <a:xfrm>
            <a:off x="1243584" y="2724912"/>
            <a:ext cx="693724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E6592B-A895-0274-FBE9-7791705A327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700016" y="2060020"/>
            <a:ext cx="12192" cy="66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244EA0-0956-D2AA-7CA8-9A33C6844948}"/>
              </a:ext>
            </a:extLst>
          </p:cNvPr>
          <p:cNvSpPr txBox="1"/>
          <p:nvPr/>
        </p:nvSpPr>
        <p:spPr>
          <a:xfrm>
            <a:off x="2816352" y="3419821"/>
            <a:ext cx="536448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8A096-7FB8-C20C-8676-197D29A15AAC}"/>
              </a:ext>
            </a:extLst>
          </p:cNvPr>
          <p:cNvSpPr txBox="1"/>
          <p:nvPr/>
        </p:nvSpPr>
        <p:spPr>
          <a:xfrm>
            <a:off x="4447032" y="2834860"/>
            <a:ext cx="58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0370C6CE-81CA-6CCD-65EE-69ADDAC38234}"/>
              </a:ext>
            </a:extLst>
          </p:cNvPr>
          <p:cNvSpPr/>
          <p:nvPr/>
        </p:nvSpPr>
        <p:spPr>
          <a:xfrm>
            <a:off x="170688" y="2909578"/>
            <a:ext cx="975360" cy="1963222"/>
          </a:xfrm>
          <a:prstGeom prst="curvedRightArrow">
            <a:avLst>
              <a:gd name="adj1" fmla="val 7218"/>
              <a:gd name="adj2" fmla="val 122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43584" y="4350256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218944" y="4350256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3182112" y="4350256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4700016" y="4350256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6047232" y="4350256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31392" y="5015148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206752" y="5015148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3169920" y="5015148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4687824" y="5015148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6047232" y="5015148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7266432" y="5015148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059936" y="5015148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CF03DF-1787-C9C4-3011-3A1E0B1F5466}"/>
              </a:ext>
            </a:extLst>
          </p:cNvPr>
          <p:cNvCxnSpPr>
            <a:cxnSpLocks/>
          </p:cNvCxnSpPr>
          <p:nvPr/>
        </p:nvCxnSpPr>
        <p:spPr>
          <a:xfrm flipV="1">
            <a:off x="4059936" y="5555552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072C10-6691-3471-5CFE-C3D2214AE3AA}"/>
              </a:ext>
            </a:extLst>
          </p:cNvPr>
          <p:cNvSpPr txBox="1"/>
          <p:nvPr/>
        </p:nvSpPr>
        <p:spPr>
          <a:xfrm>
            <a:off x="3380232" y="6000405"/>
            <a:ext cx="13594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 codon (ATG)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BAFE07-0244-24EF-14C3-2083ABAA9386}"/>
              </a:ext>
            </a:extLst>
          </p:cNvPr>
          <p:cNvCxnSpPr>
            <a:cxnSpLocks/>
          </p:cNvCxnSpPr>
          <p:nvPr/>
        </p:nvCxnSpPr>
        <p:spPr>
          <a:xfrm flipV="1">
            <a:off x="7266432" y="5530747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2C458D-7A2E-36C9-00EB-45D4A5F4735D}"/>
              </a:ext>
            </a:extLst>
          </p:cNvPr>
          <p:cNvSpPr txBox="1"/>
          <p:nvPr/>
        </p:nvSpPr>
        <p:spPr>
          <a:xfrm>
            <a:off x="6412991" y="5975600"/>
            <a:ext cx="174345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Stop codon (TAA,TAG,TGA)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C32671D-0127-95B6-D8BE-06B7F6D818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8519160" y="1540660"/>
            <a:ext cx="7482545" cy="49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3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898C-DA9B-EAF4-75E3-64DAF912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GTF vs GFF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856BE-53E0-3368-5EDE-53D04AED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5234F3-B2E6-5841-AF5C-70B4F0B32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88" y="1938111"/>
            <a:ext cx="1097280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There are many versions of GFF/GTF, the two most popular are: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GTF2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(Gene Transfer Format):</a:t>
            </a:r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2"/>
              </a:rPr>
              <a:t>http://mblab.wustl.edu/GTF22.html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GFF3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</a:t>
            </a:r>
            <a:r>
              <a:rPr lang="en-US" dirty="0"/>
              <a:t>Generic Feature Format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): </a:t>
            </a:r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3"/>
              </a:rPr>
              <a:t>https://github.com/The-Sequence-Ontology/Specifications/blob/master/gff3.md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24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9D4D-76D4-B95D-0362-00265900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5"/>
            <a:ext cx="5497380" cy="1076258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Similarities and differences between GTF and GFF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CE818-DBC3-BB26-4375-20EFAB6B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1F64A-5142-EDE7-A81E-5611FD2A6CCE}"/>
              </a:ext>
            </a:extLst>
          </p:cNvPr>
          <p:cNvSpPr/>
          <p:nvPr/>
        </p:nvSpPr>
        <p:spPr>
          <a:xfrm>
            <a:off x="138212" y="1450282"/>
            <a:ext cx="10767212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SIMILAR:</a:t>
            </a:r>
            <a:r>
              <a:rPr lang="en-US" sz="2000" dirty="0">
                <a:solidFill>
                  <a:srgbClr val="222222"/>
                </a:solidFill>
              </a:rPr>
              <a:t> 9 columns tab-separated; Attribute (9</a:t>
            </a:r>
            <a:r>
              <a:rPr lang="en-US" sz="2000" baseline="30000" dirty="0">
                <a:solidFill>
                  <a:srgbClr val="222222"/>
                </a:solidFill>
              </a:rPr>
              <a:t>th</a:t>
            </a:r>
            <a:r>
              <a:rPr lang="en-US" sz="2000" dirty="0">
                <a:solidFill>
                  <a:srgbClr val="222222"/>
                </a:solidFill>
              </a:rPr>
              <a:t> column) are semicolon-separated; coordinates are 1-based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GTF2 (Gene Transfer Format 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“Feature” must contain </a:t>
            </a:r>
            <a:r>
              <a:rPr lang="en-US" sz="2000" dirty="0"/>
              <a:t>"CDS", ”exon”, "</a:t>
            </a:r>
            <a:r>
              <a:rPr lang="en-US" sz="2000" dirty="0" err="1"/>
              <a:t>start_codon</a:t>
            </a:r>
            <a:r>
              <a:rPr lang="en-US" sz="2000" dirty="0"/>
              <a:t>", "</a:t>
            </a:r>
            <a:r>
              <a:rPr lang="en-US" sz="2000" dirty="0" err="1"/>
              <a:t>stop_codon</a:t>
            </a:r>
            <a:r>
              <a:rPr lang="en-US" sz="2000" dirty="0"/>
              <a:t>“; </a:t>
            </a:r>
            <a:br>
              <a:rPr lang="en-US" sz="2000" dirty="0"/>
            </a:br>
            <a:r>
              <a:rPr lang="en-US" sz="2000" dirty="0"/>
              <a:t>optional “5UTR”, “3UTR”, “transcript”</a:t>
            </a:r>
            <a:endParaRPr lang="en-US" sz="2000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Attributes must contain </a:t>
            </a:r>
            <a:r>
              <a:rPr lang="en-US" sz="2000" u="sng" dirty="0"/>
              <a:t>space-separated</a:t>
            </a:r>
            <a:r>
              <a:rPr lang="en-US" sz="2000" dirty="0"/>
              <a:t> </a:t>
            </a:r>
            <a:r>
              <a:rPr lang="en-US" sz="2000" i="1" dirty="0" err="1"/>
              <a:t>gene_id</a:t>
            </a:r>
            <a:r>
              <a:rPr lang="en-US" sz="2000" i="1" dirty="0"/>
              <a:t> “value”; </a:t>
            </a:r>
            <a:r>
              <a:rPr lang="en-US" sz="2000" i="1" dirty="0" err="1"/>
              <a:t>transcript_id</a:t>
            </a:r>
            <a:r>
              <a:rPr lang="en-US" sz="2000" i="1" dirty="0"/>
              <a:t> “value”; </a:t>
            </a:r>
            <a:r>
              <a:rPr lang="en-US" sz="2000" dirty="0"/>
              <a:t>separated by semicolons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GFF3 (</a:t>
            </a:r>
            <a:r>
              <a:rPr lang="en-US" sz="2400" dirty="0"/>
              <a:t>Generic Feature Format</a:t>
            </a:r>
            <a:r>
              <a:rPr lang="en-US" sz="2400" dirty="0">
                <a:solidFill>
                  <a:srgbClr val="222222"/>
                </a:solidFill>
              </a:rPr>
              <a:t>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Transcript typically has “mRNA” feature, feature list is not strict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Attributes must be </a:t>
            </a:r>
            <a:r>
              <a:rPr lang="en-US" sz="2000" u="sng" dirty="0"/>
              <a:t>“=“-separated</a:t>
            </a:r>
            <a:r>
              <a:rPr lang="en-US" sz="2000" dirty="0"/>
              <a:t> </a:t>
            </a:r>
            <a:r>
              <a:rPr lang="en-US" sz="2000" i="1" dirty="0"/>
              <a:t>tag=value; </a:t>
            </a:r>
            <a:r>
              <a:rPr lang="en-US" sz="2000" dirty="0"/>
              <a:t>separated by semicolons, any “=“ or “;” in the values must be escaped as %3D and %3B (hex value preceded by 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Tags: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ID – </a:t>
            </a:r>
            <a:r>
              <a:rPr lang="en-US" sz="2000" dirty="0"/>
              <a:t>required for features that have children, or those that span multiple lines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Name</a:t>
            </a:r>
            <a:r>
              <a:rPr lang="en-US" sz="2000" dirty="0"/>
              <a:t> – display 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Alias</a:t>
            </a:r>
            <a:r>
              <a:rPr lang="en-US" sz="2000" dirty="0"/>
              <a:t> – secondary 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Parent</a:t>
            </a:r>
            <a:r>
              <a:rPr lang="en-US" sz="2000" dirty="0"/>
              <a:t> – parent of a feature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Note – </a:t>
            </a:r>
            <a:r>
              <a:rPr lang="en-US" sz="2000" dirty="0"/>
              <a:t>free text note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5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87C8-0E18-8CC8-B114-A0EB8C54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GTF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F45D1-6AAC-463C-0B53-985ADA5E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9E45A9-228C-618E-71B0-73DE216A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7602"/>
            <a:ext cx="11789217" cy="425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9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1852-E410-6D6F-6185-71204B10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GFF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70456-2DA3-75E2-F6B5-93E94FB0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79774C-3F03-C22F-9DC4-F516D9C2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92866"/>
            <a:ext cx="10558272" cy="52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18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7E6E-1757-6F3D-58B0-79EE5538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Parsing GTF/GFF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9AAB6-BA30-7BA6-58A3-B800EBF20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136"/>
          </a:xfrm>
        </p:spPr>
        <p:txBody>
          <a:bodyPr/>
          <a:lstStyle/>
          <a:p>
            <a:r>
              <a:rPr lang="en-US" dirty="0"/>
              <a:t>Split by ‘\t’ (tab)</a:t>
            </a:r>
          </a:p>
          <a:p>
            <a:r>
              <a:rPr lang="en-US" dirty="0"/>
              <a:t>GTF attributes field[8]: use pattern matching to extract values:</a:t>
            </a:r>
          </a:p>
          <a:p>
            <a:pPr lvl="1"/>
            <a:r>
              <a:rPr lang="en-US" dirty="0"/>
              <a:t>Values are: tag "value"; space separated</a:t>
            </a:r>
          </a:p>
          <a:p>
            <a:pPr lvl="1"/>
            <a:r>
              <a:rPr lang="en-US" dirty="0"/>
              <a:t>Perl: =~ /</a:t>
            </a:r>
            <a:r>
              <a:rPr lang="en-US" dirty="0" err="1"/>
              <a:t>transcript_id</a:t>
            </a:r>
            <a:r>
              <a:rPr lang="en-US" dirty="0"/>
              <a:t> "(\S+)";/</a:t>
            </a:r>
          </a:p>
          <a:p>
            <a:pPr lvl="1"/>
            <a:r>
              <a:rPr lang="en-US" dirty="0"/>
              <a:t>Python: </a:t>
            </a:r>
            <a:r>
              <a:rPr lang="en-US" dirty="0" err="1"/>
              <a:t>re.search</a:t>
            </a:r>
            <a:r>
              <a:rPr lang="en-US" dirty="0"/>
              <a:t>(</a:t>
            </a:r>
            <a:r>
              <a:rPr lang="en-US" dirty="0" err="1"/>
              <a:t>r'transcript_id</a:t>
            </a:r>
            <a:r>
              <a:rPr lang="en-US" dirty="0"/>
              <a:t>\s+"([^"]+)"', line)</a:t>
            </a:r>
          </a:p>
          <a:p>
            <a:r>
              <a:rPr lang="en-US" dirty="0"/>
              <a:t>GFF attributes field[8]: have to split</a:t>
            </a:r>
          </a:p>
          <a:p>
            <a:pPr lvl="1"/>
            <a:r>
              <a:rPr lang="en-US" dirty="0"/>
              <a:t>Values are: tag=value;  no spaces no ";" or "=" in values or tags</a:t>
            </a:r>
          </a:p>
          <a:p>
            <a:pPr lvl="1"/>
            <a:r>
              <a:rPr lang="en-US" dirty="0"/>
              <a:t>Split at ";", then split </a:t>
            </a:r>
            <a:r>
              <a:rPr lang="en-US"/>
              <a:t>at "="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B3027-79B9-FB80-83E5-8AD54344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6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7CB8-792C-495A-4E48-231193AB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GTF/GFF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AF043-6EB6-EA6E-DE6F-6C0B632B4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Frame is field 8</a:t>
            </a:r>
          </a:p>
          <a:p>
            <a:r>
              <a:rPr lang="en-US" dirty="0"/>
              <a:t>Only used for CDS records</a:t>
            </a:r>
          </a:p>
          <a:p>
            <a:r>
              <a:rPr lang="en-US" dirty="0"/>
              <a:t>Values: </a:t>
            </a:r>
          </a:p>
          <a:p>
            <a:pPr lvl="1"/>
            <a:r>
              <a:rPr lang="en-US" dirty="0"/>
              <a:t>0 means that the </a:t>
            </a:r>
            <a:r>
              <a:rPr lang="en-US" u="sng" dirty="0"/>
              <a:t>first</a:t>
            </a:r>
            <a:r>
              <a:rPr lang="en-US" dirty="0"/>
              <a:t> base of the feature is the </a:t>
            </a:r>
            <a:r>
              <a:rPr lang="en-US" u="sng" dirty="0"/>
              <a:t>first</a:t>
            </a:r>
            <a:r>
              <a:rPr lang="en-US" dirty="0"/>
              <a:t> base of a codon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1 means that the </a:t>
            </a:r>
            <a:r>
              <a:rPr lang="en-US" u="sng" dirty="0"/>
              <a:t>second</a:t>
            </a:r>
            <a:r>
              <a:rPr lang="en-US" dirty="0"/>
              <a:t> base is the </a:t>
            </a:r>
            <a:r>
              <a:rPr lang="en-US" u="sng" dirty="0"/>
              <a:t>first</a:t>
            </a:r>
            <a:r>
              <a:rPr lang="en-US" dirty="0"/>
              <a:t> base of a codon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2 means that the </a:t>
            </a:r>
            <a:r>
              <a:rPr lang="en-US" u="sng" dirty="0"/>
              <a:t>third</a:t>
            </a:r>
            <a:r>
              <a:rPr lang="en-US" dirty="0"/>
              <a:t> base is the </a:t>
            </a:r>
            <a:r>
              <a:rPr lang="en-US" u="sng" dirty="0"/>
              <a:t>first</a:t>
            </a:r>
            <a:r>
              <a:rPr lang="en-US" dirty="0"/>
              <a:t> base of a codon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1FE4C-F5EF-84D8-B7BF-1D3EF406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D6F9D-D826-5287-C17A-0DD530E6B56C}"/>
              </a:ext>
            </a:extLst>
          </p:cNvPr>
          <p:cNvSpPr txBox="1"/>
          <p:nvPr/>
        </p:nvSpPr>
        <p:spPr>
          <a:xfrm>
            <a:off x="1559994" y="3429000"/>
            <a:ext cx="484080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GCGAGGACT…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EED0C2-4504-51DA-7114-84D8705FB018}"/>
              </a:ext>
            </a:extLst>
          </p:cNvPr>
          <p:cNvCxnSpPr/>
          <p:nvPr/>
        </p:nvCxnSpPr>
        <p:spPr>
          <a:xfrm>
            <a:off x="2068286" y="3497943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20C4CE-5C16-4704-BF41-48C7790607EC}"/>
              </a:ext>
            </a:extLst>
          </p:cNvPr>
          <p:cNvCxnSpPr/>
          <p:nvPr/>
        </p:nvCxnSpPr>
        <p:spPr>
          <a:xfrm>
            <a:off x="2489201" y="3497943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9EC49B-BBB0-EF30-5993-2C27583C05B6}"/>
              </a:ext>
            </a:extLst>
          </p:cNvPr>
          <p:cNvSpPr txBox="1"/>
          <p:nvPr/>
        </p:nvSpPr>
        <p:spPr>
          <a:xfrm>
            <a:off x="1559994" y="4472171"/>
            <a:ext cx="484080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AGCGAGGACT…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FA9189-C0C5-E030-C9D5-B2FF90C6A41B}"/>
              </a:ext>
            </a:extLst>
          </p:cNvPr>
          <p:cNvCxnSpPr/>
          <p:nvPr/>
        </p:nvCxnSpPr>
        <p:spPr>
          <a:xfrm>
            <a:off x="1792514" y="4541114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9A5CF-947A-415D-291C-2FFC8F6C6286}"/>
              </a:ext>
            </a:extLst>
          </p:cNvPr>
          <p:cNvCxnSpPr/>
          <p:nvPr/>
        </p:nvCxnSpPr>
        <p:spPr>
          <a:xfrm>
            <a:off x="2206173" y="4541114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A9E1C6-7842-7730-4777-8E9E3C8917E6}"/>
              </a:ext>
            </a:extLst>
          </p:cNvPr>
          <p:cNvCxnSpPr/>
          <p:nvPr/>
        </p:nvCxnSpPr>
        <p:spPr>
          <a:xfrm>
            <a:off x="2619830" y="4541114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946A67-AE54-92DE-759B-5559E8467971}"/>
              </a:ext>
            </a:extLst>
          </p:cNvPr>
          <p:cNvSpPr txBox="1"/>
          <p:nvPr/>
        </p:nvSpPr>
        <p:spPr>
          <a:xfrm>
            <a:off x="1559994" y="5364758"/>
            <a:ext cx="484080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TAGCGAGGACT…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32FCC-FB66-76EE-FA64-184AB54CD2E7}"/>
              </a:ext>
            </a:extLst>
          </p:cNvPr>
          <p:cNvCxnSpPr/>
          <p:nvPr/>
        </p:nvCxnSpPr>
        <p:spPr>
          <a:xfrm>
            <a:off x="1894114" y="5433701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645944-CD4A-75EC-6697-2B26ABCF5A77}"/>
              </a:ext>
            </a:extLst>
          </p:cNvPr>
          <p:cNvCxnSpPr/>
          <p:nvPr/>
        </p:nvCxnSpPr>
        <p:spPr>
          <a:xfrm>
            <a:off x="2293259" y="5433701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92990C-281C-A25E-A347-058AAEB67EB8}"/>
              </a:ext>
            </a:extLst>
          </p:cNvPr>
          <p:cNvCxnSpPr/>
          <p:nvPr/>
        </p:nvCxnSpPr>
        <p:spPr>
          <a:xfrm>
            <a:off x="2714172" y="5433701"/>
            <a:ext cx="0" cy="232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7E790C3-57B4-40FB-A4E3-D32D1DEA0A8F}"/>
              </a:ext>
            </a:extLst>
          </p:cNvPr>
          <p:cNvSpPr/>
          <p:nvPr/>
        </p:nvSpPr>
        <p:spPr>
          <a:xfrm>
            <a:off x="6400799" y="1902109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F6870B-9395-45E5-99D6-F94CF6B54705}"/>
              </a:ext>
            </a:extLst>
          </p:cNvPr>
          <p:cNvSpPr txBox="1"/>
          <p:nvPr/>
        </p:nvSpPr>
        <p:spPr>
          <a:xfrm>
            <a:off x="6408545" y="183525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5’ UTR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BD65C-33D9-4D64-9363-C61D7DAA9DF2}"/>
              </a:ext>
            </a:extLst>
          </p:cNvPr>
          <p:cNvSpPr/>
          <p:nvPr/>
        </p:nvSpPr>
        <p:spPr>
          <a:xfrm>
            <a:off x="7138232" y="1716317"/>
            <a:ext cx="2344891" cy="5262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9A87BF-1F91-42E7-A4E3-212A45B94C44}"/>
              </a:ext>
            </a:extLst>
          </p:cNvPr>
          <p:cNvGrpSpPr/>
          <p:nvPr/>
        </p:nvGrpSpPr>
        <p:grpSpPr>
          <a:xfrm>
            <a:off x="7121380" y="1835258"/>
            <a:ext cx="1302053" cy="338554"/>
            <a:chOff x="3128159" y="2647615"/>
            <a:chExt cx="1302053" cy="33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AC46E3-7CB5-4A0B-AF3A-D294D47BA0DB}"/>
                </a:ext>
              </a:extLst>
            </p:cNvPr>
            <p:cNvSpPr/>
            <p:nvPr/>
          </p:nvSpPr>
          <p:spPr>
            <a:xfrm>
              <a:off x="3161862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2DA397-7252-4919-933D-6D426C00182E}"/>
                </a:ext>
              </a:extLst>
            </p:cNvPr>
            <p:cNvSpPr txBox="1"/>
            <p:nvPr/>
          </p:nvSpPr>
          <p:spPr>
            <a:xfrm>
              <a:off x="3128159" y="2647615"/>
              <a:ext cx="13020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ATG…        AG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7F542A9-6ED4-48EF-B3B9-0E0D95163009}"/>
              </a:ext>
            </a:extLst>
          </p:cNvPr>
          <p:cNvGrpSpPr/>
          <p:nvPr/>
        </p:nvGrpSpPr>
        <p:grpSpPr>
          <a:xfrm>
            <a:off x="8238653" y="1835258"/>
            <a:ext cx="1303549" cy="338554"/>
            <a:chOff x="5049474" y="2647615"/>
            <a:chExt cx="1303549" cy="33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9EE3ED-8D38-493F-B360-D24E51A2E1C3}"/>
                </a:ext>
              </a:extLst>
            </p:cNvPr>
            <p:cNvSpPr/>
            <p:nvPr/>
          </p:nvSpPr>
          <p:spPr>
            <a:xfrm>
              <a:off x="5129924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67DF11-FCDE-4E38-A2BB-34174B571FCF}"/>
                </a:ext>
              </a:extLst>
            </p:cNvPr>
            <p:cNvSpPr txBox="1"/>
            <p:nvPr/>
          </p:nvSpPr>
          <p:spPr>
            <a:xfrm>
              <a:off x="5049474" y="2647615"/>
              <a:ext cx="13035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G           …TAA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199E8F2-F779-4331-954C-D7C778126627}"/>
              </a:ext>
            </a:extLst>
          </p:cNvPr>
          <p:cNvSpPr/>
          <p:nvPr/>
        </p:nvSpPr>
        <p:spPr>
          <a:xfrm>
            <a:off x="9484403" y="1906001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197471-3402-49D8-97C4-1F3D7BC8DCBB}"/>
              </a:ext>
            </a:extLst>
          </p:cNvPr>
          <p:cNvSpPr txBox="1"/>
          <p:nvPr/>
        </p:nvSpPr>
        <p:spPr>
          <a:xfrm>
            <a:off x="9427384" y="1835258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98C640-12D5-463D-B464-35852C361808}"/>
              </a:ext>
            </a:extLst>
          </p:cNvPr>
          <p:cNvSpPr/>
          <p:nvPr/>
        </p:nvSpPr>
        <p:spPr>
          <a:xfrm>
            <a:off x="10071656" y="1905999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644A1E-63E5-456B-8403-729AB87DE1B7}"/>
              </a:ext>
            </a:extLst>
          </p:cNvPr>
          <p:cNvSpPr txBox="1"/>
          <p:nvPr/>
        </p:nvSpPr>
        <p:spPr>
          <a:xfrm>
            <a:off x="10014637" y="183525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</p:spTree>
    <p:extLst>
      <p:ext uri="{BB962C8B-B14F-4D97-AF65-F5344CB8AC3E}">
        <p14:creationId xmlns:p14="http://schemas.microsoft.com/office/powerpoint/2010/main" val="117143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B1D4-055D-57FF-35F8-0EA592F3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transcripts are obtained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4D15-E297-1A1E-B9ED-FD9A0E742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Two methods</a:t>
            </a:r>
          </a:p>
          <a:p>
            <a:pPr lvl="1"/>
            <a:r>
              <a:rPr lang="en-US" dirty="0"/>
              <a:t>Ribosome depletion (</a:t>
            </a:r>
            <a:r>
              <a:rPr lang="en-US" dirty="0" err="1"/>
              <a:t>ribo</a:t>
            </a:r>
            <a:r>
              <a:rPr lang="en-US" dirty="0"/>
              <a:t>-zero)</a:t>
            </a:r>
          </a:p>
          <a:p>
            <a:pPr lvl="1"/>
            <a:r>
              <a:rPr lang="en-US" dirty="0"/>
              <a:t>Poly-A capture</a:t>
            </a:r>
          </a:p>
          <a:p>
            <a:pPr lvl="1"/>
            <a:endParaRPr lang="en-US" dirty="0"/>
          </a:p>
          <a:p>
            <a:r>
              <a:rPr lang="en-US" dirty="0"/>
              <a:t>Dominant method is Poly-A capture (EST, RNA-Seq, Iso-Seq, ONT sequencing)</a:t>
            </a:r>
          </a:p>
          <a:p>
            <a:pPr lvl="1"/>
            <a:r>
              <a:rPr lang="en-US" dirty="0"/>
              <a:t>Reads mature transcripts with introns spliced out</a:t>
            </a:r>
          </a:p>
          <a:p>
            <a:pPr lvl="1"/>
            <a:r>
              <a:rPr lang="en-US" dirty="0"/>
              <a:t>Requires fresh good quality RNA</a:t>
            </a:r>
          </a:p>
          <a:p>
            <a:pPr lvl="1"/>
            <a:r>
              <a:rPr lang="en-US" dirty="0"/>
              <a:t>Good for transcriptome assembly</a:t>
            </a:r>
          </a:p>
          <a:p>
            <a:pPr lvl="1"/>
            <a:endParaRPr lang="en-US" dirty="0"/>
          </a:p>
          <a:p>
            <a:r>
              <a:rPr lang="en-US" dirty="0" err="1"/>
              <a:t>Ribo</a:t>
            </a:r>
            <a:r>
              <a:rPr lang="en-US" dirty="0"/>
              <a:t>-zero can be used for degraded RNA</a:t>
            </a:r>
          </a:p>
          <a:p>
            <a:pPr lvl="1"/>
            <a:r>
              <a:rPr lang="en-US" dirty="0"/>
              <a:t>Maybe OK for quantification</a:t>
            </a:r>
          </a:p>
          <a:p>
            <a:pPr lvl="1"/>
            <a:r>
              <a:rPr lang="en-US" dirty="0"/>
              <a:t>Bad for transcriptome assembly</a:t>
            </a:r>
          </a:p>
        </p:txBody>
      </p:sp>
    </p:spTree>
    <p:extLst>
      <p:ext uri="{BB962C8B-B14F-4D97-AF65-F5344CB8AC3E}">
        <p14:creationId xmlns:p14="http://schemas.microsoft.com/office/powerpoint/2010/main" val="208986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3DDAED0-8501-493D-AF69-64959C122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116" y="952070"/>
            <a:ext cx="4004553" cy="590593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BE408-4F08-4410-888C-35B18B87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1AFB5-CD11-684F-BCC6-06E220628C5A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1BA0638B-F30B-4432-95FE-A31529CF2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80452"/>
            <a:ext cx="8183117" cy="5849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85B2A9-BE68-4E8C-95C8-688C2393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7344916" cy="920127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Short read Illumina RNA-seq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D3350-B517-4C89-B083-7A035F477302}"/>
              </a:ext>
            </a:extLst>
          </p:cNvPr>
          <p:cNvSpPr txBox="1"/>
          <p:nvPr/>
        </p:nvSpPr>
        <p:spPr>
          <a:xfrm>
            <a:off x="533696" y="6356350"/>
            <a:ext cx="7115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and Logsdon GA, </a:t>
            </a:r>
            <a:r>
              <a:rPr lang="en-US" sz="1400" dirty="0" err="1"/>
              <a:t>Vollger</a:t>
            </a:r>
            <a:r>
              <a:rPr lang="en-US" sz="1400" dirty="0"/>
              <a:t> MR, Eichler EE. Long-read human genome sequencing and its applications. Nature Reviews Genetics. 2020 Oct;21(10):597-614.</a:t>
            </a:r>
          </a:p>
        </p:txBody>
      </p:sp>
    </p:spTree>
    <p:extLst>
      <p:ext uri="{BB962C8B-B14F-4D97-AF65-F5344CB8AC3E}">
        <p14:creationId xmlns:p14="http://schemas.microsoft.com/office/powerpoint/2010/main" val="285272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0B78-50A1-CB69-AE55-1559BE8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Long read RNA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0602A-91D5-A16E-E6CE-22ACC5949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/>
          <a:lstStyle/>
          <a:p>
            <a:r>
              <a:rPr lang="en-US" dirty="0"/>
              <a:t>Long read technologies can capture entire transcripts</a:t>
            </a:r>
          </a:p>
          <a:p>
            <a:r>
              <a:rPr lang="en-US" dirty="0"/>
              <a:t>They work well for transcript assembly and quantification</a:t>
            </a:r>
          </a:p>
          <a:p>
            <a:r>
              <a:rPr lang="en-US" dirty="0"/>
              <a:t>PacBio “IsoSeq” or “</a:t>
            </a:r>
            <a:r>
              <a:rPr lang="en-US" dirty="0" err="1"/>
              <a:t>Kinnex</a:t>
            </a:r>
            <a:r>
              <a:rPr lang="en-US" dirty="0"/>
              <a:t>” protocols</a:t>
            </a:r>
          </a:p>
          <a:p>
            <a:pPr lvl="1"/>
            <a:r>
              <a:rPr lang="en-US" dirty="0" err="1"/>
              <a:t>Kinnex</a:t>
            </a:r>
            <a:r>
              <a:rPr lang="en-US" dirty="0"/>
              <a:t> provides comparable cost per GB (~$10) compared to Illumina RNA-seq</a:t>
            </a:r>
          </a:p>
          <a:p>
            <a:pPr lvl="1"/>
            <a:r>
              <a:rPr lang="en-US" dirty="0">
                <a:hlinkClick r:id="rId2" tooltip="Share link"/>
              </a:rPr>
              <a:t>https://youtu.be/NICUp8C6rms</a:t>
            </a:r>
            <a:endParaRPr lang="en-US" dirty="0"/>
          </a:p>
          <a:p>
            <a:r>
              <a:rPr lang="en-US" dirty="0"/>
              <a:t>Oxford Nanopore cDNA or direct RNA sequencing</a:t>
            </a:r>
          </a:p>
          <a:p>
            <a:pPr lvl="1"/>
            <a:r>
              <a:rPr lang="en-US" dirty="0"/>
              <a:t>Still high error rates (5-7%)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793DB-B159-E435-7320-EBDA3106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2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FF03-1C74-268A-5AF8-8C9C0B21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Uses of transcriptome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446B-93CC-11C9-E2C5-1BA68F9F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Transcript </a:t>
            </a:r>
            <a:r>
              <a:rPr lang="en-US" u="sng" dirty="0"/>
              <a:t>assembly</a:t>
            </a:r>
          </a:p>
          <a:p>
            <a:pPr lvl="1"/>
            <a:r>
              <a:rPr lang="en-US" dirty="0"/>
              <a:t>Can help figure out which genome sequences are transcribed, locate exons/introns</a:t>
            </a:r>
          </a:p>
          <a:p>
            <a:pPr lvl="1"/>
            <a:r>
              <a:rPr lang="en-US" dirty="0"/>
              <a:t>Use transcripts for genome annotation</a:t>
            </a:r>
          </a:p>
          <a:p>
            <a:r>
              <a:rPr lang="en-US" dirty="0"/>
              <a:t>Transcript </a:t>
            </a:r>
            <a:r>
              <a:rPr lang="en-US" u="sng" dirty="0"/>
              <a:t>quantification</a:t>
            </a:r>
          </a:p>
          <a:p>
            <a:pPr lvl="1"/>
            <a:r>
              <a:rPr lang="en-US" dirty="0"/>
              <a:t>Figure out which transcripts are expressed</a:t>
            </a:r>
          </a:p>
          <a:p>
            <a:pPr lvl="1"/>
            <a:r>
              <a:rPr lang="en-US" dirty="0"/>
              <a:t>Could be very different in different tissues, under different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2B01E-96D2-B659-340E-1939EEB5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91F8-69F6-43F3-E982-879D1E51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Transcriptome 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D4ADE-4A7A-707D-9291-F8A7CB3E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8C1109E-9899-10B8-DBBD-9B935B5FF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732" y="1389681"/>
            <a:ext cx="6324601" cy="4922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29019B-DB26-8FE2-584B-B3734B3262F0}"/>
              </a:ext>
            </a:extLst>
          </p:cNvPr>
          <p:cNvSpPr txBox="1"/>
          <p:nvPr/>
        </p:nvSpPr>
        <p:spPr>
          <a:xfrm>
            <a:off x="3057295" y="6563172"/>
            <a:ext cx="4740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Figure from: Haas, B. J. &amp; Zody, M. C. Nature Biotech. 28, 421–423 (2010)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18A04-2809-2A60-BF7F-854F5018142C}"/>
              </a:ext>
            </a:extLst>
          </p:cNvPr>
          <p:cNvSpPr txBox="1"/>
          <p:nvPr/>
        </p:nvSpPr>
        <p:spPr>
          <a:xfrm>
            <a:off x="9546265" y="5275609"/>
            <a:ext cx="138486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Stored in a </a:t>
            </a:r>
          </a:p>
          <a:p>
            <a:r>
              <a:rPr lang="en-US"/>
              <a:t>GFF/GTF file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07ABC69E-385C-C683-848A-BFD054ABD5E3}"/>
              </a:ext>
            </a:extLst>
          </p:cNvPr>
          <p:cNvSpPr/>
          <p:nvPr/>
        </p:nvSpPr>
        <p:spPr>
          <a:xfrm>
            <a:off x="1517027" y="5234015"/>
            <a:ext cx="7820809" cy="77704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1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893F-B60E-D546-753D-48778A59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De novo </a:t>
            </a:r>
            <a:r>
              <a:rPr lang="en-US" dirty="0"/>
              <a:t>transcript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449F-55B1-194F-4F6F-2C3A0E95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Similar to genome (contig) assembly</a:t>
            </a:r>
          </a:p>
          <a:p>
            <a:r>
              <a:rPr lang="en-US" dirty="0"/>
              <a:t>Obstacles:</a:t>
            </a:r>
          </a:p>
          <a:p>
            <a:pPr lvl="1"/>
            <a:r>
              <a:rPr lang="en-US" dirty="0"/>
              <a:t>Highly uneven coverage of different transcripts and along a transcript</a:t>
            </a:r>
          </a:p>
          <a:p>
            <a:pPr lvl="1"/>
            <a:r>
              <a:rPr lang="en-US" dirty="0"/>
              <a:t>Gaps in transcript coverage and repeats?</a:t>
            </a:r>
          </a:p>
          <a:p>
            <a:pPr lvl="1"/>
            <a:r>
              <a:rPr lang="en-US" dirty="0"/>
              <a:t>We do not know where the splice sites are!</a:t>
            </a:r>
          </a:p>
          <a:p>
            <a:pPr lvl="1"/>
            <a:r>
              <a:rPr lang="en-US" dirty="0"/>
              <a:t>Alternative splicing: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 do not recommend doing this unless there is no genome available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BA3F9-AE35-5818-38B3-F95086B7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37B3B2-E2F1-3A7E-4591-1CDE65AEDA6B}"/>
              </a:ext>
            </a:extLst>
          </p:cNvPr>
          <p:cNvCxnSpPr>
            <a:cxnSpLocks/>
          </p:cNvCxnSpPr>
          <p:nvPr/>
        </p:nvCxnSpPr>
        <p:spPr>
          <a:xfrm>
            <a:off x="1747164" y="5014376"/>
            <a:ext cx="124629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C0A8C3-D7EC-C3F6-A5AA-394FFC4BB0D7}"/>
              </a:ext>
            </a:extLst>
          </p:cNvPr>
          <p:cNvCxnSpPr>
            <a:cxnSpLocks/>
          </p:cNvCxnSpPr>
          <p:nvPr/>
        </p:nvCxnSpPr>
        <p:spPr>
          <a:xfrm>
            <a:off x="3205213" y="5014376"/>
            <a:ext cx="150777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C72EE9-D004-ACB2-F4E2-4D3776FFD209}"/>
              </a:ext>
            </a:extLst>
          </p:cNvPr>
          <p:cNvCxnSpPr>
            <a:cxnSpLocks/>
          </p:cNvCxnSpPr>
          <p:nvPr/>
        </p:nvCxnSpPr>
        <p:spPr>
          <a:xfrm>
            <a:off x="6136285" y="5014376"/>
            <a:ext cx="150777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D9576E-A089-A7C6-0247-F290EEB202F7}"/>
              </a:ext>
            </a:extLst>
          </p:cNvPr>
          <p:cNvCxnSpPr>
            <a:cxnSpLocks/>
          </p:cNvCxnSpPr>
          <p:nvPr/>
        </p:nvCxnSpPr>
        <p:spPr>
          <a:xfrm>
            <a:off x="6136285" y="5515343"/>
            <a:ext cx="8227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06A51C-9A89-8968-4BAA-5C073CEA1306}"/>
              </a:ext>
            </a:extLst>
          </p:cNvPr>
          <p:cNvCxnSpPr>
            <a:cxnSpLocks/>
          </p:cNvCxnSpPr>
          <p:nvPr/>
        </p:nvCxnSpPr>
        <p:spPr>
          <a:xfrm>
            <a:off x="2223436" y="5515343"/>
            <a:ext cx="1466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178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A78E-161B-CC00-3A02-C46DD56B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6F1A-3AD4-F1D6-23AA-4E40051D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De novo </a:t>
            </a:r>
            <a:r>
              <a:rPr lang="en-US" dirty="0"/>
              <a:t>transcript assemblers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74AFB-743C-34D0-7003-B525A782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4658A0-7C99-A7ED-FDC2-66F83C0A4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2" y="1138425"/>
            <a:ext cx="5480005" cy="2983368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A321FFA-837B-8ECC-96C1-FBC2B6207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Short-read: Trinity, based on </a:t>
            </a:r>
            <a:r>
              <a:rPr lang="en-US" dirty="0" err="1"/>
              <a:t>DeBruijn</a:t>
            </a:r>
            <a:r>
              <a:rPr lang="en-US" dirty="0"/>
              <a:t> graph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6EF7A9-B4C1-D186-93E8-87644A7C0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9" y="2038993"/>
            <a:ext cx="4263091" cy="476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78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E075-24C5-FDF6-048C-28555E41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1D83-BCD3-890A-F67E-EB7F2C67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De novo </a:t>
            </a:r>
            <a:r>
              <a:rPr lang="en-US" dirty="0"/>
              <a:t>transcript assemblers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0544-CFE1-9ECF-AD01-B8CB5F6E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36EF185-5E64-D4CB-8891-C65E4FC3D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read: RNA-Bloom2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DE2275-1C32-5F13-66B5-2D5E8461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629" y="1596540"/>
            <a:ext cx="4761527" cy="2316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6D7578-5F8A-67F7-E3B9-7D89647F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79422"/>
            <a:ext cx="5762092" cy="42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36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AE29-4A2D-B3A0-D4EA-CE07B6AE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Spliced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D1E1-6FBD-1E46-1494-5F1DF6B2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012934"/>
          </a:xfrm>
        </p:spPr>
        <p:txBody>
          <a:bodyPr/>
          <a:lstStyle/>
          <a:p>
            <a:r>
              <a:rPr lang="en-US" dirty="0"/>
              <a:t>We can (more reliably) find transcripts on the genome by spliced alignment of transcriptome reads</a:t>
            </a:r>
          </a:p>
          <a:p>
            <a:r>
              <a:rPr lang="en-US" dirty="0"/>
              <a:t>Spliced alignment is gapped alignment with specific sequence patterns around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7867D-EB0C-6360-7F8B-53D714A0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AE7A6B-B335-D8E2-F1EA-CA0F191C456B}"/>
              </a:ext>
            </a:extLst>
          </p:cNvPr>
          <p:cNvCxnSpPr/>
          <p:nvPr/>
        </p:nvCxnSpPr>
        <p:spPr>
          <a:xfrm>
            <a:off x="2767442" y="3709390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6B6CB3-BC49-DDDF-D46B-75CF4C680FC5}"/>
              </a:ext>
            </a:extLst>
          </p:cNvPr>
          <p:cNvSpPr txBox="1"/>
          <p:nvPr/>
        </p:nvSpPr>
        <p:spPr>
          <a:xfrm>
            <a:off x="3941724" y="3250405"/>
            <a:ext cx="200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Transcriptome 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8F98F-0850-AC4D-748D-3422888C8A03}"/>
              </a:ext>
            </a:extLst>
          </p:cNvPr>
          <p:cNvSpPr txBox="1"/>
          <p:nvPr/>
        </p:nvSpPr>
        <p:spPr>
          <a:xfrm>
            <a:off x="248583" y="453965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7241136-0273-09BE-CD1F-962D8DB28C97}"/>
              </a:ext>
            </a:extLst>
          </p:cNvPr>
          <p:cNvSpPr/>
          <p:nvPr/>
        </p:nvSpPr>
        <p:spPr>
          <a:xfrm>
            <a:off x="1804915" y="3709357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91E84084-0767-93D2-7479-AA019C88EEA7}"/>
              </a:ext>
            </a:extLst>
          </p:cNvPr>
          <p:cNvSpPr/>
          <p:nvPr/>
        </p:nvSpPr>
        <p:spPr>
          <a:xfrm flipH="1">
            <a:off x="4730992" y="3709324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3E2B2-0B82-D800-5474-D4212DD843C9}"/>
              </a:ext>
            </a:extLst>
          </p:cNvPr>
          <p:cNvSpPr txBox="1"/>
          <p:nvPr/>
        </p:nvSpPr>
        <p:spPr>
          <a:xfrm>
            <a:off x="1660370" y="4554743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GT                          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5DF2A2-E39B-D51D-25E9-FA0CC154F284}"/>
              </a:ext>
            </a:extLst>
          </p:cNvPr>
          <p:cNvSpPr txBox="1"/>
          <p:nvPr/>
        </p:nvSpPr>
        <p:spPr>
          <a:xfrm>
            <a:off x="1804915" y="4554743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A23BC-6666-6288-15FE-1EFA8C91BD1C}"/>
              </a:ext>
            </a:extLst>
          </p:cNvPr>
          <p:cNvSpPr txBox="1"/>
          <p:nvPr/>
        </p:nvSpPr>
        <p:spPr>
          <a:xfrm>
            <a:off x="5711462" y="4554743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AE3FE0-F43E-B799-B2F9-4DD4440F8CF0}"/>
              </a:ext>
            </a:extLst>
          </p:cNvPr>
          <p:cNvSpPr txBox="1"/>
          <p:nvPr/>
        </p:nvSpPr>
        <p:spPr>
          <a:xfrm>
            <a:off x="8771467" y="4147377"/>
            <a:ext cx="322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or “+” strand alignment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57E309-E61F-BDEA-C6FC-D1B81B3F9B67}"/>
              </a:ext>
            </a:extLst>
          </p:cNvPr>
          <p:cNvCxnSpPr/>
          <p:nvPr/>
        </p:nvCxnSpPr>
        <p:spPr>
          <a:xfrm>
            <a:off x="2767442" y="5241582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E700E5-2D8B-C6FC-E9C2-83E16FA49EB1}"/>
              </a:ext>
            </a:extLst>
          </p:cNvPr>
          <p:cNvSpPr txBox="1"/>
          <p:nvPr/>
        </p:nvSpPr>
        <p:spPr>
          <a:xfrm>
            <a:off x="248583" y="607184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5FBF33BB-A7FC-26B2-BBE3-B0B2CDA6187B}"/>
              </a:ext>
            </a:extLst>
          </p:cNvPr>
          <p:cNvSpPr/>
          <p:nvPr/>
        </p:nvSpPr>
        <p:spPr>
          <a:xfrm>
            <a:off x="1804915" y="5241549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C89B375-9B7E-2E21-2D6D-C490335F2EA0}"/>
              </a:ext>
            </a:extLst>
          </p:cNvPr>
          <p:cNvSpPr/>
          <p:nvPr/>
        </p:nvSpPr>
        <p:spPr>
          <a:xfrm flipH="1">
            <a:off x="4730992" y="5241516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6FDC8-F68A-8405-1E3D-C40D09B3D4BF}"/>
              </a:ext>
            </a:extLst>
          </p:cNvPr>
          <p:cNvSpPr txBox="1"/>
          <p:nvPr/>
        </p:nvSpPr>
        <p:spPr>
          <a:xfrm>
            <a:off x="1660370" y="6086935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CT                          AC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18D108-07C6-6F38-4029-65F6D7DADC0B}"/>
              </a:ext>
            </a:extLst>
          </p:cNvPr>
          <p:cNvSpPr txBox="1"/>
          <p:nvPr/>
        </p:nvSpPr>
        <p:spPr>
          <a:xfrm>
            <a:off x="1804915" y="6086935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4127FE-ED2B-F845-4C25-112B9EF0F30C}"/>
              </a:ext>
            </a:extLst>
          </p:cNvPr>
          <p:cNvSpPr txBox="1"/>
          <p:nvPr/>
        </p:nvSpPr>
        <p:spPr>
          <a:xfrm>
            <a:off x="5711462" y="6086935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1EF227-7D66-4F3D-F10E-5330F63F0151}"/>
              </a:ext>
            </a:extLst>
          </p:cNvPr>
          <p:cNvSpPr txBox="1"/>
          <p:nvPr/>
        </p:nvSpPr>
        <p:spPr>
          <a:xfrm>
            <a:off x="8771467" y="5679569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Reverse or “-” strand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B7317-4F90-B75A-206D-33D415608938}"/>
              </a:ext>
            </a:extLst>
          </p:cNvPr>
          <p:cNvSpPr txBox="1"/>
          <p:nvPr/>
        </p:nvSpPr>
        <p:spPr>
          <a:xfrm>
            <a:off x="7281690" y="346057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5D1C3-4FFC-ADCD-5173-E78A72229992}"/>
              </a:ext>
            </a:extLst>
          </p:cNvPr>
          <p:cNvSpPr txBox="1"/>
          <p:nvPr/>
        </p:nvSpPr>
        <p:spPr>
          <a:xfrm>
            <a:off x="1660370" y="503079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</p:spTree>
    <p:extLst>
      <p:ext uri="{BB962C8B-B14F-4D97-AF65-F5344CB8AC3E}">
        <p14:creationId xmlns:p14="http://schemas.microsoft.com/office/powerpoint/2010/main" val="2724807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ECC3-070D-CCA8-230C-E0FEB351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41FD-1C9D-C024-B226-ECEEC8D2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Spliced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18FC5-5CDB-A308-36F3-ED14400B7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012934"/>
          </a:xfrm>
        </p:spPr>
        <p:txBody>
          <a:bodyPr/>
          <a:lstStyle/>
          <a:p>
            <a:r>
              <a:rPr lang="en-US" dirty="0"/>
              <a:t>We expect GT-AG (CT-AC) </a:t>
            </a:r>
            <a:r>
              <a:rPr lang="en-US" i="1" dirty="0"/>
              <a:t>canonical </a:t>
            </a:r>
            <a:r>
              <a:rPr lang="en-US" dirty="0"/>
              <a:t>splice sites</a:t>
            </a:r>
          </a:p>
          <a:p>
            <a:r>
              <a:rPr lang="en-US" dirty="0"/>
              <a:t>Other combinations are possible (GC-AG or AT-AC)</a:t>
            </a:r>
          </a:p>
          <a:p>
            <a:r>
              <a:rPr lang="en-US" dirty="0"/>
              <a:t>Un-spliced aligned reads – strand unknown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1C91F-2633-ACBB-FDA2-74DB1484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A27BB0-DAD0-39D3-30BD-CD54660582A7}"/>
              </a:ext>
            </a:extLst>
          </p:cNvPr>
          <p:cNvCxnSpPr/>
          <p:nvPr/>
        </p:nvCxnSpPr>
        <p:spPr>
          <a:xfrm>
            <a:off x="2767442" y="3709390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2A3F7E-B3D0-67BF-726F-32AA10D5D8A8}"/>
              </a:ext>
            </a:extLst>
          </p:cNvPr>
          <p:cNvSpPr txBox="1"/>
          <p:nvPr/>
        </p:nvSpPr>
        <p:spPr>
          <a:xfrm>
            <a:off x="3941724" y="3250405"/>
            <a:ext cx="200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Transcriptome 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1F2D2-0DB7-830C-0C58-AD8E4149D72D}"/>
              </a:ext>
            </a:extLst>
          </p:cNvPr>
          <p:cNvSpPr txBox="1"/>
          <p:nvPr/>
        </p:nvSpPr>
        <p:spPr>
          <a:xfrm>
            <a:off x="248583" y="453965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E550692-3459-2B73-0753-02503242919A}"/>
              </a:ext>
            </a:extLst>
          </p:cNvPr>
          <p:cNvSpPr/>
          <p:nvPr/>
        </p:nvSpPr>
        <p:spPr>
          <a:xfrm>
            <a:off x="1804915" y="3709357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D589332D-C7CF-C425-55A2-5968C1088873}"/>
              </a:ext>
            </a:extLst>
          </p:cNvPr>
          <p:cNvSpPr/>
          <p:nvPr/>
        </p:nvSpPr>
        <p:spPr>
          <a:xfrm flipH="1">
            <a:off x="4730992" y="3709324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E4775-1806-EBC7-8C12-FF893ABEB4B3}"/>
              </a:ext>
            </a:extLst>
          </p:cNvPr>
          <p:cNvSpPr txBox="1"/>
          <p:nvPr/>
        </p:nvSpPr>
        <p:spPr>
          <a:xfrm>
            <a:off x="1660370" y="4554743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GT                          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C791C1-D347-D4B1-90F7-F7C7104A3DCB}"/>
              </a:ext>
            </a:extLst>
          </p:cNvPr>
          <p:cNvSpPr txBox="1"/>
          <p:nvPr/>
        </p:nvSpPr>
        <p:spPr>
          <a:xfrm>
            <a:off x="1804915" y="4554743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99BE0-956D-E087-F1F3-7209EF120199}"/>
              </a:ext>
            </a:extLst>
          </p:cNvPr>
          <p:cNvSpPr txBox="1"/>
          <p:nvPr/>
        </p:nvSpPr>
        <p:spPr>
          <a:xfrm>
            <a:off x="5711462" y="4554743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16FA0D-5920-8F0F-083C-5F80B99C00C9}"/>
              </a:ext>
            </a:extLst>
          </p:cNvPr>
          <p:cNvSpPr txBox="1"/>
          <p:nvPr/>
        </p:nvSpPr>
        <p:spPr>
          <a:xfrm>
            <a:off x="8771467" y="4147377"/>
            <a:ext cx="322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or “+” strand alignment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4822D7-124E-0D4E-ED3B-DC9E6E98D5FC}"/>
              </a:ext>
            </a:extLst>
          </p:cNvPr>
          <p:cNvCxnSpPr/>
          <p:nvPr/>
        </p:nvCxnSpPr>
        <p:spPr>
          <a:xfrm>
            <a:off x="2767442" y="5241582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C5285C2-404F-3505-7533-2C8D67B48E63}"/>
              </a:ext>
            </a:extLst>
          </p:cNvPr>
          <p:cNvSpPr txBox="1"/>
          <p:nvPr/>
        </p:nvSpPr>
        <p:spPr>
          <a:xfrm>
            <a:off x="248583" y="607184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4D0A0AA-A361-7FEF-9386-7FCC9C7C7253}"/>
              </a:ext>
            </a:extLst>
          </p:cNvPr>
          <p:cNvSpPr/>
          <p:nvPr/>
        </p:nvSpPr>
        <p:spPr>
          <a:xfrm>
            <a:off x="1804915" y="5241549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DEE29FCF-C66A-9FA6-40EC-11263BC92E75}"/>
              </a:ext>
            </a:extLst>
          </p:cNvPr>
          <p:cNvSpPr/>
          <p:nvPr/>
        </p:nvSpPr>
        <p:spPr>
          <a:xfrm flipH="1">
            <a:off x="4730992" y="5241516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7AA8EE-CF6E-18E4-EBF4-D803B5109192}"/>
              </a:ext>
            </a:extLst>
          </p:cNvPr>
          <p:cNvSpPr txBox="1"/>
          <p:nvPr/>
        </p:nvSpPr>
        <p:spPr>
          <a:xfrm>
            <a:off x="1660370" y="6086935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CT                          AC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D4EEF1-02A7-844E-21CC-4C9B89B1CA33}"/>
              </a:ext>
            </a:extLst>
          </p:cNvPr>
          <p:cNvSpPr txBox="1"/>
          <p:nvPr/>
        </p:nvSpPr>
        <p:spPr>
          <a:xfrm>
            <a:off x="1804915" y="6086935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2FD060-78EF-11BB-5E9F-2510127F9173}"/>
              </a:ext>
            </a:extLst>
          </p:cNvPr>
          <p:cNvSpPr txBox="1"/>
          <p:nvPr/>
        </p:nvSpPr>
        <p:spPr>
          <a:xfrm>
            <a:off x="5711462" y="6086935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750EEB-0CBC-576B-F48C-FF06703BD49B}"/>
              </a:ext>
            </a:extLst>
          </p:cNvPr>
          <p:cNvSpPr txBox="1"/>
          <p:nvPr/>
        </p:nvSpPr>
        <p:spPr>
          <a:xfrm>
            <a:off x="8771467" y="5679569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Reverse or “-” strand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5C15B-9785-D5F8-2DC4-53E8C1D95A3F}"/>
              </a:ext>
            </a:extLst>
          </p:cNvPr>
          <p:cNvSpPr txBox="1"/>
          <p:nvPr/>
        </p:nvSpPr>
        <p:spPr>
          <a:xfrm>
            <a:off x="7281690" y="346057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2AF44-7BEB-227C-6A1B-1CED772E87D7}"/>
              </a:ext>
            </a:extLst>
          </p:cNvPr>
          <p:cNvSpPr txBox="1"/>
          <p:nvPr/>
        </p:nvSpPr>
        <p:spPr>
          <a:xfrm>
            <a:off x="1660370" y="503079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</p:spTree>
    <p:extLst>
      <p:ext uri="{BB962C8B-B14F-4D97-AF65-F5344CB8AC3E}">
        <p14:creationId xmlns:p14="http://schemas.microsoft.com/office/powerpoint/2010/main" val="174937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B8CD-FE69-7B2A-4664-D58DBAC5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Spliced alignment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407C-9244-6D1A-4CE2-EC221D47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414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Illumina RNA-seq reads </a:t>
            </a:r>
          </a:p>
          <a:p>
            <a:pPr lvl="1"/>
            <a:r>
              <a:rPr lang="en-US" dirty="0"/>
              <a:t>STAR</a:t>
            </a:r>
          </a:p>
          <a:p>
            <a:pPr lvl="1"/>
            <a:r>
              <a:rPr lang="en-US" dirty="0"/>
              <a:t>HISAT2</a:t>
            </a:r>
          </a:p>
          <a:p>
            <a:r>
              <a:rPr lang="en-US" dirty="0"/>
              <a:t>Long reads (PacBio or ONT):</a:t>
            </a:r>
          </a:p>
          <a:p>
            <a:pPr lvl="1"/>
            <a:r>
              <a:rPr lang="en-US" dirty="0"/>
              <a:t>Minimap2</a:t>
            </a:r>
          </a:p>
          <a:p>
            <a:r>
              <a:rPr lang="en-US" dirty="0"/>
              <a:t>Spliced alignments sometimes produce errors/miss splice sites </a:t>
            </a:r>
          </a:p>
          <a:p>
            <a:pPr lvl="1"/>
            <a:r>
              <a:rPr lang="en-US" dirty="0"/>
              <a:t>“anchors” may be short</a:t>
            </a:r>
          </a:p>
          <a:p>
            <a:pPr marL="914400" lvl="2" indent="0">
              <a:buNone/>
            </a:pPr>
            <a:r>
              <a:rPr lang="en-US" dirty="0">
                <a:highlight>
                  <a:srgbClr val="00FFFF"/>
                </a:highlight>
              </a:rPr>
              <a:t>AGATAA</a:t>
            </a:r>
            <a:r>
              <a:rPr lang="en-US" dirty="0"/>
              <a:t>|(GT)……………(AG)|</a:t>
            </a:r>
            <a:r>
              <a:rPr lang="en-US" dirty="0">
                <a:highlight>
                  <a:srgbClr val="00FFFF"/>
                </a:highlight>
              </a:rPr>
              <a:t>GT</a:t>
            </a:r>
            <a:r>
              <a:rPr lang="en-US" dirty="0"/>
              <a:t> or </a:t>
            </a:r>
            <a:r>
              <a:rPr lang="en-US" dirty="0">
                <a:highlight>
                  <a:srgbClr val="00FFFF"/>
                </a:highlight>
              </a:rPr>
              <a:t>AGATAAGT</a:t>
            </a:r>
            <a:r>
              <a:rPr lang="en-US" dirty="0"/>
              <a:t> ? </a:t>
            </a:r>
          </a:p>
          <a:p>
            <a:pPr lvl="1"/>
            <a:r>
              <a:rPr lang="en-US" dirty="0"/>
              <a:t>Non-canonical splice sites can be off</a:t>
            </a:r>
          </a:p>
          <a:p>
            <a:r>
              <a:rPr lang="en-US" dirty="0"/>
              <a:t>Errors in Oxford Nanopore Technologies reads (especially indels) can lead to imprecise splice site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FEB76-40B7-1CDF-FA18-9A99763D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3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for spliced alignment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582D-B5FB-116C-8289-AB6D4D6E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66" y="1466810"/>
            <a:ext cx="2788534" cy="2977868"/>
          </a:xfrm>
        </p:spPr>
        <p:txBody>
          <a:bodyPr/>
          <a:lstStyle/>
          <a:p>
            <a:r>
              <a:rPr lang="en-US" dirty="0"/>
              <a:t>Examples of CIGAR strings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35A2B-7867-B446-7320-DD75F22F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6B290-6FEF-824F-1943-CEFB211CD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332A2B-BCED-0687-C2F2-736353587C2E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1A4E14A-16E7-DCF9-546A-1E9042271586}"/>
              </a:ext>
            </a:extLst>
          </p:cNvPr>
          <p:cNvSpPr/>
          <p:nvPr/>
        </p:nvSpPr>
        <p:spPr>
          <a:xfrm>
            <a:off x="4093029" y="1879600"/>
            <a:ext cx="1625600" cy="1625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B5BC4D-6BFF-4B7A-7CAA-0A1E2D06EB35}"/>
              </a:ext>
            </a:extLst>
          </p:cNvPr>
          <p:cNvSpPr/>
          <p:nvPr/>
        </p:nvSpPr>
        <p:spPr>
          <a:xfrm>
            <a:off x="3055966" y="5687122"/>
            <a:ext cx="371175" cy="2453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6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8FCB-73ED-8DDD-93C0-2D14E24C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of aligned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C5115-8A33-E86F-8D76-7D36BE76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970907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spliced alignments</a:t>
            </a:r>
          </a:p>
          <a:p>
            <a:r>
              <a:rPr lang="en-US" dirty="0"/>
              <a:t>Typically faster and more accurate</a:t>
            </a:r>
          </a:p>
          <a:p>
            <a:r>
              <a:rPr lang="en-US" dirty="0"/>
              <a:t>Build </a:t>
            </a:r>
            <a:r>
              <a:rPr lang="en-US" i="1" dirty="0"/>
              <a:t>splice graph:</a:t>
            </a:r>
          </a:p>
          <a:p>
            <a:pPr lvl="1"/>
            <a:r>
              <a:rPr lang="en-US" dirty="0"/>
              <a:t>Nodes are exons</a:t>
            </a:r>
          </a:p>
          <a:p>
            <a:pPr lvl="1"/>
            <a:r>
              <a:rPr lang="en-US" dirty="0"/>
              <a:t>Edges are introns</a:t>
            </a:r>
          </a:p>
          <a:p>
            <a:pPr lvl="1"/>
            <a:r>
              <a:rPr lang="en-US" dirty="0"/>
              <a:t>Edge weight is the number of spliced reads</a:t>
            </a:r>
          </a:p>
          <a:p>
            <a:r>
              <a:rPr lang="en-US" dirty="0"/>
              <a:t>Remember that these data represent several linear transcripts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FD99D-5F07-0441-DA42-26D97D69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E8454-EDB9-F313-7508-D659A7DF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50" y="1596540"/>
            <a:ext cx="6422690" cy="502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E39988-27F3-BD0D-FD4F-3B4D1610A782}"/>
              </a:ext>
            </a:extLst>
          </p:cNvPr>
          <p:cNvSpPr txBox="1"/>
          <p:nvPr/>
        </p:nvSpPr>
        <p:spPr>
          <a:xfrm>
            <a:off x="4395718" y="1313038"/>
            <a:ext cx="785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https://www.biorxiv.org/content/10.1101/2024.02.09.579380v1.full</a:t>
            </a:r>
          </a:p>
        </p:txBody>
      </p:sp>
    </p:spTree>
    <p:extLst>
      <p:ext uri="{BB962C8B-B14F-4D97-AF65-F5344CB8AC3E}">
        <p14:creationId xmlns:p14="http://schemas.microsoft.com/office/powerpoint/2010/main" val="2068933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769-3BB3-9D98-65BC-4DE6E616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DBFAC-04B0-8310-4F4E-27044309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of aligned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4195D-A767-9659-DDA1-23587D595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970907" cy="45811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Can be solved as a variant of </a:t>
            </a:r>
            <a:r>
              <a:rPr lang="en-US" i="1" dirty="0"/>
              <a:t>maximum flow </a:t>
            </a:r>
            <a:r>
              <a:rPr lang="en-US" dirty="0"/>
              <a:t>problem</a:t>
            </a:r>
          </a:p>
          <a:p>
            <a:r>
              <a:rPr lang="en-US" dirty="0"/>
              <a:t>The problem: distribute paths</a:t>
            </a:r>
            <a:r>
              <a:rPr lang="en-US"/>
              <a:t>(flows)  </a:t>
            </a:r>
            <a:r>
              <a:rPr lang="en-US" dirty="0"/>
              <a:t>between several linear transcripts</a:t>
            </a:r>
          </a:p>
          <a:p>
            <a:r>
              <a:rPr lang="en-US" dirty="0"/>
              <a:t>Algorithm: </a:t>
            </a:r>
          </a:p>
          <a:p>
            <a:pPr lvl="1"/>
            <a:r>
              <a:rPr lang="en-US" dirty="0"/>
              <a:t>Compute the path of heaviest coverage</a:t>
            </a:r>
          </a:p>
          <a:p>
            <a:pPr lvl="1"/>
            <a:r>
              <a:rPr lang="en-US" dirty="0"/>
              <a:t>Remove the reads used in the path</a:t>
            </a:r>
          </a:p>
          <a:p>
            <a:pPr lvl="1"/>
            <a:r>
              <a:rPr lang="en-US" dirty="0"/>
              <a:t>iterate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789D3-06F2-FC77-BADE-3F6B2303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C9638-0304-684A-D4FF-F9B864469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50" y="1596540"/>
            <a:ext cx="6422690" cy="502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7CB075-DB85-4070-7EB0-681537271ECC}"/>
              </a:ext>
            </a:extLst>
          </p:cNvPr>
          <p:cNvSpPr txBox="1"/>
          <p:nvPr/>
        </p:nvSpPr>
        <p:spPr>
          <a:xfrm>
            <a:off x="4395718" y="1313038"/>
            <a:ext cx="785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https://www.biorxiv.org/content/10.1101/2024.02.09.579380v1.full</a:t>
            </a:r>
          </a:p>
        </p:txBody>
      </p:sp>
    </p:spTree>
    <p:extLst>
      <p:ext uri="{BB962C8B-B14F-4D97-AF65-F5344CB8AC3E}">
        <p14:creationId xmlns:p14="http://schemas.microsoft.com/office/powerpoint/2010/main" val="2622166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48E07-771E-28C1-81AA-B358535A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722D-FE48-BC1F-6D65-6F842DF0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of aligned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84CA-11C3-FE17-D1F8-EB5ED3AC5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970907" cy="4581150"/>
          </a:xfrm>
        </p:spPr>
        <p:txBody>
          <a:bodyPr>
            <a:normAutofit/>
          </a:bodyPr>
          <a:lstStyle/>
          <a:p>
            <a:r>
              <a:rPr lang="en-US" dirty="0"/>
              <a:t>Path: 1-2-3-4-6 f=3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C04EC-E66E-726D-76C1-5EA462FD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57B4D-B9D9-888A-5D3A-8A2943D0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50" y="1596540"/>
            <a:ext cx="6422690" cy="502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8D4E6D-C6D7-1C6B-DACF-E4B296FF8B85}"/>
              </a:ext>
            </a:extLst>
          </p:cNvPr>
          <p:cNvSpPr txBox="1"/>
          <p:nvPr/>
        </p:nvSpPr>
        <p:spPr>
          <a:xfrm>
            <a:off x="4395718" y="1313038"/>
            <a:ext cx="785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https://www.biorxiv.org/content/10.1101/2024.02.09.579380v1.full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C23F08-2910-F8E8-917E-2A5E4F30FE99}"/>
              </a:ext>
            </a:extLst>
          </p:cNvPr>
          <p:cNvSpPr/>
          <p:nvPr/>
        </p:nvSpPr>
        <p:spPr>
          <a:xfrm>
            <a:off x="5842001" y="2104508"/>
            <a:ext cx="1785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CD6D16-3E96-DDAE-9D24-4C002FEE5F8F}"/>
              </a:ext>
            </a:extLst>
          </p:cNvPr>
          <p:cNvSpPr/>
          <p:nvPr/>
        </p:nvSpPr>
        <p:spPr>
          <a:xfrm>
            <a:off x="5842001" y="3097259"/>
            <a:ext cx="30770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91601-87F8-7A63-07ED-14E2FE51B903}"/>
              </a:ext>
            </a:extLst>
          </p:cNvPr>
          <p:cNvSpPr/>
          <p:nvPr/>
        </p:nvSpPr>
        <p:spPr>
          <a:xfrm>
            <a:off x="5776687" y="3783173"/>
            <a:ext cx="1785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0FC09D-BCFF-0269-AB72-AD1E9788EAFB}"/>
              </a:ext>
            </a:extLst>
          </p:cNvPr>
          <p:cNvSpPr/>
          <p:nvPr/>
        </p:nvSpPr>
        <p:spPr>
          <a:xfrm>
            <a:off x="7627257" y="3466591"/>
            <a:ext cx="23005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A2DF3-25A9-0C5D-2925-970778EFB44A}"/>
              </a:ext>
            </a:extLst>
          </p:cNvPr>
          <p:cNvSpPr/>
          <p:nvPr/>
        </p:nvSpPr>
        <p:spPr>
          <a:xfrm>
            <a:off x="8919029" y="2525945"/>
            <a:ext cx="107405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C468DC-A475-1389-4282-2D75D0C0B3F7}"/>
              </a:ext>
            </a:extLst>
          </p:cNvPr>
          <p:cNvSpPr/>
          <p:nvPr/>
        </p:nvSpPr>
        <p:spPr>
          <a:xfrm>
            <a:off x="7670800" y="2895277"/>
            <a:ext cx="3410857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FA5F51-E95E-1486-4D87-6B7452CD25E4}"/>
              </a:ext>
            </a:extLst>
          </p:cNvPr>
          <p:cNvSpPr/>
          <p:nvPr/>
        </p:nvSpPr>
        <p:spPr>
          <a:xfrm>
            <a:off x="9993085" y="2579509"/>
            <a:ext cx="1748971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C54B39-3B66-6B2C-A916-1B51866E0083}"/>
              </a:ext>
            </a:extLst>
          </p:cNvPr>
          <p:cNvSpPr/>
          <p:nvPr/>
        </p:nvSpPr>
        <p:spPr>
          <a:xfrm>
            <a:off x="11081657" y="3178779"/>
            <a:ext cx="275772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7F76A4-9986-3A09-2CD6-B9AECC28978B}"/>
              </a:ext>
            </a:extLst>
          </p:cNvPr>
          <p:cNvSpPr/>
          <p:nvPr/>
        </p:nvSpPr>
        <p:spPr>
          <a:xfrm>
            <a:off x="9927771" y="3516634"/>
            <a:ext cx="1988458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C09E-B877-0527-80DC-A8488DA1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8C4B-B815-187D-1439-1C2A456E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of aligned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A05D2-4151-9ADF-2D2E-F216DC620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970907" cy="4581150"/>
          </a:xfrm>
        </p:spPr>
        <p:txBody>
          <a:bodyPr>
            <a:normAutofit/>
          </a:bodyPr>
          <a:lstStyle/>
          <a:p>
            <a:r>
              <a:rPr lang="en-US" dirty="0"/>
              <a:t>Path: 1-2-3-4-6 f=3</a:t>
            </a:r>
          </a:p>
          <a:p>
            <a:r>
              <a:rPr lang="en-US" dirty="0"/>
              <a:t>Remove reads used in the first path</a:t>
            </a:r>
          </a:p>
          <a:p>
            <a:r>
              <a:rPr lang="en-US" dirty="0"/>
              <a:t>Second path:1-3-5-6-7 f=2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FE4DD-24CE-5655-7161-F7B166B5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4CD53-1BC7-5F06-58A9-B771D7BA7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50" y="1596540"/>
            <a:ext cx="6422690" cy="502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83E689-5182-6F2C-5EE0-666F79D46C6C}"/>
              </a:ext>
            </a:extLst>
          </p:cNvPr>
          <p:cNvSpPr txBox="1"/>
          <p:nvPr/>
        </p:nvSpPr>
        <p:spPr>
          <a:xfrm>
            <a:off x="4395718" y="1313038"/>
            <a:ext cx="785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https://www.biorxiv.org/content/10.1101/2024.02.09.579380v1.full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2C66D-0114-6434-BF62-F47733D19722}"/>
              </a:ext>
            </a:extLst>
          </p:cNvPr>
          <p:cNvSpPr/>
          <p:nvPr/>
        </p:nvSpPr>
        <p:spPr>
          <a:xfrm>
            <a:off x="5842001" y="2459987"/>
            <a:ext cx="1785256" cy="619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02EEB7-86C5-DE20-C399-6E272D4D0E5A}"/>
              </a:ext>
            </a:extLst>
          </p:cNvPr>
          <p:cNvSpPr/>
          <p:nvPr/>
        </p:nvSpPr>
        <p:spPr>
          <a:xfrm>
            <a:off x="5842001" y="3377271"/>
            <a:ext cx="1785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9CDFD2-3157-AFB2-BBFB-93DCFED035AF}"/>
              </a:ext>
            </a:extLst>
          </p:cNvPr>
          <p:cNvSpPr/>
          <p:nvPr/>
        </p:nvSpPr>
        <p:spPr>
          <a:xfrm>
            <a:off x="7590972" y="3824391"/>
            <a:ext cx="11466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ECFE83-B9A8-CFCB-2CC9-CDE73DC22001}"/>
              </a:ext>
            </a:extLst>
          </p:cNvPr>
          <p:cNvSpPr/>
          <p:nvPr/>
        </p:nvSpPr>
        <p:spPr>
          <a:xfrm>
            <a:off x="7587343" y="2168217"/>
            <a:ext cx="1202963" cy="595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13AD-A856-2D4C-51F0-F00AAC31BB02}"/>
              </a:ext>
            </a:extLst>
          </p:cNvPr>
          <p:cNvSpPr/>
          <p:nvPr/>
        </p:nvSpPr>
        <p:spPr>
          <a:xfrm>
            <a:off x="8941360" y="2157914"/>
            <a:ext cx="21626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238D21-2F25-C07E-AB00-03C8700AFDE2}"/>
              </a:ext>
            </a:extLst>
          </p:cNvPr>
          <p:cNvSpPr/>
          <p:nvPr/>
        </p:nvSpPr>
        <p:spPr>
          <a:xfrm>
            <a:off x="8790306" y="3824391"/>
            <a:ext cx="2291351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7B226F-3088-D8FA-B14E-470022164B83}"/>
              </a:ext>
            </a:extLst>
          </p:cNvPr>
          <p:cNvSpPr/>
          <p:nvPr/>
        </p:nvSpPr>
        <p:spPr>
          <a:xfrm>
            <a:off x="11081657" y="3178779"/>
            <a:ext cx="275772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271F83-C084-F29D-87A2-B593D9CBA3A4}"/>
              </a:ext>
            </a:extLst>
          </p:cNvPr>
          <p:cNvSpPr/>
          <p:nvPr/>
        </p:nvSpPr>
        <p:spPr>
          <a:xfrm>
            <a:off x="11294305" y="2853176"/>
            <a:ext cx="723523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C6B678-6BF7-B521-AD7A-702E4F11557F}"/>
              </a:ext>
            </a:extLst>
          </p:cNvPr>
          <p:cNvSpPr/>
          <p:nvPr/>
        </p:nvSpPr>
        <p:spPr>
          <a:xfrm>
            <a:off x="8919029" y="3085350"/>
            <a:ext cx="21626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87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7FB7-F59C-067A-142B-AAA48C14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1A5D-50A9-5F0E-92E1-371D18D2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of aligned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A65E0-89AA-C828-6221-34BC6BD9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970907" cy="4581150"/>
          </a:xfrm>
        </p:spPr>
        <p:txBody>
          <a:bodyPr>
            <a:normAutofit/>
          </a:bodyPr>
          <a:lstStyle/>
          <a:p>
            <a:r>
              <a:rPr lang="en-US" dirty="0"/>
              <a:t>Path: 1-2-3-4-6-7 f=3</a:t>
            </a:r>
          </a:p>
          <a:p>
            <a:r>
              <a:rPr lang="en-US" dirty="0"/>
              <a:t>Remove reads used in the first path</a:t>
            </a:r>
          </a:p>
          <a:p>
            <a:r>
              <a:rPr lang="en-US" dirty="0"/>
              <a:t>Second path:1-3-5 f=2</a:t>
            </a:r>
          </a:p>
          <a:p>
            <a:r>
              <a:rPr lang="en-US" dirty="0"/>
              <a:t>Remove reads used in the second path</a:t>
            </a:r>
          </a:p>
          <a:p>
            <a:r>
              <a:rPr lang="en-US" dirty="0"/>
              <a:t>Third path: 2-4-5 f=1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81366-5F9C-CB1F-C236-76170A73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448E-566A-02F8-351C-A9F05350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50" y="1596540"/>
            <a:ext cx="6422690" cy="502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70B1E-B3BA-32E4-9D81-EF29C640A245}"/>
              </a:ext>
            </a:extLst>
          </p:cNvPr>
          <p:cNvSpPr txBox="1"/>
          <p:nvPr/>
        </p:nvSpPr>
        <p:spPr>
          <a:xfrm>
            <a:off x="4395718" y="1313038"/>
            <a:ext cx="785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https://www.biorxiv.org/content/10.1101/2024.02.09.579380v1.full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C54394-EB65-2C2A-C6EB-632B746E6606}"/>
              </a:ext>
            </a:extLst>
          </p:cNvPr>
          <p:cNvSpPr/>
          <p:nvPr/>
        </p:nvSpPr>
        <p:spPr>
          <a:xfrm>
            <a:off x="5842001" y="2157914"/>
            <a:ext cx="1785256" cy="921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97092-D4C7-6DE3-8D42-1C6364F1ECED}"/>
              </a:ext>
            </a:extLst>
          </p:cNvPr>
          <p:cNvSpPr/>
          <p:nvPr/>
        </p:nvSpPr>
        <p:spPr>
          <a:xfrm>
            <a:off x="5842001" y="3377271"/>
            <a:ext cx="1785256" cy="6309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A87554-53CB-24DE-3173-A3AF82E41A8B}"/>
              </a:ext>
            </a:extLst>
          </p:cNvPr>
          <p:cNvSpPr/>
          <p:nvPr/>
        </p:nvSpPr>
        <p:spPr>
          <a:xfrm>
            <a:off x="7590972" y="3516634"/>
            <a:ext cx="2634342" cy="6770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756F1B-A1C8-2F69-689F-0392F3FAC3B2}"/>
              </a:ext>
            </a:extLst>
          </p:cNvPr>
          <p:cNvSpPr/>
          <p:nvPr/>
        </p:nvSpPr>
        <p:spPr>
          <a:xfrm>
            <a:off x="7587343" y="2168217"/>
            <a:ext cx="1202963" cy="595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8BAC44-D27F-4950-030B-2F6DAC61CF24}"/>
              </a:ext>
            </a:extLst>
          </p:cNvPr>
          <p:cNvSpPr/>
          <p:nvPr/>
        </p:nvSpPr>
        <p:spPr>
          <a:xfrm>
            <a:off x="8941360" y="2157914"/>
            <a:ext cx="21626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A6E1C-12BB-ECD0-C563-D19816E862BB}"/>
              </a:ext>
            </a:extLst>
          </p:cNvPr>
          <p:cNvSpPr/>
          <p:nvPr/>
        </p:nvSpPr>
        <p:spPr>
          <a:xfrm>
            <a:off x="8790306" y="3824391"/>
            <a:ext cx="2291351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AC092-797E-7891-B16B-DD698CCE75F4}"/>
              </a:ext>
            </a:extLst>
          </p:cNvPr>
          <p:cNvSpPr/>
          <p:nvPr/>
        </p:nvSpPr>
        <p:spPr>
          <a:xfrm>
            <a:off x="10014857" y="2533167"/>
            <a:ext cx="1807029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6010E-AE03-FA92-588A-454779F55CE3}"/>
              </a:ext>
            </a:extLst>
          </p:cNvPr>
          <p:cNvSpPr/>
          <p:nvPr/>
        </p:nvSpPr>
        <p:spPr>
          <a:xfrm>
            <a:off x="11081657" y="3178779"/>
            <a:ext cx="275772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1883DF-A1EF-00E0-0EAB-EA0C0F770DDE}"/>
              </a:ext>
            </a:extLst>
          </p:cNvPr>
          <p:cNvSpPr/>
          <p:nvPr/>
        </p:nvSpPr>
        <p:spPr>
          <a:xfrm>
            <a:off x="9927771" y="3516634"/>
            <a:ext cx="979715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A0D1B-D6AF-0D01-AC8D-577FB3FD6454}"/>
              </a:ext>
            </a:extLst>
          </p:cNvPr>
          <p:cNvSpPr/>
          <p:nvPr/>
        </p:nvSpPr>
        <p:spPr>
          <a:xfrm>
            <a:off x="10907486" y="3516634"/>
            <a:ext cx="914400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945850-9D3B-2E98-B61C-D6454E981ACD}"/>
              </a:ext>
            </a:extLst>
          </p:cNvPr>
          <p:cNvSpPr/>
          <p:nvPr/>
        </p:nvSpPr>
        <p:spPr>
          <a:xfrm>
            <a:off x="10755087" y="2853176"/>
            <a:ext cx="1262742" cy="183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E49316-8E21-0DB7-3F25-00AFD7BCDD80}"/>
              </a:ext>
            </a:extLst>
          </p:cNvPr>
          <p:cNvSpPr/>
          <p:nvPr/>
        </p:nvSpPr>
        <p:spPr>
          <a:xfrm>
            <a:off x="8919029" y="3085350"/>
            <a:ext cx="21626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98247-07A0-7442-F5BD-E0938136CA90}"/>
              </a:ext>
            </a:extLst>
          </p:cNvPr>
          <p:cNvSpPr/>
          <p:nvPr/>
        </p:nvSpPr>
        <p:spPr>
          <a:xfrm>
            <a:off x="7587343" y="2759215"/>
            <a:ext cx="24275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9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14398</TotalTime>
  <Words>1537</Words>
  <Application>Microsoft Office PowerPoint</Application>
  <PresentationFormat>Widescreen</PresentationFormat>
  <Paragraphs>276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</vt:lpstr>
      <vt:lpstr>Calibri</vt:lpstr>
      <vt:lpstr>Helvetica</vt:lpstr>
      <vt:lpstr>Helvetica Neue Medium</vt:lpstr>
      <vt:lpstr>Trebuchet MS</vt:lpstr>
      <vt:lpstr>Office Theme</vt:lpstr>
      <vt:lpstr>PowerPoint Presentation</vt:lpstr>
      <vt:lpstr>Transcript</vt:lpstr>
      <vt:lpstr>Gene</vt:lpstr>
      <vt:lpstr>PowerPoint Presentation</vt:lpstr>
      <vt:lpstr>Gene representation</vt:lpstr>
      <vt:lpstr>GTF vs GFF</vt:lpstr>
      <vt:lpstr>Similarities and differences between GTF and GFF files</vt:lpstr>
      <vt:lpstr>Example GTF file</vt:lpstr>
      <vt:lpstr>Example GFF file</vt:lpstr>
      <vt:lpstr>Parsing GTF/GFF files</vt:lpstr>
      <vt:lpstr>GTF/GFF frame</vt:lpstr>
      <vt:lpstr>How transcripts are obtained</vt:lpstr>
      <vt:lpstr>Short read Illumina RNA-seq</vt:lpstr>
      <vt:lpstr>Long read RNA sequencing</vt:lpstr>
      <vt:lpstr>Uses of transcriptome sequencing</vt:lpstr>
      <vt:lpstr>Transcriptome assembly</vt:lpstr>
      <vt:lpstr>De novo transcript assembly</vt:lpstr>
      <vt:lpstr>De novo transcript assemblers</vt:lpstr>
      <vt:lpstr>De novo transcript assemblers</vt:lpstr>
      <vt:lpstr>Spliced alignment</vt:lpstr>
      <vt:lpstr>Spliced alignment</vt:lpstr>
      <vt:lpstr>Spliced alignment programs</vt:lpstr>
      <vt:lpstr>SAM format for spliced alignment</vt:lpstr>
      <vt:lpstr>Assembly of aligned RNA-seq data</vt:lpstr>
      <vt:lpstr>Assembly of aligned RNA-seq data</vt:lpstr>
      <vt:lpstr>Assembly of aligned RNA-seq data</vt:lpstr>
      <vt:lpstr>Assembly of aligned RNA-seq data</vt:lpstr>
      <vt:lpstr>Assembly of aligned RNA-seq data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Alexey Zimin</cp:lastModifiedBy>
  <cp:revision>71</cp:revision>
  <dcterms:created xsi:type="dcterms:W3CDTF">2013-08-21T19:17:07Z</dcterms:created>
  <dcterms:modified xsi:type="dcterms:W3CDTF">2026-10-20T18:24:23Z</dcterms:modified>
</cp:coreProperties>
</file>