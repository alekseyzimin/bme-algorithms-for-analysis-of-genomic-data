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2" r:id="rId2"/>
    <p:sldId id="831" r:id="rId3"/>
    <p:sldId id="824" r:id="rId4"/>
    <p:sldId id="888" r:id="rId5"/>
    <p:sldId id="832" r:id="rId6"/>
    <p:sldId id="887" r:id="rId7"/>
    <p:sldId id="834" r:id="rId8"/>
    <p:sldId id="835" r:id="rId9"/>
    <p:sldId id="836" r:id="rId10"/>
    <p:sldId id="883" r:id="rId11"/>
    <p:sldId id="837" r:id="rId12"/>
    <p:sldId id="838" r:id="rId13"/>
    <p:sldId id="839" r:id="rId14"/>
    <p:sldId id="840" r:id="rId15"/>
    <p:sldId id="842" r:id="rId16"/>
    <p:sldId id="844" r:id="rId17"/>
    <p:sldId id="845" r:id="rId18"/>
    <p:sldId id="843" r:id="rId19"/>
    <p:sldId id="846" r:id="rId20"/>
    <p:sldId id="886" r:id="rId21"/>
    <p:sldId id="884" r:id="rId22"/>
    <p:sldId id="8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72F1D9-0B96-4765-ABAC-5A7B3984C109}" v="53" dt="2026-10-30T15:32:25.8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7" autoAdjust="0"/>
    <p:restoredTop sz="93721" autoAdjust="0"/>
  </p:normalViewPr>
  <p:slideViewPr>
    <p:cSldViewPr snapToGrid="0">
      <p:cViewPr varScale="1">
        <p:scale>
          <a:sx n="96" d="100"/>
          <a:sy n="96" d="100"/>
        </p:scale>
        <p:origin x="774" y="78"/>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undo custSel addSld delSld modSld">
      <pc:chgData name="Aleksey Zimin" userId="7f2637d0bc515791" providerId="LiveId" clId="{5F359FD6-B8E9-41DA-90EC-0BA4FD0F3073}" dt="2026-10-30T15:33:03.964" v="1055" actId="5793"/>
      <pc:docMkLst>
        <pc:docMk/>
      </pc:docMkLst>
      <pc:sldChg chg="del">
        <pc:chgData name="Aleksey Zimin" userId="7f2637d0bc515791" providerId="LiveId" clId="{5F359FD6-B8E9-41DA-90EC-0BA4FD0F3073}" dt="2026-10-30T15:28:54.111" v="852" actId="2696"/>
        <pc:sldMkLst>
          <pc:docMk/>
          <pc:sldMk cId="3644876859" sldId="572"/>
        </pc:sldMkLst>
      </pc:sldChg>
      <pc:sldChg chg="addSp delSp modSp mod modAnim">
        <pc:chgData name="Aleksey Zimin" userId="7f2637d0bc515791" providerId="LiveId" clId="{5F359FD6-B8E9-41DA-90EC-0BA4FD0F3073}" dt="2026-10-28T17:39:31.556" v="743"/>
        <pc:sldMkLst>
          <pc:docMk/>
          <pc:sldMk cId="1248438669" sldId="824"/>
        </pc:sldMkLst>
        <pc:spChg chg="add mod">
          <ac:chgData name="Aleksey Zimin" userId="7f2637d0bc515791" providerId="LiveId" clId="{5F359FD6-B8E9-41DA-90EC-0BA4FD0F3073}" dt="2026-10-28T17:36:05.056" v="694" actId="27636"/>
          <ac:spMkLst>
            <pc:docMk/>
            <pc:sldMk cId="1248438669" sldId="824"/>
            <ac:spMk id="7" creationId="{4FBE7125-6198-264D-1FB2-291E2C8F2ADE}"/>
          </ac:spMkLst>
        </pc:spChg>
        <pc:picChg chg="add mod">
          <ac:chgData name="Aleksey Zimin" userId="7f2637d0bc515791" providerId="LiveId" clId="{5F359FD6-B8E9-41DA-90EC-0BA4FD0F3073}" dt="2026-10-28T17:36:15.899" v="696" actId="1076"/>
          <ac:picMkLst>
            <pc:docMk/>
            <pc:sldMk cId="1248438669" sldId="824"/>
            <ac:picMk id="9" creationId="{8A0E811A-7FF3-C624-B8E7-E241DBBF2B90}"/>
          </ac:picMkLst>
        </pc:picChg>
        <pc:picChg chg="add mod">
          <ac:chgData name="Aleksey Zimin" userId="7f2637d0bc515791" providerId="LiveId" clId="{5F359FD6-B8E9-41DA-90EC-0BA4FD0F3073}" dt="2026-10-28T17:36:12.906" v="695" actId="1076"/>
          <ac:picMkLst>
            <pc:docMk/>
            <pc:sldMk cId="1248438669" sldId="824"/>
            <ac:picMk id="11" creationId="{B9AE46AE-862F-4E81-37DE-3639AB945A3A}"/>
          </ac:picMkLst>
        </pc:picChg>
        <pc:picChg chg="add mod">
          <ac:chgData name="Aleksey Zimin" userId="7f2637d0bc515791" providerId="LiveId" clId="{5F359FD6-B8E9-41DA-90EC-0BA4FD0F3073}" dt="2026-10-28T17:35:58.379" v="691" actId="1076"/>
          <ac:picMkLst>
            <pc:docMk/>
            <pc:sldMk cId="1248438669" sldId="824"/>
            <ac:picMk id="13" creationId="{F23E1190-4032-0C5C-F35D-7AE20B14508B}"/>
          </ac:picMkLst>
        </pc:picChg>
      </pc:sldChg>
      <pc:sldChg chg="modSp mod modAnim">
        <pc:chgData name="Aleksey Zimin" userId="7f2637d0bc515791" providerId="LiveId" clId="{5F359FD6-B8E9-41DA-90EC-0BA4FD0F3073}" dt="2026-10-30T15:32:25.881" v="1054"/>
        <pc:sldMkLst>
          <pc:docMk/>
          <pc:sldMk cId="4127514744" sldId="832"/>
        </pc:sldMkLst>
        <pc:spChg chg="mod">
          <ac:chgData name="Aleksey Zimin" userId="7f2637d0bc515791" providerId="LiveId" clId="{5F359FD6-B8E9-41DA-90EC-0BA4FD0F3073}" dt="2026-10-30T15:32:08.612" v="1052" actId="20577"/>
          <ac:spMkLst>
            <pc:docMk/>
            <pc:sldMk cId="4127514744" sldId="832"/>
            <ac:spMk id="3" creationId="{72435F73-7EFD-DF06-380A-5766C516EF3C}"/>
          </ac:spMkLst>
        </pc:spChg>
      </pc:sldChg>
      <pc:sldChg chg="add del">
        <pc:chgData name="Aleksey Zimin" userId="7f2637d0bc515791" providerId="LiveId" clId="{5F359FD6-B8E9-41DA-90EC-0BA4FD0F3073}" dt="2026-10-30T15:28:54.111" v="852" actId="2696"/>
        <pc:sldMkLst>
          <pc:docMk/>
          <pc:sldMk cId="1812347551" sldId="850"/>
        </pc:sldMkLst>
      </pc:sldChg>
      <pc:sldChg chg="modSp mod">
        <pc:chgData name="Aleksey Zimin" userId="7f2637d0bc515791" providerId="LiveId" clId="{5F359FD6-B8E9-41DA-90EC-0BA4FD0F3073}" dt="2026-10-30T15:33:03.964" v="1055" actId="5793"/>
        <pc:sldMkLst>
          <pc:docMk/>
          <pc:sldMk cId="1808216714" sldId="887"/>
        </pc:sldMkLst>
        <pc:spChg chg="mod">
          <ac:chgData name="Aleksey Zimin" userId="7f2637d0bc515791" providerId="LiveId" clId="{5F359FD6-B8E9-41DA-90EC-0BA4FD0F3073}" dt="2026-10-30T15:33:03.964" v="1055" actId="5793"/>
          <ac:spMkLst>
            <pc:docMk/>
            <pc:sldMk cId="1808216714" sldId="887"/>
            <ac:spMk id="3" creationId="{DCA1204D-7970-ACB2-27DF-9650DE0A4466}"/>
          </ac:spMkLst>
        </pc:spChg>
      </pc:sldChg>
      <pc:sldChg chg="modSp add mod modAnim">
        <pc:chgData name="Aleksey Zimin" userId="7f2637d0bc515791" providerId="LiveId" clId="{5F359FD6-B8E9-41DA-90EC-0BA4FD0F3073}" dt="2026-10-28T17:41:57.035" v="823" actId="20577"/>
        <pc:sldMkLst>
          <pc:docMk/>
          <pc:sldMk cId="3756441050" sldId="888"/>
        </pc:sldMkLst>
        <pc:spChg chg="mod">
          <ac:chgData name="Aleksey Zimin" userId="7f2637d0bc515791" providerId="LiveId" clId="{5F359FD6-B8E9-41DA-90EC-0BA4FD0F3073}" dt="2026-10-28T17:41:57.035" v="823" actId="20577"/>
          <ac:spMkLst>
            <pc:docMk/>
            <pc:sldMk cId="3756441050" sldId="888"/>
            <ac:spMk id="3" creationId="{B4B53EB6-1A0E-1499-57CF-08AE4F8261E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10/30/2026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13FD6-7C7B-4426-BFC4-490AC0CFBE05}" type="slidenum">
              <a:rPr lang="en-US" smtClean="0"/>
              <a:t>15</a:t>
            </a:fld>
            <a:endParaRPr lang="en-US"/>
          </a:p>
        </p:txBody>
      </p:sp>
    </p:spTree>
    <p:extLst>
      <p:ext uri="{BB962C8B-B14F-4D97-AF65-F5344CB8AC3E}">
        <p14:creationId xmlns:p14="http://schemas.microsoft.com/office/powerpoint/2010/main" val="302781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F93E5-F2C6-7703-F603-1479BF55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45217-3DBB-69F2-441F-5C61441BB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185C6-F4D9-8DBA-32CD-2B750CF1A3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FD0F73-5C71-CA5C-7736-330387F70BF6}"/>
              </a:ext>
            </a:extLst>
          </p:cNvPr>
          <p:cNvSpPr>
            <a:spLocks noGrp="1"/>
          </p:cNvSpPr>
          <p:nvPr>
            <p:ph type="sldNum" sz="quarter" idx="5"/>
          </p:nvPr>
        </p:nvSpPr>
        <p:spPr/>
        <p:txBody>
          <a:bodyPr/>
          <a:lstStyle/>
          <a:p>
            <a:fld id="{A6313FD6-7C7B-4426-BFC4-490AC0CFBE05}" type="slidenum">
              <a:rPr lang="en-US" smtClean="0"/>
              <a:t>16</a:t>
            </a:fld>
            <a:endParaRPr lang="en-US"/>
          </a:p>
        </p:txBody>
      </p:sp>
    </p:spTree>
    <p:extLst>
      <p:ext uri="{BB962C8B-B14F-4D97-AF65-F5344CB8AC3E}">
        <p14:creationId xmlns:p14="http://schemas.microsoft.com/office/powerpoint/2010/main" val="52405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35789-7209-E4FA-78AE-28CAC5953A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51DF9-E25B-5888-C2A7-922517CCE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7F188-369C-D6E3-A338-D6B73A25C3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AC868F-AB89-2C0A-1EB7-F88661B5C956}"/>
              </a:ext>
            </a:extLst>
          </p:cNvPr>
          <p:cNvSpPr>
            <a:spLocks noGrp="1"/>
          </p:cNvSpPr>
          <p:nvPr>
            <p:ph type="sldNum" sz="quarter" idx="5"/>
          </p:nvPr>
        </p:nvSpPr>
        <p:spPr/>
        <p:txBody>
          <a:bodyPr/>
          <a:lstStyle/>
          <a:p>
            <a:fld id="{A6313FD6-7C7B-4426-BFC4-490AC0CFBE05}" type="slidenum">
              <a:rPr lang="en-US" smtClean="0"/>
              <a:t>17</a:t>
            </a:fld>
            <a:endParaRPr lang="en-US"/>
          </a:p>
        </p:txBody>
      </p:sp>
    </p:spTree>
    <p:extLst>
      <p:ext uri="{BB962C8B-B14F-4D97-AF65-F5344CB8AC3E}">
        <p14:creationId xmlns:p14="http://schemas.microsoft.com/office/powerpoint/2010/main" val="4281364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10/30/2026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ccb.jhu.edu/software/stringtie/gff.shtm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ccb.jhu.edu/software/stringtie/gff.s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ccb.jhu.edu/software/stringtie/gff.s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ccb.jhu.edu/software/stringtie/gff.s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10</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BB8C-6D26-E7CE-00B3-168F05C536BC}"/>
              </a:ext>
            </a:extLst>
          </p:cNvPr>
          <p:cNvSpPr>
            <a:spLocks noGrp="1"/>
          </p:cNvSpPr>
          <p:nvPr>
            <p:ph type="title"/>
          </p:nvPr>
        </p:nvSpPr>
        <p:spPr/>
        <p:txBody>
          <a:bodyPr>
            <a:normAutofit fontScale="90000"/>
          </a:bodyPr>
          <a:lstStyle/>
          <a:p>
            <a:r>
              <a:rPr lang="en-US" dirty="0"/>
              <a:t>Evaluating transcript assembly</a:t>
            </a:r>
          </a:p>
        </p:txBody>
      </p:sp>
      <p:sp>
        <p:nvSpPr>
          <p:cNvPr id="3" name="Content Placeholder 2">
            <a:extLst>
              <a:ext uri="{FF2B5EF4-FFF2-40B4-BE49-F238E27FC236}">
                <a16:creationId xmlns:a16="http://schemas.microsoft.com/office/drawing/2014/main" id="{EA47D1B9-170D-520A-C276-39860A1323E0}"/>
              </a:ext>
            </a:extLst>
          </p:cNvPr>
          <p:cNvSpPr>
            <a:spLocks noGrp="1"/>
          </p:cNvSpPr>
          <p:nvPr>
            <p:ph idx="1"/>
          </p:nvPr>
        </p:nvSpPr>
        <p:spPr>
          <a:xfrm>
            <a:off x="598620" y="1596540"/>
            <a:ext cx="10972800" cy="4581150"/>
          </a:xfrm>
        </p:spPr>
        <p:txBody>
          <a:bodyPr>
            <a:normAutofit lnSpcReduction="10000"/>
          </a:bodyPr>
          <a:lstStyle/>
          <a:p>
            <a:r>
              <a:rPr lang="en-US" dirty="0">
                <a:latin typeface="Calibri" panose="020F0502020204030204" pitchFamily="34" charset="0"/>
                <a:cs typeface="Calibri" panose="020F0502020204030204" pitchFamily="34" charset="0"/>
              </a:rPr>
              <a:t>We want to compare the assembly output against a benchmark transcriptome where correct sequences of all transcripts are known.</a:t>
            </a:r>
          </a:p>
          <a:p>
            <a:pPr marL="285750" indent="-285750">
              <a:buFontTx/>
              <a:buChar char="-"/>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Limitations of using a known reference transcriptome</a:t>
            </a:r>
            <a:r>
              <a:rPr lang="en-US" dirty="0">
                <a:latin typeface="Calibri" panose="020F0502020204030204" pitchFamily="34" charset="0"/>
                <a:cs typeface="Calibri" panose="020F0502020204030204" pitchFamily="34" charset="0"/>
              </a:rPr>
              <a:t>:</a:t>
            </a:r>
          </a:p>
          <a:p>
            <a:pPr marL="285750" indent="-285750">
              <a:buFontTx/>
              <a:buChar char="-"/>
            </a:pPr>
            <a:r>
              <a:rPr lang="en-US" dirty="0">
                <a:latin typeface="Calibri" panose="020F0502020204030204" pitchFamily="34" charset="0"/>
                <a:cs typeface="Calibri" panose="020F0502020204030204" pitchFamily="34" charset="0"/>
              </a:rPr>
              <a:t>variability in the transcriptome (e.g. among e.g. cell types) makes  it impossible to determine whether sequences from the reference that are missing from the assembled transcriptome are due to assembly errors, or whether they were not expressed in the library sequenced</a:t>
            </a:r>
          </a:p>
          <a:p>
            <a:pPr marL="285750" indent="-285750">
              <a:buFontTx/>
              <a:buChar char="-"/>
            </a:pPr>
            <a:r>
              <a:rPr lang="en-US" dirty="0">
                <a:latin typeface="Calibri" panose="020F0502020204030204" pitchFamily="34" charset="0"/>
                <a:cs typeface="Calibri" panose="020F0502020204030204" pitchFamily="34" charset="0"/>
              </a:rPr>
              <a:t>transcriptome sequences may also vary between the individual under study and the reference</a:t>
            </a:r>
          </a:p>
        </p:txBody>
      </p:sp>
      <p:sp>
        <p:nvSpPr>
          <p:cNvPr id="4" name="Slide Number Placeholder 3">
            <a:extLst>
              <a:ext uri="{FF2B5EF4-FFF2-40B4-BE49-F238E27FC236}">
                <a16:creationId xmlns:a16="http://schemas.microsoft.com/office/drawing/2014/main" id="{93F364A0-E602-1C0F-ABF0-AD654D7FC850}"/>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2290969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3CC5-F089-7B6F-131C-C16F6C9FAD69}"/>
              </a:ext>
            </a:extLst>
          </p:cNvPr>
          <p:cNvSpPr>
            <a:spLocks noGrp="1"/>
          </p:cNvSpPr>
          <p:nvPr>
            <p:ph type="title"/>
          </p:nvPr>
        </p:nvSpPr>
        <p:spPr/>
        <p:txBody>
          <a:bodyPr>
            <a:normAutofit fontScale="90000"/>
          </a:bodyPr>
          <a:lstStyle/>
          <a:p>
            <a:r>
              <a:rPr lang="en-US" dirty="0"/>
              <a:t>Common reference annotation databases</a:t>
            </a:r>
          </a:p>
        </p:txBody>
      </p:sp>
      <p:sp>
        <p:nvSpPr>
          <p:cNvPr id="4" name="Slide Number Placeholder 3">
            <a:extLst>
              <a:ext uri="{FF2B5EF4-FFF2-40B4-BE49-F238E27FC236}">
                <a16:creationId xmlns:a16="http://schemas.microsoft.com/office/drawing/2014/main" id="{2B72676A-6BD9-BA95-F734-CAC5B5F11A80}"/>
              </a:ext>
            </a:extLst>
          </p:cNvPr>
          <p:cNvSpPr>
            <a:spLocks noGrp="1"/>
          </p:cNvSpPr>
          <p:nvPr>
            <p:ph type="sldNum" sz="quarter" idx="12"/>
          </p:nvPr>
        </p:nvSpPr>
        <p:spPr/>
        <p:txBody>
          <a:bodyPr/>
          <a:lstStyle/>
          <a:p>
            <a:fld id="{B82CCC60-E8CD-4174-8B1A-7DF615B22EEF}" type="slidenum">
              <a:rPr lang="en-US" smtClean="0"/>
              <a:pPr/>
              <a:t>3</a:t>
            </a:fld>
            <a:endParaRPr lang="en-US"/>
          </a:p>
        </p:txBody>
      </p:sp>
      <p:sp>
        <p:nvSpPr>
          <p:cNvPr id="7" name="Content Placeholder 6">
            <a:extLst>
              <a:ext uri="{FF2B5EF4-FFF2-40B4-BE49-F238E27FC236}">
                <a16:creationId xmlns:a16="http://schemas.microsoft.com/office/drawing/2014/main" id="{4FBE7125-6198-264D-1FB2-291E2C8F2ADE}"/>
              </a:ext>
            </a:extLst>
          </p:cNvPr>
          <p:cNvSpPr>
            <a:spLocks noGrp="1"/>
          </p:cNvSpPr>
          <p:nvPr>
            <p:ph idx="1"/>
          </p:nvPr>
        </p:nvSpPr>
        <p:spPr>
          <a:xfrm>
            <a:off x="568534" y="1679713"/>
            <a:ext cx="9042606" cy="5041763"/>
          </a:xfrm>
        </p:spPr>
        <p:txBody>
          <a:bodyPr>
            <a:normAutofit fontScale="70000" lnSpcReduction="20000"/>
          </a:bodyPr>
          <a:lstStyle/>
          <a:p>
            <a:r>
              <a:rPr lang="en-US" dirty="0"/>
              <a:t>GENCODE annotation is made by merging the manual gene annotation produced by </a:t>
            </a:r>
            <a:r>
              <a:rPr lang="en-US" dirty="0" err="1"/>
              <a:t>Ensembl</a:t>
            </a:r>
            <a:r>
              <a:rPr lang="en-US" dirty="0"/>
              <a:t>-Havana team with the </a:t>
            </a:r>
            <a:r>
              <a:rPr lang="en-US" dirty="0" err="1"/>
              <a:t>Ensembl-genebuild</a:t>
            </a:r>
            <a:r>
              <a:rPr lang="en-US" dirty="0"/>
              <a:t> automated annotation</a:t>
            </a:r>
          </a:p>
          <a:p>
            <a:pPr lvl="1"/>
            <a:r>
              <a:rPr lang="en-US" dirty="0"/>
              <a:t>Generally more permissive, contains more transcripts, incomplete protein coding genes</a:t>
            </a:r>
          </a:p>
          <a:p>
            <a:pPr lvl="1"/>
            <a:r>
              <a:rPr lang="en-US" dirty="0"/>
              <a:t>Human annotation contains over 600,000 transcripts</a:t>
            </a:r>
          </a:p>
          <a:p>
            <a:pPr lvl="1"/>
            <a:endParaRPr lang="en-US" dirty="0"/>
          </a:p>
          <a:p>
            <a:pPr lvl="1"/>
            <a:endParaRPr lang="en-US" dirty="0"/>
          </a:p>
          <a:p>
            <a:r>
              <a:rPr lang="en-US" dirty="0" err="1"/>
              <a:t>RefSeq</a:t>
            </a:r>
            <a:r>
              <a:rPr lang="en-US" dirty="0"/>
              <a:t> annotation is produced, curated and hosted by NCBI</a:t>
            </a:r>
          </a:p>
          <a:p>
            <a:pPr lvl="1"/>
            <a:r>
              <a:rPr lang="en-US" dirty="0"/>
              <a:t>More conservative, only complete proteins</a:t>
            </a:r>
          </a:p>
          <a:p>
            <a:pPr lvl="1"/>
            <a:r>
              <a:rPr lang="en-US" dirty="0"/>
              <a:t>Human annotation contains about 200,000 transcripts</a:t>
            </a:r>
          </a:p>
          <a:p>
            <a:pPr lvl="1"/>
            <a:endParaRPr lang="en-US" dirty="0"/>
          </a:p>
          <a:p>
            <a:endParaRPr lang="en-US" dirty="0"/>
          </a:p>
          <a:p>
            <a:r>
              <a:rPr lang="en-US" dirty="0"/>
              <a:t>CHESS annotation is built at JHU from &gt;20000 RNA-seq (</a:t>
            </a:r>
            <a:r>
              <a:rPr lang="en-US" dirty="0" err="1"/>
              <a:t>GTEx</a:t>
            </a:r>
            <a:r>
              <a:rPr lang="en-US" dirty="0"/>
              <a:t>) data sets, highly curated, some </a:t>
            </a:r>
            <a:r>
              <a:rPr lang="en-US" dirty="0" err="1"/>
              <a:t>RefSeq</a:t>
            </a:r>
            <a:r>
              <a:rPr lang="en-US" dirty="0"/>
              <a:t> transcripts are imported </a:t>
            </a:r>
          </a:p>
          <a:p>
            <a:pPr lvl="1"/>
            <a:r>
              <a:rPr lang="en-US" dirty="0"/>
              <a:t>Human annotation contains about 141,000 transcripts</a:t>
            </a:r>
          </a:p>
        </p:txBody>
      </p:sp>
      <p:pic>
        <p:nvPicPr>
          <p:cNvPr id="9" name="Picture 8">
            <a:extLst>
              <a:ext uri="{FF2B5EF4-FFF2-40B4-BE49-F238E27FC236}">
                <a16:creationId xmlns:a16="http://schemas.microsoft.com/office/drawing/2014/main" id="{8A0E811A-7FF3-C624-B8E7-E241DBBF2B90}"/>
              </a:ext>
            </a:extLst>
          </p:cNvPr>
          <p:cNvPicPr>
            <a:picLocks noChangeAspect="1"/>
          </p:cNvPicPr>
          <p:nvPr/>
        </p:nvPicPr>
        <p:blipFill>
          <a:blip r:embed="rId2"/>
          <a:stretch>
            <a:fillRect/>
          </a:stretch>
        </p:blipFill>
        <p:spPr>
          <a:xfrm>
            <a:off x="7675281" y="5682321"/>
            <a:ext cx="3658111" cy="495369"/>
          </a:xfrm>
          <a:prstGeom prst="rect">
            <a:avLst/>
          </a:prstGeom>
        </p:spPr>
      </p:pic>
      <p:pic>
        <p:nvPicPr>
          <p:cNvPr id="11" name="Picture 10">
            <a:extLst>
              <a:ext uri="{FF2B5EF4-FFF2-40B4-BE49-F238E27FC236}">
                <a16:creationId xmlns:a16="http://schemas.microsoft.com/office/drawing/2014/main" id="{B9AE46AE-862F-4E81-37DE-3639AB945A3A}"/>
              </a:ext>
            </a:extLst>
          </p:cNvPr>
          <p:cNvPicPr>
            <a:picLocks noChangeAspect="1"/>
          </p:cNvPicPr>
          <p:nvPr/>
        </p:nvPicPr>
        <p:blipFill>
          <a:blip r:embed="rId3"/>
          <a:stretch>
            <a:fillRect/>
          </a:stretch>
        </p:blipFill>
        <p:spPr>
          <a:xfrm>
            <a:off x="7038256" y="4009934"/>
            <a:ext cx="5153744" cy="352474"/>
          </a:xfrm>
          <a:prstGeom prst="rect">
            <a:avLst/>
          </a:prstGeom>
        </p:spPr>
      </p:pic>
      <p:pic>
        <p:nvPicPr>
          <p:cNvPr id="13" name="Picture 12">
            <a:extLst>
              <a:ext uri="{FF2B5EF4-FFF2-40B4-BE49-F238E27FC236}">
                <a16:creationId xmlns:a16="http://schemas.microsoft.com/office/drawing/2014/main" id="{F23E1190-4032-0C5C-F35D-7AE20B14508B}"/>
              </a:ext>
            </a:extLst>
          </p:cNvPr>
          <p:cNvPicPr>
            <a:picLocks noChangeAspect="1"/>
          </p:cNvPicPr>
          <p:nvPr/>
        </p:nvPicPr>
        <p:blipFill>
          <a:blip r:embed="rId4"/>
          <a:stretch>
            <a:fillRect/>
          </a:stretch>
        </p:blipFill>
        <p:spPr>
          <a:xfrm>
            <a:off x="9613411" y="1587307"/>
            <a:ext cx="2010056" cy="781159"/>
          </a:xfrm>
          <a:prstGeom prst="rect">
            <a:avLst/>
          </a:prstGeom>
        </p:spPr>
      </p:pic>
    </p:spTree>
    <p:extLst>
      <p:ext uri="{BB962C8B-B14F-4D97-AF65-F5344CB8AC3E}">
        <p14:creationId xmlns:p14="http://schemas.microsoft.com/office/powerpoint/2010/main" val="124843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60BE4-AB11-6FEE-CBBB-54E39AB88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816BB-49DC-B7A6-B85C-C187915E504D}"/>
              </a:ext>
            </a:extLst>
          </p:cNvPr>
          <p:cNvSpPr>
            <a:spLocks noGrp="1"/>
          </p:cNvSpPr>
          <p:nvPr>
            <p:ph type="title"/>
          </p:nvPr>
        </p:nvSpPr>
        <p:spPr/>
        <p:txBody>
          <a:bodyPr>
            <a:normAutofit fontScale="90000"/>
          </a:bodyPr>
          <a:lstStyle/>
          <a:p>
            <a:r>
              <a:rPr lang="en-US" dirty="0"/>
              <a:t>Evaluating </a:t>
            </a:r>
            <a:r>
              <a:rPr lang="en-US" dirty="0" err="1"/>
              <a:t>agains</a:t>
            </a:r>
            <a:r>
              <a:rPr lang="en-US" dirty="0"/>
              <a:t> the reference</a:t>
            </a:r>
          </a:p>
        </p:txBody>
      </p:sp>
      <p:sp>
        <p:nvSpPr>
          <p:cNvPr id="3" name="Content Placeholder 2">
            <a:extLst>
              <a:ext uri="{FF2B5EF4-FFF2-40B4-BE49-F238E27FC236}">
                <a16:creationId xmlns:a16="http://schemas.microsoft.com/office/drawing/2014/main" id="{B4B53EB6-1A0E-1499-57CF-08AE4F8261EF}"/>
              </a:ext>
            </a:extLst>
          </p:cNvPr>
          <p:cNvSpPr>
            <a:spLocks noGrp="1"/>
          </p:cNvSpPr>
          <p:nvPr>
            <p:ph idx="1"/>
          </p:nvPr>
        </p:nvSpPr>
        <p:spPr>
          <a:xfrm>
            <a:off x="327259" y="1596540"/>
            <a:ext cx="11244161" cy="4948639"/>
          </a:xfrm>
        </p:spPr>
        <p:txBody>
          <a:bodyPr>
            <a:normAutofit/>
          </a:bodyPr>
          <a:lstStyle/>
          <a:p>
            <a:r>
              <a:rPr lang="en-US" dirty="0">
                <a:latin typeface="Calibri" panose="020F0502020204030204" pitchFamily="34" charset="0"/>
                <a:cs typeface="Calibri" panose="020F0502020204030204" pitchFamily="34" charset="0"/>
              </a:rPr>
              <a:t>REMEMBER: there is no single complete reference (even human annotation is not perfect):</a:t>
            </a:r>
          </a:p>
          <a:p>
            <a:pPr lvl="1"/>
            <a:r>
              <a:rPr lang="en-US" dirty="0">
                <a:latin typeface="Calibri" panose="020F0502020204030204" pitchFamily="34" charset="0"/>
                <a:cs typeface="Calibri" panose="020F0502020204030204" pitchFamily="34" charset="0"/>
              </a:rPr>
              <a:t>If assembled transcript matches the reference, it is most likely correct</a:t>
            </a:r>
          </a:p>
          <a:p>
            <a:pPr lvl="1"/>
            <a:r>
              <a:rPr lang="en-US" dirty="0">
                <a:latin typeface="Calibri" panose="020F0502020204030204" pitchFamily="34" charset="0"/>
                <a:cs typeface="Calibri" panose="020F0502020204030204" pitchFamily="34" charset="0"/>
              </a:rPr>
              <a:t>If assembled transcript does not match the reference, it </a:t>
            </a:r>
            <a:r>
              <a:rPr lang="en-US" i="1" dirty="0">
                <a:latin typeface="Calibri" panose="020F0502020204030204" pitchFamily="34" charset="0"/>
                <a:cs typeface="Calibri" panose="020F0502020204030204" pitchFamily="34" charset="0"/>
              </a:rPr>
              <a:t>may be </a:t>
            </a:r>
            <a:r>
              <a:rPr lang="en-US" dirty="0">
                <a:latin typeface="Calibri" panose="020F0502020204030204" pitchFamily="34" charset="0"/>
                <a:cs typeface="Calibri" panose="020F0502020204030204" pitchFamily="34" charset="0"/>
              </a:rPr>
              <a:t>correct</a:t>
            </a:r>
          </a:p>
          <a:p>
            <a:pPr lvl="1"/>
            <a:r>
              <a:rPr lang="en-US" dirty="0">
                <a:latin typeface="Calibri" panose="020F0502020204030204" pitchFamily="34" charset="0"/>
                <a:cs typeface="Calibri" panose="020F0502020204030204" pitchFamily="34" charset="0"/>
              </a:rPr>
              <a:t>Transcript may match one reference version but not the other</a:t>
            </a:r>
          </a:p>
          <a:p>
            <a:pPr lvl="1"/>
            <a:endParaRPr lang="en-US" dirty="0">
              <a:latin typeface="Calibri" panose="020F0502020204030204" pitchFamily="34" charset="0"/>
              <a:cs typeface="Calibri" panose="020F0502020204030204" pitchFamily="34" charset="0"/>
            </a:endParaRPr>
          </a:p>
          <a:p>
            <a:pPr lvl="1"/>
            <a:endParaRPr lang="en-US" dirty="0">
              <a:latin typeface="Calibri" panose="020F0502020204030204" pitchFamily="34" charset="0"/>
              <a:cs typeface="Calibri" panose="020F0502020204030204" pitchFamily="34" charset="0"/>
            </a:endParaRPr>
          </a:p>
          <a:p>
            <a:pPr marL="457200" lvl="1" indent="0">
              <a:buNone/>
            </a:pPr>
            <a:endParaRPr lang="en-US" dirty="0">
              <a:latin typeface="Calibri" panose="020F0502020204030204" pitchFamily="34" charset="0"/>
              <a:cs typeface="Calibri" panose="020F0502020204030204" pitchFamily="34" charset="0"/>
            </a:endParaRPr>
          </a:p>
          <a:p>
            <a:pPr lvl="1"/>
            <a:endParaRPr lang="en-US" dirty="0">
              <a:latin typeface="Calibri" panose="020F0502020204030204" pitchFamily="34" charset="0"/>
              <a:cs typeface="Calibri" panose="020F0502020204030204" pitchFamily="34" charset="0"/>
            </a:endParaRPr>
          </a:p>
          <a:p>
            <a:endParaRPr lang="en-US" dirty="0">
              <a:latin typeface="AdvTT6489ba6c"/>
            </a:endParaRPr>
          </a:p>
          <a:p>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E01A8A10-BEDE-1871-F490-1FC14B0F46CB}"/>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3756441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B54-E036-D6E7-EE36-5CD76AC5F792}"/>
              </a:ext>
            </a:extLst>
          </p:cNvPr>
          <p:cNvSpPr>
            <a:spLocks noGrp="1"/>
          </p:cNvSpPr>
          <p:nvPr>
            <p:ph type="title"/>
          </p:nvPr>
        </p:nvSpPr>
        <p:spPr/>
        <p:txBody>
          <a:bodyPr>
            <a:normAutofit fontScale="90000"/>
          </a:bodyPr>
          <a:lstStyle/>
          <a:p>
            <a:r>
              <a:rPr lang="en-US" dirty="0"/>
              <a:t>Benchmark transcriptome</a:t>
            </a:r>
          </a:p>
        </p:txBody>
      </p:sp>
      <p:sp>
        <p:nvSpPr>
          <p:cNvPr id="3" name="Content Placeholder 2">
            <a:extLst>
              <a:ext uri="{FF2B5EF4-FFF2-40B4-BE49-F238E27FC236}">
                <a16:creationId xmlns:a16="http://schemas.microsoft.com/office/drawing/2014/main" id="{72435F73-7EFD-DF06-380A-5766C516EF3C}"/>
              </a:ext>
            </a:extLst>
          </p:cNvPr>
          <p:cNvSpPr>
            <a:spLocks noGrp="1"/>
          </p:cNvSpPr>
          <p:nvPr>
            <p:ph idx="1"/>
          </p:nvPr>
        </p:nvSpPr>
        <p:spPr>
          <a:xfrm>
            <a:off x="327259" y="1596540"/>
            <a:ext cx="11244161" cy="4948639"/>
          </a:xfrm>
        </p:spPr>
        <p:txBody>
          <a:bodyPr>
            <a:normAutofit fontScale="92500" lnSpcReduction="10000"/>
          </a:bodyPr>
          <a:lstStyle/>
          <a:p>
            <a:r>
              <a:rPr lang="en-US" dirty="0">
                <a:latin typeface="Calibri" panose="020F0502020204030204" pitchFamily="34" charset="0"/>
                <a:cs typeface="Calibri" panose="020F0502020204030204" pitchFamily="34" charset="0"/>
              </a:rPr>
              <a:t>We don’t have RNA-seq data from a transcriptome where all transcript sequences and expression patterns are known =&gt; can simulate the sequencing of a given benchmark transcriptome to comprehensively assess all assembly errors.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Tools that can generate simulated reads modeling the errors and biases introduced by </a:t>
            </a:r>
          </a:p>
          <a:p>
            <a:pPr lvl="1"/>
            <a:r>
              <a:rPr lang="en-US" dirty="0">
                <a:latin typeface="Calibri" panose="020F0502020204030204" pitchFamily="34" charset="0"/>
                <a:cs typeface="Calibri" panose="020F0502020204030204" pitchFamily="34" charset="0"/>
              </a:rPr>
              <a:t>short Illumina RNA-seq reads: RSEM, </a:t>
            </a:r>
            <a:r>
              <a:rPr lang="en-US" dirty="0" err="1">
                <a:latin typeface="Calibri" panose="020F0502020204030204" pitchFamily="34" charset="0"/>
                <a:cs typeface="Calibri" panose="020F0502020204030204" pitchFamily="34" charset="0"/>
              </a:rPr>
              <a:t>FluxSimulator</a:t>
            </a:r>
            <a:r>
              <a:rPr lang="en-US" dirty="0">
                <a:latin typeface="Calibri" panose="020F0502020204030204" pitchFamily="34" charset="0"/>
                <a:cs typeface="Calibri" panose="020F0502020204030204" pitchFamily="34" charset="0"/>
              </a:rPr>
              <a:t>, Polyester</a:t>
            </a:r>
          </a:p>
          <a:p>
            <a:pPr lvl="1"/>
            <a:r>
              <a:rPr lang="en-US" dirty="0">
                <a:latin typeface="Calibri" panose="020F0502020204030204" pitchFamily="34" charset="0"/>
                <a:cs typeface="Calibri" panose="020F0502020204030204" pitchFamily="34" charset="0"/>
              </a:rPr>
              <a:t>long transcriptome sequencing reads: PBSIM, Trans-</a:t>
            </a:r>
            <a:r>
              <a:rPr lang="en-US" dirty="0" err="1">
                <a:latin typeface="Calibri" panose="020F0502020204030204" pitchFamily="34" charset="0"/>
                <a:cs typeface="Calibri" panose="020F0502020204030204" pitchFamily="34" charset="0"/>
              </a:rPr>
              <a:t>NanoSim</a:t>
            </a:r>
            <a:r>
              <a:rPr lang="en-US" dirty="0">
                <a:latin typeface="Calibri" panose="020F0502020204030204" pitchFamily="34" charset="0"/>
                <a:cs typeface="Calibri" panose="020F0502020204030204" pitchFamily="34" charset="0"/>
              </a:rPr>
              <a:t> </a:t>
            </a:r>
          </a:p>
          <a:p>
            <a:pPr marL="457200" lvl="1" indent="0">
              <a:buNone/>
            </a:pP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Simulated data can only be used to test the validity of an algorithm – it is a </a:t>
            </a:r>
            <a:r>
              <a:rPr lang="en-US" i="1" dirty="0">
                <a:latin typeface="Calibri" panose="020F0502020204030204" pitchFamily="34" charset="0"/>
                <a:cs typeface="Calibri" panose="020F0502020204030204" pitchFamily="34" charset="0"/>
              </a:rPr>
              <a:t>necessary</a:t>
            </a:r>
            <a:r>
              <a:rPr lang="en-US" dirty="0">
                <a:latin typeface="Calibri" panose="020F0502020204030204" pitchFamily="34" charset="0"/>
                <a:cs typeface="Calibri" panose="020F0502020204030204" pitchFamily="34" charset="0"/>
              </a:rPr>
              <a:t>, but not </a:t>
            </a:r>
            <a:r>
              <a:rPr lang="en-US" i="1" dirty="0">
                <a:latin typeface="Calibri" panose="020F0502020204030204" pitchFamily="34" charset="0"/>
                <a:cs typeface="Calibri" panose="020F0502020204030204" pitchFamily="34" charset="0"/>
              </a:rPr>
              <a:t>sufficient</a:t>
            </a:r>
            <a:r>
              <a:rPr lang="en-US" dirty="0">
                <a:latin typeface="Calibri" panose="020F0502020204030204" pitchFamily="34" charset="0"/>
                <a:cs typeface="Calibri" panose="020F0502020204030204" pitchFamily="34" charset="0"/>
              </a:rPr>
              <a:t> performance criteria</a:t>
            </a:r>
          </a:p>
          <a:p>
            <a:endParaRPr lang="en-US" dirty="0">
              <a:latin typeface="Calibri" panose="020F0502020204030204" pitchFamily="34" charset="0"/>
              <a:cs typeface="Calibri" panose="020F0502020204030204" pitchFamily="34" charset="0"/>
            </a:endParaRPr>
          </a:p>
          <a:p>
            <a:pPr marL="285750" indent="-285750">
              <a:buFontTx/>
              <a:buChar char="-"/>
            </a:pPr>
            <a:endParaRPr lang="en-US" dirty="0">
              <a:latin typeface="Calibri" panose="020F0502020204030204" pitchFamily="34" charset="0"/>
              <a:cs typeface="Calibri" panose="020F0502020204030204" pitchFamily="34" charset="0"/>
            </a:endParaRPr>
          </a:p>
          <a:p>
            <a:endParaRPr lang="en-US" dirty="0">
              <a:latin typeface="AdvTT6489ba6c"/>
            </a:endParaRPr>
          </a:p>
          <a:p>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8A1D15BB-2C5D-8F0F-2D0C-9EB1CE4B67AA}"/>
              </a:ext>
            </a:extLst>
          </p:cNvPr>
          <p:cNvSpPr>
            <a:spLocks noGrp="1"/>
          </p:cNvSpPr>
          <p:nvPr>
            <p:ph type="sldNum" sz="quarter" idx="12"/>
          </p:nvPr>
        </p:nvSpPr>
        <p:spPr/>
        <p:txBody>
          <a:bodyPr/>
          <a:lstStyle/>
          <a:p>
            <a:fld id="{B82CCC60-E8CD-4174-8B1A-7DF615B22EEF}" type="slidenum">
              <a:rPr lang="en-US" smtClean="0"/>
              <a:pPr/>
              <a:t>5</a:t>
            </a:fld>
            <a:endParaRPr lang="en-US"/>
          </a:p>
        </p:txBody>
      </p:sp>
    </p:spTree>
    <p:extLst>
      <p:ext uri="{BB962C8B-B14F-4D97-AF65-F5344CB8AC3E}">
        <p14:creationId xmlns:p14="http://schemas.microsoft.com/office/powerpoint/2010/main" val="412751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AB98F-62FB-803A-7521-602243826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E73BE-2F9B-E3B3-19EC-1B36B18FC9EF}"/>
              </a:ext>
            </a:extLst>
          </p:cNvPr>
          <p:cNvSpPr>
            <a:spLocks noGrp="1"/>
          </p:cNvSpPr>
          <p:nvPr>
            <p:ph type="title"/>
          </p:nvPr>
        </p:nvSpPr>
        <p:spPr/>
        <p:txBody>
          <a:bodyPr>
            <a:normAutofit fontScale="90000"/>
          </a:bodyPr>
          <a:lstStyle/>
          <a:p>
            <a:r>
              <a:rPr lang="en-US" dirty="0"/>
              <a:t>Benchmark transcriptome</a:t>
            </a:r>
          </a:p>
        </p:txBody>
      </p:sp>
      <p:sp>
        <p:nvSpPr>
          <p:cNvPr id="3" name="Content Placeholder 2">
            <a:extLst>
              <a:ext uri="{FF2B5EF4-FFF2-40B4-BE49-F238E27FC236}">
                <a16:creationId xmlns:a16="http://schemas.microsoft.com/office/drawing/2014/main" id="{DCA1204D-7970-ACB2-27DF-9650DE0A4466}"/>
              </a:ext>
            </a:extLst>
          </p:cNvPr>
          <p:cNvSpPr>
            <a:spLocks noGrp="1"/>
          </p:cNvSpPr>
          <p:nvPr>
            <p:ph idx="1"/>
          </p:nvPr>
        </p:nvSpPr>
        <p:spPr>
          <a:xfrm>
            <a:off x="327259" y="1596540"/>
            <a:ext cx="11244161" cy="4948639"/>
          </a:xfrm>
        </p:spPr>
        <p:txBody>
          <a:bodyPr>
            <a:normAutofit fontScale="85000" lnSpcReduction="20000"/>
          </a:bodyPr>
          <a:lstStyle/>
          <a:p>
            <a:pPr marL="0" indent="0">
              <a:buNone/>
            </a:pPr>
            <a:r>
              <a:rPr lang="en-US" dirty="0">
                <a:latin typeface="Calibri" panose="020F0502020204030204" pitchFamily="34" charset="0"/>
                <a:cs typeface="Calibri" panose="020F0502020204030204" pitchFamily="34" charset="0"/>
              </a:rPr>
              <a:t>Compare to the reference</a:t>
            </a:r>
          </a:p>
          <a:p>
            <a:endParaRPr lang="en-US" dirty="0">
              <a:latin typeface="Calibri" panose="020F0502020204030204" pitchFamily="34" charset="0"/>
              <a:cs typeface="Calibri" panose="020F0502020204030204" pitchFamily="34" charset="0"/>
            </a:endParaRPr>
          </a:p>
          <a:p>
            <a:r>
              <a:rPr lang="en-US" sz="3200" dirty="0">
                <a:latin typeface="AdvTT6489ba6c"/>
              </a:rPr>
              <a:t>P – positive</a:t>
            </a:r>
          </a:p>
          <a:p>
            <a:r>
              <a:rPr lang="en-US" sz="3200" dirty="0">
                <a:latin typeface="AdvTT6489ba6c"/>
              </a:rPr>
              <a:t>N – negative</a:t>
            </a:r>
          </a:p>
          <a:p>
            <a:endParaRPr lang="en-US" dirty="0">
              <a:latin typeface="AdvTT6489ba6c"/>
            </a:endParaRPr>
          </a:p>
          <a:p>
            <a:r>
              <a:rPr lang="en-US" dirty="0">
                <a:latin typeface="AdvTT6489ba6c"/>
                <a:sym typeface="Wingdings" panose="05000000000000000000" pitchFamily="2" charset="2"/>
              </a:rPr>
              <a:t> </a:t>
            </a:r>
            <a:r>
              <a:rPr lang="en-US" dirty="0">
                <a:latin typeface="AdvTT6489ba6c"/>
              </a:rPr>
              <a:t>TP – True Positive, we found correct transcript</a:t>
            </a:r>
          </a:p>
          <a:p>
            <a:r>
              <a:rPr lang="en-US" dirty="0">
                <a:latin typeface="AdvTT6489ba6c"/>
                <a:sym typeface="Wingdings" panose="05000000000000000000" pitchFamily="2" charset="2"/>
              </a:rPr>
              <a:t> </a:t>
            </a:r>
            <a:r>
              <a:rPr lang="en-US" dirty="0">
                <a:latin typeface="AdvTT6489ba6c"/>
              </a:rPr>
              <a:t>TN – True Negative, we did not find transcript where there was none</a:t>
            </a:r>
          </a:p>
          <a:p>
            <a:r>
              <a:rPr lang="en-US" dirty="0">
                <a:latin typeface="AdvTT6489ba6c"/>
                <a:sym typeface="Wingdings" panose="05000000000000000000" pitchFamily="2" charset="2"/>
              </a:rPr>
              <a:t> </a:t>
            </a:r>
            <a:r>
              <a:rPr lang="en-US" dirty="0">
                <a:latin typeface="AdvTT6489ba6c"/>
              </a:rPr>
              <a:t>FP – False Positive, we found transcript where there was none</a:t>
            </a:r>
          </a:p>
          <a:p>
            <a:r>
              <a:rPr lang="en-US" dirty="0">
                <a:latin typeface="AdvTT6489ba6c"/>
                <a:sym typeface="Wingdings" panose="05000000000000000000" pitchFamily="2" charset="2"/>
              </a:rPr>
              <a:t> </a:t>
            </a:r>
            <a:r>
              <a:rPr lang="en-US" dirty="0">
                <a:latin typeface="AdvTT6489ba6c"/>
              </a:rPr>
              <a:t>FN – False Negative, we missed transcript</a:t>
            </a:r>
          </a:p>
          <a:p>
            <a:endParaRPr lang="en-US" sz="3200" dirty="0">
              <a:latin typeface="AdvTT6489ba6c"/>
            </a:endParaRPr>
          </a:p>
          <a:p>
            <a:r>
              <a:rPr lang="en-US" sz="3200" dirty="0">
                <a:latin typeface="AdvTT6489ba6c"/>
              </a:rPr>
              <a:t>P = TP + FN</a:t>
            </a:r>
          </a:p>
          <a:p>
            <a:r>
              <a:rPr lang="en-US" sz="3200" dirty="0">
                <a:latin typeface="AdvTT6489ba6c"/>
              </a:rPr>
              <a:t>N = TN + FP</a:t>
            </a:r>
            <a:endParaRPr lang="en-US" dirty="0">
              <a:latin typeface="AdvTT6489ba6c"/>
            </a:endParaRP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endParaRPr lang="en-US" dirty="0">
              <a:latin typeface="AdvTT6489ba6c"/>
            </a:endParaRPr>
          </a:p>
          <a:p>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9B2DBA20-9E18-D165-F7B5-B7D245C20F2A}"/>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1808216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1D6E1-3735-EBF6-1705-E84B594E84DC}"/>
              </a:ext>
            </a:extLst>
          </p:cNvPr>
          <p:cNvSpPr>
            <a:spLocks noGrp="1"/>
          </p:cNvSpPr>
          <p:nvPr>
            <p:ph type="title"/>
          </p:nvPr>
        </p:nvSpPr>
        <p:spPr/>
        <p:txBody>
          <a:bodyPr>
            <a:normAutofit fontScale="90000"/>
          </a:bodyPr>
          <a:lstStyle/>
          <a:p>
            <a:r>
              <a:rPr lang="en-US" dirty="0"/>
              <a:t>Assembly metrics based on benchmark</a:t>
            </a:r>
          </a:p>
        </p:txBody>
      </p:sp>
      <p:sp>
        <p:nvSpPr>
          <p:cNvPr id="4" name="Slide Number Placeholder 3">
            <a:extLst>
              <a:ext uri="{FF2B5EF4-FFF2-40B4-BE49-F238E27FC236}">
                <a16:creationId xmlns:a16="http://schemas.microsoft.com/office/drawing/2014/main" id="{E113286E-0EEC-5FEA-0A59-B26D6B5E96C7}"/>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5" name="Picture 4">
            <a:extLst>
              <a:ext uri="{FF2B5EF4-FFF2-40B4-BE49-F238E27FC236}">
                <a16:creationId xmlns:a16="http://schemas.microsoft.com/office/drawing/2014/main" id="{5E0A08B4-3B03-1666-7D11-39FD9AC9952C}"/>
              </a:ext>
            </a:extLst>
          </p:cNvPr>
          <p:cNvPicPr>
            <a:picLocks noChangeAspect="1"/>
          </p:cNvPicPr>
          <p:nvPr/>
        </p:nvPicPr>
        <p:blipFill rotWithShape="1">
          <a:blip r:embed="rId2"/>
          <a:srcRect t="2979"/>
          <a:stretch/>
        </p:blipFill>
        <p:spPr>
          <a:xfrm>
            <a:off x="223405" y="1864663"/>
            <a:ext cx="11745190" cy="4856813"/>
          </a:xfrm>
          <a:prstGeom prst="rect">
            <a:avLst/>
          </a:prstGeom>
        </p:spPr>
      </p:pic>
      <p:sp>
        <p:nvSpPr>
          <p:cNvPr id="6" name="Rectangle 5">
            <a:extLst>
              <a:ext uri="{FF2B5EF4-FFF2-40B4-BE49-F238E27FC236}">
                <a16:creationId xmlns:a16="http://schemas.microsoft.com/office/drawing/2014/main" id="{89B1DDE2-F9EA-BD6D-F6DA-BE187BCA782F}"/>
              </a:ext>
            </a:extLst>
          </p:cNvPr>
          <p:cNvSpPr/>
          <p:nvPr/>
        </p:nvSpPr>
        <p:spPr bwMode="auto">
          <a:xfrm>
            <a:off x="8315422" y="2113890"/>
            <a:ext cx="2105569" cy="100434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3200" dirty="0">
                <a:latin typeface="AdvTT6489ba6c"/>
              </a:rPr>
              <a:t>P = TP + FN</a:t>
            </a:r>
          </a:p>
          <a:p>
            <a:r>
              <a:rPr lang="en-US" sz="3200" dirty="0">
                <a:latin typeface="AdvTT6489ba6c"/>
              </a:rPr>
              <a:t>N = TN + FP</a:t>
            </a:r>
          </a:p>
        </p:txBody>
      </p:sp>
    </p:spTree>
    <p:extLst>
      <p:ext uri="{BB962C8B-B14F-4D97-AF65-F5344CB8AC3E}">
        <p14:creationId xmlns:p14="http://schemas.microsoft.com/office/powerpoint/2010/main" val="2230780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54682-97AD-1D8D-F2D1-E5F28017AE25}"/>
              </a:ext>
            </a:extLst>
          </p:cNvPr>
          <p:cNvSpPr>
            <a:spLocks noGrp="1"/>
          </p:cNvSpPr>
          <p:nvPr>
            <p:ph type="title"/>
          </p:nvPr>
        </p:nvSpPr>
        <p:spPr/>
        <p:txBody>
          <a:bodyPr>
            <a:normAutofit fontScale="90000"/>
          </a:bodyPr>
          <a:lstStyle/>
          <a:p>
            <a:r>
              <a:rPr lang="en-US" dirty="0"/>
              <a:t>Measures of correctness</a:t>
            </a:r>
          </a:p>
        </p:txBody>
      </p:sp>
      <p:sp>
        <p:nvSpPr>
          <p:cNvPr id="3" name="Content Placeholder 2">
            <a:extLst>
              <a:ext uri="{FF2B5EF4-FFF2-40B4-BE49-F238E27FC236}">
                <a16:creationId xmlns:a16="http://schemas.microsoft.com/office/drawing/2014/main" id="{FF3B533E-098A-AB07-5BD0-A182675FCD3A}"/>
              </a:ext>
            </a:extLst>
          </p:cNvPr>
          <p:cNvSpPr>
            <a:spLocks noGrp="1"/>
          </p:cNvSpPr>
          <p:nvPr>
            <p:ph idx="1"/>
          </p:nvPr>
        </p:nvSpPr>
        <p:spPr>
          <a:xfrm>
            <a:off x="194359" y="1615790"/>
            <a:ext cx="10972800" cy="3918803"/>
          </a:xfrm>
        </p:spPr>
        <p:txBody>
          <a:bodyPr/>
          <a:lstStyle/>
          <a:p>
            <a:r>
              <a:rPr lang="en-US" dirty="0"/>
              <a:t>Sensitivity (Recall), Specificity </a:t>
            </a:r>
            <a:br>
              <a:rPr lang="en-US" dirty="0"/>
            </a:br>
            <a:r>
              <a:rPr lang="en-US" dirty="0"/>
              <a:t>and Precision</a:t>
            </a:r>
          </a:p>
          <a:p>
            <a:r>
              <a:rPr lang="en-US" dirty="0"/>
              <a:t>Image credit: Wikipedia</a:t>
            </a:r>
          </a:p>
        </p:txBody>
      </p:sp>
      <p:sp>
        <p:nvSpPr>
          <p:cNvPr id="4" name="Slide Number Placeholder 3">
            <a:extLst>
              <a:ext uri="{FF2B5EF4-FFF2-40B4-BE49-F238E27FC236}">
                <a16:creationId xmlns:a16="http://schemas.microsoft.com/office/drawing/2014/main" id="{DA292D60-DA5E-14F9-0F07-0CB969D6706D}"/>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5" name="Picture 4">
            <a:extLst>
              <a:ext uri="{FF2B5EF4-FFF2-40B4-BE49-F238E27FC236}">
                <a16:creationId xmlns:a16="http://schemas.microsoft.com/office/drawing/2014/main" id="{F3340996-5475-CEF7-03C4-9CB816CECE89}"/>
              </a:ext>
            </a:extLst>
          </p:cNvPr>
          <p:cNvPicPr>
            <a:picLocks noChangeAspect="1"/>
          </p:cNvPicPr>
          <p:nvPr/>
        </p:nvPicPr>
        <p:blipFill>
          <a:blip r:embed="rId2"/>
          <a:stretch>
            <a:fillRect/>
          </a:stretch>
        </p:blipFill>
        <p:spPr>
          <a:xfrm>
            <a:off x="8653094" y="-13861"/>
            <a:ext cx="3538906" cy="6735337"/>
          </a:xfrm>
          <a:prstGeom prst="rect">
            <a:avLst/>
          </a:prstGeom>
        </p:spPr>
      </p:pic>
      <p:pic>
        <p:nvPicPr>
          <p:cNvPr id="6" name="Picture 5">
            <a:extLst>
              <a:ext uri="{FF2B5EF4-FFF2-40B4-BE49-F238E27FC236}">
                <a16:creationId xmlns:a16="http://schemas.microsoft.com/office/drawing/2014/main" id="{DEA48554-3C2E-C870-63A6-4244E37829CF}"/>
              </a:ext>
            </a:extLst>
          </p:cNvPr>
          <p:cNvPicPr>
            <a:picLocks noChangeAspect="1"/>
          </p:cNvPicPr>
          <p:nvPr/>
        </p:nvPicPr>
        <p:blipFill>
          <a:blip r:embed="rId3"/>
          <a:stretch>
            <a:fillRect/>
          </a:stretch>
        </p:blipFill>
        <p:spPr>
          <a:xfrm>
            <a:off x="5216423" y="-13861"/>
            <a:ext cx="3436671" cy="6858000"/>
          </a:xfrm>
          <a:prstGeom prst="rect">
            <a:avLst/>
          </a:prstGeom>
        </p:spPr>
      </p:pic>
    </p:spTree>
    <p:extLst>
      <p:ext uri="{BB962C8B-B14F-4D97-AF65-F5344CB8AC3E}">
        <p14:creationId xmlns:p14="http://schemas.microsoft.com/office/powerpoint/2010/main" val="664404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32CB-7DC8-E108-E32D-654A3AC76EE4}"/>
              </a:ext>
            </a:extLst>
          </p:cNvPr>
          <p:cNvSpPr>
            <a:spLocks noGrp="1"/>
          </p:cNvSpPr>
          <p:nvPr>
            <p:ph type="title"/>
          </p:nvPr>
        </p:nvSpPr>
        <p:spPr/>
        <p:txBody>
          <a:bodyPr>
            <a:normAutofit fontScale="90000"/>
          </a:bodyPr>
          <a:lstStyle/>
          <a:p>
            <a:r>
              <a:rPr lang="en-US" dirty="0"/>
              <a:t>Sensitivity and Specificity</a:t>
            </a:r>
          </a:p>
        </p:txBody>
      </p:sp>
      <p:sp>
        <p:nvSpPr>
          <p:cNvPr id="4" name="Slide Number Placeholder 3">
            <a:extLst>
              <a:ext uri="{FF2B5EF4-FFF2-40B4-BE49-F238E27FC236}">
                <a16:creationId xmlns:a16="http://schemas.microsoft.com/office/drawing/2014/main" id="{2F6C5A7E-4A1D-EB66-7BAD-92F3F8D03BA0}"/>
              </a:ext>
            </a:extLst>
          </p:cNvPr>
          <p:cNvSpPr>
            <a:spLocks noGrp="1"/>
          </p:cNvSpPr>
          <p:nvPr>
            <p:ph type="sldNum" sz="quarter" idx="12"/>
          </p:nvPr>
        </p:nvSpPr>
        <p:spPr/>
        <p:txBody>
          <a:bodyPr/>
          <a:lstStyle/>
          <a:p>
            <a:fld id="{B82CCC60-E8CD-4174-8B1A-7DF615B22EEF}" type="slidenum">
              <a:rPr lang="en-US" smtClean="0"/>
              <a:pPr/>
              <a:t>9</a:t>
            </a:fld>
            <a:endParaRPr lang="en-US"/>
          </a:p>
        </p:txBody>
      </p:sp>
      <p:pic>
        <p:nvPicPr>
          <p:cNvPr id="5" name="Content Placeholder 4">
            <a:extLst>
              <a:ext uri="{FF2B5EF4-FFF2-40B4-BE49-F238E27FC236}">
                <a16:creationId xmlns:a16="http://schemas.microsoft.com/office/drawing/2014/main" id="{0955CE53-1B01-98F3-BE32-FB789CB90F63}"/>
              </a:ext>
            </a:extLst>
          </p:cNvPr>
          <p:cNvPicPr>
            <a:picLocks noGrp="1" noChangeAspect="1"/>
          </p:cNvPicPr>
          <p:nvPr>
            <p:ph idx="1"/>
          </p:nvPr>
        </p:nvPicPr>
        <p:blipFill>
          <a:blip r:embed="rId2"/>
          <a:stretch>
            <a:fillRect/>
          </a:stretch>
        </p:blipFill>
        <p:spPr>
          <a:xfrm>
            <a:off x="992422" y="2019417"/>
            <a:ext cx="9010650" cy="3400425"/>
          </a:xfrm>
          <a:prstGeom prst="rect">
            <a:avLst/>
          </a:prstGeom>
        </p:spPr>
      </p:pic>
    </p:spTree>
    <p:extLst>
      <p:ext uri="{BB962C8B-B14F-4D97-AF65-F5344CB8AC3E}">
        <p14:creationId xmlns:p14="http://schemas.microsoft.com/office/powerpoint/2010/main" val="3256696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8D13-8AB2-4BAF-B355-30EA7AC66932}"/>
              </a:ext>
            </a:extLst>
          </p:cNvPr>
          <p:cNvSpPr>
            <a:spLocks noGrp="1"/>
          </p:cNvSpPr>
          <p:nvPr>
            <p:ph type="title"/>
          </p:nvPr>
        </p:nvSpPr>
        <p:spPr/>
        <p:txBody>
          <a:bodyPr>
            <a:normAutofit fontScale="90000"/>
          </a:bodyPr>
          <a:lstStyle/>
          <a:p>
            <a:r>
              <a:rPr lang="en-US"/>
              <a:t>Intron chain</a:t>
            </a:r>
            <a:endParaRPr lang="en-US" dirty="0"/>
          </a:p>
        </p:txBody>
      </p:sp>
      <p:sp>
        <p:nvSpPr>
          <p:cNvPr id="3" name="Content Placeholder 2">
            <a:extLst>
              <a:ext uri="{FF2B5EF4-FFF2-40B4-BE49-F238E27FC236}">
                <a16:creationId xmlns:a16="http://schemas.microsoft.com/office/drawing/2014/main" id="{A1D5452A-D546-4229-868B-91A050FAFBF4}"/>
              </a:ext>
            </a:extLst>
          </p:cNvPr>
          <p:cNvSpPr>
            <a:spLocks noGrp="1"/>
          </p:cNvSpPr>
          <p:nvPr>
            <p:ph idx="1"/>
          </p:nvPr>
        </p:nvSpPr>
        <p:spPr>
          <a:xfrm>
            <a:off x="598620" y="1596540"/>
            <a:ext cx="10972800" cy="4581150"/>
          </a:xfrm>
        </p:spPr>
        <p:txBody>
          <a:bodyPr>
            <a:normAutofit/>
          </a:bodyPr>
          <a:lstStyle/>
          <a:p>
            <a:r>
              <a:rPr lang="en-US" dirty="0"/>
              <a:t>Intron chain is the set of numbers corresponding to the start and end exon coordinates for spliced exons</a:t>
            </a:r>
          </a:p>
          <a:p>
            <a:r>
              <a:rPr lang="en-US" dirty="0"/>
              <a:t>Intron chain also records the strand (+, or forward) or (-, or reverse)</a:t>
            </a:r>
          </a:p>
          <a:p>
            <a:endParaRPr lang="en-US" dirty="0"/>
          </a:p>
          <a:p>
            <a:endParaRPr lang="en-US" dirty="0"/>
          </a:p>
          <a:p>
            <a:endParaRPr lang="en-US" dirty="0"/>
          </a:p>
          <a:p>
            <a:endParaRPr lang="en-US" dirty="0"/>
          </a:p>
          <a:p>
            <a:r>
              <a:rPr lang="en-US" dirty="0"/>
              <a:t>Intron chain here is (+) </a:t>
            </a:r>
            <a:r>
              <a:rPr lang="en-US" i="1" dirty="0"/>
              <a:t>i</a:t>
            </a:r>
            <a:r>
              <a:rPr lang="en-US" i="1" baseline="-25000" dirty="0"/>
              <a:t>1</a:t>
            </a:r>
            <a:r>
              <a:rPr lang="en-US" i="1" dirty="0"/>
              <a:t>, i</a:t>
            </a:r>
            <a:r>
              <a:rPr lang="en-US" i="1" baseline="-25000" dirty="0"/>
              <a:t>2</a:t>
            </a:r>
            <a:r>
              <a:rPr lang="en-US" i="1" dirty="0"/>
              <a:t>, i</a:t>
            </a:r>
            <a:r>
              <a:rPr lang="en-US" i="1" baseline="-25000" dirty="0"/>
              <a:t>3</a:t>
            </a:r>
            <a:r>
              <a:rPr lang="en-US" i="1" dirty="0"/>
              <a:t>, i</a:t>
            </a:r>
            <a:r>
              <a:rPr lang="en-US" i="1" baseline="-25000" dirty="0"/>
              <a:t>4</a:t>
            </a:r>
            <a:r>
              <a:rPr lang="en-US" i="1" dirty="0"/>
              <a:t>, i</a:t>
            </a:r>
            <a:r>
              <a:rPr lang="en-US" i="1" baseline="-25000" dirty="0"/>
              <a:t>5</a:t>
            </a:r>
            <a:r>
              <a:rPr lang="en-US" i="1" dirty="0"/>
              <a:t>, i</a:t>
            </a:r>
            <a:r>
              <a:rPr lang="en-US" i="1" baseline="-25000" dirty="0"/>
              <a:t>6 </a:t>
            </a:r>
          </a:p>
          <a:p>
            <a:r>
              <a:rPr lang="en-US" dirty="0"/>
              <a:t>Ignores start and end coordinates</a:t>
            </a:r>
          </a:p>
        </p:txBody>
      </p:sp>
      <p:sp>
        <p:nvSpPr>
          <p:cNvPr id="4" name="Slide Number Placeholder 3">
            <a:extLst>
              <a:ext uri="{FF2B5EF4-FFF2-40B4-BE49-F238E27FC236}">
                <a16:creationId xmlns:a16="http://schemas.microsoft.com/office/drawing/2014/main" id="{A362AAFA-96EF-4CD2-A09C-6C24977204B8}"/>
              </a:ext>
            </a:extLst>
          </p:cNvPr>
          <p:cNvSpPr>
            <a:spLocks noGrp="1"/>
          </p:cNvSpPr>
          <p:nvPr>
            <p:ph type="sldNum" sz="quarter" idx="12"/>
          </p:nvPr>
        </p:nvSpPr>
        <p:spPr/>
        <p:txBody>
          <a:bodyPr/>
          <a:lstStyle/>
          <a:p>
            <a:fld id="{B82CCC60-E8CD-4174-8B1A-7DF615B22EEF}" type="slidenum">
              <a:rPr lang="en-US" smtClean="0"/>
              <a:pPr/>
              <a:t>10</a:t>
            </a:fld>
            <a:endParaRPr lang="en-US"/>
          </a:p>
        </p:txBody>
      </p:sp>
      <p:sp>
        <p:nvSpPr>
          <p:cNvPr id="5" name="Line 6">
            <a:extLst>
              <a:ext uri="{FF2B5EF4-FFF2-40B4-BE49-F238E27FC236}">
                <a16:creationId xmlns:a16="http://schemas.microsoft.com/office/drawing/2014/main" id="{33413DA1-3803-48B5-A522-B4421431950A}"/>
              </a:ext>
            </a:extLst>
          </p:cNvPr>
          <p:cNvSpPr>
            <a:spLocks noChangeShapeType="1"/>
          </p:cNvSpPr>
          <p:nvPr/>
        </p:nvSpPr>
        <p:spPr bwMode="auto">
          <a:xfrm flipV="1">
            <a:off x="972593" y="4225704"/>
            <a:ext cx="9051982" cy="236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5">
            <a:extLst>
              <a:ext uri="{FF2B5EF4-FFF2-40B4-BE49-F238E27FC236}">
                <a16:creationId xmlns:a16="http://schemas.microsoft.com/office/drawing/2014/main" id="{D040F004-0300-4440-B8ED-46E57751A41B}"/>
              </a:ext>
            </a:extLst>
          </p:cNvPr>
          <p:cNvSpPr>
            <a:spLocks noChangeArrowheads="1"/>
          </p:cNvSpPr>
          <p:nvPr/>
        </p:nvSpPr>
        <p:spPr bwMode="auto">
          <a:xfrm>
            <a:off x="3259483" y="4122395"/>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r>
              <a:rPr lang="en-US" altLang="en-US" dirty="0"/>
              <a:t>    </a:t>
            </a:r>
            <a:endParaRPr lang="en-US" altLang="en-US" sz="1800" i="0" dirty="0">
              <a:solidFill>
                <a:schemeClr val="tx1"/>
              </a:solidFill>
            </a:endParaRPr>
          </a:p>
        </p:txBody>
      </p:sp>
      <p:sp>
        <p:nvSpPr>
          <p:cNvPr id="7" name="Rectangle 6">
            <a:extLst>
              <a:ext uri="{FF2B5EF4-FFF2-40B4-BE49-F238E27FC236}">
                <a16:creationId xmlns:a16="http://schemas.microsoft.com/office/drawing/2014/main" id="{EF110F88-5A96-4E08-AB2A-8842168206FF}"/>
              </a:ext>
            </a:extLst>
          </p:cNvPr>
          <p:cNvSpPr>
            <a:spLocks noChangeArrowheads="1"/>
          </p:cNvSpPr>
          <p:nvPr/>
        </p:nvSpPr>
        <p:spPr bwMode="auto">
          <a:xfrm>
            <a:off x="5264496" y="4116045"/>
            <a:ext cx="10906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sz="1800" i="0" dirty="0">
              <a:solidFill>
                <a:schemeClr val="tx1"/>
              </a:solidFill>
            </a:endParaRPr>
          </a:p>
        </p:txBody>
      </p:sp>
      <p:sp>
        <p:nvSpPr>
          <p:cNvPr id="8" name="Rectangle 7">
            <a:extLst>
              <a:ext uri="{FF2B5EF4-FFF2-40B4-BE49-F238E27FC236}">
                <a16:creationId xmlns:a16="http://schemas.microsoft.com/office/drawing/2014/main" id="{83BFE141-50F9-429D-827F-2FFD6CE59C41}"/>
              </a:ext>
            </a:extLst>
          </p:cNvPr>
          <p:cNvSpPr>
            <a:spLocks noChangeArrowheads="1"/>
          </p:cNvSpPr>
          <p:nvPr/>
        </p:nvSpPr>
        <p:spPr bwMode="auto">
          <a:xfrm>
            <a:off x="7480645" y="4122395"/>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8">
            <a:extLst>
              <a:ext uri="{FF2B5EF4-FFF2-40B4-BE49-F238E27FC236}">
                <a16:creationId xmlns:a16="http://schemas.microsoft.com/office/drawing/2014/main" id="{F3F262E8-27B6-496D-ABA8-734D043207C3}"/>
              </a:ext>
            </a:extLst>
          </p:cNvPr>
          <p:cNvSpPr>
            <a:spLocks noChangeArrowheads="1"/>
          </p:cNvSpPr>
          <p:nvPr/>
        </p:nvSpPr>
        <p:spPr bwMode="auto">
          <a:xfrm>
            <a:off x="4478683" y="4123983"/>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cxnSp>
        <p:nvCxnSpPr>
          <p:cNvPr id="10" name="Straight Connector 9">
            <a:extLst>
              <a:ext uri="{FF2B5EF4-FFF2-40B4-BE49-F238E27FC236}">
                <a16:creationId xmlns:a16="http://schemas.microsoft.com/office/drawing/2014/main" id="{13755053-DD41-4A3B-BDDF-10AB3E6AA5BE}"/>
              </a:ext>
            </a:extLst>
          </p:cNvPr>
          <p:cNvCxnSpPr>
            <a:cxnSpLocks/>
          </p:cNvCxnSpPr>
          <p:nvPr/>
        </p:nvCxnSpPr>
        <p:spPr bwMode="auto">
          <a:xfrm flipV="1">
            <a:off x="4123083" y="3727176"/>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2BEF8DDF-F119-4E65-800E-43534AD46262}"/>
              </a:ext>
            </a:extLst>
          </p:cNvPr>
          <p:cNvCxnSpPr>
            <a:cxnSpLocks/>
          </p:cNvCxnSpPr>
          <p:nvPr/>
        </p:nvCxnSpPr>
        <p:spPr bwMode="auto">
          <a:xfrm flipV="1">
            <a:off x="4478683" y="3727176"/>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a:extLst>
              <a:ext uri="{FF2B5EF4-FFF2-40B4-BE49-F238E27FC236}">
                <a16:creationId xmlns:a16="http://schemas.microsoft.com/office/drawing/2014/main" id="{91CB0433-9DE3-47D1-91E6-212FEC1B97F4}"/>
              </a:ext>
            </a:extLst>
          </p:cNvPr>
          <p:cNvCxnSpPr>
            <a:cxnSpLocks/>
          </p:cNvCxnSpPr>
          <p:nvPr/>
        </p:nvCxnSpPr>
        <p:spPr bwMode="auto">
          <a:xfrm flipV="1">
            <a:off x="526026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a:extLst>
              <a:ext uri="{FF2B5EF4-FFF2-40B4-BE49-F238E27FC236}">
                <a16:creationId xmlns:a16="http://schemas.microsoft.com/office/drawing/2014/main" id="{F0900EE1-70C9-467D-B08A-54ECFC559843}"/>
              </a:ext>
            </a:extLst>
          </p:cNvPr>
          <p:cNvCxnSpPr>
            <a:cxnSpLocks/>
          </p:cNvCxnSpPr>
          <p:nvPr/>
        </p:nvCxnSpPr>
        <p:spPr bwMode="auto">
          <a:xfrm flipV="1">
            <a:off x="4984212"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a:extLst>
              <a:ext uri="{FF2B5EF4-FFF2-40B4-BE49-F238E27FC236}">
                <a16:creationId xmlns:a16="http://schemas.microsoft.com/office/drawing/2014/main" id="{F4360D02-327F-4D70-8DEB-B4CF35D133A0}"/>
              </a:ext>
            </a:extLst>
          </p:cNvPr>
          <p:cNvCxnSpPr>
            <a:cxnSpLocks/>
          </p:cNvCxnSpPr>
          <p:nvPr/>
        </p:nvCxnSpPr>
        <p:spPr bwMode="auto">
          <a:xfrm flipV="1">
            <a:off x="636898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CF36B904-175C-4A9D-A247-838DDD775054}"/>
              </a:ext>
            </a:extLst>
          </p:cNvPr>
          <p:cNvCxnSpPr>
            <a:cxnSpLocks/>
          </p:cNvCxnSpPr>
          <p:nvPr/>
        </p:nvCxnSpPr>
        <p:spPr bwMode="auto">
          <a:xfrm flipV="1">
            <a:off x="748064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15">
            <a:extLst>
              <a:ext uri="{FF2B5EF4-FFF2-40B4-BE49-F238E27FC236}">
                <a16:creationId xmlns:a16="http://schemas.microsoft.com/office/drawing/2014/main" id="{2FA5711C-7C98-450A-ABF0-EBBC4093156E}"/>
              </a:ext>
            </a:extLst>
          </p:cNvPr>
          <p:cNvSpPr txBox="1"/>
          <p:nvPr/>
        </p:nvSpPr>
        <p:spPr>
          <a:xfrm>
            <a:off x="3954215" y="4761845"/>
            <a:ext cx="316112" cy="369332"/>
          </a:xfrm>
          <a:prstGeom prst="rect">
            <a:avLst/>
          </a:prstGeom>
          <a:noFill/>
        </p:spPr>
        <p:txBody>
          <a:bodyPr wrap="none" rtlCol="0">
            <a:spAutoFit/>
          </a:bodyPr>
          <a:lstStyle/>
          <a:p>
            <a:r>
              <a:rPr lang="en-US" i="1" dirty="0">
                <a:latin typeface="+mj-lt"/>
              </a:rPr>
              <a:t>i</a:t>
            </a:r>
            <a:r>
              <a:rPr lang="en-US" i="1" baseline="-25000" dirty="0">
                <a:latin typeface="+mj-lt"/>
              </a:rPr>
              <a:t>1</a:t>
            </a:r>
          </a:p>
        </p:txBody>
      </p:sp>
      <p:sp>
        <p:nvSpPr>
          <p:cNvPr id="17" name="TextBox 16">
            <a:extLst>
              <a:ext uri="{FF2B5EF4-FFF2-40B4-BE49-F238E27FC236}">
                <a16:creationId xmlns:a16="http://schemas.microsoft.com/office/drawing/2014/main" id="{4374D4AD-80E7-41FC-94CE-91751FADCA64}"/>
              </a:ext>
            </a:extLst>
          </p:cNvPr>
          <p:cNvSpPr txBox="1"/>
          <p:nvPr/>
        </p:nvSpPr>
        <p:spPr>
          <a:xfrm>
            <a:off x="4324876" y="4788990"/>
            <a:ext cx="316112" cy="369332"/>
          </a:xfrm>
          <a:prstGeom prst="rect">
            <a:avLst/>
          </a:prstGeom>
          <a:noFill/>
        </p:spPr>
        <p:txBody>
          <a:bodyPr wrap="none" rtlCol="0">
            <a:spAutoFit/>
          </a:bodyPr>
          <a:lstStyle/>
          <a:p>
            <a:r>
              <a:rPr lang="en-US" i="1" dirty="0">
                <a:latin typeface="+mj-lt"/>
              </a:rPr>
              <a:t>i</a:t>
            </a:r>
            <a:r>
              <a:rPr lang="en-US" i="1" baseline="-25000" dirty="0">
                <a:latin typeface="+mj-lt"/>
              </a:rPr>
              <a:t>2</a:t>
            </a:r>
          </a:p>
        </p:txBody>
      </p:sp>
      <p:sp>
        <p:nvSpPr>
          <p:cNvPr id="18" name="TextBox 17">
            <a:extLst>
              <a:ext uri="{FF2B5EF4-FFF2-40B4-BE49-F238E27FC236}">
                <a16:creationId xmlns:a16="http://schemas.microsoft.com/office/drawing/2014/main" id="{AB0A1987-D9B1-4774-9615-23E138F257F5}"/>
              </a:ext>
            </a:extLst>
          </p:cNvPr>
          <p:cNvSpPr txBox="1"/>
          <p:nvPr/>
        </p:nvSpPr>
        <p:spPr>
          <a:xfrm>
            <a:off x="4826156" y="4788990"/>
            <a:ext cx="316112" cy="369332"/>
          </a:xfrm>
          <a:prstGeom prst="rect">
            <a:avLst/>
          </a:prstGeom>
          <a:noFill/>
        </p:spPr>
        <p:txBody>
          <a:bodyPr wrap="none" rtlCol="0">
            <a:spAutoFit/>
          </a:bodyPr>
          <a:lstStyle/>
          <a:p>
            <a:r>
              <a:rPr lang="en-US" i="1" dirty="0">
                <a:latin typeface="+mj-lt"/>
              </a:rPr>
              <a:t>i</a:t>
            </a:r>
            <a:r>
              <a:rPr lang="en-US" i="1" baseline="-25000" dirty="0">
                <a:latin typeface="+mj-lt"/>
              </a:rPr>
              <a:t>3</a:t>
            </a:r>
          </a:p>
        </p:txBody>
      </p:sp>
      <p:sp>
        <p:nvSpPr>
          <p:cNvPr id="19" name="TextBox 18">
            <a:extLst>
              <a:ext uri="{FF2B5EF4-FFF2-40B4-BE49-F238E27FC236}">
                <a16:creationId xmlns:a16="http://schemas.microsoft.com/office/drawing/2014/main" id="{C7487BDC-E32D-48F8-BD41-F79AC68F0D42}"/>
              </a:ext>
            </a:extLst>
          </p:cNvPr>
          <p:cNvSpPr txBox="1"/>
          <p:nvPr/>
        </p:nvSpPr>
        <p:spPr>
          <a:xfrm>
            <a:off x="5142268" y="4798238"/>
            <a:ext cx="316112" cy="369332"/>
          </a:xfrm>
          <a:prstGeom prst="rect">
            <a:avLst/>
          </a:prstGeom>
          <a:noFill/>
        </p:spPr>
        <p:txBody>
          <a:bodyPr wrap="none" rtlCol="0">
            <a:spAutoFit/>
          </a:bodyPr>
          <a:lstStyle/>
          <a:p>
            <a:r>
              <a:rPr lang="en-US" i="1" dirty="0">
                <a:latin typeface="+mj-lt"/>
              </a:rPr>
              <a:t>i</a:t>
            </a:r>
            <a:r>
              <a:rPr lang="en-US" i="1" baseline="-25000" dirty="0">
                <a:latin typeface="+mj-lt"/>
              </a:rPr>
              <a:t>4</a:t>
            </a:r>
          </a:p>
        </p:txBody>
      </p:sp>
      <p:sp>
        <p:nvSpPr>
          <p:cNvPr id="20" name="TextBox 19">
            <a:extLst>
              <a:ext uri="{FF2B5EF4-FFF2-40B4-BE49-F238E27FC236}">
                <a16:creationId xmlns:a16="http://schemas.microsoft.com/office/drawing/2014/main" id="{460FBECE-096C-4C91-A9FC-EB8FF3466D2A}"/>
              </a:ext>
            </a:extLst>
          </p:cNvPr>
          <p:cNvSpPr txBox="1"/>
          <p:nvPr/>
        </p:nvSpPr>
        <p:spPr>
          <a:xfrm>
            <a:off x="6216446" y="4743188"/>
            <a:ext cx="316112" cy="369332"/>
          </a:xfrm>
          <a:prstGeom prst="rect">
            <a:avLst/>
          </a:prstGeom>
          <a:noFill/>
        </p:spPr>
        <p:txBody>
          <a:bodyPr wrap="none" rtlCol="0">
            <a:spAutoFit/>
          </a:bodyPr>
          <a:lstStyle/>
          <a:p>
            <a:r>
              <a:rPr lang="en-US" i="1" dirty="0">
                <a:latin typeface="+mj-lt"/>
              </a:rPr>
              <a:t>i</a:t>
            </a:r>
            <a:r>
              <a:rPr lang="en-US" i="1" baseline="-25000" dirty="0">
                <a:latin typeface="+mj-lt"/>
              </a:rPr>
              <a:t>5</a:t>
            </a:r>
          </a:p>
        </p:txBody>
      </p:sp>
      <p:sp>
        <p:nvSpPr>
          <p:cNvPr id="21" name="TextBox 20">
            <a:extLst>
              <a:ext uri="{FF2B5EF4-FFF2-40B4-BE49-F238E27FC236}">
                <a16:creationId xmlns:a16="http://schemas.microsoft.com/office/drawing/2014/main" id="{583F122F-B716-4EFB-A597-89E4779B8C2C}"/>
              </a:ext>
            </a:extLst>
          </p:cNvPr>
          <p:cNvSpPr txBox="1"/>
          <p:nvPr/>
        </p:nvSpPr>
        <p:spPr>
          <a:xfrm>
            <a:off x="7305529" y="4760434"/>
            <a:ext cx="316112" cy="369332"/>
          </a:xfrm>
          <a:prstGeom prst="rect">
            <a:avLst/>
          </a:prstGeom>
          <a:noFill/>
        </p:spPr>
        <p:txBody>
          <a:bodyPr wrap="none" rtlCol="0">
            <a:spAutoFit/>
          </a:bodyPr>
          <a:lstStyle/>
          <a:p>
            <a:r>
              <a:rPr lang="en-US" i="1" dirty="0">
                <a:latin typeface="+mj-lt"/>
              </a:rPr>
              <a:t>i</a:t>
            </a:r>
            <a:r>
              <a:rPr lang="en-US" i="1" baseline="-25000" dirty="0">
                <a:latin typeface="+mj-lt"/>
              </a:rPr>
              <a:t>6</a:t>
            </a:r>
          </a:p>
        </p:txBody>
      </p:sp>
      <p:cxnSp>
        <p:nvCxnSpPr>
          <p:cNvPr id="22" name="Straight Connector 21">
            <a:extLst>
              <a:ext uri="{FF2B5EF4-FFF2-40B4-BE49-F238E27FC236}">
                <a16:creationId xmlns:a16="http://schemas.microsoft.com/office/drawing/2014/main" id="{3F1E0697-E5D5-42EB-BF3C-DD1B25506B99}"/>
              </a:ext>
            </a:extLst>
          </p:cNvPr>
          <p:cNvCxnSpPr>
            <a:cxnSpLocks/>
          </p:cNvCxnSpPr>
          <p:nvPr/>
        </p:nvCxnSpPr>
        <p:spPr bwMode="auto">
          <a:xfrm flipV="1">
            <a:off x="3714168" y="3746323"/>
            <a:ext cx="0" cy="1051915"/>
          </a:xfrm>
          <a:prstGeom prst="line">
            <a:avLst/>
          </a:prstGeom>
          <a:solidFill>
            <a:schemeClr val="accent1"/>
          </a:solidFill>
          <a:ln w="38100" cap="flat" cmpd="sng" algn="ctr">
            <a:solidFill>
              <a:schemeClr val="accent3">
                <a:lumMod val="75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AA37B75F-06CD-4049-BCAE-7DC44B7503FB}"/>
              </a:ext>
            </a:extLst>
          </p:cNvPr>
          <p:cNvCxnSpPr>
            <a:cxnSpLocks/>
          </p:cNvCxnSpPr>
          <p:nvPr/>
        </p:nvCxnSpPr>
        <p:spPr bwMode="auto">
          <a:xfrm flipV="1">
            <a:off x="8040216" y="3746323"/>
            <a:ext cx="0" cy="1051915"/>
          </a:xfrm>
          <a:prstGeom prst="line">
            <a:avLst/>
          </a:prstGeom>
          <a:solidFill>
            <a:schemeClr val="accent1"/>
          </a:solidFill>
          <a:ln w="38100" cap="flat" cmpd="sng" algn="ctr">
            <a:solidFill>
              <a:schemeClr val="accent3">
                <a:lumMod val="75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a:extLst>
              <a:ext uri="{FF2B5EF4-FFF2-40B4-BE49-F238E27FC236}">
                <a16:creationId xmlns:a16="http://schemas.microsoft.com/office/drawing/2014/main" id="{640381EE-46C4-48CD-809C-ACFAE6389AF5}"/>
              </a:ext>
            </a:extLst>
          </p:cNvPr>
          <p:cNvSpPr txBox="1"/>
          <p:nvPr/>
        </p:nvSpPr>
        <p:spPr>
          <a:xfrm>
            <a:off x="2552255" y="3436603"/>
            <a:ext cx="1320298" cy="369332"/>
          </a:xfrm>
          <a:prstGeom prst="rect">
            <a:avLst/>
          </a:prstGeom>
          <a:noFill/>
        </p:spPr>
        <p:txBody>
          <a:bodyPr wrap="none" rtlCol="0">
            <a:spAutoFit/>
          </a:bodyPr>
          <a:lstStyle/>
          <a:p>
            <a:r>
              <a:rPr lang="en-US" i="1" dirty="0">
                <a:latin typeface="+mj-lt"/>
              </a:rPr>
              <a:t>Coding start</a:t>
            </a:r>
            <a:endParaRPr lang="en-US" i="1" baseline="-25000" dirty="0">
              <a:latin typeface="+mj-lt"/>
            </a:endParaRPr>
          </a:p>
        </p:txBody>
      </p:sp>
      <p:sp>
        <p:nvSpPr>
          <p:cNvPr id="25" name="TextBox 24">
            <a:extLst>
              <a:ext uri="{FF2B5EF4-FFF2-40B4-BE49-F238E27FC236}">
                <a16:creationId xmlns:a16="http://schemas.microsoft.com/office/drawing/2014/main" id="{21F13D32-65EF-4C5E-809A-14CC786DE940}"/>
              </a:ext>
            </a:extLst>
          </p:cNvPr>
          <p:cNvSpPr txBox="1"/>
          <p:nvPr/>
        </p:nvSpPr>
        <p:spPr>
          <a:xfrm>
            <a:off x="7718561" y="3409996"/>
            <a:ext cx="1283749" cy="369332"/>
          </a:xfrm>
          <a:prstGeom prst="rect">
            <a:avLst/>
          </a:prstGeom>
          <a:noFill/>
        </p:spPr>
        <p:txBody>
          <a:bodyPr wrap="none" rtlCol="0">
            <a:spAutoFit/>
          </a:bodyPr>
          <a:lstStyle/>
          <a:p>
            <a:r>
              <a:rPr lang="en-US" i="1" dirty="0">
                <a:latin typeface="+mj-lt"/>
              </a:rPr>
              <a:t>Coding stop</a:t>
            </a:r>
            <a:endParaRPr lang="en-US" i="1" baseline="-25000" dirty="0">
              <a:latin typeface="+mj-lt"/>
            </a:endParaRPr>
          </a:p>
        </p:txBody>
      </p:sp>
    </p:spTree>
    <p:extLst>
      <p:ext uri="{BB962C8B-B14F-4D97-AF65-F5344CB8AC3E}">
        <p14:creationId xmlns:p14="http://schemas.microsoft.com/office/powerpoint/2010/main" val="2519693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F3ED-0C93-A2F0-7C92-D36B9BFB1431}"/>
              </a:ext>
            </a:extLst>
          </p:cNvPr>
          <p:cNvSpPr>
            <a:spLocks noGrp="1"/>
          </p:cNvSpPr>
          <p:nvPr>
            <p:ph type="title"/>
          </p:nvPr>
        </p:nvSpPr>
        <p:spPr/>
        <p:txBody>
          <a:bodyPr>
            <a:normAutofit fontScale="90000"/>
          </a:bodyPr>
          <a:lstStyle/>
          <a:p>
            <a:r>
              <a:rPr lang="en-US" dirty="0"/>
              <a:t>Nucleotide(Base) level accuracy</a:t>
            </a:r>
          </a:p>
        </p:txBody>
      </p:sp>
      <p:sp>
        <p:nvSpPr>
          <p:cNvPr id="4" name="Slide Number Placeholder 3">
            <a:extLst>
              <a:ext uri="{FF2B5EF4-FFF2-40B4-BE49-F238E27FC236}">
                <a16:creationId xmlns:a16="http://schemas.microsoft.com/office/drawing/2014/main" id="{CCD86338-5554-BDC7-9E3F-68C26CBD76C3}"/>
              </a:ext>
            </a:extLst>
          </p:cNvPr>
          <p:cNvSpPr>
            <a:spLocks noGrp="1"/>
          </p:cNvSpPr>
          <p:nvPr>
            <p:ph type="sldNum" sz="quarter" idx="12"/>
          </p:nvPr>
        </p:nvSpPr>
        <p:spPr/>
        <p:txBody>
          <a:bodyPr/>
          <a:lstStyle/>
          <a:p>
            <a:fld id="{B82CCC60-E8CD-4174-8B1A-7DF615B22EEF}" type="slidenum">
              <a:rPr lang="en-US" smtClean="0"/>
              <a:pPr/>
              <a:t>11</a:t>
            </a:fld>
            <a:endParaRPr lang="en-US"/>
          </a:p>
        </p:txBody>
      </p:sp>
      <p:graphicFrame>
        <p:nvGraphicFramePr>
          <p:cNvPr id="5" name="Object 4">
            <a:extLst>
              <a:ext uri="{FF2B5EF4-FFF2-40B4-BE49-F238E27FC236}">
                <a16:creationId xmlns:a16="http://schemas.microsoft.com/office/drawing/2014/main" id="{208140D2-4393-DBCF-C439-64B39E298A33}"/>
              </a:ext>
            </a:extLst>
          </p:cNvPr>
          <p:cNvGraphicFramePr>
            <a:graphicFrameLocks noChangeAspect="1"/>
          </p:cNvGraphicFramePr>
          <p:nvPr>
            <p:extLst>
              <p:ext uri="{D42A27DB-BD31-4B8C-83A1-F6EECF244321}">
                <p14:modId xmlns:p14="http://schemas.microsoft.com/office/powerpoint/2010/main" val="79109728"/>
              </p:ext>
            </p:extLst>
          </p:nvPr>
        </p:nvGraphicFramePr>
        <p:xfrm>
          <a:off x="5497620" y="3980705"/>
          <a:ext cx="1371600" cy="698500"/>
        </p:xfrm>
        <a:graphic>
          <a:graphicData uri="http://schemas.openxmlformats.org/presentationml/2006/ole">
            <mc:AlternateContent xmlns:mc="http://schemas.openxmlformats.org/markup-compatibility/2006">
              <mc:Choice xmlns:v="urn:schemas-microsoft-com:vml" Requires="v">
                <p:oleObj name="Equation" r:id="rId2" imgW="21361400" imgH="9067800" progId="Equation.3">
                  <p:embed/>
                </p:oleObj>
              </mc:Choice>
              <mc:Fallback>
                <p:oleObj name="Equation" r:id="rId2" imgW="21361400" imgH="9067800" progId="Equation.3">
                  <p:embed/>
                  <p:pic>
                    <p:nvPicPr>
                      <p:cNvPr id="5" name="Object 4">
                        <a:extLst>
                          <a:ext uri="{FF2B5EF4-FFF2-40B4-BE49-F238E27FC236}">
                            <a16:creationId xmlns:a16="http://schemas.microsoft.com/office/drawing/2014/main" id="{208140D2-4393-DBCF-C439-64B39E298A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620" y="3980705"/>
                        <a:ext cx="13716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9B119489-6150-7749-D39C-74A80848ED84}"/>
              </a:ext>
            </a:extLst>
          </p:cNvPr>
          <p:cNvSpPr>
            <a:spLocks noChangeShapeType="1"/>
          </p:cNvSpPr>
          <p:nvPr/>
        </p:nvSpPr>
        <p:spPr bwMode="auto">
          <a:xfrm>
            <a:off x="2264895" y="22526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3AD550BB-08C5-35FF-EA14-0CA67B6013B1}"/>
              </a:ext>
            </a:extLst>
          </p:cNvPr>
          <p:cNvSpPr>
            <a:spLocks noChangeShapeType="1"/>
          </p:cNvSpPr>
          <p:nvPr/>
        </p:nvSpPr>
        <p:spPr bwMode="auto">
          <a:xfrm>
            <a:off x="2264895" y="27860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7">
            <a:extLst>
              <a:ext uri="{FF2B5EF4-FFF2-40B4-BE49-F238E27FC236}">
                <a16:creationId xmlns:a16="http://schemas.microsoft.com/office/drawing/2014/main" id="{C1B63340-741D-2AC4-F048-F88FE0A6102A}"/>
              </a:ext>
            </a:extLst>
          </p:cNvPr>
          <p:cNvSpPr>
            <a:spLocks noChangeShapeType="1"/>
          </p:cNvSpPr>
          <p:nvPr/>
        </p:nvSpPr>
        <p:spPr bwMode="auto">
          <a:xfrm>
            <a:off x="2264895" y="33194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8">
            <a:extLst>
              <a:ext uri="{FF2B5EF4-FFF2-40B4-BE49-F238E27FC236}">
                <a16:creationId xmlns:a16="http://schemas.microsoft.com/office/drawing/2014/main" id="{57DA34F9-E4D3-B4B8-F5B2-75DC03E337F1}"/>
              </a:ext>
            </a:extLst>
          </p:cNvPr>
          <p:cNvSpPr>
            <a:spLocks noChangeArrowheads="1"/>
          </p:cNvSpPr>
          <p:nvPr/>
        </p:nvSpPr>
        <p:spPr bwMode="auto">
          <a:xfrm>
            <a:off x="3271370" y="2640012"/>
            <a:ext cx="1968500" cy="215900"/>
          </a:xfrm>
          <a:prstGeom prst="rect">
            <a:avLst/>
          </a:prstGeom>
          <a:solidFill>
            <a:srgbClr val="32CC6D"/>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84A41D8E-530A-1AA8-FE30-2786E4B96090}"/>
              </a:ext>
            </a:extLst>
          </p:cNvPr>
          <p:cNvSpPr>
            <a:spLocks noChangeArrowheads="1"/>
          </p:cNvSpPr>
          <p:nvPr/>
        </p:nvSpPr>
        <p:spPr bwMode="auto">
          <a:xfrm>
            <a:off x="6547970" y="2640012"/>
            <a:ext cx="2425700" cy="215900"/>
          </a:xfrm>
          <a:prstGeom prst="rect">
            <a:avLst/>
          </a:prstGeom>
          <a:solidFill>
            <a:srgbClr val="32CC6D"/>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4647C44C-1CEA-BA8A-8B5C-CE9565D792C2}"/>
              </a:ext>
            </a:extLst>
          </p:cNvPr>
          <p:cNvSpPr>
            <a:spLocks noChangeArrowheads="1"/>
          </p:cNvSpPr>
          <p:nvPr/>
        </p:nvSpPr>
        <p:spPr bwMode="auto">
          <a:xfrm>
            <a:off x="3758550" y="3173412"/>
            <a:ext cx="18161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2" name="Rectangle 11">
            <a:extLst>
              <a:ext uri="{FF2B5EF4-FFF2-40B4-BE49-F238E27FC236}">
                <a16:creationId xmlns:a16="http://schemas.microsoft.com/office/drawing/2014/main" id="{97EC20A2-7437-0169-F5C5-A7895D084EEB}"/>
              </a:ext>
            </a:extLst>
          </p:cNvPr>
          <p:cNvSpPr>
            <a:spLocks noChangeArrowheads="1"/>
          </p:cNvSpPr>
          <p:nvPr/>
        </p:nvSpPr>
        <p:spPr bwMode="auto">
          <a:xfrm>
            <a:off x="7005170" y="3173412"/>
            <a:ext cx="16637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Line 12">
            <a:extLst>
              <a:ext uri="{FF2B5EF4-FFF2-40B4-BE49-F238E27FC236}">
                <a16:creationId xmlns:a16="http://schemas.microsoft.com/office/drawing/2014/main" id="{5916501D-EE00-876C-E64E-77946EC4B9F1}"/>
              </a:ext>
            </a:extLst>
          </p:cNvPr>
          <p:cNvSpPr>
            <a:spLocks noChangeShapeType="1"/>
          </p:cNvSpPr>
          <p:nvPr/>
        </p:nvSpPr>
        <p:spPr bwMode="auto">
          <a:xfrm flipV="1">
            <a:off x="2274420"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3">
            <a:extLst>
              <a:ext uri="{FF2B5EF4-FFF2-40B4-BE49-F238E27FC236}">
                <a16:creationId xmlns:a16="http://schemas.microsoft.com/office/drawing/2014/main" id="{D01BFB7B-EB1B-8C8B-C78A-67BC6DAB3892}"/>
              </a:ext>
            </a:extLst>
          </p:cNvPr>
          <p:cNvSpPr>
            <a:spLocks noChangeShapeType="1"/>
          </p:cNvSpPr>
          <p:nvPr/>
        </p:nvSpPr>
        <p:spPr bwMode="auto">
          <a:xfrm flipV="1">
            <a:off x="5246402"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4">
            <a:extLst>
              <a:ext uri="{FF2B5EF4-FFF2-40B4-BE49-F238E27FC236}">
                <a16:creationId xmlns:a16="http://schemas.microsoft.com/office/drawing/2014/main" id="{8C0B0E1A-AE8D-E75C-C19C-1BA002EDE701}"/>
              </a:ext>
            </a:extLst>
          </p:cNvPr>
          <p:cNvSpPr>
            <a:spLocks noChangeShapeType="1"/>
          </p:cNvSpPr>
          <p:nvPr/>
        </p:nvSpPr>
        <p:spPr bwMode="auto">
          <a:xfrm flipV="1">
            <a:off x="5581885"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5">
            <a:extLst>
              <a:ext uri="{FF2B5EF4-FFF2-40B4-BE49-F238E27FC236}">
                <a16:creationId xmlns:a16="http://schemas.microsoft.com/office/drawing/2014/main" id="{1629F53C-C68A-5C71-B189-403048FE94C6}"/>
              </a:ext>
            </a:extLst>
          </p:cNvPr>
          <p:cNvSpPr>
            <a:spLocks noChangeShapeType="1"/>
          </p:cNvSpPr>
          <p:nvPr/>
        </p:nvSpPr>
        <p:spPr bwMode="auto">
          <a:xfrm flipV="1">
            <a:off x="6536857" y="178276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6">
            <a:extLst>
              <a:ext uri="{FF2B5EF4-FFF2-40B4-BE49-F238E27FC236}">
                <a16:creationId xmlns:a16="http://schemas.microsoft.com/office/drawing/2014/main" id="{214A4F89-4FE1-97FD-2A5F-25BB50345D7D}"/>
              </a:ext>
            </a:extLst>
          </p:cNvPr>
          <p:cNvSpPr>
            <a:spLocks noChangeShapeType="1"/>
          </p:cNvSpPr>
          <p:nvPr/>
        </p:nvSpPr>
        <p:spPr bwMode="auto">
          <a:xfrm flipV="1">
            <a:off x="6992470"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7">
            <a:extLst>
              <a:ext uri="{FF2B5EF4-FFF2-40B4-BE49-F238E27FC236}">
                <a16:creationId xmlns:a16="http://schemas.microsoft.com/office/drawing/2014/main" id="{0707ADB7-7EF2-66CB-9113-81A581913F76}"/>
              </a:ext>
            </a:extLst>
          </p:cNvPr>
          <p:cNvSpPr>
            <a:spLocks noChangeShapeType="1"/>
          </p:cNvSpPr>
          <p:nvPr/>
        </p:nvSpPr>
        <p:spPr bwMode="auto">
          <a:xfrm flipV="1">
            <a:off x="8659527"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8">
            <a:extLst>
              <a:ext uri="{FF2B5EF4-FFF2-40B4-BE49-F238E27FC236}">
                <a16:creationId xmlns:a16="http://schemas.microsoft.com/office/drawing/2014/main" id="{87E45C45-2AC1-6EEC-BFCB-FC353C7288FB}"/>
              </a:ext>
            </a:extLst>
          </p:cNvPr>
          <p:cNvSpPr>
            <a:spLocks noChangeShapeType="1"/>
          </p:cNvSpPr>
          <p:nvPr/>
        </p:nvSpPr>
        <p:spPr bwMode="auto">
          <a:xfrm flipV="1">
            <a:off x="8995192"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9">
            <a:extLst>
              <a:ext uri="{FF2B5EF4-FFF2-40B4-BE49-F238E27FC236}">
                <a16:creationId xmlns:a16="http://schemas.microsoft.com/office/drawing/2014/main" id="{EFA7BE8F-DB28-4940-01B5-120C6565ABB9}"/>
              </a:ext>
            </a:extLst>
          </p:cNvPr>
          <p:cNvSpPr>
            <a:spLocks noChangeShapeType="1"/>
          </p:cNvSpPr>
          <p:nvPr/>
        </p:nvSpPr>
        <p:spPr bwMode="auto">
          <a:xfrm flipV="1">
            <a:off x="9961095" y="17986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0">
            <a:extLst>
              <a:ext uri="{FF2B5EF4-FFF2-40B4-BE49-F238E27FC236}">
                <a16:creationId xmlns:a16="http://schemas.microsoft.com/office/drawing/2014/main" id="{D04E150B-FCD5-EEA6-090A-B3A98C1F1229}"/>
              </a:ext>
            </a:extLst>
          </p:cNvPr>
          <p:cNvSpPr>
            <a:spLocks noChangeShapeType="1"/>
          </p:cNvSpPr>
          <p:nvPr/>
        </p:nvSpPr>
        <p:spPr bwMode="auto">
          <a:xfrm flipV="1">
            <a:off x="3268195" y="1784349"/>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1">
            <a:extLst>
              <a:ext uri="{FF2B5EF4-FFF2-40B4-BE49-F238E27FC236}">
                <a16:creationId xmlns:a16="http://schemas.microsoft.com/office/drawing/2014/main" id="{87B7E886-FAE2-23FA-6E5D-75C1C55EEA2B}"/>
              </a:ext>
            </a:extLst>
          </p:cNvPr>
          <p:cNvSpPr>
            <a:spLocks noChangeShapeType="1"/>
          </p:cNvSpPr>
          <p:nvPr/>
        </p:nvSpPr>
        <p:spPr bwMode="auto">
          <a:xfrm flipV="1">
            <a:off x="3767892" y="177958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22">
            <a:extLst>
              <a:ext uri="{FF2B5EF4-FFF2-40B4-BE49-F238E27FC236}">
                <a16:creationId xmlns:a16="http://schemas.microsoft.com/office/drawing/2014/main" id="{FC130264-E2D1-2F9F-0C83-633F637537E4}"/>
              </a:ext>
            </a:extLst>
          </p:cNvPr>
          <p:cNvSpPr>
            <a:spLocks noChangeArrowheads="1"/>
          </p:cNvSpPr>
          <p:nvPr/>
        </p:nvSpPr>
        <p:spPr bwMode="auto">
          <a:xfrm>
            <a:off x="2444282" y="1766887"/>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4" name="Rectangle 23">
            <a:extLst>
              <a:ext uri="{FF2B5EF4-FFF2-40B4-BE49-F238E27FC236}">
                <a16:creationId xmlns:a16="http://schemas.microsoft.com/office/drawing/2014/main" id="{9E1658C2-1CB7-E694-5D28-2C029B509EAD}"/>
              </a:ext>
            </a:extLst>
          </p:cNvPr>
          <p:cNvSpPr>
            <a:spLocks noChangeArrowheads="1"/>
          </p:cNvSpPr>
          <p:nvPr/>
        </p:nvSpPr>
        <p:spPr bwMode="auto">
          <a:xfrm>
            <a:off x="5171607" y="1765299"/>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FP</a:t>
            </a:r>
          </a:p>
        </p:txBody>
      </p:sp>
      <p:sp>
        <p:nvSpPr>
          <p:cNvPr id="25" name="Rectangle 24">
            <a:extLst>
              <a:ext uri="{FF2B5EF4-FFF2-40B4-BE49-F238E27FC236}">
                <a16:creationId xmlns:a16="http://schemas.microsoft.com/office/drawing/2014/main" id="{C96A05CF-9DCA-AAD3-DA31-B2E4B91DCBD6}"/>
              </a:ext>
            </a:extLst>
          </p:cNvPr>
          <p:cNvSpPr>
            <a:spLocks noChangeArrowheads="1"/>
          </p:cNvSpPr>
          <p:nvPr/>
        </p:nvSpPr>
        <p:spPr bwMode="auto">
          <a:xfrm>
            <a:off x="3206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26" name="Rectangle 25">
            <a:extLst>
              <a:ext uri="{FF2B5EF4-FFF2-40B4-BE49-F238E27FC236}">
                <a16:creationId xmlns:a16="http://schemas.microsoft.com/office/drawing/2014/main" id="{8937644B-B94F-068D-4508-167661606524}"/>
              </a:ext>
            </a:extLst>
          </p:cNvPr>
          <p:cNvSpPr>
            <a:spLocks noChangeArrowheads="1"/>
          </p:cNvSpPr>
          <p:nvPr/>
        </p:nvSpPr>
        <p:spPr bwMode="auto">
          <a:xfrm>
            <a:off x="5751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7" name="Rectangle 26">
            <a:extLst>
              <a:ext uri="{FF2B5EF4-FFF2-40B4-BE49-F238E27FC236}">
                <a16:creationId xmlns:a16="http://schemas.microsoft.com/office/drawing/2014/main" id="{6A8D5E0E-A63A-7EDD-8097-8693473B1C42}"/>
              </a:ext>
            </a:extLst>
          </p:cNvPr>
          <p:cNvSpPr>
            <a:spLocks noChangeArrowheads="1"/>
          </p:cNvSpPr>
          <p:nvPr/>
        </p:nvSpPr>
        <p:spPr bwMode="auto">
          <a:xfrm>
            <a:off x="9180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8" name="Rectangle 27">
            <a:extLst>
              <a:ext uri="{FF2B5EF4-FFF2-40B4-BE49-F238E27FC236}">
                <a16:creationId xmlns:a16="http://schemas.microsoft.com/office/drawing/2014/main" id="{2982BE2F-0ED0-FDA6-2F9B-ACCEFABF38D7}"/>
              </a:ext>
            </a:extLst>
          </p:cNvPr>
          <p:cNvSpPr>
            <a:spLocks noChangeArrowheads="1"/>
          </p:cNvSpPr>
          <p:nvPr/>
        </p:nvSpPr>
        <p:spPr bwMode="auto">
          <a:xfrm>
            <a:off x="7473482" y="1765299"/>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29" name="Rectangle 28">
            <a:extLst>
              <a:ext uri="{FF2B5EF4-FFF2-40B4-BE49-F238E27FC236}">
                <a16:creationId xmlns:a16="http://schemas.microsoft.com/office/drawing/2014/main" id="{32D84391-EEFF-6644-8950-1BE424EBC6BB}"/>
              </a:ext>
            </a:extLst>
          </p:cNvPr>
          <p:cNvSpPr>
            <a:spLocks noChangeArrowheads="1"/>
          </p:cNvSpPr>
          <p:nvPr/>
        </p:nvSpPr>
        <p:spPr bwMode="auto">
          <a:xfrm>
            <a:off x="64828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0" name="Rectangle 29">
            <a:extLst>
              <a:ext uri="{FF2B5EF4-FFF2-40B4-BE49-F238E27FC236}">
                <a16:creationId xmlns:a16="http://schemas.microsoft.com/office/drawing/2014/main" id="{620D3ADC-82DE-578C-AF68-548845F8D9F2}"/>
              </a:ext>
            </a:extLst>
          </p:cNvPr>
          <p:cNvSpPr>
            <a:spLocks noChangeArrowheads="1"/>
          </p:cNvSpPr>
          <p:nvPr/>
        </p:nvSpPr>
        <p:spPr bwMode="auto">
          <a:xfrm>
            <a:off x="4182595" y="1766887"/>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31" name="Rectangle 30">
            <a:extLst>
              <a:ext uri="{FF2B5EF4-FFF2-40B4-BE49-F238E27FC236}">
                <a16:creationId xmlns:a16="http://schemas.microsoft.com/office/drawing/2014/main" id="{DD365848-09DE-1A4F-FC7B-771BBB51C708}"/>
              </a:ext>
            </a:extLst>
          </p:cNvPr>
          <p:cNvSpPr>
            <a:spLocks noChangeArrowheads="1"/>
          </p:cNvSpPr>
          <p:nvPr/>
        </p:nvSpPr>
        <p:spPr bwMode="auto">
          <a:xfrm>
            <a:off x="8540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2" name="Rectangle 31">
            <a:extLst>
              <a:ext uri="{FF2B5EF4-FFF2-40B4-BE49-F238E27FC236}">
                <a16:creationId xmlns:a16="http://schemas.microsoft.com/office/drawing/2014/main" id="{CC1ED99B-F761-92B9-52F5-38A658D70D3E}"/>
              </a:ext>
            </a:extLst>
          </p:cNvPr>
          <p:cNvSpPr>
            <a:spLocks noChangeArrowheads="1"/>
          </p:cNvSpPr>
          <p:nvPr/>
        </p:nvSpPr>
        <p:spPr bwMode="auto">
          <a:xfrm>
            <a:off x="1006980" y="2344324"/>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33" name="Rectangle 32">
            <a:extLst>
              <a:ext uri="{FF2B5EF4-FFF2-40B4-BE49-F238E27FC236}">
                <a16:creationId xmlns:a16="http://schemas.microsoft.com/office/drawing/2014/main" id="{D81C1AA5-0DAD-DA28-08D5-90AE4A0E036A}"/>
              </a:ext>
            </a:extLst>
          </p:cNvPr>
          <p:cNvSpPr>
            <a:spLocks noChangeArrowheads="1"/>
          </p:cNvSpPr>
          <p:nvPr/>
        </p:nvSpPr>
        <p:spPr bwMode="auto">
          <a:xfrm>
            <a:off x="758910" y="2912392"/>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34" name="Text Box 33">
            <a:extLst>
              <a:ext uri="{FF2B5EF4-FFF2-40B4-BE49-F238E27FC236}">
                <a16:creationId xmlns:a16="http://schemas.microsoft.com/office/drawing/2014/main" id="{42AD3FBA-69E9-140D-5277-0B4DAA596667}"/>
              </a:ext>
            </a:extLst>
          </p:cNvPr>
          <p:cNvSpPr txBox="1">
            <a:spLocks noChangeArrowheads="1"/>
          </p:cNvSpPr>
          <p:nvPr/>
        </p:nvSpPr>
        <p:spPr bwMode="auto">
          <a:xfrm>
            <a:off x="3791744" y="4098923"/>
            <a:ext cx="164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Sensitivity:</a:t>
            </a:r>
          </a:p>
        </p:txBody>
      </p:sp>
      <p:sp>
        <p:nvSpPr>
          <p:cNvPr id="35" name="Text Box 34">
            <a:extLst>
              <a:ext uri="{FF2B5EF4-FFF2-40B4-BE49-F238E27FC236}">
                <a16:creationId xmlns:a16="http://schemas.microsoft.com/office/drawing/2014/main" id="{092B084A-2B9B-9602-179F-D05E62DD49E4}"/>
              </a:ext>
            </a:extLst>
          </p:cNvPr>
          <p:cNvSpPr txBox="1">
            <a:spLocks noChangeArrowheads="1"/>
          </p:cNvSpPr>
          <p:nvPr/>
        </p:nvSpPr>
        <p:spPr bwMode="auto">
          <a:xfrm>
            <a:off x="3960020" y="4837111"/>
            <a:ext cx="153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Precision:</a:t>
            </a:r>
          </a:p>
        </p:txBody>
      </p:sp>
      <p:graphicFrame>
        <p:nvGraphicFramePr>
          <p:cNvPr id="36" name="Object 35">
            <a:extLst>
              <a:ext uri="{FF2B5EF4-FFF2-40B4-BE49-F238E27FC236}">
                <a16:creationId xmlns:a16="http://schemas.microsoft.com/office/drawing/2014/main" id="{11DEC1A3-B4A4-0879-C10A-32DE733FEBBA}"/>
              </a:ext>
            </a:extLst>
          </p:cNvPr>
          <p:cNvGraphicFramePr>
            <a:graphicFrameLocks noChangeAspect="1"/>
          </p:cNvGraphicFramePr>
          <p:nvPr>
            <p:extLst>
              <p:ext uri="{D42A27DB-BD31-4B8C-83A1-F6EECF244321}">
                <p14:modId xmlns:p14="http://schemas.microsoft.com/office/powerpoint/2010/main" val="2518784070"/>
              </p:ext>
            </p:extLst>
          </p:nvPr>
        </p:nvGraphicFramePr>
        <p:xfrm>
          <a:off x="5497620" y="4742458"/>
          <a:ext cx="1401762" cy="685800"/>
        </p:xfrm>
        <a:graphic>
          <a:graphicData uri="http://schemas.openxmlformats.org/presentationml/2006/ole">
            <mc:AlternateContent xmlns:mc="http://schemas.openxmlformats.org/markup-compatibility/2006">
              <mc:Choice xmlns:v="urn:schemas-microsoft-com:vml" Requires="v">
                <p:oleObj name="Equation" r:id="rId4" imgW="21069300" imgH="9067800" progId="Equation.3">
                  <p:embed/>
                </p:oleObj>
              </mc:Choice>
              <mc:Fallback>
                <p:oleObj name="Equation" r:id="rId4" imgW="21069300" imgH="9067800" progId="Equation.3">
                  <p:embed/>
                  <p:pic>
                    <p:nvPicPr>
                      <p:cNvPr id="36" name="Object 35">
                        <a:extLst>
                          <a:ext uri="{FF2B5EF4-FFF2-40B4-BE49-F238E27FC236}">
                            <a16:creationId xmlns:a16="http://schemas.microsoft.com/office/drawing/2014/main" id="{11DEC1A3-B4A4-0879-C10A-32DE733FEB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7620" y="4742458"/>
                        <a:ext cx="1401762" cy="685800"/>
                      </a:xfrm>
                      <a:prstGeom prst="rect">
                        <a:avLst/>
                      </a:prstGeom>
                      <a:noFill/>
                      <a:ln>
                        <a:noFill/>
                      </a:ln>
                      <a:effectLst/>
                    </p:spPr>
                  </p:pic>
                </p:oleObj>
              </mc:Fallback>
            </mc:AlternateContent>
          </a:graphicData>
        </a:graphic>
      </p:graphicFrame>
      <p:sp>
        <p:nvSpPr>
          <p:cNvPr id="37" name="Rectangle 36">
            <a:extLst>
              <a:ext uri="{FF2B5EF4-FFF2-40B4-BE49-F238E27FC236}">
                <a16:creationId xmlns:a16="http://schemas.microsoft.com/office/drawing/2014/main" id="{103FA3C8-E1B4-100C-8961-052E639E32B5}"/>
              </a:ext>
            </a:extLst>
          </p:cNvPr>
          <p:cNvSpPr/>
          <p:nvPr/>
        </p:nvSpPr>
        <p:spPr bwMode="auto">
          <a:xfrm>
            <a:off x="5362890" y="3969853"/>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37">
            <a:extLst>
              <a:ext uri="{FF2B5EF4-FFF2-40B4-BE49-F238E27FC236}">
                <a16:creationId xmlns:a16="http://schemas.microsoft.com/office/drawing/2014/main" id="{02CF6AB4-195F-02E5-7512-39560881587C}"/>
              </a:ext>
            </a:extLst>
          </p:cNvPr>
          <p:cNvSpPr/>
          <p:nvPr/>
        </p:nvSpPr>
        <p:spPr bwMode="auto">
          <a:xfrm>
            <a:off x="5362890" y="4963617"/>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46252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94C3-FB2C-8400-75BA-0914D37D609C}"/>
              </a:ext>
            </a:extLst>
          </p:cNvPr>
          <p:cNvSpPr>
            <a:spLocks noGrp="1"/>
          </p:cNvSpPr>
          <p:nvPr>
            <p:ph type="title"/>
          </p:nvPr>
        </p:nvSpPr>
        <p:spPr/>
        <p:txBody>
          <a:bodyPr>
            <a:normAutofit fontScale="90000"/>
          </a:bodyPr>
          <a:lstStyle/>
          <a:p>
            <a:r>
              <a:rPr lang="en-US" dirty="0"/>
              <a:t>Exon level accuracy</a:t>
            </a:r>
          </a:p>
        </p:txBody>
      </p:sp>
      <p:sp>
        <p:nvSpPr>
          <p:cNvPr id="4" name="Slide Number Placeholder 3">
            <a:extLst>
              <a:ext uri="{FF2B5EF4-FFF2-40B4-BE49-F238E27FC236}">
                <a16:creationId xmlns:a16="http://schemas.microsoft.com/office/drawing/2014/main" id="{B1E4D89E-82EF-9484-9040-4BD561299F53}"/>
              </a:ext>
            </a:extLst>
          </p:cNvPr>
          <p:cNvSpPr>
            <a:spLocks noGrp="1"/>
          </p:cNvSpPr>
          <p:nvPr>
            <p:ph type="sldNum" sz="quarter" idx="12"/>
          </p:nvPr>
        </p:nvSpPr>
        <p:spPr/>
        <p:txBody>
          <a:bodyPr/>
          <a:lstStyle/>
          <a:p>
            <a:fld id="{B82CCC60-E8CD-4174-8B1A-7DF615B22EEF}" type="slidenum">
              <a:rPr lang="en-US" smtClean="0"/>
              <a:pPr/>
              <a:t>12</a:t>
            </a:fld>
            <a:endParaRPr lang="en-US"/>
          </a:p>
        </p:txBody>
      </p:sp>
      <p:graphicFrame>
        <p:nvGraphicFramePr>
          <p:cNvPr id="5" name="Object 4">
            <a:extLst>
              <a:ext uri="{FF2B5EF4-FFF2-40B4-BE49-F238E27FC236}">
                <a16:creationId xmlns:a16="http://schemas.microsoft.com/office/drawing/2014/main" id="{2F71E060-F6E4-DAE0-3C5F-CD4651FE16B8}"/>
              </a:ext>
            </a:extLst>
          </p:cNvPr>
          <p:cNvGraphicFramePr>
            <a:graphicFrameLocks noChangeAspect="1"/>
          </p:cNvGraphicFramePr>
          <p:nvPr/>
        </p:nvGraphicFramePr>
        <p:xfrm>
          <a:off x="3365500" y="4000500"/>
          <a:ext cx="4241800" cy="647700"/>
        </p:xfrm>
        <a:graphic>
          <a:graphicData uri="http://schemas.openxmlformats.org/presentationml/2006/ole">
            <mc:AlternateContent xmlns:mc="http://schemas.openxmlformats.org/markup-compatibility/2006">
              <mc:Choice xmlns:v="urn:schemas-microsoft-com:vml" Requires="v">
                <p:oleObj name="Equation" r:id="rId2" imgW="59397900" imgH="9067800" progId="Equation.3">
                  <p:embed/>
                </p:oleObj>
              </mc:Choice>
              <mc:Fallback>
                <p:oleObj name="Equation" r:id="rId2" imgW="59397900" imgH="9067800" progId="Equation.3">
                  <p:embed/>
                  <p:pic>
                    <p:nvPicPr>
                      <p:cNvPr id="5" name="Object 4">
                        <a:extLst>
                          <a:ext uri="{FF2B5EF4-FFF2-40B4-BE49-F238E27FC236}">
                            <a16:creationId xmlns:a16="http://schemas.microsoft.com/office/drawing/2014/main" id="{2F71E060-F6E4-DAE0-3C5F-CD4651FE1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500" y="4000500"/>
                        <a:ext cx="42418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F9DE2A99-E157-BE2D-C3E2-D8C59B5E1312}"/>
              </a:ext>
            </a:extLst>
          </p:cNvPr>
          <p:cNvSpPr>
            <a:spLocks noChangeShapeType="1"/>
          </p:cNvSpPr>
          <p:nvPr/>
        </p:nvSpPr>
        <p:spPr bwMode="auto">
          <a:xfrm>
            <a:off x="2667000" y="28956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7658A801-71B5-F60B-38B6-0AD9AB7AE34D}"/>
              </a:ext>
            </a:extLst>
          </p:cNvPr>
          <p:cNvSpPr>
            <a:spLocks noChangeShapeType="1"/>
          </p:cNvSpPr>
          <p:nvPr/>
        </p:nvSpPr>
        <p:spPr bwMode="auto">
          <a:xfrm>
            <a:off x="2667000" y="34290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7">
            <a:extLst>
              <a:ext uri="{FF2B5EF4-FFF2-40B4-BE49-F238E27FC236}">
                <a16:creationId xmlns:a16="http://schemas.microsoft.com/office/drawing/2014/main" id="{FE900970-1442-AF2A-8787-DF37EC794E98}"/>
              </a:ext>
            </a:extLst>
          </p:cNvPr>
          <p:cNvSpPr>
            <a:spLocks noChangeArrowheads="1"/>
          </p:cNvSpPr>
          <p:nvPr/>
        </p:nvSpPr>
        <p:spPr bwMode="auto">
          <a:xfrm>
            <a:off x="6146800" y="2794000"/>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8">
            <a:extLst>
              <a:ext uri="{FF2B5EF4-FFF2-40B4-BE49-F238E27FC236}">
                <a16:creationId xmlns:a16="http://schemas.microsoft.com/office/drawing/2014/main" id="{56352BDD-18A6-A571-5C9F-14BC5AAFCC96}"/>
              </a:ext>
            </a:extLst>
          </p:cNvPr>
          <p:cNvSpPr>
            <a:spLocks noChangeArrowheads="1"/>
          </p:cNvSpPr>
          <p:nvPr/>
        </p:nvSpPr>
        <p:spPr bwMode="auto">
          <a:xfrm>
            <a:off x="4119563" y="3327400"/>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C080545E-7C46-2E7C-0336-CF9A4BD8A651}"/>
              </a:ext>
            </a:extLst>
          </p:cNvPr>
          <p:cNvSpPr>
            <a:spLocks noChangeArrowheads="1"/>
          </p:cNvSpPr>
          <p:nvPr/>
        </p:nvSpPr>
        <p:spPr bwMode="auto">
          <a:xfrm>
            <a:off x="6124576" y="3321050"/>
            <a:ext cx="10906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AF832437-20A2-F4A6-6E46-5921D15D8074}"/>
              </a:ext>
            </a:extLst>
          </p:cNvPr>
          <p:cNvSpPr>
            <a:spLocks noChangeArrowheads="1"/>
          </p:cNvSpPr>
          <p:nvPr/>
        </p:nvSpPr>
        <p:spPr bwMode="auto">
          <a:xfrm>
            <a:off x="1981201" y="2514601"/>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12" name="Rectangle 11">
            <a:extLst>
              <a:ext uri="{FF2B5EF4-FFF2-40B4-BE49-F238E27FC236}">
                <a16:creationId xmlns:a16="http://schemas.microsoft.com/office/drawing/2014/main" id="{DAAC2508-B04B-20BF-3802-317C2602CA06}"/>
              </a:ext>
            </a:extLst>
          </p:cNvPr>
          <p:cNvSpPr>
            <a:spLocks noChangeArrowheads="1"/>
          </p:cNvSpPr>
          <p:nvPr/>
        </p:nvSpPr>
        <p:spPr bwMode="auto">
          <a:xfrm>
            <a:off x="1981200" y="3049589"/>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13" name="Rectangle 12">
            <a:extLst>
              <a:ext uri="{FF2B5EF4-FFF2-40B4-BE49-F238E27FC236}">
                <a16:creationId xmlns:a16="http://schemas.microsoft.com/office/drawing/2014/main" id="{921668C7-8358-E8E8-6C1F-211634FA9466}"/>
              </a:ext>
            </a:extLst>
          </p:cNvPr>
          <p:cNvSpPr>
            <a:spLocks noChangeArrowheads="1"/>
          </p:cNvSpPr>
          <p:nvPr/>
        </p:nvSpPr>
        <p:spPr bwMode="auto">
          <a:xfrm>
            <a:off x="3662364" y="2794000"/>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3">
            <a:extLst>
              <a:ext uri="{FF2B5EF4-FFF2-40B4-BE49-F238E27FC236}">
                <a16:creationId xmlns:a16="http://schemas.microsoft.com/office/drawing/2014/main" id="{1FF96BA4-9EDC-E071-00BF-6C712A27157A}"/>
              </a:ext>
            </a:extLst>
          </p:cNvPr>
          <p:cNvSpPr>
            <a:spLocks noChangeArrowheads="1"/>
          </p:cNvSpPr>
          <p:nvPr/>
        </p:nvSpPr>
        <p:spPr bwMode="auto">
          <a:xfrm>
            <a:off x="7524751" y="2794000"/>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4">
            <a:extLst>
              <a:ext uri="{FF2B5EF4-FFF2-40B4-BE49-F238E27FC236}">
                <a16:creationId xmlns:a16="http://schemas.microsoft.com/office/drawing/2014/main" id="{673F2E7B-2F5C-6BD4-EBEC-7335179AB28B}"/>
              </a:ext>
            </a:extLst>
          </p:cNvPr>
          <p:cNvSpPr>
            <a:spLocks noChangeArrowheads="1"/>
          </p:cNvSpPr>
          <p:nvPr/>
        </p:nvSpPr>
        <p:spPr bwMode="auto">
          <a:xfrm>
            <a:off x="8578850" y="2794000"/>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5">
            <a:extLst>
              <a:ext uri="{FF2B5EF4-FFF2-40B4-BE49-F238E27FC236}">
                <a16:creationId xmlns:a16="http://schemas.microsoft.com/office/drawing/2014/main" id="{27EAB2A2-2055-C259-13E5-150596B1D67E}"/>
              </a:ext>
            </a:extLst>
          </p:cNvPr>
          <p:cNvSpPr>
            <a:spLocks noChangeArrowheads="1"/>
          </p:cNvSpPr>
          <p:nvPr/>
        </p:nvSpPr>
        <p:spPr bwMode="auto">
          <a:xfrm>
            <a:off x="8340725" y="3327400"/>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Rectangle 16">
            <a:extLst>
              <a:ext uri="{FF2B5EF4-FFF2-40B4-BE49-F238E27FC236}">
                <a16:creationId xmlns:a16="http://schemas.microsoft.com/office/drawing/2014/main" id="{91CF3EC3-2AFA-7BA6-D338-596A7CD53243}"/>
              </a:ext>
            </a:extLst>
          </p:cNvPr>
          <p:cNvSpPr>
            <a:spLocks noChangeArrowheads="1"/>
          </p:cNvSpPr>
          <p:nvPr/>
        </p:nvSpPr>
        <p:spPr bwMode="auto">
          <a:xfrm>
            <a:off x="5338763" y="3328988"/>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 name="Rectangle 17">
            <a:extLst>
              <a:ext uri="{FF2B5EF4-FFF2-40B4-BE49-F238E27FC236}">
                <a16:creationId xmlns:a16="http://schemas.microsoft.com/office/drawing/2014/main" id="{FE7F7D6F-0C35-EBB4-9B96-F0002FEEB912}"/>
              </a:ext>
            </a:extLst>
          </p:cNvPr>
          <p:cNvSpPr>
            <a:spLocks noChangeArrowheads="1"/>
          </p:cNvSpPr>
          <p:nvPr/>
        </p:nvSpPr>
        <p:spPr bwMode="auto">
          <a:xfrm>
            <a:off x="5129805" y="2019301"/>
            <a:ext cx="862417"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WRONG</a:t>
            </a:r>
            <a:br>
              <a:rPr lang="en-US" altLang="en-US" sz="1400" i="0">
                <a:solidFill>
                  <a:schemeClr val="tx1"/>
                </a:solidFill>
              </a:rPr>
            </a:br>
            <a:r>
              <a:rPr lang="en-US" altLang="en-US" sz="1400" i="0">
                <a:solidFill>
                  <a:schemeClr val="tx1"/>
                </a:solidFill>
              </a:rPr>
              <a:t>EXON</a:t>
            </a:r>
          </a:p>
        </p:txBody>
      </p:sp>
      <p:sp>
        <p:nvSpPr>
          <p:cNvPr id="19" name="Rectangle 18">
            <a:extLst>
              <a:ext uri="{FF2B5EF4-FFF2-40B4-BE49-F238E27FC236}">
                <a16:creationId xmlns:a16="http://schemas.microsoft.com/office/drawing/2014/main" id="{8A97BA4B-1AF5-6192-2433-737712891292}"/>
              </a:ext>
            </a:extLst>
          </p:cNvPr>
          <p:cNvSpPr>
            <a:spLocks noChangeArrowheads="1"/>
          </p:cNvSpPr>
          <p:nvPr/>
        </p:nvSpPr>
        <p:spPr bwMode="auto">
          <a:xfrm>
            <a:off x="6122859" y="2019301"/>
            <a:ext cx="1011496"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CORRECT</a:t>
            </a:r>
            <a:br>
              <a:rPr lang="en-US" altLang="en-US" sz="1400" i="0">
                <a:solidFill>
                  <a:schemeClr val="tx1"/>
                </a:solidFill>
              </a:rPr>
            </a:br>
            <a:r>
              <a:rPr lang="en-US" altLang="en-US" sz="1400" i="0">
                <a:solidFill>
                  <a:schemeClr val="tx1"/>
                </a:solidFill>
              </a:rPr>
              <a:t>EXON</a:t>
            </a:r>
          </a:p>
        </p:txBody>
      </p:sp>
      <p:sp>
        <p:nvSpPr>
          <p:cNvPr id="20" name="Rectangle 19">
            <a:extLst>
              <a:ext uri="{FF2B5EF4-FFF2-40B4-BE49-F238E27FC236}">
                <a16:creationId xmlns:a16="http://schemas.microsoft.com/office/drawing/2014/main" id="{FF53CBA6-4182-F5CF-D660-F15186C1035D}"/>
              </a:ext>
            </a:extLst>
          </p:cNvPr>
          <p:cNvSpPr>
            <a:spLocks noChangeArrowheads="1"/>
          </p:cNvSpPr>
          <p:nvPr/>
        </p:nvSpPr>
        <p:spPr bwMode="auto">
          <a:xfrm>
            <a:off x="7280589" y="2017714"/>
            <a:ext cx="92012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MISSING</a:t>
            </a:r>
          </a:p>
          <a:p>
            <a:pPr algn="ctr">
              <a:spcBef>
                <a:spcPct val="0"/>
              </a:spcBef>
            </a:pPr>
            <a:r>
              <a:rPr lang="en-US" altLang="en-US" sz="1400" i="0">
                <a:solidFill>
                  <a:schemeClr val="tx1"/>
                </a:solidFill>
              </a:rPr>
              <a:t>EXON</a:t>
            </a:r>
          </a:p>
        </p:txBody>
      </p:sp>
      <p:graphicFrame>
        <p:nvGraphicFramePr>
          <p:cNvPr id="21" name="Object 20">
            <a:extLst>
              <a:ext uri="{FF2B5EF4-FFF2-40B4-BE49-F238E27FC236}">
                <a16:creationId xmlns:a16="http://schemas.microsoft.com/office/drawing/2014/main" id="{F2A28321-05C7-0D3B-A159-EACED6A00D2C}"/>
              </a:ext>
            </a:extLst>
          </p:cNvPr>
          <p:cNvGraphicFramePr>
            <a:graphicFrameLocks noChangeAspect="1"/>
          </p:cNvGraphicFramePr>
          <p:nvPr/>
        </p:nvGraphicFramePr>
        <p:xfrm>
          <a:off x="3414714" y="4876800"/>
          <a:ext cx="4446587" cy="685800"/>
        </p:xfrm>
        <a:graphic>
          <a:graphicData uri="http://schemas.openxmlformats.org/presentationml/2006/ole">
            <mc:AlternateContent xmlns:mc="http://schemas.openxmlformats.org/markup-compatibility/2006">
              <mc:Choice xmlns:v="urn:schemas-microsoft-com:vml" Requires="v">
                <p:oleObj name="Equation" r:id="rId4" imgW="62611000" imgH="9652000" progId="Equation.3">
                  <p:embed/>
                </p:oleObj>
              </mc:Choice>
              <mc:Fallback>
                <p:oleObj name="Equation" r:id="rId4" imgW="62611000" imgH="9652000" progId="Equation.3">
                  <p:embed/>
                  <p:pic>
                    <p:nvPicPr>
                      <p:cNvPr id="21" name="Object 20">
                        <a:extLst>
                          <a:ext uri="{FF2B5EF4-FFF2-40B4-BE49-F238E27FC236}">
                            <a16:creationId xmlns:a16="http://schemas.microsoft.com/office/drawing/2014/main" id="{F2A28321-05C7-0D3B-A159-EACED6A00D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4714" y="4876800"/>
                        <a:ext cx="4446587"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TextBox 21">
            <a:extLst>
              <a:ext uri="{FF2B5EF4-FFF2-40B4-BE49-F238E27FC236}">
                <a16:creationId xmlns:a16="http://schemas.microsoft.com/office/drawing/2014/main" id="{095700AC-BF49-3DA3-0541-764B73A77A81}"/>
              </a:ext>
            </a:extLst>
          </p:cNvPr>
          <p:cNvSpPr txBox="1"/>
          <p:nvPr/>
        </p:nvSpPr>
        <p:spPr>
          <a:xfrm>
            <a:off x="2321679" y="4101017"/>
            <a:ext cx="1883849" cy="400110"/>
          </a:xfrm>
          <a:prstGeom prst="rect">
            <a:avLst/>
          </a:prstGeom>
          <a:solidFill>
            <a:schemeClr val="bg1"/>
          </a:solidFill>
        </p:spPr>
        <p:txBody>
          <a:bodyPr wrap="none" rtlCol="0">
            <a:spAutoFit/>
          </a:bodyPr>
          <a:lstStyle/>
          <a:p>
            <a:r>
              <a:rPr lang="en-US" sz="2000" dirty="0">
                <a:latin typeface="+mj-lt"/>
              </a:rPr>
              <a:t>Exon Sensitivity</a:t>
            </a:r>
          </a:p>
        </p:txBody>
      </p:sp>
      <p:sp>
        <p:nvSpPr>
          <p:cNvPr id="23" name="TextBox 22">
            <a:extLst>
              <a:ext uri="{FF2B5EF4-FFF2-40B4-BE49-F238E27FC236}">
                <a16:creationId xmlns:a16="http://schemas.microsoft.com/office/drawing/2014/main" id="{3FCB23BD-106A-E403-E985-44DD7ACB76EE}"/>
              </a:ext>
            </a:extLst>
          </p:cNvPr>
          <p:cNvSpPr txBox="1"/>
          <p:nvPr/>
        </p:nvSpPr>
        <p:spPr>
          <a:xfrm>
            <a:off x="2543321" y="4991099"/>
            <a:ext cx="1742785" cy="400110"/>
          </a:xfrm>
          <a:prstGeom prst="rect">
            <a:avLst/>
          </a:prstGeom>
          <a:solidFill>
            <a:schemeClr val="bg1"/>
          </a:solidFill>
        </p:spPr>
        <p:txBody>
          <a:bodyPr wrap="square" rtlCol="0">
            <a:spAutoFit/>
          </a:bodyPr>
          <a:lstStyle/>
          <a:p>
            <a:r>
              <a:rPr lang="en-US" sz="2000">
                <a:latin typeface="+mj-lt"/>
              </a:rPr>
              <a:t>Exon Precision</a:t>
            </a:r>
          </a:p>
        </p:txBody>
      </p:sp>
      <p:sp>
        <p:nvSpPr>
          <p:cNvPr id="24" name="TextBox 23">
            <a:extLst>
              <a:ext uri="{FF2B5EF4-FFF2-40B4-BE49-F238E27FC236}">
                <a16:creationId xmlns:a16="http://schemas.microsoft.com/office/drawing/2014/main" id="{23D1F067-38A3-42A8-B046-C3B2932CBEE1}"/>
              </a:ext>
            </a:extLst>
          </p:cNvPr>
          <p:cNvSpPr txBox="1"/>
          <p:nvPr/>
        </p:nvSpPr>
        <p:spPr>
          <a:xfrm>
            <a:off x="2193671" y="6132976"/>
            <a:ext cx="6585457" cy="400110"/>
          </a:xfrm>
          <a:prstGeom prst="rect">
            <a:avLst/>
          </a:prstGeom>
          <a:solidFill>
            <a:schemeClr val="bg1"/>
          </a:solidFill>
        </p:spPr>
        <p:txBody>
          <a:bodyPr wrap="none" rtlCol="0">
            <a:spAutoFit/>
          </a:bodyPr>
          <a:lstStyle/>
          <a:p>
            <a:r>
              <a:rPr lang="en-US" sz="2000" dirty="0">
                <a:latin typeface="+mj-lt"/>
              </a:rPr>
              <a:t>“Junction ends” must match exactly, beginning or end do not!</a:t>
            </a:r>
          </a:p>
        </p:txBody>
      </p:sp>
    </p:spTree>
    <p:extLst>
      <p:ext uri="{BB962C8B-B14F-4D97-AF65-F5344CB8AC3E}">
        <p14:creationId xmlns:p14="http://schemas.microsoft.com/office/powerpoint/2010/main" val="1295660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E743-6B97-DF19-1163-F399CCD67EE3}"/>
              </a:ext>
            </a:extLst>
          </p:cNvPr>
          <p:cNvSpPr>
            <a:spLocks noGrp="1"/>
          </p:cNvSpPr>
          <p:nvPr>
            <p:ph type="title"/>
          </p:nvPr>
        </p:nvSpPr>
        <p:spPr/>
        <p:txBody>
          <a:bodyPr>
            <a:normAutofit fontScale="90000"/>
          </a:bodyPr>
          <a:lstStyle/>
          <a:p>
            <a:r>
              <a:rPr lang="en-US" dirty="0"/>
              <a:t>Transcript level accuracy</a:t>
            </a:r>
          </a:p>
        </p:txBody>
      </p:sp>
      <p:sp>
        <p:nvSpPr>
          <p:cNvPr id="4" name="Slide Number Placeholder 3">
            <a:extLst>
              <a:ext uri="{FF2B5EF4-FFF2-40B4-BE49-F238E27FC236}">
                <a16:creationId xmlns:a16="http://schemas.microsoft.com/office/drawing/2014/main" id="{1955F47A-B45F-829D-D39C-C03EF582FDA8}"/>
              </a:ext>
            </a:extLst>
          </p:cNvPr>
          <p:cNvSpPr>
            <a:spLocks noGrp="1"/>
          </p:cNvSpPr>
          <p:nvPr>
            <p:ph type="sldNum" sz="quarter" idx="12"/>
          </p:nvPr>
        </p:nvSpPr>
        <p:spPr/>
        <p:txBody>
          <a:bodyPr/>
          <a:lstStyle/>
          <a:p>
            <a:fld id="{B82CCC60-E8CD-4174-8B1A-7DF615B22EEF}" type="slidenum">
              <a:rPr lang="en-US" smtClean="0"/>
              <a:pPr/>
              <a:t>13</a:t>
            </a:fld>
            <a:endParaRPr lang="en-US"/>
          </a:p>
        </p:txBody>
      </p:sp>
      <p:sp>
        <p:nvSpPr>
          <p:cNvPr id="5" name="Line 5">
            <a:extLst>
              <a:ext uri="{FF2B5EF4-FFF2-40B4-BE49-F238E27FC236}">
                <a16:creationId xmlns:a16="http://schemas.microsoft.com/office/drawing/2014/main" id="{DAA10519-6B0F-953D-1E9E-111ABFE3E658}"/>
              </a:ext>
            </a:extLst>
          </p:cNvPr>
          <p:cNvSpPr>
            <a:spLocks noChangeShapeType="1"/>
          </p:cNvSpPr>
          <p:nvPr/>
        </p:nvSpPr>
        <p:spPr bwMode="auto">
          <a:xfrm>
            <a:off x="4085978" y="3185324"/>
            <a:ext cx="5877210" cy="789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6">
            <a:extLst>
              <a:ext uri="{FF2B5EF4-FFF2-40B4-BE49-F238E27FC236}">
                <a16:creationId xmlns:a16="http://schemas.microsoft.com/office/drawing/2014/main" id="{35242191-2227-5CE1-9EF9-67BC91EEDEEB}"/>
              </a:ext>
            </a:extLst>
          </p:cNvPr>
          <p:cNvSpPr>
            <a:spLocks noChangeShapeType="1"/>
          </p:cNvSpPr>
          <p:nvPr/>
        </p:nvSpPr>
        <p:spPr bwMode="auto">
          <a:xfrm flipV="1">
            <a:off x="4627600" y="3711973"/>
            <a:ext cx="5335588"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7">
            <a:extLst>
              <a:ext uri="{FF2B5EF4-FFF2-40B4-BE49-F238E27FC236}">
                <a16:creationId xmlns:a16="http://schemas.microsoft.com/office/drawing/2014/main" id="{A987CDF5-DFBB-9349-AD88-FAB973504A63}"/>
              </a:ext>
            </a:extLst>
          </p:cNvPr>
          <p:cNvSpPr>
            <a:spLocks noChangeArrowheads="1"/>
          </p:cNvSpPr>
          <p:nvPr/>
        </p:nvSpPr>
        <p:spPr bwMode="auto">
          <a:xfrm>
            <a:off x="6559587" y="3070979"/>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8" name="Rectangle 8">
            <a:extLst>
              <a:ext uri="{FF2B5EF4-FFF2-40B4-BE49-F238E27FC236}">
                <a16:creationId xmlns:a16="http://schemas.microsoft.com/office/drawing/2014/main" id="{45971FBE-C5F4-B5E5-B925-C34072941BE3}"/>
              </a:ext>
            </a:extLst>
          </p:cNvPr>
          <p:cNvSpPr>
            <a:spLocks noChangeArrowheads="1"/>
          </p:cNvSpPr>
          <p:nvPr/>
        </p:nvSpPr>
        <p:spPr bwMode="auto">
          <a:xfrm>
            <a:off x="4603788" y="3604379"/>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9">
            <a:extLst>
              <a:ext uri="{FF2B5EF4-FFF2-40B4-BE49-F238E27FC236}">
                <a16:creationId xmlns:a16="http://schemas.microsoft.com/office/drawing/2014/main" id="{6F73FD67-CD75-B321-5483-20ECACBF72E4}"/>
              </a:ext>
            </a:extLst>
          </p:cNvPr>
          <p:cNvSpPr>
            <a:spLocks noChangeArrowheads="1"/>
          </p:cNvSpPr>
          <p:nvPr/>
        </p:nvSpPr>
        <p:spPr bwMode="auto">
          <a:xfrm>
            <a:off x="6559587" y="3597851"/>
            <a:ext cx="1064935" cy="22242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10">
            <a:extLst>
              <a:ext uri="{FF2B5EF4-FFF2-40B4-BE49-F238E27FC236}">
                <a16:creationId xmlns:a16="http://schemas.microsoft.com/office/drawing/2014/main" id="{A6ADA645-8ABE-46FC-3EF4-CC6CB3C828E4}"/>
              </a:ext>
            </a:extLst>
          </p:cNvPr>
          <p:cNvSpPr>
            <a:spLocks noChangeArrowheads="1"/>
          </p:cNvSpPr>
          <p:nvPr/>
        </p:nvSpPr>
        <p:spPr bwMode="auto">
          <a:xfrm>
            <a:off x="50231" y="2907928"/>
            <a:ext cx="1865896"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REALITY</a:t>
            </a:r>
          </a:p>
          <a:p>
            <a:pPr>
              <a:spcBef>
                <a:spcPct val="0"/>
              </a:spcBef>
            </a:pPr>
            <a:r>
              <a:rPr lang="en-US" altLang="en-US" sz="2000" i="0" dirty="0">
                <a:solidFill>
                  <a:schemeClr val="tx1"/>
                </a:solidFill>
              </a:rPr>
              <a:t>(two transcripts)</a:t>
            </a:r>
          </a:p>
        </p:txBody>
      </p:sp>
      <p:sp>
        <p:nvSpPr>
          <p:cNvPr id="11" name="Rectangle 11">
            <a:extLst>
              <a:ext uri="{FF2B5EF4-FFF2-40B4-BE49-F238E27FC236}">
                <a16:creationId xmlns:a16="http://schemas.microsoft.com/office/drawing/2014/main" id="{7E293B32-C143-545F-EDF0-E5B7EF59AD45}"/>
              </a:ext>
            </a:extLst>
          </p:cNvPr>
          <p:cNvSpPr>
            <a:spLocks noChangeArrowheads="1"/>
          </p:cNvSpPr>
          <p:nvPr/>
        </p:nvSpPr>
        <p:spPr bwMode="auto">
          <a:xfrm>
            <a:off x="37432" y="3696154"/>
            <a:ext cx="190757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a:p>
            <a:pPr>
              <a:spcBef>
                <a:spcPct val="0"/>
              </a:spcBef>
            </a:pPr>
            <a:r>
              <a:rPr lang="en-US" altLang="en-US" sz="2000" i="0" dirty="0">
                <a:solidFill>
                  <a:schemeClr val="tx1"/>
                </a:solidFill>
              </a:rPr>
              <a:t>(four transcripts)</a:t>
            </a:r>
          </a:p>
        </p:txBody>
      </p:sp>
      <p:sp>
        <p:nvSpPr>
          <p:cNvPr id="12" name="Rectangle 12">
            <a:extLst>
              <a:ext uri="{FF2B5EF4-FFF2-40B4-BE49-F238E27FC236}">
                <a16:creationId xmlns:a16="http://schemas.microsoft.com/office/drawing/2014/main" id="{C05DCF6F-3007-2B8A-82BE-813547B9BC42}"/>
              </a:ext>
            </a:extLst>
          </p:cNvPr>
          <p:cNvSpPr>
            <a:spLocks noChangeArrowheads="1"/>
          </p:cNvSpPr>
          <p:nvPr/>
        </p:nvSpPr>
        <p:spPr bwMode="auto">
          <a:xfrm>
            <a:off x="4075151" y="307097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Rectangle 13">
            <a:extLst>
              <a:ext uri="{FF2B5EF4-FFF2-40B4-BE49-F238E27FC236}">
                <a16:creationId xmlns:a16="http://schemas.microsoft.com/office/drawing/2014/main" id="{8BF5F5E3-4DDC-79FE-DD8D-E5E8B9CF03F5}"/>
              </a:ext>
            </a:extLst>
          </p:cNvPr>
          <p:cNvSpPr>
            <a:spLocks noChangeArrowheads="1"/>
          </p:cNvSpPr>
          <p:nvPr/>
        </p:nvSpPr>
        <p:spPr bwMode="auto">
          <a:xfrm>
            <a:off x="7937538" y="3070979"/>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4">
            <a:extLst>
              <a:ext uri="{FF2B5EF4-FFF2-40B4-BE49-F238E27FC236}">
                <a16:creationId xmlns:a16="http://schemas.microsoft.com/office/drawing/2014/main" id="{C63153BB-3358-0A4A-6925-E4263B168080}"/>
              </a:ext>
            </a:extLst>
          </p:cNvPr>
          <p:cNvSpPr>
            <a:spLocks noChangeArrowheads="1"/>
          </p:cNvSpPr>
          <p:nvPr/>
        </p:nvSpPr>
        <p:spPr bwMode="auto">
          <a:xfrm>
            <a:off x="8991637" y="3070979"/>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5">
            <a:extLst>
              <a:ext uri="{FF2B5EF4-FFF2-40B4-BE49-F238E27FC236}">
                <a16:creationId xmlns:a16="http://schemas.microsoft.com/office/drawing/2014/main" id="{E0E5723D-3ADC-B457-77ED-8648F0C09218}"/>
              </a:ext>
            </a:extLst>
          </p:cNvPr>
          <p:cNvSpPr>
            <a:spLocks noChangeArrowheads="1"/>
          </p:cNvSpPr>
          <p:nvPr/>
        </p:nvSpPr>
        <p:spPr bwMode="auto">
          <a:xfrm>
            <a:off x="8824950" y="3604379"/>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6">
            <a:extLst>
              <a:ext uri="{FF2B5EF4-FFF2-40B4-BE49-F238E27FC236}">
                <a16:creationId xmlns:a16="http://schemas.microsoft.com/office/drawing/2014/main" id="{53644AFA-D8AC-88CF-97E3-32BEFA0A6C0C}"/>
              </a:ext>
            </a:extLst>
          </p:cNvPr>
          <p:cNvSpPr>
            <a:spLocks noChangeArrowheads="1"/>
          </p:cNvSpPr>
          <p:nvPr/>
        </p:nvSpPr>
        <p:spPr bwMode="auto">
          <a:xfrm>
            <a:off x="5822988" y="3605967"/>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Line 5">
            <a:extLst>
              <a:ext uri="{FF2B5EF4-FFF2-40B4-BE49-F238E27FC236}">
                <a16:creationId xmlns:a16="http://schemas.microsoft.com/office/drawing/2014/main" id="{8B900F11-F172-4A32-E4B5-1D0038D4E0B4}"/>
              </a:ext>
            </a:extLst>
          </p:cNvPr>
          <p:cNvSpPr>
            <a:spLocks noChangeShapeType="1"/>
          </p:cNvSpPr>
          <p:nvPr/>
        </p:nvSpPr>
        <p:spPr bwMode="auto">
          <a:xfrm flipV="1">
            <a:off x="3725108" y="4131429"/>
            <a:ext cx="60755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7">
            <a:extLst>
              <a:ext uri="{FF2B5EF4-FFF2-40B4-BE49-F238E27FC236}">
                <a16:creationId xmlns:a16="http://schemas.microsoft.com/office/drawing/2014/main" id="{3918AA22-CA63-74DD-D01B-953684361DFE}"/>
              </a:ext>
            </a:extLst>
          </p:cNvPr>
          <p:cNvSpPr>
            <a:spLocks noChangeArrowheads="1"/>
          </p:cNvSpPr>
          <p:nvPr/>
        </p:nvSpPr>
        <p:spPr bwMode="auto">
          <a:xfrm>
            <a:off x="6559587" y="4009191"/>
            <a:ext cx="106838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9" name="Rectangle 12">
            <a:extLst>
              <a:ext uri="{FF2B5EF4-FFF2-40B4-BE49-F238E27FC236}">
                <a16:creationId xmlns:a16="http://schemas.microsoft.com/office/drawing/2014/main" id="{B25B50CE-72CF-980E-C40C-96EB14E584A6}"/>
              </a:ext>
            </a:extLst>
          </p:cNvPr>
          <p:cNvSpPr>
            <a:spLocks noChangeArrowheads="1"/>
          </p:cNvSpPr>
          <p:nvPr/>
        </p:nvSpPr>
        <p:spPr bwMode="auto">
          <a:xfrm>
            <a:off x="3676391" y="4009191"/>
            <a:ext cx="1773535" cy="215546"/>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0" name="Rectangle 13">
            <a:extLst>
              <a:ext uri="{FF2B5EF4-FFF2-40B4-BE49-F238E27FC236}">
                <a16:creationId xmlns:a16="http://schemas.microsoft.com/office/drawing/2014/main" id="{201D92B7-CEC7-B695-7D31-783F95BA9874}"/>
              </a:ext>
            </a:extLst>
          </p:cNvPr>
          <p:cNvSpPr>
            <a:spLocks noChangeArrowheads="1"/>
          </p:cNvSpPr>
          <p:nvPr/>
        </p:nvSpPr>
        <p:spPr bwMode="auto">
          <a:xfrm>
            <a:off x="7937538" y="4009191"/>
            <a:ext cx="3540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1" name="Rectangle 14">
            <a:extLst>
              <a:ext uri="{FF2B5EF4-FFF2-40B4-BE49-F238E27FC236}">
                <a16:creationId xmlns:a16="http://schemas.microsoft.com/office/drawing/2014/main" id="{1E266097-E0A3-BB82-2143-69A86E46ADB5}"/>
              </a:ext>
            </a:extLst>
          </p:cNvPr>
          <p:cNvSpPr>
            <a:spLocks noChangeArrowheads="1"/>
          </p:cNvSpPr>
          <p:nvPr/>
        </p:nvSpPr>
        <p:spPr bwMode="auto">
          <a:xfrm>
            <a:off x="8991637" y="4009190"/>
            <a:ext cx="900113" cy="24288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2" name="Rectangle 12">
            <a:extLst>
              <a:ext uri="{FF2B5EF4-FFF2-40B4-BE49-F238E27FC236}">
                <a16:creationId xmlns:a16="http://schemas.microsoft.com/office/drawing/2014/main" id="{AF66BFF3-34EB-CF65-56E3-A3F6FA4B6FA3}"/>
              </a:ext>
            </a:extLst>
          </p:cNvPr>
          <p:cNvSpPr>
            <a:spLocks noChangeArrowheads="1"/>
          </p:cNvSpPr>
          <p:nvPr/>
        </p:nvSpPr>
        <p:spPr bwMode="auto">
          <a:xfrm>
            <a:off x="2160626" y="307097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 name="Rectangle 16">
            <a:extLst>
              <a:ext uri="{FF2B5EF4-FFF2-40B4-BE49-F238E27FC236}">
                <a16:creationId xmlns:a16="http://schemas.microsoft.com/office/drawing/2014/main" id="{75E70169-B8E5-3DBC-3708-691FF2396B8D}"/>
              </a:ext>
            </a:extLst>
          </p:cNvPr>
          <p:cNvSpPr>
            <a:spLocks noChangeArrowheads="1"/>
          </p:cNvSpPr>
          <p:nvPr/>
        </p:nvSpPr>
        <p:spPr bwMode="auto">
          <a:xfrm>
            <a:off x="2573656" y="3613249"/>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5" name="Rectangle 14">
            <a:extLst>
              <a:ext uri="{FF2B5EF4-FFF2-40B4-BE49-F238E27FC236}">
                <a16:creationId xmlns:a16="http://schemas.microsoft.com/office/drawing/2014/main" id="{3BDF2E52-9744-E4A9-B8C9-CE0C02CED20B}"/>
              </a:ext>
            </a:extLst>
          </p:cNvPr>
          <p:cNvSpPr>
            <a:spLocks noChangeArrowheads="1"/>
          </p:cNvSpPr>
          <p:nvPr/>
        </p:nvSpPr>
        <p:spPr bwMode="auto">
          <a:xfrm>
            <a:off x="2235420" y="5162307"/>
            <a:ext cx="1047537" cy="244383"/>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26" name="Group 25">
            <a:extLst>
              <a:ext uri="{FF2B5EF4-FFF2-40B4-BE49-F238E27FC236}">
                <a16:creationId xmlns:a16="http://schemas.microsoft.com/office/drawing/2014/main" id="{1209EBF1-A251-A0CB-D0B1-A5AD73DDE858}"/>
              </a:ext>
            </a:extLst>
          </p:cNvPr>
          <p:cNvGrpSpPr/>
          <p:nvPr/>
        </p:nvGrpSpPr>
        <p:grpSpPr>
          <a:xfrm>
            <a:off x="2417250" y="2293161"/>
            <a:ext cx="795411" cy="1413049"/>
            <a:chOff x="2250822" y="2142223"/>
            <a:chExt cx="795411" cy="1413049"/>
          </a:xfrm>
        </p:grpSpPr>
        <p:cxnSp>
          <p:nvCxnSpPr>
            <p:cNvPr id="27" name="Straight Connector 26">
              <a:extLst>
                <a:ext uri="{FF2B5EF4-FFF2-40B4-BE49-F238E27FC236}">
                  <a16:creationId xmlns:a16="http://schemas.microsoft.com/office/drawing/2014/main" id="{4D3FCC78-F719-E73A-876A-9C66932A041A}"/>
                </a:ext>
              </a:extLst>
            </p:cNvPr>
            <p:cNvCxnSpPr>
              <a:cxnSpLocks/>
            </p:cNvCxnSpPr>
            <p:nvPr/>
          </p:nvCxnSpPr>
          <p:spPr bwMode="auto">
            <a:xfrm flipV="1">
              <a:off x="2889828" y="2503357"/>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851464E3-2DB7-54B9-614D-7DDC8AEC4C5D}"/>
                </a:ext>
              </a:extLst>
            </p:cNvPr>
            <p:cNvCxnSpPr>
              <a:cxnSpLocks/>
            </p:cNvCxnSpPr>
            <p:nvPr/>
          </p:nvCxnSpPr>
          <p:spPr bwMode="auto">
            <a:xfrm flipV="1">
              <a:off x="2407228" y="2503357"/>
              <a:ext cx="0" cy="1028520"/>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E5952F0A-805B-8212-DB46-D8E41B24A364}"/>
                </a:ext>
              </a:extLst>
            </p:cNvPr>
            <p:cNvCxnSpPr/>
            <p:nvPr/>
          </p:nvCxnSpPr>
          <p:spPr bwMode="auto">
            <a:xfrm>
              <a:off x="2407228" y="2653259"/>
              <a:ext cx="482600"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a:extLst>
                <a:ext uri="{FF2B5EF4-FFF2-40B4-BE49-F238E27FC236}">
                  <a16:creationId xmlns:a16="http://schemas.microsoft.com/office/drawing/2014/main" id="{D7F24431-462B-C05C-21CD-DF8D6CEB7173}"/>
                </a:ext>
              </a:extLst>
            </p:cNvPr>
            <p:cNvSpPr txBox="1"/>
            <p:nvPr/>
          </p:nvSpPr>
          <p:spPr>
            <a:xfrm>
              <a:off x="2250822" y="2142223"/>
              <a:ext cx="795411" cy="369332"/>
            </a:xfrm>
            <a:prstGeom prst="rect">
              <a:avLst/>
            </a:prstGeom>
            <a:noFill/>
          </p:spPr>
          <p:txBody>
            <a:bodyPr wrap="none" rtlCol="0">
              <a:spAutoFit/>
            </a:bodyPr>
            <a:lstStyle/>
            <a:p>
              <a:r>
                <a:rPr lang="en-US" dirty="0">
                  <a:latin typeface="+mj-lt"/>
                </a:rPr>
                <a:t>&lt; 80%</a:t>
              </a:r>
            </a:p>
          </p:txBody>
        </p:sp>
      </p:grpSp>
      <p:grpSp>
        <p:nvGrpSpPr>
          <p:cNvPr id="31" name="Group 30">
            <a:extLst>
              <a:ext uri="{FF2B5EF4-FFF2-40B4-BE49-F238E27FC236}">
                <a16:creationId xmlns:a16="http://schemas.microsoft.com/office/drawing/2014/main" id="{B673D7E0-F0ED-D047-B77A-DFBD8CE1C042}"/>
              </a:ext>
            </a:extLst>
          </p:cNvPr>
          <p:cNvGrpSpPr/>
          <p:nvPr/>
        </p:nvGrpSpPr>
        <p:grpSpPr>
          <a:xfrm>
            <a:off x="2217200" y="3437870"/>
            <a:ext cx="1177512" cy="1148271"/>
            <a:chOff x="2050772" y="3286932"/>
            <a:chExt cx="1177512" cy="1148271"/>
          </a:xfrm>
        </p:grpSpPr>
        <p:sp>
          <p:nvSpPr>
            <p:cNvPr id="32" name="Oval 31">
              <a:extLst>
                <a:ext uri="{FF2B5EF4-FFF2-40B4-BE49-F238E27FC236}">
                  <a16:creationId xmlns:a16="http://schemas.microsoft.com/office/drawing/2014/main" id="{C89A2503-CDFD-6D9E-96AB-C648EA5291D4}"/>
                </a:ext>
              </a:extLst>
            </p:cNvPr>
            <p:cNvSpPr/>
            <p:nvPr/>
          </p:nvSpPr>
          <p:spPr bwMode="auto">
            <a:xfrm>
              <a:off x="2050772" y="3286932"/>
              <a:ext cx="1065757" cy="702429"/>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3" name="TextBox 32">
              <a:extLst>
                <a:ext uri="{FF2B5EF4-FFF2-40B4-BE49-F238E27FC236}">
                  <a16:creationId xmlns:a16="http://schemas.microsoft.com/office/drawing/2014/main" id="{5704CB8E-70EF-CC92-7C26-1F3DBEB374A9}"/>
                </a:ext>
              </a:extLst>
            </p:cNvPr>
            <p:cNvSpPr txBox="1"/>
            <p:nvPr/>
          </p:nvSpPr>
          <p:spPr>
            <a:xfrm>
              <a:off x="2068992" y="4065871"/>
              <a:ext cx="1159292" cy="369332"/>
            </a:xfrm>
            <a:prstGeom prst="rect">
              <a:avLst/>
            </a:prstGeom>
            <a:noFill/>
          </p:spPr>
          <p:txBody>
            <a:bodyPr wrap="none" rtlCol="0">
              <a:spAutoFit/>
            </a:bodyPr>
            <a:lstStyle/>
            <a:p>
              <a:r>
                <a:rPr lang="en-US">
                  <a:solidFill>
                    <a:srgbClr val="C00000"/>
                  </a:solidFill>
                </a:rPr>
                <a:t>WRONG!</a:t>
              </a:r>
            </a:p>
          </p:txBody>
        </p:sp>
      </p:grpSp>
      <p:grpSp>
        <p:nvGrpSpPr>
          <p:cNvPr id="34" name="Group 33">
            <a:extLst>
              <a:ext uri="{FF2B5EF4-FFF2-40B4-BE49-F238E27FC236}">
                <a16:creationId xmlns:a16="http://schemas.microsoft.com/office/drawing/2014/main" id="{6EF14382-EE38-85D7-B50C-7683DD42B5EA}"/>
              </a:ext>
            </a:extLst>
          </p:cNvPr>
          <p:cNvGrpSpPr/>
          <p:nvPr/>
        </p:nvGrpSpPr>
        <p:grpSpPr>
          <a:xfrm>
            <a:off x="2158872" y="4864420"/>
            <a:ext cx="1441998" cy="1303301"/>
            <a:chOff x="9921012" y="3531878"/>
            <a:chExt cx="1441998" cy="1303301"/>
          </a:xfrm>
        </p:grpSpPr>
        <p:sp>
          <p:nvSpPr>
            <p:cNvPr id="35" name="Oval 34">
              <a:extLst>
                <a:ext uri="{FF2B5EF4-FFF2-40B4-BE49-F238E27FC236}">
                  <a16:creationId xmlns:a16="http://schemas.microsoft.com/office/drawing/2014/main" id="{08B5F4DC-0C4D-17F5-47C3-03DB5F2B65F0}"/>
                </a:ext>
              </a:extLst>
            </p:cNvPr>
            <p:cNvSpPr/>
            <p:nvPr/>
          </p:nvSpPr>
          <p:spPr bwMode="auto">
            <a:xfrm>
              <a:off x="9921012" y="3531878"/>
              <a:ext cx="1202249" cy="807902"/>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6" name="TextBox 35">
              <a:extLst>
                <a:ext uri="{FF2B5EF4-FFF2-40B4-BE49-F238E27FC236}">
                  <a16:creationId xmlns:a16="http://schemas.microsoft.com/office/drawing/2014/main" id="{266CB5F1-F224-000E-7F20-CD8353AE37B7}"/>
                </a:ext>
              </a:extLst>
            </p:cNvPr>
            <p:cNvSpPr txBox="1"/>
            <p:nvPr/>
          </p:nvSpPr>
          <p:spPr>
            <a:xfrm>
              <a:off x="9972886" y="4465847"/>
              <a:ext cx="1390124" cy="369332"/>
            </a:xfrm>
            <a:prstGeom prst="rect">
              <a:avLst/>
            </a:prstGeom>
            <a:noFill/>
          </p:spPr>
          <p:txBody>
            <a:bodyPr wrap="none" rtlCol="0">
              <a:spAutoFit/>
            </a:bodyPr>
            <a:lstStyle/>
            <a:p>
              <a:r>
                <a:rPr lang="en-US">
                  <a:solidFill>
                    <a:srgbClr val="C00000"/>
                  </a:solidFill>
                </a:rPr>
                <a:t>CORRECT!</a:t>
              </a:r>
            </a:p>
          </p:txBody>
        </p:sp>
      </p:grpSp>
      <p:grpSp>
        <p:nvGrpSpPr>
          <p:cNvPr id="37" name="Group 36">
            <a:extLst>
              <a:ext uri="{FF2B5EF4-FFF2-40B4-BE49-F238E27FC236}">
                <a16:creationId xmlns:a16="http://schemas.microsoft.com/office/drawing/2014/main" id="{CD581B0E-F39C-8252-500E-73FE10ABC687}"/>
              </a:ext>
            </a:extLst>
          </p:cNvPr>
          <p:cNvGrpSpPr/>
          <p:nvPr/>
        </p:nvGrpSpPr>
        <p:grpSpPr>
          <a:xfrm>
            <a:off x="4388873" y="4245373"/>
            <a:ext cx="3799373" cy="762652"/>
            <a:chOff x="4032738" y="4103305"/>
            <a:chExt cx="3799373" cy="762652"/>
          </a:xfrm>
        </p:grpSpPr>
        <p:sp>
          <p:nvSpPr>
            <p:cNvPr id="38" name="TextBox 37">
              <a:extLst>
                <a:ext uri="{FF2B5EF4-FFF2-40B4-BE49-F238E27FC236}">
                  <a16:creationId xmlns:a16="http://schemas.microsoft.com/office/drawing/2014/main" id="{B6D599A8-FA28-E030-2381-40E5F74B370A}"/>
                </a:ext>
              </a:extLst>
            </p:cNvPr>
            <p:cNvSpPr txBox="1"/>
            <p:nvPr/>
          </p:nvSpPr>
          <p:spPr>
            <a:xfrm>
              <a:off x="4032738" y="4465847"/>
              <a:ext cx="3799373" cy="400110"/>
            </a:xfrm>
            <a:prstGeom prst="rect">
              <a:avLst/>
            </a:prstGeom>
            <a:noFill/>
          </p:spPr>
          <p:txBody>
            <a:bodyPr wrap="none" rtlCol="0">
              <a:spAutoFit/>
            </a:bodyPr>
            <a:lstStyle/>
            <a:p>
              <a:r>
                <a:rPr lang="en-US" sz="2000" dirty="0">
                  <a:solidFill>
                    <a:srgbClr val="C00000"/>
                  </a:solidFill>
                </a:rPr>
                <a:t>Same </a:t>
              </a:r>
              <a:r>
                <a:rPr lang="en-US" sz="2000" i="1" dirty="0">
                  <a:solidFill>
                    <a:srgbClr val="C00000"/>
                  </a:solidFill>
                </a:rPr>
                <a:t>INTRON CHAIN </a:t>
              </a:r>
              <a:r>
                <a:rPr lang="en-US" sz="2000" dirty="0">
                  <a:solidFill>
                    <a:srgbClr val="C00000"/>
                  </a:solidFill>
                </a:rPr>
                <a:t>=&gt; CORRECT!</a:t>
              </a:r>
            </a:p>
          </p:txBody>
        </p:sp>
        <p:cxnSp>
          <p:nvCxnSpPr>
            <p:cNvPr id="39" name="Straight Arrow Connector 38">
              <a:extLst>
                <a:ext uri="{FF2B5EF4-FFF2-40B4-BE49-F238E27FC236}">
                  <a16:creationId xmlns:a16="http://schemas.microsoft.com/office/drawing/2014/main" id="{EAEC8C1D-41BB-339A-10B7-41C1DBAD65CD}"/>
                </a:ext>
              </a:extLst>
            </p:cNvPr>
            <p:cNvCxnSpPr>
              <a:stCxn id="38" idx="0"/>
            </p:cNvCxnSpPr>
            <p:nvPr/>
          </p:nvCxnSpPr>
          <p:spPr bwMode="auto">
            <a:xfrm flipV="1">
              <a:off x="5932425" y="4103305"/>
              <a:ext cx="736023" cy="362542"/>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0" name="Group 39">
            <a:extLst>
              <a:ext uri="{FF2B5EF4-FFF2-40B4-BE49-F238E27FC236}">
                <a16:creationId xmlns:a16="http://schemas.microsoft.com/office/drawing/2014/main" id="{7ED92B1C-0D0B-04D3-3A95-17F065D64258}"/>
              </a:ext>
            </a:extLst>
          </p:cNvPr>
          <p:cNvGrpSpPr/>
          <p:nvPr/>
        </p:nvGrpSpPr>
        <p:grpSpPr>
          <a:xfrm>
            <a:off x="5449926" y="2984898"/>
            <a:ext cx="3541711" cy="1054615"/>
            <a:chOff x="5093791" y="2842830"/>
            <a:chExt cx="3541711" cy="1054615"/>
          </a:xfrm>
        </p:grpSpPr>
        <p:cxnSp>
          <p:nvCxnSpPr>
            <p:cNvPr id="41" name="Straight Connector 40">
              <a:extLst>
                <a:ext uri="{FF2B5EF4-FFF2-40B4-BE49-F238E27FC236}">
                  <a16:creationId xmlns:a16="http://schemas.microsoft.com/office/drawing/2014/main" id="{946DFDD2-E524-E8A1-DFAC-268F4D6CF01A}"/>
                </a:ext>
              </a:extLst>
            </p:cNvPr>
            <p:cNvCxnSpPr>
              <a:cxnSpLocks/>
            </p:cNvCxnSpPr>
            <p:nvPr/>
          </p:nvCxnSpPr>
          <p:spPr bwMode="auto">
            <a:xfrm flipV="1">
              <a:off x="5093791" y="28455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a:extLst>
                <a:ext uri="{FF2B5EF4-FFF2-40B4-BE49-F238E27FC236}">
                  <a16:creationId xmlns:a16="http://schemas.microsoft.com/office/drawing/2014/main" id="{934ECAD1-612E-CAB4-3A7F-8778DD2FF228}"/>
                </a:ext>
              </a:extLst>
            </p:cNvPr>
            <p:cNvCxnSpPr>
              <a:cxnSpLocks/>
            </p:cNvCxnSpPr>
            <p:nvPr/>
          </p:nvCxnSpPr>
          <p:spPr bwMode="auto">
            <a:xfrm flipV="1">
              <a:off x="620345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42">
              <a:extLst>
                <a:ext uri="{FF2B5EF4-FFF2-40B4-BE49-F238E27FC236}">
                  <a16:creationId xmlns:a16="http://schemas.microsoft.com/office/drawing/2014/main" id="{68987DCA-7A9A-2494-D713-038ADC7E3AE2}"/>
                </a:ext>
              </a:extLst>
            </p:cNvPr>
            <p:cNvCxnSpPr>
              <a:cxnSpLocks/>
            </p:cNvCxnSpPr>
            <p:nvPr/>
          </p:nvCxnSpPr>
          <p:spPr bwMode="auto">
            <a:xfrm flipV="1">
              <a:off x="7283011"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a16="http://schemas.microsoft.com/office/drawing/2014/main" id="{2D594CAE-F56A-8905-BAE6-001E12AC1242}"/>
                </a:ext>
              </a:extLst>
            </p:cNvPr>
            <p:cNvCxnSpPr>
              <a:cxnSpLocks/>
            </p:cNvCxnSpPr>
            <p:nvPr/>
          </p:nvCxnSpPr>
          <p:spPr bwMode="auto">
            <a:xfrm flipV="1">
              <a:off x="7581403"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a:extLst>
                <a:ext uri="{FF2B5EF4-FFF2-40B4-BE49-F238E27FC236}">
                  <a16:creationId xmlns:a16="http://schemas.microsoft.com/office/drawing/2014/main" id="{CC70D78E-7405-CC93-D61C-A1ECE17A979F}"/>
                </a:ext>
              </a:extLst>
            </p:cNvPr>
            <p:cNvCxnSpPr>
              <a:cxnSpLocks/>
            </p:cNvCxnSpPr>
            <p:nvPr/>
          </p:nvCxnSpPr>
          <p:spPr bwMode="auto">
            <a:xfrm flipV="1">
              <a:off x="863550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a:extLst>
                <a:ext uri="{FF2B5EF4-FFF2-40B4-BE49-F238E27FC236}">
                  <a16:creationId xmlns:a16="http://schemas.microsoft.com/office/drawing/2014/main" id="{2848F8D9-A172-700C-A799-B1A5D531FEBB}"/>
                </a:ext>
              </a:extLst>
            </p:cNvPr>
            <p:cNvCxnSpPr>
              <a:cxnSpLocks/>
            </p:cNvCxnSpPr>
            <p:nvPr/>
          </p:nvCxnSpPr>
          <p:spPr bwMode="auto">
            <a:xfrm flipV="1">
              <a:off x="7935416"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Rectangle 11">
            <a:extLst>
              <a:ext uri="{FF2B5EF4-FFF2-40B4-BE49-F238E27FC236}">
                <a16:creationId xmlns:a16="http://schemas.microsoft.com/office/drawing/2014/main" id="{2C8042EA-5DE9-DE42-ABD0-D12A377CD832}"/>
              </a:ext>
            </a:extLst>
          </p:cNvPr>
          <p:cNvSpPr>
            <a:spLocks noChangeArrowheads="1"/>
          </p:cNvSpPr>
          <p:nvPr/>
        </p:nvSpPr>
        <p:spPr bwMode="auto">
          <a:xfrm>
            <a:off x="3808751" y="5219433"/>
            <a:ext cx="5843249"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Intron coordinates must match EXACTLY, beginning and end do not have to match for multi-exon transcripts</a:t>
            </a:r>
          </a:p>
        </p:txBody>
      </p:sp>
    </p:spTree>
    <p:extLst>
      <p:ext uri="{BB962C8B-B14F-4D97-AF65-F5344CB8AC3E}">
        <p14:creationId xmlns:p14="http://schemas.microsoft.com/office/powerpoint/2010/main" val="125611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4C79-9850-7711-7E3B-C4D96EF16D22}"/>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B502250C-AE07-8493-2834-733D81897B23}"/>
              </a:ext>
            </a:extLst>
          </p:cNvPr>
          <p:cNvSpPr>
            <a:spLocks noGrp="1"/>
          </p:cNvSpPr>
          <p:nvPr>
            <p:ph type="sldNum" sz="quarter" idx="12"/>
          </p:nvPr>
        </p:nvSpPr>
        <p:spPr/>
        <p:txBody>
          <a:bodyPr/>
          <a:lstStyle/>
          <a:p>
            <a:fld id="{B82CCC60-E8CD-4174-8B1A-7DF615B22EEF}" type="slidenum">
              <a:rPr lang="en-US" smtClean="0"/>
              <a:pPr/>
              <a:t>14</a:t>
            </a:fld>
            <a:endParaRPr lang="en-US"/>
          </a:p>
        </p:txBody>
      </p:sp>
      <p:sp>
        <p:nvSpPr>
          <p:cNvPr id="5" name="Rectangle 4">
            <a:extLst>
              <a:ext uri="{FF2B5EF4-FFF2-40B4-BE49-F238E27FC236}">
                <a16:creationId xmlns:a16="http://schemas.microsoft.com/office/drawing/2014/main" id="{A4E458DA-39C3-CF79-0149-E087ED40D845}"/>
              </a:ext>
            </a:extLst>
          </p:cNvPr>
          <p:cNvSpPr/>
          <p:nvPr/>
        </p:nvSpPr>
        <p:spPr bwMode="auto">
          <a:xfrm>
            <a:off x="5533951" y="1683048"/>
            <a:ext cx="1396471"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6" name="Rectangle 5">
            <a:extLst>
              <a:ext uri="{FF2B5EF4-FFF2-40B4-BE49-F238E27FC236}">
                <a16:creationId xmlns:a16="http://schemas.microsoft.com/office/drawing/2014/main" id="{A9660064-5C7C-3C24-F166-BF315A783486}"/>
              </a:ext>
            </a:extLst>
          </p:cNvPr>
          <p:cNvSpPr/>
          <p:nvPr/>
        </p:nvSpPr>
        <p:spPr>
          <a:xfrm>
            <a:off x="5533951" y="1668387"/>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pic>
        <p:nvPicPr>
          <p:cNvPr id="7" name="Picture 6">
            <a:extLst>
              <a:ext uri="{FF2B5EF4-FFF2-40B4-BE49-F238E27FC236}">
                <a16:creationId xmlns:a16="http://schemas.microsoft.com/office/drawing/2014/main" id="{EAEA9615-2B94-2FC8-EB0F-0C7B1378E436}"/>
              </a:ext>
            </a:extLst>
          </p:cNvPr>
          <p:cNvPicPr>
            <a:picLocks noChangeAspect="1"/>
          </p:cNvPicPr>
          <p:nvPr/>
        </p:nvPicPr>
        <p:blipFill>
          <a:blip r:embed="rId2"/>
          <a:srcRect r="1029" b="57678"/>
          <a:stretch>
            <a:fillRect/>
          </a:stretch>
        </p:blipFill>
        <p:spPr>
          <a:xfrm>
            <a:off x="118673" y="1777354"/>
            <a:ext cx="5026191" cy="2278963"/>
          </a:xfrm>
          <a:prstGeom prst="rect">
            <a:avLst/>
          </a:prstGeom>
        </p:spPr>
      </p:pic>
      <p:sp>
        <p:nvSpPr>
          <p:cNvPr id="8" name="Rectangle 7">
            <a:extLst>
              <a:ext uri="{FF2B5EF4-FFF2-40B4-BE49-F238E27FC236}">
                <a16:creationId xmlns:a16="http://schemas.microsoft.com/office/drawing/2014/main" id="{1D7CD01D-9440-7E42-D382-14CA249446BE}"/>
              </a:ext>
            </a:extLst>
          </p:cNvPr>
          <p:cNvSpPr/>
          <p:nvPr/>
        </p:nvSpPr>
        <p:spPr>
          <a:xfrm>
            <a:off x="5306808" y="2333383"/>
            <a:ext cx="6092506" cy="830997"/>
          </a:xfrm>
          <a:prstGeom prst="rect">
            <a:avLst/>
          </a:prstGeom>
        </p:spPr>
        <p:txBody>
          <a:bodyPr wrap="square">
            <a:spAutoFit/>
          </a:bodyPr>
          <a:lstStyle/>
          <a:p>
            <a:r>
              <a:rPr lang="en-US" sz="1600" dirty="0">
                <a:solidFill>
                  <a:srgbClr val="333333"/>
                </a:solidFill>
                <a:latin typeface="Roboto"/>
              </a:rPr>
              <a:t>- a fast tool for verification, filtering and conversion of the most popular annotation file formats (GTF, GFF3, </a:t>
            </a:r>
            <a:r>
              <a:rPr lang="en-US" sz="1600" dirty="0"/>
              <a:t>BED) </a:t>
            </a:r>
            <a:r>
              <a:rPr lang="en-US" sz="1600" dirty="0">
                <a:solidFill>
                  <a:srgbClr val="333333"/>
                </a:solidFill>
                <a:latin typeface="Roboto"/>
              </a:rPr>
              <a:t>and for quick extraction of transcript sequences from the genome sequence. </a:t>
            </a:r>
            <a:endParaRPr lang="en-US" sz="1600" dirty="0"/>
          </a:p>
        </p:txBody>
      </p:sp>
      <p:grpSp>
        <p:nvGrpSpPr>
          <p:cNvPr id="9" name="Group 8">
            <a:extLst>
              <a:ext uri="{FF2B5EF4-FFF2-40B4-BE49-F238E27FC236}">
                <a16:creationId xmlns:a16="http://schemas.microsoft.com/office/drawing/2014/main" id="{9E686C2C-AF3D-9B21-3257-99226D2755A9}"/>
              </a:ext>
            </a:extLst>
          </p:cNvPr>
          <p:cNvGrpSpPr/>
          <p:nvPr/>
        </p:nvGrpSpPr>
        <p:grpSpPr>
          <a:xfrm>
            <a:off x="5408759" y="4020470"/>
            <a:ext cx="6399324" cy="559605"/>
            <a:chOff x="5450077" y="2711434"/>
            <a:chExt cx="6399324" cy="559605"/>
          </a:xfrm>
        </p:grpSpPr>
        <p:pic>
          <p:nvPicPr>
            <p:cNvPr id="10" name="Picture 9">
              <a:extLst>
                <a:ext uri="{FF2B5EF4-FFF2-40B4-BE49-F238E27FC236}">
                  <a16:creationId xmlns:a16="http://schemas.microsoft.com/office/drawing/2014/main" id="{5BDC114E-981E-07CF-6262-982C8E6D32CA}"/>
                </a:ext>
              </a:extLst>
            </p:cNvPr>
            <p:cNvPicPr>
              <a:picLocks noChangeAspect="1"/>
            </p:cNvPicPr>
            <p:nvPr/>
          </p:nvPicPr>
          <p:blipFill rotWithShape="1">
            <a:blip r:embed="rId3"/>
            <a:srcRect l="37166" t="-20686"/>
            <a:stretch/>
          </p:blipFill>
          <p:spPr>
            <a:xfrm>
              <a:off x="5553246" y="3041134"/>
              <a:ext cx="6296155" cy="229905"/>
            </a:xfrm>
            <a:prstGeom prst="rect">
              <a:avLst/>
            </a:prstGeom>
          </p:spPr>
        </p:pic>
        <p:sp>
          <p:nvSpPr>
            <p:cNvPr id="11" name="TextBox 10">
              <a:extLst>
                <a:ext uri="{FF2B5EF4-FFF2-40B4-BE49-F238E27FC236}">
                  <a16:creationId xmlns:a16="http://schemas.microsoft.com/office/drawing/2014/main" id="{9B01A855-1B75-030E-9AB5-65D8D78FA4E4}"/>
                </a:ext>
              </a:extLst>
            </p:cNvPr>
            <p:cNvSpPr txBox="1"/>
            <p:nvPr/>
          </p:nvSpPr>
          <p:spPr>
            <a:xfrm>
              <a:off x="5450077" y="2711434"/>
              <a:ext cx="1067921"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FASTA:</a:t>
              </a:r>
            </a:p>
          </p:txBody>
        </p:sp>
      </p:grpSp>
      <p:grpSp>
        <p:nvGrpSpPr>
          <p:cNvPr id="12" name="Group 11">
            <a:extLst>
              <a:ext uri="{FF2B5EF4-FFF2-40B4-BE49-F238E27FC236}">
                <a16:creationId xmlns:a16="http://schemas.microsoft.com/office/drawing/2014/main" id="{090BFB6B-1931-FA67-1360-FC562234D293}"/>
              </a:ext>
            </a:extLst>
          </p:cNvPr>
          <p:cNvGrpSpPr/>
          <p:nvPr/>
        </p:nvGrpSpPr>
        <p:grpSpPr>
          <a:xfrm>
            <a:off x="5408758" y="4639807"/>
            <a:ext cx="6249413" cy="369332"/>
            <a:chOff x="5450076" y="3330771"/>
            <a:chExt cx="6249413" cy="369332"/>
          </a:xfrm>
        </p:grpSpPr>
        <p:sp>
          <p:nvSpPr>
            <p:cNvPr id="13" name="Rectangle 12">
              <a:extLst>
                <a:ext uri="{FF2B5EF4-FFF2-40B4-BE49-F238E27FC236}">
                  <a16:creationId xmlns:a16="http://schemas.microsoft.com/office/drawing/2014/main" id="{6CB706E4-B2B5-ACCB-FE71-966AFDFD791E}"/>
                </a:ext>
              </a:extLst>
            </p:cNvPr>
            <p:cNvSpPr/>
            <p:nvPr/>
          </p:nvSpPr>
          <p:spPr bwMode="auto">
            <a:xfrm>
              <a:off x="7350120" y="3420301"/>
              <a:ext cx="98526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4" name="Rectangle 13">
              <a:extLst>
                <a:ext uri="{FF2B5EF4-FFF2-40B4-BE49-F238E27FC236}">
                  <a16:creationId xmlns:a16="http://schemas.microsoft.com/office/drawing/2014/main" id="{D6002C0B-CFE7-D04F-641A-275A9767FE3B}"/>
                </a:ext>
              </a:extLst>
            </p:cNvPr>
            <p:cNvSpPr/>
            <p:nvPr/>
          </p:nvSpPr>
          <p:spPr bwMode="auto">
            <a:xfrm>
              <a:off x="8701323" y="3432369"/>
              <a:ext cx="392206"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5" name="Rectangle 14">
              <a:extLst>
                <a:ext uri="{FF2B5EF4-FFF2-40B4-BE49-F238E27FC236}">
                  <a16:creationId xmlns:a16="http://schemas.microsoft.com/office/drawing/2014/main" id="{4544A5C4-7F48-3D34-C2B8-26CE36DB0FE2}"/>
                </a:ext>
              </a:extLst>
            </p:cNvPr>
            <p:cNvSpPr/>
            <p:nvPr/>
          </p:nvSpPr>
          <p:spPr bwMode="auto">
            <a:xfrm>
              <a:off x="9282102" y="3432369"/>
              <a:ext cx="241738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6" name="TextBox 15">
              <a:extLst>
                <a:ext uri="{FF2B5EF4-FFF2-40B4-BE49-F238E27FC236}">
                  <a16:creationId xmlns:a16="http://schemas.microsoft.com/office/drawing/2014/main" id="{91AF5057-14A6-6DB2-180B-5C317311E4FA}"/>
                </a:ext>
              </a:extLst>
            </p:cNvPr>
            <p:cNvSpPr txBox="1"/>
            <p:nvPr/>
          </p:nvSpPr>
          <p:spPr>
            <a:xfrm>
              <a:off x="5450076" y="3330771"/>
              <a:ext cx="1306768"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GFF/BED:</a:t>
              </a:r>
            </a:p>
          </p:txBody>
        </p:sp>
      </p:grpSp>
      <p:grpSp>
        <p:nvGrpSpPr>
          <p:cNvPr id="17" name="Group 16">
            <a:extLst>
              <a:ext uri="{FF2B5EF4-FFF2-40B4-BE49-F238E27FC236}">
                <a16:creationId xmlns:a16="http://schemas.microsoft.com/office/drawing/2014/main" id="{89ABF916-B00C-26C3-4218-351CCE9A2BF4}"/>
              </a:ext>
            </a:extLst>
          </p:cNvPr>
          <p:cNvGrpSpPr/>
          <p:nvPr/>
        </p:nvGrpSpPr>
        <p:grpSpPr>
          <a:xfrm>
            <a:off x="5408758" y="5107350"/>
            <a:ext cx="6525164" cy="1472838"/>
            <a:chOff x="5450076" y="3798314"/>
            <a:chExt cx="6525164" cy="1472838"/>
          </a:xfrm>
        </p:grpSpPr>
        <p:sp>
          <p:nvSpPr>
            <p:cNvPr id="18" name="Notched Right Arrow 17">
              <a:extLst>
                <a:ext uri="{FF2B5EF4-FFF2-40B4-BE49-F238E27FC236}">
                  <a16:creationId xmlns:a16="http://schemas.microsoft.com/office/drawing/2014/main" id="{11E5293E-E7D6-E639-9393-5F65CC6F12E0}"/>
                </a:ext>
              </a:extLst>
            </p:cNvPr>
            <p:cNvSpPr/>
            <p:nvPr/>
          </p:nvSpPr>
          <p:spPr bwMode="auto">
            <a:xfrm rot="5400000">
              <a:off x="6312897" y="3998731"/>
              <a:ext cx="651353" cy="250520"/>
            </a:xfrm>
            <a:prstGeom prst="notchedRightArrow">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pic>
          <p:nvPicPr>
            <p:cNvPr id="19" name="Picture 18">
              <a:extLst>
                <a:ext uri="{FF2B5EF4-FFF2-40B4-BE49-F238E27FC236}">
                  <a16:creationId xmlns:a16="http://schemas.microsoft.com/office/drawing/2014/main" id="{23A44979-E9A0-F08F-6EEF-80AC28373890}"/>
                </a:ext>
              </a:extLst>
            </p:cNvPr>
            <p:cNvPicPr>
              <a:picLocks noChangeAspect="1"/>
            </p:cNvPicPr>
            <p:nvPr/>
          </p:nvPicPr>
          <p:blipFill rotWithShape="1">
            <a:blip r:embed="rId3"/>
            <a:srcRect l="37166" t="-20686"/>
            <a:stretch/>
          </p:blipFill>
          <p:spPr>
            <a:xfrm>
              <a:off x="5553245" y="4701712"/>
              <a:ext cx="6296155" cy="229905"/>
            </a:xfrm>
            <a:prstGeom prst="rect">
              <a:avLst/>
            </a:prstGeom>
          </p:spPr>
        </p:pic>
        <p:sp>
          <p:nvSpPr>
            <p:cNvPr id="20" name="Rectangle 19">
              <a:extLst>
                <a:ext uri="{FF2B5EF4-FFF2-40B4-BE49-F238E27FC236}">
                  <a16:creationId xmlns:a16="http://schemas.microsoft.com/office/drawing/2014/main" id="{D1EE69A6-48B8-7820-43AA-DC515F7776F0}"/>
                </a:ext>
              </a:extLst>
            </p:cNvPr>
            <p:cNvSpPr/>
            <p:nvPr/>
          </p:nvSpPr>
          <p:spPr bwMode="auto">
            <a:xfrm>
              <a:off x="5450076" y="4575690"/>
              <a:ext cx="1872874"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1" name="Rectangle 20">
              <a:extLst>
                <a:ext uri="{FF2B5EF4-FFF2-40B4-BE49-F238E27FC236}">
                  <a16:creationId xmlns:a16="http://schemas.microsoft.com/office/drawing/2014/main" id="{54F52CEB-C1E3-432C-DA5B-DAC44A6B257C}"/>
                </a:ext>
              </a:extLst>
            </p:cNvPr>
            <p:cNvSpPr/>
            <p:nvPr/>
          </p:nvSpPr>
          <p:spPr bwMode="auto">
            <a:xfrm>
              <a:off x="8394379" y="4575690"/>
              <a:ext cx="275751"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2" name="Rectangle 21">
              <a:extLst>
                <a:ext uri="{FF2B5EF4-FFF2-40B4-BE49-F238E27FC236}">
                  <a16:creationId xmlns:a16="http://schemas.microsoft.com/office/drawing/2014/main" id="{3C78A6C8-E76E-78C1-0A87-794E6F5CC9FE}"/>
                </a:ext>
              </a:extLst>
            </p:cNvPr>
            <p:cNvSpPr/>
            <p:nvPr/>
          </p:nvSpPr>
          <p:spPr bwMode="auto">
            <a:xfrm>
              <a:off x="9144227" y="4575690"/>
              <a:ext cx="137876"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3" name="Rectangle 22">
              <a:extLst>
                <a:ext uri="{FF2B5EF4-FFF2-40B4-BE49-F238E27FC236}">
                  <a16:creationId xmlns:a16="http://schemas.microsoft.com/office/drawing/2014/main" id="{09F9F350-693A-0109-AD58-C169BAF92AB5}"/>
                </a:ext>
              </a:extLst>
            </p:cNvPr>
            <p:cNvSpPr/>
            <p:nvPr/>
          </p:nvSpPr>
          <p:spPr bwMode="auto">
            <a:xfrm>
              <a:off x="11699489" y="4575690"/>
              <a:ext cx="275751" cy="69546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4" name="Rectangle 23">
              <a:extLst>
                <a:ext uri="{FF2B5EF4-FFF2-40B4-BE49-F238E27FC236}">
                  <a16:creationId xmlns:a16="http://schemas.microsoft.com/office/drawing/2014/main" id="{2C706F39-0865-EBC8-0DB7-7839B0918CEF}"/>
                </a:ext>
              </a:extLst>
            </p:cNvPr>
            <p:cNvSpPr/>
            <p:nvPr/>
          </p:nvSpPr>
          <p:spPr>
            <a:xfrm>
              <a:off x="5450076" y="4643662"/>
              <a:ext cx="1563248" cy="369332"/>
            </a:xfrm>
            <a:prstGeom prst="rect">
              <a:avLst/>
            </a:prstGeom>
          </p:spPr>
          <p:txBody>
            <a:bodyPr wrap="none">
              <a:spAutoFit/>
            </a:bodyPr>
            <a:lstStyle/>
            <a:p>
              <a:r>
                <a:rPr lang="en-US" err="1">
                  <a:latin typeface="CourierNewPSMT" panose="02070309020205020404" pitchFamily="49" charset="0"/>
                </a:rPr>
                <a:t>gffread</a:t>
              </a:r>
              <a:r>
                <a:rPr lang="en-US">
                  <a:latin typeface="CourierNewPSMT" panose="02070309020205020404" pitchFamily="49" charset="0"/>
                </a:rPr>
                <a:t> -w</a:t>
              </a:r>
              <a:endParaRPr lang="en-US"/>
            </a:p>
          </p:txBody>
        </p:sp>
      </p:grpSp>
      <p:sp>
        <p:nvSpPr>
          <p:cNvPr id="25" name="Rectangle 24">
            <a:extLst>
              <a:ext uri="{FF2B5EF4-FFF2-40B4-BE49-F238E27FC236}">
                <a16:creationId xmlns:a16="http://schemas.microsoft.com/office/drawing/2014/main" id="{19B78C28-ED33-6B4E-5F39-F6391E625644}"/>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Tree>
    <p:extLst>
      <p:ext uri="{BB962C8B-B14F-4D97-AF65-F5344CB8AC3E}">
        <p14:creationId xmlns:p14="http://schemas.microsoft.com/office/powerpoint/2010/main" val="301280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CC921-0A82-4E07-700B-CA3A1D317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19247-4049-626B-547E-936A795FA532}"/>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5AB64313-7C42-0011-4F39-0676D36FED3C}"/>
              </a:ext>
            </a:extLst>
          </p:cNvPr>
          <p:cNvSpPr>
            <a:spLocks noGrp="1"/>
          </p:cNvSpPr>
          <p:nvPr>
            <p:ph type="sldNum" sz="quarter" idx="12"/>
          </p:nvPr>
        </p:nvSpPr>
        <p:spPr/>
        <p:txBody>
          <a:bodyPr/>
          <a:lstStyle/>
          <a:p>
            <a:fld id="{B82CCC60-E8CD-4174-8B1A-7DF615B22EEF}" type="slidenum">
              <a:rPr lang="en-US" smtClean="0"/>
              <a:pPr/>
              <a:t>15</a:t>
            </a:fld>
            <a:endParaRPr lang="en-US"/>
          </a:p>
        </p:txBody>
      </p:sp>
      <p:pic>
        <p:nvPicPr>
          <p:cNvPr id="7" name="Picture 6">
            <a:extLst>
              <a:ext uri="{FF2B5EF4-FFF2-40B4-BE49-F238E27FC236}">
                <a16:creationId xmlns:a16="http://schemas.microsoft.com/office/drawing/2014/main" id="{38AE655D-2509-0700-AB2A-A8C96AF2E5C0}"/>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CE9D13CA-7192-2117-7A89-322A4908AE08}"/>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
        <p:nvSpPr>
          <p:cNvPr id="3" name="Rectangle 2">
            <a:extLst>
              <a:ext uri="{FF2B5EF4-FFF2-40B4-BE49-F238E27FC236}">
                <a16:creationId xmlns:a16="http://schemas.microsoft.com/office/drawing/2014/main" id="{C1B8BEEE-D118-1BB0-4B2B-1228C69019A7}"/>
              </a:ext>
            </a:extLst>
          </p:cNvPr>
          <p:cNvSpPr/>
          <p:nvPr/>
        </p:nvSpPr>
        <p:spPr bwMode="auto">
          <a:xfrm>
            <a:off x="7810434" y="1234893"/>
            <a:ext cx="2025182"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6" name="Rectangle 25">
            <a:extLst>
              <a:ext uri="{FF2B5EF4-FFF2-40B4-BE49-F238E27FC236}">
                <a16:creationId xmlns:a16="http://schemas.microsoft.com/office/drawing/2014/main" id="{45075AED-6713-D693-8EA7-AE963725A664}"/>
              </a:ext>
            </a:extLst>
          </p:cNvPr>
          <p:cNvSpPr/>
          <p:nvPr/>
        </p:nvSpPr>
        <p:spPr>
          <a:xfrm>
            <a:off x="6368894" y="123489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
        <p:nvSpPr>
          <p:cNvPr id="27" name="Rectangle 26">
            <a:extLst>
              <a:ext uri="{FF2B5EF4-FFF2-40B4-BE49-F238E27FC236}">
                <a16:creationId xmlns:a16="http://schemas.microsoft.com/office/drawing/2014/main" id="{1EAA9AC5-AA16-E12C-E9CF-D004097D0C21}"/>
              </a:ext>
            </a:extLst>
          </p:cNvPr>
          <p:cNvSpPr/>
          <p:nvPr/>
        </p:nvSpPr>
        <p:spPr>
          <a:xfrm>
            <a:off x="6141751" y="1899889"/>
            <a:ext cx="6092506" cy="861774"/>
          </a:xfrm>
          <a:prstGeom prst="rect">
            <a:avLst/>
          </a:prstGeom>
        </p:spPr>
        <p:txBody>
          <a:bodyPr wrap="square">
            <a:spAutoFit/>
          </a:bodyPr>
          <a:lstStyle/>
          <a:p>
            <a:r>
              <a:rPr lang="en-US" sz="1600">
                <a:solidFill>
                  <a:srgbClr val="333333"/>
                </a:solidFill>
                <a:latin typeface="Roboto"/>
              </a:rPr>
              <a:t>- a tool for merging and tracking transcript structures across multiple samples and comparing them to a reference annotation.</a:t>
            </a:r>
          </a:p>
          <a:p>
            <a:endParaRPr lang="en-US"/>
          </a:p>
        </p:txBody>
      </p:sp>
      <p:grpSp>
        <p:nvGrpSpPr>
          <p:cNvPr id="28" name="Group 27">
            <a:extLst>
              <a:ext uri="{FF2B5EF4-FFF2-40B4-BE49-F238E27FC236}">
                <a16:creationId xmlns:a16="http://schemas.microsoft.com/office/drawing/2014/main" id="{E167A7F1-6513-FF5F-4EEE-26C9F3EBB7F2}"/>
              </a:ext>
            </a:extLst>
          </p:cNvPr>
          <p:cNvGrpSpPr/>
          <p:nvPr/>
        </p:nvGrpSpPr>
        <p:grpSpPr>
          <a:xfrm>
            <a:off x="5832271" y="2483318"/>
            <a:ext cx="6313455" cy="3863461"/>
            <a:chOff x="4939809" y="2054246"/>
            <a:chExt cx="7156782" cy="4648201"/>
          </a:xfrm>
        </p:grpSpPr>
        <p:sp>
          <p:nvSpPr>
            <p:cNvPr id="29" name="Rectangle 28">
              <a:extLst>
                <a:ext uri="{FF2B5EF4-FFF2-40B4-BE49-F238E27FC236}">
                  <a16:creationId xmlns:a16="http://schemas.microsoft.com/office/drawing/2014/main" id="{E9A5E65B-927C-15FC-EC55-0BC2E0529BE4}"/>
                </a:ext>
              </a:extLst>
            </p:cNvPr>
            <p:cNvSpPr/>
            <p:nvPr/>
          </p:nvSpPr>
          <p:spPr>
            <a:xfrm>
              <a:off x="6795092" y="4264046"/>
              <a:ext cx="3050999" cy="294239"/>
            </a:xfrm>
            <a:prstGeom prst="rect">
              <a:avLst/>
            </a:prstGeom>
            <a:solidFill>
              <a:srgbClr val="FFFF00">
                <a:alpha val="19000"/>
              </a:srgbClr>
            </a:solidFill>
            <a:ln>
              <a:solidFill>
                <a:srgbClr val="FFFF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030D7DD-94E0-0147-2F3D-D227FDC1D109}"/>
                </a:ext>
              </a:extLst>
            </p:cNvPr>
            <p:cNvSpPr/>
            <p:nvPr/>
          </p:nvSpPr>
          <p:spPr>
            <a:xfrm>
              <a:off x="6590939" y="6321446"/>
              <a:ext cx="3164187" cy="294239"/>
            </a:xfrm>
            <a:prstGeom prst="rect">
              <a:avLst/>
            </a:prstGeom>
            <a:solidFill>
              <a:srgbClr val="FFFF00">
                <a:alpha val="19000"/>
              </a:srgbClr>
            </a:solidFill>
            <a:ln>
              <a:solidFill>
                <a:srgbClr val="FFFF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2C31CA95-3CF8-7151-2F4F-9AE344F7F34F}"/>
                </a:ext>
              </a:extLst>
            </p:cNvPr>
            <p:cNvSpPr/>
            <p:nvPr/>
          </p:nvSpPr>
          <p:spPr>
            <a:xfrm>
              <a:off x="7341089" y="4325409"/>
              <a:ext cx="162970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a:extLst>
                <a:ext uri="{FF2B5EF4-FFF2-40B4-BE49-F238E27FC236}">
                  <a16:creationId xmlns:a16="http://schemas.microsoft.com/office/drawing/2014/main" id="{CC7B6FC6-A281-2947-BF9D-F0543BE2336D}"/>
                </a:ext>
              </a:extLst>
            </p:cNvPr>
            <p:cNvSpPr/>
            <p:nvPr/>
          </p:nvSpPr>
          <p:spPr>
            <a:xfrm>
              <a:off x="7344899" y="4743169"/>
              <a:ext cx="57052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Freeform 32">
              <a:extLst>
                <a:ext uri="{FF2B5EF4-FFF2-40B4-BE49-F238E27FC236}">
                  <a16:creationId xmlns:a16="http://schemas.microsoft.com/office/drawing/2014/main" id="{D04934AE-48E2-3EBA-4596-5F2926456152}"/>
                </a:ext>
              </a:extLst>
            </p:cNvPr>
            <p:cNvSpPr/>
            <p:nvPr/>
          </p:nvSpPr>
          <p:spPr>
            <a:xfrm>
              <a:off x="8544069" y="4743169"/>
              <a:ext cx="43815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Freeform 33">
              <a:extLst>
                <a:ext uri="{FF2B5EF4-FFF2-40B4-BE49-F238E27FC236}">
                  <a16:creationId xmlns:a16="http://schemas.microsoft.com/office/drawing/2014/main" id="{12B27A70-AF48-B3CB-92A5-D1CCA7A66180}"/>
                </a:ext>
              </a:extLst>
            </p:cNvPr>
            <p:cNvSpPr/>
            <p:nvPr/>
          </p:nvSpPr>
          <p:spPr>
            <a:xfrm>
              <a:off x="8544069" y="3991600"/>
              <a:ext cx="198882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a:extLst>
                <a:ext uri="{FF2B5EF4-FFF2-40B4-BE49-F238E27FC236}">
                  <a16:creationId xmlns:a16="http://schemas.microsoft.com/office/drawing/2014/main" id="{0220BA2A-5555-235D-AA61-A3D50581D80F}"/>
                </a:ext>
              </a:extLst>
            </p:cNvPr>
            <p:cNvSpPr/>
            <p:nvPr/>
          </p:nvSpPr>
          <p:spPr>
            <a:xfrm>
              <a:off x="8544069" y="2902939"/>
              <a:ext cx="1992630" cy="12058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Freeform 35">
              <a:extLst>
                <a:ext uri="{FF2B5EF4-FFF2-40B4-BE49-F238E27FC236}">
                  <a16:creationId xmlns:a16="http://schemas.microsoft.com/office/drawing/2014/main" id="{D5FC3158-B120-AFC6-529B-22993BFC9A4B}"/>
                </a:ext>
              </a:extLst>
            </p:cNvPr>
            <p:cNvSpPr/>
            <p:nvPr/>
          </p:nvSpPr>
          <p:spPr>
            <a:xfrm>
              <a:off x="7336299" y="2925799"/>
              <a:ext cx="570520" cy="9391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a:extLst>
                <a:ext uri="{FF2B5EF4-FFF2-40B4-BE49-F238E27FC236}">
                  <a16:creationId xmlns:a16="http://schemas.microsoft.com/office/drawing/2014/main" id="{8B8B59C6-EC35-8C90-B67A-BF3D743E7B61}"/>
                </a:ext>
              </a:extLst>
            </p:cNvPr>
            <p:cNvSpPr/>
            <p:nvPr/>
          </p:nvSpPr>
          <p:spPr>
            <a:xfrm>
              <a:off x="7336299" y="2419069"/>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a:extLst>
                <a:ext uri="{FF2B5EF4-FFF2-40B4-BE49-F238E27FC236}">
                  <a16:creationId xmlns:a16="http://schemas.microsoft.com/office/drawing/2014/main" id="{24E2F4D8-2B95-BDF2-86B3-37DD7113F8BA}"/>
                </a:ext>
              </a:extLst>
            </p:cNvPr>
            <p:cNvSpPr/>
            <p:nvPr/>
          </p:nvSpPr>
          <p:spPr>
            <a:xfrm>
              <a:off x="8547879" y="2419069"/>
              <a:ext cx="438150" cy="10287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Freeform 38">
              <a:extLst>
                <a:ext uri="{FF2B5EF4-FFF2-40B4-BE49-F238E27FC236}">
                  <a16:creationId xmlns:a16="http://schemas.microsoft.com/office/drawing/2014/main" id="{F14D7C3A-02D2-D754-86B2-86A06ADF18BF}"/>
                </a:ext>
              </a:extLst>
            </p:cNvPr>
            <p:cNvSpPr/>
            <p:nvPr/>
          </p:nvSpPr>
          <p:spPr>
            <a:xfrm>
              <a:off x="9746231" y="2422879"/>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a:extLst>
                <a:ext uri="{FF2B5EF4-FFF2-40B4-BE49-F238E27FC236}">
                  <a16:creationId xmlns:a16="http://schemas.microsoft.com/office/drawing/2014/main" id="{20F7B75D-B869-7E7A-72A9-C0EDE0B0D644}"/>
                </a:ext>
              </a:extLst>
            </p:cNvPr>
            <p:cNvSpPr/>
            <p:nvPr/>
          </p:nvSpPr>
          <p:spPr>
            <a:xfrm>
              <a:off x="7341089" y="3546829"/>
              <a:ext cx="57052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Freeform 40">
              <a:extLst>
                <a:ext uri="{FF2B5EF4-FFF2-40B4-BE49-F238E27FC236}">
                  <a16:creationId xmlns:a16="http://schemas.microsoft.com/office/drawing/2014/main" id="{2CA683FD-E6E8-CD42-9068-81D0EBEF8767}"/>
                </a:ext>
              </a:extLst>
            </p:cNvPr>
            <p:cNvSpPr/>
            <p:nvPr/>
          </p:nvSpPr>
          <p:spPr>
            <a:xfrm>
              <a:off x="8544069" y="3554449"/>
              <a:ext cx="43815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Freeform 41">
              <a:extLst>
                <a:ext uri="{FF2B5EF4-FFF2-40B4-BE49-F238E27FC236}">
                  <a16:creationId xmlns:a16="http://schemas.microsoft.com/office/drawing/2014/main" id="{1B65BF76-EDD2-2C56-54A8-E39F5DAA2786}"/>
                </a:ext>
              </a:extLst>
            </p:cNvPr>
            <p:cNvSpPr/>
            <p:nvPr/>
          </p:nvSpPr>
          <p:spPr>
            <a:xfrm>
              <a:off x="9750041" y="3554449"/>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Rectangle 42">
              <a:extLst>
                <a:ext uri="{FF2B5EF4-FFF2-40B4-BE49-F238E27FC236}">
                  <a16:creationId xmlns:a16="http://schemas.microsoft.com/office/drawing/2014/main" id="{C0B55A50-367B-9BD5-335D-ED279B8B890F}"/>
                </a:ext>
              </a:extLst>
            </p:cNvPr>
            <p:cNvSpPr/>
            <p:nvPr/>
          </p:nvSpPr>
          <p:spPr>
            <a:xfrm>
              <a:off x="7910339" y="2146282"/>
              <a:ext cx="638581" cy="4556164"/>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968063E-7D7D-8C24-49D0-995A6C12C15A}"/>
                </a:ext>
              </a:extLst>
            </p:cNvPr>
            <p:cNvSpPr/>
            <p:nvPr/>
          </p:nvSpPr>
          <p:spPr>
            <a:xfrm>
              <a:off x="8974640" y="2120882"/>
              <a:ext cx="780488" cy="4581565"/>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51AD9F1-139A-A840-213A-E76B730784DC}"/>
                </a:ext>
              </a:extLst>
            </p:cNvPr>
            <p:cNvSpPr/>
            <p:nvPr/>
          </p:nvSpPr>
          <p:spPr>
            <a:xfrm>
              <a:off x="10535615" y="2078546"/>
              <a:ext cx="780488" cy="4623901"/>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5432AF9-6A83-43D5-0A3C-B474AF217620}"/>
                </a:ext>
              </a:extLst>
            </p:cNvPr>
            <p:cNvSpPr/>
            <p:nvPr/>
          </p:nvSpPr>
          <p:spPr>
            <a:xfrm>
              <a:off x="6699843" y="2075328"/>
              <a:ext cx="645547" cy="4627118"/>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1070A999-C9BC-0545-53E9-2F7B80736188}"/>
                </a:ext>
              </a:extLst>
            </p:cNvPr>
            <p:cNvSpPr/>
            <p:nvPr/>
          </p:nvSpPr>
          <p:spPr>
            <a:xfrm>
              <a:off x="5457831" y="2054246"/>
              <a:ext cx="6600419" cy="202118"/>
            </a:xfrm>
            <a:custGeom>
              <a:avLst/>
              <a:gdLst>
                <a:gd name="connsiteX0" fmla="*/ 0 w 7772400"/>
                <a:gd name="connsiteY0" fmla="*/ 0 h 228600"/>
                <a:gd name="connsiteX1" fmla="*/ 7772400 w 7772400"/>
                <a:gd name="connsiteY1" fmla="*/ 0 h 228600"/>
                <a:gd name="connsiteX2" fmla="*/ 7772400 w 7772400"/>
                <a:gd name="connsiteY2" fmla="*/ 228600 h 228600"/>
                <a:gd name="connsiteX3" fmla="*/ 0 w 7772400"/>
                <a:gd name="connsiteY3" fmla="*/ 228600 h 228600"/>
                <a:gd name="connsiteX4" fmla="*/ 0 w 7772400"/>
                <a:gd name="connsiteY4" fmla="*/ 0 h 228600"/>
                <a:gd name="connsiteX0" fmla="*/ 794 w 7773194"/>
                <a:gd name="connsiteY0" fmla="*/ 0 h 228600"/>
                <a:gd name="connsiteX1" fmla="*/ 7773194 w 7773194"/>
                <a:gd name="connsiteY1" fmla="*/ 0 h 228600"/>
                <a:gd name="connsiteX2" fmla="*/ 7773194 w 7773194"/>
                <a:gd name="connsiteY2" fmla="*/ 228600 h 228600"/>
                <a:gd name="connsiteX3" fmla="*/ 794 w 7773194"/>
                <a:gd name="connsiteY3" fmla="*/ 228600 h 228600"/>
                <a:gd name="connsiteX4" fmla="*/ 74613 w 7773194"/>
                <a:gd name="connsiteY4" fmla="*/ 69056 h 228600"/>
                <a:gd name="connsiteX5" fmla="*/ 794 w 7773194"/>
                <a:gd name="connsiteY5" fmla="*/ 0 h 228600"/>
                <a:gd name="connsiteX0" fmla="*/ 794 w 7773194"/>
                <a:gd name="connsiteY0" fmla="*/ 0 h 228600"/>
                <a:gd name="connsiteX1" fmla="*/ 7773194 w 7773194"/>
                <a:gd name="connsiteY1" fmla="*/ 0 h 228600"/>
                <a:gd name="connsiteX2" fmla="*/ 7773194 w 7773194"/>
                <a:gd name="connsiteY2" fmla="*/ 228600 h 228600"/>
                <a:gd name="connsiteX3" fmla="*/ 794 w 7773194"/>
                <a:gd name="connsiteY3" fmla="*/ 228600 h 228600"/>
                <a:gd name="connsiteX4" fmla="*/ 74613 w 7773194"/>
                <a:gd name="connsiteY4" fmla="*/ 69056 h 228600"/>
                <a:gd name="connsiteX5" fmla="*/ 794 w 7773194"/>
                <a:gd name="connsiteY5" fmla="*/ 0 h 228600"/>
                <a:gd name="connsiteX0" fmla="*/ 0 w 7772400"/>
                <a:gd name="connsiteY0" fmla="*/ 0 h 228600"/>
                <a:gd name="connsiteX1" fmla="*/ 7772400 w 7772400"/>
                <a:gd name="connsiteY1" fmla="*/ 0 h 228600"/>
                <a:gd name="connsiteX2" fmla="*/ 7772400 w 7772400"/>
                <a:gd name="connsiteY2" fmla="*/ 228600 h 228600"/>
                <a:gd name="connsiteX3" fmla="*/ 0 w 7772400"/>
                <a:gd name="connsiteY3" fmla="*/ 228600 h 228600"/>
                <a:gd name="connsiteX4" fmla="*/ 73819 w 7772400"/>
                <a:gd name="connsiteY4" fmla="*/ 69056 h 228600"/>
                <a:gd name="connsiteX5" fmla="*/ 0 w 7772400"/>
                <a:gd name="connsiteY5"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024"/>
                <a:gd name="connsiteY0" fmla="*/ 0 h 228600"/>
                <a:gd name="connsiteX1" fmla="*/ 7772400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 name="connsiteX0" fmla="*/ 0 w 7930152"/>
                <a:gd name="connsiteY0" fmla="*/ 0 h 228600"/>
                <a:gd name="connsiteX1" fmla="*/ 7772400 w 7930152"/>
                <a:gd name="connsiteY1" fmla="*/ 0 h 228600"/>
                <a:gd name="connsiteX2" fmla="*/ 7930152 w 7930152"/>
                <a:gd name="connsiteY2" fmla="*/ 69056 h 228600"/>
                <a:gd name="connsiteX3" fmla="*/ 7772400 w 7930152"/>
                <a:gd name="connsiteY3" fmla="*/ 228600 h 228600"/>
                <a:gd name="connsiteX4" fmla="*/ 0 w 7930152"/>
                <a:gd name="connsiteY4" fmla="*/ 228600 h 228600"/>
                <a:gd name="connsiteX5" fmla="*/ 73819 w 7930152"/>
                <a:gd name="connsiteY5" fmla="*/ 69056 h 228600"/>
                <a:gd name="connsiteX6" fmla="*/ 0 w 7930152"/>
                <a:gd name="connsiteY6" fmla="*/ 0 h 228600"/>
                <a:gd name="connsiteX0" fmla="*/ 0 w 7850024"/>
                <a:gd name="connsiteY0" fmla="*/ 0 h 228600"/>
                <a:gd name="connsiteX1" fmla="*/ 7772400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 name="connsiteX0" fmla="*/ 0 w 7850024"/>
                <a:gd name="connsiteY0" fmla="*/ 0 h 228600"/>
                <a:gd name="connsiteX1" fmla="*/ 7772401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0024" h="228600">
                  <a:moveTo>
                    <a:pt x="0" y="0"/>
                  </a:moveTo>
                  <a:lnTo>
                    <a:pt x="7772401" y="0"/>
                  </a:lnTo>
                  <a:lnTo>
                    <a:pt x="7850024" y="69056"/>
                  </a:lnTo>
                  <a:lnTo>
                    <a:pt x="7772400" y="228600"/>
                  </a:lnTo>
                  <a:lnTo>
                    <a:pt x="0" y="228600"/>
                  </a:lnTo>
                  <a:lnTo>
                    <a:pt x="73819" y="69056"/>
                  </a:lnTo>
                  <a:lnTo>
                    <a:pt x="0" y="0"/>
                  </a:lnTo>
                  <a:close/>
                </a:path>
              </a:pathLst>
            </a:custGeom>
            <a:solidFill>
              <a:schemeClr val="tx1">
                <a:lumMod val="65000"/>
                <a:lumOff val="3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B1BA979-1933-013F-DE82-22DF97C57F65}"/>
                </a:ext>
              </a:extLst>
            </p:cNvPr>
            <p:cNvSpPr/>
            <p:nvPr/>
          </p:nvSpPr>
          <p:spPr>
            <a:xfrm>
              <a:off x="6704130" y="2054246"/>
              <a:ext cx="638581"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1</a:t>
              </a:r>
            </a:p>
          </p:txBody>
        </p:sp>
        <p:sp>
          <p:nvSpPr>
            <p:cNvPr id="49" name="TextBox 48">
              <a:extLst>
                <a:ext uri="{FF2B5EF4-FFF2-40B4-BE49-F238E27FC236}">
                  <a16:creationId xmlns:a16="http://schemas.microsoft.com/office/drawing/2014/main" id="{C5794F8C-071A-2D13-5402-AA735F49D43F}"/>
                </a:ext>
              </a:extLst>
            </p:cNvPr>
            <p:cNvSpPr txBox="1"/>
            <p:nvPr/>
          </p:nvSpPr>
          <p:spPr>
            <a:xfrm>
              <a:off x="5017937" y="2456413"/>
              <a:ext cx="1552934" cy="523220"/>
            </a:xfrm>
            <a:prstGeom prst="rect">
              <a:avLst/>
            </a:prstGeom>
            <a:noFill/>
          </p:spPr>
          <p:txBody>
            <a:bodyPr wrap="square" rtlCol="0">
              <a:spAutoFit/>
            </a:bodyPr>
            <a:lstStyle/>
            <a:p>
              <a:pPr algn="ctr"/>
              <a:r>
                <a:rPr lang="en-US" sz="1400">
                  <a:solidFill>
                    <a:srgbClr val="008000"/>
                  </a:solidFill>
                </a:rPr>
                <a:t>Reference</a:t>
              </a:r>
            </a:p>
            <a:p>
              <a:pPr algn="ctr"/>
              <a:r>
                <a:rPr lang="en-US" sz="1400">
                  <a:solidFill>
                    <a:srgbClr val="008000"/>
                  </a:solidFill>
                </a:rPr>
                <a:t>transcripts</a:t>
              </a:r>
            </a:p>
          </p:txBody>
        </p:sp>
        <p:sp>
          <p:nvSpPr>
            <p:cNvPr id="50" name="TextBox 49">
              <a:extLst>
                <a:ext uri="{FF2B5EF4-FFF2-40B4-BE49-F238E27FC236}">
                  <a16:creationId xmlns:a16="http://schemas.microsoft.com/office/drawing/2014/main" id="{CFE8907E-FF3B-FF1C-91B2-54C6B5963363}"/>
                </a:ext>
              </a:extLst>
            </p:cNvPr>
            <p:cNvSpPr txBox="1"/>
            <p:nvPr/>
          </p:nvSpPr>
          <p:spPr>
            <a:xfrm>
              <a:off x="5290628" y="3434795"/>
              <a:ext cx="979755" cy="523220"/>
            </a:xfrm>
            <a:prstGeom prst="rect">
              <a:avLst/>
            </a:prstGeom>
            <a:noFill/>
          </p:spPr>
          <p:txBody>
            <a:bodyPr wrap="none" rtlCol="0">
              <a:spAutoFit/>
            </a:bodyPr>
            <a:lstStyle/>
            <a:p>
              <a:pPr algn="ctr"/>
              <a:r>
                <a:rPr lang="en-US" sz="1400" b="1">
                  <a:solidFill>
                    <a:srgbClr val="0070C0"/>
                  </a:solidFill>
                </a:rPr>
                <a:t>Sample 1</a:t>
              </a:r>
              <a:endParaRPr lang="en-US" sz="1400">
                <a:solidFill>
                  <a:srgbClr val="0070C0"/>
                </a:solidFill>
              </a:endParaRPr>
            </a:p>
            <a:p>
              <a:pPr algn="ctr"/>
              <a:r>
                <a:rPr lang="ro-RO" sz="1400">
                  <a:solidFill>
                    <a:srgbClr val="0070C0"/>
                  </a:solidFill>
                </a:rPr>
                <a:t>transfrags</a:t>
              </a:r>
              <a:endParaRPr lang="en-US" sz="1400">
                <a:solidFill>
                  <a:srgbClr val="0070C0"/>
                </a:solidFill>
              </a:endParaRPr>
            </a:p>
          </p:txBody>
        </p:sp>
        <p:sp>
          <p:nvSpPr>
            <p:cNvPr id="51" name="Left Brace 50">
              <a:extLst>
                <a:ext uri="{FF2B5EF4-FFF2-40B4-BE49-F238E27FC236}">
                  <a16:creationId xmlns:a16="http://schemas.microsoft.com/office/drawing/2014/main" id="{A2FEF5E8-364F-C906-98D3-52C8CE3ECD8C}"/>
                </a:ext>
              </a:extLst>
            </p:cNvPr>
            <p:cNvSpPr/>
            <p:nvPr/>
          </p:nvSpPr>
          <p:spPr>
            <a:xfrm>
              <a:off x="6298418" y="3273151"/>
              <a:ext cx="204346" cy="841571"/>
            </a:xfrm>
            <a:prstGeom prst="leftBrace">
              <a:avLst>
                <a:gd name="adj1" fmla="val 26920"/>
                <a:gd name="adj2" fmla="val 50000"/>
              </a:avLst>
            </a:prstGeom>
            <a:ln w="25400" cap="rnd">
              <a:solidFill>
                <a:schemeClr val="tx2">
                  <a:lumMod val="60000"/>
                  <a:lumOff val="40000"/>
                </a:schemeClr>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52" name="TextBox 51">
              <a:extLst>
                <a:ext uri="{FF2B5EF4-FFF2-40B4-BE49-F238E27FC236}">
                  <a16:creationId xmlns:a16="http://schemas.microsoft.com/office/drawing/2014/main" id="{17B4C4E0-657D-8B65-ADE1-C01956249667}"/>
                </a:ext>
              </a:extLst>
            </p:cNvPr>
            <p:cNvSpPr txBox="1"/>
            <p:nvPr/>
          </p:nvSpPr>
          <p:spPr>
            <a:xfrm>
              <a:off x="5290628" y="4371635"/>
              <a:ext cx="979755" cy="523220"/>
            </a:xfrm>
            <a:prstGeom prst="rect">
              <a:avLst/>
            </a:prstGeom>
            <a:noFill/>
          </p:spPr>
          <p:txBody>
            <a:bodyPr wrap="none" rtlCol="0">
              <a:spAutoFit/>
            </a:bodyPr>
            <a:lstStyle/>
            <a:p>
              <a:pPr algn="ctr"/>
              <a:r>
                <a:rPr lang="en-US" sz="1400" b="1" dirty="0">
                  <a:solidFill>
                    <a:schemeClr val="accent2">
                      <a:lumMod val="75000"/>
                    </a:schemeClr>
                  </a:solidFill>
                </a:rPr>
                <a:t>Sample 2</a:t>
              </a:r>
            </a:p>
            <a:p>
              <a:pPr algn="ctr"/>
              <a:r>
                <a:rPr lang="ro-RO" sz="1400" dirty="0">
                  <a:solidFill>
                    <a:schemeClr val="accent2">
                      <a:lumMod val="75000"/>
                    </a:schemeClr>
                  </a:solidFill>
                </a:rPr>
                <a:t>transfrags</a:t>
              </a:r>
              <a:endParaRPr lang="en-US" sz="1400" dirty="0">
                <a:solidFill>
                  <a:schemeClr val="accent2">
                    <a:lumMod val="75000"/>
                  </a:schemeClr>
                </a:solidFill>
              </a:endParaRPr>
            </a:p>
          </p:txBody>
        </p:sp>
        <p:sp>
          <p:nvSpPr>
            <p:cNvPr id="53" name="Left Brace 52">
              <a:extLst>
                <a:ext uri="{FF2B5EF4-FFF2-40B4-BE49-F238E27FC236}">
                  <a16:creationId xmlns:a16="http://schemas.microsoft.com/office/drawing/2014/main" id="{EDFF5C10-F75D-D83F-3672-656B821A0DFF}"/>
                </a:ext>
              </a:extLst>
            </p:cNvPr>
            <p:cNvSpPr/>
            <p:nvPr/>
          </p:nvSpPr>
          <p:spPr>
            <a:xfrm>
              <a:off x="6298418" y="4290255"/>
              <a:ext cx="213017" cy="610818"/>
            </a:xfrm>
            <a:prstGeom prst="leftBrace">
              <a:avLst>
                <a:gd name="adj1" fmla="val 31567"/>
                <a:gd name="adj2" fmla="val 50000"/>
              </a:avLst>
            </a:prstGeom>
            <a:ln w="25400" cap="rnd">
              <a:solidFill>
                <a:schemeClr val="accent2">
                  <a:lumMod val="75000"/>
                </a:schemeClr>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2">
                    <a:lumMod val="75000"/>
                  </a:schemeClr>
                </a:solidFill>
              </a:endParaRPr>
            </a:p>
          </p:txBody>
        </p:sp>
        <p:sp>
          <p:nvSpPr>
            <p:cNvPr id="54" name="Rectangle 53">
              <a:extLst>
                <a:ext uri="{FF2B5EF4-FFF2-40B4-BE49-F238E27FC236}">
                  <a16:creationId xmlns:a16="http://schemas.microsoft.com/office/drawing/2014/main" id="{71703B34-DF27-4749-53DB-6A01EA9BCCB4}"/>
                </a:ext>
              </a:extLst>
            </p:cNvPr>
            <p:cNvSpPr/>
            <p:nvPr/>
          </p:nvSpPr>
          <p:spPr>
            <a:xfrm>
              <a:off x="7910339" y="2054246"/>
              <a:ext cx="638581"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2</a:t>
              </a:r>
            </a:p>
          </p:txBody>
        </p:sp>
        <p:sp>
          <p:nvSpPr>
            <p:cNvPr id="55" name="Rectangle 54">
              <a:extLst>
                <a:ext uri="{FF2B5EF4-FFF2-40B4-BE49-F238E27FC236}">
                  <a16:creationId xmlns:a16="http://schemas.microsoft.com/office/drawing/2014/main" id="{567F87D4-54C3-5A80-26A7-1BC65C824053}"/>
                </a:ext>
              </a:extLst>
            </p:cNvPr>
            <p:cNvSpPr/>
            <p:nvPr/>
          </p:nvSpPr>
          <p:spPr>
            <a:xfrm>
              <a:off x="8974639" y="2054246"/>
              <a:ext cx="780488"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3</a:t>
              </a:r>
            </a:p>
          </p:txBody>
        </p:sp>
        <p:sp>
          <p:nvSpPr>
            <p:cNvPr id="56" name="Rectangle 55">
              <a:extLst>
                <a:ext uri="{FF2B5EF4-FFF2-40B4-BE49-F238E27FC236}">
                  <a16:creationId xmlns:a16="http://schemas.microsoft.com/office/drawing/2014/main" id="{105E8102-95E7-ED66-0380-BC7F4AC961D3}"/>
                </a:ext>
              </a:extLst>
            </p:cNvPr>
            <p:cNvSpPr/>
            <p:nvPr/>
          </p:nvSpPr>
          <p:spPr>
            <a:xfrm>
              <a:off x="10535615" y="2054246"/>
              <a:ext cx="780488"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4</a:t>
              </a:r>
            </a:p>
          </p:txBody>
        </p:sp>
        <p:sp>
          <p:nvSpPr>
            <p:cNvPr id="57" name="Rectangle 56">
              <a:extLst>
                <a:ext uri="{FF2B5EF4-FFF2-40B4-BE49-F238E27FC236}">
                  <a16:creationId xmlns:a16="http://schemas.microsoft.com/office/drawing/2014/main" id="{3A521E01-B42C-2580-39E0-3E8E3E4B4254}"/>
                </a:ext>
              </a:extLst>
            </p:cNvPr>
            <p:cNvSpPr/>
            <p:nvPr/>
          </p:nvSpPr>
          <p:spPr>
            <a:xfrm>
              <a:off x="8974640" y="4371635"/>
              <a:ext cx="709535"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A6C02B0C-E033-15B8-8607-1CE3248D3BEE}"/>
                </a:ext>
              </a:extLst>
            </p:cNvPr>
            <p:cNvSpPr/>
            <p:nvPr/>
          </p:nvSpPr>
          <p:spPr>
            <a:xfrm>
              <a:off x="7912443" y="3604823"/>
              <a:ext cx="636476"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930C950-75EA-148A-4977-1FD1BF0541A6}"/>
                </a:ext>
              </a:extLst>
            </p:cNvPr>
            <p:cNvSpPr/>
            <p:nvPr/>
          </p:nvSpPr>
          <p:spPr>
            <a:xfrm>
              <a:off x="6846036" y="4371635"/>
              <a:ext cx="496674"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C5678E05-4883-D075-6077-FD19F6A1667E}"/>
                </a:ext>
              </a:extLst>
            </p:cNvPr>
            <p:cNvSpPr/>
            <p:nvPr/>
          </p:nvSpPr>
          <p:spPr>
            <a:xfrm>
              <a:off x="8974639" y="3604823"/>
              <a:ext cx="780488"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5C98F7C6-8C5A-F3C4-B3FB-18DB726B31EE}"/>
                </a:ext>
              </a:extLst>
            </p:cNvPr>
            <p:cNvSpPr/>
            <p:nvPr/>
          </p:nvSpPr>
          <p:spPr>
            <a:xfrm>
              <a:off x="10535616" y="3604823"/>
              <a:ext cx="658591"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2775DE4-B806-512E-D4EB-FEE9419063F2}"/>
                </a:ext>
              </a:extLst>
            </p:cNvPr>
            <p:cNvSpPr/>
            <p:nvPr/>
          </p:nvSpPr>
          <p:spPr>
            <a:xfrm>
              <a:off x="8194153" y="4042147"/>
              <a:ext cx="354767"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12C8354E-5ADB-252B-979B-585FC6F06161}"/>
                </a:ext>
              </a:extLst>
            </p:cNvPr>
            <p:cNvSpPr/>
            <p:nvPr/>
          </p:nvSpPr>
          <p:spPr>
            <a:xfrm>
              <a:off x="10535615" y="4042147"/>
              <a:ext cx="516684"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1162DCCD-B05F-E8B9-2310-1940E7DF7226}"/>
                </a:ext>
              </a:extLst>
            </p:cNvPr>
            <p:cNvSpPr/>
            <p:nvPr/>
          </p:nvSpPr>
          <p:spPr>
            <a:xfrm>
              <a:off x="7910340" y="4797356"/>
              <a:ext cx="638581"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F606E168-6191-A175-DECB-4587F2DB4E04}"/>
                </a:ext>
              </a:extLst>
            </p:cNvPr>
            <p:cNvSpPr/>
            <p:nvPr/>
          </p:nvSpPr>
          <p:spPr>
            <a:xfrm>
              <a:off x="6795091" y="4797356"/>
              <a:ext cx="547618"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286034A0-5A37-81B2-ACC3-20193FE79471}"/>
                </a:ext>
              </a:extLst>
            </p:cNvPr>
            <p:cNvSpPr/>
            <p:nvPr/>
          </p:nvSpPr>
          <p:spPr>
            <a:xfrm>
              <a:off x="8974640" y="4797356"/>
              <a:ext cx="638581"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Left Brace 66">
              <a:extLst>
                <a:ext uri="{FF2B5EF4-FFF2-40B4-BE49-F238E27FC236}">
                  <a16:creationId xmlns:a16="http://schemas.microsoft.com/office/drawing/2014/main" id="{8F66670E-D1AD-CB9F-3F55-ECBCD220DEF3}"/>
                </a:ext>
              </a:extLst>
            </p:cNvPr>
            <p:cNvSpPr/>
            <p:nvPr/>
          </p:nvSpPr>
          <p:spPr>
            <a:xfrm>
              <a:off x="6298418" y="2366842"/>
              <a:ext cx="204346" cy="747387"/>
            </a:xfrm>
            <a:prstGeom prst="leftBrace">
              <a:avLst>
                <a:gd name="adj1" fmla="val 26920"/>
                <a:gd name="adj2" fmla="val 50000"/>
              </a:avLst>
            </a:prstGeom>
            <a:ln w="25400" cap="rnd">
              <a:solidFill>
                <a:srgbClr val="00B050"/>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68" name="Rectangle 67">
              <a:extLst>
                <a:ext uri="{FF2B5EF4-FFF2-40B4-BE49-F238E27FC236}">
                  <a16:creationId xmlns:a16="http://schemas.microsoft.com/office/drawing/2014/main" id="{48A32A10-9345-D13C-E7F4-307C818333E1}"/>
                </a:ext>
              </a:extLst>
            </p:cNvPr>
            <p:cNvSpPr/>
            <p:nvPr/>
          </p:nvSpPr>
          <p:spPr>
            <a:xfrm>
              <a:off x="7910823" y="2475649"/>
              <a:ext cx="634454"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46193081-68D3-F93A-B112-242988B784DC}"/>
                </a:ext>
              </a:extLst>
            </p:cNvPr>
            <p:cNvSpPr/>
            <p:nvPr/>
          </p:nvSpPr>
          <p:spPr>
            <a:xfrm>
              <a:off x="8979189" y="2475649"/>
              <a:ext cx="769229"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31F3918B-AB26-4752-D32E-74BA7FBADF03}"/>
                </a:ext>
              </a:extLst>
            </p:cNvPr>
            <p:cNvSpPr/>
            <p:nvPr/>
          </p:nvSpPr>
          <p:spPr>
            <a:xfrm>
              <a:off x="10536299" y="2475649"/>
              <a:ext cx="777432"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DB7BE5E5-EF79-394F-3B8B-7C391ABD36EB}"/>
                </a:ext>
              </a:extLst>
            </p:cNvPr>
            <p:cNvSpPr/>
            <p:nvPr/>
          </p:nvSpPr>
          <p:spPr>
            <a:xfrm>
              <a:off x="6699844" y="2475649"/>
              <a:ext cx="632255"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0F96E96-3B67-B2C3-D534-9AD800BC57CD}"/>
                </a:ext>
              </a:extLst>
            </p:cNvPr>
            <p:cNvSpPr/>
            <p:nvPr/>
          </p:nvSpPr>
          <p:spPr>
            <a:xfrm>
              <a:off x="7906030" y="2972323"/>
              <a:ext cx="634454"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A7E7978C-0078-2741-9A12-A62E5A3E8DA8}"/>
                </a:ext>
              </a:extLst>
            </p:cNvPr>
            <p:cNvSpPr/>
            <p:nvPr/>
          </p:nvSpPr>
          <p:spPr>
            <a:xfrm>
              <a:off x="10528926" y="2972323"/>
              <a:ext cx="780012"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6BDCC5C-5FDB-9C19-D04E-8542B136CB41}"/>
                </a:ext>
              </a:extLst>
            </p:cNvPr>
            <p:cNvSpPr/>
            <p:nvPr/>
          </p:nvSpPr>
          <p:spPr>
            <a:xfrm>
              <a:off x="6699844" y="2972323"/>
              <a:ext cx="639409"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AFEF34D-0E87-C4BF-F2BB-4D0AEF6F6C7C}"/>
                </a:ext>
              </a:extLst>
            </p:cNvPr>
            <p:cNvSpPr/>
            <p:nvPr/>
          </p:nvSpPr>
          <p:spPr>
            <a:xfrm>
              <a:off x="6936999" y="3327090"/>
              <a:ext cx="700750"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013CD7BF-A43A-5340-A420-F7C7C86CF9F4}"/>
                </a:ext>
              </a:extLst>
            </p:cNvPr>
            <p:cNvSpPr txBox="1"/>
            <p:nvPr/>
          </p:nvSpPr>
          <p:spPr>
            <a:xfrm>
              <a:off x="11280342" y="2358737"/>
              <a:ext cx="816249" cy="276999"/>
            </a:xfrm>
            <a:prstGeom prst="rect">
              <a:avLst/>
            </a:prstGeom>
            <a:noFill/>
            <a:ln>
              <a:noFill/>
            </a:ln>
          </p:spPr>
          <p:txBody>
            <a:bodyPr wrap="none" rtlCol="0">
              <a:spAutoFit/>
            </a:bodyPr>
            <a:lstStyle/>
            <a:p>
              <a:r>
                <a:rPr lang="en-US" sz="1200" err="1">
                  <a:solidFill>
                    <a:srgbClr val="008000"/>
                  </a:solidFill>
                </a:rPr>
                <a:t>isoform</a:t>
              </a:r>
              <a:r>
                <a:rPr lang="en-US" sz="1200">
                  <a:solidFill>
                    <a:srgbClr val="008000"/>
                  </a:solidFill>
                </a:rPr>
                <a:t> 1</a:t>
              </a:r>
            </a:p>
          </p:txBody>
        </p:sp>
        <p:sp>
          <p:nvSpPr>
            <p:cNvPr id="77" name="TextBox 76">
              <a:extLst>
                <a:ext uri="{FF2B5EF4-FFF2-40B4-BE49-F238E27FC236}">
                  <a16:creationId xmlns:a16="http://schemas.microsoft.com/office/drawing/2014/main" id="{680A79AB-3922-6CBA-9AAD-8F707DDD0F3C}"/>
                </a:ext>
              </a:extLst>
            </p:cNvPr>
            <p:cNvSpPr txBox="1"/>
            <p:nvPr/>
          </p:nvSpPr>
          <p:spPr>
            <a:xfrm>
              <a:off x="11280342" y="2870691"/>
              <a:ext cx="816249" cy="276999"/>
            </a:xfrm>
            <a:prstGeom prst="rect">
              <a:avLst/>
            </a:prstGeom>
            <a:noFill/>
            <a:ln>
              <a:noFill/>
            </a:ln>
          </p:spPr>
          <p:txBody>
            <a:bodyPr wrap="none" rtlCol="0">
              <a:spAutoFit/>
            </a:bodyPr>
            <a:lstStyle/>
            <a:p>
              <a:r>
                <a:rPr lang="en-US" sz="1200" err="1">
                  <a:solidFill>
                    <a:srgbClr val="008000"/>
                  </a:solidFill>
                </a:rPr>
                <a:t>isoform</a:t>
              </a:r>
              <a:r>
                <a:rPr lang="en-US" sz="1200">
                  <a:solidFill>
                    <a:srgbClr val="008000"/>
                  </a:solidFill>
                </a:rPr>
                <a:t> 2</a:t>
              </a:r>
            </a:p>
          </p:txBody>
        </p:sp>
        <p:sp>
          <p:nvSpPr>
            <p:cNvPr id="78" name="Rectangle 77">
              <a:extLst>
                <a:ext uri="{FF2B5EF4-FFF2-40B4-BE49-F238E27FC236}">
                  <a16:creationId xmlns:a16="http://schemas.microsoft.com/office/drawing/2014/main" id="{61E3C8BA-E95B-BE58-728E-0B6216D87EFC}"/>
                </a:ext>
              </a:extLst>
            </p:cNvPr>
            <p:cNvSpPr/>
            <p:nvPr/>
          </p:nvSpPr>
          <p:spPr>
            <a:xfrm>
              <a:off x="9846091" y="3327090"/>
              <a:ext cx="425721" cy="93659"/>
            </a:xfrm>
            <a:prstGeom prst="rect">
              <a:avLst/>
            </a:prstGeom>
            <a:gradFill>
              <a:gsLst>
                <a:gs pos="0">
                  <a:schemeClr val="accent1">
                    <a:lumMod val="20000"/>
                    <a:lumOff val="80000"/>
                  </a:schemeClr>
                </a:gs>
                <a:gs pos="25000">
                  <a:srgbClr val="0070C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75C05A3D-DE08-D841-6A03-1E65E436746C}"/>
                </a:ext>
              </a:extLst>
            </p:cNvPr>
            <p:cNvSpPr/>
            <p:nvPr/>
          </p:nvSpPr>
          <p:spPr>
            <a:xfrm>
              <a:off x="10616572" y="4571584"/>
              <a:ext cx="496674" cy="110304"/>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B664D6E1-272B-7E2C-E629-46A83CA0DB16}"/>
                </a:ext>
              </a:extLst>
            </p:cNvPr>
            <p:cNvSpPr/>
            <p:nvPr/>
          </p:nvSpPr>
          <p:spPr>
            <a:xfrm>
              <a:off x="6991734" y="3604612"/>
              <a:ext cx="347110"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ight Arrow 80">
              <a:extLst>
                <a:ext uri="{FF2B5EF4-FFF2-40B4-BE49-F238E27FC236}">
                  <a16:creationId xmlns:a16="http://schemas.microsoft.com/office/drawing/2014/main" id="{6B734BE7-D881-5F29-801C-9EB38BDDADF6}"/>
                </a:ext>
              </a:extLst>
            </p:cNvPr>
            <p:cNvSpPr/>
            <p:nvPr/>
          </p:nvSpPr>
          <p:spPr>
            <a:xfrm rot="5400000">
              <a:off x="5592228" y="5175620"/>
              <a:ext cx="376550" cy="382205"/>
            </a:xfrm>
            <a:prstGeom prst="rightArrow">
              <a:avLst>
                <a:gd name="adj1" fmla="val 41477"/>
                <a:gd name="adj2" fmla="val 48476"/>
              </a:avLst>
            </a:prstGeom>
            <a:solidFill>
              <a:srgbClr val="00B050"/>
            </a:solidFill>
            <a:ln>
              <a:solidFill>
                <a:srgbClr val="00B050"/>
              </a:solidFill>
            </a:ln>
            <a:effectLst>
              <a:outerShdw blurRad="50800" dist="38100" dir="2700000" algn="tl" rotWithShape="0">
                <a:prstClr val="black">
                  <a:alpha val="40000"/>
                </a:prstClr>
              </a:outerShdw>
            </a:effectLst>
            <a:scene3d>
              <a:camera prst="orthographicFront"/>
              <a:lightRig rig="threePt" dir="t">
                <a:rot lat="0" lon="0" rev="15000000"/>
              </a:lightRig>
            </a:scene3d>
            <a:sp3d>
              <a:bevelT w="4445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a:extLst>
                <a:ext uri="{FF2B5EF4-FFF2-40B4-BE49-F238E27FC236}">
                  <a16:creationId xmlns:a16="http://schemas.microsoft.com/office/drawing/2014/main" id="{3B76F169-3CE8-AA2A-37FA-FA6BC14202AE}"/>
                </a:ext>
              </a:extLst>
            </p:cNvPr>
            <p:cNvSpPr/>
            <p:nvPr/>
          </p:nvSpPr>
          <p:spPr>
            <a:xfrm>
              <a:off x="7339330" y="5706622"/>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Freeform 82">
              <a:extLst>
                <a:ext uri="{FF2B5EF4-FFF2-40B4-BE49-F238E27FC236}">
                  <a16:creationId xmlns:a16="http://schemas.microsoft.com/office/drawing/2014/main" id="{A2578E0C-3211-14DE-20ED-28E909EB74AD}"/>
                </a:ext>
              </a:extLst>
            </p:cNvPr>
            <p:cNvSpPr/>
            <p:nvPr/>
          </p:nvSpPr>
          <p:spPr>
            <a:xfrm>
              <a:off x="8550910" y="5706622"/>
              <a:ext cx="438150" cy="10287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a:extLst>
                <a:ext uri="{FF2B5EF4-FFF2-40B4-BE49-F238E27FC236}">
                  <a16:creationId xmlns:a16="http://schemas.microsoft.com/office/drawing/2014/main" id="{2A569EEB-6A9F-7773-7264-668004C7E332}"/>
                </a:ext>
              </a:extLst>
            </p:cNvPr>
            <p:cNvSpPr/>
            <p:nvPr/>
          </p:nvSpPr>
          <p:spPr>
            <a:xfrm>
              <a:off x="9749262" y="5710432"/>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Rectangle 84">
              <a:extLst>
                <a:ext uri="{FF2B5EF4-FFF2-40B4-BE49-F238E27FC236}">
                  <a16:creationId xmlns:a16="http://schemas.microsoft.com/office/drawing/2014/main" id="{36262B9E-D00C-7F29-AB5B-CC9E15F695CB}"/>
                </a:ext>
              </a:extLst>
            </p:cNvPr>
            <p:cNvSpPr/>
            <p:nvPr/>
          </p:nvSpPr>
          <p:spPr>
            <a:xfrm>
              <a:off x="7913854" y="5763202"/>
              <a:ext cx="634454"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E7B8B456-182E-1390-4FDE-B69FC64DEC65}"/>
                </a:ext>
              </a:extLst>
            </p:cNvPr>
            <p:cNvSpPr/>
            <p:nvPr/>
          </p:nvSpPr>
          <p:spPr>
            <a:xfrm>
              <a:off x="8982220" y="5763202"/>
              <a:ext cx="769229"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39F2594-426F-3CE3-7B31-69AF77CB8BDA}"/>
                </a:ext>
              </a:extLst>
            </p:cNvPr>
            <p:cNvSpPr/>
            <p:nvPr/>
          </p:nvSpPr>
          <p:spPr>
            <a:xfrm>
              <a:off x="10539330" y="5763202"/>
              <a:ext cx="777432"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703A860-11AF-A4DD-3472-CAD9B9C5E860}"/>
                </a:ext>
              </a:extLst>
            </p:cNvPr>
            <p:cNvSpPr/>
            <p:nvPr/>
          </p:nvSpPr>
          <p:spPr>
            <a:xfrm>
              <a:off x="6702875" y="5763202"/>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BB838F19-8F30-1C09-F399-2CC149F2070D}"/>
                </a:ext>
              </a:extLst>
            </p:cNvPr>
            <p:cNvSpPr/>
            <p:nvPr/>
          </p:nvSpPr>
          <p:spPr>
            <a:xfrm>
              <a:off x="7337085" y="6012677"/>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0" name="Rectangle 89">
              <a:extLst>
                <a:ext uri="{FF2B5EF4-FFF2-40B4-BE49-F238E27FC236}">
                  <a16:creationId xmlns:a16="http://schemas.microsoft.com/office/drawing/2014/main" id="{FDF01C0E-9B35-DBCC-4E63-2674C00DD779}"/>
                </a:ext>
              </a:extLst>
            </p:cNvPr>
            <p:cNvSpPr/>
            <p:nvPr/>
          </p:nvSpPr>
          <p:spPr>
            <a:xfrm>
              <a:off x="6700630" y="6069257"/>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a:extLst>
                <a:ext uri="{FF2B5EF4-FFF2-40B4-BE49-F238E27FC236}">
                  <a16:creationId xmlns:a16="http://schemas.microsoft.com/office/drawing/2014/main" id="{85C8672E-10B0-7A17-3F90-FD9FC70EA05A}"/>
                </a:ext>
              </a:extLst>
            </p:cNvPr>
            <p:cNvSpPr/>
            <p:nvPr/>
          </p:nvSpPr>
          <p:spPr>
            <a:xfrm>
              <a:off x="8548920" y="6011337"/>
              <a:ext cx="1980006" cy="104748"/>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Rectangle 91">
              <a:extLst>
                <a:ext uri="{FF2B5EF4-FFF2-40B4-BE49-F238E27FC236}">
                  <a16:creationId xmlns:a16="http://schemas.microsoft.com/office/drawing/2014/main" id="{422990F8-B286-8813-4757-995BE965CA6B}"/>
                </a:ext>
              </a:extLst>
            </p:cNvPr>
            <p:cNvSpPr/>
            <p:nvPr/>
          </p:nvSpPr>
          <p:spPr>
            <a:xfrm>
              <a:off x="7911609" y="6069257"/>
              <a:ext cx="634454"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763C6F0-0D93-002C-B562-F86EF6FD2D3D}"/>
                </a:ext>
              </a:extLst>
            </p:cNvPr>
            <p:cNvSpPr/>
            <p:nvPr/>
          </p:nvSpPr>
          <p:spPr>
            <a:xfrm>
              <a:off x="10537085" y="6069257"/>
              <a:ext cx="777432"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93">
              <a:extLst>
                <a:ext uri="{FF2B5EF4-FFF2-40B4-BE49-F238E27FC236}">
                  <a16:creationId xmlns:a16="http://schemas.microsoft.com/office/drawing/2014/main" id="{1BB0917A-FA89-42E0-E9BB-EAB26DB79904}"/>
                </a:ext>
              </a:extLst>
            </p:cNvPr>
            <p:cNvSpPr/>
            <p:nvPr/>
          </p:nvSpPr>
          <p:spPr>
            <a:xfrm>
              <a:off x="7328865" y="6359010"/>
              <a:ext cx="1641924" cy="138519"/>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6" name="Rectangle 95">
              <a:extLst>
                <a:ext uri="{FF2B5EF4-FFF2-40B4-BE49-F238E27FC236}">
                  <a16:creationId xmlns:a16="http://schemas.microsoft.com/office/drawing/2014/main" id="{56459A12-1517-9433-F913-45688FE9C168}"/>
                </a:ext>
              </a:extLst>
            </p:cNvPr>
            <p:cNvSpPr/>
            <p:nvPr/>
          </p:nvSpPr>
          <p:spPr>
            <a:xfrm>
              <a:off x="8971755" y="6456388"/>
              <a:ext cx="712420" cy="107777"/>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7AD7231A-C4F1-3843-4468-DEAB1C09C615}"/>
                </a:ext>
              </a:extLst>
            </p:cNvPr>
            <p:cNvSpPr/>
            <p:nvPr/>
          </p:nvSpPr>
          <p:spPr>
            <a:xfrm>
              <a:off x="6692410" y="6456388"/>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52580302-7AA7-612A-3ECA-B0BA09794564}"/>
                </a:ext>
              </a:extLst>
            </p:cNvPr>
            <p:cNvSpPr txBox="1"/>
            <p:nvPr/>
          </p:nvSpPr>
          <p:spPr>
            <a:xfrm>
              <a:off x="4939809" y="5717811"/>
              <a:ext cx="1657818" cy="523220"/>
            </a:xfrm>
            <a:prstGeom prst="rect">
              <a:avLst/>
            </a:prstGeom>
            <a:noFill/>
          </p:spPr>
          <p:txBody>
            <a:bodyPr wrap="square" rtlCol="0">
              <a:spAutoFit/>
            </a:bodyPr>
            <a:lstStyle/>
            <a:p>
              <a:pPr algn="ctr"/>
              <a:r>
                <a:rPr lang="en-US" sz="1400">
                  <a:solidFill>
                    <a:schemeClr val="accent4">
                      <a:lumMod val="50000"/>
                    </a:schemeClr>
                  </a:solidFill>
                </a:rPr>
                <a:t>Merged </a:t>
              </a:r>
            </a:p>
            <a:p>
              <a:pPr algn="ctr"/>
              <a:r>
                <a:rPr lang="en-US" sz="1400">
                  <a:solidFill>
                    <a:schemeClr val="accent4">
                      <a:lumMod val="50000"/>
                    </a:schemeClr>
                  </a:solidFill>
                </a:rPr>
                <a:t>transcripts</a:t>
              </a:r>
            </a:p>
          </p:txBody>
        </p:sp>
      </p:grpSp>
      <p:cxnSp>
        <p:nvCxnSpPr>
          <p:cNvPr id="100" name="Straight Connector 99">
            <a:extLst>
              <a:ext uri="{FF2B5EF4-FFF2-40B4-BE49-F238E27FC236}">
                <a16:creationId xmlns:a16="http://schemas.microsoft.com/office/drawing/2014/main" id="{ECF8FC49-B070-A07A-E6EB-15051302B496}"/>
              </a:ext>
            </a:extLst>
          </p:cNvPr>
          <p:cNvCxnSpPr/>
          <p:nvPr/>
        </p:nvCxnSpPr>
        <p:spPr bwMode="auto">
          <a:xfrm>
            <a:off x="7155515" y="2194259"/>
            <a:ext cx="837130" cy="0"/>
          </a:xfrm>
          <a:prstGeom prst="line">
            <a:avLst/>
          </a:prstGeom>
          <a:solidFill>
            <a:schemeClr val="accent1"/>
          </a:solidFill>
          <a:ln w="571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5950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0474-3339-0808-B189-CF56A8884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C9DC2-8232-DCD0-02D0-7FFB8895DDC3}"/>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854D2F3D-7FB9-1B97-F46E-CFB7B3CDB33B}"/>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7" name="Picture 6">
            <a:extLst>
              <a:ext uri="{FF2B5EF4-FFF2-40B4-BE49-F238E27FC236}">
                <a16:creationId xmlns:a16="http://schemas.microsoft.com/office/drawing/2014/main" id="{17A29995-4DF5-397E-1E99-160A255912C9}"/>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BC3C56B6-B3EC-A731-9C38-938922E39DC6}"/>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
        <p:nvSpPr>
          <p:cNvPr id="3" name="Rectangle 2">
            <a:extLst>
              <a:ext uri="{FF2B5EF4-FFF2-40B4-BE49-F238E27FC236}">
                <a16:creationId xmlns:a16="http://schemas.microsoft.com/office/drawing/2014/main" id="{D2925647-49ED-CEC5-E361-21DBF2CEF3FE}"/>
              </a:ext>
            </a:extLst>
          </p:cNvPr>
          <p:cNvSpPr/>
          <p:nvPr/>
        </p:nvSpPr>
        <p:spPr bwMode="auto">
          <a:xfrm>
            <a:off x="7810434" y="1234893"/>
            <a:ext cx="2025182"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6" name="Rectangle 25">
            <a:extLst>
              <a:ext uri="{FF2B5EF4-FFF2-40B4-BE49-F238E27FC236}">
                <a16:creationId xmlns:a16="http://schemas.microsoft.com/office/drawing/2014/main" id="{9D3288F5-3CCF-17D9-6172-022759A665CA}"/>
              </a:ext>
            </a:extLst>
          </p:cNvPr>
          <p:cNvSpPr/>
          <p:nvPr/>
        </p:nvSpPr>
        <p:spPr>
          <a:xfrm>
            <a:off x="6368894" y="123489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
        <p:nvSpPr>
          <p:cNvPr id="27" name="Rectangle 26">
            <a:extLst>
              <a:ext uri="{FF2B5EF4-FFF2-40B4-BE49-F238E27FC236}">
                <a16:creationId xmlns:a16="http://schemas.microsoft.com/office/drawing/2014/main" id="{A41C424A-345F-F1EB-9E3B-A153C16E39FD}"/>
              </a:ext>
            </a:extLst>
          </p:cNvPr>
          <p:cNvSpPr/>
          <p:nvPr/>
        </p:nvSpPr>
        <p:spPr>
          <a:xfrm>
            <a:off x="6085020" y="1696558"/>
            <a:ext cx="6092506" cy="861774"/>
          </a:xfrm>
          <a:prstGeom prst="rect">
            <a:avLst/>
          </a:prstGeom>
        </p:spPr>
        <p:txBody>
          <a:bodyPr wrap="square">
            <a:spAutoFit/>
          </a:bodyPr>
          <a:lstStyle/>
          <a:p>
            <a:r>
              <a:rPr lang="en-US" sz="1600" dirty="0">
                <a:solidFill>
                  <a:srgbClr val="333333"/>
                </a:solidFill>
                <a:latin typeface="Roboto"/>
              </a:rPr>
              <a:t>- a tool for merging and tracking transcript structures across multiple samples and comparing them to a reference annotation.</a:t>
            </a:r>
          </a:p>
          <a:p>
            <a:endParaRPr lang="en-US" dirty="0"/>
          </a:p>
        </p:txBody>
      </p:sp>
      <p:cxnSp>
        <p:nvCxnSpPr>
          <p:cNvPr id="100" name="Straight Connector 99">
            <a:extLst>
              <a:ext uri="{FF2B5EF4-FFF2-40B4-BE49-F238E27FC236}">
                <a16:creationId xmlns:a16="http://schemas.microsoft.com/office/drawing/2014/main" id="{9D17FDCC-57AB-6963-5F1C-CE36F0038231}"/>
              </a:ext>
            </a:extLst>
          </p:cNvPr>
          <p:cNvCxnSpPr/>
          <p:nvPr/>
        </p:nvCxnSpPr>
        <p:spPr bwMode="auto">
          <a:xfrm>
            <a:off x="8125668" y="2232760"/>
            <a:ext cx="3899607" cy="0"/>
          </a:xfrm>
          <a:prstGeom prst="line">
            <a:avLst/>
          </a:prstGeom>
          <a:solidFill>
            <a:schemeClr val="accent1"/>
          </a:solidFill>
          <a:ln w="571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 name="Picture 5">
            <a:extLst>
              <a:ext uri="{FF2B5EF4-FFF2-40B4-BE49-F238E27FC236}">
                <a16:creationId xmlns:a16="http://schemas.microsoft.com/office/drawing/2014/main" id="{7CEDCB4B-C6E7-F6C6-0EEC-3B213B1AB732}"/>
              </a:ext>
            </a:extLst>
          </p:cNvPr>
          <p:cNvPicPr>
            <a:picLocks noChangeAspect="1"/>
          </p:cNvPicPr>
          <p:nvPr/>
        </p:nvPicPr>
        <p:blipFill>
          <a:blip r:embed="rId5"/>
          <a:stretch>
            <a:fillRect/>
          </a:stretch>
        </p:blipFill>
        <p:spPr>
          <a:xfrm>
            <a:off x="5957414" y="2367946"/>
            <a:ext cx="5487820" cy="4474005"/>
          </a:xfrm>
          <a:prstGeom prst="rect">
            <a:avLst/>
          </a:prstGeom>
        </p:spPr>
      </p:pic>
    </p:spTree>
    <p:extLst>
      <p:ext uri="{BB962C8B-B14F-4D97-AF65-F5344CB8AC3E}">
        <p14:creationId xmlns:p14="http://schemas.microsoft.com/office/powerpoint/2010/main" val="109889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D997E-3E57-9F4F-83E2-102664A2B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D19B4-B404-338B-9C44-5FA55A730133}"/>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5C4B70E1-1421-92CB-B1D7-9C725594CB65}"/>
              </a:ext>
            </a:extLst>
          </p:cNvPr>
          <p:cNvSpPr>
            <a:spLocks noGrp="1"/>
          </p:cNvSpPr>
          <p:nvPr>
            <p:ph type="sldNum" sz="quarter" idx="12"/>
          </p:nvPr>
        </p:nvSpPr>
        <p:spPr/>
        <p:txBody>
          <a:bodyPr/>
          <a:lstStyle/>
          <a:p>
            <a:fld id="{B82CCC60-E8CD-4174-8B1A-7DF615B22EEF}" type="slidenum">
              <a:rPr lang="en-US" smtClean="0"/>
              <a:pPr/>
              <a:t>17</a:t>
            </a:fld>
            <a:endParaRPr lang="en-US"/>
          </a:p>
        </p:txBody>
      </p:sp>
      <p:pic>
        <p:nvPicPr>
          <p:cNvPr id="7" name="Picture 6">
            <a:extLst>
              <a:ext uri="{FF2B5EF4-FFF2-40B4-BE49-F238E27FC236}">
                <a16:creationId xmlns:a16="http://schemas.microsoft.com/office/drawing/2014/main" id="{7925E43E-65C1-2302-4FC8-084E842C6592}"/>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0C42DB4A-55EF-53F1-9C40-430476C2102D}"/>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pic>
        <p:nvPicPr>
          <p:cNvPr id="6" name="Picture 5">
            <a:extLst>
              <a:ext uri="{FF2B5EF4-FFF2-40B4-BE49-F238E27FC236}">
                <a16:creationId xmlns:a16="http://schemas.microsoft.com/office/drawing/2014/main" id="{3657B0DA-2199-F2C2-B212-FF104D149CC8}"/>
              </a:ext>
            </a:extLst>
          </p:cNvPr>
          <p:cNvPicPr>
            <a:picLocks noChangeAspect="1"/>
          </p:cNvPicPr>
          <p:nvPr/>
        </p:nvPicPr>
        <p:blipFill>
          <a:blip r:embed="rId5"/>
          <a:stretch>
            <a:fillRect/>
          </a:stretch>
        </p:blipFill>
        <p:spPr>
          <a:xfrm>
            <a:off x="5957414" y="2367946"/>
            <a:ext cx="5487820" cy="4474005"/>
          </a:xfrm>
          <a:prstGeom prst="rect">
            <a:avLst/>
          </a:prstGeom>
        </p:spPr>
      </p:pic>
      <p:sp>
        <p:nvSpPr>
          <p:cNvPr id="5" name="Rectangle 4">
            <a:extLst>
              <a:ext uri="{FF2B5EF4-FFF2-40B4-BE49-F238E27FC236}">
                <a16:creationId xmlns:a16="http://schemas.microsoft.com/office/drawing/2014/main" id="{CC398E27-FB31-1EB6-2094-93F4E47C25B8}"/>
              </a:ext>
            </a:extLst>
          </p:cNvPr>
          <p:cNvSpPr/>
          <p:nvPr/>
        </p:nvSpPr>
        <p:spPr>
          <a:xfrm>
            <a:off x="258078" y="4604948"/>
            <a:ext cx="6092506" cy="1354217"/>
          </a:xfrm>
          <a:prstGeom prst="rect">
            <a:avLst/>
          </a:prstGeom>
        </p:spPr>
        <p:txBody>
          <a:bodyPr wrap="square">
            <a:spAutoFit/>
          </a:bodyPr>
          <a:lstStyle/>
          <a:p>
            <a:r>
              <a:rPr lang="en-US" dirty="0">
                <a:solidFill>
                  <a:srgbClr val="333333"/>
                </a:solidFill>
                <a:latin typeface="Roboto"/>
              </a:rPr>
              <a:t>- </a:t>
            </a:r>
            <a:r>
              <a:rPr lang="en-US" sz="1600" dirty="0">
                <a:solidFill>
                  <a:srgbClr val="333333"/>
                </a:solidFill>
                <a:latin typeface="Roboto"/>
              </a:rPr>
              <a:t>designed for large scale overlap analysis of streaming transcript prediction data (millions of transcripts) with a reference annotation data set; it performs detection and classification of all the overlaps found between the streamed transcripts and the reference annotation transcripts. </a:t>
            </a:r>
          </a:p>
        </p:txBody>
      </p:sp>
      <p:sp>
        <p:nvSpPr>
          <p:cNvPr id="8" name="Rectangle 7">
            <a:extLst>
              <a:ext uri="{FF2B5EF4-FFF2-40B4-BE49-F238E27FC236}">
                <a16:creationId xmlns:a16="http://schemas.microsoft.com/office/drawing/2014/main" id="{DC5D5AD6-AEB0-D06C-EE7D-4D1FB183A394}"/>
              </a:ext>
            </a:extLst>
          </p:cNvPr>
          <p:cNvSpPr/>
          <p:nvPr/>
        </p:nvSpPr>
        <p:spPr bwMode="auto">
          <a:xfrm>
            <a:off x="9978753" y="1449954"/>
            <a:ext cx="1021138"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9" name="Rectangle 8">
            <a:extLst>
              <a:ext uri="{FF2B5EF4-FFF2-40B4-BE49-F238E27FC236}">
                <a16:creationId xmlns:a16="http://schemas.microsoft.com/office/drawing/2014/main" id="{30E2DC47-BB73-8394-9476-5AED387B7ED5}"/>
              </a:ext>
            </a:extLst>
          </p:cNvPr>
          <p:cNvSpPr/>
          <p:nvPr/>
        </p:nvSpPr>
        <p:spPr>
          <a:xfrm>
            <a:off x="5957414" y="145622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Tree>
    <p:extLst>
      <p:ext uri="{BB962C8B-B14F-4D97-AF65-F5344CB8AC3E}">
        <p14:creationId xmlns:p14="http://schemas.microsoft.com/office/powerpoint/2010/main" val="396716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65B9-7DF1-CB73-9847-1CE276076BA0}"/>
              </a:ext>
            </a:extLst>
          </p:cNvPr>
          <p:cNvSpPr>
            <a:spLocks noGrp="1"/>
          </p:cNvSpPr>
          <p:nvPr>
            <p:ph type="title"/>
          </p:nvPr>
        </p:nvSpPr>
        <p:spPr/>
        <p:txBody>
          <a:bodyPr>
            <a:normAutofit fontScale="90000"/>
          </a:bodyPr>
          <a:lstStyle/>
          <a:p>
            <a:r>
              <a:rPr lang="en-US" dirty="0"/>
              <a:t>gffcompare of two annotations</a:t>
            </a:r>
          </a:p>
        </p:txBody>
      </p:sp>
      <p:sp>
        <p:nvSpPr>
          <p:cNvPr id="4" name="Slide Number Placeholder 3">
            <a:extLst>
              <a:ext uri="{FF2B5EF4-FFF2-40B4-BE49-F238E27FC236}">
                <a16:creationId xmlns:a16="http://schemas.microsoft.com/office/drawing/2014/main" id="{3589E54C-DB00-5967-34D3-3E7FF0805548}"/>
              </a:ext>
            </a:extLst>
          </p:cNvPr>
          <p:cNvSpPr>
            <a:spLocks noGrp="1"/>
          </p:cNvSpPr>
          <p:nvPr>
            <p:ph type="sldNum" sz="quarter" idx="12"/>
          </p:nvPr>
        </p:nvSpPr>
        <p:spPr/>
        <p:txBody>
          <a:bodyPr/>
          <a:lstStyle/>
          <a:p>
            <a:fld id="{B82CCC60-E8CD-4174-8B1A-7DF615B22EEF}" type="slidenum">
              <a:rPr lang="en-US" smtClean="0"/>
              <a:pPr/>
              <a:t>18</a:t>
            </a:fld>
            <a:endParaRPr lang="en-US"/>
          </a:p>
        </p:txBody>
      </p:sp>
      <p:pic>
        <p:nvPicPr>
          <p:cNvPr id="9" name="Picture 8">
            <a:extLst>
              <a:ext uri="{FF2B5EF4-FFF2-40B4-BE49-F238E27FC236}">
                <a16:creationId xmlns:a16="http://schemas.microsoft.com/office/drawing/2014/main" id="{904EDAB9-192D-F234-8957-65AFB78D1ED8}"/>
              </a:ext>
            </a:extLst>
          </p:cNvPr>
          <p:cNvPicPr>
            <a:picLocks noChangeAspect="1"/>
          </p:cNvPicPr>
          <p:nvPr/>
        </p:nvPicPr>
        <p:blipFill>
          <a:blip r:embed="rId2"/>
          <a:stretch>
            <a:fillRect/>
          </a:stretch>
        </p:blipFill>
        <p:spPr>
          <a:xfrm>
            <a:off x="6130519" y="1839486"/>
            <a:ext cx="5890975" cy="4405198"/>
          </a:xfrm>
          <a:prstGeom prst="rect">
            <a:avLst/>
          </a:prstGeom>
        </p:spPr>
      </p:pic>
      <p:pic>
        <p:nvPicPr>
          <p:cNvPr id="10" name="Picture 9">
            <a:extLst>
              <a:ext uri="{FF2B5EF4-FFF2-40B4-BE49-F238E27FC236}">
                <a16:creationId xmlns:a16="http://schemas.microsoft.com/office/drawing/2014/main" id="{1EC6DBAD-8D55-DFF6-D3B1-69B464698E7A}"/>
              </a:ext>
            </a:extLst>
          </p:cNvPr>
          <p:cNvPicPr>
            <a:picLocks noChangeAspect="1"/>
          </p:cNvPicPr>
          <p:nvPr/>
        </p:nvPicPr>
        <p:blipFill>
          <a:blip r:embed="rId3"/>
          <a:stretch>
            <a:fillRect/>
          </a:stretch>
        </p:blipFill>
        <p:spPr>
          <a:xfrm>
            <a:off x="126496" y="1809750"/>
            <a:ext cx="5934985" cy="4434934"/>
          </a:xfrm>
          <a:prstGeom prst="rect">
            <a:avLst/>
          </a:prstGeom>
        </p:spPr>
      </p:pic>
      <p:sp>
        <p:nvSpPr>
          <p:cNvPr id="11" name="Rectangle 10">
            <a:extLst>
              <a:ext uri="{FF2B5EF4-FFF2-40B4-BE49-F238E27FC236}">
                <a16:creationId xmlns:a16="http://schemas.microsoft.com/office/drawing/2014/main" id="{969D22F1-1A3C-02D4-70F8-8B4EDD8B263E}"/>
              </a:ext>
            </a:extLst>
          </p:cNvPr>
          <p:cNvSpPr/>
          <p:nvPr/>
        </p:nvSpPr>
        <p:spPr bwMode="auto">
          <a:xfrm>
            <a:off x="126496" y="2843561"/>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2" name="Rectangle 11">
            <a:extLst>
              <a:ext uri="{FF2B5EF4-FFF2-40B4-BE49-F238E27FC236}">
                <a16:creationId xmlns:a16="http://schemas.microsoft.com/office/drawing/2014/main" id="{E0FFD2DC-526C-8740-637B-361E2130A379}"/>
              </a:ext>
            </a:extLst>
          </p:cNvPr>
          <p:cNvSpPr/>
          <p:nvPr/>
        </p:nvSpPr>
        <p:spPr bwMode="auto">
          <a:xfrm>
            <a:off x="113545" y="4713248"/>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3" name="Rectangle 12">
            <a:extLst>
              <a:ext uri="{FF2B5EF4-FFF2-40B4-BE49-F238E27FC236}">
                <a16:creationId xmlns:a16="http://schemas.microsoft.com/office/drawing/2014/main" id="{2D088A7D-5FA8-CA57-5C78-4800EB157B28}"/>
              </a:ext>
            </a:extLst>
          </p:cNvPr>
          <p:cNvSpPr/>
          <p:nvPr/>
        </p:nvSpPr>
        <p:spPr bwMode="auto">
          <a:xfrm>
            <a:off x="6130520" y="2843561"/>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4" name="Rectangle 13">
            <a:extLst>
              <a:ext uri="{FF2B5EF4-FFF2-40B4-BE49-F238E27FC236}">
                <a16:creationId xmlns:a16="http://schemas.microsoft.com/office/drawing/2014/main" id="{164996AA-6E47-FD61-80EC-CE4CD112BB22}"/>
              </a:ext>
            </a:extLst>
          </p:cNvPr>
          <p:cNvSpPr/>
          <p:nvPr/>
        </p:nvSpPr>
        <p:spPr bwMode="auto">
          <a:xfrm>
            <a:off x="6130520" y="4690946"/>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5519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A4B5-3E4D-107B-3EF8-6CCC26394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8D66E-FEBE-0048-01CA-FC338FF612CB}"/>
              </a:ext>
            </a:extLst>
          </p:cNvPr>
          <p:cNvSpPr>
            <a:spLocks noGrp="1"/>
          </p:cNvSpPr>
          <p:nvPr>
            <p:ph type="title"/>
          </p:nvPr>
        </p:nvSpPr>
        <p:spPr/>
        <p:txBody>
          <a:bodyPr>
            <a:normAutofit fontScale="90000"/>
          </a:bodyPr>
          <a:lstStyle/>
          <a:p>
            <a:r>
              <a:rPr lang="en-US" dirty="0"/>
              <a:t>gffcompare of two annotations</a:t>
            </a:r>
          </a:p>
        </p:txBody>
      </p:sp>
      <p:sp>
        <p:nvSpPr>
          <p:cNvPr id="4" name="Slide Number Placeholder 3">
            <a:extLst>
              <a:ext uri="{FF2B5EF4-FFF2-40B4-BE49-F238E27FC236}">
                <a16:creationId xmlns:a16="http://schemas.microsoft.com/office/drawing/2014/main" id="{27F6185A-3EB3-0CCA-B4AF-6397E9307BA7}"/>
              </a:ext>
            </a:extLst>
          </p:cNvPr>
          <p:cNvSpPr>
            <a:spLocks noGrp="1"/>
          </p:cNvSpPr>
          <p:nvPr>
            <p:ph type="sldNum" sz="quarter" idx="12"/>
          </p:nvPr>
        </p:nvSpPr>
        <p:spPr/>
        <p:txBody>
          <a:bodyPr/>
          <a:lstStyle/>
          <a:p>
            <a:fld id="{B82CCC60-E8CD-4174-8B1A-7DF615B22EEF}" type="slidenum">
              <a:rPr lang="en-US" smtClean="0"/>
              <a:pPr/>
              <a:t>19</a:t>
            </a:fld>
            <a:endParaRPr lang="en-US"/>
          </a:p>
        </p:txBody>
      </p:sp>
      <p:pic>
        <p:nvPicPr>
          <p:cNvPr id="5" name="Picture 4">
            <a:extLst>
              <a:ext uri="{FF2B5EF4-FFF2-40B4-BE49-F238E27FC236}">
                <a16:creationId xmlns:a16="http://schemas.microsoft.com/office/drawing/2014/main" id="{8DE822E6-7F95-865D-C2A9-42EE47A08EE4}"/>
              </a:ext>
            </a:extLst>
          </p:cNvPr>
          <p:cNvPicPr>
            <a:picLocks noChangeAspect="1"/>
          </p:cNvPicPr>
          <p:nvPr/>
        </p:nvPicPr>
        <p:blipFill>
          <a:blip r:embed="rId2"/>
          <a:stretch>
            <a:fillRect/>
          </a:stretch>
        </p:blipFill>
        <p:spPr>
          <a:xfrm>
            <a:off x="6095999" y="1858236"/>
            <a:ext cx="5865901" cy="4386448"/>
          </a:xfrm>
          <a:prstGeom prst="rect">
            <a:avLst/>
          </a:prstGeom>
        </p:spPr>
      </p:pic>
      <p:pic>
        <p:nvPicPr>
          <p:cNvPr id="6" name="Picture 5">
            <a:extLst>
              <a:ext uri="{FF2B5EF4-FFF2-40B4-BE49-F238E27FC236}">
                <a16:creationId xmlns:a16="http://schemas.microsoft.com/office/drawing/2014/main" id="{B33E88CF-0C20-B3D2-98B8-615EE0FE1F97}"/>
              </a:ext>
            </a:extLst>
          </p:cNvPr>
          <p:cNvPicPr>
            <a:picLocks noChangeAspect="1"/>
          </p:cNvPicPr>
          <p:nvPr/>
        </p:nvPicPr>
        <p:blipFill>
          <a:blip r:embed="rId3"/>
          <a:stretch>
            <a:fillRect/>
          </a:stretch>
        </p:blipFill>
        <p:spPr>
          <a:xfrm>
            <a:off x="126496" y="1809750"/>
            <a:ext cx="5934985" cy="4434934"/>
          </a:xfrm>
          <a:prstGeom prst="rect">
            <a:avLst/>
          </a:prstGeom>
        </p:spPr>
      </p:pic>
      <p:sp>
        <p:nvSpPr>
          <p:cNvPr id="7" name="Rectangle 6">
            <a:extLst>
              <a:ext uri="{FF2B5EF4-FFF2-40B4-BE49-F238E27FC236}">
                <a16:creationId xmlns:a16="http://schemas.microsoft.com/office/drawing/2014/main" id="{4FEF154E-ED16-2673-6C98-50EDA8848679}"/>
              </a:ext>
            </a:extLst>
          </p:cNvPr>
          <p:cNvSpPr/>
          <p:nvPr/>
        </p:nvSpPr>
        <p:spPr bwMode="auto">
          <a:xfrm>
            <a:off x="450832" y="4027217"/>
            <a:ext cx="2638056" cy="50017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8" name="Rectangle 7">
            <a:extLst>
              <a:ext uri="{FF2B5EF4-FFF2-40B4-BE49-F238E27FC236}">
                <a16:creationId xmlns:a16="http://schemas.microsoft.com/office/drawing/2014/main" id="{7AA55CBB-39B2-B121-2EAD-69832930C156}"/>
              </a:ext>
            </a:extLst>
          </p:cNvPr>
          <p:cNvSpPr/>
          <p:nvPr/>
        </p:nvSpPr>
        <p:spPr bwMode="auto">
          <a:xfrm>
            <a:off x="6440390" y="4027217"/>
            <a:ext cx="2638056" cy="50017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641111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4A698-F2CD-AC7E-8BD2-7054F58CE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7F9F4-05DE-2A3A-F675-585F77D5D4AF}"/>
              </a:ext>
            </a:extLst>
          </p:cNvPr>
          <p:cNvSpPr>
            <a:spLocks noGrp="1"/>
          </p:cNvSpPr>
          <p:nvPr>
            <p:ph type="title"/>
          </p:nvPr>
        </p:nvSpPr>
        <p:spPr/>
        <p:txBody>
          <a:bodyPr>
            <a:normAutofit fontScale="90000"/>
          </a:bodyPr>
          <a:lstStyle/>
          <a:p>
            <a:r>
              <a:rPr lang="en-US" dirty="0"/>
              <a:t>Evaluating </a:t>
            </a:r>
            <a:r>
              <a:rPr lang="en-US" dirty="0" err="1"/>
              <a:t>agains</a:t>
            </a:r>
            <a:r>
              <a:rPr lang="en-US" dirty="0"/>
              <a:t> the reference</a:t>
            </a:r>
          </a:p>
        </p:txBody>
      </p:sp>
      <p:sp>
        <p:nvSpPr>
          <p:cNvPr id="3" name="Content Placeholder 2">
            <a:extLst>
              <a:ext uri="{FF2B5EF4-FFF2-40B4-BE49-F238E27FC236}">
                <a16:creationId xmlns:a16="http://schemas.microsoft.com/office/drawing/2014/main" id="{CFC85884-4292-6FC4-A5E8-05C7B462C820}"/>
              </a:ext>
            </a:extLst>
          </p:cNvPr>
          <p:cNvSpPr>
            <a:spLocks noGrp="1"/>
          </p:cNvSpPr>
          <p:nvPr>
            <p:ph idx="1"/>
          </p:nvPr>
        </p:nvSpPr>
        <p:spPr>
          <a:xfrm>
            <a:off x="327259" y="1596540"/>
            <a:ext cx="11244161" cy="4948639"/>
          </a:xfrm>
        </p:spPr>
        <p:txBody>
          <a:bodyPr>
            <a:normAutofit/>
          </a:bodyPr>
          <a:lstStyle/>
          <a:p>
            <a:r>
              <a:rPr lang="en-US" dirty="0">
                <a:latin typeface="Calibri" panose="020F0502020204030204" pitchFamily="34" charset="0"/>
                <a:cs typeface="Calibri" panose="020F0502020204030204" pitchFamily="34" charset="0"/>
              </a:rPr>
              <a:t>REMEMBER: there is no complete reference (even human annotation is </a:t>
            </a:r>
            <a:r>
              <a:rPr lang="en-US">
                <a:latin typeface="Calibri" panose="020F0502020204030204" pitchFamily="34" charset="0"/>
                <a:cs typeface="Calibri" panose="020F0502020204030204" pitchFamily="34" charset="0"/>
              </a:rPr>
              <a:t>not perfect):</a:t>
            </a:r>
            <a:endParaRPr lang="en-US" dirty="0">
              <a:latin typeface="Calibri" panose="020F0502020204030204" pitchFamily="34" charset="0"/>
              <a:cs typeface="Calibri" panose="020F0502020204030204" pitchFamily="34" charset="0"/>
            </a:endParaRPr>
          </a:p>
          <a:p>
            <a:pPr lvl="1"/>
            <a:r>
              <a:rPr lang="en-US" dirty="0">
                <a:latin typeface="Calibri" panose="020F0502020204030204" pitchFamily="34" charset="0"/>
                <a:cs typeface="Calibri" panose="020F0502020204030204" pitchFamily="34" charset="0"/>
              </a:rPr>
              <a:t>If assembled transcript matches the reference, it is most likely correct</a:t>
            </a:r>
          </a:p>
          <a:p>
            <a:pPr lvl="1"/>
            <a:r>
              <a:rPr lang="en-US" dirty="0">
                <a:latin typeface="Calibri" panose="020F0502020204030204" pitchFamily="34" charset="0"/>
                <a:cs typeface="Calibri" panose="020F0502020204030204" pitchFamily="34" charset="0"/>
              </a:rPr>
              <a:t>If assembled transcript does not match the reference, it </a:t>
            </a:r>
            <a:r>
              <a:rPr lang="en-US" i="1" dirty="0">
                <a:latin typeface="Calibri" panose="020F0502020204030204" pitchFamily="34" charset="0"/>
                <a:cs typeface="Calibri" panose="020F0502020204030204" pitchFamily="34" charset="0"/>
              </a:rPr>
              <a:t>may be </a:t>
            </a:r>
            <a:r>
              <a:rPr lang="en-US" dirty="0">
                <a:latin typeface="Calibri" panose="020F0502020204030204" pitchFamily="34" charset="0"/>
                <a:cs typeface="Calibri" panose="020F0502020204030204" pitchFamily="34" charset="0"/>
              </a:rPr>
              <a:t>correct</a:t>
            </a:r>
          </a:p>
          <a:p>
            <a:pPr lvl="1"/>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In comparisons prioritize Sensitivity!</a:t>
            </a:r>
          </a:p>
          <a:p>
            <a:pPr lvl="1"/>
            <a:r>
              <a:rPr lang="en-US" dirty="0">
                <a:latin typeface="Calibri" panose="020F0502020204030204" pitchFamily="34" charset="0"/>
                <a:cs typeface="Calibri" panose="020F0502020204030204" pitchFamily="34" charset="0"/>
              </a:rPr>
              <a:t>If the F1 score is the same for two assemblies, the one with higher Sensitivity is better!</a:t>
            </a:r>
          </a:p>
          <a:p>
            <a:pPr lvl="1"/>
            <a:endParaRPr lang="en-US" dirty="0">
              <a:latin typeface="Calibri" panose="020F0502020204030204" pitchFamily="34" charset="0"/>
              <a:cs typeface="Calibri" panose="020F0502020204030204" pitchFamily="34" charset="0"/>
            </a:endParaRPr>
          </a:p>
          <a:p>
            <a:pPr lvl="1"/>
            <a:endParaRPr lang="en-US" dirty="0">
              <a:latin typeface="Calibri" panose="020F0502020204030204" pitchFamily="34" charset="0"/>
              <a:cs typeface="Calibri" panose="020F0502020204030204" pitchFamily="34" charset="0"/>
            </a:endParaRPr>
          </a:p>
          <a:p>
            <a:endParaRPr lang="en-US" dirty="0">
              <a:latin typeface="AdvTT6489ba6c"/>
            </a:endParaRPr>
          </a:p>
          <a:p>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E621E8AA-1F3F-C075-E1B1-53FF59801B02}"/>
              </a:ext>
            </a:extLst>
          </p:cNvPr>
          <p:cNvSpPr>
            <a:spLocks noGrp="1"/>
          </p:cNvSpPr>
          <p:nvPr>
            <p:ph type="sldNum" sz="quarter" idx="12"/>
          </p:nvPr>
        </p:nvSpPr>
        <p:spPr/>
        <p:txBody>
          <a:bodyPr/>
          <a:lstStyle/>
          <a:p>
            <a:fld id="{B82CCC60-E8CD-4174-8B1A-7DF615B22EEF}" type="slidenum">
              <a:rPr lang="en-US" smtClean="0"/>
              <a:pPr/>
              <a:t>20</a:t>
            </a:fld>
            <a:endParaRPr lang="en-US"/>
          </a:p>
        </p:txBody>
      </p:sp>
    </p:spTree>
    <p:extLst>
      <p:ext uri="{BB962C8B-B14F-4D97-AF65-F5344CB8AC3E}">
        <p14:creationId xmlns:p14="http://schemas.microsoft.com/office/powerpoint/2010/main" val="251798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2D34-E2AD-0DFB-0C0A-D3F0E5D2306B}"/>
              </a:ext>
            </a:extLst>
          </p:cNvPr>
          <p:cNvSpPr>
            <a:spLocks noGrp="1"/>
          </p:cNvSpPr>
          <p:nvPr>
            <p:ph type="title"/>
          </p:nvPr>
        </p:nvSpPr>
        <p:spPr>
          <a:xfrm>
            <a:off x="529046" y="424359"/>
            <a:ext cx="6289197" cy="662346"/>
          </a:xfrm>
        </p:spPr>
        <p:txBody>
          <a:bodyPr>
            <a:normAutofit fontScale="90000"/>
          </a:bodyPr>
          <a:lstStyle/>
          <a:p>
            <a:r>
              <a:rPr lang="en-US" dirty="0"/>
              <a:t>Errors in transcript assemblies and how to mitigate them</a:t>
            </a:r>
          </a:p>
        </p:txBody>
      </p:sp>
      <p:sp>
        <p:nvSpPr>
          <p:cNvPr id="3" name="Content Placeholder 2">
            <a:extLst>
              <a:ext uri="{FF2B5EF4-FFF2-40B4-BE49-F238E27FC236}">
                <a16:creationId xmlns:a16="http://schemas.microsoft.com/office/drawing/2014/main" id="{ED3D7F42-F5E6-17B9-A02A-3D4341B8020C}"/>
              </a:ext>
            </a:extLst>
          </p:cNvPr>
          <p:cNvSpPr>
            <a:spLocks noGrp="1"/>
          </p:cNvSpPr>
          <p:nvPr>
            <p:ph idx="1"/>
          </p:nvPr>
        </p:nvSpPr>
        <p:spPr>
          <a:xfrm>
            <a:off x="598619" y="1596540"/>
            <a:ext cx="10852645" cy="5042799"/>
          </a:xfrm>
        </p:spPr>
        <p:txBody>
          <a:bodyPr>
            <a:normAutofit/>
          </a:bodyPr>
          <a:lstStyle/>
          <a:p>
            <a:r>
              <a:rPr lang="en-US" dirty="0"/>
              <a:t>Assemblies of individual transcriptome (e.g. RNA-seq) data sets are:</a:t>
            </a:r>
          </a:p>
          <a:p>
            <a:pPr lvl="1"/>
            <a:r>
              <a:rPr lang="en-US" dirty="0"/>
              <a:t>Incomplete</a:t>
            </a:r>
          </a:p>
          <a:p>
            <a:pPr lvl="1"/>
            <a:r>
              <a:rPr lang="en-US" dirty="0"/>
              <a:t>Have noisy transcripts</a:t>
            </a:r>
          </a:p>
          <a:p>
            <a:pPr lvl="1"/>
            <a:r>
              <a:rPr lang="en-US" dirty="0"/>
              <a:t>Have erroneously assembled transcripts</a:t>
            </a:r>
          </a:p>
          <a:p>
            <a:r>
              <a:rPr lang="en-US" dirty="0"/>
              <a:t>We can improve by sequencing multiple samples from (ideally) multiple tissues</a:t>
            </a:r>
          </a:p>
          <a:p>
            <a:pPr lvl="1"/>
            <a:r>
              <a:rPr lang="en-US" dirty="0"/>
              <a:t>Helps with completeness (+Sensitivity)</a:t>
            </a:r>
          </a:p>
          <a:p>
            <a:pPr lvl="1"/>
            <a:r>
              <a:rPr lang="en-US" dirty="0"/>
              <a:t>Increases transcriptional noise (-Precision)</a:t>
            </a:r>
          </a:p>
          <a:p>
            <a:pPr lvl="1"/>
            <a:r>
              <a:rPr lang="en-US" dirty="0"/>
              <a:t>Increases assembly errors (-Precision) </a:t>
            </a:r>
          </a:p>
        </p:txBody>
      </p:sp>
      <p:sp>
        <p:nvSpPr>
          <p:cNvPr id="4" name="Slide Number Placeholder 3">
            <a:extLst>
              <a:ext uri="{FF2B5EF4-FFF2-40B4-BE49-F238E27FC236}">
                <a16:creationId xmlns:a16="http://schemas.microsoft.com/office/drawing/2014/main" id="{445BFD6A-6651-503E-CFA6-B41CC829B706}"/>
              </a:ext>
            </a:extLst>
          </p:cNvPr>
          <p:cNvSpPr>
            <a:spLocks noGrp="1"/>
          </p:cNvSpPr>
          <p:nvPr>
            <p:ph type="sldNum" sz="quarter" idx="12"/>
          </p:nvPr>
        </p:nvSpPr>
        <p:spPr/>
        <p:txBody>
          <a:bodyPr/>
          <a:lstStyle/>
          <a:p>
            <a:fld id="{B82CCC60-E8CD-4174-8B1A-7DF615B22EEF}" type="slidenum">
              <a:rPr lang="en-US" smtClean="0"/>
              <a:pPr/>
              <a:t>21</a:t>
            </a:fld>
            <a:endParaRPr lang="en-US"/>
          </a:p>
        </p:txBody>
      </p:sp>
    </p:spTree>
    <p:extLst>
      <p:ext uri="{BB962C8B-B14F-4D97-AF65-F5344CB8AC3E}">
        <p14:creationId xmlns:p14="http://schemas.microsoft.com/office/powerpoint/2010/main" val="3983540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48044-3DC5-5C86-6912-114C6309C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8DF39-E20B-221D-3CDD-88A73D60FB51}"/>
              </a:ext>
            </a:extLst>
          </p:cNvPr>
          <p:cNvSpPr>
            <a:spLocks noGrp="1"/>
          </p:cNvSpPr>
          <p:nvPr>
            <p:ph type="title"/>
          </p:nvPr>
        </p:nvSpPr>
        <p:spPr>
          <a:xfrm>
            <a:off x="529046" y="424359"/>
            <a:ext cx="6289197" cy="662346"/>
          </a:xfrm>
        </p:spPr>
        <p:txBody>
          <a:bodyPr>
            <a:normAutofit fontScale="90000"/>
          </a:bodyPr>
          <a:lstStyle/>
          <a:p>
            <a:r>
              <a:rPr lang="en-US" dirty="0"/>
              <a:t>Errors in transcript assemblies and how to mitigate them</a:t>
            </a:r>
          </a:p>
        </p:txBody>
      </p:sp>
      <p:sp>
        <p:nvSpPr>
          <p:cNvPr id="3" name="Content Placeholder 2">
            <a:extLst>
              <a:ext uri="{FF2B5EF4-FFF2-40B4-BE49-F238E27FC236}">
                <a16:creationId xmlns:a16="http://schemas.microsoft.com/office/drawing/2014/main" id="{22D4979A-804B-EBAB-F47A-9D9DD295BBEB}"/>
              </a:ext>
            </a:extLst>
          </p:cNvPr>
          <p:cNvSpPr>
            <a:spLocks noGrp="1"/>
          </p:cNvSpPr>
          <p:nvPr>
            <p:ph idx="1"/>
          </p:nvPr>
        </p:nvSpPr>
        <p:spPr>
          <a:xfrm>
            <a:off x="598620" y="1596540"/>
            <a:ext cx="4182102" cy="5261459"/>
          </a:xfrm>
        </p:spPr>
        <p:txBody>
          <a:bodyPr>
            <a:normAutofit fontScale="85000" lnSpcReduction="20000"/>
          </a:bodyPr>
          <a:lstStyle/>
          <a:p>
            <a:r>
              <a:rPr lang="en-US" dirty="0"/>
              <a:t>Example: human transcript assembly from 17 tissues/samples:</a:t>
            </a:r>
          </a:p>
          <a:p>
            <a:pPr lvl="1"/>
            <a:r>
              <a:rPr lang="en-US" dirty="0"/>
              <a:t>Assemble each sample individually</a:t>
            </a:r>
          </a:p>
          <a:p>
            <a:pPr lvl="1"/>
            <a:r>
              <a:rPr lang="en-US" dirty="0"/>
              <a:t>Merge assemblies from N samples</a:t>
            </a:r>
          </a:p>
          <a:p>
            <a:pPr lvl="1"/>
            <a:r>
              <a:rPr lang="en-US" dirty="0"/>
              <a:t>Compare to </a:t>
            </a:r>
            <a:r>
              <a:rPr lang="en-US" dirty="0" err="1"/>
              <a:t>RefSeq</a:t>
            </a:r>
            <a:r>
              <a:rPr lang="en-US" dirty="0"/>
              <a:t> annotation</a:t>
            </a:r>
          </a:p>
          <a:p>
            <a:pPr lvl="1"/>
            <a:r>
              <a:rPr lang="en-US" dirty="0"/>
              <a:t>Using data from more tissues: higher Sn, lower </a:t>
            </a:r>
            <a:r>
              <a:rPr lang="en-US" dirty="0" err="1"/>
              <a:t>Pr</a:t>
            </a:r>
            <a:endParaRPr lang="en-US" dirty="0"/>
          </a:p>
          <a:p>
            <a:pPr lvl="1"/>
            <a:r>
              <a:rPr lang="en-US" dirty="0"/>
              <a:t>The best F1 value is achieved by keeping transcripts that are present is 2-3+ samples</a:t>
            </a:r>
          </a:p>
        </p:txBody>
      </p:sp>
      <p:sp>
        <p:nvSpPr>
          <p:cNvPr id="4" name="Slide Number Placeholder 3">
            <a:extLst>
              <a:ext uri="{FF2B5EF4-FFF2-40B4-BE49-F238E27FC236}">
                <a16:creationId xmlns:a16="http://schemas.microsoft.com/office/drawing/2014/main" id="{D7F20F9B-3804-EE05-31F1-8187C6238C92}"/>
              </a:ext>
            </a:extLst>
          </p:cNvPr>
          <p:cNvSpPr>
            <a:spLocks noGrp="1"/>
          </p:cNvSpPr>
          <p:nvPr>
            <p:ph type="sldNum" sz="quarter" idx="12"/>
          </p:nvPr>
        </p:nvSpPr>
        <p:spPr/>
        <p:txBody>
          <a:bodyPr/>
          <a:lstStyle/>
          <a:p>
            <a:fld id="{B82CCC60-E8CD-4174-8B1A-7DF615B22EEF}" type="slidenum">
              <a:rPr lang="en-US" smtClean="0"/>
              <a:pPr/>
              <a:t>22</a:t>
            </a:fld>
            <a:endParaRPr lang="en-US"/>
          </a:p>
        </p:txBody>
      </p:sp>
      <p:pic>
        <p:nvPicPr>
          <p:cNvPr id="6" name="Picture 5">
            <a:extLst>
              <a:ext uri="{FF2B5EF4-FFF2-40B4-BE49-F238E27FC236}">
                <a16:creationId xmlns:a16="http://schemas.microsoft.com/office/drawing/2014/main" id="{E0ED68D6-E017-1944-A55A-CA7281EC5351}"/>
              </a:ext>
            </a:extLst>
          </p:cNvPr>
          <p:cNvPicPr>
            <a:picLocks noChangeAspect="1"/>
          </p:cNvPicPr>
          <p:nvPr/>
        </p:nvPicPr>
        <p:blipFill>
          <a:blip r:embed="rId2"/>
          <a:stretch>
            <a:fillRect/>
          </a:stretch>
        </p:blipFill>
        <p:spPr>
          <a:xfrm>
            <a:off x="4583813" y="1301620"/>
            <a:ext cx="7278314" cy="5419856"/>
          </a:xfrm>
          <a:prstGeom prst="rect">
            <a:avLst/>
          </a:prstGeom>
        </p:spPr>
      </p:pic>
    </p:spTree>
    <p:extLst>
      <p:ext uri="{BB962C8B-B14F-4D97-AF65-F5344CB8AC3E}">
        <p14:creationId xmlns:p14="http://schemas.microsoft.com/office/powerpoint/2010/main" val="4263504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15151</TotalTime>
  <Words>1083</Words>
  <Application>Microsoft Office PowerPoint</Application>
  <PresentationFormat>Widescreen</PresentationFormat>
  <Paragraphs>204</Paragraphs>
  <Slides>22</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2" baseType="lpstr">
      <vt:lpstr>Batang</vt:lpstr>
      <vt:lpstr>AdvTT6489ba6c</vt:lpstr>
      <vt:lpstr>Arial</vt:lpstr>
      <vt:lpstr>Calibri</vt:lpstr>
      <vt:lpstr>CourierNewPSMT</vt:lpstr>
      <vt:lpstr>Roboto</vt:lpstr>
      <vt:lpstr>Times</vt:lpstr>
      <vt:lpstr>Trebuchet MS</vt:lpstr>
      <vt:lpstr>Office Theme</vt:lpstr>
      <vt:lpstr>Equation</vt:lpstr>
      <vt:lpstr>PowerPoint Presentation</vt:lpstr>
      <vt:lpstr>Evaluating transcript assembly</vt:lpstr>
      <vt:lpstr>Common reference annotation databases</vt:lpstr>
      <vt:lpstr>Evaluating agains the reference</vt:lpstr>
      <vt:lpstr>Benchmark transcriptome</vt:lpstr>
      <vt:lpstr>Benchmark transcriptome</vt:lpstr>
      <vt:lpstr>Assembly metrics based on benchmark</vt:lpstr>
      <vt:lpstr>Measures of correctness</vt:lpstr>
      <vt:lpstr>Sensitivity and Specificity</vt:lpstr>
      <vt:lpstr>Intron chain</vt:lpstr>
      <vt:lpstr>Nucleotide(Base) level accuracy</vt:lpstr>
      <vt:lpstr>Exon level accuracy</vt:lpstr>
      <vt:lpstr>Transcript level accuracy</vt:lpstr>
      <vt:lpstr>gffread, gffcompare and trmap</vt:lpstr>
      <vt:lpstr>gffread, gffcompare and trmap</vt:lpstr>
      <vt:lpstr>gffread, gffcompare and trmap</vt:lpstr>
      <vt:lpstr>gffread, gffcompare and trmap</vt:lpstr>
      <vt:lpstr>gffcompare of two annotations</vt:lpstr>
      <vt:lpstr>gffcompare of two annotations</vt:lpstr>
      <vt:lpstr>Evaluating agains the reference</vt:lpstr>
      <vt:lpstr>Errors in transcript assemblies and how to mitigate them</vt:lpstr>
      <vt:lpstr>Errors in transcript assemblies and how to mitigate them</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84</cp:revision>
  <dcterms:created xsi:type="dcterms:W3CDTF">2013-08-21T19:17:07Z</dcterms:created>
  <dcterms:modified xsi:type="dcterms:W3CDTF">2026-10-30T15:33:13Z</dcterms:modified>
</cp:coreProperties>
</file>