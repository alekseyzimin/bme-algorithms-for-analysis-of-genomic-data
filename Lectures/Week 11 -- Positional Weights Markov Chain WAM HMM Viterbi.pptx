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2.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72" r:id="rId2"/>
    <p:sldId id="850" r:id="rId3"/>
    <p:sldId id="572" r:id="rId4"/>
    <p:sldId id="841" r:id="rId5"/>
    <p:sldId id="851" r:id="rId6"/>
    <p:sldId id="880" r:id="rId7"/>
    <p:sldId id="881" r:id="rId8"/>
    <p:sldId id="854" r:id="rId9"/>
    <p:sldId id="855" r:id="rId10"/>
    <p:sldId id="811" r:id="rId11"/>
    <p:sldId id="857" r:id="rId12"/>
    <p:sldId id="858" r:id="rId13"/>
    <p:sldId id="859" r:id="rId14"/>
    <p:sldId id="860" r:id="rId15"/>
    <p:sldId id="856" r:id="rId16"/>
    <p:sldId id="852" r:id="rId17"/>
    <p:sldId id="853" r:id="rId18"/>
    <p:sldId id="866" r:id="rId19"/>
    <p:sldId id="868" r:id="rId20"/>
    <p:sldId id="869" r:id="rId21"/>
    <p:sldId id="898" r:id="rId22"/>
    <p:sldId id="899" r:id="rId23"/>
    <p:sldId id="861" r:id="rId24"/>
    <p:sldId id="902" r:id="rId25"/>
    <p:sldId id="901" r:id="rId26"/>
    <p:sldId id="903" r:id="rId27"/>
    <p:sldId id="862" r:id="rId28"/>
    <p:sldId id="870" r:id="rId29"/>
    <p:sldId id="863" r:id="rId30"/>
    <p:sldId id="864" r:id="rId31"/>
    <p:sldId id="865" r:id="rId32"/>
    <p:sldId id="871" r:id="rId33"/>
    <p:sldId id="872" r:id="rId34"/>
    <p:sldId id="873" r:id="rId35"/>
    <p:sldId id="874" r:id="rId36"/>
    <p:sldId id="875" r:id="rId37"/>
    <p:sldId id="876" r:id="rId38"/>
    <p:sldId id="877" r:id="rId39"/>
    <p:sldId id="878" r:id="rId40"/>
    <p:sldId id="879" r:id="rId41"/>
    <p:sldId id="882" r:id="rId42"/>
    <p:sldId id="883" r:id="rId43"/>
    <p:sldId id="884" r:id="rId44"/>
    <p:sldId id="885" r:id="rId45"/>
    <p:sldId id="886" r:id="rId46"/>
    <p:sldId id="887" r:id="rId47"/>
    <p:sldId id="888" r:id="rId48"/>
    <p:sldId id="890" r:id="rId49"/>
    <p:sldId id="891" r:id="rId50"/>
    <p:sldId id="894" r:id="rId51"/>
    <p:sldId id="895" r:id="rId52"/>
    <p:sldId id="892" r:id="rId53"/>
    <p:sldId id="896" r:id="rId54"/>
    <p:sldId id="893" r:id="rId55"/>
    <p:sldId id="897" r:id="rId56"/>
    <p:sldId id="908" r:id="rId57"/>
    <p:sldId id="904" r:id="rId58"/>
    <p:sldId id="905" r:id="rId59"/>
    <p:sldId id="906" r:id="rId60"/>
    <p:sldId id="907" r:id="rId61"/>
    <p:sldId id="557" r:id="rId62"/>
    <p:sldId id="559" r:id="rId63"/>
    <p:sldId id="56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8ACF"/>
    <a:srgbClr val="D68B1C"/>
    <a:srgbClr val="BE0260"/>
    <a:srgbClr val="D0005E"/>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DFC702-2E06-4086-9D21-413B87B8AE29}" v="15" dt="2026-10-30T15:29:06.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96" d="100"/>
          <a:sy n="96" d="100"/>
        </p:scale>
        <p:origin x="774"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addSld delSld modSld">
      <pc:chgData name="Aleksey Zimin" userId="7f2637d0bc515791" providerId="LiveId" clId="{5F359FD6-B8E9-41DA-90EC-0BA4FD0F3073}" dt="2026-10-30T15:29:06.858" v="31"/>
      <pc:docMkLst>
        <pc:docMk/>
      </pc:docMkLst>
      <pc:sldChg chg="add">
        <pc:chgData name="Aleksey Zimin" userId="7f2637d0bc515791" providerId="LiveId" clId="{5F359FD6-B8E9-41DA-90EC-0BA4FD0F3073}" dt="2026-10-30T15:29:06.858" v="31"/>
        <pc:sldMkLst>
          <pc:docMk/>
          <pc:sldMk cId="3644876859" sldId="572"/>
        </pc:sldMkLst>
      </pc:sldChg>
      <pc:sldChg chg="modSp">
        <pc:chgData name="Aleksey Zimin" userId="7f2637d0bc515791" providerId="LiveId" clId="{5F359FD6-B8E9-41DA-90EC-0BA4FD0F3073}" dt="2026-10-26T17:14:26.735" v="30" actId="20577"/>
        <pc:sldMkLst>
          <pc:docMk/>
          <pc:sldMk cId="763290966" sldId="841"/>
        </pc:sldMkLst>
        <pc:spChg chg="mod">
          <ac:chgData name="Aleksey Zimin" userId="7f2637d0bc515791" providerId="LiveId" clId="{5F359FD6-B8E9-41DA-90EC-0BA4FD0F3073}" dt="2026-10-26T17:14:26.735" v="30" actId="20577"/>
          <ac:spMkLst>
            <pc:docMk/>
            <pc:sldMk cId="763290966" sldId="841"/>
            <ac:spMk id="3" creationId="{37266C4B-003F-16DC-7AF5-AFA961D396B3}"/>
          </ac:spMkLst>
        </pc:spChg>
      </pc:sldChg>
      <pc:sldChg chg="add">
        <pc:chgData name="Aleksey Zimin" userId="7f2637d0bc515791" providerId="LiveId" clId="{5F359FD6-B8E9-41DA-90EC-0BA4FD0F3073}" dt="2026-10-30T15:29:06.858" v="31"/>
        <pc:sldMkLst>
          <pc:docMk/>
          <pc:sldMk cId="1812347551" sldId="850"/>
        </pc:sldMkLst>
      </pc:sldChg>
      <pc:sldChg chg="modSp mod">
        <pc:chgData name="Aleksey Zimin" userId="7f2637d0bc515791" providerId="LiveId" clId="{5F359FD6-B8E9-41DA-90EC-0BA4FD0F3073}" dt="2026-10-20T18:27:59.042" v="3" actId="20577"/>
        <pc:sldMkLst>
          <pc:docMk/>
          <pc:sldMk cId="1582605635" sldId="854"/>
        </pc:sldMkLst>
        <pc:spChg chg="mod">
          <ac:chgData name="Aleksey Zimin" userId="7f2637d0bc515791" providerId="LiveId" clId="{5F359FD6-B8E9-41DA-90EC-0BA4FD0F3073}" dt="2026-10-20T18:27:59.042" v="3" actId="20577"/>
          <ac:spMkLst>
            <pc:docMk/>
            <pc:sldMk cId="1582605635" sldId="854"/>
            <ac:spMk id="2" creationId="{10B41159-66B4-F802-51EF-D98F37AD60D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1"/>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2"/>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3"/>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4"/>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03:36.284"/>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0:56.332"/>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1:15.323"/>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1:31.345"/>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03:36.284"/>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0:56.332"/>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1:15.323"/>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11:31.345"/>
    </inkml:context>
    <inkml:brush xml:id="br0">
      <inkml:brushProperty name="width" value="0.035" units="cm"/>
      <inkml:brushProperty name="height" value="0.035" units="cm"/>
    </inkml:brush>
  </inkml:definitions>
  <inkml:trace contextRef="#ctx0" brushRef="#br0">1286 1900 24575,'-7'1'0,"1"0"0,-1 1 0,1 0 0,-1 0 0,1 0 0,-12 7 0,-12 4 0,-163 41 0,156-46 0,0-2 0,0-1 0,-51-1 0,55-5 0,-152-7 0,162 5 0,0-1 0,1-1 0,-1-1 0,1-1 0,-42-19 0,37 12 0,1 0 0,1-2 0,0-1 0,1-1 0,0-1 0,2-1 0,0-1 0,2-1 0,-21-27 0,19 20 0,2-1 0,1-1 0,1-1 0,-15-38 0,24 46 0,1 0 0,1 0 0,1-1 0,1 0 0,1 0 0,0-45 0,6-538 0,-1 592 0,1 1 0,0 0 0,1 0 0,1 0 0,0 0 0,1 1 0,11-23 0,1 3 0,41-60 0,-27 51 0,1 2 0,3 2 0,0 1 0,45-35 0,-60 56 0,1 0 0,1 2 0,0 1 0,1 0 0,1 2 0,0 0 0,44-13 0,3-1 0,-44 15 0,0 2 0,34-8 0,-61 17 0,48-10 0,0 2 0,79-2 0,-47 9 0,109 4 0,-160 3 0,-1 0 0,0 2 0,0 1 0,0 1 0,50 27 0,-59-28 0,1 3 0,-1 1 0,0 0 0,-1 1 0,0 2 0,24 26 0,-1-2 0,-26-25 0,-1 0 0,0 2 0,-1-1 0,-1 2 0,-1 0 0,17 34 0,-9-6 0,24 83 0,-39-114 0,1 0 0,0-1 0,0 0 0,2-1 0,0 1 0,14 20 0,-21-34 0,1 0 0,-1 0 0,0 0 0,1 0 0,-1 0 0,0 0 0,1 0 0,-1 0 0,0 0 0,1 0 0,-1-1 0,0 1 0,0 0 0,1 0 0,-1 0 0,0 0 0,1-1 0,-1 1 0,0 0 0,0 0 0,1 0 0,-1-1 0,0 1 0,0 0 0,0-1 0,0 1 0,1 0 0,-1 0 0,0-1 0,0 1 0,0 0 0,0-1 0,0 1 0,0 0 0,0-1 0,0 1 0,0 0 0,0-1 0,0 1 0,0 0 0,0-1 0,0 1 0,0 0 0,0-1 0,0 1 0,0 0 0,0-1 0,1-19 0,-3-199 0,3 286 0,-3 88 0,2-153 0,0 1 0,0-1 0,0 1 0,0-1 0,-1 1 0,0-1 0,1 0 0,-1 1 0,0-1 0,0 1 0,0-1 0,0 0 0,-1 0 0,1 0 0,-1 0 0,-1 2 0,2-3 0,-1 0 0,1-1 0,0 1 0,-1-1 0,1 0 0,-1 1 0,1-1 0,-1 0 0,1 0 0,-1 0 0,1 0 0,-1 0 0,1 0 0,-1 0 0,1-1 0,0 1 0,-1-1 0,1 1 0,-1-1 0,1 1 0,0-1 0,-1 0 0,1 1 0,0-1 0,0 0 0,0 0 0,-1 0 0,0-2 0,-20-12 0,12 10 0,1-1 0,0-1 0,0 1 0,1-1 0,-1-1 0,2 0 0,-1 0 0,1 0 0,-11-18 0,74 85 0,-27-27-1365,-15-20-5461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7:52:50.944"/>
    </inkml:context>
    <inkml:brush xml:id="br0">
      <inkml:brushProperty name="width" value="0.035" units="cm"/>
      <inkml:brushProperty name="height" value="0.035" units="cm"/>
    </inkml:brush>
  </inkml:definitions>
  <inkml:trace contextRef="#ctx0" brushRef="#br0">870 788 24575,'1'-3'0,"0"0"0,0 0 0,0 1 0,0-1 0,0 0 0,1 1 0,-1-1 0,1 1 0,0 0 0,2-3 0,10-15 0,-5-3 0,0-1 0,-1 0 0,-1 0 0,-2 0 0,0-1 0,-2 0 0,0 0 0,-2-35 0,0 41 0,-1-1 0,-1 1 0,-1 0 0,-1 0 0,-1 0 0,0 0 0,-1 1 0,-13-31 0,11 34 0,-1 1 0,0 0 0,0 0 0,-2 1 0,1 0 0,-2 1 0,0 0 0,0 0 0,-1 1 0,0 1 0,-1 0 0,0 1 0,-1 0 0,0 1 0,-16-7 0,-10-1 0,-1 2 0,0 2 0,-1 1 0,-49-6 0,45 8 0,29 6 0,1 0 0,-1 0 0,-17 1 0,29 2 0,0 0 0,0 0 0,0 1 0,1 0 0,-1 0 0,0 0 0,1 1 0,-1-1 0,1 1 0,-1 0 0,1 0 0,0 1 0,0-1 0,-8 7 0,-8 9 0,1 1 0,0 0 0,2 1 0,0 1 0,-18 31 0,26-37 0,2 1 0,0-1 0,1 1 0,0 1 0,1-1 0,1 1 0,1-1 0,0 1 0,0 26 0,2 294 0,3-163 0,3-188 0,1-1 0,0 2 0,1-1 0,1 1 0,11-16 0,-12 19 0,3-3 0,-8 14 0,-2 0 0,-1 1 0,0-1 0,0 0 0,0 0 0,0 0 0,0 1 0,0-1 0,0 0 0,-1 0 0,1 0 0,0-1 0,-1 1 0,1 0 0,0 0 0,-2 0 0,-3 2 0,0-1 0,0 0 0,0 0 0,0-1 0,0 0 0,0 0 0,-1 0 0,-9 0 0,13-2 0,1 1 0,0 0 0,0 0 0,-1-1 0,1 0 0,0 1 0,0-1 0,0 0 0,0 0 0,0 0 0,0 0 0,0 0 0,0 0 0,1-1 0,-1 1 0,0-1 0,1 1 0,-1-1 0,1 0 0,-1 0 0,1 1 0,0-1 0,0 0 0,0 0 0,0 0 0,0 0 0,-1-3 0,-3-16 0,0 0 0,-4-31 0,12 100 0,-2-27 0,0 0 0,1 0 0,1 0 0,10 35 0,-13-55 0,0 0 0,0-1 0,0 1 0,0 0 0,0-1 0,1 1 0,-1 0 0,0-1 0,1 1 0,-1 0 0,1-1 0,-1 1 0,0 0 0,1-1 0,-1 1 0,1-1 0,-1 1 0,1-1 0,0 1 0,-1-1 0,1 0 0,0 1 0,-1-1 0,1 0 0,0 1 0,-1-1 0,1 0 0,0 0 0,-1 0 0,1 0 0,0 1 0,0-1 0,-1 0 0,2 0 0,0-1 0,0 0 0,0 0 0,0 0 0,-1-1 0,1 1 0,0 0 0,-1-1 0,1 1 0,-1-1 0,1 1 0,-1-1 0,2-1 0,28-53 0,-17 14 0,-2 3 0,-14 70 0,-2-2 0,-4 21 0,-15 52 0,24-101 0,-1-1 0,-1 1 0,1 0 0,0-1 0,0 1 0,0-1 0,0 1 0,0-1 0,0 1 0,-1 0 0,1-1 0,0 1 0,0-1 0,-1 1 0,1-1 0,0 1 0,-1-1 0,1 0 0,-1 1 0,1-1 0,0 1 0,-1-1 0,1 0 0,-1 1 0,1-1 0,-1 0 0,1 0 0,-1 1 0,0-1 0,1 0 0,-1 0 0,1 0 0,-1 0 0,1 1 0,-1-1 0,0 0 0,1 0 0,-1 0 0,1 0 0,-2-1 0,0 0 0,0 0 0,0-1 0,0 1 0,0-1 0,0 0 0,0 0 0,0 1 0,1-1 0,-1 0 0,-1-3 0,-28-55 0,25 39 0,2 0 0,-3-24 0,8 64 0,0-1 0,1 1 0,1-1 0,0 0 0,2 0 0,0 0 0,15 34 0,-20-52 0,0 1 0,0-1 0,1 1 0,-1-1 0,0 1 0,0-1 0,1 1 0,-1-1 0,0 1 0,1-1 0,-1 1 0,0-1 0,1 1 0,-1-1 0,1 0 0,-1 1 0,1-1 0,-1 0 0,1 1 0,-1-1 0,1 0 0,-1 0 0,1 1 0,-1-1 0,1 0 0,-1 0 0,1 0 0,0 0 0,-1 0 0,1 0 0,-1 0 0,1 0 0,0 0 0,-1 0 0,1 0 0,-1 0 0,2-1 0,14-19 0,5-36 0,-16 34 0,-2 0 0,2-27 0,-5 31 0,2 1 0,0-1 0,1 1 0,9-29 0,-10 40 0,9-17 0,-7 23 0,-2 17 0,-2 13 0,-1 1 0,-5 32 0,5-51 0,-2 0 0,1 0 0,-2 0 0,0 0 0,0 0 0,-1-1 0,-12 22 0,17-33 0,-1 1 0,1 0 0,0-1 0,-1 1 0,1 0 0,-1-1 0,1 1 0,-1-1 0,1 1 0,-1-1 0,0 1 0,1-1 0,-1 1 0,1-1 0,-1 1 0,0-1 0,1 0 0,-1 1 0,0-1 0,0 0 0,1 0 0,-1 1 0,0-1 0,0 0 0,1 0 0,-1 0 0,0 0 0,0 0 0,1 0 0,-2-1 0,0 1 0,1-1 0,-1 0 0,1 0 0,0 0 0,0 0 0,-1 0 0,1-1 0,0 1 0,0 0 0,0 0 0,0-1 0,0 1 0,0-3 0,-18-45 0,12 19-341,2 1 0,1-1-1,-1-50 1,5 62-6485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16:04:11.674"/>
    </inkml:context>
    <inkml:brush xml:id="br0">
      <inkml:brushProperty name="width" value="0.035" units="cm"/>
      <inkml:brushProperty name="height" value="0.035" units="cm"/>
    </inkml:brush>
  </inkml:definitions>
  <inkml:trace contextRef="#ctx0" brushRef="#br0">0 1 24575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4"/>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5"/>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21</a:t>
            </a:fld>
            <a:endParaRPr lang="en-US"/>
          </a:p>
        </p:txBody>
      </p:sp>
    </p:spTree>
    <p:extLst>
      <p:ext uri="{BB962C8B-B14F-4D97-AF65-F5344CB8AC3E}">
        <p14:creationId xmlns:p14="http://schemas.microsoft.com/office/powerpoint/2010/main" val="1417572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1BD8-BCC8-C0EF-A9DF-C9DD97B1B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DDA73-1811-089C-435B-4F5704842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D8221-502F-E885-72EA-55CAE9B87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1FC282-F475-4084-534F-F11AEBF72907}"/>
              </a:ext>
            </a:extLst>
          </p:cNvPr>
          <p:cNvSpPr>
            <a:spLocks noGrp="1"/>
          </p:cNvSpPr>
          <p:nvPr>
            <p:ph type="sldNum" sz="quarter" idx="5"/>
          </p:nvPr>
        </p:nvSpPr>
        <p:spPr/>
        <p:txBody>
          <a:bodyPr/>
          <a:lstStyle/>
          <a:p>
            <a:fld id="{A6313FD6-7C7B-4426-BFC4-490AC0CFBE05}" type="slidenum">
              <a:rPr lang="en-US" smtClean="0"/>
              <a:t>22</a:t>
            </a:fld>
            <a:endParaRPr lang="en-US"/>
          </a:p>
        </p:txBody>
      </p:sp>
    </p:spTree>
    <p:extLst>
      <p:ext uri="{BB962C8B-B14F-4D97-AF65-F5344CB8AC3E}">
        <p14:creationId xmlns:p14="http://schemas.microsoft.com/office/powerpoint/2010/main" val="1298770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10/30/2026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33.png"/><Relationship Id="rId4" Type="http://schemas.openxmlformats.org/officeDocument/2006/relationships/customXml" Target="../ink/ink2.xml"/><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37.png"/><Relationship Id="rId4" Type="http://schemas.openxmlformats.org/officeDocument/2006/relationships/customXml" Target="../ink/ink6.xml"/><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customXml" Target="../ink/ink15.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customXml" Target="../ink/ink14.xml"/><Relationship Id="rId2" Type="http://schemas.openxmlformats.org/officeDocument/2006/relationships/customXml" Target="../ink/ink9.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40.png"/><Relationship Id="rId5" Type="http://schemas.openxmlformats.org/officeDocument/2006/relationships/image" Target="../media/image37.png"/><Relationship Id="rId15" Type="http://schemas.openxmlformats.org/officeDocument/2006/relationships/customXml" Target="../ink/ink16.xml"/><Relationship Id="rId10" Type="http://schemas.openxmlformats.org/officeDocument/2006/relationships/customXml" Target="../ink/ink13.xml"/><Relationship Id="rId4" Type="http://schemas.openxmlformats.org/officeDocument/2006/relationships/customXml" Target="../ink/ink10.xml"/><Relationship Id="rId9" Type="http://schemas.openxmlformats.org/officeDocument/2006/relationships/image" Target="../media/image39.png"/><Relationship Id="rId1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customXml" Target="../ink/ink17.xml"/><Relationship Id="rId7" Type="http://schemas.openxmlformats.org/officeDocument/2006/relationships/customXml" Target="../ink/ink2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19.xml"/><Relationship Id="rId5" Type="http://schemas.openxmlformats.org/officeDocument/2006/relationships/customXml" Target="../ink/ink18.xml"/><Relationship Id="rId4" Type="http://schemas.openxmlformats.org/officeDocument/2006/relationships/image" Target="../media/image101.png"/></Relationships>
</file>

<file path=ppt/slides/_rels/slide22.xml.rels><?xml version="1.0" encoding="UTF-8" standalone="yes"?>
<Relationships xmlns="http://schemas.openxmlformats.org/package/2006/relationships"><Relationship Id="rId3" Type="http://schemas.openxmlformats.org/officeDocument/2006/relationships/customXml" Target="../ink/ink21.xml"/><Relationship Id="rId7" Type="http://schemas.openxmlformats.org/officeDocument/2006/relationships/customXml" Target="../ink/ink2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23.xml"/><Relationship Id="rId5" Type="http://schemas.openxmlformats.org/officeDocument/2006/relationships/customXml" Target="../ink/ink22.xml"/><Relationship Id="rId4" Type="http://schemas.openxmlformats.org/officeDocument/2006/relationships/image" Target="../media/image1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51.png"/><Relationship Id="rId4" Type="http://schemas.openxmlformats.org/officeDocument/2006/relationships/customXml" Target="../ink/ink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customXml" Target="../ink/ink30.xml"/><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29.xml"/><Relationship Id="rId5" Type="http://schemas.openxmlformats.org/officeDocument/2006/relationships/image" Target="../media/image33.png"/><Relationship Id="rId10" Type="http://schemas.openxmlformats.org/officeDocument/2006/relationships/image" Target="../media/image10.png"/><Relationship Id="rId4" Type="http://schemas.openxmlformats.org/officeDocument/2006/relationships/customXml" Target="../ink/ink28.xml"/><Relationship Id="rId9" Type="http://schemas.openxmlformats.org/officeDocument/2006/relationships/image" Target="../media/image35.png"/></Relationships>
</file>

<file path=ppt/slides/_rels/slide32.xml.rels><?xml version="1.0" encoding="UTF-8" standalone="yes"?>
<Relationships xmlns="http://schemas.openxmlformats.org/package/2006/relationships"><Relationship Id="rId8" Type="http://schemas.openxmlformats.org/officeDocument/2006/relationships/customXml" Target="../ink/ink34.xml"/><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customXml" Target="../ink/ink31.xml"/><Relationship Id="rId1" Type="http://schemas.openxmlformats.org/officeDocument/2006/relationships/slideLayout" Target="../slideLayouts/slideLayout2.xml"/><Relationship Id="rId6" Type="http://schemas.openxmlformats.org/officeDocument/2006/relationships/customXml" Target="../ink/ink33.xml"/><Relationship Id="rId5" Type="http://schemas.openxmlformats.org/officeDocument/2006/relationships/image" Target="../media/image28.png"/><Relationship Id="rId4" Type="http://schemas.openxmlformats.org/officeDocument/2006/relationships/customXml" Target="../ink/ink32.xml"/><Relationship Id="rId9" Type="http://schemas.openxmlformats.org/officeDocument/2006/relationships/image" Target="../media/image43.png"/></Relationships>
</file>

<file path=ppt/slides/_rels/slide33.xml.rels><?xml version="1.0" encoding="UTF-8" standalone="yes"?>
<Relationships xmlns="http://schemas.openxmlformats.org/package/2006/relationships"><Relationship Id="rId8" Type="http://schemas.openxmlformats.org/officeDocument/2006/relationships/customXml" Target="../ink/ink3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35.xml"/><Relationship Id="rId1" Type="http://schemas.openxmlformats.org/officeDocument/2006/relationships/slideLayout" Target="../slideLayouts/slideLayout2.xml"/><Relationship Id="rId6" Type="http://schemas.openxmlformats.org/officeDocument/2006/relationships/customXml" Target="../ink/ink37.xml"/><Relationship Id="rId5" Type="http://schemas.openxmlformats.org/officeDocument/2006/relationships/image" Target="../media/image37.png"/><Relationship Id="rId4" Type="http://schemas.openxmlformats.org/officeDocument/2006/relationships/customXml" Target="../ink/ink36.xml"/><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8" Type="http://schemas.openxmlformats.org/officeDocument/2006/relationships/customXml" Target="../ink/ink42.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customXml" Target="../ink/ink41.xml"/><Relationship Id="rId5" Type="http://schemas.openxmlformats.org/officeDocument/2006/relationships/image" Target="../media/image37.png"/><Relationship Id="rId4" Type="http://schemas.openxmlformats.org/officeDocument/2006/relationships/customXml" Target="../ink/ink40.xml"/><Relationship Id="rId9"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customXml" Target="../ink/ink46.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43.xml"/><Relationship Id="rId1" Type="http://schemas.openxmlformats.org/officeDocument/2006/relationships/slideLayout" Target="../slideLayouts/slideLayout2.xml"/><Relationship Id="rId6" Type="http://schemas.openxmlformats.org/officeDocument/2006/relationships/customXml" Target="../ink/ink45.xml"/><Relationship Id="rId5" Type="http://schemas.openxmlformats.org/officeDocument/2006/relationships/image" Target="../media/image37.png"/><Relationship Id="rId4" Type="http://schemas.openxmlformats.org/officeDocument/2006/relationships/customXml" Target="../ink/ink44.xml"/><Relationship Id="rId9" Type="http://schemas.openxmlformats.org/officeDocument/2006/relationships/image" Target="../media/image39.png"/></Relationships>
</file>

<file path=ppt/slides/_rels/slide36.xml.rels><?xml version="1.0" encoding="UTF-8" standalone="yes"?>
<Relationships xmlns="http://schemas.openxmlformats.org/package/2006/relationships"><Relationship Id="rId8" Type="http://schemas.openxmlformats.org/officeDocument/2006/relationships/customXml" Target="../ink/ink50.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customXml" Target="../ink/ink49.xml"/><Relationship Id="rId5" Type="http://schemas.openxmlformats.org/officeDocument/2006/relationships/image" Target="../media/image37.png"/><Relationship Id="rId4" Type="http://schemas.openxmlformats.org/officeDocument/2006/relationships/customXml" Target="../ink/ink48.xml"/><Relationship Id="rId9" Type="http://schemas.openxmlformats.org/officeDocument/2006/relationships/image" Target="../media/image39.png"/></Relationships>
</file>

<file path=ppt/slides/_rels/slide37.xml.rels><?xml version="1.0" encoding="UTF-8" standalone="yes"?>
<Relationships xmlns="http://schemas.openxmlformats.org/package/2006/relationships"><Relationship Id="rId8" Type="http://schemas.openxmlformats.org/officeDocument/2006/relationships/customXml" Target="../ink/ink54.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51.xml"/><Relationship Id="rId1" Type="http://schemas.openxmlformats.org/officeDocument/2006/relationships/slideLayout" Target="../slideLayouts/slideLayout2.xml"/><Relationship Id="rId6" Type="http://schemas.openxmlformats.org/officeDocument/2006/relationships/customXml" Target="../ink/ink53.xml"/><Relationship Id="rId5" Type="http://schemas.openxmlformats.org/officeDocument/2006/relationships/image" Target="../media/image37.png"/><Relationship Id="rId4" Type="http://schemas.openxmlformats.org/officeDocument/2006/relationships/customXml" Target="../ink/ink52.xml"/><Relationship Id="rId9" Type="http://schemas.openxmlformats.org/officeDocument/2006/relationships/image" Target="../media/image39.png"/></Relationships>
</file>

<file path=ppt/slides/_rels/slide38.xml.rels><?xml version="1.0" encoding="UTF-8" standalone="yes"?>
<Relationships xmlns="http://schemas.openxmlformats.org/package/2006/relationships"><Relationship Id="rId8" Type="http://schemas.openxmlformats.org/officeDocument/2006/relationships/customXml" Target="../ink/ink5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57.xml"/><Relationship Id="rId5" Type="http://schemas.openxmlformats.org/officeDocument/2006/relationships/image" Target="../media/image37.png"/><Relationship Id="rId4" Type="http://schemas.openxmlformats.org/officeDocument/2006/relationships/customXml" Target="../ink/ink56.xml"/><Relationship Id="rId9"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customXml" Target="../ink/ink62.xml"/><Relationship Id="rId3" Type="http://schemas.openxmlformats.org/officeDocument/2006/relationships/image" Target="../media/image36.png"/><Relationship Id="rId7" Type="http://schemas.openxmlformats.org/officeDocument/2006/relationships/image" Target="../media/image48.png"/><Relationship Id="rId2" Type="http://schemas.openxmlformats.org/officeDocument/2006/relationships/customXml" Target="../ink/ink59.xml"/><Relationship Id="rId1" Type="http://schemas.openxmlformats.org/officeDocument/2006/relationships/slideLayout" Target="../slideLayouts/slideLayout2.xml"/><Relationship Id="rId6" Type="http://schemas.openxmlformats.org/officeDocument/2006/relationships/customXml" Target="../ink/ink61.xml"/><Relationship Id="rId5" Type="http://schemas.openxmlformats.org/officeDocument/2006/relationships/image" Target="../media/image47.png"/><Relationship Id="rId4" Type="http://schemas.openxmlformats.org/officeDocument/2006/relationships/customXml" Target="../ink/ink60.xml"/><Relationship Id="rId9"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63.xml"/><Relationship Id="rId1" Type="http://schemas.openxmlformats.org/officeDocument/2006/relationships/slideLayout" Target="../slideLayouts/slideLayout2.xml"/><Relationship Id="rId4" Type="http://schemas.openxmlformats.org/officeDocument/2006/relationships/customXml" Target="../ink/ink64.xml"/></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65.xml"/><Relationship Id="rId1" Type="http://schemas.openxmlformats.org/officeDocument/2006/relationships/slideLayout" Target="../slideLayouts/slideLayout2.xml"/><Relationship Id="rId4" Type="http://schemas.openxmlformats.org/officeDocument/2006/relationships/customXml" Target="../ink/ink66.xml"/></Relationships>
</file>

<file path=ppt/slides/_rels/slide4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67.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68.xml"/></Relationships>
</file>

<file path=ppt/slides/_rels/slide4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69.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70.xml"/></Relationships>
</file>

<file path=ppt/slides/_rels/slide4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71.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6.png"/><Relationship Id="rId4" Type="http://schemas.openxmlformats.org/officeDocument/2006/relationships/customXml" Target="../ink/ink72.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73.xml"/><Relationship Id="rId1" Type="http://schemas.openxmlformats.org/officeDocument/2006/relationships/slideLayout" Target="../slideLayouts/slideLayout2.xml"/><Relationship Id="rId4" Type="http://schemas.openxmlformats.org/officeDocument/2006/relationships/customXml" Target="../ink/ink74.xml"/></Relationships>
</file>

<file path=ppt/slides/_rels/slide4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customXml" Target="../ink/ink75.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customXml" Target="../ink/ink76.xml"/></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77.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customXml" Target="../ink/ink78.xml"/></Relationships>
</file>

<file path=ppt/slides/_rels/slide4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79.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80.png"/><Relationship Id="rId4" Type="http://schemas.openxmlformats.org/officeDocument/2006/relationships/customXml" Target="../ink/ink80.xml"/></Relationships>
</file>

<file path=ppt/slides/_rels/slide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81.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80.png"/><Relationship Id="rId4" Type="http://schemas.openxmlformats.org/officeDocument/2006/relationships/customXml" Target="../ink/ink82.xml"/></Relationships>
</file>

<file path=ppt/slides/_rels/slide5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20.png"/><Relationship Id="rId4" Type="http://schemas.openxmlformats.org/officeDocument/2006/relationships/customXml" Target="../ink/ink84.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85.xml"/><Relationship Id="rId1" Type="http://schemas.openxmlformats.org/officeDocument/2006/relationships/slideLayout" Target="../slideLayouts/slideLayout2.xml"/><Relationship Id="rId4" Type="http://schemas.openxmlformats.org/officeDocument/2006/relationships/customXml" Target="../ink/ink86.xml"/></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87.xml"/><Relationship Id="rId1" Type="http://schemas.openxmlformats.org/officeDocument/2006/relationships/slideLayout" Target="../slideLayouts/slideLayout2.xml"/><Relationship Id="rId4" Type="http://schemas.openxmlformats.org/officeDocument/2006/relationships/customXml" Target="../ink/ink88.xml"/></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89.xml"/><Relationship Id="rId1" Type="http://schemas.openxmlformats.org/officeDocument/2006/relationships/slideLayout" Target="../slideLayouts/slideLayout2.xml"/><Relationship Id="rId4" Type="http://schemas.openxmlformats.org/officeDocument/2006/relationships/customXml" Target="../ink/ink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11</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958E8-6553-6846-4A14-22724CEEB930}"/>
              </a:ext>
            </a:extLst>
          </p:cNvPr>
          <p:cNvSpPr>
            <a:spLocks noGrp="1"/>
          </p:cNvSpPr>
          <p:nvPr>
            <p:ph type="title"/>
          </p:nvPr>
        </p:nvSpPr>
        <p:spPr/>
        <p:txBody>
          <a:bodyPr>
            <a:normAutofit fontScale="90000"/>
          </a:bodyPr>
          <a:lstStyle/>
          <a:p>
            <a:r>
              <a:rPr lang="en-US" dirty="0"/>
              <a:t>Lab #5: Jaccard similarity</a:t>
            </a:r>
          </a:p>
        </p:txBody>
      </p:sp>
      <p:sp>
        <p:nvSpPr>
          <p:cNvPr id="3" name="Content Placeholder 2">
            <a:extLst>
              <a:ext uri="{FF2B5EF4-FFF2-40B4-BE49-F238E27FC236}">
                <a16:creationId xmlns:a16="http://schemas.microsoft.com/office/drawing/2014/main" id="{15BAB270-8CBA-89C2-3120-EF8B9E1726C7}"/>
              </a:ext>
            </a:extLst>
          </p:cNvPr>
          <p:cNvSpPr>
            <a:spLocks noGrp="1"/>
          </p:cNvSpPr>
          <p:nvPr>
            <p:ph idx="1"/>
          </p:nvPr>
        </p:nvSpPr>
        <p:spPr>
          <a:xfrm>
            <a:off x="598620" y="1596540"/>
            <a:ext cx="10972800" cy="5261460"/>
          </a:xfrm>
        </p:spPr>
        <p:txBody>
          <a:bodyPr>
            <a:normAutofit fontScale="70000" lnSpcReduction="20000"/>
          </a:bodyPr>
          <a:lstStyle/>
          <a:p>
            <a:r>
              <a:rPr lang="en-US" dirty="0"/>
              <a:t>In this lab assignment you will write set of functions to compute Jaccard similarity between genomes based on comparison of their fixed size sketches. Due November 10</a:t>
            </a:r>
            <a:r>
              <a:rPr lang="en-US" baseline="30000" dirty="0"/>
              <a:t>th</a:t>
            </a:r>
            <a:r>
              <a:rPr lang="en-US" dirty="0"/>
              <a:t> at 8:00pm</a:t>
            </a:r>
          </a:p>
          <a:p>
            <a:r>
              <a:rPr lang="en-US" dirty="0"/>
              <a:t>The goal is to write a Python script named </a:t>
            </a:r>
            <a:r>
              <a:rPr lang="en-US" b="1" dirty="0"/>
              <a:t>jaccard.py</a:t>
            </a:r>
            <a:r>
              <a:rPr lang="en-US" dirty="0"/>
              <a:t> containing the following functions:</a:t>
            </a:r>
          </a:p>
          <a:p>
            <a:pPr lvl="1"/>
            <a:r>
              <a:rPr lang="en-US" i="1" dirty="0" err="1"/>
              <a:t>reverse_complement</a:t>
            </a:r>
            <a:r>
              <a:rPr lang="en-US" i="1" dirty="0"/>
              <a:t>(seq): </a:t>
            </a:r>
            <a:r>
              <a:rPr lang="en-US" dirty="0"/>
              <a:t>returns reverse complement of sequence seq; </a:t>
            </a:r>
            <a:r>
              <a:rPr lang="en-US" u="sng" dirty="0"/>
              <a:t>reuse this function from Lab #2</a:t>
            </a:r>
            <a:r>
              <a:rPr lang="en-US" dirty="0"/>
              <a:t>.</a:t>
            </a:r>
          </a:p>
          <a:p>
            <a:pPr lvl="1"/>
            <a:r>
              <a:rPr lang="en-US" i="1" dirty="0" err="1"/>
              <a:t>compute_num_value</a:t>
            </a:r>
            <a:r>
              <a:rPr lang="en-US" i="1" dirty="0"/>
              <a:t> (seq): </a:t>
            </a:r>
            <a:r>
              <a:rPr lang="en-US" dirty="0"/>
              <a:t>returns minimum numerical value between forward and reverse versions of the sequence </a:t>
            </a:r>
            <a:r>
              <a:rPr lang="en-US" i="1" dirty="0"/>
              <a:t>seq</a:t>
            </a:r>
            <a:r>
              <a:rPr lang="en-US" dirty="0"/>
              <a:t>; </a:t>
            </a:r>
            <a:r>
              <a:rPr lang="en-US" u="sng" dirty="0"/>
              <a:t>reuse this function from Lab #2</a:t>
            </a:r>
            <a:r>
              <a:rPr lang="en-US" dirty="0"/>
              <a:t>.</a:t>
            </a:r>
          </a:p>
          <a:p>
            <a:pPr lvl="1"/>
            <a:r>
              <a:rPr lang="en-US" dirty="0"/>
              <a:t>(G:30pt,U:30pt) </a:t>
            </a:r>
            <a:r>
              <a:rPr lang="en-US" i="1" dirty="0" err="1"/>
              <a:t>load_fasta_to_dict</a:t>
            </a:r>
            <a:r>
              <a:rPr lang="en-US" i="1" dirty="0"/>
              <a:t>(</a:t>
            </a:r>
            <a:r>
              <a:rPr lang="en-US" i="1" dirty="0" err="1"/>
              <a:t>fasta_path</a:t>
            </a:r>
            <a:r>
              <a:rPr lang="en-US" i="1" dirty="0"/>
              <a:t>): </a:t>
            </a:r>
            <a:r>
              <a:rPr lang="en-US" dirty="0"/>
              <a:t>parses fasta file </a:t>
            </a:r>
            <a:r>
              <a:rPr lang="en-US" i="1" dirty="0" err="1"/>
              <a:t>fasta_path</a:t>
            </a:r>
            <a:r>
              <a:rPr lang="en-US" i="1" dirty="0"/>
              <a:t> </a:t>
            </a:r>
            <a:r>
              <a:rPr lang="en-US" dirty="0"/>
              <a:t>and returns a dictionary where keys are names of fasta sequences, and values are the genome sequences</a:t>
            </a:r>
          </a:p>
          <a:p>
            <a:pPr lvl="1"/>
            <a:r>
              <a:rPr lang="en-US" dirty="0"/>
              <a:t>(G:30pt,U:30pt) </a:t>
            </a:r>
            <a:r>
              <a:rPr lang="en-US" i="1" dirty="0" err="1"/>
              <a:t>compute_sketch</a:t>
            </a:r>
            <a:r>
              <a:rPr lang="en-US" i="1" dirty="0"/>
              <a:t>(</a:t>
            </a:r>
            <a:r>
              <a:rPr lang="en-US" i="1" dirty="0" err="1"/>
              <a:t>seq_dict,k,s</a:t>
            </a:r>
            <a:r>
              <a:rPr lang="en-US" i="1" dirty="0"/>
              <a:t>): </a:t>
            </a:r>
            <a:r>
              <a:rPr lang="en-US" dirty="0"/>
              <a:t>returns a sketch, which is an array of </a:t>
            </a:r>
            <a:r>
              <a:rPr lang="en-US" i="1" dirty="0"/>
              <a:t>s</a:t>
            </a:r>
            <a:r>
              <a:rPr lang="en-US" dirty="0"/>
              <a:t> smallest distinct integer k-</a:t>
            </a:r>
            <a:r>
              <a:rPr lang="en-US" dirty="0" err="1"/>
              <a:t>mer</a:t>
            </a:r>
            <a:r>
              <a:rPr lang="en-US" dirty="0"/>
              <a:t> values sorted from </a:t>
            </a:r>
            <a:r>
              <a:rPr lang="en-US" b="1" dirty="0"/>
              <a:t>smallest to largest</a:t>
            </a:r>
            <a:r>
              <a:rPr lang="en-US" dirty="0"/>
              <a:t> for all k-</a:t>
            </a:r>
            <a:r>
              <a:rPr lang="en-US" dirty="0" err="1"/>
              <a:t>mers</a:t>
            </a:r>
            <a:r>
              <a:rPr lang="en-US" dirty="0"/>
              <a:t> of size </a:t>
            </a:r>
            <a:r>
              <a:rPr lang="en-US" i="1" dirty="0"/>
              <a:t>k</a:t>
            </a:r>
            <a:r>
              <a:rPr lang="en-US" dirty="0"/>
              <a:t> in all genome sequences in </a:t>
            </a:r>
            <a:r>
              <a:rPr lang="en-US" i="1" dirty="0" err="1"/>
              <a:t>seq_dict</a:t>
            </a:r>
            <a:endParaRPr lang="en-US" i="1" dirty="0"/>
          </a:p>
          <a:p>
            <a:pPr lvl="1"/>
            <a:r>
              <a:rPr lang="en-US" dirty="0"/>
              <a:t>(G:30pt,U:40pt) </a:t>
            </a:r>
            <a:r>
              <a:rPr lang="en-US" i="1" dirty="0" err="1"/>
              <a:t>compare_sketches</a:t>
            </a:r>
            <a:r>
              <a:rPr lang="en-US" i="1" dirty="0"/>
              <a:t>(sketch1,sketch2,s): </a:t>
            </a:r>
            <a:r>
              <a:rPr lang="en-US" dirty="0"/>
              <a:t>computes Jaccard similarity for sketches </a:t>
            </a:r>
            <a:r>
              <a:rPr lang="en-US" i="1" dirty="0"/>
              <a:t>sketch1</a:t>
            </a:r>
            <a:r>
              <a:rPr lang="en-US" dirty="0"/>
              <a:t> and </a:t>
            </a:r>
            <a:r>
              <a:rPr lang="en-US" i="1" dirty="0"/>
              <a:t>sketch2</a:t>
            </a:r>
            <a:r>
              <a:rPr lang="en-US" dirty="0"/>
              <a:t> of size </a:t>
            </a:r>
            <a:r>
              <a:rPr lang="en-US" i="1" dirty="0"/>
              <a:t>s, </a:t>
            </a:r>
            <a:r>
              <a:rPr lang="en-US" dirty="0"/>
              <a:t>returns a floating-point number between 0 and 1</a:t>
            </a:r>
            <a:r>
              <a:rPr lang="en-US" i="1" dirty="0"/>
              <a:t>.</a:t>
            </a:r>
          </a:p>
          <a:p>
            <a:r>
              <a:rPr lang="en-US" dirty="0"/>
              <a:t>Graduate students only: (10pt) download two HIV virus sequences from NCBI: accessions GCA_003109165.1 and GCA_003109225.1; use s=20, vary K from 6 to 101, plot Jaccard(K,s).  At what value of K Jaccard similarity becomes equal to 0? Upload a figure containing plot of Jaccard(K,s) as function of K. Add a box with value of K’ where Jaccard (K’,20)==0</a:t>
            </a:r>
          </a:p>
        </p:txBody>
      </p:sp>
      <p:sp>
        <p:nvSpPr>
          <p:cNvPr id="4" name="Slide Number Placeholder 3">
            <a:extLst>
              <a:ext uri="{FF2B5EF4-FFF2-40B4-BE49-F238E27FC236}">
                <a16:creationId xmlns:a16="http://schemas.microsoft.com/office/drawing/2014/main" id="{72CAADF0-F1F7-C3B8-ED06-EFFA1A9808E4}"/>
              </a:ext>
            </a:extLst>
          </p:cNvPr>
          <p:cNvSpPr>
            <a:spLocks noGrp="1"/>
          </p:cNvSpPr>
          <p:nvPr>
            <p:ph type="sldNum" sz="quarter" idx="12"/>
          </p:nvPr>
        </p:nvSpPr>
        <p:spPr/>
        <p:txBody>
          <a:bodyPr/>
          <a:lstStyle/>
          <a:p>
            <a:fld id="{B82CCC60-E8CD-4174-8B1A-7DF615B22EEF}" type="slidenum">
              <a:rPr lang="en-US" smtClean="0"/>
              <a:pPr/>
              <a:t>2</a:t>
            </a:fld>
            <a:endParaRPr lang="en-US" dirty="0"/>
          </a:p>
        </p:txBody>
      </p:sp>
    </p:spTree>
    <p:extLst>
      <p:ext uri="{BB962C8B-B14F-4D97-AF65-F5344CB8AC3E}">
        <p14:creationId xmlns:p14="http://schemas.microsoft.com/office/powerpoint/2010/main" val="1812347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a:t>Jaccard similarity </a:t>
            </a:r>
            <a:r>
              <a:rPr lang="en-US" dirty="0"/>
              <a:t>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993AB-6DE7-8285-E0AC-5F1A18195D13}"/>
              </a:ext>
            </a:extLst>
          </p:cNvPr>
          <p:cNvSpPr>
            <a:spLocks noGrp="1"/>
          </p:cNvSpPr>
          <p:nvPr>
            <p:ph type="title"/>
          </p:nvPr>
        </p:nvSpPr>
        <p:spPr/>
        <p:txBody>
          <a:bodyPr>
            <a:normAutofit fontScale="90000"/>
          </a:bodyPr>
          <a:lstStyle/>
          <a:p>
            <a:r>
              <a:rPr lang="en-US" i="1" dirty="0"/>
              <a:t>Ab initio </a:t>
            </a:r>
            <a:r>
              <a:rPr lang="en-US" dirty="0"/>
              <a:t>gene finding</a:t>
            </a:r>
          </a:p>
        </p:txBody>
      </p:sp>
      <p:sp>
        <p:nvSpPr>
          <p:cNvPr id="3" name="Content Placeholder 2">
            <a:extLst>
              <a:ext uri="{FF2B5EF4-FFF2-40B4-BE49-F238E27FC236}">
                <a16:creationId xmlns:a16="http://schemas.microsoft.com/office/drawing/2014/main" id="{37266C4B-003F-16DC-7AF5-AFA961D396B3}"/>
              </a:ext>
            </a:extLst>
          </p:cNvPr>
          <p:cNvSpPr>
            <a:spLocks noGrp="1"/>
          </p:cNvSpPr>
          <p:nvPr>
            <p:ph idx="1"/>
          </p:nvPr>
        </p:nvSpPr>
        <p:spPr>
          <a:xfrm>
            <a:off x="598620" y="1596540"/>
            <a:ext cx="10972800" cy="4759811"/>
          </a:xfrm>
        </p:spPr>
        <p:txBody>
          <a:bodyPr>
            <a:normAutofit fontScale="92500"/>
          </a:bodyPr>
          <a:lstStyle/>
          <a:p>
            <a:r>
              <a:rPr lang="en-US" dirty="0"/>
              <a:t>Transcriptome sequencing data does not provide comprehensive picture of expression – not all transcripts are expressed in all cells at the same time:  </a:t>
            </a:r>
          </a:p>
          <a:p>
            <a:pPr lvl="1"/>
            <a:r>
              <a:rPr lang="en-US" dirty="0"/>
              <a:t>Sequence many different cells under many conditions (expensive)</a:t>
            </a:r>
          </a:p>
          <a:p>
            <a:pPr lvl="1"/>
            <a:r>
              <a:rPr lang="en-US" dirty="0"/>
              <a:t>Supplement transcriptome sequencing data with an </a:t>
            </a:r>
            <a:r>
              <a:rPr lang="en-US" i="1" dirty="0"/>
              <a:t>ab initio </a:t>
            </a:r>
            <a:r>
              <a:rPr lang="en-US" dirty="0"/>
              <a:t>gene finding algorithm to find transcripts that a not expressed</a:t>
            </a:r>
          </a:p>
          <a:p>
            <a:r>
              <a:rPr lang="en-US" dirty="0"/>
              <a:t>Assembled transcripts have errors: </a:t>
            </a:r>
          </a:p>
          <a:p>
            <a:pPr lvl="1"/>
            <a:r>
              <a:rPr lang="en-US" dirty="0"/>
              <a:t>Use machine learning algorithms to detect errors in assembled transcripts</a:t>
            </a:r>
          </a:p>
          <a:p>
            <a:r>
              <a:rPr lang="en-US" dirty="0"/>
              <a:t>Machine learning:</a:t>
            </a:r>
          </a:p>
          <a:p>
            <a:pPr lvl="1"/>
            <a:r>
              <a:rPr lang="en-US" dirty="0"/>
              <a:t>Positional Weights/Markov chain/Hidden Markov Models</a:t>
            </a:r>
          </a:p>
          <a:p>
            <a:pPr lvl="1"/>
            <a:r>
              <a:rPr lang="en-US" dirty="0"/>
              <a:t>Deep Learning Neural Networks</a:t>
            </a:r>
          </a:p>
          <a:p>
            <a:pPr lvl="1"/>
            <a:endParaRPr lang="en-US" dirty="0"/>
          </a:p>
        </p:txBody>
      </p:sp>
      <p:sp>
        <p:nvSpPr>
          <p:cNvPr id="4" name="Slide Number Placeholder 3">
            <a:extLst>
              <a:ext uri="{FF2B5EF4-FFF2-40B4-BE49-F238E27FC236}">
                <a16:creationId xmlns:a16="http://schemas.microsoft.com/office/drawing/2014/main" id="{D2B4308B-AFA2-E9DC-AA64-E27C6EAAE005}"/>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76329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5A960-9AED-42DD-A4CE-32DEB70A2854}"/>
              </a:ext>
            </a:extLst>
          </p:cNvPr>
          <p:cNvSpPr>
            <a:spLocks noGrp="1"/>
          </p:cNvSpPr>
          <p:nvPr>
            <p:ph type="title"/>
          </p:nvPr>
        </p:nvSpPr>
        <p:spPr/>
        <p:txBody>
          <a:bodyPr>
            <a:normAutofit fontScale="90000"/>
          </a:bodyPr>
          <a:lstStyle/>
          <a:p>
            <a:r>
              <a:rPr lang="en-US" dirty="0"/>
              <a:t>Machine learning algorithms</a:t>
            </a:r>
          </a:p>
        </p:txBody>
      </p:sp>
      <p:sp>
        <p:nvSpPr>
          <p:cNvPr id="3" name="Content Placeholder 2">
            <a:extLst>
              <a:ext uri="{FF2B5EF4-FFF2-40B4-BE49-F238E27FC236}">
                <a16:creationId xmlns:a16="http://schemas.microsoft.com/office/drawing/2014/main" id="{5387AFB0-4CD4-49AE-5635-A884EF4A400C}"/>
              </a:ext>
            </a:extLst>
          </p:cNvPr>
          <p:cNvSpPr>
            <a:spLocks noGrp="1"/>
          </p:cNvSpPr>
          <p:nvPr>
            <p:ph idx="1"/>
          </p:nvPr>
        </p:nvSpPr>
        <p:spPr>
          <a:xfrm>
            <a:off x="598620" y="1596540"/>
            <a:ext cx="10972800" cy="4818774"/>
          </a:xfrm>
        </p:spPr>
        <p:txBody>
          <a:bodyPr>
            <a:normAutofit/>
          </a:bodyPr>
          <a:lstStyle/>
          <a:p>
            <a:r>
              <a:rPr lang="en-US" dirty="0"/>
              <a:t>Protein coding and non-coding sequences have different patterns of letters</a:t>
            </a:r>
          </a:p>
          <a:p>
            <a:r>
              <a:rPr lang="en-US" dirty="0"/>
              <a:t>Spliceosome does not just cut out introns at GT-AG, it recognizes longer patterns around splice sites</a:t>
            </a:r>
          </a:p>
          <a:p>
            <a:r>
              <a:rPr lang="en-US" dirty="0"/>
              <a:t>We can look for the patterns with </a:t>
            </a:r>
            <a:r>
              <a:rPr lang="en-US" i="1" dirty="0"/>
              <a:t>machine learning </a:t>
            </a:r>
            <a:r>
              <a:rPr lang="en-US" dirty="0"/>
              <a:t>algorithms</a:t>
            </a:r>
          </a:p>
          <a:p>
            <a:r>
              <a:rPr lang="en-US" dirty="0"/>
              <a:t>We can model and test the patterns with:</a:t>
            </a:r>
          </a:p>
          <a:p>
            <a:pPr lvl="1"/>
            <a:r>
              <a:rPr lang="en-US" dirty="0"/>
              <a:t>Positional Probabilities or Positional Weights</a:t>
            </a:r>
          </a:p>
          <a:p>
            <a:pPr lvl="1"/>
            <a:r>
              <a:rPr lang="en-US" dirty="0"/>
              <a:t>Markov chains</a:t>
            </a:r>
          </a:p>
          <a:p>
            <a:pPr lvl="1"/>
            <a:r>
              <a:rPr lang="en-US" dirty="0"/>
              <a:t>Hidden Markov Models</a:t>
            </a:r>
          </a:p>
        </p:txBody>
      </p:sp>
      <p:sp>
        <p:nvSpPr>
          <p:cNvPr id="4" name="Slide Number Placeholder 3">
            <a:extLst>
              <a:ext uri="{FF2B5EF4-FFF2-40B4-BE49-F238E27FC236}">
                <a16:creationId xmlns:a16="http://schemas.microsoft.com/office/drawing/2014/main" id="{C00C02BC-5B68-B2F7-B466-6A9EF3BC48AA}"/>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523482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57A19-48C7-CAB5-3B42-7AC453F63A94}"/>
              </a:ext>
            </a:extLst>
          </p:cNvPr>
          <p:cNvSpPr>
            <a:spLocks noGrp="1"/>
          </p:cNvSpPr>
          <p:nvPr>
            <p:ph type="title"/>
          </p:nvPr>
        </p:nvSpPr>
        <p:spPr/>
        <p:txBody>
          <a:bodyPr>
            <a:normAutofit fontScale="90000"/>
          </a:bodyPr>
          <a:lstStyle/>
          <a:p>
            <a:r>
              <a:rPr lang="en-US" dirty="0"/>
              <a:t>Markov chains and HMMs</a:t>
            </a:r>
          </a:p>
        </p:txBody>
      </p:sp>
      <p:sp>
        <p:nvSpPr>
          <p:cNvPr id="3" name="Content Placeholder 2">
            <a:extLst>
              <a:ext uri="{FF2B5EF4-FFF2-40B4-BE49-F238E27FC236}">
                <a16:creationId xmlns:a16="http://schemas.microsoft.com/office/drawing/2014/main" id="{0ED79247-BA8E-D544-D04F-7E5DFFA98AC1}"/>
              </a:ext>
            </a:extLst>
          </p:cNvPr>
          <p:cNvSpPr>
            <a:spLocks noGrp="1"/>
          </p:cNvSpPr>
          <p:nvPr>
            <p:ph idx="1"/>
          </p:nvPr>
        </p:nvSpPr>
        <p:spPr>
          <a:xfrm>
            <a:off x="598620" y="1596540"/>
            <a:ext cx="10972800" cy="5124936"/>
          </a:xfrm>
        </p:spPr>
        <p:txBody>
          <a:bodyPr>
            <a:normAutofit fontScale="92500" lnSpcReduction="10000"/>
          </a:bodyPr>
          <a:lstStyle/>
          <a:p>
            <a:r>
              <a:rPr lang="en-US" dirty="0"/>
              <a:t>We can use Positional Probabilities and Markov chains to test whether the sequence patterns around features (such as splice sites GT-AG) correspond to what is expected, which allows us to:</a:t>
            </a:r>
          </a:p>
          <a:p>
            <a:pPr lvl="1"/>
            <a:r>
              <a:rPr lang="en-US" dirty="0"/>
              <a:t>Look for new features</a:t>
            </a:r>
          </a:p>
          <a:p>
            <a:pPr lvl="1"/>
            <a:r>
              <a:rPr lang="en-US" dirty="0"/>
              <a:t>Test for correctness of existing features obtained from the data </a:t>
            </a:r>
          </a:p>
          <a:p>
            <a:pPr lvl="1"/>
            <a:endParaRPr lang="en-US" dirty="0"/>
          </a:p>
          <a:p>
            <a:r>
              <a:rPr lang="en-US" dirty="0"/>
              <a:t>We will consider application of Positional Probabilities and Markov chains to splice site prediction/validation</a:t>
            </a:r>
          </a:p>
          <a:p>
            <a:pPr lvl="1"/>
            <a:endParaRPr lang="en-US" dirty="0"/>
          </a:p>
          <a:p>
            <a:pPr lvl="1"/>
            <a:endParaRPr lang="en-US" dirty="0"/>
          </a:p>
          <a:p>
            <a:r>
              <a:rPr lang="en-US" dirty="0"/>
              <a:t>We can use HMMs to locate regions of sequence that appear to have different properties (coding vs. non-coding)</a:t>
            </a:r>
          </a:p>
        </p:txBody>
      </p:sp>
      <p:sp>
        <p:nvSpPr>
          <p:cNvPr id="4" name="Slide Number Placeholder 3">
            <a:extLst>
              <a:ext uri="{FF2B5EF4-FFF2-40B4-BE49-F238E27FC236}">
                <a16:creationId xmlns:a16="http://schemas.microsoft.com/office/drawing/2014/main" id="{616BFD11-A455-A3DA-E0EB-606C7312724E}"/>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1972945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478C-A1A6-A881-3E93-A5E9BCEA964D}"/>
              </a:ext>
            </a:extLst>
          </p:cNvPr>
          <p:cNvSpPr>
            <a:spLocks noGrp="1"/>
          </p:cNvSpPr>
          <p:nvPr>
            <p:ph type="title"/>
          </p:nvPr>
        </p:nvSpPr>
        <p:spPr/>
        <p:txBody>
          <a:bodyPr>
            <a:normAutofit fontScale="90000"/>
          </a:bodyPr>
          <a:lstStyle/>
          <a:p>
            <a:r>
              <a:rPr lang="en-US" dirty="0"/>
              <a:t>Positional Probabilities</a:t>
            </a:r>
          </a:p>
        </p:txBody>
      </p:sp>
      <p:sp>
        <p:nvSpPr>
          <p:cNvPr id="3" name="Content Placeholder 2">
            <a:extLst>
              <a:ext uri="{FF2B5EF4-FFF2-40B4-BE49-F238E27FC236}">
                <a16:creationId xmlns:a16="http://schemas.microsoft.com/office/drawing/2014/main" id="{E9B67138-D3D4-43B0-3585-B216DBAF8B65}"/>
              </a:ext>
            </a:extLst>
          </p:cNvPr>
          <p:cNvSpPr>
            <a:spLocks noGrp="1"/>
          </p:cNvSpPr>
          <p:nvPr>
            <p:ph idx="1"/>
          </p:nvPr>
        </p:nvSpPr>
        <p:spPr/>
        <p:txBody>
          <a:bodyPr/>
          <a:lstStyle/>
          <a:p>
            <a:r>
              <a:rPr lang="en-US" dirty="0"/>
              <a:t>Positional probabilities is the most straightforward approach to detecting and testing sequence patterns</a:t>
            </a:r>
          </a:p>
          <a:p>
            <a:endParaRPr lang="en-US" dirty="0"/>
          </a:p>
          <a:p>
            <a:r>
              <a:rPr lang="en-US" dirty="0"/>
              <a:t>Positional probabilities simply quantify the probabilities of observing A,C,G,T at a certain location in genomic sequence</a:t>
            </a:r>
          </a:p>
        </p:txBody>
      </p:sp>
      <p:sp>
        <p:nvSpPr>
          <p:cNvPr id="4" name="Slide Number Placeholder 3">
            <a:extLst>
              <a:ext uri="{FF2B5EF4-FFF2-40B4-BE49-F238E27FC236}">
                <a16:creationId xmlns:a16="http://schemas.microsoft.com/office/drawing/2014/main" id="{1F8320E1-589A-B943-7021-B704A264BE31}"/>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188844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1159-66B4-F802-51EF-D98F37AD60D7}"/>
              </a:ext>
            </a:extLst>
          </p:cNvPr>
          <p:cNvSpPr>
            <a:spLocks noGrp="1"/>
          </p:cNvSpPr>
          <p:nvPr>
            <p:ph type="title"/>
          </p:nvPr>
        </p:nvSpPr>
        <p:spPr/>
        <p:txBody>
          <a:bodyPr>
            <a:normAutofit fontScale="90000"/>
          </a:bodyPr>
          <a:lstStyle/>
          <a:p>
            <a:r>
              <a:rPr lang="en-US" dirty="0"/>
              <a:t>Positional Probabilities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685EC-5ECB-37DE-E37B-36FD6BAC8698}"/>
                  </a:ext>
                </a:extLst>
              </p:cNvPr>
              <p:cNvSpPr>
                <a:spLocks noGrp="1"/>
              </p:cNvSpPr>
              <p:nvPr>
                <p:ph idx="1"/>
              </p:nvPr>
            </p:nvSpPr>
            <p:spPr>
              <a:xfrm>
                <a:off x="598620" y="1596540"/>
                <a:ext cx="9561380" cy="4448125"/>
              </a:xfrm>
            </p:spPr>
            <p:txBody>
              <a:bodyPr>
                <a:normAutofit lnSpcReduction="10000"/>
              </a:bodyPr>
              <a:lstStyle/>
              <a:p>
                <a:r>
                  <a:rPr lang="en-US" dirty="0"/>
                  <a:t>We can use known high-confidence splice sites in the annotation to compute Positional Probabilities:</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e>
                    </m:nary>
                  </m:oMath>
                </a14:m>
                <a:br>
                  <a:rPr lang="en-US" dirty="0"/>
                </a:br>
                <a:r>
                  <a:rPr lang="en-US" dirty="0"/>
                  <a:t>,where </a:t>
                </a:r>
                <a:br>
                  <a:rPr lang="en-US" dirty="0"/>
                </a:br>
                <a14:m>
                  <m:oMath xmlns:m="http://schemas.openxmlformats.org/officeDocument/2006/math">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mr>
                          <m:mr>
                            <m:e>
                              <m:r>
                                <a:rPr lang="en-US" b="0"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𝑖𝑓</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mr>
                        </m:m>
                      </m:e>
                    </m:d>
                  </m:oMath>
                </a14:m>
                <a:endParaRPr lang="en-US" dirty="0"/>
              </a:p>
              <a:p>
                <a14:m>
                  <m:oMath xmlns:m="http://schemas.openxmlformats.org/officeDocument/2006/math">
                    <m:r>
                      <a:rPr lang="en-US" i="1">
                        <a:latin typeface="Cambria Math" panose="02040503050406030204" pitchFamily="18" charset="0"/>
                      </a:rPr>
                      <m:t>𝑖</m:t>
                    </m:r>
                  </m:oMath>
                </a14:m>
                <a:r>
                  <a:rPr lang="en-US" dirty="0"/>
                  <a:t> index goes over all letters in the alphabet (A,C,G,T), </a:t>
                </a:r>
                <a14:m>
                  <m:oMath xmlns:m="http://schemas.openxmlformats.org/officeDocument/2006/math">
                    <m:r>
                      <a:rPr lang="en-US" b="0" i="1" smtClean="0">
                        <a:latin typeface="Cambria Math" panose="02040503050406030204" pitchFamily="18" charset="0"/>
                        <a:ea typeface="Cambria Math" panose="02040503050406030204" pitchFamily="18" charset="0"/>
                      </a:rPr>
                      <m:t>𝑗</m:t>
                    </m:r>
                  </m:oMath>
                </a14:m>
                <a:r>
                  <a:rPr lang="en-US" dirty="0"/>
                  <a:t> index goes over positions within splice site</a:t>
                </a:r>
              </a:p>
            </p:txBody>
          </p:sp>
        </mc:Choice>
        <mc:Fallback xmlns="">
          <p:sp>
            <p:nvSpPr>
              <p:cNvPr id="3" name="Content Placeholder 2">
                <a:extLst>
                  <a:ext uri="{FF2B5EF4-FFF2-40B4-BE49-F238E27FC236}">
                    <a16:creationId xmlns:a16="http://schemas.microsoft.com/office/drawing/2014/main" id="{23E685EC-5ECB-37DE-E37B-36FD6BAC8698}"/>
                  </a:ext>
                </a:extLst>
              </p:cNvPr>
              <p:cNvSpPr>
                <a:spLocks noGrp="1" noRot="1" noChangeAspect="1" noMove="1" noResize="1" noEditPoints="1" noAdjustHandles="1" noChangeArrowheads="1" noChangeShapeType="1" noTextEdit="1"/>
              </p:cNvSpPr>
              <p:nvPr>
                <p:ph idx="1"/>
              </p:nvPr>
            </p:nvSpPr>
            <p:spPr>
              <a:xfrm>
                <a:off x="598620" y="1596540"/>
                <a:ext cx="9561380" cy="4448125"/>
              </a:xfrm>
              <a:blipFill>
                <a:blip r:embed="rId2"/>
                <a:stretch>
                  <a:fillRect l="-1147" t="-23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CFB723E-C021-7BCC-FD79-03C15E55AAB4}"/>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5" name="Picture 4">
            <a:extLst>
              <a:ext uri="{FF2B5EF4-FFF2-40B4-BE49-F238E27FC236}">
                <a16:creationId xmlns:a16="http://schemas.microsoft.com/office/drawing/2014/main" id="{8983FC08-85E5-49C2-8474-E4B32F15F185}"/>
              </a:ext>
            </a:extLst>
          </p:cNvPr>
          <p:cNvPicPr>
            <a:picLocks noChangeAspect="1"/>
          </p:cNvPicPr>
          <p:nvPr/>
        </p:nvPicPr>
        <p:blipFill>
          <a:blip r:embed="rId3"/>
          <a:stretch>
            <a:fillRect/>
          </a:stretch>
        </p:blipFill>
        <p:spPr>
          <a:xfrm>
            <a:off x="10160000" y="1546745"/>
            <a:ext cx="1474234" cy="4497920"/>
          </a:xfrm>
          <a:prstGeom prst="rect">
            <a:avLst/>
          </a:prstGeom>
        </p:spPr>
      </p:pic>
    </p:spTree>
    <p:extLst>
      <p:ext uri="{BB962C8B-B14F-4D97-AF65-F5344CB8AC3E}">
        <p14:creationId xmlns:p14="http://schemas.microsoft.com/office/powerpoint/2010/main" val="1582605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8A2FC-970A-A62F-0E5E-09E462F1A8BE}"/>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BB04FC8F-985A-EE0E-6C63-52322ABB34EB}"/>
              </a:ext>
            </a:extLst>
          </p:cNvPr>
          <p:cNvSpPr>
            <a:spLocks noGrp="1"/>
          </p:cNvSpPr>
          <p:nvPr>
            <p:ph idx="1"/>
          </p:nvPr>
        </p:nvSpPr>
        <p:spPr>
          <a:xfrm>
            <a:off x="598620" y="1596540"/>
            <a:ext cx="10972800" cy="4958264"/>
          </a:xfrm>
        </p:spPr>
        <p:txBody>
          <a:bodyPr>
            <a:normAutofit/>
          </a:bodyPr>
          <a:lstStyle/>
          <a:p>
            <a:r>
              <a:rPr lang="en-US" dirty="0"/>
              <a:t>Given DNA sequences:</a:t>
            </a:r>
          </a:p>
          <a:p>
            <a:r>
              <a:rPr lang="en-US" dirty="0"/>
              <a:t>                          The Positional Probability Matrix (PPM) is</a:t>
            </a:r>
            <a:br>
              <a:rPr lang="en-US" dirty="0"/>
            </a:br>
            <a:br>
              <a:rPr lang="en-US" dirty="0"/>
            </a:br>
            <a:br>
              <a:rPr lang="en-US" dirty="0"/>
            </a:br>
            <a:br>
              <a:rPr lang="en-US" dirty="0"/>
            </a:br>
            <a:br>
              <a:rPr lang="en-US" dirty="0"/>
            </a:br>
            <a:endParaRPr lang="en-US" dirty="0"/>
          </a:p>
          <a:p>
            <a:endParaRPr lang="en-US" dirty="0"/>
          </a:p>
          <a:p>
            <a:r>
              <a:rPr lang="en-US" dirty="0"/>
              <a:t>               Computing these probabilities from the data is the </a:t>
            </a:r>
            <a:r>
              <a:rPr lang="en-US" i="1" dirty="0"/>
              <a:t>learning</a:t>
            </a:r>
            <a:r>
              <a:rPr lang="en-US" dirty="0"/>
              <a:t> part</a:t>
            </a:r>
          </a:p>
        </p:txBody>
      </p:sp>
      <p:sp>
        <p:nvSpPr>
          <p:cNvPr id="4" name="Slide Number Placeholder 3">
            <a:extLst>
              <a:ext uri="{FF2B5EF4-FFF2-40B4-BE49-F238E27FC236}">
                <a16:creationId xmlns:a16="http://schemas.microsoft.com/office/drawing/2014/main" id="{C558075B-C6EC-878C-343C-93D1AF68D94A}"/>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6" name="Picture 5">
            <a:extLst>
              <a:ext uri="{FF2B5EF4-FFF2-40B4-BE49-F238E27FC236}">
                <a16:creationId xmlns:a16="http://schemas.microsoft.com/office/drawing/2014/main" id="{D235879F-E475-3C19-E172-10562D50147D}"/>
              </a:ext>
            </a:extLst>
          </p:cNvPr>
          <p:cNvPicPr>
            <a:picLocks noChangeAspect="1"/>
          </p:cNvPicPr>
          <p:nvPr/>
        </p:nvPicPr>
        <p:blipFill>
          <a:blip r:embed="rId2"/>
          <a:stretch>
            <a:fillRect/>
          </a:stretch>
        </p:blipFill>
        <p:spPr>
          <a:xfrm>
            <a:off x="551884" y="2140220"/>
            <a:ext cx="1474234" cy="449792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D94426F-940C-D94F-F74D-3CCFED63F8DE}"/>
                  </a:ext>
                </a:extLst>
              </p:cNvPr>
              <p:cNvSpPr txBox="1"/>
              <p:nvPr/>
            </p:nvSpPr>
            <p:spPr>
              <a:xfrm>
                <a:off x="2653953" y="3334630"/>
                <a:ext cx="1474234" cy="690895"/>
              </a:xfrm>
              <a:prstGeom prst="rect">
                <a:avLst/>
              </a:prstGeom>
              <a:noFill/>
            </p:spPr>
            <p:txBody>
              <a:bodyPr wrap="square">
                <a:spAutoFit/>
              </a:bodyPr>
              <a:lstStyle/>
              <a:p>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Sub>
                    <m:r>
                      <a:rPr lang="en-US" sz="3600" i="1" smtClean="0">
                        <a:latin typeface="Cambria Math" panose="02040503050406030204" pitchFamily="18" charset="0"/>
                      </a:rPr>
                      <m:t>=</m:t>
                    </m:r>
                  </m:oMath>
                </a14:m>
                <a:r>
                  <a:rPr lang="en-US" sz="3600" dirty="0"/>
                  <a:t> </a:t>
                </a:r>
              </a:p>
            </p:txBody>
          </p:sp>
        </mc:Choice>
        <mc:Fallback xmlns="">
          <p:sp>
            <p:nvSpPr>
              <p:cNvPr id="8" name="TextBox 7">
                <a:extLst>
                  <a:ext uri="{FF2B5EF4-FFF2-40B4-BE49-F238E27FC236}">
                    <a16:creationId xmlns:a16="http://schemas.microsoft.com/office/drawing/2014/main" id="{8D94426F-940C-D94F-F74D-3CCFED63F8DE}"/>
                  </a:ext>
                </a:extLst>
              </p:cNvPr>
              <p:cNvSpPr txBox="1">
                <a:spLocks noRot="1" noChangeAspect="1" noMove="1" noResize="1" noEditPoints="1" noAdjustHandles="1" noChangeArrowheads="1" noChangeShapeType="1" noTextEdit="1"/>
              </p:cNvSpPr>
              <p:nvPr/>
            </p:nvSpPr>
            <p:spPr>
              <a:xfrm>
                <a:off x="2653953" y="3334630"/>
                <a:ext cx="1474234" cy="690895"/>
              </a:xfrm>
              <a:prstGeom prst="rect">
                <a:avLst/>
              </a:prstGeom>
              <a:blipFill>
                <a:blip r:embed="rId3"/>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14E0D884-29BF-0786-A15C-4F3742D305CF}"/>
              </a:ext>
            </a:extLst>
          </p:cNvPr>
          <p:cNvPicPr>
            <a:picLocks noChangeAspect="1"/>
          </p:cNvPicPr>
          <p:nvPr/>
        </p:nvPicPr>
        <p:blipFill>
          <a:blip r:embed="rId4"/>
          <a:stretch>
            <a:fillRect/>
          </a:stretch>
        </p:blipFill>
        <p:spPr>
          <a:xfrm>
            <a:off x="3909624" y="2771608"/>
            <a:ext cx="7212028" cy="1816941"/>
          </a:xfrm>
          <a:prstGeom prst="rect">
            <a:avLst/>
          </a:prstGeom>
        </p:spPr>
      </p:pic>
    </p:spTree>
    <p:extLst>
      <p:ext uri="{BB962C8B-B14F-4D97-AF65-F5344CB8AC3E}">
        <p14:creationId xmlns:p14="http://schemas.microsoft.com/office/powerpoint/2010/main" val="289301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A422-EB5B-6C9F-83F4-CCA5AC38E6BB}"/>
              </a:ext>
            </a:extLst>
          </p:cNvPr>
          <p:cNvSpPr>
            <a:spLocks noGrp="1"/>
          </p:cNvSpPr>
          <p:nvPr>
            <p:ph type="title"/>
          </p:nvPr>
        </p:nvSpPr>
        <p:spPr/>
        <p:txBody>
          <a:bodyPr>
            <a:normAutofit fontScale="90000"/>
          </a:bodyPr>
          <a:lstStyle/>
          <a:p>
            <a:r>
              <a:rPr lang="en-US" dirty="0"/>
              <a:t>Splice site patterns</a:t>
            </a:r>
          </a:p>
        </p:txBody>
      </p:sp>
      <p:sp>
        <p:nvSpPr>
          <p:cNvPr id="4" name="Slide Number Placeholder 3">
            <a:extLst>
              <a:ext uri="{FF2B5EF4-FFF2-40B4-BE49-F238E27FC236}">
                <a16:creationId xmlns:a16="http://schemas.microsoft.com/office/drawing/2014/main" id="{C62F78B9-9182-E692-99AF-1FA2D9B1C388}"/>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7" name="Picture 6">
            <a:extLst>
              <a:ext uri="{FF2B5EF4-FFF2-40B4-BE49-F238E27FC236}">
                <a16:creationId xmlns:a16="http://schemas.microsoft.com/office/drawing/2014/main" id="{9403D917-D8B8-7316-1BC8-4876A096C5FB}"/>
              </a:ext>
            </a:extLst>
          </p:cNvPr>
          <p:cNvPicPr>
            <a:picLocks noChangeAspect="1"/>
          </p:cNvPicPr>
          <p:nvPr/>
        </p:nvPicPr>
        <p:blipFill>
          <a:blip r:embed="rId2"/>
          <a:stretch>
            <a:fillRect/>
          </a:stretch>
        </p:blipFill>
        <p:spPr>
          <a:xfrm>
            <a:off x="3674217" y="2006518"/>
            <a:ext cx="8437459" cy="4091344"/>
          </a:xfrm>
          <a:prstGeom prst="rect">
            <a:avLst/>
          </a:prstGeom>
        </p:spPr>
      </p:pic>
      <p:pic>
        <p:nvPicPr>
          <p:cNvPr id="9" name="Picture 8">
            <a:extLst>
              <a:ext uri="{FF2B5EF4-FFF2-40B4-BE49-F238E27FC236}">
                <a16:creationId xmlns:a16="http://schemas.microsoft.com/office/drawing/2014/main" id="{6B966AE1-796E-6EAE-1517-76D18A951198}"/>
              </a:ext>
            </a:extLst>
          </p:cNvPr>
          <p:cNvPicPr>
            <a:picLocks noChangeAspect="1"/>
          </p:cNvPicPr>
          <p:nvPr/>
        </p:nvPicPr>
        <p:blipFill>
          <a:blip r:embed="rId3"/>
          <a:stretch>
            <a:fillRect/>
          </a:stretch>
        </p:blipFill>
        <p:spPr>
          <a:xfrm>
            <a:off x="226494" y="2128063"/>
            <a:ext cx="3307736" cy="3901625"/>
          </a:xfrm>
          <a:prstGeom prst="rect">
            <a:avLst/>
          </a:prstGeom>
        </p:spPr>
      </p:pic>
      <p:pic>
        <p:nvPicPr>
          <p:cNvPr id="11" name="Picture 10">
            <a:extLst>
              <a:ext uri="{FF2B5EF4-FFF2-40B4-BE49-F238E27FC236}">
                <a16:creationId xmlns:a16="http://schemas.microsoft.com/office/drawing/2014/main" id="{FE3AD03D-16BF-6442-AF61-6D82FBBDE134}"/>
              </a:ext>
            </a:extLst>
          </p:cNvPr>
          <p:cNvPicPr>
            <a:picLocks noChangeAspect="1"/>
          </p:cNvPicPr>
          <p:nvPr/>
        </p:nvPicPr>
        <p:blipFill>
          <a:blip r:embed="rId4"/>
          <a:stretch>
            <a:fillRect/>
          </a:stretch>
        </p:blipFill>
        <p:spPr>
          <a:xfrm>
            <a:off x="8297989" y="760138"/>
            <a:ext cx="3894011" cy="1224283"/>
          </a:xfrm>
          <a:prstGeom prst="rect">
            <a:avLst/>
          </a:prstGeom>
        </p:spPr>
      </p:pic>
      <p:sp>
        <p:nvSpPr>
          <p:cNvPr id="12" name="TextBox 11">
            <a:extLst>
              <a:ext uri="{FF2B5EF4-FFF2-40B4-BE49-F238E27FC236}">
                <a16:creationId xmlns:a16="http://schemas.microsoft.com/office/drawing/2014/main" id="{AAC7C38F-A22A-D105-3E87-477459DC8AFD}"/>
              </a:ext>
            </a:extLst>
          </p:cNvPr>
          <p:cNvSpPr txBox="1"/>
          <p:nvPr/>
        </p:nvSpPr>
        <p:spPr>
          <a:xfrm>
            <a:off x="931164" y="1651700"/>
            <a:ext cx="1223861" cy="369332"/>
          </a:xfrm>
          <a:prstGeom prst="rect">
            <a:avLst/>
          </a:prstGeom>
          <a:noFill/>
        </p:spPr>
        <p:txBody>
          <a:bodyPr wrap="none" rtlCol="0">
            <a:spAutoFit/>
          </a:bodyPr>
          <a:lstStyle/>
          <a:p>
            <a:r>
              <a:rPr lang="en-US" dirty="0"/>
              <a:t>Donor (GT)</a:t>
            </a:r>
          </a:p>
        </p:txBody>
      </p:sp>
      <p:sp>
        <p:nvSpPr>
          <p:cNvPr id="13" name="TextBox 12">
            <a:extLst>
              <a:ext uri="{FF2B5EF4-FFF2-40B4-BE49-F238E27FC236}">
                <a16:creationId xmlns:a16="http://schemas.microsoft.com/office/drawing/2014/main" id="{1D9F0EAD-576D-79AD-537E-10C7899ACCEE}"/>
              </a:ext>
            </a:extLst>
          </p:cNvPr>
          <p:cNvSpPr txBox="1"/>
          <p:nvPr/>
        </p:nvSpPr>
        <p:spPr>
          <a:xfrm>
            <a:off x="6178078" y="1626138"/>
            <a:ext cx="1497398" cy="369332"/>
          </a:xfrm>
          <a:prstGeom prst="rect">
            <a:avLst/>
          </a:prstGeom>
          <a:noFill/>
        </p:spPr>
        <p:txBody>
          <a:bodyPr wrap="none" rtlCol="0">
            <a:spAutoFit/>
          </a:bodyPr>
          <a:lstStyle/>
          <a:p>
            <a:r>
              <a:rPr lang="en-US"/>
              <a:t>Acceptor (AG)</a:t>
            </a:r>
            <a:endParaRPr lang="en-US" dirty="0"/>
          </a:p>
        </p:txBody>
      </p:sp>
    </p:spTree>
    <p:extLst>
      <p:ext uri="{BB962C8B-B14F-4D97-AF65-F5344CB8AC3E}">
        <p14:creationId xmlns:p14="http://schemas.microsoft.com/office/powerpoint/2010/main" val="3059937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60D9-C78E-CB19-C14B-DD84F9C0F686}"/>
              </a:ext>
            </a:extLst>
          </p:cNvPr>
          <p:cNvSpPr>
            <a:spLocks noGrp="1"/>
          </p:cNvSpPr>
          <p:nvPr>
            <p:ph type="title"/>
          </p:nvPr>
        </p:nvSpPr>
        <p:spPr/>
        <p:txBody>
          <a:bodyPr>
            <a:normAutofit fontScale="90000"/>
          </a:bodyPr>
          <a:lstStyle/>
          <a:p>
            <a:r>
              <a:rPr lang="en-US" dirty="0"/>
              <a:t>Using PWM to evaluate pattern</a:t>
            </a:r>
          </a:p>
        </p:txBody>
      </p:sp>
      <p:sp>
        <p:nvSpPr>
          <p:cNvPr id="3" name="Content Placeholder 2">
            <a:extLst>
              <a:ext uri="{FF2B5EF4-FFF2-40B4-BE49-F238E27FC236}">
                <a16:creationId xmlns:a16="http://schemas.microsoft.com/office/drawing/2014/main" id="{CF82D7D5-8A36-45DC-A910-2A1EEAE735D1}"/>
              </a:ext>
            </a:extLst>
          </p:cNvPr>
          <p:cNvSpPr>
            <a:spLocks noGrp="1"/>
          </p:cNvSpPr>
          <p:nvPr>
            <p:ph idx="1"/>
          </p:nvPr>
        </p:nvSpPr>
        <p:spPr>
          <a:xfrm>
            <a:off x="470780" y="1596540"/>
            <a:ext cx="11100640" cy="5124936"/>
          </a:xfrm>
        </p:spPr>
        <p:txBody>
          <a:bodyPr>
            <a:normAutofit lnSpcReduction="10000"/>
          </a:bodyPr>
          <a:lstStyle/>
          <a:p>
            <a:r>
              <a:rPr lang="en-US" dirty="0"/>
              <a:t>We can calculate the probability of a sequence given a PPM, by multiplying the relevant probabilities at each position. For example, the probability of the sequence </a:t>
            </a:r>
            <a:r>
              <a:rPr lang="en-US" i="1" dirty="0"/>
              <a:t>S</a:t>
            </a:r>
            <a:r>
              <a:rPr lang="en-US" dirty="0"/>
              <a:t> = GAGGTAAAC can be calculated:</a:t>
            </a:r>
          </a:p>
          <a:p>
            <a:endParaRPr lang="en-US" dirty="0"/>
          </a:p>
          <a:p>
            <a:endParaRPr lang="en-US" dirty="0"/>
          </a:p>
          <a:p>
            <a:endParaRPr lang="en-US" dirty="0"/>
          </a:p>
          <a:p>
            <a:endParaRPr lang="en-US" dirty="0"/>
          </a:p>
          <a:p>
            <a:endParaRPr lang="en-US" dirty="0"/>
          </a:p>
          <a:p>
            <a:endParaRPr lang="en-US" dirty="0"/>
          </a:p>
          <a:p>
            <a:r>
              <a:rPr lang="en-US" dirty="0"/>
              <a:t>Compare this to the probability of a random sequence (all probabilities are 0.25) 0.25^9=0.0000038</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EBE8B4C-7A69-33EE-A22B-3EB95E69830A}"/>
              </a:ext>
            </a:extLst>
          </p:cNvPr>
          <p:cNvSpPr>
            <a:spLocks noGrp="1"/>
          </p:cNvSpPr>
          <p:nvPr>
            <p:ph type="sldNum" sz="quarter" idx="12"/>
          </p:nvPr>
        </p:nvSpPr>
        <p:spPr/>
        <p:txBody>
          <a:bodyPr/>
          <a:lstStyle/>
          <a:p>
            <a:fld id="{B82CCC60-E8CD-4174-8B1A-7DF615B22EEF}" type="slidenum">
              <a:rPr lang="en-US" smtClean="0"/>
              <a:pPr/>
              <a:t>11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CAEAE9E-A053-D0C9-B138-EB8D3E979FB0}"/>
                  </a:ext>
                </a:extLst>
              </p:cNvPr>
              <p:cNvSpPr txBox="1"/>
              <p:nvPr/>
            </p:nvSpPr>
            <p:spPr>
              <a:xfrm>
                <a:off x="1160131" y="3579687"/>
                <a:ext cx="1474234" cy="763222"/>
              </a:xfrm>
              <a:prstGeom prst="rect">
                <a:avLst/>
              </a:prstGeom>
              <a:noFill/>
            </p:spPr>
            <p:txBody>
              <a:bodyPr wrap="square">
                <a:spAutoFit/>
              </a:bodyPr>
              <a:lstStyle/>
              <a:p>
                <a14:m>
                  <m:oMath xmlns:m="http://schemas.openxmlformats.org/officeDocument/2006/math">
                    <m:sSub>
                      <m:sSubPr>
                        <m:ctrlPr>
                          <a:rPr lang="en-US" sz="3600" b="0" i="1" smtClean="0">
                            <a:latin typeface="Cambria Math" panose="02040503050406030204" pitchFamily="18" charset="0"/>
                          </a:rPr>
                        </m:ctrlPr>
                      </m:sSub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e>
                      <m:sub>
                        <m:r>
                          <a:rPr lang="en-US" sz="3600" b="0" i="1" smtClean="0">
                            <a:latin typeface="Cambria Math" panose="02040503050406030204" pitchFamily="18" charset="0"/>
                          </a:rPr>
                          <m:t> </m:t>
                        </m:r>
                      </m:sub>
                    </m:sSub>
                    <m:r>
                      <a:rPr lang="en-US" sz="3600" i="1" smtClean="0">
                        <a:latin typeface="Cambria Math" panose="02040503050406030204" pitchFamily="18" charset="0"/>
                      </a:rPr>
                      <m:t>=</m:t>
                    </m:r>
                  </m:oMath>
                </a14:m>
                <a:r>
                  <a:rPr lang="en-US" sz="3600" dirty="0"/>
                  <a:t> </a:t>
                </a:r>
              </a:p>
            </p:txBody>
          </p:sp>
        </mc:Choice>
        <mc:Fallback xmlns="">
          <p:sp>
            <p:nvSpPr>
              <p:cNvPr id="5" name="TextBox 4">
                <a:extLst>
                  <a:ext uri="{FF2B5EF4-FFF2-40B4-BE49-F238E27FC236}">
                    <a16:creationId xmlns:a16="http://schemas.microsoft.com/office/drawing/2014/main" id="{0CAEAE9E-A053-D0C9-B138-EB8D3E979FB0}"/>
                  </a:ext>
                </a:extLst>
              </p:cNvPr>
              <p:cNvSpPr txBox="1">
                <a:spLocks noRot="1" noChangeAspect="1" noMove="1" noResize="1" noEditPoints="1" noAdjustHandles="1" noChangeArrowheads="1" noChangeShapeType="1" noTextEdit="1"/>
              </p:cNvSpPr>
              <p:nvPr/>
            </p:nvSpPr>
            <p:spPr>
              <a:xfrm>
                <a:off x="1160131" y="3579687"/>
                <a:ext cx="1474234" cy="763222"/>
              </a:xfrm>
              <a:prstGeom prst="rect">
                <a:avLst/>
              </a:prstGeo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EAF85E8-95BD-654F-24B7-E3638372CD15}"/>
              </a:ext>
            </a:extLst>
          </p:cNvPr>
          <p:cNvPicPr>
            <a:picLocks noChangeAspect="1"/>
          </p:cNvPicPr>
          <p:nvPr/>
        </p:nvPicPr>
        <p:blipFill>
          <a:blip r:embed="rId3"/>
          <a:stretch>
            <a:fillRect/>
          </a:stretch>
        </p:blipFill>
        <p:spPr>
          <a:xfrm>
            <a:off x="2489986" y="3057248"/>
            <a:ext cx="7212028" cy="181694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775CB57-5E06-8286-ED2F-D213FA35F718}"/>
                  </a:ext>
                </a:extLst>
              </p:cNvPr>
              <p:cNvSpPr txBox="1"/>
              <p:nvPr/>
            </p:nvSpPr>
            <p:spPr>
              <a:xfrm>
                <a:off x="785109" y="4949291"/>
                <a:ext cx="10599821" cy="624338"/>
              </a:xfrm>
              <a:prstGeom prst="rect">
                <a:avLst/>
              </a:prstGeom>
              <a:noFill/>
            </p:spPr>
            <p:txBody>
              <a:bodyPr wrap="square">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r>
                            <a:rPr lang="en-US" sz="3200" b="0" i="1" smtClean="0">
                              <a:latin typeface="Cambria Math" panose="02040503050406030204" pitchFamily="18" charset="0"/>
                            </a:rPr>
                            <m:t>(</m:t>
                          </m:r>
                          <m:r>
                            <a:rPr lang="en-US" sz="3200" b="0" i="1" smtClean="0">
                              <a:latin typeface="Cambria Math" panose="02040503050406030204" pitchFamily="18" charset="0"/>
                            </a:rPr>
                            <m:t>𝑆</m:t>
                          </m:r>
                          <m:r>
                            <a:rPr lang="en-US" sz="3200" b="0" i="1" smtClean="0">
                              <a:latin typeface="Cambria Math" panose="02040503050406030204" pitchFamily="18" charset="0"/>
                            </a:rPr>
                            <m:t>|</m:t>
                          </m:r>
                          <m:r>
                            <a:rPr lang="en-US" sz="3200" b="0" i="1" smtClean="0">
                              <a:latin typeface="Cambria Math" panose="02040503050406030204" pitchFamily="18" charset="0"/>
                            </a:rPr>
                            <m:t>𝑃</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𝑗</m:t>
                          </m:r>
                        </m:sub>
                      </m:sSub>
                      <m:r>
                        <a:rPr lang="en-US" sz="3200" b="0" i="1" smtClean="0">
                          <a:latin typeface="Cambria Math" panose="02040503050406030204" pitchFamily="18" charset="0"/>
                        </a:rPr>
                        <m:t>)=.1∗</m:t>
                      </m:r>
                      <m:r>
                        <a:rPr lang="en-US" sz="3200" b="0" i="0" smtClean="0">
                          <a:latin typeface="Cambria Math" panose="02040503050406030204" pitchFamily="18" charset="0"/>
                        </a:rPr>
                        <m:t>.6∗.7∗1∗1∗.1∗.7∗.2∗.2=0.0007056</m:t>
                      </m:r>
                    </m:oMath>
                  </m:oMathPara>
                </a14:m>
                <a:endParaRPr lang="en-US" sz="3200" dirty="0"/>
              </a:p>
            </p:txBody>
          </p:sp>
        </mc:Choice>
        <mc:Fallback xmlns="">
          <p:sp>
            <p:nvSpPr>
              <p:cNvPr id="8" name="TextBox 7">
                <a:extLst>
                  <a:ext uri="{FF2B5EF4-FFF2-40B4-BE49-F238E27FC236}">
                    <a16:creationId xmlns:a16="http://schemas.microsoft.com/office/drawing/2014/main" id="{A775CB57-5E06-8286-ED2F-D213FA35F718}"/>
                  </a:ext>
                </a:extLst>
              </p:cNvPr>
              <p:cNvSpPr txBox="1">
                <a:spLocks noRot="1" noChangeAspect="1" noMove="1" noResize="1" noEditPoints="1" noAdjustHandles="1" noChangeArrowheads="1" noChangeShapeType="1" noTextEdit="1"/>
              </p:cNvSpPr>
              <p:nvPr/>
            </p:nvSpPr>
            <p:spPr>
              <a:xfrm>
                <a:off x="785109" y="4949291"/>
                <a:ext cx="10599821" cy="62433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95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71B0-2712-EE95-0A7B-7EDE2ECDA786}"/>
              </a:ext>
            </a:extLst>
          </p:cNvPr>
          <p:cNvSpPr>
            <a:spLocks noGrp="1"/>
          </p:cNvSpPr>
          <p:nvPr>
            <p:ph type="title"/>
          </p:nvPr>
        </p:nvSpPr>
        <p:spPr/>
        <p:txBody>
          <a:bodyPr>
            <a:normAutofit fontScale="90000"/>
          </a:bodyPr>
          <a:lstStyle/>
          <a:p>
            <a:r>
              <a:rPr lang="en-US" dirty="0"/>
              <a:t>PPM vs PWM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D262FE-8C30-EE82-BA92-B49DAF2A1EE1}"/>
                  </a:ext>
                </a:extLst>
              </p:cNvPr>
              <p:cNvSpPr>
                <a:spLocks noGrp="1"/>
              </p:cNvSpPr>
              <p:nvPr>
                <p:ph idx="1"/>
              </p:nvPr>
            </p:nvSpPr>
            <p:spPr/>
            <p:txBody>
              <a:bodyPr/>
              <a:lstStyle/>
              <a:p>
                <a:r>
                  <a:rPr lang="en-US" dirty="0"/>
                  <a:t>PPM can be transformed int Positional Weight Matrix:</a:t>
                </a:r>
                <a:br>
                  <a:rPr lang="en-US" dirty="0"/>
                </a:br>
                <a:br>
                  <a:rPr lang="en-US" dirty="0"/>
                </a:br>
                <a:br>
                  <a:rPr lang="en-US" dirty="0"/>
                </a:br>
                <a:br>
                  <a:rPr lang="en-US" dirty="0"/>
                </a:b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den>
                    </m:f>
                    <m:r>
                      <a:rPr lang="en-US" b="0" i="0" smtClean="0">
                        <a:latin typeface="Cambria Math" panose="02040503050406030204" pitchFamily="18" charset="0"/>
                      </a:rPr>
                      <m:t>, </m:t>
                    </m:r>
                    <m:r>
                      <m:rPr>
                        <m:sty m:val="p"/>
                      </m:rPr>
                      <a:rPr lang="en-US" b="0" i="0" smtClean="0">
                        <a:latin typeface="Cambria Math" panose="02040503050406030204" pitchFamily="18" charset="0"/>
                      </a:rPr>
                      <m:t>k</m:t>
                    </m:r>
                  </m:oMath>
                </a14:m>
                <a:r>
                  <a:rPr lang="en-US" dirty="0"/>
                  <a:t> is the number of symbols in the alphabet (A,C,G,T), for DNA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i="1">
                        <a:latin typeface="Cambria Math" panose="02040503050406030204" pitchFamily="18" charset="0"/>
                      </a:rPr>
                      <m:t>=</m:t>
                    </m:r>
                    <m:r>
                      <a:rPr lang="en-US" b="0" i="1" smtClean="0">
                        <a:latin typeface="Cambria Math" panose="02040503050406030204" pitchFamily="18" charset="0"/>
                      </a:rPr>
                      <m:t>0.25</m:t>
                    </m:r>
                  </m:oMath>
                </a14:m>
                <a:r>
                  <a:rPr lang="en-US" dirty="0"/>
                  <a:t>.  For our example </a:t>
                </a:r>
              </a:p>
            </p:txBody>
          </p:sp>
        </mc:Choice>
        <mc:Fallback xmlns="">
          <p:sp>
            <p:nvSpPr>
              <p:cNvPr id="3" name="Content Placeholder 2">
                <a:extLst>
                  <a:ext uri="{FF2B5EF4-FFF2-40B4-BE49-F238E27FC236}">
                    <a16:creationId xmlns:a16="http://schemas.microsoft.com/office/drawing/2014/main" id="{7FD262FE-8C30-EE82-BA92-B49DAF2A1EE1}"/>
                  </a:ext>
                </a:extLst>
              </p:cNvPr>
              <p:cNvSpPr>
                <a:spLocks noGrp="1" noRot="1" noChangeAspect="1" noMove="1" noResize="1" noEditPoints="1" noAdjustHandles="1" noChangeArrowheads="1" noChangeShapeType="1" noTextEdit="1"/>
              </p:cNvSpPr>
              <p:nvPr>
                <p:ph idx="1"/>
              </p:nvPr>
            </p:nvSpPr>
            <p:spPr>
              <a:blipFill>
                <a:blip r:embed="rId2"/>
                <a:stretch>
                  <a:fillRect l="-1000" t="-1555" r="-17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B271BB5-4123-FAB7-C5B7-5B68FED7A6E1}"/>
              </a:ext>
            </a:extLst>
          </p:cNvPr>
          <p:cNvSpPr>
            <a:spLocks noGrp="1"/>
          </p:cNvSpPr>
          <p:nvPr>
            <p:ph type="sldNum" sz="quarter" idx="12"/>
          </p:nvPr>
        </p:nvSpPr>
        <p:spPr/>
        <p:txBody>
          <a:bodyPr/>
          <a:lstStyle/>
          <a:p>
            <a:fld id="{B82CCC60-E8CD-4174-8B1A-7DF615B22EEF}" type="slidenum">
              <a:rPr lang="en-US" smtClean="0"/>
              <a:pPr/>
              <a:t>12</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4DF6BDB-B240-D97E-DDC4-E15C830694FC}"/>
                  </a:ext>
                </a:extLst>
              </p:cNvPr>
              <p:cNvSpPr txBox="1"/>
              <p:nvPr/>
            </p:nvSpPr>
            <p:spPr>
              <a:xfrm>
                <a:off x="1298093" y="2087771"/>
                <a:ext cx="4797907" cy="1239122"/>
              </a:xfrm>
              <a:prstGeom prst="rect">
                <a:avLst/>
              </a:prstGeom>
              <a:noFill/>
            </p:spPr>
            <p:txBody>
              <a:bodyPr wrap="square">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𝑙𝑜𝑔</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Sub>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𝑏</m:t>
                              </m:r>
                            </m:e>
                            <m:sub>
                              <m:r>
                                <a:rPr lang="en-US" sz="3600" b="0" i="1" smtClean="0">
                                  <a:latin typeface="Cambria Math" panose="02040503050406030204" pitchFamily="18" charset="0"/>
                                </a:rPr>
                                <m:t>𝑘</m:t>
                              </m:r>
                            </m:sub>
                          </m:sSub>
                        </m:den>
                      </m:f>
                      <m:r>
                        <a:rPr lang="en-US" sz="3600" b="0" i="1" smtClean="0">
                          <a:latin typeface="Cambria Math" panose="02040503050406030204" pitchFamily="18" charset="0"/>
                        </a:rPr>
                        <m:t>)</m:t>
                      </m:r>
                    </m:oMath>
                  </m:oMathPara>
                </a14:m>
                <a:endParaRPr lang="en-US" sz="3600" dirty="0"/>
              </a:p>
            </p:txBody>
          </p:sp>
        </mc:Choice>
        <mc:Fallback xmlns="">
          <p:sp>
            <p:nvSpPr>
              <p:cNvPr id="10" name="TextBox 9">
                <a:extLst>
                  <a:ext uri="{FF2B5EF4-FFF2-40B4-BE49-F238E27FC236}">
                    <a16:creationId xmlns:a16="http://schemas.microsoft.com/office/drawing/2014/main" id="{A4DF6BDB-B240-D97E-DDC4-E15C830694FC}"/>
                  </a:ext>
                </a:extLst>
              </p:cNvPr>
              <p:cNvSpPr txBox="1">
                <a:spLocks noRot="1" noChangeAspect="1" noMove="1" noResize="1" noEditPoints="1" noAdjustHandles="1" noChangeArrowheads="1" noChangeShapeType="1" noTextEdit="1"/>
              </p:cNvSpPr>
              <p:nvPr/>
            </p:nvSpPr>
            <p:spPr>
              <a:xfrm>
                <a:off x="1298093" y="2087771"/>
                <a:ext cx="4797907" cy="123912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275A70-8BBE-B71F-9E8C-13FD0BF1A837}"/>
                  </a:ext>
                </a:extLst>
              </p:cNvPr>
              <p:cNvSpPr txBox="1"/>
              <p:nvPr/>
            </p:nvSpPr>
            <p:spPr>
              <a:xfrm>
                <a:off x="74596" y="5207927"/>
                <a:ext cx="2601227" cy="690895"/>
              </a:xfrm>
              <a:prstGeom prst="rect">
                <a:avLst/>
              </a:prstGeom>
              <a:noFill/>
            </p:spPr>
            <p:txBody>
              <a:bodyPr wrap="square">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oMath>
                  </m:oMathPara>
                </a14:m>
                <a:endParaRPr lang="en-US" sz="3600" dirty="0"/>
              </a:p>
            </p:txBody>
          </p:sp>
        </mc:Choice>
        <mc:Fallback xmlns="">
          <p:sp>
            <p:nvSpPr>
              <p:cNvPr id="13" name="TextBox 12">
                <a:extLst>
                  <a:ext uri="{FF2B5EF4-FFF2-40B4-BE49-F238E27FC236}">
                    <a16:creationId xmlns:a16="http://schemas.microsoft.com/office/drawing/2014/main" id="{99275A70-8BBE-B71F-9E8C-13FD0BF1A837}"/>
                  </a:ext>
                </a:extLst>
              </p:cNvPr>
              <p:cNvSpPr txBox="1">
                <a:spLocks noRot="1" noChangeAspect="1" noMove="1" noResize="1" noEditPoints="1" noAdjustHandles="1" noChangeArrowheads="1" noChangeShapeType="1" noTextEdit="1"/>
              </p:cNvSpPr>
              <p:nvPr/>
            </p:nvSpPr>
            <p:spPr>
              <a:xfrm>
                <a:off x="74596" y="5207927"/>
                <a:ext cx="2601227" cy="690895"/>
              </a:xfrm>
              <a:prstGeom prst="rect">
                <a:avLst/>
              </a:prstGeom>
              <a:blipFill>
                <a:blip r:embed="rId4"/>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B93BD07C-4CCB-B5A4-E63E-281E743B16F6}"/>
              </a:ext>
            </a:extLst>
          </p:cNvPr>
          <p:cNvPicPr>
            <a:picLocks noChangeAspect="1"/>
          </p:cNvPicPr>
          <p:nvPr/>
        </p:nvPicPr>
        <p:blipFill>
          <a:blip r:embed="rId5"/>
          <a:stretch>
            <a:fillRect/>
          </a:stretch>
        </p:blipFill>
        <p:spPr>
          <a:xfrm>
            <a:off x="2132933" y="4772215"/>
            <a:ext cx="8830907" cy="1562318"/>
          </a:xfrm>
          <a:prstGeom prst="rect">
            <a:avLst/>
          </a:prstGeom>
        </p:spPr>
      </p:pic>
    </p:spTree>
    <p:extLst>
      <p:ext uri="{BB962C8B-B14F-4D97-AF65-F5344CB8AC3E}">
        <p14:creationId xmlns:p14="http://schemas.microsoft.com/office/powerpoint/2010/main" val="3851234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AF30-71A0-6C7B-822A-B6663A1103CA}"/>
              </a:ext>
            </a:extLst>
          </p:cNvPr>
          <p:cNvSpPr>
            <a:spLocks noGrp="1"/>
          </p:cNvSpPr>
          <p:nvPr>
            <p:ph type="title"/>
          </p:nvPr>
        </p:nvSpPr>
        <p:spPr/>
        <p:txBody>
          <a:bodyPr>
            <a:normAutofit fontScale="90000"/>
          </a:bodyPr>
          <a:lstStyle/>
          <a:p>
            <a:r>
              <a:rPr lang="en-US" dirty="0"/>
              <a:t>Scoring with PWMs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771B00-CD65-4A23-B7A9-D52ECBC4DD9C}"/>
                  </a:ext>
                </a:extLst>
              </p:cNvPr>
              <p:cNvSpPr>
                <a:spLocks noGrp="1"/>
              </p:cNvSpPr>
              <p:nvPr>
                <p:ph idx="1"/>
              </p:nvPr>
            </p:nvSpPr>
            <p:spPr>
              <a:xfrm>
                <a:off x="166228" y="1596540"/>
                <a:ext cx="12025772" cy="3918803"/>
              </a:xfrm>
            </p:spPr>
            <p:txBody>
              <a:bodyPr>
                <a:normAutofit/>
              </a:bodyPr>
              <a:lstStyle/>
              <a:p>
                <a:r>
                  <a:rPr lang="en-US" dirty="0"/>
                  <a:t>Log of zero is minus infinity.  To deal with that on can add 1e-10 to each value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then minus infinity becomes a large negative number</a:t>
                </a:r>
              </a:p>
              <a:p>
                <a:r>
                  <a:rPr lang="en-US" dirty="0"/>
                  <a:t>Since PWM elements are calculated using log likelihoods, the score of a sequence can be calculated by adding (rather than multiplying) the relevant values at each position in the PWM. For example, the score of the sequence </a:t>
                </a:r>
                <a:r>
                  <a:rPr lang="en-US" i="1" dirty="0"/>
                  <a:t>S</a:t>
                </a:r>
                <a:r>
                  <a:rPr lang="en-US" dirty="0"/>
                  <a:t> = GAGGTAAAC can be calculated:</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r>
                      <a:rPr lang="en-US" b="0" i="0" smtClean="0">
                        <a:latin typeface="Cambria Math" panose="02040503050406030204" pitchFamily="18" charset="0"/>
                      </a:rPr>
                      <m:t>−1.32+1.26+1.49+2+2+1.26+1.49−.32−.32</m:t>
                    </m:r>
                    <m:r>
                      <a:rPr lang="en-US">
                        <a:latin typeface="Cambria Math" panose="02040503050406030204" pitchFamily="18" charset="0"/>
                      </a:rPr>
                      <m:t>=</m:t>
                    </m:r>
                    <m:r>
                      <a:rPr lang="en-US" b="0" i="0" smtClean="0">
                        <a:latin typeface="Cambria Math" panose="02040503050406030204" pitchFamily="18" charset="0"/>
                      </a:rPr>
                      <m:t>7.54</m:t>
                    </m:r>
                  </m:oMath>
                </a14:m>
                <a:br>
                  <a:rPr lang="en-US" dirty="0"/>
                </a:b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A771B00-CD65-4A23-B7A9-D52ECBC4DD9C}"/>
                  </a:ext>
                </a:extLst>
              </p:cNvPr>
              <p:cNvSpPr>
                <a:spLocks noGrp="1" noRot="1" noChangeAspect="1" noMove="1" noResize="1" noEditPoints="1" noAdjustHandles="1" noChangeArrowheads="1" noChangeShapeType="1" noTextEdit="1"/>
              </p:cNvSpPr>
              <p:nvPr>
                <p:ph idx="1"/>
              </p:nvPr>
            </p:nvSpPr>
            <p:spPr>
              <a:xfrm>
                <a:off x="166228" y="1596540"/>
                <a:ext cx="12025772" cy="3918803"/>
              </a:xfrm>
              <a:blipFill>
                <a:blip r:embed="rId2"/>
                <a:stretch>
                  <a:fillRect l="-912" t="-15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AB52DB0-4B64-B989-C4F7-5AF836F80118}"/>
              </a:ext>
            </a:extLst>
          </p:cNvPr>
          <p:cNvSpPr>
            <a:spLocks noGrp="1"/>
          </p:cNvSpPr>
          <p:nvPr>
            <p:ph type="sldNum" sz="quarter" idx="12"/>
          </p:nvPr>
        </p:nvSpPr>
        <p:spPr/>
        <p:txBody>
          <a:bodyPr/>
          <a:lstStyle/>
          <a:p>
            <a:fld id="{B82CCC60-E8CD-4174-8B1A-7DF615B22EEF}" type="slidenum">
              <a:rPr lang="en-US" smtClean="0"/>
              <a:pPr/>
              <a:t>13</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EA02DB-91A1-5DD1-CA58-5411B37B6D37}"/>
                  </a:ext>
                </a:extLst>
              </p:cNvPr>
              <p:cNvSpPr txBox="1"/>
              <p:nvPr/>
            </p:nvSpPr>
            <p:spPr>
              <a:xfrm>
                <a:off x="166228" y="5665456"/>
                <a:ext cx="2601227" cy="690895"/>
              </a:xfrm>
              <a:prstGeom prst="rect">
                <a:avLst/>
              </a:prstGeom>
              <a:noFill/>
            </p:spPr>
            <p:txBody>
              <a:bodyPr wrap="square">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oMath>
                  </m:oMathPara>
                </a14:m>
                <a:endParaRPr lang="en-US" sz="3600" dirty="0"/>
              </a:p>
            </p:txBody>
          </p:sp>
        </mc:Choice>
        <mc:Fallback xmlns="">
          <p:sp>
            <p:nvSpPr>
              <p:cNvPr id="5" name="TextBox 4">
                <a:extLst>
                  <a:ext uri="{FF2B5EF4-FFF2-40B4-BE49-F238E27FC236}">
                    <a16:creationId xmlns:a16="http://schemas.microsoft.com/office/drawing/2014/main" id="{52EA02DB-91A1-5DD1-CA58-5411B37B6D37}"/>
                  </a:ext>
                </a:extLst>
              </p:cNvPr>
              <p:cNvSpPr txBox="1">
                <a:spLocks noRot="1" noChangeAspect="1" noMove="1" noResize="1" noEditPoints="1" noAdjustHandles="1" noChangeArrowheads="1" noChangeShapeType="1" noTextEdit="1"/>
              </p:cNvSpPr>
              <p:nvPr/>
            </p:nvSpPr>
            <p:spPr>
              <a:xfrm>
                <a:off x="166228" y="5665456"/>
                <a:ext cx="2601227" cy="690895"/>
              </a:xfrm>
              <a:prstGeom prst="rect">
                <a:avLst/>
              </a:prstGeo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44E81110-8A80-C523-87BE-AC44E25026DB}"/>
              </a:ext>
            </a:extLst>
          </p:cNvPr>
          <p:cNvPicPr>
            <a:picLocks noChangeAspect="1"/>
          </p:cNvPicPr>
          <p:nvPr/>
        </p:nvPicPr>
        <p:blipFill>
          <a:blip r:embed="rId4"/>
          <a:stretch>
            <a:fillRect/>
          </a:stretch>
        </p:blipFill>
        <p:spPr>
          <a:xfrm>
            <a:off x="2335063" y="5192299"/>
            <a:ext cx="8830907" cy="1562318"/>
          </a:xfrm>
          <a:prstGeom prst="rect">
            <a:avLst/>
          </a:prstGeom>
        </p:spPr>
      </p:pic>
    </p:spTree>
    <p:extLst>
      <p:ext uri="{BB962C8B-B14F-4D97-AF65-F5344CB8AC3E}">
        <p14:creationId xmlns:p14="http://schemas.microsoft.com/office/powerpoint/2010/main" val="2509772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0AA63-EDD4-D4F9-4059-40F3AF78221F}"/>
              </a:ext>
            </a:extLst>
          </p:cNvPr>
          <p:cNvSpPr>
            <a:spLocks noGrp="1"/>
          </p:cNvSpPr>
          <p:nvPr>
            <p:ph type="title"/>
          </p:nvPr>
        </p:nvSpPr>
        <p:spPr/>
        <p:txBody>
          <a:bodyPr>
            <a:normAutofit fontScale="90000"/>
          </a:bodyPr>
          <a:lstStyle/>
          <a:p>
            <a:r>
              <a:rPr lang="en-US" dirty="0"/>
              <a:t>PWM score</a:t>
            </a:r>
          </a:p>
        </p:txBody>
      </p:sp>
      <p:sp>
        <p:nvSpPr>
          <p:cNvPr id="3" name="Content Placeholder 2">
            <a:extLst>
              <a:ext uri="{FF2B5EF4-FFF2-40B4-BE49-F238E27FC236}">
                <a16:creationId xmlns:a16="http://schemas.microsoft.com/office/drawing/2014/main" id="{5244FEAC-25B3-ADFF-A8CA-95514D172D76}"/>
              </a:ext>
            </a:extLst>
          </p:cNvPr>
          <p:cNvSpPr>
            <a:spLocks noGrp="1"/>
          </p:cNvSpPr>
          <p:nvPr>
            <p:ph idx="1"/>
          </p:nvPr>
        </p:nvSpPr>
        <p:spPr>
          <a:xfrm>
            <a:off x="598620" y="1596540"/>
            <a:ext cx="10972800" cy="4702660"/>
          </a:xfrm>
        </p:spPr>
        <p:txBody>
          <a:bodyPr>
            <a:normAutofit fontScale="92500" lnSpcReduction="20000"/>
          </a:bodyPr>
          <a:lstStyle/>
          <a:p>
            <a:r>
              <a:rPr lang="en-US" dirty="0"/>
              <a:t>The sequence score gives an indication of how different the sequence is from a random sequence (all weights are the same). </a:t>
            </a:r>
          </a:p>
          <a:p>
            <a:endParaRPr lang="en-US" dirty="0"/>
          </a:p>
          <a:p>
            <a:r>
              <a:rPr lang="en-US" dirty="0"/>
              <a:t>The score is 0 if the sequence has the same probability of being a valid pattern (splice site) and of being a random site. </a:t>
            </a:r>
          </a:p>
          <a:p>
            <a:endParaRPr lang="en-US" dirty="0"/>
          </a:p>
          <a:p>
            <a:r>
              <a:rPr lang="en-US" dirty="0"/>
              <a:t>The score is greater than 0 if it is more likely to be a valid splice site than a random site, and less than 0 if it is more likely to be a random site than a valid splice site.</a:t>
            </a:r>
          </a:p>
          <a:p>
            <a:endParaRPr lang="en-US" dirty="0"/>
          </a:p>
          <a:p>
            <a:r>
              <a:rPr lang="en-US" dirty="0"/>
              <a:t>This can be generalized to look or test any feature (donor splice site, acceptor splice site, coding start, </a:t>
            </a:r>
            <a:r>
              <a:rPr lang="en-US"/>
              <a:t>coding stop)</a:t>
            </a:r>
            <a:endParaRPr lang="en-US" dirty="0"/>
          </a:p>
          <a:p>
            <a:endParaRPr lang="en-US" dirty="0"/>
          </a:p>
        </p:txBody>
      </p:sp>
      <p:sp>
        <p:nvSpPr>
          <p:cNvPr id="4" name="Slide Number Placeholder 3">
            <a:extLst>
              <a:ext uri="{FF2B5EF4-FFF2-40B4-BE49-F238E27FC236}">
                <a16:creationId xmlns:a16="http://schemas.microsoft.com/office/drawing/2014/main" id="{032FE3ED-74F8-15DE-3F65-5ADBE2843152}"/>
              </a:ext>
            </a:extLst>
          </p:cNvPr>
          <p:cNvSpPr>
            <a:spLocks noGrp="1"/>
          </p:cNvSpPr>
          <p:nvPr>
            <p:ph type="sldNum" sz="quarter" idx="12"/>
          </p:nvPr>
        </p:nvSpPr>
        <p:spPr/>
        <p:txBody>
          <a:bodyPr/>
          <a:lstStyle/>
          <a:p>
            <a:fld id="{B82CCC60-E8CD-4174-8B1A-7DF615B22EEF}" type="slidenum">
              <a:rPr lang="en-US" smtClean="0"/>
              <a:pPr/>
              <a:t>14</a:t>
            </a:fld>
            <a:endParaRPr lang="en-US"/>
          </a:p>
        </p:txBody>
      </p:sp>
    </p:spTree>
    <p:extLst>
      <p:ext uri="{BB962C8B-B14F-4D97-AF65-F5344CB8AC3E}">
        <p14:creationId xmlns:p14="http://schemas.microsoft.com/office/powerpoint/2010/main" val="334968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FE74E-4BE7-DCDD-CA7B-AC2E50DA2EF6}"/>
              </a:ext>
            </a:extLst>
          </p:cNvPr>
          <p:cNvSpPr>
            <a:spLocks noGrp="1"/>
          </p:cNvSpPr>
          <p:nvPr>
            <p:ph type="title"/>
          </p:nvPr>
        </p:nvSpPr>
        <p:spPr/>
        <p:txBody>
          <a:bodyPr>
            <a:normAutofit fontScale="90000"/>
          </a:bodyPr>
          <a:lstStyle/>
          <a:p>
            <a:r>
              <a:rPr lang="en-US" dirty="0"/>
              <a:t>Drawback of PWMs</a:t>
            </a:r>
          </a:p>
        </p:txBody>
      </p:sp>
      <p:sp>
        <p:nvSpPr>
          <p:cNvPr id="3" name="Content Placeholder 2">
            <a:extLst>
              <a:ext uri="{FF2B5EF4-FFF2-40B4-BE49-F238E27FC236}">
                <a16:creationId xmlns:a16="http://schemas.microsoft.com/office/drawing/2014/main" id="{BAAFADB7-8BC4-DA62-552C-EE4B427BA1F8}"/>
              </a:ext>
            </a:extLst>
          </p:cNvPr>
          <p:cNvSpPr>
            <a:spLocks noGrp="1"/>
          </p:cNvSpPr>
          <p:nvPr>
            <p:ph idx="1"/>
          </p:nvPr>
        </p:nvSpPr>
        <p:spPr/>
        <p:txBody>
          <a:bodyPr/>
          <a:lstStyle/>
          <a:p>
            <a:r>
              <a:rPr lang="en-US" dirty="0"/>
              <a:t>PWMs assume statistical independence between positions in the pattern, as the probabilities for each position are calculated independently of other positions. </a:t>
            </a:r>
          </a:p>
          <a:p>
            <a:pPr marL="0" indent="0">
              <a:buNone/>
            </a:pPr>
            <a:endParaRPr lang="en-US" dirty="0"/>
          </a:p>
          <a:p>
            <a:r>
              <a:rPr lang="en-US" dirty="0"/>
              <a:t>This assumption does not match reality for splice site patterns</a:t>
            </a:r>
          </a:p>
          <a:p>
            <a:endParaRPr lang="en-US" dirty="0"/>
          </a:p>
          <a:p>
            <a:r>
              <a:rPr lang="en-US" dirty="0"/>
              <a:t>Longer correlations are present</a:t>
            </a:r>
          </a:p>
          <a:p>
            <a:endParaRPr lang="en-US" dirty="0"/>
          </a:p>
        </p:txBody>
      </p:sp>
      <p:sp>
        <p:nvSpPr>
          <p:cNvPr id="4" name="Slide Number Placeholder 3">
            <a:extLst>
              <a:ext uri="{FF2B5EF4-FFF2-40B4-BE49-F238E27FC236}">
                <a16:creationId xmlns:a16="http://schemas.microsoft.com/office/drawing/2014/main" id="{0EEA60F6-2593-7D0F-9015-9212932B69DB}"/>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155246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B62A6-6CF6-33A1-9035-3D601E8263EB}"/>
              </a:ext>
            </a:extLst>
          </p:cNvPr>
          <p:cNvSpPr>
            <a:spLocks noGrp="1"/>
          </p:cNvSpPr>
          <p:nvPr>
            <p:ph type="title"/>
          </p:nvPr>
        </p:nvSpPr>
        <p:spPr/>
        <p:txBody>
          <a:bodyPr>
            <a:normAutofit fontScale="90000"/>
          </a:bodyPr>
          <a:lstStyle/>
          <a:p>
            <a:r>
              <a:rPr lang="en-US" dirty="0"/>
              <a:t>Markov chain</a:t>
            </a:r>
          </a:p>
        </p:txBody>
      </p:sp>
      <p:sp>
        <p:nvSpPr>
          <p:cNvPr id="3" name="Content Placeholder 2">
            <a:extLst>
              <a:ext uri="{FF2B5EF4-FFF2-40B4-BE49-F238E27FC236}">
                <a16:creationId xmlns:a16="http://schemas.microsoft.com/office/drawing/2014/main" id="{EA16B95C-02A4-9151-191B-9D8BCD6D1383}"/>
              </a:ext>
            </a:extLst>
          </p:cNvPr>
          <p:cNvSpPr>
            <a:spLocks noGrp="1"/>
          </p:cNvSpPr>
          <p:nvPr>
            <p:ph idx="1"/>
          </p:nvPr>
        </p:nvSpPr>
        <p:spPr>
          <a:xfrm>
            <a:off x="598620" y="1596540"/>
            <a:ext cx="7948614" cy="5016016"/>
          </a:xfrm>
        </p:spPr>
        <p:txBody>
          <a:bodyPr>
            <a:normAutofit lnSpcReduction="10000"/>
          </a:bodyPr>
          <a:lstStyle/>
          <a:p>
            <a:r>
              <a:rPr lang="en-US" dirty="0"/>
              <a:t>Markov chains allow one to quantify correlations in patterns </a:t>
            </a:r>
          </a:p>
          <a:p>
            <a:r>
              <a:rPr lang="en-US" dirty="0"/>
              <a:t>Markov chain or Markov process is a stochastic process describing a sequence of possible events in which the probability of each event depends only on the state attained in the previous event. </a:t>
            </a:r>
          </a:p>
          <a:p>
            <a:r>
              <a:rPr lang="en-US" dirty="0"/>
              <a:t>Informally, this may be thought of as, "What happens next depends only on the state of affairs now." </a:t>
            </a:r>
          </a:p>
          <a:p>
            <a:r>
              <a:rPr lang="en-US" dirty="0"/>
              <a:t>Markov processes are named in honor of the Russian mathematician Andrey Markov.</a:t>
            </a:r>
          </a:p>
          <a:p>
            <a:endParaRPr lang="en-US" dirty="0"/>
          </a:p>
        </p:txBody>
      </p:sp>
      <p:sp>
        <p:nvSpPr>
          <p:cNvPr id="4" name="Slide Number Placeholder 3">
            <a:extLst>
              <a:ext uri="{FF2B5EF4-FFF2-40B4-BE49-F238E27FC236}">
                <a16:creationId xmlns:a16="http://schemas.microsoft.com/office/drawing/2014/main" id="{C252BC07-EBC6-D9FC-A9BA-EFB43DB0CF7E}"/>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Picture 5">
            <a:extLst>
              <a:ext uri="{FF2B5EF4-FFF2-40B4-BE49-F238E27FC236}">
                <a16:creationId xmlns:a16="http://schemas.microsoft.com/office/drawing/2014/main" id="{FA7806DA-61BA-845C-E315-7F828AE892FB}"/>
              </a:ext>
            </a:extLst>
          </p:cNvPr>
          <p:cNvPicPr>
            <a:picLocks noChangeAspect="1"/>
          </p:cNvPicPr>
          <p:nvPr/>
        </p:nvPicPr>
        <p:blipFill>
          <a:blip r:embed="rId2"/>
          <a:stretch>
            <a:fillRect/>
          </a:stretch>
        </p:blipFill>
        <p:spPr>
          <a:xfrm>
            <a:off x="8659344" y="1252578"/>
            <a:ext cx="3362794" cy="4925112"/>
          </a:xfrm>
          <a:prstGeom prst="rect">
            <a:avLst/>
          </a:prstGeom>
        </p:spPr>
      </p:pic>
    </p:spTree>
    <p:extLst>
      <p:ext uri="{BB962C8B-B14F-4D97-AF65-F5344CB8AC3E}">
        <p14:creationId xmlns:p14="http://schemas.microsoft.com/office/powerpoint/2010/main" val="2628352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1F76-B980-0774-3059-8D2F97F54932}"/>
              </a:ext>
            </a:extLst>
          </p:cNvPr>
          <p:cNvSpPr>
            <a:spLocks noGrp="1"/>
          </p:cNvSpPr>
          <p:nvPr>
            <p:ph type="title"/>
          </p:nvPr>
        </p:nvSpPr>
        <p:spPr/>
        <p:txBody>
          <a:bodyPr>
            <a:normAutofit fontScale="90000"/>
          </a:bodyPr>
          <a:lstStyle/>
          <a:p>
            <a:r>
              <a:rPr lang="en-US" dirty="0"/>
              <a:t>Markov chain</a:t>
            </a:r>
          </a:p>
        </p:txBody>
      </p:sp>
      <p:sp>
        <p:nvSpPr>
          <p:cNvPr id="3" name="Content Placeholder 2">
            <a:extLst>
              <a:ext uri="{FF2B5EF4-FFF2-40B4-BE49-F238E27FC236}">
                <a16:creationId xmlns:a16="http://schemas.microsoft.com/office/drawing/2014/main" id="{A241362D-6289-93C2-9175-08BB8693B456}"/>
              </a:ext>
            </a:extLst>
          </p:cNvPr>
          <p:cNvSpPr>
            <a:spLocks noGrp="1"/>
          </p:cNvSpPr>
          <p:nvPr>
            <p:ph idx="1"/>
          </p:nvPr>
        </p:nvSpPr>
        <p:spPr>
          <a:xfrm>
            <a:off x="598620" y="1596540"/>
            <a:ext cx="10972800" cy="5124936"/>
          </a:xfrm>
        </p:spPr>
        <p:txBody>
          <a:bodyPr>
            <a:normAutofit/>
          </a:bodyPr>
          <a:lstStyle/>
          <a:p>
            <a:r>
              <a:rPr lang="en-US" dirty="0"/>
              <a:t>We will consider Discrete-time Markov Chains</a:t>
            </a:r>
          </a:p>
          <a:p>
            <a:r>
              <a:rPr lang="en-US" dirty="0"/>
              <a:t>A discrete-time Markov chain is a sequence of random variables </a:t>
            </a:r>
            <a:r>
              <a:rPr lang="en-US" i="1" dirty="0"/>
              <a:t>X</a:t>
            </a:r>
            <a:r>
              <a:rPr lang="en-US" i="1" baseline="-25000" dirty="0"/>
              <a:t>1</a:t>
            </a:r>
            <a:r>
              <a:rPr lang="en-US" i="1" dirty="0"/>
              <a:t>, X</a:t>
            </a:r>
            <a:r>
              <a:rPr lang="en-US" i="1" baseline="-25000" dirty="0"/>
              <a:t>2</a:t>
            </a:r>
            <a:r>
              <a:rPr lang="en-US" i="1" dirty="0"/>
              <a:t>, X</a:t>
            </a:r>
            <a:r>
              <a:rPr lang="en-US" i="1" baseline="-25000" dirty="0"/>
              <a:t>3</a:t>
            </a:r>
            <a:r>
              <a:rPr lang="en-US" i="1" dirty="0"/>
              <a:t>, ... </a:t>
            </a:r>
            <a:r>
              <a:rPr lang="en-US" dirty="0"/>
              <a:t>with the Markov property, namely that the probability the next state depends only on the previous states:</a:t>
            </a:r>
          </a:p>
          <a:p>
            <a:endParaRPr lang="en-US" dirty="0"/>
          </a:p>
          <a:p>
            <a:endParaRPr lang="en-US" i="1" dirty="0"/>
          </a:p>
          <a:p>
            <a:r>
              <a:rPr lang="en-US" i="1" dirty="0"/>
              <a:t>Order</a:t>
            </a:r>
            <a:r>
              <a:rPr lang="en-US" dirty="0"/>
              <a:t> of the Markov chain is equal to the number of the previous states considered to determine the probability of the next state</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14024010-2C37-2FB8-95A9-C81A412BC4CD}"/>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6" name="Picture 5">
            <a:extLst>
              <a:ext uri="{FF2B5EF4-FFF2-40B4-BE49-F238E27FC236}">
                <a16:creationId xmlns:a16="http://schemas.microsoft.com/office/drawing/2014/main" id="{96420FFC-EA14-08C2-EC8D-168F81626249}"/>
              </a:ext>
            </a:extLst>
          </p:cNvPr>
          <p:cNvPicPr>
            <a:picLocks noChangeAspect="1"/>
          </p:cNvPicPr>
          <p:nvPr/>
        </p:nvPicPr>
        <p:blipFill>
          <a:blip r:embed="rId2"/>
          <a:stretch>
            <a:fillRect/>
          </a:stretch>
        </p:blipFill>
        <p:spPr>
          <a:xfrm>
            <a:off x="425715" y="3718904"/>
            <a:ext cx="10637587" cy="515083"/>
          </a:xfrm>
          <a:prstGeom prst="rect">
            <a:avLst/>
          </a:prstGeom>
        </p:spPr>
      </p:pic>
    </p:spTree>
    <p:extLst>
      <p:ext uri="{BB962C8B-B14F-4D97-AF65-F5344CB8AC3E}">
        <p14:creationId xmlns:p14="http://schemas.microsoft.com/office/powerpoint/2010/main" val="68816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BA50-468B-9A7B-2055-9462DED1B608}"/>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DFFF569B-E796-AF0A-70C8-DD40FA3BBFD5}"/>
              </a:ext>
            </a:extLst>
          </p:cNvPr>
          <p:cNvSpPr>
            <a:spLocks noGrp="1"/>
          </p:cNvSpPr>
          <p:nvPr>
            <p:ph type="sldNum" sz="quarter" idx="12"/>
          </p:nvPr>
        </p:nvSpPr>
        <p:spPr/>
        <p:txBody>
          <a:bodyPr/>
          <a:lstStyle/>
          <a:p>
            <a:fld id="{B82CCC60-E8CD-4174-8B1A-7DF615B22EEF}" type="slidenum">
              <a:rPr lang="en-US" smtClean="0"/>
              <a:pPr/>
              <a:t>18</a:t>
            </a:fld>
            <a:endParaRPr lang="en-US"/>
          </a:p>
        </p:txBody>
      </p:sp>
      <p:sp>
        <p:nvSpPr>
          <p:cNvPr id="5" name="Oval 4">
            <a:extLst>
              <a:ext uri="{FF2B5EF4-FFF2-40B4-BE49-F238E27FC236}">
                <a16:creationId xmlns:a16="http://schemas.microsoft.com/office/drawing/2014/main" id="{CB03D258-65BC-1899-A9DE-78941C62335D}"/>
              </a:ext>
            </a:extLst>
          </p:cNvPr>
          <p:cNvSpPr/>
          <p:nvPr/>
        </p:nvSpPr>
        <p:spPr>
          <a:xfrm>
            <a:off x="5929084" y="447040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F43DE0B-A74A-1BFE-4832-6070FE0945FB}"/>
              </a:ext>
            </a:extLst>
          </p:cNvPr>
          <p:cNvSpPr/>
          <p:nvPr/>
        </p:nvSpPr>
        <p:spPr>
          <a:xfrm>
            <a:off x="8889999" y="447040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A3DAD338-3529-0BA9-BF9D-04D50CC07251}"/>
                  </a:ext>
                </a:extLst>
              </p14:cNvPr>
              <p14:cNvContentPartPr/>
              <p14:nvPr/>
            </p14:nvContentPartPr>
            <p14:xfrm>
              <a:off x="6625662" y="4193440"/>
              <a:ext cx="2343600" cy="472680"/>
            </p14:xfrm>
          </p:contentPart>
        </mc:Choice>
        <mc:Fallback xmlns="">
          <p:pic>
            <p:nvPicPr>
              <p:cNvPr id="12" name="Ink 11">
                <a:extLst>
                  <a:ext uri="{FF2B5EF4-FFF2-40B4-BE49-F238E27FC236}">
                    <a16:creationId xmlns:a16="http://schemas.microsoft.com/office/drawing/2014/main" id="{A3DAD338-3529-0BA9-BF9D-04D50CC07251}"/>
                  </a:ext>
                </a:extLst>
              </p:cNvPr>
              <p:cNvPicPr/>
              <p:nvPr/>
            </p:nvPicPr>
            <p:blipFill>
              <a:blip r:embed="rId3"/>
              <a:stretch>
                <a:fillRect/>
              </a:stretch>
            </p:blipFill>
            <p:spPr>
              <a:xfrm>
                <a:off x="6619542" y="4187320"/>
                <a:ext cx="235584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0286670F-611A-8C09-FC4B-6073AD8420D3}"/>
                  </a:ext>
                </a:extLst>
              </p14:cNvPr>
              <p14:cNvContentPartPr/>
              <p14:nvPr/>
            </p14:nvContentPartPr>
            <p14:xfrm>
              <a:off x="6627102" y="5311960"/>
              <a:ext cx="2502720" cy="400320"/>
            </p14:xfrm>
          </p:contentPart>
        </mc:Choice>
        <mc:Fallback xmlns="">
          <p:pic>
            <p:nvPicPr>
              <p:cNvPr id="13" name="Ink 12">
                <a:extLst>
                  <a:ext uri="{FF2B5EF4-FFF2-40B4-BE49-F238E27FC236}">
                    <a16:creationId xmlns:a16="http://schemas.microsoft.com/office/drawing/2014/main" id="{0286670F-611A-8C09-FC4B-6073AD8420D3}"/>
                  </a:ext>
                </a:extLst>
              </p:cNvPr>
              <p:cNvPicPr/>
              <p:nvPr/>
            </p:nvPicPr>
            <p:blipFill>
              <a:blip r:embed="rId5"/>
              <a:stretch>
                <a:fillRect/>
              </a:stretch>
            </p:blipFill>
            <p:spPr>
              <a:xfrm>
                <a:off x="6620982" y="530584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E88A6678-029B-DE86-4569-5EB1C2527D45}"/>
                  </a:ext>
                </a:extLst>
              </p14:cNvPr>
              <p14:cNvContentPartPr/>
              <p14:nvPr/>
            </p14:nvContentPartPr>
            <p14:xfrm>
              <a:off x="9687822" y="4339600"/>
              <a:ext cx="1329840" cy="1373040"/>
            </p14:xfrm>
          </p:contentPart>
        </mc:Choice>
        <mc:Fallback xmlns="">
          <p:pic>
            <p:nvPicPr>
              <p:cNvPr id="14" name="Ink 13">
                <a:extLst>
                  <a:ext uri="{FF2B5EF4-FFF2-40B4-BE49-F238E27FC236}">
                    <a16:creationId xmlns:a16="http://schemas.microsoft.com/office/drawing/2014/main" id="{E88A6678-029B-DE86-4569-5EB1C2527D45}"/>
                  </a:ext>
                </a:extLst>
              </p:cNvPr>
              <p:cNvPicPr/>
              <p:nvPr/>
            </p:nvPicPr>
            <p:blipFill>
              <a:blip r:embed="rId7"/>
              <a:stretch>
                <a:fillRect/>
              </a:stretch>
            </p:blipFill>
            <p:spPr>
              <a:xfrm>
                <a:off x="9681702" y="433348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318501D-3BFA-1759-BAC7-3D2CCD418F07}"/>
                  </a:ext>
                </a:extLst>
              </p14:cNvPr>
              <p14:cNvContentPartPr/>
              <p14:nvPr/>
            </p14:nvContentPartPr>
            <p14:xfrm>
              <a:off x="4695342" y="4150960"/>
              <a:ext cx="1371600" cy="1343880"/>
            </p14:xfrm>
          </p:contentPart>
        </mc:Choice>
        <mc:Fallback xmlns="">
          <p:pic>
            <p:nvPicPr>
              <p:cNvPr id="15" name="Ink 14">
                <a:extLst>
                  <a:ext uri="{FF2B5EF4-FFF2-40B4-BE49-F238E27FC236}">
                    <a16:creationId xmlns:a16="http://schemas.microsoft.com/office/drawing/2014/main" id="{B318501D-3BFA-1759-BAC7-3D2CCD418F07}"/>
                  </a:ext>
                </a:extLst>
              </p:cNvPr>
              <p:cNvPicPr/>
              <p:nvPr/>
            </p:nvPicPr>
            <p:blipFill>
              <a:blip r:embed="rId9"/>
              <a:stretch>
                <a:fillRect/>
              </a:stretch>
            </p:blipFill>
            <p:spPr>
              <a:xfrm>
                <a:off x="4689222" y="4144840"/>
                <a:ext cx="1383840" cy="1356120"/>
              </a:xfrm>
              <a:prstGeom prst="rect">
                <a:avLst/>
              </a:prstGeom>
            </p:spPr>
          </p:pic>
        </mc:Fallback>
      </mc:AlternateContent>
      <p:sp>
        <p:nvSpPr>
          <p:cNvPr id="16" name="TextBox 15">
            <a:extLst>
              <a:ext uri="{FF2B5EF4-FFF2-40B4-BE49-F238E27FC236}">
                <a16:creationId xmlns:a16="http://schemas.microsoft.com/office/drawing/2014/main" id="{7BD87FAF-6FC2-ED8F-985E-B67DB59F1172}"/>
              </a:ext>
            </a:extLst>
          </p:cNvPr>
          <p:cNvSpPr txBox="1"/>
          <p:nvPr/>
        </p:nvSpPr>
        <p:spPr>
          <a:xfrm>
            <a:off x="7402050" y="3810485"/>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DE78BEF8-AF42-0D49-94F4-10DEF6780D95}"/>
              </a:ext>
            </a:extLst>
          </p:cNvPr>
          <p:cNvSpPr txBox="1"/>
          <p:nvPr/>
        </p:nvSpPr>
        <p:spPr>
          <a:xfrm>
            <a:off x="7402050" y="5868925"/>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F7B9C477-3A97-9117-F829-B7BEBAA1ED59}"/>
              </a:ext>
            </a:extLst>
          </p:cNvPr>
          <p:cNvSpPr txBox="1"/>
          <p:nvPr/>
        </p:nvSpPr>
        <p:spPr>
          <a:xfrm>
            <a:off x="11017662" y="4822900"/>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A2189685-645B-1507-7902-1342429B1033}"/>
              </a:ext>
            </a:extLst>
          </p:cNvPr>
          <p:cNvSpPr txBox="1"/>
          <p:nvPr/>
        </p:nvSpPr>
        <p:spPr>
          <a:xfrm>
            <a:off x="5142936" y="3781628"/>
            <a:ext cx="476412" cy="369332"/>
          </a:xfrm>
          <a:prstGeom prst="rect">
            <a:avLst/>
          </a:prstGeom>
          <a:noFill/>
        </p:spPr>
        <p:txBody>
          <a:bodyPr wrap="none" rtlCol="0">
            <a:spAutoFit/>
          </a:bodyPr>
          <a:lstStyle/>
          <a:p>
            <a:r>
              <a:rPr lang="en-US" dirty="0"/>
              <a:t>0.2</a:t>
            </a:r>
          </a:p>
        </p:txBody>
      </p:sp>
      <p:sp>
        <p:nvSpPr>
          <p:cNvPr id="20" name="TextBox 19">
            <a:extLst>
              <a:ext uri="{FF2B5EF4-FFF2-40B4-BE49-F238E27FC236}">
                <a16:creationId xmlns:a16="http://schemas.microsoft.com/office/drawing/2014/main" id="{FDEE1BCD-2B6A-0177-D5DE-D8080229269E}"/>
              </a:ext>
            </a:extLst>
          </p:cNvPr>
          <p:cNvSpPr txBox="1"/>
          <p:nvPr/>
        </p:nvSpPr>
        <p:spPr>
          <a:xfrm>
            <a:off x="5963771" y="2984203"/>
            <a:ext cx="3829382" cy="369332"/>
          </a:xfrm>
          <a:prstGeom prst="rect">
            <a:avLst/>
          </a:prstGeom>
          <a:noFill/>
        </p:spPr>
        <p:txBody>
          <a:bodyPr wrap="none" rtlCol="0">
            <a:spAutoFit/>
          </a:bodyPr>
          <a:lstStyle/>
          <a:p>
            <a:r>
              <a:rPr lang="en-US" dirty="0"/>
              <a:t>Outgoing probabilities must sum to 1 !</a:t>
            </a:r>
          </a:p>
        </p:txBody>
      </p:sp>
      <p:sp>
        <p:nvSpPr>
          <p:cNvPr id="21" name="TextBox 20">
            <a:extLst>
              <a:ext uri="{FF2B5EF4-FFF2-40B4-BE49-F238E27FC236}">
                <a16:creationId xmlns:a16="http://schemas.microsoft.com/office/drawing/2014/main" id="{BB50C94E-B231-39D3-72F0-7360E8C5C211}"/>
              </a:ext>
            </a:extLst>
          </p:cNvPr>
          <p:cNvSpPr txBox="1"/>
          <p:nvPr/>
        </p:nvSpPr>
        <p:spPr>
          <a:xfrm>
            <a:off x="586283" y="1654283"/>
            <a:ext cx="4157741" cy="5078313"/>
          </a:xfrm>
          <a:prstGeom prst="rect">
            <a:avLst/>
          </a:prstGeom>
          <a:noFill/>
        </p:spPr>
        <p:txBody>
          <a:bodyPr wrap="none" rtlCol="0">
            <a:spAutoFit/>
          </a:bodyPr>
          <a:lstStyle/>
          <a:p>
            <a:r>
              <a:rPr lang="en-US" dirty="0"/>
              <a:t>Markov model has:</a:t>
            </a:r>
          </a:p>
          <a:p>
            <a:pPr marL="342900" indent="-342900">
              <a:buAutoNum type="arabicPeriod"/>
            </a:pPr>
            <a:r>
              <a:rPr lang="en-US" dirty="0"/>
              <a:t>A set of states</a:t>
            </a:r>
          </a:p>
          <a:p>
            <a:pPr marL="342900" indent="-342900">
              <a:buAutoNum type="arabicPeriod"/>
            </a:pPr>
            <a:r>
              <a:rPr lang="en-US" dirty="0"/>
              <a:t>Transition probabilities between states</a:t>
            </a:r>
          </a:p>
          <a:p>
            <a:pPr marL="342900" indent="-342900">
              <a:buAutoNum type="arabicPeriod"/>
            </a:pPr>
            <a:r>
              <a:rPr lang="en-US" dirty="0"/>
              <a:t>Probabilities of the starting states</a:t>
            </a:r>
          </a:p>
          <a:p>
            <a:endParaRPr lang="en-US" dirty="0"/>
          </a:p>
          <a:p>
            <a:r>
              <a:rPr lang="en-US" dirty="0"/>
              <a:t>Transition probability matrix:</a:t>
            </a:r>
          </a:p>
          <a:p>
            <a:r>
              <a:rPr lang="en-US" b="1" dirty="0">
                <a:latin typeface="Courier New" panose="02070309020205020404" pitchFamily="49" charset="0"/>
                <a:cs typeface="Courier New" panose="02070309020205020404" pitchFamily="49" charset="0"/>
              </a:rPr>
              <a:t>           To</a:t>
            </a:r>
          </a:p>
          <a:p>
            <a:r>
              <a:rPr lang="en-US" b="1" dirty="0">
                <a:latin typeface="Courier New" panose="02070309020205020404" pitchFamily="49" charset="0"/>
                <a:cs typeface="Courier New" panose="02070309020205020404" pitchFamily="49" charset="0"/>
              </a:rPr>
              <a:t>         B    G</a:t>
            </a:r>
          </a:p>
          <a:p>
            <a:r>
              <a:rPr lang="en-US" b="1" dirty="0">
                <a:latin typeface="Courier New" panose="02070309020205020404" pitchFamily="49" charset="0"/>
                <a:cs typeface="Courier New" panose="02070309020205020404" pitchFamily="49" charset="0"/>
              </a:rPr>
              <a:t>From B  0.2  0.8</a:t>
            </a:r>
          </a:p>
          <a:p>
            <a:r>
              <a:rPr lang="en-US" b="1" dirty="0">
                <a:latin typeface="Courier New" panose="02070309020205020404" pitchFamily="49" charset="0"/>
                <a:cs typeface="Courier New" panose="02070309020205020404" pitchFamily="49" charset="0"/>
              </a:rPr>
              <a:t>     G  0.5  0.5</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Starting probabilities</a:t>
            </a:r>
          </a:p>
          <a:p>
            <a:r>
              <a:rPr lang="en-US" b="1" dirty="0" err="1">
                <a:latin typeface="Courier New" panose="02070309020205020404" pitchFamily="49" charset="0"/>
                <a:cs typeface="Courier New" panose="02070309020205020404" pitchFamily="49" charset="0"/>
              </a:rPr>
              <a:t>Pr</a:t>
            </a:r>
            <a:r>
              <a:rPr lang="en-US" b="1" dirty="0">
                <a:latin typeface="Courier New" panose="02070309020205020404" pitchFamily="49" charset="0"/>
                <a:cs typeface="Courier New" panose="02070309020205020404" pitchFamily="49" charset="0"/>
              </a:rPr>
              <a:t>(B) = 0.6</a:t>
            </a:r>
          </a:p>
          <a:p>
            <a:r>
              <a:rPr lang="en-US" b="1" dirty="0" err="1">
                <a:latin typeface="Courier New" panose="02070309020205020404" pitchFamily="49" charset="0"/>
                <a:cs typeface="Courier New" panose="02070309020205020404" pitchFamily="49" charset="0"/>
              </a:rPr>
              <a:t>Pr</a:t>
            </a:r>
            <a:r>
              <a:rPr lang="en-US" b="1" dirty="0">
                <a:latin typeface="Courier New" panose="02070309020205020404" pitchFamily="49" charset="0"/>
                <a:cs typeface="Courier New" panose="02070309020205020404" pitchFamily="49" charset="0"/>
              </a:rPr>
              <a:t>(G) = 0.4</a:t>
            </a:r>
          </a:p>
          <a:p>
            <a:endParaRPr lang="en-US" dirty="0">
              <a:latin typeface="Courier New" panose="02070309020205020404" pitchFamily="49" charset="0"/>
              <a:cs typeface="Courier New" panose="02070309020205020404" pitchFamily="49" charset="0"/>
            </a:endParaRPr>
          </a:p>
          <a:p>
            <a:r>
              <a:rPr lang="en-US" dirty="0"/>
              <a:t>Markov walk:</a:t>
            </a:r>
          </a:p>
          <a:p>
            <a:r>
              <a:rPr lang="en-US" b="1" dirty="0">
                <a:latin typeface="Courier New" panose="02070309020205020404" pitchFamily="49" charset="0"/>
                <a:cs typeface="Courier New" panose="02070309020205020404" pitchFamily="49" charset="0"/>
              </a:rPr>
              <a:t>BGGBGBGGGBBGBGGGBGGGGB</a:t>
            </a:r>
          </a:p>
          <a:p>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64046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3951-AC80-E0AF-7E71-92F513EA5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F4F25-810E-77F3-6390-D68CB56F8E76}"/>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D1951542-F298-E800-5A7F-583812C68826}"/>
              </a:ext>
            </a:extLst>
          </p:cNvPr>
          <p:cNvSpPr>
            <a:spLocks noGrp="1"/>
          </p:cNvSpPr>
          <p:nvPr>
            <p:ph type="sldNum" sz="quarter" idx="12"/>
          </p:nvPr>
        </p:nvSpPr>
        <p:spPr/>
        <p:txBody>
          <a:bodyPr/>
          <a:lstStyle/>
          <a:p>
            <a:fld id="{B82CCC60-E8CD-4174-8B1A-7DF615B22EEF}" type="slidenum">
              <a:rPr lang="en-US" smtClean="0"/>
              <a:pPr/>
              <a:t>19</a:t>
            </a:fld>
            <a:endParaRPr lang="en-US"/>
          </a:p>
        </p:txBody>
      </p:sp>
      <p:sp>
        <p:nvSpPr>
          <p:cNvPr id="5" name="Oval 4">
            <a:extLst>
              <a:ext uri="{FF2B5EF4-FFF2-40B4-BE49-F238E27FC236}">
                <a16:creationId xmlns:a16="http://schemas.microsoft.com/office/drawing/2014/main" id="{F90B7F7D-E6D1-CDC0-7573-3011B9EFF025}"/>
              </a:ext>
            </a:extLst>
          </p:cNvPr>
          <p:cNvSpPr/>
          <p:nvPr/>
        </p:nvSpPr>
        <p:spPr>
          <a:xfrm>
            <a:off x="5929084" y="447040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E546F05-01AA-5B5D-4865-8108599C1BE2}"/>
              </a:ext>
            </a:extLst>
          </p:cNvPr>
          <p:cNvSpPr/>
          <p:nvPr/>
        </p:nvSpPr>
        <p:spPr>
          <a:xfrm>
            <a:off x="8889999" y="447040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C3B430CC-7913-8DB9-558C-B915C5076B41}"/>
                  </a:ext>
                </a:extLst>
              </p14:cNvPr>
              <p14:cNvContentPartPr/>
              <p14:nvPr/>
            </p14:nvContentPartPr>
            <p14:xfrm>
              <a:off x="6625662" y="4193440"/>
              <a:ext cx="2343600" cy="472680"/>
            </p14:xfrm>
          </p:contentPart>
        </mc:Choice>
        <mc:Fallback xmlns="">
          <p:pic>
            <p:nvPicPr>
              <p:cNvPr id="12" name="Ink 11">
                <a:extLst>
                  <a:ext uri="{FF2B5EF4-FFF2-40B4-BE49-F238E27FC236}">
                    <a16:creationId xmlns:a16="http://schemas.microsoft.com/office/drawing/2014/main" id="{C3B430CC-7913-8DB9-558C-B915C5076B41}"/>
                  </a:ext>
                </a:extLst>
              </p:cNvPr>
              <p:cNvPicPr/>
              <p:nvPr/>
            </p:nvPicPr>
            <p:blipFill>
              <a:blip r:embed="rId3"/>
              <a:stretch>
                <a:fillRect/>
              </a:stretch>
            </p:blipFill>
            <p:spPr>
              <a:xfrm>
                <a:off x="6619541" y="4187320"/>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E5DF799E-9A78-C13D-0FAE-3923EBFB3ACD}"/>
                  </a:ext>
                </a:extLst>
              </p14:cNvPr>
              <p14:cNvContentPartPr/>
              <p14:nvPr/>
            </p14:nvContentPartPr>
            <p14:xfrm>
              <a:off x="6627102" y="5311960"/>
              <a:ext cx="2502720" cy="400320"/>
            </p14:xfrm>
          </p:contentPart>
        </mc:Choice>
        <mc:Fallback xmlns="">
          <p:pic>
            <p:nvPicPr>
              <p:cNvPr id="13" name="Ink 12">
                <a:extLst>
                  <a:ext uri="{FF2B5EF4-FFF2-40B4-BE49-F238E27FC236}">
                    <a16:creationId xmlns:a16="http://schemas.microsoft.com/office/drawing/2014/main" id="{E5DF799E-9A78-C13D-0FAE-3923EBFB3ACD}"/>
                  </a:ext>
                </a:extLst>
              </p:cNvPr>
              <p:cNvPicPr/>
              <p:nvPr/>
            </p:nvPicPr>
            <p:blipFill>
              <a:blip r:embed="rId5"/>
              <a:stretch>
                <a:fillRect/>
              </a:stretch>
            </p:blipFill>
            <p:spPr>
              <a:xfrm>
                <a:off x="6620982" y="530584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F8F5AAF6-B8A3-793B-DE8E-A6183F15A5AB}"/>
                  </a:ext>
                </a:extLst>
              </p14:cNvPr>
              <p14:cNvContentPartPr/>
              <p14:nvPr/>
            </p14:nvContentPartPr>
            <p14:xfrm>
              <a:off x="9687822" y="4339600"/>
              <a:ext cx="1329840" cy="1373040"/>
            </p14:xfrm>
          </p:contentPart>
        </mc:Choice>
        <mc:Fallback xmlns="">
          <p:pic>
            <p:nvPicPr>
              <p:cNvPr id="14" name="Ink 13">
                <a:extLst>
                  <a:ext uri="{FF2B5EF4-FFF2-40B4-BE49-F238E27FC236}">
                    <a16:creationId xmlns:a16="http://schemas.microsoft.com/office/drawing/2014/main" id="{F8F5AAF6-B8A3-793B-DE8E-A6183F15A5AB}"/>
                  </a:ext>
                </a:extLst>
              </p:cNvPr>
              <p:cNvPicPr/>
              <p:nvPr/>
            </p:nvPicPr>
            <p:blipFill>
              <a:blip r:embed="rId7"/>
              <a:stretch>
                <a:fillRect/>
              </a:stretch>
            </p:blipFill>
            <p:spPr>
              <a:xfrm>
                <a:off x="9681702" y="433348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D4EF1FF-E8E6-1E6A-664C-820698237A8A}"/>
                  </a:ext>
                </a:extLst>
              </p14:cNvPr>
              <p14:cNvContentPartPr/>
              <p14:nvPr/>
            </p14:nvContentPartPr>
            <p14:xfrm>
              <a:off x="4695342" y="4150960"/>
              <a:ext cx="1371600" cy="1343880"/>
            </p14:xfrm>
          </p:contentPart>
        </mc:Choice>
        <mc:Fallback xmlns="">
          <p:pic>
            <p:nvPicPr>
              <p:cNvPr id="15" name="Ink 14">
                <a:extLst>
                  <a:ext uri="{FF2B5EF4-FFF2-40B4-BE49-F238E27FC236}">
                    <a16:creationId xmlns:a16="http://schemas.microsoft.com/office/drawing/2014/main" id="{3D4EF1FF-E8E6-1E6A-664C-820698237A8A}"/>
                  </a:ext>
                </a:extLst>
              </p:cNvPr>
              <p:cNvPicPr/>
              <p:nvPr/>
            </p:nvPicPr>
            <p:blipFill>
              <a:blip r:embed="rId9"/>
              <a:stretch>
                <a:fillRect/>
              </a:stretch>
            </p:blipFill>
            <p:spPr>
              <a:xfrm>
                <a:off x="4689222" y="4144840"/>
                <a:ext cx="1383840" cy="1356120"/>
              </a:xfrm>
              <a:prstGeom prst="rect">
                <a:avLst/>
              </a:prstGeom>
            </p:spPr>
          </p:pic>
        </mc:Fallback>
      </mc:AlternateContent>
      <p:sp>
        <p:nvSpPr>
          <p:cNvPr id="16" name="TextBox 15">
            <a:extLst>
              <a:ext uri="{FF2B5EF4-FFF2-40B4-BE49-F238E27FC236}">
                <a16:creationId xmlns:a16="http://schemas.microsoft.com/office/drawing/2014/main" id="{A317E113-FCA7-ECBF-6138-7A52B1DE4079}"/>
              </a:ext>
            </a:extLst>
          </p:cNvPr>
          <p:cNvSpPr txBox="1"/>
          <p:nvPr/>
        </p:nvSpPr>
        <p:spPr>
          <a:xfrm>
            <a:off x="7402050" y="3810485"/>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70FA37D2-51DA-8187-9EE3-88D52DCC9B06}"/>
              </a:ext>
            </a:extLst>
          </p:cNvPr>
          <p:cNvSpPr txBox="1"/>
          <p:nvPr/>
        </p:nvSpPr>
        <p:spPr>
          <a:xfrm>
            <a:off x="7402050" y="5868925"/>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F87AE215-EF32-3CE4-F086-4B0768385BE0}"/>
              </a:ext>
            </a:extLst>
          </p:cNvPr>
          <p:cNvSpPr txBox="1"/>
          <p:nvPr/>
        </p:nvSpPr>
        <p:spPr>
          <a:xfrm>
            <a:off x="11017662" y="4822900"/>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51C62830-B416-A51B-C17A-CEB45657B88F}"/>
              </a:ext>
            </a:extLst>
          </p:cNvPr>
          <p:cNvSpPr txBox="1"/>
          <p:nvPr/>
        </p:nvSpPr>
        <p:spPr>
          <a:xfrm>
            <a:off x="5142936" y="3781628"/>
            <a:ext cx="476412" cy="369332"/>
          </a:xfrm>
          <a:prstGeom prst="rect">
            <a:avLst/>
          </a:prstGeom>
          <a:noFill/>
        </p:spPr>
        <p:txBody>
          <a:bodyPr wrap="none" rtlCol="0">
            <a:spAutoFit/>
          </a:bodyPr>
          <a:lstStyle/>
          <a:p>
            <a:r>
              <a:rPr lang="en-US" dirty="0"/>
              <a:t>0.2</a:t>
            </a:r>
          </a:p>
        </p:txBody>
      </p:sp>
      <p:sp>
        <p:nvSpPr>
          <p:cNvPr id="21" name="TextBox 20">
            <a:extLst>
              <a:ext uri="{FF2B5EF4-FFF2-40B4-BE49-F238E27FC236}">
                <a16:creationId xmlns:a16="http://schemas.microsoft.com/office/drawing/2014/main" id="{63EB80CD-B586-BD85-55F4-B87AF6C1ED9C}"/>
              </a:ext>
            </a:extLst>
          </p:cNvPr>
          <p:cNvSpPr txBox="1"/>
          <p:nvPr/>
        </p:nvSpPr>
        <p:spPr>
          <a:xfrm>
            <a:off x="586283" y="1654283"/>
            <a:ext cx="8465972" cy="5170646"/>
          </a:xfrm>
          <a:prstGeom prst="rect">
            <a:avLst/>
          </a:prstGeom>
          <a:noFill/>
        </p:spPr>
        <p:txBody>
          <a:bodyPr wrap="none" rtlCol="0">
            <a:spAutoFit/>
          </a:bodyPr>
          <a:lstStyle/>
          <a:p>
            <a:r>
              <a:rPr lang="en-US" dirty="0"/>
              <a:t>For any observed walk we can compute probability that this process generated the walk:</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(BGGB)=0.6*0.8*0.5*0.5=0.072</a:t>
            </a:r>
          </a:p>
          <a:p>
            <a:r>
              <a:rPr lang="en-US" b="1" dirty="0">
                <a:cs typeface="Courier New" panose="02070309020205020404" pitchFamily="49" charset="0"/>
              </a:rPr>
              <a:t>How is this probability useful?</a:t>
            </a:r>
            <a:br>
              <a:rPr lang="en-US" b="1" dirty="0">
                <a:cs typeface="Courier New" panose="02070309020205020404" pitchFamily="49" charset="0"/>
              </a:rPr>
            </a:br>
            <a:r>
              <a:rPr lang="en-US" b="1" dirty="0">
                <a:cs typeface="Courier New" panose="02070309020205020404" pitchFamily="49" charset="0"/>
              </a:rPr>
              <a:t>We can use it to distinguish between two Markov Processes!</a:t>
            </a:r>
            <a:endParaRPr lang="en-US" dirty="0"/>
          </a:p>
          <a:p>
            <a:endParaRPr lang="en-US" dirty="0"/>
          </a:p>
          <a:p>
            <a:endParaRPr lang="en-US" dirty="0"/>
          </a:p>
          <a:p>
            <a:endParaRPr lang="en-US" dirty="0"/>
          </a:p>
          <a:p>
            <a:endParaRPr lang="en-US" dirty="0"/>
          </a:p>
          <a:p>
            <a:r>
              <a:rPr lang="en-US" sz="2400" dirty="0"/>
              <a:t>Transition probability matrix:</a:t>
            </a:r>
          </a:p>
          <a:p>
            <a:r>
              <a:rPr lang="en-US" b="1" dirty="0">
                <a:latin typeface="Courier New" panose="02070309020205020404" pitchFamily="49" charset="0"/>
                <a:cs typeface="Courier New" panose="02070309020205020404" pitchFamily="49" charset="0"/>
              </a:rPr>
              <a:t>           To</a:t>
            </a:r>
          </a:p>
          <a:p>
            <a:r>
              <a:rPr lang="en-US" b="1" dirty="0">
                <a:latin typeface="Courier New" panose="02070309020205020404" pitchFamily="49" charset="0"/>
                <a:cs typeface="Courier New" panose="02070309020205020404" pitchFamily="49" charset="0"/>
              </a:rPr>
              <a:t>         B    G</a:t>
            </a:r>
          </a:p>
          <a:p>
            <a:r>
              <a:rPr lang="en-US" b="1" dirty="0">
                <a:latin typeface="Courier New" panose="02070309020205020404" pitchFamily="49" charset="0"/>
                <a:cs typeface="Courier New" panose="02070309020205020404" pitchFamily="49" charset="0"/>
              </a:rPr>
              <a:t>From B  0.2  0.8</a:t>
            </a:r>
          </a:p>
          <a:p>
            <a:r>
              <a:rPr lang="en-US" b="1" dirty="0">
                <a:latin typeface="Courier New" panose="02070309020205020404" pitchFamily="49" charset="0"/>
                <a:cs typeface="Courier New" panose="02070309020205020404" pitchFamily="49" charset="0"/>
              </a:rPr>
              <a:t>     G  0.5  0.5</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Starting probabilities</a:t>
            </a:r>
          </a:p>
          <a:p>
            <a:r>
              <a:rPr lang="en-US" b="1" dirty="0" err="1">
                <a:latin typeface="Courier New" panose="02070309020205020404" pitchFamily="49" charset="0"/>
                <a:cs typeface="Courier New" panose="02070309020205020404" pitchFamily="49" charset="0"/>
              </a:rPr>
              <a:t>Pr</a:t>
            </a:r>
            <a:r>
              <a:rPr lang="en-US" b="1" dirty="0">
                <a:latin typeface="Courier New" panose="02070309020205020404" pitchFamily="49" charset="0"/>
                <a:cs typeface="Courier New" panose="02070309020205020404" pitchFamily="49" charset="0"/>
              </a:rPr>
              <a:t>(B) = 0.6</a:t>
            </a:r>
          </a:p>
          <a:p>
            <a:r>
              <a:rPr lang="en-US" b="1" dirty="0" err="1">
                <a:latin typeface="Courier New" panose="02070309020205020404" pitchFamily="49" charset="0"/>
                <a:cs typeface="Courier New" panose="02070309020205020404" pitchFamily="49" charset="0"/>
              </a:rPr>
              <a:t>Pr</a:t>
            </a:r>
            <a:r>
              <a:rPr lang="en-US" b="1" dirty="0">
                <a:latin typeface="Courier New" panose="02070309020205020404" pitchFamily="49" charset="0"/>
                <a:cs typeface="Courier New" panose="02070309020205020404" pitchFamily="49" charset="0"/>
              </a:rPr>
              <a:t>(G) = 0.4</a:t>
            </a:r>
          </a:p>
          <a:p>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74951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7DB58-5975-353D-CB08-0FC3DD95E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F0F31-EBCD-DC70-4601-DDF90F2ECE7F}"/>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183A7543-0014-71FC-3CDF-C721ED84EFD1}"/>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5" name="Oval 4">
            <a:extLst>
              <a:ext uri="{FF2B5EF4-FFF2-40B4-BE49-F238E27FC236}">
                <a16:creationId xmlns:a16="http://schemas.microsoft.com/office/drawing/2014/main" id="{81113835-B715-C26D-59BD-226355604F30}"/>
              </a:ext>
            </a:extLst>
          </p:cNvPr>
          <p:cNvSpPr/>
          <p:nvPr/>
        </p:nvSpPr>
        <p:spPr>
          <a:xfrm>
            <a:off x="6627010" y="3730865"/>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00C92F4-0F58-11B9-09E6-9D718E0BB8A3}"/>
              </a:ext>
            </a:extLst>
          </p:cNvPr>
          <p:cNvSpPr/>
          <p:nvPr/>
        </p:nvSpPr>
        <p:spPr>
          <a:xfrm>
            <a:off x="9587925" y="3730865"/>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C9329504-1DD8-B0FE-2E48-0624DA49FD91}"/>
                  </a:ext>
                </a:extLst>
              </p14:cNvPr>
              <p14:cNvContentPartPr/>
              <p14:nvPr/>
            </p14:nvContentPartPr>
            <p14:xfrm>
              <a:off x="7323588" y="3453905"/>
              <a:ext cx="2343600" cy="472680"/>
            </p14:xfrm>
          </p:contentPart>
        </mc:Choice>
        <mc:Fallback xmlns="">
          <p:pic>
            <p:nvPicPr>
              <p:cNvPr id="12" name="Ink 11">
                <a:extLst>
                  <a:ext uri="{FF2B5EF4-FFF2-40B4-BE49-F238E27FC236}">
                    <a16:creationId xmlns:a16="http://schemas.microsoft.com/office/drawing/2014/main" id="{C9329504-1DD8-B0FE-2E48-0624DA49FD91}"/>
                  </a:ext>
                </a:extLst>
              </p:cNvPr>
              <p:cNvPicPr/>
              <p:nvPr/>
            </p:nvPicPr>
            <p:blipFill>
              <a:blip r:embed="rId3"/>
              <a:stretch>
                <a:fillRect/>
              </a:stretch>
            </p:blipFill>
            <p:spPr>
              <a:xfrm>
                <a:off x="7317467" y="3447785"/>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D951C65E-4C4F-A642-FD4F-C6D5BAF44BC0}"/>
                  </a:ext>
                </a:extLst>
              </p14:cNvPr>
              <p14:cNvContentPartPr/>
              <p14:nvPr/>
            </p14:nvContentPartPr>
            <p14:xfrm>
              <a:off x="7325028" y="4572425"/>
              <a:ext cx="2502720" cy="400320"/>
            </p14:xfrm>
          </p:contentPart>
        </mc:Choice>
        <mc:Fallback xmlns="">
          <p:pic>
            <p:nvPicPr>
              <p:cNvPr id="13" name="Ink 12">
                <a:extLst>
                  <a:ext uri="{FF2B5EF4-FFF2-40B4-BE49-F238E27FC236}">
                    <a16:creationId xmlns:a16="http://schemas.microsoft.com/office/drawing/2014/main" id="{D951C65E-4C4F-A642-FD4F-C6D5BAF44BC0}"/>
                  </a:ext>
                </a:extLst>
              </p:cNvPr>
              <p:cNvPicPr/>
              <p:nvPr/>
            </p:nvPicPr>
            <p:blipFill>
              <a:blip r:embed="rId5"/>
              <a:stretch>
                <a:fillRect/>
              </a:stretch>
            </p:blipFill>
            <p:spPr>
              <a:xfrm>
                <a:off x="7318908" y="4566305"/>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76005D0E-8097-AB66-8EEA-D8268287C0D2}"/>
                  </a:ext>
                </a:extLst>
              </p14:cNvPr>
              <p14:cNvContentPartPr/>
              <p14:nvPr/>
            </p14:nvContentPartPr>
            <p14:xfrm>
              <a:off x="10385748" y="3600065"/>
              <a:ext cx="1329840" cy="1373040"/>
            </p14:xfrm>
          </p:contentPart>
        </mc:Choice>
        <mc:Fallback xmlns="">
          <p:pic>
            <p:nvPicPr>
              <p:cNvPr id="14" name="Ink 13">
                <a:extLst>
                  <a:ext uri="{FF2B5EF4-FFF2-40B4-BE49-F238E27FC236}">
                    <a16:creationId xmlns:a16="http://schemas.microsoft.com/office/drawing/2014/main" id="{76005D0E-8097-AB66-8EEA-D8268287C0D2}"/>
                  </a:ext>
                </a:extLst>
              </p:cNvPr>
              <p:cNvPicPr/>
              <p:nvPr/>
            </p:nvPicPr>
            <p:blipFill>
              <a:blip r:embed="rId7"/>
              <a:stretch>
                <a:fillRect/>
              </a:stretch>
            </p:blipFill>
            <p:spPr>
              <a:xfrm>
                <a:off x="10379628" y="3593945"/>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55B48FB-5374-575D-AF20-9027723CA999}"/>
                  </a:ext>
                </a:extLst>
              </p14:cNvPr>
              <p14:cNvContentPartPr/>
              <p14:nvPr/>
            </p14:nvContentPartPr>
            <p14:xfrm>
              <a:off x="5393268" y="3411425"/>
              <a:ext cx="1371600" cy="1343880"/>
            </p14:xfrm>
          </p:contentPart>
        </mc:Choice>
        <mc:Fallback xmlns="">
          <p:pic>
            <p:nvPicPr>
              <p:cNvPr id="15" name="Ink 14">
                <a:extLst>
                  <a:ext uri="{FF2B5EF4-FFF2-40B4-BE49-F238E27FC236}">
                    <a16:creationId xmlns:a16="http://schemas.microsoft.com/office/drawing/2014/main" id="{355B48FB-5374-575D-AF20-9027723CA999}"/>
                  </a:ext>
                </a:extLst>
              </p:cNvPr>
              <p:cNvPicPr/>
              <p:nvPr/>
            </p:nvPicPr>
            <p:blipFill>
              <a:blip r:embed="rId9"/>
              <a:stretch>
                <a:fillRect/>
              </a:stretch>
            </p:blipFill>
            <p:spPr>
              <a:xfrm>
                <a:off x="5387148" y="3405305"/>
                <a:ext cx="1383840" cy="1356120"/>
              </a:xfrm>
              <a:prstGeom prst="rect">
                <a:avLst/>
              </a:prstGeom>
            </p:spPr>
          </p:pic>
        </mc:Fallback>
      </mc:AlternateContent>
      <p:sp>
        <p:nvSpPr>
          <p:cNvPr id="16" name="TextBox 15">
            <a:extLst>
              <a:ext uri="{FF2B5EF4-FFF2-40B4-BE49-F238E27FC236}">
                <a16:creationId xmlns:a16="http://schemas.microsoft.com/office/drawing/2014/main" id="{B1A913AE-D55F-950A-FACB-994181B8AF4A}"/>
              </a:ext>
            </a:extLst>
          </p:cNvPr>
          <p:cNvSpPr txBox="1"/>
          <p:nvPr/>
        </p:nvSpPr>
        <p:spPr>
          <a:xfrm>
            <a:off x="8099976" y="3070950"/>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C3D6A795-49A8-5F69-E841-445E6BCEA305}"/>
              </a:ext>
            </a:extLst>
          </p:cNvPr>
          <p:cNvSpPr txBox="1"/>
          <p:nvPr/>
        </p:nvSpPr>
        <p:spPr>
          <a:xfrm>
            <a:off x="8099976" y="5129390"/>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D42EA50E-9CC2-7B9E-3024-49DD7B9CD199}"/>
              </a:ext>
            </a:extLst>
          </p:cNvPr>
          <p:cNvSpPr txBox="1"/>
          <p:nvPr/>
        </p:nvSpPr>
        <p:spPr>
          <a:xfrm>
            <a:off x="11715588" y="4083365"/>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1915ED56-5F6A-053C-CAC6-C35D01BEEF9F}"/>
              </a:ext>
            </a:extLst>
          </p:cNvPr>
          <p:cNvSpPr txBox="1"/>
          <p:nvPr/>
        </p:nvSpPr>
        <p:spPr>
          <a:xfrm>
            <a:off x="5840862" y="3042093"/>
            <a:ext cx="476412" cy="369332"/>
          </a:xfrm>
          <a:prstGeom prst="rect">
            <a:avLst/>
          </a:prstGeom>
          <a:noFill/>
        </p:spPr>
        <p:txBody>
          <a:bodyPr wrap="none" rtlCol="0">
            <a:spAutoFit/>
          </a:bodyPr>
          <a:lstStyle/>
          <a:p>
            <a:r>
              <a:rPr lang="en-US" dirty="0"/>
              <a:t>0.2</a:t>
            </a:r>
          </a:p>
        </p:txBody>
      </p:sp>
      <p:sp>
        <p:nvSpPr>
          <p:cNvPr id="21" name="TextBox 20">
            <a:extLst>
              <a:ext uri="{FF2B5EF4-FFF2-40B4-BE49-F238E27FC236}">
                <a16:creationId xmlns:a16="http://schemas.microsoft.com/office/drawing/2014/main" id="{0894BA7D-F776-4BF8-E677-A0F6BD73892D}"/>
              </a:ext>
            </a:extLst>
          </p:cNvPr>
          <p:cNvSpPr txBox="1"/>
          <p:nvPr/>
        </p:nvSpPr>
        <p:spPr>
          <a:xfrm>
            <a:off x="586283" y="1654283"/>
            <a:ext cx="7266605" cy="1846659"/>
          </a:xfrm>
          <a:prstGeom prst="rect">
            <a:avLst/>
          </a:prstGeom>
          <a:noFill/>
        </p:spPr>
        <p:txBody>
          <a:bodyPr wrap="none" rtlCol="0">
            <a:spAutoFit/>
          </a:bodyPr>
          <a:lstStyle/>
          <a:p>
            <a:r>
              <a:rPr lang="en-US" sz="2400" dirty="0">
                <a:cs typeface="Courier New" panose="02070309020205020404" pitchFamily="49" charset="0"/>
              </a:rPr>
              <a:t>Process A</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Pr</a:t>
            </a:r>
            <a:r>
              <a:rPr lang="en-US" sz="2400" dirty="0">
                <a:latin typeface="Courier New" panose="02070309020205020404" pitchFamily="49" charset="0"/>
                <a:cs typeface="Courier New" panose="02070309020205020404" pitchFamily="49" charset="0"/>
              </a:rPr>
              <a:t>(BGGB)=0.6*0.8*0.5*0.5=0.072</a:t>
            </a:r>
          </a:p>
          <a:p>
            <a:r>
              <a:rPr lang="en-US" sz="2400" dirty="0">
                <a:cs typeface="Courier New" panose="02070309020205020404" pitchFamily="49" charset="0"/>
              </a:rPr>
              <a:t>Process B</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Pr</a:t>
            </a:r>
            <a:r>
              <a:rPr lang="en-US" sz="2400" dirty="0">
                <a:latin typeface="Courier New" panose="02070309020205020404" pitchFamily="49" charset="0"/>
                <a:cs typeface="Courier New" panose="02070309020205020404" pitchFamily="49" charset="0"/>
              </a:rPr>
              <a:t>(BGGB)=0.5*0.5*0.5*0.5=0.0625</a:t>
            </a:r>
          </a:p>
          <a:p>
            <a:endParaRPr lang="en-US" sz="2400" dirty="0">
              <a:latin typeface="Courier New" panose="02070309020205020404" pitchFamily="49" charset="0"/>
              <a:cs typeface="Courier New" panose="02070309020205020404" pitchFamily="49" charset="0"/>
            </a:endParaRPr>
          </a:p>
          <a:p>
            <a:r>
              <a:rPr lang="en-US" sz="2400" dirty="0">
                <a:cs typeface="Courier New" panose="02070309020205020404" pitchFamily="49" charset="0"/>
              </a:rPr>
              <a:t>Process A is more likely!</a:t>
            </a:r>
            <a:endParaRPr lang="en-US" sz="2400"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p>
        </p:txBody>
      </p:sp>
      <p:sp>
        <p:nvSpPr>
          <p:cNvPr id="3" name="Oval 2">
            <a:extLst>
              <a:ext uri="{FF2B5EF4-FFF2-40B4-BE49-F238E27FC236}">
                <a16:creationId xmlns:a16="http://schemas.microsoft.com/office/drawing/2014/main" id="{FA86C4D9-A4BF-3ACC-9AD4-5FAFF3380081}"/>
              </a:ext>
            </a:extLst>
          </p:cNvPr>
          <p:cNvSpPr/>
          <p:nvPr/>
        </p:nvSpPr>
        <p:spPr>
          <a:xfrm>
            <a:off x="1477281" y="512939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246441C-F392-A1D1-463F-BCE3C903679F}"/>
              </a:ext>
            </a:extLst>
          </p:cNvPr>
          <p:cNvSpPr/>
          <p:nvPr/>
        </p:nvSpPr>
        <p:spPr>
          <a:xfrm>
            <a:off x="4438196" y="512939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3927AD2-475D-60EA-9294-9FD2D429DD6D}"/>
                  </a:ext>
                </a:extLst>
              </p14:cNvPr>
              <p14:cNvContentPartPr/>
              <p14:nvPr/>
            </p14:nvContentPartPr>
            <p14:xfrm>
              <a:off x="2173859" y="4852430"/>
              <a:ext cx="2343600" cy="472680"/>
            </p14:xfrm>
          </p:contentPart>
        </mc:Choice>
        <mc:Fallback xmlns="">
          <p:pic>
            <p:nvPicPr>
              <p:cNvPr id="8" name="Ink 7">
                <a:extLst>
                  <a:ext uri="{FF2B5EF4-FFF2-40B4-BE49-F238E27FC236}">
                    <a16:creationId xmlns:a16="http://schemas.microsoft.com/office/drawing/2014/main" id="{C3927AD2-475D-60EA-9294-9FD2D429DD6D}"/>
                  </a:ext>
                </a:extLst>
              </p:cNvPr>
              <p:cNvPicPr/>
              <p:nvPr/>
            </p:nvPicPr>
            <p:blipFill>
              <a:blip r:embed="rId11"/>
              <a:stretch>
                <a:fillRect/>
              </a:stretch>
            </p:blipFill>
            <p:spPr>
              <a:xfrm>
                <a:off x="2167738" y="4846310"/>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2C0C83D-57FC-39B6-FF1B-31AB71CBDD14}"/>
                  </a:ext>
                </a:extLst>
              </p14:cNvPr>
              <p14:cNvContentPartPr/>
              <p14:nvPr/>
            </p14:nvContentPartPr>
            <p14:xfrm>
              <a:off x="2175299" y="5970950"/>
              <a:ext cx="2502720" cy="400320"/>
            </p14:xfrm>
          </p:contentPart>
        </mc:Choice>
        <mc:Fallback xmlns="">
          <p:pic>
            <p:nvPicPr>
              <p:cNvPr id="9" name="Ink 8">
                <a:extLst>
                  <a:ext uri="{FF2B5EF4-FFF2-40B4-BE49-F238E27FC236}">
                    <a16:creationId xmlns:a16="http://schemas.microsoft.com/office/drawing/2014/main" id="{52C0C83D-57FC-39B6-FF1B-31AB71CBDD14}"/>
                  </a:ext>
                </a:extLst>
              </p:cNvPr>
              <p:cNvPicPr/>
              <p:nvPr/>
            </p:nvPicPr>
            <p:blipFill>
              <a:blip r:embed="rId5"/>
              <a:stretch>
                <a:fillRect/>
              </a:stretch>
            </p:blipFill>
            <p:spPr>
              <a:xfrm>
                <a:off x="2169179" y="596483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3C9F6E6C-13D4-0E79-7A93-FEA024F8D1F2}"/>
                  </a:ext>
                </a:extLst>
              </p14:cNvPr>
              <p14:cNvContentPartPr/>
              <p14:nvPr/>
            </p14:nvContentPartPr>
            <p14:xfrm>
              <a:off x="5236019" y="4998590"/>
              <a:ext cx="1329840" cy="1373040"/>
            </p14:xfrm>
          </p:contentPart>
        </mc:Choice>
        <mc:Fallback xmlns="">
          <p:pic>
            <p:nvPicPr>
              <p:cNvPr id="10" name="Ink 9">
                <a:extLst>
                  <a:ext uri="{FF2B5EF4-FFF2-40B4-BE49-F238E27FC236}">
                    <a16:creationId xmlns:a16="http://schemas.microsoft.com/office/drawing/2014/main" id="{3C9F6E6C-13D4-0E79-7A93-FEA024F8D1F2}"/>
                  </a:ext>
                </a:extLst>
              </p:cNvPr>
              <p:cNvPicPr/>
              <p:nvPr/>
            </p:nvPicPr>
            <p:blipFill>
              <a:blip r:embed="rId14"/>
              <a:stretch>
                <a:fillRect/>
              </a:stretch>
            </p:blipFill>
            <p:spPr>
              <a:xfrm>
                <a:off x="5229899" y="499247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9C85D91A-D6E9-1E84-0338-6645A2494CD2}"/>
                  </a:ext>
                </a:extLst>
              </p14:cNvPr>
              <p14:cNvContentPartPr/>
              <p14:nvPr/>
            </p14:nvContentPartPr>
            <p14:xfrm>
              <a:off x="243539" y="4809950"/>
              <a:ext cx="1371600" cy="1343880"/>
            </p14:xfrm>
          </p:contentPart>
        </mc:Choice>
        <mc:Fallback xmlns="">
          <p:pic>
            <p:nvPicPr>
              <p:cNvPr id="11" name="Ink 10">
                <a:extLst>
                  <a:ext uri="{FF2B5EF4-FFF2-40B4-BE49-F238E27FC236}">
                    <a16:creationId xmlns:a16="http://schemas.microsoft.com/office/drawing/2014/main" id="{9C85D91A-D6E9-1E84-0338-6645A2494CD2}"/>
                  </a:ext>
                </a:extLst>
              </p:cNvPr>
              <p:cNvPicPr/>
              <p:nvPr/>
            </p:nvPicPr>
            <p:blipFill>
              <a:blip r:embed="rId16"/>
              <a:stretch>
                <a:fillRect/>
              </a:stretch>
            </p:blipFill>
            <p:spPr>
              <a:xfrm>
                <a:off x="237419" y="4803830"/>
                <a:ext cx="1383840" cy="1356120"/>
              </a:xfrm>
              <a:prstGeom prst="rect">
                <a:avLst/>
              </a:prstGeom>
            </p:spPr>
          </p:pic>
        </mc:Fallback>
      </mc:AlternateContent>
      <p:sp>
        <p:nvSpPr>
          <p:cNvPr id="22" name="TextBox 21">
            <a:extLst>
              <a:ext uri="{FF2B5EF4-FFF2-40B4-BE49-F238E27FC236}">
                <a16:creationId xmlns:a16="http://schemas.microsoft.com/office/drawing/2014/main" id="{B661DD2A-651A-E504-B6B9-053C3968D40C}"/>
              </a:ext>
            </a:extLst>
          </p:cNvPr>
          <p:cNvSpPr txBox="1"/>
          <p:nvPr/>
        </p:nvSpPr>
        <p:spPr>
          <a:xfrm>
            <a:off x="2950247" y="4469475"/>
            <a:ext cx="476412" cy="369332"/>
          </a:xfrm>
          <a:prstGeom prst="rect">
            <a:avLst/>
          </a:prstGeom>
          <a:noFill/>
        </p:spPr>
        <p:txBody>
          <a:bodyPr wrap="none" rtlCol="0">
            <a:spAutoFit/>
          </a:bodyPr>
          <a:lstStyle/>
          <a:p>
            <a:r>
              <a:rPr lang="en-US" dirty="0"/>
              <a:t>0.5</a:t>
            </a:r>
          </a:p>
        </p:txBody>
      </p:sp>
      <p:sp>
        <p:nvSpPr>
          <p:cNvPr id="23" name="TextBox 22">
            <a:extLst>
              <a:ext uri="{FF2B5EF4-FFF2-40B4-BE49-F238E27FC236}">
                <a16:creationId xmlns:a16="http://schemas.microsoft.com/office/drawing/2014/main" id="{DB8E3D20-DE82-E221-FC04-FFF6D9126165}"/>
              </a:ext>
            </a:extLst>
          </p:cNvPr>
          <p:cNvSpPr txBox="1"/>
          <p:nvPr/>
        </p:nvSpPr>
        <p:spPr>
          <a:xfrm>
            <a:off x="2950247" y="6527915"/>
            <a:ext cx="476412" cy="369332"/>
          </a:xfrm>
          <a:prstGeom prst="rect">
            <a:avLst/>
          </a:prstGeom>
          <a:noFill/>
        </p:spPr>
        <p:txBody>
          <a:bodyPr wrap="none" rtlCol="0">
            <a:spAutoFit/>
          </a:bodyPr>
          <a:lstStyle/>
          <a:p>
            <a:r>
              <a:rPr lang="en-US" dirty="0"/>
              <a:t>0.5</a:t>
            </a:r>
          </a:p>
        </p:txBody>
      </p:sp>
      <p:sp>
        <p:nvSpPr>
          <p:cNvPr id="24" name="TextBox 23">
            <a:extLst>
              <a:ext uri="{FF2B5EF4-FFF2-40B4-BE49-F238E27FC236}">
                <a16:creationId xmlns:a16="http://schemas.microsoft.com/office/drawing/2014/main" id="{85701581-6B4A-D1BC-1234-12A7EE2E6F44}"/>
              </a:ext>
            </a:extLst>
          </p:cNvPr>
          <p:cNvSpPr txBox="1"/>
          <p:nvPr/>
        </p:nvSpPr>
        <p:spPr>
          <a:xfrm>
            <a:off x="6565859" y="5481890"/>
            <a:ext cx="476412" cy="369332"/>
          </a:xfrm>
          <a:prstGeom prst="rect">
            <a:avLst/>
          </a:prstGeom>
          <a:noFill/>
        </p:spPr>
        <p:txBody>
          <a:bodyPr wrap="none" rtlCol="0">
            <a:spAutoFit/>
          </a:bodyPr>
          <a:lstStyle/>
          <a:p>
            <a:r>
              <a:rPr lang="en-US" dirty="0"/>
              <a:t>0.5</a:t>
            </a:r>
          </a:p>
        </p:txBody>
      </p:sp>
      <p:sp>
        <p:nvSpPr>
          <p:cNvPr id="25" name="TextBox 24">
            <a:extLst>
              <a:ext uri="{FF2B5EF4-FFF2-40B4-BE49-F238E27FC236}">
                <a16:creationId xmlns:a16="http://schemas.microsoft.com/office/drawing/2014/main" id="{90B85F7D-5A78-6D05-4A5E-C13E3A42E381}"/>
              </a:ext>
            </a:extLst>
          </p:cNvPr>
          <p:cNvSpPr txBox="1"/>
          <p:nvPr/>
        </p:nvSpPr>
        <p:spPr>
          <a:xfrm>
            <a:off x="691133" y="4440618"/>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FD668653-37D0-3DD2-1788-64D10F0F1F04}"/>
              </a:ext>
            </a:extLst>
          </p:cNvPr>
          <p:cNvSpPr txBox="1"/>
          <p:nvPr/>
        </p:nvSpPr>
        <p:spPr>
          <a:xfrm>
            <a:off x="6317274" y="2738760"/>
            <a:ext cx="5076390" cy="369332"/>
          </a:xfrm>
          <a:prstGeom prst="rect">
            <a:avLst/>
          </a:prstGeom>
          <a:noFill/>
        </p:spPr>
        <p:txBody>
          <a:bodyPr wrap="none" rtlCol="0">
            <a:spAutoFit/>
          </a:bodyPr>
          <a:lstStyle/>
          <a:p>
            <a:r>
              <a:rPr lang="en-US" dirty="0"/>
              <a:t>Process A: Starting probabilities </a:t>
            </a:r>
            <a:r>
              <a:rPr lang="en-US" dirty="0" err="1"/>
              <a:t>Pr</a:t>
            </a:r>
            <a:r>
              <a:rPr lang="en-US" dirty="0"/>
              <a:t>(B)=0.6, </a:t>
            </a:r>
            <a:r>
              <a:rPr lang="en-US" dirty="0" err="1"/>
              <a:t>Pr</a:t>
            </a:r>
            <a:r>
              <a:rPr lang="en-US" dirty="0"/>
              <a:t>(G)=0.4</a:t>
            </a:r>
          </a:p>
        </p:txBody>
      </p:sp>
      <p:sp>
        <p:nvSpPr>
          <p:cNvPr id="27" name="TextBox 26">
            <a:extLst>
              <a:ext uri="{FF2B5EF4-FFF2-40B4-BE49-F238E27FC236}">
                <a16:creationId xmlns:a16="http://schemas.microsoft.com/office/drawing/2014/main" id="{F4B7DEF5-589C-BED9-D558-419B038A9C43}"/>
              </a:ext>
            </a:extLst>
          </p:cNvPr>
          <p:cNvSpPr txBox="1"/>
          <p:nvPr/>
        </p:nvSpPr>
        <p:spPr>
          <a:xfrm>
            <a:off x="347037" y="4176790"/>
            <a:ext cx="5076390" cy="369332"/>
          </a:xfrm>
          <a:prstGeom prst="rect">
            <a:avLst/>
          </a:prstGeom>
          <a:noFill/>
        </p:spPr>
        <p:txBody>
          <a:bodyPr wrap="none" rtlCol="0">
            <a:spAutoFit/>
          </a:bodyPr>
          <a:lstStyle/>
          <a:p>
            <a:r>
              <a:rPr lang="en-US" dirty="0"/>
              <a:t>Process B: Starting probabilities </a:t>
            </a:r>
            <a:r>
              <a:rPr lang="en-US" dirty="0" err="1"/>
              <a:t>Pr</a:t>
            </a:r>
            <a:r>
              <a:rPr lang="en-US" dirty="0"/>
              <a:t>(B)=0.5, </a:t>
            </a:r>
            <a:r>
              <a:rPr lang="en-US" dirty="0" err="1"/>
              <a:t>Pr</a:t>
            </a:r>
            <a:r>
              <a:rPr lang="en-US" dirty="0"/>
              <a:t>(G)=0.5</a:t>
            </a:r>
          </a:p>
        </p:txBody>
      </p:sp>
    </p:spTree>
    <p:extLst>
      <p:ext uri="{BB962C8B-B14F-4D97-AF65-F5344CB8AC3E}">
        <p14:creationId xmlns:p14="http://schemas.microsoft.com/office/powerpoint/2010/main" val="100758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1830-2F22-BD90-EAE8-288CE00FE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2E52E-C178-5C96-DEF5-6B9A6F59EC91}"/>
              </a:ext>
            </a:extLst>
          </p:cNvPr>
          <p:cNvSpPr>
            <a:spLocks noGrp="1"/>
          </p:cNvSpPr>
          <p:nvPr>
            <p:ph type="title"/>
          </p:nvPr>
        </p:nvSpPr>
        <p:spPr>
          <a:xfrm>
            <a:off x="598620" y="136524"/>
            <a:ext cx="6658828" cy="1001901"/>
          </a:xfrm>
        </p:spPr>
        <p:txBody>
          <a:bodyPr>
            <a:normAutofit/>
          </a:bodyPr>
          <a:lstStyle/>
          <a:p>
            <a:r>
              <a:rPr lang="en-US" dirty="0"/>
              <a:t>Training Markov chain</a:t>
            </a:r>
          </a:p>
        </p:txBody>
      </p:sp>
      <p:sp>
        <p:nvSpPr>
          <p:cNvPr id="3" name="Content Placeholder 2">
            <a:extLst>
              <a:ext uri="{FF2B5EF4-FFF2-40B4-BE49-F238E27FC236}">
                <a16:creationId xmlns:a16="http://schemas.microsoft.com/office/drawing/2014/main" id="{46A9CE8A-8961-BF4E-40DE-A60A651AE001}"/>
              </a:ext>
            </a:extLst>
          </p:cNvPr>
          <p:cNvSpPr>
            <a:spLocks noGrp="1"/>
          </p:cNvSpPr>
          <p:nvPr>
            <p:ph idx="1"/>
          </p:nvPr>
        </p:nvSpPr>
        <p:spPr>
          <a:xfrm>
            <a:off x="598620" y="1596540"/>
            <a:ext cx="10972800" cy="4881262"/>
          </a:xfrm>
        </p:spPr>
        <p:txBody>
          <a:bodyPr>
            <a:normAutofit fontScale="85000" lnSpcReduction="20000"/>
          </a:bodyPr>
          <a:lstStyle/>
          <a:p>
            <a:r>
              <a:rPr lang="en-US" dirty="0"/>
              <a:t>Training Markov chain involves estimating transition probability matrix from the data under a given model</a:t>
            </a:r>
          </a:p>
          <a:p>
            <a:r>
              <a:rPr lang="en-US" dirty="0"/>
              <a:t>1</a:t>
            </a:r>
            <a:r>
              <a:rPr lang="en-US" baseline="30000" dirty="0"/>
              <a:t>st</a:t>
            </a:r>
            <a:r>
              <a:rPr lang="en-US" dirty="0"/>
              <a:t> order Markov chain for DNA: the probability of the next letter depends only on the previous letter in the pattern</a:t>
            </a:r>
          </a:p>
          <a:p>
            <a:r>
              <a:rPr lang="en-US" dirty="0"/>
              <a:t>One can estimate transition probabilities by counting all tuples </a:t>
            </a:r>
            <a:r>
              <a:rPr lang="en-US" i="1" dirty="0"/>
              <a:t>T</a:t>
            </a:r>
            <a:r>
              <a:rPr lang="en-US" i="1" baseline="-25000" dirty="0"/>
              <a:t>i</a:t>
            </a:r>
            <a:r>
              <a:rPr lang="en-US" dirty="0"/>
              <a:t>=(“AA”,”AC”,”AG”,”AT”,”CA”,....,”TT”) in the DNA data, and dividing the count of each tuple starting with A, C, G, T by the total number of </a:t>
            </a:r>
            <a:r>
              <a:rPr lang="en-US" i="1" dirty="0"/>
              <a:t>T</a:t>
            </a:r>
            <a:r>
              <a:rPr lang="en-US" i="1" baseline="-25000" dirty="0"/>
              <a:t>i</a:t>
            </a:r>
            <a:r>
              <a:rPr lang="en-US" dirty="0"/>
              <a:t> starting with A, C, G and T</a:t>
            </a:r>
            <a:br>
              <a:rPr lang="en-US" dirty="0"/>
            </a:br>
            <a:br>
              <a:rPr lang="en-US" dirty="0"/>
            </a:br>
            <a:r>
              <a:rPr lang="en-US" dirty="0"/>
              <a:t>                                                                                                                                   </a:t>
            </a:r>
            <a:r>
              <a:rPr lang="en-US" dirty="0">
                <a:latin typeface="Courier New" panose="02070309020205020404" pitchFamily="49" charset="0"/>
                <a:cs typeface="Courier New" panose="02070309020205020404" pitchFamily="49" charset="0"/>
              </a:rPr>
              <a:t>To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C  G  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.1 .4 .4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From  C .2 .2 .3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G .4 .4 .1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T .5 .1 .2 .2</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rows must add up to 1</a:t>
            </a:r>
          </a:p>
        </p:txBody>
      </p:sp>
      <p:sp>
        <p:nvSpPr>
          <p:cNvPr id="4" name="Slide Number Placeholder 3">
            <a:extLst>
              <a:ext uri="{FF2B5EF4-FFF2-40B4-BE49-F238E27FC236}">
                <a16:creationId xmlns:a16="http://schemas.microsoft.com/office/drawing/2014/main" id="{F71D7956-B3FD-B407-50A8-4BC5889656FD}"/>
              </a:ext>
            </a:extLst>
          </p:cNvPr>
          <p:cNvSpPr>
            <a:spLocks noGrp="1"/>
          </p:cNvSpPr>
          <p:nvPr>
            <p:ph type="sldNum" sz="quarter" idx="12"/>
          </p:nvPr>
        </p:nvSpPr>
        <p:spPr/>
        <p:txBody>
          <a:bodyPr/>
          <a:lstStyle/>
          <a:p>
            <a:fld id="{B82CCC60-E8CD-4174-8B1A-7DF615B22EEF}" type="slidenum">
              <a:rPr lang="en-US" smtClean="0"/>
              <a:pPr/>
              <a:t>21</a:t>
            </a:fld>
            <a:endParaRPr lang="en-US"/>
          </a:p>
        </p:txBody>
      </p:sp>
      <p:sp>
        <p:nvSpPr>
          <p:cNvPr id="6" name="Oval 5">
            <a:extLst>
              <a:ext uri="{FF2B5EF4-FFF2-40B4-BE49-F238E27FC236}">
                <a16:creationId xmlns:a16="http://schemas.microsoft.com/office/drawing/2014/main" id="{84D88730-55CE-1903-FE19-C1BBC06C1308}"/>
              </a:ext>
            </a:extLst>
          </p:cNvPr>
          <p:cNvSpPr/>
          <p:nvPr/>
        </p:nvSpPr>
        <p:spPr>
          <a:xfrm>
            <a:off x="3012707" y="4292867"/>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8" name="Oval 7">
            <a:extLst>
              <a:ext uri="{FF2B5EF4-FFF2-40B4-BE49-F238E27FC236}">
                <a16:creationId xmlns:a16="http://schemas.microsoft.com/office/drawing/2014/main" id="{461674E9-B7A4-E483-C0E4-1A2493297659}"/>
              </a:ext>
            </a:extLst>
          </p:cNvPr>
          <p:cNvSpPr/>
          <p:nvPr/>
        </p:nvSpPr>
        <p:spPr>
          <a:xfrm>
            <a:off x="4945780" y="4292867"/>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 name="Oval 8">
            <a:extLst>
              <a:ext uri="{FF2B5EF4-FFF2-40B4-BE49-F238E27FC236}">
                <a16:creationId xmlns:a16="http://schemas.microsoft.com/office/drawing/2014/main" id="{706E1422-10F4-B173-60AD-CC5AAD789030}"/>
              </a:ext>
            </a:extLst>
          </p:cNvPr>
          <p:cNvSpPr/>
          <p:nvPr/>
        </p:nvSpPr>
        <p:spPr>
          <a:xfrm>
            <a:off x="3012706" y="5638799"/>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0" name="Oval 9">
            <a:extLst>
              <a:ext uri="{FF2B5EF4-FFF2-40B4-BE49-F238E27FC236}">
                <a16:creationId xmlns:a16="http://schemas.microsoft.com/office/drawing/2014/main" id="{41F1BB44-55C3-790B-8096-680B2C6C3776}"/>
              </a:ext>
            </a:extLst>
          </p:cNvPr>
          <p:cNvSpPr/>
          <p:nvPr/>
        </p:nvSpPr>
        <p:spPr>
          <a:xfrm>
            <a:off x="4945779" y="5638799"/>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12" name="Straight Arrow Connector 11">
            <a:extLst>
              <a:ext uri="{FF2B5EF4-FFF2-40B4-BE49-F238E27FC236}">
                <a16:creationId xmlns:a16="http://schemas.microsoft.com/office/drawing/2014/main" id="{2F530CA4-291D-38A6-389D-70042A9E178C}"/>
              </a:ext>
            </a:extLst>
          </p:cNvPr>
          <p:cNvCxnSpPr>
            <a:cxnSpLocks/>
          </p:cNvCxnSpPr>
          <p:nvPr/>
        </p:nvCxnSpPr>
        <p:spPr>
          <a:xfrm>
            <a:off x="3647975" y="4629751"/>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BE1B286-7046-5E13-08D3-A3A9851766F4}"/>
              </a:ext>
            </a:extLst>
          </p:cNvPr>
          <p:cNvCxnSpPr>
            <a:stCxn id="6" idx="5"/>
            <a:endCxn id="10" idx="1"/>
          </p:cNvCxnSpPr>
          <p:nvPr/>
        </p:nvCxnSpPr>
        <p:spPr>
          <a:xfrm>
            <a:off x="3497432" y="4769377"/>
            <a:ext cx="1531513" cy="951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8809807-A0AC-755E-BA42-837D89BA896B}"/>
              </a:ext>
            </a:extLst>
          </p:cNvPr>
          <p:cNvCxnSpPr>
            <a:cxnSpLocks/>
          </p:cNvCxnSpPr>
          <p:nvPr/>
        </p:nvCxnSpPr>
        <p:spPr>
          <a:xfrm>
            <a:off x="3158109" y="4851133"/>
            <a:ext cx="0" cy="787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3F949105-0B45-D33B-883D-5C2A583F7E38}"/>
                  </a:ext>
                </a:extLst>
              </p14:cNvPr>
              <p14:cNvContentPartPr/>
              <p14:nvPr/>
            </p14:nvContentPartPr>
            <p14:xfrm>
              <a:off x="2482029" y="4051326"/>
              <a:ext cx="676080" cy="723240"/>
            </p14:xfrm>
          </p:contentPart>
        </mc:Choice>
        <mc:Fallback xmlns="">
          <p:pic>
            <p:nvPicPr>
              <p:cNvPr id="17" name="Ink 16">
                <a:extLst>
                  <a:ext uri="{FF2B5EF4-FFF2-40B4-BE49-F238E27FC236}">
                    <a16:creationId xmlns:a16="http://schemas.microsoft.com/office/drawing/2014/main" id="{3F949105-0B45-D33B-883D-5C2A583F7E38}"/>
                  </a:ext>
                </a:extLst>
              </p:cNvPr>
              <p:cNvPicPr/>
              <p:nvPr/>
            </p:nvPicPr>
            <p:blipFill>
              <a:blip r:embed="rId4"/>
              <a:stretch>
                <a:fillRect/>
              </a:stretch>
            </p:blipFill>
            <p:spPr>
              <a:xfrm>
                <a:off x="2475909" y="4045206"/>
                <a:ext cx="688320" cy="735480"/>
              </a:xfrm>
              <a:prstGeom prst="rect">
                <a:avLst/>
              </a:prstGeom>
            </p:spPr>
          </p:pic>
        </mc:Fallback>
      </mc:AlternateContent>
      <p:cxnSp>
        <p:nvCxnSpPr>
          <p:cNvPr id="18" name="Straight Arrow Connector 17">
            <a:extLst>
              <a:ext uri="{FF2B5EF4-FFF2-40B4-BE49-F238E27FC236}">
                <a16:creationId xmlns:a16="http://schemas.microsoft.com/office/drawing/2014/main" id="{52B51CC2-844B-F65A-331D-E5AAC5DDE0F5}"/>
              </a:ext>
            </a:extLst>
          </p:cNvPr>
          <p:cNvCxnSpPr>
            <a:cxnSpLocks/>
          </p:cNvCxnSpPr>
          <p:nvPr/>
        </p:nvCxnSpPr>
        <p:spPr>
          <a:xfrm flipH="1">
            <a:off x="3647975" y="4494998"/>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0C22E34-9B1A-6FF9-6722-C167D1206891}"/>
              </a:ext>
            </a:extLst>
          </p:cNvPr>
          <p:cNvCxnSpPr>
            <a:cxnSpLocks/>
          </p:cNvCxnSpPr>
          <p:nvPr/>
        </p:nvCxnSpPr>
        <p:spPr>
          <a:xfrm>
            <a:off x="3647975" y="5966059"/>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8AB1EB7-16F2-4116-B746-63ED3F3884C1}"/>
              </a:ext>
            </a:extLst>
          </p:cNvPr>
          <p:cNvCxnSpPr>
            <a:cxnSpLocks/>
          </p:cNvCxnSpPr>
          <p:nvPr/>
        </p:nvCxnSpPr>
        <p:spPr>
          <a:xfrm flipH="1">
            <a:off x="3647975" y="5831306"/>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F97A8D2-5B10-8B5C-2225-A87F6194982F}"/>
              </a:ext>
            </a:extLst>
          </p:cNvPr>
          <p:cNvCxnSpPr>
            <a:cxnSpLocks/>
          </p:cNvCxnSpPr>
          <p:nvPr/>
        </p:nvCxnSpPr>
        <p:spPr>
          <a:xfrm flipV="1">
            <a:off x="3368842" y="4851133"/>
            <a:ext cx="0" cy="730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10613DD-C423-8427-5E95-70334430298D}"/>
              </a:ext>
            </a:extLst>
          </p:cNvPr>
          <p:cNvCxnSpPr>
            <a:cxnSpLocks/>
          </p:cNvCxnSpPr>
          <p:nvPr/>
        </p:nvCxnSpPr>
        <p:spPr>
          <a:xfrm>
            <a:off x="5110734" y="4851133"/>
            <a:ext cx="0" cy="787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B846A1B-05DF-02B3-5569-A3A9C1CECF20}"/>
              </a:ext>
            </a:extLst>
          </p:cNvPr>
          <p:cNvCxnSpPr>
            <a:cxnSpLocks/>
          </p:cNvCxnSpPr>
          <p:nvPr/>
        </p:nvCxnSpPr>
        <p:spPr>
          <a:xfrm flipV="1">
            <a:off x="5321467" y="4851133"/>
            <a:ext cx="0" cy="730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35" name="Ink 34">
                <a:extLst>
                  <a:ext uri="{FF2B5EF4-FFF2-40B4-BE49-F238E27FC236}">
                    <a16:creationId xmlns:a16="http://schemas.microsoft.com/office/drawing/2014/main" id="{23CB235E-5115-5714-4CFE-743E54F28F07}"/>
                  </a:ext>
                </a:extLst>
              </p14:cNvPr>
              <p14:cNvContentPartPr/>
              <p14:nvPr/>
            </p14:nvContentPartPr>
            <p14:xfrm rot="8239620">
              <a:off x="5477077" y="4039666"/>
              <a:ext cx="676080" cy="723240"/>
            </p14:xfrm>
          </p:contentPart>
        </mc:Choice>
        <mc:Fallback xmlns="">
          <p:pic>
            <p:nvPicPr>
              <p:cNvPr id="35" name="Ink 34">
                <a:extLst>
                  <a:ext uri="{FF2B5EF4-FFF2-40B4-BE49-F238E27FC236}">
                    <a16:creationId xmlns:a16="http://schemas.microsoft.com/office/drawing/2014/main" id="{23CB235E-5115-5714-4CFE-743E54F28F07}"/>
                  </a:ext>
                </a:extLst>
              </p:cNvPr>
              <p:cNvPicPr/>
              <p:nvPr/>
            </p:nvPicPr>
            <p:blipFill>
              <a:blip r:embed="rId4"/>
              <a:stretch>
                <a:fillRect/>
              </a:stretch>
            </p:blipFill>
            <p:spPr>
              <a:xfrm rot="8239620">
                <a:off x="5470957" y="4033546"/>
                <a:ext cx="688320" cy="735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6" name="Ink 35">
                <a:extLst>
                  <a:ext uri="{FF2B5EF4-FFF2-40B4-BE49-F238E27FC236}">
                    <a16:creationId xmlns:a16="http://schemas.microsoft.com/office/drawing/2014/main" id="{4613518A-7DB2-48FB-6968-443E937B063A}"/>
                  </a:ext>
                </a:extLst>
              </p14:cNvPr>
              <p14:cNvContentPartPr/>
              <p14:nvPr/>
            </p14:nvContentPartPr>
            <p14:xfrm rot="18253453">
              <a:off x="2427902" y="5830613"/>
              <a:ext cx="676080" cy="723240"/>
            </p14:xfrm>
          </p:contentPart>
        </mc:Choice>
        <mc:Fallback xmlns="">
          <p:pic>
            <p:nvPicPr>
              <p:cNvPr id="36" name="Ink 35">
                <a:extLst>
                  <a:ext uri="{FF2B5EF4-FFF2-40B4-BE49-F238E27FC236}">
                    <a16:creationId xmlns:a16="http://schemas.microsoft.com/office/drawing/2014/main" id="{4613518A-7DB2-48FB-6968-443E937B063A}"/>
                  </a:ext>
                </a:extLst>
              </p:cNvPr>
              <p:cNvPicPr/>
              <p:nvPr/>
            </p:nvPicPr>
            <p:blipFill>
              <a:blip r:embed="rId4"/>
              <a:stretch>
                <a:fillRect/>
              </a:stretch>
            </p:blipFill>
            <p:spPr>
              <a:xfrm rot="18253453">
                <a:off x="2421782" y="5824493"/>
                <a:ext cx="688320" cy="735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19FAC484-E233-B2DC-7236-C3766353B3B8}"/>
                  </a:ext>
                </a:extLst>
              </p14:cNvPr>
              <p14:cNvContentPartPr/>
              <p14:nvPr/>
            </p14:nvContentPartPr>
            <p14:xfrm rot="11019232">
              <a:off x="5397562" y="5874122"/>
              <a:ext cx="676080" cy="723240"/>
            </p14:xfrm>
          </p:contentPart>
        </mc:Choice>
        <mc:Fallback xmlns="">
          <p:pic>
            <p:nvPicPr>
              <p:cNvPr id="37" name="Ink 36">
                <a:extLst>
                  <a:ext uri="{FF2B5EF4-FFF2-40B4-BE49-F238E27FC236}">
                    <a16:creationId xmlns:a16="http://schemas.microsoft.com/office/drawing/2014/main" id="{19FAC484-E233-B2DC-7236-C3766353B3B8}"/>
                  </a:ext>
                </a:extLst>
              </p:cNvPr>
              <p:cNvPicPr/>
              <p:nvPr/>
            </p:nvPicPr>
            <p:blipFill>
              <a:blip r:embed="rId4"/>
              <a:stretch>
                <a:fillRect/>
              </a:stretch>
            </p:blipFill>
            <p:spPr>
              <a:xfrm rot="11019232">
                <a:off x="5391442" y="5868002"/>
                <a:ext cx="688320" cy="735480"/>
              </a:xfrm>
              <a:prstGeom prst="rect">
                <a:avLst/>
              </a:prstGeom>
            </p:spPr>
          </p:pic>
        </mc:Fallback>
      </mc:AlternateContent>
      <p:cxnSp>
        <p:nvCxnSpPr>
          <p:cNvPr id="38" name="Straight Arrow Connector 37">
            <a:extLst>
              <a:ext uri="{FF2B5EF4-FFF2-40B4-BE49-F238E27FC236}">
                <a16:creationId xmlns:a16="http://schemas.microsoft.com/office/drawing/2014/main" id="{7ACF8FDB-9316-7911-73BB-1103E226018A}"/>
              </a:ext>
            </a:extLst>
          </p:cNvPr>
          <p:cNvCxnSpPr>
            <a:cxnSpLocks/>
          </p:cNvCxnSpPr>
          <p:nvPr/>
        </p:nvCxnSpPr>
        <p:spPr>
          <a:xfrm flipH="1" flipV="1">
            <a:off x="3497432" y="4896290"/>
            <a:ext cx="1398592" cy="872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DB94326-5DF3-E91F-2C87-131B174A124A}"/>
              </a:ext>
            </a:extLst>
          </p:cNvPr>
          <p:cNvCxnSpPr>
            <a:cxnSpLocks/>
          </p:cNvCxnSpPr>
          <p:nvPr/>
        </p:nvCxnSpPr>
        <p:spPr>
          <a:xfrm flipV="1">
            <a:off x="3611205" y="4780724"/>
            <a:ext cx="1284819" cy="903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3BFF766-5FE9-0276-534A-876E4A9322B2}"/>
              </a:ext>
            </a:extLst>
          </p:cNvPr>
          <p:cNvCxnSpPr>
            <a:cxnSpLocks/>
          </p:cNvCxnSpPr>
          <p:nvPr/>
        </p:nvCxnSpPr>
        <p:spPr>
          <a:xfrm flipH="1">
            <a:off x="3630352" y="4904130"/>
            <a:ext cx="1315427" cy="864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66C14CA-88FE-1B7F-478F-6E161B35006D}"/>
              </a:ext>
            </a:extLst>
          </p:cNvPr>
          <p:cNvCxnSpPr>
            <a:cxnSpLocks/>
          </p:cNvCxnSpPr>
          <p:nvPr/>
        </p:nvCxnSpPr>
        <p:spPr>
          <a:xfrm>
            <a:off x="8835222" y="4689548"/>
            <a:ext cx="24042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6E53995-9AB7-7CAF-24E4-BC605C1D4478}"/>
              </a:ext>
            </a:extLst>
          </p:cNvPr>
          <p:cNvCxnSpPr>
            <a:cxnSpLocks/>
          </p:cNvCxnSpPr>
          <p:nvPr/>
        </p:nvCxnSpPr>
        <p:spPr>
          <a:xfrm>
            <a:off x="9140833" y="4351347"/>
            <a:ext cx="0" cy="16147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49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A4562-32A5-47EA-41DF-D9039FF14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4983D-5AB3-5723-9340-BBD4D5C4A3AF}"/>
              </a:ext>
            </a:extLst>
          </p:cNvPr>
          <p:cNvSpPr>
            <a:spLocks noGrp="1"/>
          </p:cNvSpPr>
          <p:nvPr>
            <p:ph type="title"/>
          </p:nvPr>
        </p:nvSpPr>
        <p:spPr>
          <a:xfrm>
            <a:off x="598620" y="136524"/>
            <a:ext cx="6658828" cy="1001901"/>
          </a:xfrm>
        </p:spPr>
        <p:txBody>
          <a:bodyPr>
            <a:normAutofit/>
          </a:bodyPr>
          <a:lstStyle/>
          <a:p>
            <a:r>
              <a:rPr lang="en-US" dirty="0"/>
              <a:t>Scoring with Markov chain</a:t>
            </a:r>
          </a:p>
        </p:txBody>
      </p:sp>
      <p:sp>
        <p:nvSpPr>
          <p:cNvPr id="3" name="Content Placeholder 2">
            <a:extLst>
              <a:ext uri="{FF2B5EF4-FFF2-40B4-BE49-F238E27FC236}">
                <a16:creationId xmlns:a16="http://schemas.microsoft.com/office/drawing/2014/main" id="{B814D584-A877-B46B-2BDD-8844F77B3C21}"/>
              </a:ext>
            </a:extLst>
          </p:cNvPr>
          <p:cNvSpPr>
            <a:spLocks noGrp="1"/>
          </p:cNvSpPr>
          <p:nvPr>
            <p:ph idx="1"/>
          </p:nvPr>
        </p:nvSpPr>
        <p:spPr>
          <a:xfrm>
            <a:off x="598620" y="1596540"/>
            <a:ext cx="10972800" cy="4881262"/>
          </a:xfrm>
        </p:spPr>
        <p:txBody>
          <a:bodyPr>
            <a:normAutofit fontScale="70000" lnSpcReduction="20000"/>
          </a:bodyPr>
          <a:lstStyle/>
          <a:p>
            <a:r>
              <a:rPr lang="en-US" dirty="0"/>
              <a:t>Imagine sequence AGCG, all starting probabilities are equal to 0.25.  Its probability under this Markov model is P = 0.25*0.4*0.4*0.3=0.012</a:t>
            </a:r>
          </a:p>
          <a:p>
            <a:r>
              <a:rPr lang="en-US" dirty="0"/>
              <a:t>Probability that this sequence has ben generated from a random walk is 0.25</a:t>
            </a:r>
            <a:r>
              <a:rPr lang="en-US" baseline="30000" dirty="0"/>
              <a:t>4</a:t>
            </a:r>
            <a:r>
              <a:rPr lang="en-US" dirty="0"/>
              <a:t> = 0.00390625</a:t>
            </a:r>
          </a:p>
          <a:p>
            <a:r>
              <a:rPr lang="en-US" dirty="0"/>
              <a:t>You can compare probabilities between different Markov chain models to see which model is more likely to have generated the pattern </a:t>
            </a:r>
            <a:br>
              <a:rPr lang="en-US" dirty="0"/>
            </a:br>
            <a:r>
              <a:rPr lang="en-US" dirty="0"/>
              <a:t>                                                                                                                                   </a:t>
            </a:r>
            <a:r>
              <a:rPr lang="en-US" dirty="0">
                <a:latin typeface="Courier New" panose="02070309020205020404" pitchFamily="49" charset="0"/>
                <a:cs typeface="Courier New" panose="02070309020205020404" pitchFamily="49" charset="0"/>
              </a:rPr>
              <a:t>To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C  G  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.1 .4 .4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Model 1     From  C .2 .2 .3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G .4 .4 .1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T .5 .1 .2 .2</a:t>
            </a:r>
            <a:br>
              <a:rPr lang="en-US" dirty="0">
                <a:latin typeface="Courier New" panose="02070309020205020404" pitchFamily="49" charset="0"/>
                <a:cs typeface="Courier New" panose="02070309020205020404" pitchFamily="49" charset="0"/>
              </a:rPr>
            </a:br>
            <a:r>
              <a:rPr lang="en-US" dirty="0"/>
              <a:t>                                                                                                                                     </a:t>
            </a:r>
            <a:br>
              <a:rPr lang="en-US" dirty="0"/>
            </a:br>
            <a:r>
              <a:rPr lang="en-US" dirty="0"/>
              <a:t>                                                                                                                                         </a:t>
            </a:r>
            <a:r>
              <a:rPr lang="en-US" dirty="0">
                <a:latin typeface="Courier New" panose="02070309020205020404" pitchFamily="49" charset="0"/>
                <a:cs typeface="Courier New" panose="02070309020205020404" pitchFamily="49" charset="0"/>
              </a:rPr>
              <a:t>To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C   G   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 .25 .25 .25 .25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Model 2     From  C .25 .25 .25 .25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(random walk)        G .25 .25 .25 .25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T .25 .25 .25 .25</a:t>
            </a:r>
            <a:br>
              <a:rPr lang="en-US" dirty="0">
                <a:latin typeface="Courier New" panose="02070309020205020404" pitchFamily="49" charset="0"/>
                <a:cs typeface="Courier New" panose="02070309020205020404" pitchFamily="49" charset="0"/>
              </a:rPr>
            </a:br>
            <a:r>
              <a:rPr lang="en-US" dirty="0"/>
              <a:t>                                                                                  </a:t>
            </a:r>
          </a:p>
        </p:txBody>
      </p:sp>
      <p:sp>
        <p:nvSpPr>
          <p:cNvPr id="4" name="Slide Number Placeholder 3">
            <a:extLst>
              <a:ext uri="{FF2B5EF4-FFF2-40B4-BE49-F238E27FC236}">
                <a16:creationId xmlns:a16="http://schemas.microsoft.com/office/drawing/2014/main" id="{DD17D4E3-FB67-AB3C-18D7-C21E0ED269FB}"/>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6" name="Oval 5">
            <a:extLst>
              <a:ext uri="{FF2B5EF4-FFF2-40B4-BE49-F238E27FC236}">
                <a16:creationId xmlns:a16="http://schemas.microsoft.com/office/drawing/2014/main" id="{E012A8A2-7B59-9583-E70B-A8BBD1DB760D}"/>
              </a:ext>
            </a:extLst>
          </p:cNvPr>
          <p:cNvSpPr/>
          <p:nvPr/>
        </p:nvSpPr>
        <p:spPr>
          <a:xfrm>
            <a:off x="834405" y="3536235"/>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8" name="Oval 7">
            <a:extLst>
              <a:ext uri="{FF2B5EF4-FFF2-40B4-BE49-F238E27FC236}">
                <a16:creationId xmlns:a16="http://schemas.microsoft.com/office/drawing/2014/main" id="{C99FAF67-3970-E829-844D-FFB7DDFBE3BF}"/>
              </a:ext>
            </a:extLst>
          </p:cNvPr>
          <p:cNvSpPr/>
          <p:nvPr/>
        </p:nvSpPr>
        <p:spPr>
          <a:xfrm>
            <a:off x="2767478" y="3536235"/>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 name="Oval 8">
            <a:extLst>
              <a:ext uri="{FF2B5EF4-FFF2-40B4-BE49-F238E27FC236}">
                <a16:creationId xmlns:a16="http://schemas.microsoft.com/office/drawing/2014/main" id="{31C1D808-FD07-ECC4-51C1-161FE711A8EC}"/>
              </a:ext>
            </a:extLst>
          </p:cNvPr>
          <p:cNvSpPr/>
          <p:nvPr/>
        </p:nvSpPr>
        <p:spPr>
          <a:xfrm>
            <a:off x="834404" y="4882167"/>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0" name="Oval 9">
            <a:extLst>
              <a:ext uri="{FF2B5EF4-FFF2-40B4-BE49-F238E27FC236}">
                <a16:creationId xmlns:a16="http://schemas.microsoft.com/office/drawing/2014/main" id="{5E840975-F43F-D221-DAF2-3FA3E262660F}"/>
              </a:ext>
            </a:extLst>
          </p:cNvPr>
          <p:cNvSpPr/>
          <p:nvPr/>
        </p:nvSpPr>
        <p:spPr>
          <a:xfrm>
            <a:off x="2767477" y="4882167"/>
            <a:ext cx="567891" cy="5582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12" name="Straight Arrow Connector 11">
            <a:extLst>
              <a:ext uri="{FF2B5EF4-FFF2-40B4-BE49-F238E27FC236}">
                <a16:creationId xmlns:a16="http://schemas.microsoft.com/office/drawing/2014/main" id="{DF3E9D12-5D8A-018F-F65A-CF780E368CE3}"/>
              </a:ext>
            </a:extLst>
          </p:cNvPr>
          <p:cNvCxnSpPr>
            <a:cxnSpLocks/>
          </p:cNvCxnSpPr>
          <p:nvPr/>
        </p:nvCxnSpPr>
        <p:spPr>
          <a:xfrm>
            <a:off x="1469673" y="3873119"/>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42E4DC2-8C6E-BE9B-7D9A-EAAB4CEAE969}"/>
              </a:ext>
            </a:extLst>
          </p:cNvPr>
          <p:cNvCxnSpPr>
            <a:stCxn id="6" idx="5"/>
            <a:endCxn id="10" idx="1"/>
          </p:cNvCxnSpPr>
          <p:nvPr/>
        </p:nvCxnSpPr>
        <p:spPr>
          <a:xfrm>
            <a:off x="1319130" y="4012745"/>
            <a:ext cx="1531513" cy="951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AB5E933-91BB-5398-BDBA-1A49671895DF}"/>
              </a:ext>
            </a:extLst>
          </p:cNvPr>
          <p:cNvCxnSpPr>
            <a:cxnSpLocks/>
          </p:cNvCxnSpPr>
          <p:nvPr/>
        </p:nvCxnSpPr>
        <p:spPr>
          <a:xfrm>
            <a:off x="979807" y="4094501"/>
            <a:ext cx="0" cy="787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7564B40-3474-D2D5-A753-80979674E91C}"/>
                  </a:ext>
                </a:extLst>
              </p14:cNvPr>
              <p14:cNvContentPartPr/>
              <p14:nvPr/>
            </p14:nvContentPartPr>
            <p14:xfrm>
              <a:off x="303727" y="3294694"/>
              <a:ext cx="676080" cy="723240"/>
            </p14:xfrm>
          </p:contentPart>
        </mc:Choice>
        <mc:Fallback xmlns="">
          <p:pic>
            <p:nvPicPr>
              <p:cNvPr id="17" name="Ink 16">
                <a:extLst>
                  <a:ext uri="{FF2B5EF4-FFF2-40B4-BE49-F238E27FC236}">
                    <a16:creationId xmlns:a16="http://schemas.microsoft.com/office/drawing/2014/main" id="{B7564B40-3474-D2D5-A753-80979674E91C}"/>
                  </a:ext>
                </a:extLst>
              </p:cNvPr>
              <p:cNvPicPr/>
              <p:nvPr/>
            </p:nvPicPr>
            <p:blipFill>
              <a:blip r:embed="rId4"/>
              <a:stretch>
                <a:fillRect/>
              </a:stretch>
            </p:blipFill>
            <p:spPr>
              <a:xfrm>
                <a:off x="297604" y="3288577"/>
                <a:ext cx="688327" cy="735474"/>
              </a:xfrm>
              <a:prstGeom prst="rect">
                <a:avLst/>
              </a:prstGeom>
            </p:spPr>
          </p:pic>
        </mc:Fallback>
      </mc:AlternateContent>
      <p:cxnSp>
        <p:nvCxnSpPr>
          <p:cNvPr id="18" name="Straight Arrow Connector 17">
            <a:extLst>
              <a:ext uri="{FF2B5EF4-FFF2-40B4-BE49-F238E27FC236}">
                <a16:creationId xmlns:a16="http://schemas.microsoft.com/office/drawing/2014/main" id="{73096DD1-4E22-73D8-B014-16FA7D8EC284}"/>
              </a:ext>
            </a:extLst>
          </p:cNvPr>
          <p:cNvCxnSpPr>
            <a:cxnSpLocks/>
          </p:cNvCxnSpPr>
          <p:nvPr/>
        </p:nvCxnSpPr>
        <p:spPr>
          <a:xfrm flipH="1">
            <a:off x="1469673" y="3738366"/>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0ACC0FA-F7DD-F775-B632-6C806D860BEE}"/>
              </a:ext>
            </a:extLst>
          </p:cNvPr>
          <p:cNvCxnSpPr>
            <a:cxnSpLocks/>
          </p:cNvCxnSpPr>
          <p:nvPr/>
        </p:nvCxnSpPr>
        <p:spPr>
          <a:xfrm>
            <a:off x="1469673" y="5209427"/>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870B382-BE0B-77CE-FB18-C76AA0235664}"/>
              </a:ext>
            </a:extLst>
          </p:cNvPr>
          <p:cNvCxnSpPr>
            <a:cxnSpLocks/>
          </p:cNvCxnSpPr>
          <p:nvPr/>
        </p:nvCxnSpPr>
        <p:spPr>
          <a:xfrm flipH="1">
            <a:off x="1469673" y="5074674"/>
            <a:ext cx="12127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0E98C20-80EC-AF53-2F19-3814E32D310B}"/>
              </a:ext>
            </a:extLst>
          </p:cNvPr>
          <p:cNvCxnSpPr>
            <a:cxnSpLocks/>
          </p:cNvCxnSpPr>
          <p:nvPr/>
        </p:nvCxnSpPr>
        <p:spPr>
          <a:xfrm flipV="1">
            <a:off x="1190540" y="4094501"/>
            <a:ext cx="0" cy="730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27F4A9-E0E1-88FE-188E-D61674976C5D}"/>
              </a:ext>
            </a:extLst>
          </p:cNvPr>
          <p:cNvCxnSpPr>
            <a:cxnSpLocks/>
          </p:cNvCxnSpPr>
          <p:nvPr/>
        </p:nvCxnSpPr>
        <p:spPr>
          <a:xfrm>
            <a:off x="2932432" y="4094501"/>
            <a:ext cx="0" cy="787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8DF921-36C7-DB95-9BA8-5A737AA962BA}"/>
              </a:ext>
            </a:extLst>
          </p:cNvPr>
          <p:cNvCxnSpPr>
            <a:cxnSpLocks/>
          </p:cNvCxnSpPr>
          <p:nvPr/>
        </p:nvCxnSpPr>
        <p:spPr>
          <a:xfrm flipV="1">
            <a:off x="3143165" y="4094501"/>
            <a:ext cx="0" cy="730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35" name="Ink 34">
                <a:extLst>
                  <a:ext uri="{FF2B5EF4-FFF2-40B4-BE49-F238E27FC236}">
                    <a16:creationId xmlns:a16="http://schemas.microsoft.com/office/drawing/2014/main" id="{999367F5-72F6-1F10-94D1-AC3562320F55}"/>
                  </a:ext>
                </a:extLst>
              </p14:cNvPr>
              <p14:cNvContentPartPr/>
              <p14:nvPr/>
            </p14:nvContentPartPr>
            <p14:xfrm rot="8239620">
              <a:off x="3298775" y="3283034"/>
              <a:ext cx="676080" cy="723240"/>
            </p14:xfrm>
          </p:contentPart>
        </mc:Choice>
        <mc:Fallback xmlns="">
          <p:pic>
            <p:nvPicPr>
              <p:cNvPr id="35" name="Ink 34">
                <a:extLst>
                  <a:ext uri="{FF2B5EF4-FFF2-40B4-BE49-F238E27FC236}">
                    <a16:creationId xmlns:a16="http://schemas.microsoft.com/office/drawing/2014/main" id="{999367F5-72F6-1F10-94D1-AC3562320F55}"/>
                  </a:ext>
                </a:extLst>
              </p:cNvPr>
              <p:cNvPicPr/>
              <p:nvPr/>
            </p:nvPicPr>
            <p:blipFill>
              <a:blip r:embed="rId4"/>
              <a:stretch>
                <a:fillRect/>
              </a:stretch>
            </p:blipFill>
            <p:spPr>
              <a:xfrm rot="8239620">
                <a:off x="3292652" y="3276917"/>
                <a:ext cx="688327" cy="73547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6" name="Ink 35">
                <a:extLst>
                  <a:ext uri="{FF2B5EF4-FFF2-40B4-BE49-F238E27FC236}">
                    <a16:creationId xmlns:a16="http://schemas.microsoft.com/office/drawing/2014/main" id="{F243284D-89D7-C818-5E11-F04932EF5D6A}"/>
                  </a:ext>
                </a:extLst>
              </p14:cNvPr>
              <p14:cNvContentPartPr/>
              <p14:nvPr/>
            </p14:nvContentPartPr>
            <p14:xfrm rot="18253453">
              <a:off x="249600" y="5073981"/>
              <a:ext cx="676080" cy="723240"/>
            </p14:xfrm>
          </p:contentPart>
        </mc:Choice>
        <mc:Fallback xmlns="">
          <p:pic>
            <p:nvPicPr>
              <p:cNvPr id="36" name="Ink 35">
                <a:extLst>
                  <a:ext uri="{FF2B5EF4-FFF2-40B4-BE49-F238E27FC236}">
                    <a16:creationId xmlns:a16="http://schemas.microsoft.com/office/drawing/2014/main" id="{F243284D-89D7-C818-5E11-F04932EF5D6A}"/>
                  </a:ext>
                </a:extLst>
              </p:cNvPr>
              <p:cNvPicPr/>
              <p:nvPr/>
            </p:nvPicPr>
            <p:blipFill>
              <a:blip r:embed="rId4"/>
              <a:stretch>
                <a:fillRect/>
              </a:stretch>
            </p:blipFill>
            <p:spPr>
              <a:xfrm rot="18253453">
                <a:off x="243477" y="5067864"/>
                <a:ext cx="688327" cy="73547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B339E501-BD7A-3E1A-04A5-09336F8EBFB5}"/>
                  </a:ext>
                </a:extLst>
              </p14:cNvPr>
              <p14:cNvContentPartPr/>
              <p14:nvPr/>
            </p14:nvContentPartPr>
            <p14:xfrm rot="11019232">
              <a:off x="3219260" y="5117490"/>
              <a:ext cx="676080" cy="723240"/>
            </p14:xfrm>
          </p:contentPart>
        </mc:Choice>
        <mc:Fallback xmlns="">
          <p:pic>
            <p:nvPicPr>
              <p:cNvPr id="37" name="Ink 36">
                <a:extLst>
                  <a:ext uri="{FF2B5EF4-FFF2-40B4-BE49-F238E27FC236}">
                    <a16:creationId xmlns:a16="http://schemas.microsoft.com/office/drawing/2014/main" id="{B339E501-BD7A-3E1A-04A5-09336F8EBFB5}"/>
                  </a:ext>
                </a:extLst>
              </p:cNvPr>
              <p:cNvPicPr/>
              <p:nvPr/>
            </p:nvPicPr>
            <p:blipFill>
              <a:blip r:embed="rId4"/>
              <a:stretch>
                <a:fillRect/>
              </a:stretch>
            </p:blipFill>
            <p:spPr>
              <a:xfrm rot="11019232">
                <a:off x="3213137" y="5111373"/>
                <a:ext cx="688327" cy="735474"/>
              </a:xfrm>
              <a:prstGeom prst="rect">
                <a:avLst/>
              </a:prstGeom>
            </p:spPr>
          </p:pic>
        </mc:Fallback>
      </mc:AlternateContent>
      <p:cxnSp>
        <p:nvCxnSpPr>
          <p:cNvPr id="38" name="Straight Arrow Connector 37">
            <a:extLst>
              <a:ext uri="{FF2B5EF4-FFF2-40B4-BE49-F238E27FC236}">
                <a16:creationId xmlns:a16="http://schemas.microsoft.com/office/drawing/2014/main" id="{1F668BCA-890A-21E9-D316-C0E0CE0A80B4}"/>
              </a:ext>
            </a:extLst>
          </p:cNvPr>
          <p:cNvCxnSpPr>
            <a:cxnSpLocks/>
          </p:cNvCxnSpPr>
          <p:nvPr/>
        </p:nvCxnSpPr>
        <p:spPr>
          <a:xfrm flipH="1" flipV="1">
            <a:off x="1319130" y="4139658"/>
            <a:ext cx="1398592" cy="872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34D845D-58C7-6C13-D3CC-07B54692751A}"/>
              </a:ext>
            </a:extLst>
          </p:cNvPr>
          <p:cNvCxnSpPr>
            <a:cxnSpLocks/>
          </p:cNvCxnSpPr>
          <p:nvPr/>
        </p:nvCxnSpPr>
        <p:spPr>
          <a:xfrm flipV="1">
            <a:off x="1432903" y="4024092"/>
            <a:ext cx="1284819" cy="903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A79EF97-00D7-8D08-8121-C77B5B81D10E}"/>
              </a:ext>
            </a:extLst>
          </p:cNvPr>
          <p:cNvCxnSpPr>
            <a:cxnSpLocks/>
          </p:cNvCxnSpPr>
          <p:nvPr/>
        </p:nvCxnSpPr>
        <p:spPr>
          <a:xfrm flipH="1">
            <a:off x="1452050" y="4147498"/>
            <a:ext cx="1315427" cy="864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E188676-2728-DB3A-865C-39C679CB1E25}"/>
              </a:ext>
            </a:extLst>
          </p:cNvPr>
          <p:cNvCxnSpPr>
            <a:cxnSpLocks/>
          </p:cNvCxnSpPr>
          <p:nvPr/>
        </p:nvCxnSpPr>
        <p:spPr>
          <a:xfrm>
            <a:off x="7509959" y="3434006"/>
            <a:ext cx="20769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BE28165-703F-50B1-AFFE-6326C6E7A967}"/>
              </a:ext>
            </a:extLst>
          </p:cNvPr>
          <p:cNvCxnSpPr>
            <a:cxnSpLocks/>
          </p:cNvCxnSpPr>
          <p:nvPr/>
        </p:nvCxnSpPr>
        <p:spPr>
          <a:xfrm>
            <a:off x="7826741" y="3209970"/>
            <a:ext cx="0" cy="1210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2B53A1F-5215-7E33-ABC2-E4912E7AEA54}"/>
              </a:ext>
            </a:extLst>
          </p:cNvPr>
          <p:cNvCxnSpPr>
            <a:cxnSpLocks/>
          </p:cNvCxnSpPr>
          <p:nvPr/>
        </p:nvCxnSpPr>
        <p:spPr>
          <a:xfrm>
            <a:off x="7832760" y="4952708"/>
            <a:ext cx="0" cy="1210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C310AF-9D32-22C4-EE7F-BB6E5353A57C}"/>
              </a:ext>
            </a:extLst>
          </p:cNvPr>
          <p:cNvCxnSpPr>
            <a:cxnSpLocks/>
          </p:cNvCxnSpPr>
          <p:nvPr/>
        </p:nvCxnSpPr>
        <p:spPr>
          <a:xfrm>
            <a:off x="7509959" y="5161300"/>
            <a:ext cx="275075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4257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37D8-7DD7-C7AD-D3ED-0A62003EA336}"/>
              </a:ext>
            </a:extLst>
          </p:cNvPr>
          <p:cNvSpPr>
            <a:spLocks noGrp="1"/>
          </p:cNvSpPr>
          <p:nvPr>
            <p:ph type="title"/>
          </p:nvPr>
        </p:nvSpPr>
        <p:spPr>
          <a:xfrm>
            <a:off x="598620" y="136524"/>
            <a:ext cx="6658828" cy="1001901"/>
          </a:xfrm>
        </p:spPr>
        <p:txBody>
          <a:bodyPr>
            <a:normAutofit/>
          </a:bodyPr>
          <a:lstStyle/>
          <a:p>
            <a:r>
              <a:rPr lang="en-US" dirty="0"/>
              <a:t>Markov Weight Array Matrix</a:t>
            </a:r>
          </a:p>
        </p:txBody>
      </p:sp>
      <p:sp>
        <p:nvSpPr>
          <p:cNvPr id="3" name="Content Placeholder 2">
            <a:extLst>
              <a:ext uri="{FF2B5EF4-FFF2-40B4-BE49-F238E27FC236}">
                <a16:creationId xmlns:a16="http://schemas.microsoft.com/office/drawing/2014/main" id="{12CE0587-976A-8645-BAF8-D412EA4D0C31}"/>
              </a:ext>
            </a:extLst>
          </p:cNvPr>
          <p:cNvSpPr>
            <a:spLocks noGrp="1"/>
          </p:cNvSpPr>
          <p:nvPr>
            <p:ph idx="1"/>
          </p:nvPr>
        </p:nvSpPr>
        <p:spPr>
          <a:xfrm>
            <a:off x="598620" y="1596540"/>
            <a:ext cx="10972800" cy="4881262"/>
          </a:xfrm>
        </p:spPr>
        <p:txBody>
          <a:bodyPr>
            <a:normAutofit fontScale="92500" lnSpcReduction="10000"/>
          </a:bodyPr>
          <a:lstStyle/>
          <a:p>
            <a:r>
              <a:rPr lang="en-US" dirty="0"/>
              <a:t>A Weight Array Matrix (WAM) is a specific kind of Markov chain model that incorporates </a:t>
            </a:r>
            <a:r>
              <a:rPr lang="en-US" b="1" dirty="0"/>
              <a:t>positions</a:t>
            </a:r>
            <a:r>
              <a:rPr lang="en-US" dirty="0"/>
              <a:t> within the pattern</a:t>
            </a:r>
          </a:p>
          <a:p>
            <a:endParaRPr lang="en-US" dirty="0"/>
          </a:p>
          <a:p>
            <a:r>
              <a:rPr lang="en-US" dirty="0"/>
              <a:t>WAM works better than PWM in scoring patterns because it incorporates Markov chain transition probabilities: the probability of each letter depends </a:t>
            </a:r>
            <a:r>
              <a:rPr lang="en-US" b="1" dirty="0"/>
              <a:t>both</a:t>
            </a:r>
            <a:r>
              <a:rPr lang="en-US" dirty="0"/>
              <a:t> on the </a:t>
            </a:r>
            <a:r>
              <a:rPr lang="en-US" b="1" dirty="0"/>
              <a:t>position</a:t>
            </a:r>
            <a:r>
              <a:rPr lang="en-US" dirty="0"/>
              <a:t> and on the previous one (or more) letters</a:t>
            </a:r>
          </a:p>
          <a:p>
            <a:endParaRPr lang="en-US" dirty="0"/>
          </a:p>
          <a:p>
            <a:r>
              <a:rPr lang="en-US" dirty="0"/>
              <a:t>The Markov process weights change from one position to another within the pattern</a:t>
            </a:r>
          </a:p>
          <a:p>
            <a:endParaRPr lang="en-US" dirty="0"/>
          </a:p>
          <a:p>
            <a:r>
              <a:rPr lang="en-US" dirty="0"/>
              <a:t>For the first order Markov process we need 16 weights at each position</a:t>
            </a:r>
          </a:p>
          <a:p>
            <a:endParaRPr lang="en-US" i="1" dirty="0"/>
          </a:p>
        </p:txBody>
      </p:sp>
      <p:sp>
        <p:nvSpPr>
          <p:cNvPr id="4" name="Slide Number Placeholder 3">
            <a:extLst>
              <a:ext uri="{FF2B5EF4-FFF2-40B4-BE49-F238E27FC236}">
                <a16:creationId xmlns:a16="http://schemas.microsoft.com/office/drawing/2014/main" id="{2E453488-16C5-7D26-0C1B-1EC0AA7C0CB0}"/>
              </a:ext>
            </a:extLst>
          </p:cNvPr>
          <p:cNvSpPr>
            <a:spLocks noGrp="1"/>
          </p:cNvSpPr>
          <p:nvPr>
            <p:ph type="sldNum" sz="quarter" idx="12"/>
          </p:nvPr>
        </p:nvSpPr>
        <p:spPr/>
        <p:txBody>
          <a:bodyPr/>
          <a:lstStyle/>
          <a:p>
            <a:fld id="{B82CCC60-E8CD-4174-8B1A-7DF615B22EEF}" type="slidenum">
              <a:rPr lang="en-US" smtClean="0"/>
              <a:pPr/>
              <a:t>23</a:t>
            </a:fld>
            <a:endParaRPr lang="en-US"/>
          </a:p>
        </p:txBody>
      </p:sp>
    </p:spTree>
    <p:extLst>
      <p:ext uri="{BB962C8B-B14F-4D97-AF65-F5344CB8AC3E}">
        <p14:creationId xmlns:p14="http://schemas.microsoft.com/office/powerpoint/2010/main" val="1777305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BA8B-9259-2D6E-A91D-05614BD541F4}"/>
              </a:ext>
            </a:extLst>
          </p:cNvPr>
          <p:cNvSpPr>
            <a:spLocks noGrp="1"/>
          </p:cNvSpPr>
          <p:nvPr>
            <p:ph type="title"/>
          </p:nvPr>
        </p:nvSpPr>
        <p:spPr/>
        <p:txBody>
          <a:bodyPr>
            <a:normAutofit fontScale="90000"/>
          </a:bodyPr>
          <a:lstStyle/>
          <a:p>
            <a:r>
              <a:rPr lang="en-US" dirty="0"/>
              <a:t>PWM vs WAM</a:t>
            </a:r>
          </a:p>
        </p:txBody>
      </p:sp>
      <p:sp>
        <p:nvSpPr>
          <p:cNvPr id="3" name="Content Placeholder 2">
            <a:extLst>
              <a:ext uri="{FF2B5EF4-FFF2-40B4-BE49-F238E27FC236}">
                <a16:creationId xmlns:a16="http://schemas.microsoft.com/office/drawing/2014/main" id="{41124C53-053A-062B-6B99-4EB1209BCFFA}"/>
              </a:ext>
            </a:extLst>
          </p:cNvPr>
          <p:cNvSpPr>
            <a:spLocks noGrp="1"/>
          </p:cNvSpPr>
          <p:nvPr>
            <p:ph idx="1"/>
          </p:nvPr>
        </p:nvSpPr>
        <p:spPr>
          <a:xfrm>
            <a:off x="598620" y="1596540"/>
            <a:ext cx="10972800" cy="4840546"/>
          </a:xfrm>
        </p:spPr>
        <p:txBody>
          <a:bodyPr>
            <a:normAutofit lnSpcReduction="10000"/>
          </a:bodyPr>
          <a:lstStyle/>
          <a:p>
            <a:r>
              <a:rPr lang="en-US" dirty="0"/>
              <a:t>PWM -- probabilities of observing each letter at a given position only depend on the position in the pattern:</a:t>
            </a:r>
            <a:br>
              <a:rPr lang="en-US" dirty="0"/>
            </a:br>
            <a:r>
              <a:rPr lang="en-US" dirty="0"/>
              <a:t>123456789</a:t>
            </a:r>
            <a:br>
              <a:rPr lang="en-US" dirty="0"/>
            </a:br>
            <a:r>
              <a:rPr lang="en-US" dirty="0"/>
              <a:t>G</a:t>
            </a:r>
            <a:r>
              <a:rPr lang="en-US" dirty="0">
                <a:solidFill>
                  <a:srgbClr val="FF0000"/>
                </a:solidFill>
              </a:rPr>
              <a:t>A</a:t>
            </a:r>
            <a:r>
              <a:rPr lang="en-US" dirty="0"/>
              <a:t>ATGAGA</a:t>
            </a:r>
            <a:br>
              <a:rPr lang="en-US" dirty="0"/>
            </a:br>
            <a:r>
              <a:rPr lang="en-US" sz="2000" dirty="0"/>
              <a:t>here the probability of seeing A at the position 2 is a number that only depends on the position (2)</a:t>
            </a:r>
          </a:p>
          <a:p>
            <a:r>
              <a:rPr lang="en-US" dirty="0"/>
              <a:t>1</a:t>
            </a:r>
            <a:r>
              <a:rPr lang="en-US" baseline="30000" dirty="0"/>
              <a:t>st</a:t>
            </a:r>
            <a:r>
              <a:rPr lang="en-US" dirty="0"/>
              <a:t> order Markov WAM -- probabilities of observing each letter at a given position depend on the position in the pattern and on the previous letter:</a:t>
            </a:r>
            <a:br>
              <a:rPr lang="en-US" dirty="0"/>
            </a:br>
            <a:r>
              <a:rPr lang="en-US" dirty="0"/>
              <a:t>123456789</a:t>
            </a:r>
            <a:br>
              <a:rPr lang="en-US" dirty="0"/>
            </a:br>
            <a:br>
              <a:rPr lang="en-US" dirty="0"/>
            </a:br>
            <a:r>
              <a:rPr lang="en-US" dirty="0">
                <a:solidFill>
                  <a:srgbClr val="00B050"/>
                </a:solidFill>
              </a:rPr>
              <a:t>G</a:t>
            </a:r>
            <a:r>
              <a:rPr lang="en-US" dirty="0">
                <a:solidFill>
                  <a:srgbClr val="FF0000"/>
                </a:solidFill>
              </a:rPr>
              <a:t>A</a:t>
            </a:r>
            <a:r>
              <a:rPr lang="en-US" dirty="0"/>
              <a:t>ATGAGA</a:t>
            </a:r>
            <a:br>
              <a:rPr lang="en-US" dirty="0"/>
            </a:br>
            <a:r>
              <a:rPr lang="en-US" sz="2000" dirty="0"/>
              <a:t>here the probability of seeing A at the position 2 is a number that depends on the position (2) and on the previous letter (G)</a:t>
            </a:r>
          </a:p>
          <a:p>
            <a:pPr marL="0" indent="0">
              <a:buNone/>
            </a:pPr>
            <a:endParaRPr lang="en-US" dirty="0"/>
          </a:p>
        </p:txBody>
      </p:sp>
      <p:sp>
        <p:nvSpPr>
          <p:cNvPr id="4" name="Slide Number Placeholder 3">
            <a:extLst>
              <a:ext uri="{FF2B5EF4-FFF2-40B4-BE49-F238E27FC236}">
                <a16:creationId xmlns:a16="http://schemas.microsoft.com/office/drawing/2014/main" id="{64BC43A7-AB39-633C-1C2E-CF1A14FDA00B}"/>
              </a:ext>
            </a:extLst>
          </p:cNvPr>
          <p:cNvSpPr>
            <a:spLocks noGrp="1"/>
          </p:cNvSpPr>
          <p:nvPr>
            <p:ph type="sldNum" sz="quarter" idx="12"/>
          </p:nvPr>
        </p:nvSpPr>
        <p:spPr/>
        <p:txBody>
          <a:bodyPr/>
          <a:lstStyle/>
          <a:p>
            <a:fld id="{B82CCC60-E8CD-4174-8B1A-7DF615B22EEF}" type="slidenum">
              <a:rPr lang="en-US" smtClean="0"/>
              <a:pPr/>
              <a:t>24</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5E75B9D-65F8-8335-CF76-F7D2EE6CC642}"/>
                  </a:ext>
                </a:extLst>
              </p14:cNvPr>
              <p14:cNvContentPartPr/>
              <p14:nvPr/>
            </p14:nvContentPartPr>
            <p14:xfrm>
              <a:off x="1065754" y="5173914"/>
              <a:ext cx="343080" cy="342720"/>
            </p14:xfrm>
          </p:contentPart>
        </mc:Choice>
        <mc:Fallback xmlns="">
          <p:pic>
            <p:nvPicPr>
              <p:cNvPr id="5" name="Ink 4">
                <a:extLst>
                  <a:ext uri="{FF2B5EF4-FFF2-40B4-BE49-F238E27FC236}">
                    <a16:creationId xmlns:a16="http://schemas.microsoft.com/office/drawing/2014/main" id="{85E75B9D-65F8-8335-CF76-F7D2EE6CC642}"/>
                  </a:ext>
                </a:extLst>
              </p:cNvPr>
              <p:cNvPicPr/>
              <p:nvPr/>
            </p:nvPicPr>
            <p:blipFill>
              <a:blip r:embed="rId3"/>
              <a:stretch>
                <a:fillRect/>
              </a:stretch>
            </p:blipFill>
            <p:spPr>
              <a:xfrm>
                <a:off x="1059634" y="5167794"/>
                <a:ext cx="355320" cy="354960"/>
              </a:xfrm>
              <a:prstGeom prst="rect">
                <a:avLst/>
              </a:prstGeom>
            </p:spPr>
          </p:pic>
        </mc:Fallback>
      </mc:AlternateContent>
    </p:spTree>
    <p:extLst>
      <p:ext uri="{BB962C8B-B14F-4D97-AF65-F5344CB8AC3E}">
        <p14:creationId xmlns:p14="http://schemas.microsoft.com/office/powerpoint/2010/main" val="12089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BD98-E5AC-078E-8FE9-2E031E734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5AA75-2D34-19C3-67A1-0E6236707688}"/>
              </a:ext>
            </a:extLst>
          </p:cNvPr>
          <p:cNvSpPr>
            <a:spLocks noGrp="1"/>
          </p:cNvSpPr>
          <p:nvPr>
            <p:ph type="title"/>
          </p:nvPr>
        </p:nvSpPr>
        <p:spPr>
          <a:xfrm>
            <a:off x="598620" y="136524"/>
            <a:ext cx="6658828" cy="1001901"/>
          </a:xfrm>
        </p:spPr>
        <p:txBody>
          <a:bodyPr>
            <a:normAutofit/>
          </a:bodyPr>
          <a:lstStyle/>
          <a:p>
            <a:r>
              <a:rPr lang="en-US" dirty="0"/>
              <a:t>Markov Weight Array Matrix</a:t>
            </a:r>
          </a:p>
        </p:txBody>
      </p:sp>
      <p:sp>
        <p:nvSpPr>
          <p:cNvPr id="3" name="Content Placeholder 2">
            <a:extLst>
              <a:ext uri="{FF2B5EF4-FFF2-40B4-BE49-F238E27FC236}">
                <a16:creationId xmlns:a16="http://schemas.microsoft.com/office/drawing/2014/main" id="{CB489B3A-38E8-7A0E-1E13-FE8DE2D3353B}"/>
              </a:ext>
            </a:extLst>
          </p:cNvPr>
          <p:cNvSpPr>
            <a:spLocks noGrp="1"/>
          </p:cNvSpPr>
          <p:nvPr>
            <p:ph idx="1"/>
          </p:nvPr>
        </p:nvSpPr>
        <p:spPr>
          <a:xfrm>
            <a:off x="598620" y="1596540"/>
            <a:ext cx="10972800" cy="4881262"/>
          </a:xfrm>
        </p:spPr>
        <p:txBody>
          <a:bodyPr>
            <a:normAutofit/>
          </a:bodyPr>
          <a:lstStyle/>
          <a:p>
            <a:r>
              <a:rPr lang="en-US" dirty="0"/>
              <a:t>1</a:t>
            </a:r>
            <a:r>
              <a:rPr lang="en-US" baseline="30000" dirty="0"/>
              <a:t>st</a:t>
            </a:r>
            <a:r>
              <a:rPr lang="en-US" dirty="0"/>
              <a:t> order Markov WAM based on on the 1</a:t>
            </a:r>
            <a:r>
              <a:rPr lang="en-US" baseline="30000" dirty="0"/>
              <a:t>st</a:t>
            </a:r>
            <a:r>
              <a:rPr lang="en-US" dirty="0"/>
              <a:t> order Markov chain</a:t>
            </a:r>
          </a:p>
          <a:p>
            <a:r>
              <a:rPr lang="en-US" dirty="0"/>
              <a:t>Computation of probabilities is the same as for the Positional Probabilities, except the alphabet is tuples (AA,AC,AG,AT,CA,....,TT), size=16</a:t>
            </a:r>
          </a:p>
          <a:p>
            <a:r>
              <a:rPr lang="en-US" dirty="0"/>
              <a:t>Let each tuple be        . Estimate from the data probabilities for every      ; for a pattern of length </a:t>
            </a:r>
            <a:r>
              <a:rPr lang="en-US" i="1" dirty="0"/>
              <a:t>n</a:t>
            </a:r>
            <a:r>
              <a:rPr lang="en-US" dirty="0"/>
              <a:t>, the              matrix will have dimensions </a:t>
            </a:r>
            <a:r>
              <a:rPr lang="en-US" i="1" dirty="0"/>
              <a:t>16 </a:t>
            </a:r>
            <a:r>
              <a:rPr lang="en-US" dirty="0"/>
              <a:t>by </a:t>
            </a:r>
            <a:r>
              <a:rPr lang="en-US" i="1" dirty="0"/>
              <a:t>(n-1)</a:t>
            </a:r>
          </a:p>
          <a:p>
            <a:pPr marL="0" indent="0">
              <a:buNone/>
            </a:pPr>
            <a:endParaRPr lang="en-US" i="1" dirty="0"/>
          </a:p>
          <a:p>
            <a:endParaRPr lang="en-US" i="1" dirty="0"/>
          </a:p>
          <a:p>
            <a:endParaRPr lang="en-US" i="1" dirty="0"/>
          </a:p>
          <a:p>
            <a:endParaRPr lang="en-US" i="1" dirty="0"/>
          </a:p>
        </p:txBody>
      </p:sp>
      <p:sp>
        <p:nvSpPr>
          <p:cNvPr id="4" name="Slide Number Placeholder 3">
            <a:extLst>
              <a:ext uri="{FF2B5EF4-FFF2-40B4-BE49-F238E27FC236}">
                <a16:creationId xmlns:a16="http://schemas.microsoft.com/office/drawing/2014/main" id="{BBB26F49-7E2E-A712-0696-AB586EFA56EB}"/>
              </a:ext>
            </a:extLst>
          </p:cNvPr>
          <p:cNvSpPr>
            <a:spLocks noGrp="1"/>
          </p:cNvSpPr>
          <p:nvPr>
            <p:ph type="sldNum" sz="quarter" idx="12"/>
          </p:nvPr>
        </p:nvSpPr>
        <p:spPr/>
        <p:txBody>
          <a:bodyPr/>
          <a:lstStyle/>
          <a:p>
            <a:fld id="{B82CCC60-E8CD-4174-8B1A-7DF615B22EEF}" type="slidenum">
              <a:rPr lang="en-US" smtClean="0"/>
              <a:pPr/>
              <a:t>25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5DA5B8B-0AAD-041B-19F0-6E77511BBFCA}"/>
                  </a:ext>
                </a:extLst>
              </p:cNvPr>
              <p:cNvSpPr txBox="1"/>
              <p:nvPr/>
            </p:nvSpPr>
            <p:spPr>
              <a:xfrm>
                <a:off x="4963743" y="3846715"/>
                <a:ext cx="1474234" cy="739433"/>
              </a:xfrm>
              <a:prstGeom prst="rect">
                <a:avLst/>
              </a:prstGeom>
              <a:noFill/>
            </p:spPr>
            <p:txBody>
              <a:bodyPr wrap="square">
                <a:spAutoFit/>
              </a:bodyPr>
              <a:lstStyle/>
              <a:p>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oMath>
                  </m:oMathPara>
                </a14:m>
                <a:endParaRPr lang="en-US" sz="3600" dirty="0"/>
              </a:p>
            </p:txBody>
          </p:sp>
        </mc:Choice>
        <mc:Fallback xmlns="">
          <p:sp>
            <p:nvSpPr>
              <p:cNvPr id="5" name="TextBox 4">
                <a:extLst>
                  <a:ext uri="{FF2B5EF4-FFF2-40B4-BE49-F238E27FC236}">
                    <a16:creationId xmlns:a16="http://schemas.microsoft.com/office/drawing/2014/main" id="{C5DA5B8B-0AAD-041B-19F0-6E77511BBFCA}"/>
                  </a:ext>
                </a:extLst>
              </p:cNvPr>
              <p:cNvSpPr txBox="1">
                <a:spLocks noRot="1" noChangeAspect="1" noMove="1" noResize="1" noEditPoints="1" noAdjustHandles="1" noChangeArrowheads="1" noChangeShapeType="1" noTextEdit="1"/>
              </p:cNvSpPr>
              <p:nvPr/>
            </p:nvSpPr>
            <p:spPr>
              <a:xfrm>
                <a:off x="4963743" y="3846715"/>
                <a:ext cx="1474234" cy="73943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318F84-24CA-D2E6-4ABE-2909459256F5}"/>
                  </a:ext>
                </a:extLst>
              </p:cNvPr>
              <p:cNvSpPr txBox="1"/>
              <p:nvPr/>
            </p:nvSpPr>
            <p:spPr>
              <a:xfrm>
                <a:off x="10414305" y="3390839"/>
                <a:ext cx="1474234" cy="646331"/>
              </a:xfrm>
              <a:prstGeom prst="rect">
                <a:avLst/>
              </a:prstGeom>
              <a:noFill/>
            </p:spPr>
            <p:txBody>
              <a:bodyPr wrap="square">
                <a:spAutoFit/>
              </a:bodyPr>
              <a:lstStyle/>
              <a:p>
                <a:pPr/>
                <a14:m>
                  <m:oMathPara xmlns:m="http://schemas.openxmlformats.org/officeDocument/2006/math">
                    <m:oMath>
                      <m:sSub>
                        <m:sSubPr>
                          <m:ctrlPr>
                            <a:rPr lang="en-US" sz="3600" i="1">
                              <a:latin typeface="Cambria Math" panose="02040503050406030204" pitchFamily="18" charset="0"/>
                            </a:rPr>
                          </m:ctrlPr>
                        </m:sSubPr>
                        <m:e>
                          <m:r>
                            <a:rPr lang="en-US" sz="3600" i="1">
                              <a:latin typeface="Cambria Math" panose="02040503050406030204" pitchFamily="18" charset="0"/>
                            </a:rPr>
                            <m:t>𝑇</m:t>
                          </m:r>
                        </m:e>
                        <m:sub>
                          <m:r>
                            <a:rPr lang="en-US" sz="3600" i="1">
                              <a:latin typeface="Cambria Math" panose="02040503050406030204" pitchFamily="18" charset="0"/>
                            </a:rPr>
                            <m:t>𝑖</m:t>
                          </m:r>
                        </m:sub>
                      </m:sSub>
                    </m:oMath>
                  </m:oMathPara>
                </a14:m>
                <a:endParaRPr lang="en-US" sz="3600" dirty="0"/>
              </a:p>
            </p:txBody>
          </p:sp>
        </mc:Choice>
        <mc:Fallback xmlns="">
          <p:sp>
            <p:nvSpPr>
              <p:cNvPr id="7" name="TextBox 6">
                <a:extLst>
                  <a:ext uri="{FF2B5EF4-FFF2-40B4-BE49-F238E27FC236}">
                    <a16:creationId xmlns:a16="http://schemas.microsoft.com/office/drawing/2014/main" id="{0D318F84-24CA-D2E6-4ABE-2909459256F5}"/>
                  </a:ext>
                </a:extLst>
              </p:cNvPr>
              <p:cNvSpPr txBox="1">
                <a:spLocks noRot="1" noChangeAspect="1" noMove="1" noResize="1" noEditPoints="1" noAdjustHandles="1" noChangeArrowheads="1" noChangeShapeType="1" noTextEdit="1"/>
              </p:cNvSpPr>
              <p:nvPr/>
            </p:nvSpPr>
            <p:spPr>
              <a:xfrm>
                <a:off x="10414305" y="3390839"/>
                <a:ext cx="1474234"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F63BE1F-D971-12E0-5FCA-0638AC190084}"/>
                  </a:ext>
                </a:extLst>
              </p:cNvPr>
              <p:cNvSpPr txBox="1"/>
              <p:nvPr/>
            </p:nvSpPr>
            <p:spPr>
              <a:xfrm>
                <a:off x="3099692" y="3390840"/>
                <a:ext cx="1474234" cy="646331"/>
              </a:xfrm>
              <a:prstGeom prst="rect">
                <a:avLst/>
              </a:prstGeom>
              <a:noFill/>
            </p:spPr>
            <p:txBody>
              <a:bodyPr wrap="square">
                <a:spAutoFit/>
              </a:bodyPr>
              <a:lstStyle/>
              <a:p>
                <a:pPr/>
                <a14:m>
                  <m:oMathPara xmlns:m="http://schemas.openxmlformats.org/officeDocument/2006/math">
                    <m:oMath>
                      <m:sSub>
                        <m:sSubPr>
                          <m:ctrlPr>
                            <a:rPr lang="en-US" sz="3600" i="1">
                              <a:latin typeface="Cambria Math" panose="02040503050406030204" pitchFamily="18" charset="0"/>
                            </a:rPr>
                          </m:ctrlPr>
                        </m:sSubPr>
                        <m:e>
                          <m:r>
                            <a:rPr lang="en-US" sz="3600" i="1">
                              <a:latin typeface="Cambria Math" panose="02040503050406030204" pitchFamily="18" charset="0"/>
                            </a:rPr>
                            <m:t>𝑇</m:t>
                          </m:r>
                        </m:e>
                        <m:sub>
                          <m:r>
                            <a:rPr lang="en-US" sz="3600" i="1">
                              <a:latin typeface="Cambria Math" panose="02040503050406030204" pitchFamily="18" charset="0"/>
                            </a:rPr>
                            <m:t>𝑖</m:t>
                          </m:r>
                        </m:sub>
                      </m:sSub>
                    </m:oMath>
                  </m:oMathPara>
                </a14:m>
                <a:endParaRPr lang="en-US" sz="3600" dirty="0"/>
              </a:p>
            </p:txBody>
          </p:sp>
        </mc:Choice>
        <mc:Fallback xmlns="">
          <p:sp>
            <p:nvSpPr>
              <p:cNvPr id="6" name="TextBox 5">
                <a:extLst>
                  <a:ext uri="{FF2B5EF4-FFF2-40B4-BE49-F238E27FC236}">
                    <a16:creationId xmlns:a16="http://schemas.microsoft.com/office/drawing/2014/main" id="{0F63BE1F-D971-12E0-5FCA-0638AC190084}"/>
                  </a:ext>
                </a:extLst>
              </p:cNvPr>
              <p:cNvSpPr txBox="1">
                <a:spLocks noRot="1" noChangeAspect="1" noMove="1" noResize="1" noEditPoints="1" noAdjustHandles="1" noChangeArrowheads="1" noChangeShapeType="1" noTextEdit="1"/>
              </p:cNvSpPr>
              <p:nvPr/>
            </p:nvSpPr>
            <p:spPr>
              <a:xfrm>
                <a:off x="3099692" y="3390840"/>
                <a:ext cx="1474234"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8D31BC-AD0B-FE9A-369F-55708E1DC6C7}"/>
                  </a:ext>
                </a:extLst>
              </p:cNvPr>
              <p:cNvSpPr txBox="1"/>
              <p:nvPr/>
            </p:nvSpPr>
            <p:spPr>
              <a:xfrm>
                <a:off x="2024743" y="4752770"/>
                <a:ext cx="6096000" cy="1603581"/>
              </a:xfrm>
              <a:prstGeom prst="rect">
                <a:avLst/>
              </a:prstGeom>
              <a:noFill/>
            </p:spPr>
            <p:txBody>
              <a:bodyPr wrap="square">
                <a:spAutoFit/>
              </a:bodyPr>
              <a:lstStyle/>
              <a:p>
                <a:pPr/>
                <a14:m>
                  <m:oMathPara xmlns:m="http://schemas.openxmlformats.org/officeDocument/2006/math">
                    <m:oMath>
                      <m:sSub>
                        <m:sSubPr>
                          <m:ctrlPr>
                            <a:rPr lang="en-US" sz="3600" i="1">
                              <a:latin typeface="Cambria Math" panose="02040503050406030204" pitchFamily="18" charset="0"/>
                            </a:rPr>
                          </m:ctrlPr>
                        </m:sSubPr>
                        <m:e>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e>
                        <m:sub>
                          <m:r>
                            <a:rPr lang="en-US" sz="3600" b="0" i="1" smtClean="0">
                              <a:latin typeface="Cambria Math" panose="02040503050406030204" pitchFamily="18" charset="0"/>
                            </a:rPr>
                            <m:t> </m:t>
                          </m:r>
                        </m:sub>
                      </m:sSub>
                      <m:r>
                        <a:rPr lang="en-US" sz="3600" i="1" smtClean="0">
                          <a:latin typeface="Cambria Math" panose="02040503050406030204" pitchFamily="18" charset="0"/>
                        </a:rPr>
                        <m:t>=</m:t>
                      </m:r>
                      <m:d>
                        <m:dPr>
                          <m:begChr m:val="["/>
                          <m:endChr m:val="]"/>
                          <m:ctrlPr>
                            <a:rPr lang="en-US" sz="3600" i="1" smtClean="0">
                              <a:latin typeface="Cambria Math" panose="02040503050406030204" pitchFamily="18" charset="0"/>
                            </a:rPr>
                          </m:ctrlPr>
                        </m:dPr>
                        <m:e>
                          <m:m>
                            <m:mPr>
                              <m:mcs>
                                <m:mc>
                                  <m:mcPr>
                                    <m:count m:val="3"/>
                                    <m:mcJc m:val="center"/>
                                  </m:mcPr>
                                </m:mc>
                              </m:mcs>
                              <m:ctrlPr>
                                <a:rPr lang="en-US" sz="3600" i="1" smtClean="0">
                                  <a:latin typeface="Cambria Math" panose="02040503050406030204" pitchFamily="18" charset="0"/>
                                </a:rPr>
                              </m:ctrlPr>
                            </m:mPr>
                            <m:m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𝐴𝐴</m:t>
                                    </m:r>
                                    <m:r>
                                      <a:rPr lang="en-US" sz="3600" b="0" i="1" smtClean="0">
                                        <a:latin typeface="Cambria Math" panose="02040503050406030204" pitchFamily="18" charset="0"/>
                                      </a:rPr>
                                      <m:t>,1</m:t>
                                    </m:r>
                                  </m:sub>
                                </m:sSub>
                              </m:e>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𝐴𝐴</m:t>
                                    </m:r>
                                    <m:r>
                                      <a:rPr lang="en-US" sz="3600" i="1">
                                        <a:latin typeface="Cambria Math" panose="02040503050406030204" pitchFamily="18" charset="0"/>
                                      </a:rPr>
                                      <m:t>,2</m:t>
                                    </m:r>
                                  </m:sub>
                                </m:sSub>
                              </m:e>
                              <m:e>
                                <m:r>
                                  <a:rPr lang="en-US" sz="3600" b="0" i="1" smtClean="0">
                                    <a:latin typeface="Cambria Math" panose="02040503050406030204" pitchFamily="18" charset="0"/>
                                  </a:rPr>
                                  <m:t>…</m:t>
                                </m:r>
                              </m:e>
                            </m:mr>
                            <m:mr>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m:t>
                                    </m:r>
                                    <m:r>
                                      <a:rPr lang="en-US" sz="3600" b="0" i="1" smtClean="0">
                                        <a:latin typeface="Cambria Math" panose="02040503050406030204" pitchFamily="18" charset="0"/>
                                      </a:rPr>
                                      <m:t>𝐶</m:t>
                                    </m:r>
                                    <m:r>
                                      <a:rPr lang="en-US" sz="3600" i="1">
                                        <a:latin typeface="Cambria Math" panose="02040503050406030204" pitchFamily="18" charset="0"/>
                                      </a:rPr>
                                      <m:t>,1</m:t>
                                    </m:r>
                                  </m:sub>
                                </m:sSub>
                              </m:e>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m:t>
                                    </m:r>
                                    <m:r>
                                      <a:rPr lang="en-US" sz="3600" b="0" i="1" smtClean="0">
                                        <a:latin typeface="Cambria Math" panose="02040503050406030204" pitchFamily="18" charset="0"/>
                                      </a:rPr>
                                      <m:t>𝐶</m:t>
                                    </m:r>
                                    <m:r>
                                      <a:rPr lang="en-US" sz="3600" i="1">
                                        <a:latin typeface="Cambria Math" panose="02040503050406030204" pitchFamily="18" charset="0"/>
                                      </a:rPr>
                                      <m:t>,</m:t>
                                    </m:r>
                                    <m:r>
                                      <a:rPr lang="en-US" sz="3600" b="0" i="1" smtClean="0">
                                        <a:latin typeface="Cambria Math" panose="02040503050406030204" pitchFamily="18" charset="0"/>
                                      </a:rPr>
                                      <m:t>2</m:t>
                                    </m:r>
                                  </m:sub>
                                </m:sSub>
                              </m:e>
                              <m:e>
                                <m:r>
                                  <a:rPr lang="en-US" sz="3600" b="0" i="1" smtClean="0">
                                    <a:latin typeface="Cambria Math" panose="02040503050406030204" pitchFamily="18" charset="0"/>
                                  </a:rPr>
                                  <m:t>…</m:t>
                                </m:r>
                              </m:e>
                            </m:mr>
                            <m:mr>
                              <m:e>
                                <m:r>
                                  <a:rPr lang="en-US" sz="3600" b="0" i="1" smtClean="0">
                                    <a:latin typeface="Cambria Math" panose="02040503050406030204" pitchFamily="18" charset="0"/>
                                  </a:rPr>
                                  <m:t>...</m:t>
                                </m:r>
                              </m:e>
                              <m:e>
                                <m:r>
                                  <a:rPr lang="en-US" sz="3600" b="0" i="1" smtClean="0">
                                    <a:latin typeface="Cambria Math" panose="02040503050406030204" pitchFamily="18" charset="0"/>
                                  </a:rPr>
                                  <m:t>…</m:t>
                                </m:r>
                              </m:e>
                              <m:e>
                                <m:r>
                                  <a:rPr lang="en-US" sz="3600" b="0" i="1" smtClean="0">
                                    <a:latin typeface="Cambria Math" panose="02040503050406030204" pitchFamily="18" charset="0"/>
                                  </a:rPr>
                                  <m:t>…</m:t>
                                </m:r>
                              </m:e>
                            </m:mr>
                          </m:m>
                        </m:e>
                      </m:d>
                    </m:oMath>
                  </m:oMathPara>
                </a14:m>
                <a:endParaRPr lang="en-US" sz="3600" dirty="0"/>
              </a:p>
            </p:txBody>
          </p:sp>
        </mc:Choice>
        <mc:Fallback xmlns="">
          <p:sp>
            <p:nvSpPr>
              <p:cNvPr id="8" name="TextBox 7">
                <a:extLst>
                  <a:ext uri="{FF2B5EF4-FFF2-40B4-BE49-F238E27FC236}">
                    <a16:creationId xmlns:a16="http://schemas.microsoft.com/office/drawing/2014/main" id="{318D31BC-AD0B-FE9A-369F-55708E1DC6C7}"/>
                  </a:ext>
                </a:extLst>
              </p:cNvPr>
              <p:cNvSpPr txBox="1">
                <a:spLocks noRot="1" noChangeAspect="1" noMove="1" noResize="1" noEditPoints="1" noAdjustHandles="1" noChangeArrowheads="1" noChangeShapeType="1" noTextEdit="1"/>
              </p:cNvSpPr>
              <p:nvPr/>
            </p:nvSpPr>
            <p:spPr>
              <a:xfrm>
                <a:off x="2024743" y="4752770"/>
                <a:ext cx="6096000" cy="1603581"/>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1334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CE10-6DAD-808F-B2CC-C4FC0722C64A}"/>
              </a:ext>
            </a:extLst>
          </p:cNvPr>
          <p:cNvSpPr>
            <a:spLocks noGrp="1"/>
          </p:cNvSpPr>
          <p:nvPr>
            <p:ph type="title"/>
          </p:nvPr>
        </p:nvSpPr>
        <p:spPr/>
        <p:txBody>
          <a:bodyPr>
            <a:normAutofit fontScale="90000"/>
          </a:bodyPr>
          <a:lstStyle/>
          <a:p>
            <a:r>
              <a:rPr lang="en-US" dirty="0"/>
              <a:t>Markov Weight Array Matrix</a:t>
            </a:r>
          </a:p>
        </p:txBody>
      </p:sp>
      <p:sp>
        <p:nvSpPr>
          <p:cNvPr id="4" name="Slide Number Placeholder 3">
            <a:extLst>
              <a:ext uri="{FF2B5EF4-FFF2-40B4-BE49-F238E27FC236}">
                <a16:creationId xmlns:a16="http://schemas.microsoft.com/office/drawing/2014/main" id="{81047209-E7F3-AE34-8EF5-8AA76657C65E}"/>
              </a:ext>
            </a:extLst>
          </p:cNvPr>
          <p:cNvSpPr>
            <a:spLocks noGrp="1"/>
          </p:cNvSpPr>
          <p:nvPr>
            <p:ph type="sldNum" sz="quarter" idx="12"/>
          </p:nvPr>
        </p:nvSpPr>
        <p:spPr/>
        <p:txBody>
          <a:bodyPr/>
          <a:lstStyle/>
          <a:p>
            <a:fld id="{B82CCC60-E8CD-4174-8B1A-7DF615B22EEF}" type="slidenum">
              <a:rPr lang="en-US" smtClean="0"/>
              <a:pPr/>
              <a:t>26</a:t>
            </a:fld>
            <a:endParaRPr lang="en-US" dirty="0"/>
          </a:p>
        </p:txBody>
      </p:sp>
      <p:pic>
        <p:nvPicPr>
          <p:cNvPr id="5" name="Picture 4">
            <a:extLst>
              <a:ext uri="{FF2B5EF4-FFF2-40B4-BE49-F238E27FC236}">
                <a16:creationId xmlns:a16="http://schemas.microsoft.com/office/drawing/2014/main" id="{1CB9A40F-DC97-079E-4832-D6ADA0639812}"/>
              </a:ext>
            </a:extLst>
          </p:cNvPr>
          <p:cNvPicPr>
            <a:picLocks noChangeAspect="1"/>
          </p:cNvPicPr>
          <p:nvPr/>
        </p:nvPicPr>
        <p:blipFill>
          <a:blip r:embed="rId2"/>
          <a:stretch>
            <a:fillRect/>
          </a:stretch>
        </p:blipFill>
        <p:spPr>
          <a:xfrm>
            <a:off x="551884" y="2140220"/>
            <a:ext cx="1474234" cy="449792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392957A-6AFA-E6EE-BFF0-F9711B300A73}"/>
                  </a:ext>
                </a:extLst>
              </p:cNvPr>
              <p:cNvSpPr txBox="1"/>
              <p:nvPr/>
            </p:nvSpPr>
            <p:spPr>
              <a:xfrm>
                <a:off x="3396342" y="4924327"/>
                <a:ext cx="6096000" cy="1603581"/>
              </a:xfrm>
              <a:prstGeom prst="rect">
                <a:avLst/>
              </a:prstGeom>
              <a:noFill/>
            </p:spPr>
            <p:txBody>
              <a:bodyPr wrap="square">
                <a:spAutoFit/>
              </a:bodyPr>
              <a:lstStyle/>
              <a:p>
                <a:pPr/>
                <a14:m>
                  <m:oMathPara xmlns:m="http://schemas.openxmlformats.org/officeDocument/2006/math">
                    <m:oMath>
                      <m:sSub>
                        <m:sSubPr>
                          <m:ctrlPr>
                            <a:rPr lang="en-US" sz="3600" i="1">
                              <a:latin typeface="Cambria Math" panose="02040503050406030204" pitchFamily="18" charset="0"/>
                            </a:rPr>
                          </m:ctrlPr>
                        </m:sSubPr>
                        <m:e>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e>
                        <m:sub>
                          <m:r>
                            <a:rPr lang="en-US" sz="3600" b="0" i="1" smtClean="0">
                              <a:latin typeface="Cambria Math" panose="02040503050406030204" pitchFamily="18" charset="0"/>
                            </a:rPr>
                            <m:t> </m:t>
                          </m:r>
                        </m:sub>
                      </m:sSub>
                      <m:r>
                        <a:rPr lang="en-US" sz="3600" i="1" smtClean="0">
                          <a:latin typeface="Cambria Math" panose="02040503050406030204" pitchFamily="18" charset="0"/>
                        </a:rPr>
                        <m:t>=</m:t>
                      </m:r>
                      <m:d>
                        <m:dPr>
                          <m:begChr m:val="["/>
                          <m:endChr m:val="]"/>
                          <m:ctrlPr>
                            <a:rPr lang="en-US" sz="3600" i="1" smtClean="0">
                              <a:latin typeface="Cambria Math" panose="02040503050406030204" pitchFamily="18" charset="0"/>
                            </a:rPr>
                          </m:ctrlPr>
                        </m:dPr>
                        <m:e>
                          <m:m>
                            <m:mPr>
                              <m:mcs>
                                <m:mc>
                                  <m:mcPr>
                                    <m:count m:val="3"/>
                                    <m:mcJc m:val="center"/>
                                  </m:mcPr>
                                </m:mc>
                              </m:mcs>
                              <m:ctrlPr>
                                <a:rPr lang="en-US" sz="3600" i="1" smtClean="0">
                                  <a:latin typeface="Cambria Math" panose="02040503050406030204" pitchFamily="18" charset="0"/>
                                </a:rPr>
                              </m:ctrlPr>
                            </m:mPr>
                            <m:m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𝐴𝐴</m:t>
                                    </m:r>
                                    <m:r>
                                      <a:rPr lang="en-US" sz="3600" b="0" i="1" smtClean="0">
                                        <a:latin typeface="Cambria Math" panose="02040503050406030204" pitchFamily="18" charset="0"/>
                                      </a:rPr>
                                      <m:t>,1</m:t>
                                    </m:r>
                                  </m:sub>
                                </m:sSub>
                              </m:e>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𝐴𝐴</m:t>
                                    </m:r>
                                    <m:r>
                                      <a:rPr lang="en-US" sz="3600" i="1">
                                        <a:latin typeface="Cambria Math" panose="02040503050406030204" pitchFamily="18" charset="0"/>
                                      </a:rPr>
                                      <m:t>,2</m:t>
                                    </m:r>
                                  </m:sub>
                                </m:sSub>
                              </m:e>
                              <m:e>
                                <m:r>
                                  <a:rPr lang="en-US" sz="3600" b="0" i="1" smtClean="0">
                                    <a:latin typeface="Cambria Math" panose="02040503050406030204" pitchFamily="18" charset="0"/>
                                  </a:rPr>
                                  <m:t>…</m:t>
                                </m:r>
                              </m:e>
                            </m:mr>
                            <m:mr>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m:t>
                                    </m:r>
                                    <m:r>
                                      <a:rPr lang="en-US" sz="3600" b="0" i="1" smtClean="0">
                                        <a:latin typeface="Cambria Math" panose="02040503050406030204" pitchFamily="18" charset="0"/>
                                      </a:rPr>
                                      <m:t>𝐶</m:t>
                                    </m:r>
                                    <m:r>
                                      <a:rPr lang="en-US" sz="3600" i="1">
                                        <a:latin typeface="Cambria Math" panose="02040503050406030204" pitchFamily="18" charset="0"/>
                                      </a:rPr>
                                      <m:t>,1</m:t>
                                    </m:r>
                                  </m:sub>
                                </m:sSub>
                              </m:e>
                              <m:e>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𝐴</m:t>
                                    </m:r>
                                    <m:r>
                                      <a:rPr lang="en-US" sz="3600" b="0" i="1" smtClean="0">
                                        <a:latin typeface="Cambria Math" panose="02040503050406030204" pitchFamily="18" charset="0"/>
                                      </a:rPr>
                                      <m:t>𝐶</m:t>
                                    </m:r>
                                    <m:r>
                                      <a:rPr lang="en-US" sz="3600" i="1">
                                        <a:latin typeface="Cambria Math" panose="02040503050406030204" pitchFamily="18" charset="0"/>
                                      </a:rPr>
                                      <m:t>,</m:t>
                                    </m:r>
                                    <m:r>
                                      <a:rPr lang="en-US" sz="3600" b="0" i="1" smtClean="0">
                                        <a:latin typeface="Cambria Math" panose="02040503050406030204" pitchFamily="18" charset="0"/>
                                      </a:rPr>
                                      <m:t>2</m:t>
                                    </m:r>
                                  </m:sub>
                                </m:sSub>
                              </m:e>
                              <m:e>
                                <m:r>
                                  <a:rPr lang="en-US" sz="3600" b="0" i="1" smtClean="0">
                                    <a:latin typeface="Cambria Math" panose="02040503050406030204" pitchFamily="18" charset="0"/>
                                  </a:rPr>
                                  <m:t>…</m:t>
                                </m:r>
                              </m:e>
                            </m:mr>
                            <m:mr>
                              <m:e>
                                <m:r>
                                  <a:rPr lang="en-US" sz="3600" b="0" i="1" smtClean="0">
                                    <a:latin typeface="Cambria Math" panose="02040503050406030204" pitchFamily="18" charset="0"/>
                                  </a:rPr>
                                  <m:t>...</m:t>
                                </m:r>
                              </m:e>
                              <m:e>
                                <m:r>
                                  <a:rPr lang="en-US" sz="3600" b="0" i="1" smtClean="0">
                                    <a:latin typeface="Cambria Math" panose="02040503050406030204" pitchFamily="18" charset="0"/>
                                  </a:rPr>
                                  <m:t>…</m:t>
                                </m:r>
                              </m:e>
                              <m:e>
                                <m:r>
                                  <a:rPr lang="en-US" sz="3600" b="0" i="1" smtClean="0">
                                    <a:latin typeface="Cambria Math" panose="02040503050406030204" pitchFamily="18" charset="0"/>
                                  </a:rPr>
                                  <m:t>…</m:t>
                                </m:r>
                              </m:e>
                            </m:mr>
                          </m:m>
                        </m:e>
                      </m:d>
                    </m:oMath>
                  </m:oMathPara>
                </a14:m>
                <a:endParaRPr lang="en-US" sz="3600" dirty="0"/>
              </a:p>
            </p:txBody>
          </p:sp>
        </mc:Choice>
        <mc:Fallback xmlns="">
          <p:sp>
            <p:nvSpPr>
              <p:cNvPr id="6" name="TextBox 5">
                <a:extLst>
                  <a:ext uri="{FF2B5EF4-FFF2-40B4-BE49-F238E27FC236}">
                    <a16:creationId xmlns:a16="http://schemas.microsoft.com/office/drawing/2014/main" id="{7392957A-6AFA-E6EE-BFF0-F9711B300A73}"/>
                  </a:ext>
                </a:extLst>
              </p:cNvPr>
              <p:cNvSpPr txBox="1">
                <a:spLocks noRot="1" noChangeAspect="1" noMove="1" noResize="1" noEditPoints="1" noAdjustHandles="1" noChangeArrowheads="1" noChangeShapeType="1" noTextEdit="1"/>
              </p:cNvSpPr>
              <p:nvPr/>
            </p:nvSpPr>
            <p:spPr>
              <a:xfrm>
                <a:off x="3396342" y="4924327"/>
                <a:ext cx="6096000" cy="160358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9EF1DA1-24B5-1D51-BA5A-1E2BC82DC350}"/>
                  </a:ext>
                </a:extLst>
              </p:cNvPr>
              <p:cNvSpPr txBox="1"/>
              <p:nvPr/>
            </p:nvSpPr>
            <p:spPr>
              <a:xfrm>
                <a:off x="2222426" y="1789867"/>
                <a:ext cx="9417690" cy="700705"/>
              </a:xfrm>
              <a:prstGeom prst="rect">
                <a:avLst/>
              </a:prstGeom>
              <a:noFill/>
            </p:spPr>
            <p:txBody>
              <a:bodyPr wrap="square">
                <a:spAutoFit/>
              </a:bodyPr>
              <a:lstStyle/>
              <a:p>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𝑀</m:t>
                        </m:r>
                      </m:sup>
                    </m:sSubSup>
                    <m:r>
                      <a:rPr lang="en-US"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𝑁</m:t>
                        </m:r>
                      </m:den>
                    </m:f>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𝑘</m:t>
                        </m:r>
                        <m:r>
                          <a:rPr lang="en-US" sz="2800" b="0" i="1" smtClean="0">
                            <a:latin typeface="Cambria Math" panose="02040503050406030204" pitchFamily="18" charset="0"/>
                          </a:rPr>
                          <m:t>=1</m:t>
                        </m:r>
                      </m:sub>
                      <m:sup>
                        <m:r>
                          <a:rPr lang="en-US" sz="2800" b="0" i="1" smtClean="0">
                            <a:latin typeface="Cambria Math" panose="02040503050406030204" pitchFamily="18" charset="0"/>
                          </a:rPr>
                          <m:t>𝑁</m:t>
                        </m:r>
                      </m:sup>
                      <m:e>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𝑋</m:t>
                            </m:r>
                          </m:e>
                          <m:sub>
                            <m:r>
                              <a:rPr lang="en-US" sz="2800" b="0" i="1" smtClean="0">
                                <a:latin typeface="Cambria Math" panose="02040503050406030204" pitchFamily="18" charset="0"/>
                                <a:ea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𝑖</m:t>
                        </m:r>
                        <m:r>
                          <a:rPr lang="en-US" sz="2800" b="0" i="1" smtClean="0">
                            <a:latin typeface="Cambria Math" panose="02040503050406030204" pitchFamily="18" charset="0"/>
                            <a:ea typeface="Cambria Math" panose="02040503050406030204" pitchFamily="18" charset="0"/>
                          </a:rPr>
                          <m:t>)</m:t>
                        </m:r>
                      </m:e>
                    </m:nary>
                    <m:r>
                      <a:rPr lang="en-US" sz="2800" b="0" i="1" smtClean="0">
                        <a:latin typeface="Cambria Math" panose="02040503050406030204" pitchFamily="18" charset="0"/>
                        <a:ea typeface="Cambria Math" panose="02040503050406030204" pitchFamily="18" charset="0"/>
                      </a:rPr>
                      <m:t>, </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𝑋</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𝑎𝑛𝑑</m:t>
                    </m:r>
                    <m:r>
                      <a:rPr lang="en-US" sz="2800" b="0" i="1" smtClean="0">
                        <a:latin typeface="Cambria Math" panose="02040503050406030204" pitchFamily="18" charset="0"/>
                        <a:ea typeface="Cambria Math" panose="02040503050406030204" pitchFamily="18" charset="0"/>
                      </a:rPr>
                      <m:t> </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𝑖</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𝑠</m:t>
                    </m:r>
                  </m:oMath>
                </a14:m>
                <a:r>
                  <a:rPr lang="en-US" sz="2800" dirty="0"/>
                  <a:t> are now AA,AC,AG,… </a:t>
                </a:r>
                <a:r>
                  <a:rPr lang="en-US" sz="2800" dirty="0" err="1"/>
                  <a:t>etc</a:t>
                </a:r>
                <a:endParaRPr lang="en-US" sz="2800" dirty="0"/>
              </a:p>
            </p:txBody>
          </p:sp>
        </mc:Choice>
        <mc:Fallback xmlns="">
          <p:sp>
            <p:nvSpPr>
              <p:cNvPr id="8" name="TextBox 7">
                <a:extLst>
                  <a:ext uri="{FF2B5EF4-FFF2-40B4-BE49-F238E27FC236}">
                    <a16:creationId xmlns:a16="http://schemas.microsoft.com/office/drawing/2014/main" id="{B9EF1DA1-24B5-1D51-BA5A-1E2BC82DC350}"/>
                  </a:ext>
                </a:extLst>
              </p:cNvPr>
              <p:cNvSpPr txBox="1">
                <a:spLocks noRot="1" noChangeAspect="1" noMove="1" noResize="1" noEditPoints="1" noAdjustHandles="1" noChangeArrowheads="1" noChangeShapeType="1" noTextEdit="1"/>
              </p:cNvSpPr>
              <p:nvPr/>
            </p:nvSpPr>
            <p:spPr>
              <a:xfrm>
                <a:off x="2222426" y="1789867"/>
                <a:ext cx="9417690" cy="700705"/>
              </a:xfrm>
              <a:prstGeom prst="rect">
                <a:avLst/>
              </a:prstGeom>
              <a:blipFill>
                <a:blip r:embed="rId4"/>
                <a:stretch>
                  <a:fillRect r="-972" b="-1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1AF165-9D0F-D604-FD7A-805D7293C929}"/>
                  </a:ext>
                </a:extLst>
              </p:cNvPr>
              <p:cNvSpPr txBox="1"/>
              <p:nvPr/>
            </p:nvSpPr>
            <p:spPr>
              <a:xfrm>
                <a:off x="2986279" y="2490262"/>
                <a:ext cx="5863771" cy="1051570"/>
              </a:xfrm>
              <a:prstGeom prst="rect">
                <a:avLst/>
              </a:prstGeom>
              <a:noFill/>
            </p:spPr>
            <p:txBody>
              <a:bodyPr wrap="square">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𝑋</m:t>
                              </m:r>
                            </m:e>
                            <m:sub>
                              <m:r>
                                <a:rPr lang="en-US" sz="2400" b="0" i="1" smtClean="0">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𝑗</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𝑖𝑓</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𝑋</m:t>
                                    </m:r>
                                  </m:e>
                                  <m:sub>
                                    <m:r>
                                      <a:rPr lang="en-US" sz="2400" b="0" i="1" smtClean="0">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𝑗</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e>
                            </m:mr>
                            <m:mr>
                              <m:e>
                                <m:r>
                                  <a:rPr lang="en-US" sz="2400" b="0" i="1" smtClean="0">
                                    <a:latin typeface="Cambria Math" panose="02040503050406030204" pitchFamily="18" charset="0"/>
                                    <a:ea typeface="Cambria Math" panose="02040503050406030204" pitchFamily="18" charset="0"/>
                                  </a:rPr>
                                  <m:t>0</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𝑖𝑓</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𝑋</m:t>
                                    </m:r>
                                  </m:e>
                                  <m:sub>
                                    <m:r>
                                      <a:rPr lang="en-US" sz="2400" b="0" i="1" smtClean="0">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𝑗</m:t>
                                    </m:r>
                                  </m:sub>
                                </m:sSub>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e>
                            </m:mr>
                          </m:m>
                        </m:e>
                      </m:d>
                    </m:oMath>
                  </m:oMathPara>
                </a14:m>
                <a:endParaRPr lang="en-US" sz="2400" dirty="0"/>
              </a:p>
            </p:txBody>
          </p:sp>
        </mc:Choice>
        <mc:Fallback xmlns="">
          <p:sp>
            <p:nvSpPr>
              <p:cNvPr id="10" name="TextBox 9">
                <a:extLst>
                  <a:ext uri="{FF2B5EF4-FFF2-40B4-BE49-F238E27FC236}">
                    <a16:creationId xmlns:a16="http://schemas.microsoft.com/office/drawing/2014/main" id="{861AF165-9D0F-D604-FD7A-805D7293C929}"/>
                  </a:ext>
                </a:extLst>
              </p:cNvPr>
              <p:cNvSpPr txBox="1">
                <a:spLocks noRot="1" noChangeAspect="1" noMove="1" noResize="1" noEditPoints="1" noAdjustHandles="1" noChangeArrowheads="1" noChangeShapeType="1" noTextEdit="1"/>
              </p:cNvSpPr>
              <p:nvPr/>
            </p:nvSpPr>
            <p:spPr>
              <a:xfrm>
                <a:off x="2986279" y="2490262"/>
                <a:ext cx="5863771" cy="1051570"/>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0A98365-AF25-B956-D750-35857C7CA3FA}"/>
              </a:ext>
            </a:extLst>
          </p:cNvPr>
          <p:cNvSpPr txBox="1"/>
          <p:nvPr/>
        </p:nvSpPr>
        <p:spPr>
          <a:xfrm>
            <a:off x="2206169" y="3618351"/>
            <a:ext cx="9042399" cy="1323439"/>
          </a:xfrm>
          <a:prstGeom prst="rect">
            <a:avLst/>
          </a:prstGeom>
          <a:noFill/>
        </p:spPr>
        <p:txBody>
          <a:bodyPr wrap="square">
            <a:spAutoFit/>
          </a:bodyPr>
          <a:lstStyle/>
          <a:p>
            <a:r>
              <a:rPr lang="en-US" sz="2000" dirty="0"/>
              <a:t>The idea is the same as for positional probabilities, but now you are working with tuples of letters:  e.g. instead of counting how many times you’ve seen A, C, G or T in the first position, you count how many times you’ve seen AA, AC,…. in the first position, </a:t>
            </a:r>
            <a:r>
              <a:rPr lang="en-US" sz="2000" dirty="0" err="1"/>
              <a:t>etc</a:t>
            </a:r>
            <a:r>
              <a:rPr lang="en-US" sz="2000" dirty="0"/>
              <a:t> </a:t>
            </a:r>
          </a:p>
        </p:txBody>
      </p:sp>
    </p:spTree>
    <p:extLst>
      <p:ext uri="{BB962C8B-B14F-4D97-AF65-F5344CB8AC3E}">
        <p14:creationId xmlns:p14="http://schemas.microsoft.com/office/powerpoint/2010/main" val="1927832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2E4A-9C03-C24C-7D44-6DDB30C62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8DCA8-073B-2BCE-940F-3DFA29F35218}"/>
              </a:ext>
            </a:extLst>
          </p:cNvPr>
          <p:cNvSpPr>
            <a:spLocks noGrp="1"/>
          </p:cNvSpPr>
          <p:nvPr>
            <p:ph type="title"/>
          </p:nvPr>
        </p:nvSpPr>
        <p:spPr>
          <a:xfrm>
            <a:off x="598620" y="136524"/>
            <a:ext cx="6658828" cy="1001901"/>
          </a:xfrm>
        </p:spPr>
        <p:txBody>
          <a:bodyPr>
            <a:normAutofit/>
          </a:bodyPr>
          <a:lstStyle/>
          <a:p>
            <a:r>
              <a:rPr lang="en-US" dirty="0"/>
              <a:t>Scoring pattern with Markov WAM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53E0F9-6B84-78E0-8AA7-8A09E45285D9}"/>
                  </a:ext>
                </a:extLst>
              </p:cNvPr>
              <p:cNvSpPr>
                <a:spLocks noGrp="1"/>
              </p:cNvSpPr>
              <p:nvPr>
                <p:ph idx="1"/>
              </p:nvPr>
            </p:nvSpPr>
            <p:spPr>
              <a:xfrm>
                <a:off x="598620" y="1596540"/>
                <a:ext cx="10972800" cy="4977515"/>
              </a:xfrm>
            </p:spPr>
            <p:txBody>
              <a:bodyPr>
                <a:normAutofit lnSpcReduction="10000"/>
              </a:bodyPr>
              <a:lstStyle/>
              <a:p>
                <a:r>
                  <a:rPr lang="en-US" dirty="0"/>
                  <a:t>Convert probabilities to weights by using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𝑘</m:t>
                            </m:r>
                          </m:e>
                        </m:d>
                      </m:den>
                    </m:f>
                  </m:oMath>
                </a14:m>
                <a:r>
                  <a:rPr lang="en-US" dirty="0"/>
                  <a:t>, </a:t>
                </a:r>
                <a:r>
                  <a:rPr lang="en-US" i="1" dirty="0"/>
                  <a:t>k=16</a:t>
                </a:r>
                <a:br>
                  <a:rPr lang="en-US" i="1" dirty="0"/>
                </a:br>
                <a:br>
                  <a:rPr lang="en-US" i="1" dirty="0"/>
                </a:br>
                <a:endParaRPr lang="en-US" i="1" dirty="0"/>
              </a:p>
              <a:p>
                <a:endParaRPr lang="en-US" i="1" dirty="0"/>
              </a:p>
              <a:p>
                <a:r>
                  <a:rPr lang="en-US" dirty="0"/>
                  <a:t>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r>
                      <a:rPr lang="en-US" b="0" i="1" smtClean="0">
                        <a:latin typeface="Cambria Math" panose="02040503050406030204" pitchFamily="18" charset="0"/>
                      </a:rPr>
                      <m:t>)</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e>
                    </m:nary>
                  </m:oMath>
                </a14:m>
                <a:r>
                  <a:rPr lang="en-US" dirty="0"/>
                  <a:t>, where </a:t>
                </a:r>
                <a:br>
                  <a:rPr lang="en-US" dirty="0"/>
                </a:br>
                <a:r>
                  <a:rPr lang="en-US" i="1" dirty="0"/>
                  <a:t>S</a:t>
                </a:r>
                <a:r>
                  <a:rPr lang="en-US" dirty="0"/>
                  <a:t> is the string being scored, </a:t>
                </a:r>
                <a:br>
                  <a:rPr lang="en-US" i="1" dirty="0">
                    <a:latin typeface="Cambria Math" panose="02040503050406030204" pitchFamily="18" charset="0"/>
                  </a:rPr>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,1</m:t>
                        </m:r>
                      </m:sub>
                    </m:sSub>
                  </m:oMath>
                </a14:m>
                <a:r>
                  <a:rPr lang="en-US" dirty="0"/>
                  <a:t> is the positional weight of the first letter (starting log probability)</a:t>
                </a:r>
                <a:br>
                  <a:rPr lang="en-US" dirty="0"/>
                </a:b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oMath>
                </a14:m>
                <a:r>
                  <a:rPr lang="en-US" dirty="0"/>
                  <a:t> is the positional score of tuple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𝑖</m:t>
                        </m:r>
                      </m:sub>
                    </m:sSub>
                  </m:oMath>
                </a14:m>
                <a:r>
                  <a:rPr lang="en-US" dirty="0"/>
                  <a:t> starting at position </a:t>
                </a:r>
                <a:r>
                  <a:rPr lang="en-US" i="1" dirty="0"/>
                  <a:t>j (j=1,...,n-1) </a:t>
                </a:r>
                <a:r>
                  <a:rPr lang="en-US" dirty="0"/>
                  <a:t>The sum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e>
                    </m:nary>
                  </m:oMath>
                </a14:m>
                <a:r>
                  <a:rPr lang="en-US" dirty="0"/>
                  <a:t> is of the positional weights for all tuples of letters in the pattern </a:t>
                </a:r>
              </a:p>
            </p:txBody>
          </p:sp>
        </mc:Choice>
        <mc:Fallback xmlns="">
          <p:sp>
            <p:nvSpPr>
              <p:cNvPr id="3" name="Content Placeholder 2">
                <a:extLst>
                  <a:ext uri="{FF2B5EF4-FFF2-40B4-BE49-F238E27FC236}">
                    <a16:creationId xmlns:a16="http://schemas.microsoft.com/office/drawing/2014/main" id="{A353E0F9-6B84-78E0-8AA7-8A09E45285D9}"/>
                  </a:ext>
                </a:extLst>
              </p:cNvPr>
              <p:cNvSpPr>
                <a:spLocks noGrp="1" noRot="1" noChangeAspect="1" noMove="1" noResize="1" noEditPoints="1" noAdjustHandles="1" noChangeArrowheads="1" noChangeShapeType="1" noTextEdit="1"/>
              </p:cNvSpPr>
              <p:nvPr>
                <p:ph idx="1"/>
              </p:nvPr>
            </p:nvSpPr>
            <p:spPr>
              <a:xfrm>
                <a:off x="598620" y="1596540"/>
                <a:ext cx="10972800" cy="4977515"/>
              </a:xfrm>
              <a:blipFill>
                <a:blip r:embed="rId2"/>
                <a:stretch>
                  <a:fillRect l="-1000" t="-36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F2B5A9E-0BFF-C3E2-CC3D-5D1A2C409BF4}"/>
              </a:ext>
            </a:extLst>
          </p:cNvPr>
          <p:cNvSpPr>
            <a:spLocks noGrp="1"/>
          </p:cNvSpPr>
          <p:nvPr>
            <p:ph type="sldNum" sz="quarter" idx="12"/>
          </p:nvPr>
        </p:nvSpPr>
        <p:spPr/>
        <p:txBody>
          <a:bodyPr/>
          <a:lstStyle/>
          <a:p>
            <a:fld id="{B82CCC60-E8CD-4174-8B1A-7DF615B22EEF}" type="slidenum">
              <a:rPr lang="en-US" smtClean="0"/>
              <a:pPr/>
              <a:t>27</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8DD4042-8A43-3B28-FB99-A424D208671D}"/>
                  </a:ext>
                </a:extLst>
              </p:cNvPr>
              <p:cNvSpPr txBox="1"/>
              <p:nvPr/>
            </p:nvSpPr>
            <p:spPr>
              <a:xfrm>
                <a:off x="2345892" y="2149649"/>
                <a:ext cx="4797907" cy="1350947"/>
              </a:xfrm>
              <a:prstGeom prst="rect">
                <a:avLst/>
              </a:prstGeom>
              <a:noFill/>
            </p:spPr>
            <p:txBody>
              <a:bodyPr wrap="square">
                <a:spAutoFit/>
              </a:bodyPr>
              <a:lstStyle/>
              <a:p>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𝑊</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r>
                        <a:rPr lang="en-US" sz="3600" i="1">
                          <a:latin typeface="Cambria Math" panose="02040503050406030204" pitchFamily="18" charset="0"/>
                        </a:rPr>
                        <m:t> </m:t>
                      </m:r>
                      <m:r>
                        <a:rPr lang="en-US" sz="360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𝑙𝑜𝑔</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f>
                        <m:fPr>
                          <m:ctrlPr>
                            <a:rPr lang="en-US" sz="3600" i="1">
                              <a:latin typeface="Cambria Math" panose="02040503050406030204" pitchFamily="18" charset="0"/>
                            </a:rPr>
                          </m:ctrlPr>
                        </m:fPr>
                        <m:num>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𝑏</m:t>
                              </m:r>
                            </m:e>
                            <m:sub>
                              <m:r>
                                <a:rPr lang="en-US" sz="3600" b="0" i="1" smtClean="0">
                                  <a:latin typeface="Cambria Math" panose="02040503050406030204" pitchFamily="18" charset="0"/>
                                </a:rPr>
                                <m:t>𝑘</m:t>
                              </m:r>
                            </m:sub>
                          </m:sSub>
                        </m:den>
                      </m:f>
                      <m:r>
                        <a:rPr lang="en-US" sz="3600" b="0" i="1" smtClean="0">
                          <a:latin typeface="Cambria Math" panose="02040503050406030204" pitchFamily="18" charset="0"/>
                        </a:rPr>
                        <m:t>)</m:t>
                      </m:r>
                    </m:oMath>
                  </m:oMathPara>
                </a14:m>
                <a:endParaRPr lang="en-US" sz="3600" dirty="0"/>
              </a:p>
            </p:txBody>
          </p:sp>
        </mc:Choice>
        <mc:Fallback xmlns="">
          <p:sp>
            <p:nvSpPr>
              <p:cNvPr id="6" name="TextBox 5">
                <a:extLst>
                  <a:ext uri="{FF2B5EF4-FFF2-40B4-BE49-F238E27FC236}">
                    <a16:creationId xmlns:a16="http://schemas.microsoft.com/office/drawing/2014/main" id="{78DD4042-8A43-3B28-FB99-A424D208671D}"/>
                  </a:ext>
                </a:extLst>
              </p:cNvPr>
              <p:cNvSpPr txBox="1">
                <a:spLocks noRot="1" noChangeAspect="1" noMove="1" noResize="1" noEditPoints="1" noAdjustHandles="1" noChangeArrowheads="1" noChangeShapeType="1" noTextEdit="1"/>
              </p:cNvSpPr>
              <p:nvPr/>
            </p:nvSpPr>
            <p:spPr>
              <a:xfrm>
                <a:off x="2345892" y="2149649"/>
                <a:ext cx="4797907" cy="135094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9AA2238-149C-70C6-B1BC-E94DD206EFD6}"/>
                  </a:ext>
                </a:extLst>
              </p14:cNvPr>
              <p14:cNvContentPartPr/>
              <p14:nvPr/>
            </p14:nvContentPartPr>
            <p14:xfrm>
              <a:off x="1886229" y="1125606"/>
              <a:ext cx="360" cy="360"/>
            </p14:xfrm>
          </p:contentPart>
        </mc:Choice>
        <mc:Fallback xmlns="">
          <p:pic>
            <p:nvPicPr>
              <p:cNvPr id="5" name="Ink 4">
                <a:extLst>
                  <a:ext uri="{FF2B5EF4-FFF2-40B4-BE49-F238E27FC236}">
                    <a16:creationId xmlns:a16="http://schemas.microsoft.com/office/drawing/2014/main" id="{29AA2238-149C-70C6-B1BC-E94DD206EFD6}"/>
                  </a:ext>
                </a:extLst>
              </p:cNvPr>
              <p:cNvPicPr/>
              <p:nvPr/>
            </p:nvPicPr>
            <p:blipFill>
              <a:blip r:embed="rId5"/>
              <a:stretch>
                <a:fillRect/>
              </a:stretch>
            </p:blipFill>
            <p:spPr>
              <a:xfrm>
                <a:off x="1880109" y="1119486"/>
                <a:ext cx="12600" cy="12600"/>
              </a:xfrm>
              <a:prstGeom prst="rect">
                <a:avLst/>
              </a:prstGeom>
            </p:spPr>
          </p:pic>
        </mc:Fallback>
      </mc:AlternateContent>
    </p:spTree>
    <p:extLst>
      <p:ext uri="{BB962C8B-B14F-4D97-AF65-F5344CB8AC3E}">
        <p14:creationId xmlns:p14="http://schemas.microsoft.com/office/powerpoint/2010/main" val="3443782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9B29-5164-3CD4-9FEC-7379FC421C1E}"/>
              </a:ext>
            </a:extLst>
          </p:cNvPr>
          <p:cNvSpPr>
            <a:spLocks noGrp="1"/>
          </p:cNvSpPr>
          <p:nvPr>
            <p:ph type="title"/>
          </p:nvPr>
        </p:nvSpPr>
        <p:spPr/>
        <p:txBody>
          <a:bodyPr>
            <a:normAutofit fontScale="90000"/>
          </a:bodyPr>
          <a:lstStyle/>
          <a:p>
            <a:r>
              <a:rPr lang="en-US" dirty="0"/>
              <a:t>Estimation of negative hypothesis</a:t>
            </a:r>
          </a:p>
        </p:txBody>
      </p:sp>
      <p:sp>
        <p:nvSpPr>
          <p:cNvPr id="3" name="Content Placeholder 2">
            <a:extLst>
              <a:ext uri="{FF2B5EF4-FFF2-40B4-BE49-F238E27FC236}">
                <a16:creationId xmlns:a16="http://schemas.microsoft.com/office/drawing/2014/main" id="{46FDFBAF-8918-9EF7-DB9F-8779A3510868}"/>
              </a:ext>
            </a:extLst>
          </p:cNvPr>
          <p:cNvSpPr>
            <a:spLocks noGrp="1"/>
          </p:cNvSpPr>
          <p:nvPr>
            <p:ph idx="1"/>
          </p:nvPr>
        </p:nvSpPr>
        <p:spPr>
          <a:xfrm>
            <a:off x="598620" y="1596540"/>
            <a:ext cx="10972800" cy="4833289"/>
          </a:xfrm>
        </p:spPr>
        <p:txBody>
          <a:bodyPr>
            <a:normAutofit fontScale="92500" lnSpcReduction="10000"/>
          </a:bodyPr>
          <a:lstStyle/>
          <a:p>
            <a:r>
              <a:rPr lang="en-US" dirty="0"/>
              <a:t>Weight Array or Markov chain score is related to the probability that the Markov process(es) generated the pattern</a:t>
            </a:r>
          </a:p>
          <a:p>
            <a:endParaRPr lang="en-US" dirty="0"/>
          </a:p>
          <a:p>
            <a:r>
              <a:rPr lang="en-US" dirty="0"/>
              <a:t>One can compare it to the “negative” hypothesis -- score under a model trained on randomly chosen “invalid” patterns: genome sequences of length </a:t>
            </a:r>
            <a:r>
              <a:rPr lang="en-US" i="1" dirty="0"/>
              <a:t>n </a:t>
            </a:r>
            <a:r>
              <a:rPr lang="en-US" dirty="0"/>
              <a:t>that are not valid patterns</a:t>
            </a:r>
          </a:p>
          <a:p>
            <a:pPr marL="0" indent="0">
              <a:buNone/>
            </a:pPr>
            <a:endParaRPr lang="en-US" dirty="0"/>
          </a:p>
          <a:p>
            <a:r>
              <a:rPr lang="en-US" dirty="0"/>
              <a:t>A reasonable assumption is that for the negative hypothesis all probabilities are the same, so the sum of the weights is 0 (zero), thus a score above zero indicates a match to the pattern</a:t>
            </a:r>
          </a:p>
          <a:p>
            <a:pPr lvl="1"/>
            <a:r>
              <a:rPr lang="en-US" dirty="0"/>
              <a:t>Genomes with strong GC-bias (more G’s and C’s compared to A’s and T’s) fail that assumption</a:t>
            </a:r>
          </a:p>
        </p:txBody>
      </p:sp>
      <p:sp>
        <p:nvSpPr>
          <p:cNvPr id="4" name="Slide Number Placeholder 3">
            <a:extLst>
              <a:ext uri="{FF2B5EF4-FFF2-40B4-BE49-F238E27FC236}">
                <a16:creationId xmlns:a16="http://schemas.microsoft.com/office/drawing/2014/main" id="{BCB705A7-24B7-EB37-75D6-6ECDDAC534FD}"/>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214316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5D9D-9CFA-E3E5-F3E9-76BB0B94B400}"/>
              </a:ext>
            </a:extLst>
          </p:cNvPr>
          <p:cNvSpPr>
            <a:spLocks noGrp="1"/>
          </p:cNvSpPr>
          <p:nvPr>
            <p:ph type="title"/>
          </p:nvPr>
        </p:nvSpPr>
        <p:spPr>
          <a:xfrm>
            <a:off x="357988" y="420428"/>
            <a:ext cx="10972800" cy="458115"/>
          </a:xfrm>
        </p:spPr>
        <p:txBody>
          <a:bodyPr>
            <a:normAutofit fontScale="90000"/>
          </a:bodyPr>
          <a:lstStyle/>
          <a:p>
            <a:r>
              <a:rPr lang="en-US" dirty="0"/>
              <a:t>Extend to arbitrary order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14B6AC-11A8-4B13-35A2-65F3080A2081}"/>
                  </a:ext>
                </a:extLst>
              </p:cNvPr>
              <p:cNvSpPr>
                <a:spLocks noGrp="1"/>
              </p:cNvSpPr>
              <p:nvPr>
                <p:ph idx="1"/>
              </p:nvPr>
            </p:nvSpPr>
            <p:spPr>
              <a:xfrm>
                <a:off x="598620" y="1596540"/>
                <a:ext cx="10972800" cy="4948639"/>
              </a:xfrm>
            </p:spPr>
            <p:txBody>
              <a:bodyPr/>
              <a:lstStyle/>
              <a:p>
                <a:r>
                  <a:rPr lang="en-US" dirty="0"/>
                  <a:t>To compute Weight Array scoring matrix of arbitrary order, </a:t>
                </a:r>
                <a:r>
                  <a:rPr lang="en-US" i="1" dirty="0"/>
                  <a:t>O</a:t>
                </a:r>
                <a:r>
                  <a:rPr lang="en-US" dirty="0"/>
                  <a:t>, we need to:</a:t>
                </a:r>
              </a:p>
              <a:p>
                <a:pPr lvl="1"/>
                <a:r>
                  <a:rPr lang="en-US" dirty="0"/>
                  <a:t>Use the training data to compute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oMath>
                </a14:m>
                <a:r>
                  <a:rPr lang="en-US" dirty="0"/>
                  <a:t>, dimensions </a:t>
                </a:r>
                <a:r>
                  <a:rPr lang="en-US" i="1" dirty="0"/>
                  <a:t>4^(O+1) by (n – O)</a:t>
                </a:r>
                <a:endParaRPr lang="en-US" dirty="0"/>
              </a:p>
              <a:p>
                <a:pPr lvl="1"/>
                <a:r>
                  <a:rPr lang="en-US" dirty="0"/>
                  <a:t>Convert </a:t>
                </a:r>
              </a:p>
              <a:p>
                <a:pPr lvl="1"/>
                <a:endParaRPr lang="en-US" dirty="0"/>
              </a:p>
              <a:p>
                <a:pPr lvl="1"/>
                <a:r>
                  <a:rPr lang="en-US" dirty="0"/>
                  <a:t>Compute additional (starting) weights for the pattern corresponding to </a:t>
                </a:r>
                <a:r>
                  <a:rPr lang="en-US" i="1" dirty="0"/>
                  <a:t>O </a:t>
                </a:r>
                <a:r>
                  <a:rPr lang="en-US" dirty="0"/>
                  <a:t>letters</a:t>
                </a:r>
              </a:p>
              <a:p>
                <a:pPr lvl="1"/>
                <a:r>
                  <a:rPr lang="en-US" dirty="0"/>
                  <a:t>Score is the sum of the above scores for the pattern being scored</a:t>
                </a:r>
              </a:p>
            </p:txBody>
          </p:sp>
        </mc:Choice>
        <mc:Fallback xmlns="">
          <p:sp>
            <p:nvSpPr>
              <p:cNvPr id="3" name="Content Placeholder 2">
                <a:extLst>
                  <a:ext uri="{FF2B5EF4-FFF2-40B4-BE49-F238E27FC236}">
                    <a16:creationId xmlns:a16="http://schemas.microsoft.com/office/drawing/2014/main" id="{8014B6AC-11A8-4B13-35A2-65F3080A2081}"/>
                  </a:ext>
                </a:extLst>
              </p:cNvPr>
              <p:cNvSpPr>
                <a:spLocks noGrp="1" noRot="1" noChangeAspect="1" noMove="1" noResize="1" noEditPoints="1" noAdjustHandles="1" noChangeArrowheads="1" noChangeShapeType="1" noTextEdit="1"/>
              </p:cNvSpPr>
              <p:nvPr>
                <p:ph idx="1"/>
              </p:nvPr>
            </p:nvSpPr>
            <p:spPr>
              <a:xfrm>
                <a:off x="598620" y="1596540"/>
                <a:ext cx="10972800" cy="4948639"/>
              </a:xfrm>
              <a:blipFill>
                <a:blip r:embed="rId2"/>
                <a:stretch>
                  <a:fillRect l="-1000" t="-123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FE5D1DB-CDC8-196F-B209-A0AE42841D45}"/>
              </a:ext>
            </a:extLst>
          </p:cNvPr>
          <p:cNvSpPr>
            <a:spLocks noGrp="1"/>
          </p:cNvSpPr>
          <p:nvPr>
            <p:ph type="sldNum" sz="quarter" idx="12"/>
          </p:nvPr>
        </p:nvSpPr>
        <p:spPr/>
        <p:txBody>
          <a:bodyPr/>
          <a:lstStyle/>
          <a:p>
            <a:fld id="{B82CCC60-E8CD-4174-8B1A-7DF615B22EEF}" type="slidenum">
              <a:rPr lang="en-US" smtClean="0"/>
              <a:pPr/>
              <a:t>29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A5BDDE-0405-DA21-B4BA-46E66DDFB1FF}"/>
                  </a:ext>
                </a:extLst>
              </p:cNvPr>
              <p:cNvSpPr txBox="1"/>
              <p:nvPr/>
            </p:nvSpPr>
            <p:spPr>
              <a:xfrm>
                <a:off x="2745492" y="2960234"/>
                <a:ext cx="7684099" cy="1110625"/>
              </a:xfrm>
              <a:prstGeom prst="rect">
                <a:avLst/>
              </a:prstGeom>
              <a:noFill/>
            </p:spPr>
            <p:txBody>
              <a:bodyPr wrap="square">
                <a:spAutoFit/>
              </a:bodyPr>
              <a:lstStyle/>
              <a:p>
                <a:pPr/>
                <a14:m>
                  <m:oMathPara xmlns:m="http://schemas.openxmlformats.org/officeDocument/2006/math">
                    <m:oMath>
                      <m:sSubSup>
                        <m:sSubSupPr>
                          <m:ctrlPr>
                            <a:rPr lang="en-US" sz="2800" i="1">
                              <a:latin typeface="Cambria Math" panose="02040503050406030204" pitchFamily="18" charset="0"/>
                            </a:rPr>
                          </m:ctrlPr>
                        </m:sSubSupPr>
                        <m:e>
                          <m:r>
                            <a:rPr lang="en-US" sz="2800" i="1">
                              <a:latin typeface="Cambria Math" panose="02040503050406030204" pitchFamily="18" charset="0"/>
                            </a:rPr>
                            <m:t>𝑊</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𝑀</m:t>
                          </m:r>
                        </m:sup>
                      </m:sSubSup>
                      <m:r>
                        <a:rPr lang="en-US" sz="2800" i="1">
                          <a:latin typeface="Cambria Math" panose="02040503050406030204" pitchFamily="18" charset="0"/>
                        </a:rPr>
                        <m:t> </m:t>
                      </m:r>
                      <m:r>
                        <a:rPr lang="en-US" sz="280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𝑙𝑜𝑔</m:t>
                          </m:r>
                        </m:e>
                        <m:sub>
                          <m:r>
                            <a:rPr lang="en-US" sz="2800" b="0" i="1" smtClean="0">
                              <a:latin typeface="Cambria Math" panose="02040503050406030204" pitchFamily="18" charset="0"/>
                            </a:rPr>
                            <m:t>2</m:t>
                          </m:r>
                        </m:sub>
                      </m:sSub>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sSubSup>
                                <m:sSubSupPr>
                                  <m:ctrlPr>
                                    <a:rPr lang="en-US" sz="2800" i="1">
                                      <a:latin typeface="Cambria Math" panose="02040503050406030204" pitchFamily="18" charset="0"/>
                                    </a:rPr>
                                  </m:ctrlPr>
                                </m:sSubSup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𝑀</m:t>
                                  </m:r>
                                </m:sup>
                              </m:sSubSup>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sub>
                              </m:sSub>
                            </m:den>
                          </m:f>
                        </m:e>
                      </m:d>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1/(4</m:t>
                          </m:r>
                        </m:e>
                        <m:sup>
                          <m:r>
                            <a:rPr lang="en-US" sz="2800" b="0" i="1" smtClean="0">
                              <a:latin typeface="Cambria Math" panose="02040503050406030204" pitchFamily="18" charset="0"/>
                            </a:rPr>
                            <m:t>𝑂</m:t>
                          </m:r>
                          <m:r>
                            <a:rPr lang="en-US" sz="2800" b="0" i="1" smtClean="0">
                              <a:latin typeface="Cambria Math" panose="02040503050406030204" pitchFamily="18" charset="0"/>
                            </a:rPr>
                            <m:t>+1</m:t>
                          </m:r>
                        </m:sup>
                      </m:sSup>
                      <m:r>
                        <a:rPr lang="en-US" sz="2800" b="0" i="1" smtClean="0">
                          <a:latin typeface="Cambria Math" panose="02040503050406030204" pitchFamily="18" charset="0"/>
                        </a:rPr>
                        <m:t>)</m:t>
                      </m:r>
                    </m:oMath>
                  </m:oMathPara>
                </a14:m>
                <a:endParaRPr lang="en-US" sz="2800" dirty="0"/>
              </a:p>
            </p:txBody>
          </p:sp>
        </mc:Choice>
        <mc:Fallback xmlns="">
          <p:sp>
            <p:nvSpPr>
              <p:cNvPr id="5" name="TextBox 4">
                <a:extLst>
                  <a:ext uri="{FF2B5EF4-FFF2-40B4-BE49-F238E27FC236}">
                    <a16:creationId xmlns:a16="http://schemas.microsoft.com/office/drawing/2014/main" id="{E8A5BDDE-0405-DA21-B4BA-46E66DDFB1FF}"/>
                  </a:ext>
                </a:extLst>
              </p:cNvPr>
              <p:cNvSpPr txBox="1">
                <a:spLocks noRot="1" noChangeAspect="1" noMove="1" noResize="1" noEditPoints="1" noAdjustHandles="1" noChangeArrowheads="1" noChangeShapeType="1" noTextEdit="1"/>
              </p:cNvSpPr>
              <p:nvPr/>
            </p:nvSpPr>
            <p:spPr>
              <a:xfrm>
                <a:off x="2745492" y="2960234"/>
                <a:ext cx="7684099" cy="111062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1479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5DCC-C520-670E-6642-CE9D0E7199CB}"/>
              </a:ext>
            </a:extLst>
          </p:cNvPr>
          <p:cNvSpPr>
            <a:spLocks noGrp="1"/>
          </p:cNvSpPr>
          <p:nvPr>
            <p:ph type="title"/>
          </p:nvPr>
        </p:nvSpPr>
        <p:spPr>
          <a:xfrm>
            <a:off x="290612" y="297417"/>
            <a:ext cx="6658828" cy="896116"/>
          </a:xfrm>
        </p:spPr>
        <p:txBody>
          <a:bodyPr>
            <a:normAutofit fontScale="90000"/>
          </a:bodyPr>
          <a:lstStyle/>
          <a:p>
            <a:r>
              <a:rPr lang="en-US" dirty="0"/>
              <a:t>How to choose the order of Markov chain or WAM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50CE74-1411-C091-C2D9-3D46CF9D22E3}"/>
                  </a:ext>
                </a:extLst>
              </p:cNvPr>
              <p:cNvSpPr>
                <a:spLocks noGrp="1"/>
              </p:cNvSpPr>
              <p:nvPr>
                <p:ph idx="1"/>
              </p:nvPr>
            </p:nvSpPr>
            <p:spPr>
              <a:xfrm>
                <a:off x="598620" y="1596540"/>
                <a:ext cx="10972800" cy="4759811"/>
              </a:xfrm>
            </p:spPr>
            <p:txBody>
              <a:bodyPr>
                <a:normAutofit lnSpcReduction="10000"/>
              </a:bodyPr>
              <a:lstStyle/>
              <a:p>
                <a:r>
                  <a:rPr lang="en-US" dirty="0"/>
                  <a:t>In general Weight Array or Markov chain model of the higher order performs better </a:t>
                </a:r>
              </a:p>
              <a:p>
                <a:r>
                  <a:rPr lang="en-US" dirty="0"/>
                  <a:t>The number of coefficients is:</a:t>
                </a:r>
              </a:p>
              <a:p>
                <a:pPr lvl="1"/>
                <a:r>
                  <a:rPr lang="en-US" dirty="0"/>
                  <a:t>WAM: </a:t>
                </a:r>
                <a:r>
                  <a:rPr lang="en-US" i="1" dirty="0"/>
                  <a:t>4^(O+1) * (n – O),</a:t>
                </a:r>
              </a:p>
              <a:p>
                <a:pPr lvl="1"/>
                <a:r>
                  <a:rPr lang="en-US" dirty="0"/>
                  <a:t>Markov chain: </a:t>
                </a:r>
                <a:r>
                  <a:rPr lang="en-US" i="1" dirty="0"/>
                  <a:t>4^(O+1), </a:t>
                </a:r>
                <a:br>
                  <a:rPr lang="en-US" i="1" dirty="0"/>
                </a:br>
                <a:r>
                  <a:rPr lang="en-US" i="1" dirty="0"/>
                  <a:t>both increase exponentially </a:t>
                </a:r>
                <a:r>
                  <a:rPr lang="en-US" dirty="0"/>
                  <a:t>with increasing </a:t>
                </a:r>
                <a:r>
                  <a:rPr lang="en-US" i="1" dirty="0"/>
                  <a:t>O</a:t>
                </a:r>
                <a:endParaRPr lang="en-US" dirty="0"/>
              </a:p>
              <a:p>
                <a:r>
                  <a:rPr lang="en-US" dirty="0"/>
                  <a:t>The standard error in each coefficient is proportional to </a:t>
                </a:r>
                <a14:m>
                  <m:oMath xmlns:m="http://schemas.openxmlformats.org/officeDocument/2006/math">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𝑁</m:t>
                            </m:r>
                          </m:e>
                        </m:rad>
                      </m:den>
                    </m:f>
                    <m:r>
                      <a:rPr lang="en-US" i="1" dirty="0" smtClean="0">
                        <a:latin typeface="Cambria Math" panose="02040503050406030204" pitchFamily="18" charset="0"/>
                      </a:rPr>
                      <m:t> </m:t>
                    </m:r>
                  </m:oMath>
                </a14:m>
                <a:r>
                  <a:rPr lang="en-US" dirty="0"/>
                  <a:t>, where </a:t>
                </a:r>
                <a:r>
                  <a:rPr lang="en-US" i="1" dirty="0"/>
                  <a:t>N</a:t>
                </a:r>
                <a:r>
                  <a:rPr lang="en-US" dirty="0"/>
                  <a:t> is the number of patterns or state transitions in the training data set, for large </a:t>
                </a:r>
                <a:r>
                  <a:rPr lang="en-US" i="1" dirty="0"/>
                  <a:t>N</a:t>
                </a:r>
                <a:endParaRPr lang="ru-RU" i="1" dirty="0"/>
              </a:p>
              <a:p>
                <a:r>
                  <a:rPr lang="en-US" dirty="0"/>
                  <a:t>We need </a:t>
                </a:r>
                <a:r>
                  <a:rPr lang="en-US" i="1" dirty="0"/>
                  <a:t>N &gt;&gt; 4^(O+1)</a:t>
                </a:r>
              </a:p>
              <a:p>
                <a:endParaRPr lang="en-US" dirty="0"/>
              </a:p>
            </p:txBody>
          </p:sp>
        </mc:Choice>
        <mc:Fallback xmlns="">
          <p:sp>
            <p:nvSpPr>
              <p:cNvPr id="3" name="Content Placeholder 2">
                <a:extLst>
                  <a:ext uri="{FF2B5EF4-FFF2-40B4-BE49-F238E27FC236}">
                    <a16:creationId xmlns:a16="http://schemas.microsoft.com/office/drawing/2014/main" id="{CB50CE74-1411-C091-C2D9-3D46CF9D22E3}"/>
                  </a:ext>
                </a:extLst>
              </p:cNvPr>
              <p:cNvSpPr>
                <a:spLocks noGrp="1" noRot="1" noChangeAspect="1" noMove="1" noResize="1" noEditPoints="1" noAdjustHandles="1" noChangeArrowheads="1" noChangeShapeType="1" noTextEdit="1"/>
              </p:cNvSpPr>
              <p:nvPr>
                <p:ph idx="1"/>
              </p:nvPr>
            </p:nvSpPr>
            <p:spPr>
              <a:xfrm>
                <a:off x="598620" y="1596540"/>
                <a:ext cx="10972800" cy="4759811"/>
              </a:xfrm>
              <a:blipFill>
                <a:blip r:embed="rId2"/>
                <a:stretch>
                  <a:fillRect l="-1000" t="-217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DC447D2-5BB9-1AD7-0A7A-5BA1484BBD10}"/>
              </a:ext>
            </a:extLst>
          </p:cNvPr>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8024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E0712-84F4-9B72-B202-DCC6B2B0EA25}"/>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FDF225FF-F196-D470-BDE3-7F2595F6DA2B}"/>
              </a:ext>
            </a:extLst>
          </p:cNvPr>
          <p:cNvSpPr>
            <a:spLocks noGrp="1"/>
          </p:cNvSpPr>
          <p:nvPr>
            <p:ph idx="1"/>
          </p:nvPr>
        </p:nvSpPr>
        <p:spPr>
          <a:xfrm>
            <a:off x="598620" y="1596540"/>
            <a:ext cx="10972800" cy="4759811"/>
          </a:xfrm>
        </p:spPr>
        <p:txBody>
          <a:bodyPr>
            <a:normAutofit lnSpcReduction="10000"/>
          </a:bodyPr>
          <a:lstStyle/>
          <a:p>
            <a:r>
              <a:rPr lang="en-US" dirty="0"/>
              <a:t>Imagine that we cannot observe/measure the states directly, but the states emit data</a:t>
            </a:r>
          </a:p>
          <a:p>
            <a:endParaRPr lang="en-US" dirty="0"/>
          </a:p>
          <a:p>
            <a:endParaRPr lang="en-US" dirty="0"/>
          </a:p>
          <a:p>
            <a:endParaRPr lang="en-US" dirty="0"/>
          </a:p>
          <a:p>
            <a:endParaRPr lang="en-US" dirty="0"/>
          </a:p>
          <a:p>
            <a:endParaRPr lang="en-US" dirty="0"/>
          </a:p>
          <a:p>
            <a:endParaRPr lang="en-US" dirty="0"/>
          </a:p>
          <a:p>
            <a:r>
              <a:rPr lang="en-US" dirty="0"/>
              <a:t>The goal is to determine the most likely sequence of states given the model and the observed data </a:t>
            </a:r>
          </a:p>
          <a:p>
            <a:endParaRPr lang="en-US" dirty="0"/>
          </a:p>
        </p:txBody>
      </p:sp>
      <p:sp>
        <p:nvSpPr>
          <p:cNvPr id="4" name="Slide Number Placeholder 3">
            <a:extLst>
              <a:ext uri="{FF2B5EF4-FFF2-40B4-BE49-F238E27FC236}">
                <a16:creationId xmlns:a16="http://schemas.microsoft.com/office/drawing/2014/main" id="{1E82A1BA-BA60-E69C-7CE7-EB603784FC35}"/>
              </a:ext>
            </a:extLst>
          </p:cNvPr>
          <p:cNvSpPr>
            <a:spLocks noGrp="1"/>
          </p:cNvSpPr>
          <p:nvPr>
            <p:ph type="sldNum" sz="quarter" idx="12"/>
          </p:nvPr>
        </p:nvSpPr>
        <p:spPr/>
        <p:txBody>
          <a:bodyPr/>
          <a:lstStyle/>
          <a:p>
            <a:fld id="{B82CCC60-E8CD-4174-8B1A-7DF615B22EEF}" type="slidenum">
              <a:rPr lang="en-US" smtClean="0"/>
              <a:pPr/>
              <a:t>31</a:t>
            </a:fld>
            <a:endParaRPr lang="en-US"/>
          </a:p>
        </p:txBody>
      </p:sp>
      <p:sp>
        <p:nvSpPr>
          <p:cNvPr id="5" name="Oval 4">
            <a:extLst>
              <a:ext uri="{FF2B5EF4-FFF2-40B4-BE49-F238E27FC236}">
                <a16:creationId xmlns:a16="http://schemas.microsoft.com/office/drawing/2014/main" id="{539A4F1F-7A20-26AC-FE40-91C37AA1F624}"/>
              </a:ext>
            </a:extLst>
          </p:cNvPr>
          <p:cNvSpPr/>
          <p:nvPr/>
        </p:nvSpPr>
        <p:spPr>
          <a:xfrm>
            <a:off x="3715656" y="3269436"/>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4252672-5240-96D1-B041-84A73062D82D}"/>
              </a:ext>
            </a:extLst>
          </p:cNvPr>
          <p:cNvSpPr/>
          <p:nvPr/>
        </p:nvSpPr>
        <p:spPr>
          <a:xfrm>
            <a:off x="6676571" y="3269436"/>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FF51F26-1599-C12B-FE80-3291D29F99CB}"/>
                  </a:ext>
                </a:extLst>
              </p14:cNvPr>
              <p14:cNvContentPartPr/>
              <p14:nvPr/>
            </p14:nvContentPartPr>
            <p14:xfrm>
              <a:off x="4412234" y="2992476"/>
              <a:ext cx="2343600" cy="472680"/>
            </p14:xfrm>
          </p:contentPart>
        </mc:Choice>
        <mc:Fallback xmlns="">
          <p:pic>
            <p:nvPicPr>
              <p:cNvPr id="7" name="Ink 6">
                <a:extLst>
                  <a:ext uri="{FF2B5EF4-FFF2-40B4-BE49-F238E27FC236}">
                    <a16:creationId xmlns:a16="http://schemas.microsoft.com/office/drawing/2014/main" id="{1FF51F26-1599-C12B-FE80-3291D29F99CB}"/>
                  </a:ext>
                </a:extLst>
              </p:cNvPr>
              <p:cNvPicPr/>
              <p:nvPr/>
            </p:nvPicPr>
            <p:blipFill>
              <a:blip r:embed="rId3"/>
              <a:stretch>
                <a:fillRect/>
              </a:stretch>
            </p:blipFill>
            <p:spPr>
              <a:xfrm>
                <a:off x="4406114" y="2986356"/>
                <a:ext cx="235584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5E8C6D2-7495-622D-7520-FA7113ECCA2B}"/>
                  </a:ext>
                </a:extLst>
              </p14:cNvPr>
              <p14:cNvContentPartPr/>
              <p14:nvPr/>
            </p14:nvContentPartPr>
            <p14:xfrm>
              <a:off x="4413674" y="4110996"/>
              <a:ext cx="2502720" cy="400320"/>
            </p14:xfrm>
          </p:contentPart>
        </mc:Choice>
        <mc:Fallback xmlns="">
          <p:pic>
            <p:nvPicPr>
              <p:cNvPr id="8" name="Ink 7">
                <a:extLst>
                  <a:ext uri="{FF2B5EF4-FFF2-40B4-BE49-F238E27FC236}">
                    <a16:creationId xmlns:a16="http://schemas.microsoft.com/office/drawing/2014/main" id="{15E8C6D2-7495-622D-7520-FA7113ECCA2B}"/>
                  </a:ext>
                </a:extLst>
              </p:cNvPr>
              <p:cNvPicPr/>
              <p:nvPr/>
            </p:nvPicPr>
            <p:blipFill>
              <a:blip r:embed="rId5"/>
              <a:stretch>
                <a:fillRect/>
              </a:stretch>
            </p:blipFill>
            <p:spPr>
              <a:xfrm>
                <a:off x="4407554" y="4104876"/>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68D7ECD4-15F5-F3BC-3E1A-614291CC5092}"/>
                  </a:ext>
                </a:extLst>
              </p14:cNvPr>
              <p14:cNvContentPartPr/>
              <p14:nvPr/>
            </p14:nvContentPartPr>
            <p14:xfrm>
              <a:off x="7474394" y="3138636"/>
              <a:ext cx="1329840" cy="1373040"/>
            </p14:xfrm>
          </p:contentPart>
        </mc:Choice>
        <mc:Fallback xmlns="">
          <p:pic>
            <p:nvPicPr>
              <p:cNvPr id="9" name="Ink 8">
                <a:extLst>
                  <a:ext uri="{FF2B5EF4-FFF2-40B4-BE49-F238E27FC236}">
                    <a16:creationId xmlns:a16="http://schemas.microsoft.com/office/drawing/2014/main" id="{68D7ECD4-15F5-F3BC-3E1A-614291CC5092}"/>
                  </a:ext>
                </a:extLst>
              </p:cNvPr>
              <p:cNvPicPr/>
              <p:nvPr/>
            </p:nvPicPr>
            <p:blipFill>
              <a:blip r:embed="rId7"/>
              <a:stretch>
                <a:fillRect/>
              </a:stretch>
            </p:blipFill>
            <p:spPr>
              <a:xfrm>
                <a:off x="7468274" y="3132516"/>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E054F4F-C2FE-D616-6B8E-5E49C125446C}"/>
                  </a:ext>
                </a:extLst>
              </p14:cNvPr>
              <p14:cNvContentPartPr/>
              <p14:nvPr/>
            </p14:nvContentPartPr>
            <p14:xfrm>
              <a:off x="2481914" y="2949996"/>
              <a:ext cx="1371600" cy="1343880"/>
            </p14:xfrm>
          </p:contentPart>
        </mc:Choice>
        <mc:Fallback xmlns="">
          <p:pic>
            <p:nvPicPr>
              <p:cNvPr id="10" name="Ink 9">
                <a:extLst>
                  <a:ext uri="{FF2B5EF4-FFF2-40B4-BE49-F238E27FC236}">
                    <a16:creationId xmlns:a16="http://schemas.microsoft.com/office/drawing/2014/main" id="{8E054F4F-C2FE-D616-6B8E-5E49C125446C}"/>
                  </a:ext>
                </a:extLst>
              </p:cNvPr>
              <p:cNvPicPr/>
              <p:nvPr/>
            </p:nvPicPr>
            <p:blipFill>
              <a:blip r:embed="rId9"/>
              <a:stretch>
                <a:fillRect/>
              </a:stretch>
            </p:blipFill>
            <p:spPr>
              <a:xfrm>
                <a:off x="2475794" y="2943876"/>
                <a:ext cx="1383840" cy="1356120"/>
              </a:xfrm>
              <a:prstGeom prst="rect">
                <a:avLst/>
              </a:prstGeom>
            </p:spPr>
          </p:pic>
        </mc:Fallback>
      </mc:AlternateContent>
      <p:sp>
        <p:nvSpPr>
          <p:cNvPr id="11" name="TextBox 10">
            <a:extLst>
              <a:ext uri="{FF2B5EF4-FFF2-40B4-BE49-F238E27FC236}">
                <a16:creationId xmlns:a16="http://schemas.microsoft.com/office/drawing/2014/main" id="{2B2250BE-9C6E-1116-B192-21813B8F8A40}"/>
              </a:ext>
            </a:extLst>
          </p:cNvPr>
          <p:cNvSpPr txBox="1"/>
          <p:nvPr/>
        </p:nvSpPr>
        <p:spPr>
          <a:xfrm>
            <a:off x="5188622" y="2609521"/>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46949013-ED6B-462D-858D-88698E8EF942}"/>
              </a:ext>
            </a:extLst>
          </p:cNvPr>
          <p:cNvSpPr txBox="1"/>
          <p:nvPr/>
        </p:nvSpPr>
        <p:spPr>
          <a:xfrm>
            <a:off x="5188622" y="4667961"/>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392D2B55-E3E6-344F-363B-931C99B21FEF}"/>
              </a:ext>
            </a:extLst>
          </p:cNvPr>
          <p:cNvSpPr txBox="1"/>
          <p:nvPr/>
        </p:nvSpPr>
        <p:spPr>
          <a:xfrm>
            <a:off x="7976180" y="2707384"/>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9ECC6130-52AC-9110-4D7D-BD535EBEE328}"/>
              </a:ext>
            </a:extLst>
          </p:cNvPr>
          <p:cNvSpPr txBox="1"/>
          <p:nvPr/>
        </p:nvSpPr>
        <p:spPr>
          <a:xfrm>
            <a:off x="2929508" y="2580664"/>
            <a:ext cx="476412" cy="369332"/>
          </a:xfrm>
          <a:prstGeom prst="rect">
            <a:avLst/>
          </a:prstGeom>
          <a:noFill/>
        </p:spPr>
        <p:txBody>
          <a:bodyPr wrap="none" rtlCol="0">
            <a:spAutoFit/>
          </a:bodyPr>
          <a:lstStyle/>
          <a:p>
            <a:r>
              <a:rPr lang="en-US" dirty="0"/>
              <a:t>0.8</a:t>
            </a:r>
          </a:p>
        </p:txBody>
      </p:sp>
      <p:pic>
        <p:nvPicPr>
          <p:cNvPr id="15" name="Picture 14">
            <a:extLst>
              <a:ext uri="{FF2B5EF4-FFF2-40B4-BE49-F238E27FC236}">
                <a16:creationId xmlns:a16="http://schemas.microsoft.com/office/drawing/2014/main" id="{CC206314-B8C3-404F-8FB0-6889C90E2270}"/>
              </a:ext>
            </a:extLst>
          </p:cNvPr>
          <p:cNvPicPr>
            <a:picLocks noChangeAspect="1"/>
          </p:cNvPicPr>
          <p:nvPr/>
        </p:nvPicPr>
        <p:blipFill>
          <a:blip r:embed="rId10"/>
          <a:stretch>
            <a:fillRect/>
          </a:stretch>
        </p:blipFill>
        <p:spPr>
          <a:xfrm>
            <a:off x="9640566" y="2207982"/>
            <a:ext cx="1930854" cy="2827908"/>
          </a:xfrm>
          <a:prstGeom prst="rect">
            <a:avLst/>
          </a:prstGeom>
        </p:spPr>
      </p:pic>
      <p:sp>
        <p:nvSpPr>
          <p:cNvPr id="16" name="Rectangle 15">
            <a:extLst>
              <a:ext uri="{FF2B5EF4-FFF2-40B4-BE49-F238E27FC236}">
                <a16:creationId xmlns:a16="http://schemas.microsoft.com/office/drawing/2014/main" id="{7C895273-52C4-40C6-A84C-951A0C6BF9C8}"/>
              </a:ext>
            </a:extLst>
          </p:cNvPr>
          <p:cNvSpPr/>
          <p:nvPr/>
        </p:nvSpPr>
        <p:spPr>
          <a:xfrm>
            <a:off x="9522794" y="2127564"/>
            <a:ext cx="2219551" cy="306912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4646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30217-F9CB-BA87-8E50-27F9F1DB0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D0862-4CF4-F655-58FA-A061B6CF3D46}"/>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E177515E-FD50-DFBC-DC5E-BF086D267559}"/>
              </a:ext>
            </a:extLst>
          </p:cNvPr>
          <p:cNvSpPr>
            <a:spLocks noGrp="1"/>
          </p:cNvSpPr>
          <p:nvPr>
            <p:ph idx="1"/>
          </p:nvPr>
        </p:nvSpPr>
        <p:spPr>
          <a:xfrm>
            <a:off x="598620" y="1596540"/>
            <a:ext cx="10972800" cy="4759811"/>
          </a:xfrm>
        </p:spPr>
        <p:txBody>
          <a:bodyPr>
            <a:normAutofit fontScale="92500" lnSpcReduction="10000"/>
          </a:bodyPr>
          <a:lstStyle/>
          <a:p>
            <a:r>
              <a:rPr lang="en-US" dirty="0"/>
              <a:t>A Hidden Markov Model is a Markov model that emits data at each state with different probability distributions, and transition probabilities are known (or can be estimated)</a:t>
            </a:r>
          </a:p>
          <a:p>
            <a:endParaRPr lang="en-US" dirty="0"/>
          </a:p>
          <a:p>
            <a:endParaRPr lang="en-US" dirty="0"/>
          </a:p>
          <a:p>
            <a:endParaRPr lang="en-US" dirty="0"/>
          </a:p>
          <a:p>
            <a:endParaRPr lang="en-US" dirty="0"/>
          </a:p>
          <a:p>
            <a:endParaRPr lang="en-US" dirty="0"/>
          </a:p>
          <a:p>
            <a:endParaRPr lang="en-US" dirty="0"/>
          </a:p>
          <a:p>
            <a:r>
              <a:rPr lang="en-US" dirty="0"/>
              <a:t>Blue state emits data distributed according to probabilities P</a:t>
            </a:r>
            <a:r>
              <a:rPr lang="en-US" baseline="-25000" dirty="0"/>
              <a:t>b</a:t>
            </a:r>
            <a:r>
              <a:rPr lang="en-US" dirty="0"/>
              <a:t> and Green state emits data distributed with probabilities P</a:t>
            </a:r>
            <a:r>
              <a:rPr lang="en-US" baseline="-25000" dirty="0"/>
              <a:t>g</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DE38625-2B7A-38A7-EC06-7D88AEC787CE}"/>
              </a:ext>
            </a:extLst>
          </p:cNvPr>
          <p:cNvSpPr>
            <a:spLocks noGrp="1"/>
          </p:cNvSpPr>
          <p:nvPr>
            <p:ph type="sldNum" sz="quarter" idx="12"/>
          </p:nvPr>
        </p:nvSpPr>
        <p:spPr/>
        <p:txBody>
          <a:bodyPr/>
          <a:lstStyle/>
          <a:p>
            <a:fld id="{B82CCC60-E8CD-4174-8B1A-7DF615B22EEF}" type="slidenum">
              <a:rPr lang="en-US" smtClean="0"/>
              <a:pPr/>
              <a:t>32</a:t>
            </a:fld>
            <a:endParaRPr lang="en-US"/>
          </a:p>
        </p:txBody>
      </p:sp>
      <p:sp>
        <p:nvSpPr>
          <p:cNvPr id="5" name="Oval 4">
            <a:extLst>
              <a:ext uri="{FF2B5EF4-FFF2-40B4-BE49-F238E27FC236}">
                <a16:creationId xmlns:a16="http://schemas.microsoft.com/office/drawing/2014/main" id="{C5029330-5B64-40F5-F23B-851D8E7B51C2}"/>
              </a:ext>
            </a:extLst>
          </p:cNvPr>
          <p:cNvSpPr/>
          <p:nvPr/>
        </p:nvSpPr>
        <p:spPr>
          <a:xfrm>
            <a:off x="3844417" y="343690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138FAB-1C37-68E8-DC59-73F902AA8755}"/>
              </a:ext>
            </a:extLst>
          </p:cNvPr>
          <p:cNvSpPr/>
          <p:nvPr/>
        </p:nvSpPr>
        <p:spPr>
          <a:xfrm>
            <a:off x="6805332" y="343690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7F9FB03D-231E-D48F-1FC2-F765BC6AF61A}"/>
                  </a:ext>
                </a:extLst>
              </p14:cNvPr>
              <p14:cNvContentPartPr/>
              <p14:nvPr/>
            </p14:nvContentPartPr>
            <p14:xfrm>
              <a:off x="4540995" y="3159943"/>
              <a:ext cx="2343600" cy="472680"/>
            </p14:xfrm>
          </p:contentPart>
        </mc:Choice>
        <mc:Fallback xmlns="">
          <p:pic>
            <p:nvPicPr>
              <p:cNvPr id="7" name="Ink 6">
                <a:extLst>
                  <a:ext uri="{FF2B5EF4-FFF2-40B4-BE49-F238E27FC236}">
                    <a16:creationId xmlns:a16="http://schemas.microsoft.com/office/drawing/2014/main" id="{7F9FB03D-231E-D48F-1FC2-F765BC6AF61A}"/>
                  </a:ext>
                </a:extLst>
              </p:cNvPr>
              <p:cNvPicPr/>
              <p:nvPr/>
            </p:nvPicPr>
            <p:blipFill>
              <a:blip r:embed="rId3"/>
              <a:stretch>
                <a:fillRect/>
              </a:stretch>
            </p:blipFill>
            <p:spPr>
              <a:xfrm>
                <a:off x="4534874" y="315382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7B67913-6EEA-DE13-19E1-3571A72FDAF3}"/>
                  </a:ext>
                </a:extLst>
              </p14:cNvPr>
              <p14:cNvContentPartPr/>
              <p14:nvPr/>
            </p14:nvContentPartPr>
            <p14:xfrm>
              <a:off x="4542435" y="4278463"/>
              <a:ext cx="2502720" cy="400320"/>
            </p14:xfrm>
          </p:contentPart>
        </mc:Choice>
        <mc:Fallback xmlns="">
          <p:pic>
            <p:nvPicPr>
              <p:cNvPr id="8" name="Ink 7">
                <a:extLst>
                  <a:ext uri="{FF2B5EF4-FFF2-40B4-BE49-F238E27FC236}">
                    <a16:creationId xmlns:a16="http://schemas.microsoft.com/office/drawing/2014/main" id="{57B67913-6EEA-DE13-19E1-3571A72FDAF3}"/>
                  </a:ext>
                </a:extLst>
              </p:cNvPr>
              <p:cNvPicPr/>
              <p:nvPr/>
            </p:nvPicPr>
            <p:blipFill>
              <a:blip r:embed="rId5"/>
              <a:stretch>
                <a:fillRect/>
              </a:stretch>
            </p:blipFill>
            <p:spPr>
              <a:xfrm>
                <a:off x="4536315" y="427234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94BF825-DD48-0C51-4DDE-36833D49A6E5}"/>
                  </a:ext>
                </a:extLst>
              </p14:cNvPr>
              <p14:cNvContentPartPr/>
              <p14:nvPr/>
            </p14:nvContentPartPr>
            <p14:xfrm>
              <a:off x="7603155" y="3306103"/>
              <a:ext cx="1329840" cy="1373040"/>
            </p14:xfrm>
          </p:contentPart>
        </mc:Choice>
        <mc:Fallback xmlns="">
          <p:pic>
            <p:nvPicPr>
              <p:cNvPr id="9" name="Ink 8">
                <a:extLst>
                  <a:ext uri="{FF2B5EF4-FFF2-40B4-BE49-F238E27FC236}">
                    <a16:creationId xmlns:a16="http://schemas.microsoft.com/office/drawing/2014/main" id="{B94BF825-DD48-0C51-4DDE-36833D49A6E5}"/>
                  </a:ext>
                </a:extLst>
              </p:cNvPr>
              <p:cNvPicPr/>
              <p:nvPr/>
            </p:nvPicPr>
            <p:blipFill>
              <a:blip r:embed="rId7"/>
              <a:stretch>
                <a:fillRect/>
              </a:stretch>
            </p:blipFill>
            <p:spPr>
              <a:xfrm>
                <a:off x="7597035" y="329998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6608982-D253-41F2-B626-8BD9A1EB39E0}"/>
                  </a:ext>
                </a:extLst>
              </p14:cNvPr>
              <p14:cNvContentPartPr/>
              <p14:nvPr/>
            </p14:nvContentPartPr>
            <p14:xfrm>
              <a:off x="2610675" y="3117463"/>
              <a:ext cx="1371600" cy="1343880"/>
            </p14:xfrm>
          </p:contentPart>
        </mc:Choice>
        <mc:Fallback xmlns="">
          <p:pic>
            <p:nvPicPr>
              <p:cNvPr id="10" name="Ink 9">
                <a:extLst>
                  <a:ext uri="{FF2B5EF4-FFF2-40B4-BE49-F238E27FC236}">
                    <a16:creationId xmlns:a16="http://schemas.microsoft.com/office/drawing/2014/main" id="{36608982-D253-41F2-B626-8BD9A1EB39E0}"/>
                  </a:ext>
                </a:extLst>
              </p:cNvPr>
              <p:cNvPicPr/>
              <p:nvPr/>
            </p:nvPicPr>
            <p:blipFill>
              <a:blip r:embed="rId9"/>
              <a:stretch>
                <a:fillRect/>
              </a:stretch>
            </p:blipFill>
            <p:spPr>
              <a:xfrm>
                <a:off x="2604555" y="3111343"/>
                <a:ext cx="1383840" cy="1356120"/>
              </a:xfrm>
              <a:prstGeom prst="rect">
                <a:avLst/>
              </a:prstGeom>
            </p:spPr>
          </p:pic>
        </mc:Fallback>
      </mc:AlternateContent>
      <p:sp>
        <p:nvSpPr>
          <p:cNvPr id="11" name="TextBox 10">
            <a:extLst>
              <a:ext uri="{FF2B5EF4-FFF2-40B4-BE49-F238E27FC236}">
                <a16:creationId xmlns:a16="http://schemas.microsoft.com/office/drawing/2014/main" id="{8E11B187-B37C-E90F-11EA-77A5C60BDC5E}"/>
              </a:ext>
            </a:extLst>
          </p:cNvPr>
          <p:cNvSpPr txBox="1"/>
          <p:nvPr/>
        </p:nvSpPr>
        <p:spPr>
          <a:xfrm>
            <a:off x="5317383" y="277698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71FFA82D-5863-61D8-77E5-08E2C891570F}"/>
              </a:ext>
            </a:extLst>
          </p:cNvPr>
          <p:cNvSpPr txBox="1"/>
          <p:nvPr/>
        </p:nvSpPr>
        <p:spPr>
          <a:xfrm>
            <a:off x="5317383" y="483542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1A70824C-F46F-D8E4-D876-688C21794D27}"/>
              </a:ext>
            </a:extLst>
          </p:cNvPr>
          <p:cNvSpPr txBox="1"/>
          <p:nvPr/>
        </p:nvSpPr>
        <p:spPr>
          <a:xfrm>
            <a:off x="8104941" y="287485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D685B373-DF56-97B4-DFE0-416EF22CA411}"/>
              </a:ext>
            </a:extLst>
          </p:cNvPr>
          <p:cNvSpPr txBox="1"/>
          <p:nvPr/>
        </p:nvSpPr>
        <p:spPr>
          <a:xfrm>
            <a:off x="3058269" y="2748131"/>
            <a:ext cx="476412" cy="369332"/>
          </a:xfrm>
          <a:prstGeom prst="rect">
            <a:avLst/>
          </a:prstGeom>
          <a:noFill/>
        </p:spPr>
        <p:txBody>
          <a:bodyPr wrap="none" rtlCol="0">
            <a:spAutoFit/>
          </a:bodyPr>
          <a:lstStyle/>
          <a:p>
            <a:r>
              <a:rPr lang="en-US" dirty="0"/>
              <a:t>0.8</a:t>
            </a:r>
          </a:p>
        </p:txBody>
      </p:sp>
    </p:spTree>
    <p:extLst>
      <p:ext uri="{BB962C8B-B14F-4D97-AF65-F5344CB8AC3E}">
        <p14:creationId xmlns:p14="http://schemas.microsoft.com/office/powerpoint/2010/main" val="3261130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B8B34-EC6C-7ECD-8975-DE5F1D2DA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A4E25-34EC-4BC9-7887-C4C1ED75240F}"/>
              </a:ext>
            </a:extLst>
          </p:cNvPr>
          <p:cNvSpPr>
            <a:spLocks noGrp="1"/>
          </p:cNvSpPr>
          <p:nvPr>
            <p:ph type="title"/>
          </p:nvPr>
        </p:nvSpPr>
        <p:spPr/>
        <p:txBody>
          <a:bodyPr>
            <a:normAutofit fontScale="90000"/>
          </a:bodyPr>
          <a:lstStyle/>
          <a:p>
            <a:r>
              <a:rPr lang="en-US" dirty="0"/>
              <a:t>The game</a:t>
            </a:r>
          </a:p>
        </p:txBody>
      </p:sp>
      <p:sp>
        <p:nvSpPr>
          <p:cNvPr id="3" name="Content Placeholder 2">
            <a:extLst>
              <a:ext uri="{FF2B5EF4-FFF2-40B4-BE49-F238E27FC236}">
                <a16:creationId xmlns:a16="http://schemas.microsoft.com/office/drawing/2014/main" id="{223AE1AC-CDE4-B4C2-0A21-47173E19A542}"/>
              </a:ext>
            </a:extLst>
          </p:cNvPr>
          <p:cNvSpPr>
            <a:spLocks noGrp="1"/>
          </p:cNvSpPr>
          <p:nvPr>
            <p:ph idx="1"/>
          </p:nvPr>
        </p:nvSpPr>
        <p:spPr>
          <a:xfrm>
            <a:off x="598620" y="1596541"/>
            <a:ext cx="10972800" cy="2831808"/>
          </a:xfrm>
        </p:spPr>
        <p:txBody>
          <a:bodyPr>
            <a:normAutofit fontScale="62500" lnSpcReduction="20000"/>
          </a:bodyPr>
          <a:lstStyle/>
          <a:p>
            <a:r>
              <a:rPr lang="en-US" dirty="0"/>
              <a:t>Imagine the following game:  </a:t>
            </a:r>
          </a:p>
          <a:p>
            <a:pPr lvl="1"/>
            <a:r>
              <a:rPr lang="en-US" dirty="0"/>
              <a:t>One coin is </a:t>
            </a:r>
            <a:r>
              <a:rPr lang="en-US" b="1" dirty="0"/>
              <a:t>fair</a:t>
            </a:r>
            <a:r>
              <a:rPr lang="en-US" dirty="0"/>
              <a:t>: probability of heads or tails is 50%</a:t>
            </a:r>
          </a:p>
          <a:p>
            <a:pPr lvl="1"/>
            <a:r>
              <a:rPr lang="en-US" dirty="0"/>
              <a:t>One coin is </a:t>
            </a:r>
            <a:r>
              <a:rPr lang="en-US" b="1" dirty="0"/>
              <a:t>biased</a:t>
            </a:r>
            <a:r>
              <a:rPr lang="en-US" dirty="0"/>
              <a:t>: probability of heads is 90%</a:t>
            </a:r>
          </a:p>
          <a:p>
            <a:pPr lvl="1"/>
            <a:r>
              <a:rPr lang="en-US" dirty="0"/>
              <a:t>Coins </a:t>
            </a:r>
            <a:r>
              <a:rPr lang="en-US" b="1" dirty="0"/>
              <a:t>look identical </a:t>
            </a:r>
            <a:r>
              <a:rPr lang="en-US" dirty="0"/>
              <a:t>to us (state cannot be observed directly)</a:t>
            </a:r>
          </a:p>
          <a:p>
            <a:pPr lvl="1"/>
            <a:endParaRPr lang="en-US" dirty="0"/>
          </a:p>
          <a:p>
            <a:r>
              <a:rPr lang="en-US" dirty="0"/>
              <a:t>The game (repeats N times): </a:t>
            </a:r>
          </a:p>
          <a:p>
            <a:pPr lvl="1"/>
            <a:r>
              <a:rPr lang="en-US" dirty="0"/>
              <a:t>Dealer picks a coin with probability 50% in secret, flips it and makes the result visible</a:t>
            </a:r>
          </a:p>
          <a:p>
            <a:pPr lvl="1"/>
            <a:r>
              <a:rPr lang="en-US" dirty="0"/>
              <a:t>Dealer then switches the coin with probability 20% in secret</a:t>
            </a:r>
          </a:p>
          <a:p>
            <a:pPr lvl="1"/>
            <a:endParaRPr lang="en-US" dirty="0"/>
          </a:p>
          <a:p>
            <a:r>
              <a:rPr lang="en-US" dirty="0"/>
              <a:t>Our goal is to guess which coin is used at every toss</a:t>
            </a: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E32F5BE-CFA4-5AEB-FB72-B7A7BE361054}"/>
              </a:ext>
            </a:extLst>
          </p:cNvPr>
          <p:cNvSpPr>
            <a:spLocks noGrp="1"/>
          </p:cNvSpPr>
          <p:nvPr>
            <p:ph type="sldNum" sz="quarter" idx="12"/>
          </p:nvPr>
        </p:nvSpPr>
        <p:spPr/>
        <p:txBody>
          <a:bodyPr/>
          <a:lstStyle/>
          <a:p>
            <a:fld id="{B82CCC60-E8CD-4174-8B1A-7DF615B22EEF}" type="slidenum">
              <a:rPr lang="en-US" smtClean="0"/>
              <a:pPr/>
              <a:t>33</a:t>
            </a:fld>
            <a:endParaRPr lang="en-US"/>
          </a:p>
        </p:txBody>
      </p:sp>
      <p:sp>
        <p:nvSpPr>
          <p:cNvPr id="5" name="Oval 4">
            <a:extLst>
              <a:ext uri="{FF2B5EF4-FFF2-40B4-BE49-F238E27FC236}">
                <a16:creationId xmlns:a16="http://schemas.microsoft.com/office/drawing/2014/main" id="{93DB01BF-D79D-10CB-74F4-2D087991B988}"/>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0E227F6-38B9-61CE-281C-BC262468FA31}"/>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8E43E4B-FB25-6479-DA90-D0451598F2C3}"/>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8E43E4B-FB25-6479-DA90-D0451598F2C3}"/>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62A546A-642C-77F7-7EE7-529E62872156}"/>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462A546A-642C-77F7-7EE7-529E62872156}"/>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84ABD6A-1698-6007-1C62-67FB8B6EB29A}"/>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A84ABD6A-1698-6007-1C62-67FB8B6EB29A}"/>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9214677-80B7-A650-4D6C-4C8D7236E00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F9214677-80B7-A650-4D6C-4C8D7236E00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10A503C6-5C8E-14BA-B5E4-1A6280A8A57C}"/>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A34633C3-9234-65CA-6C0C-564B3DE63320}"/>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9441D2A0-FA3F-A1E3-8CF2-5CD91BB32C7F}"/>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9B6BB83F-94F6-CAFA-6FC1-23F9A55E16C0}"/>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AC74FC00-7F74-CDAB-A40E-CFEF423255BB}"/>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BF0187BE-DC35-BD8B-06FA-D82F328C9564}"/>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415209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702D-E791-7332-90A1-24058B1B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EBB2B-D2DE-A216-CE73-F304CD1BE277}"/>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FCD4D567-7692-99EC-0858-6D96C357AF73}"/>
              </a:ext>
            </a:extLst>
          </p:cNvPr>
          <p:cNvSpPr>
            <a:spLocks noGrp="1"/>
          </p:cNvSpPr>
          <p:nvPr>
            <p:ph idx="1"/>
          </p:nvPr>
        </p:nvSpPr>
        <p:spPr>
          <a:xfrm>
            <a:off x="598620" y="1596541"/>
            <a:ext cx="10972800" cy="2831808"/>
          </a:xfrm>
        </p:spPr>
        <p:txBody>
          <a:bodyPr>
            <a:normAutofit/>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We observe: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F01E706-1F82-C454-F077-0927AB67E7EB}"/>
              </a:ext>
            </a:extLst>
          </p:cNvPr>
          <p:cNvSpPr>
            <a:spLocks noGrp="1"/>
          </p:cNvSpPr>
          <p:nvPr>
            <p:ph type="sldNum" sz="quarter" idx="12"/>
          </p:nvPr>
        </p:nvSpPr>
        <p:spPr/>
        <p:txBody>
          <a:bodyPr/>
          <a:lstStyle/>
          <a:p>
            <a:fld id="{B82CCC60-E8CD-4174-8B1A-7DF615B22EEF}" type="slidenum">
              <a:rPr lang="en-US" smtClean="0"/>
              <a:pPr/>
              <a:t>34</a:t>
            </a:fld>
            <a:endParaRPr lang="en-US"/>
          </a:p>
        </p:txBody>
      </p:sp>
      <p:sp>
        <p:nvSpPr>
          <p:cNvPr id="5" name="Oval 4">
            <a:extLst>
              <a:ext uri="{FF2B5EF4-FFF2-40B4-BE49-F238E27FC236}">
                <a16:creationId xmlns:a16="http://schemas.microsoft.com/office/drawing/2014/main" id="{1CDD9513-33A5-1792-58D0-0C35B5F00527}"/>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382A174-BDA0-A1A2-C8CB-C322EA5B3D90}"/>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FBC47E8-9EE8-DC92-8C84-EE6FEC919BF1}"/>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1FBC47E8-9EE8-DC92-8C84-EE6FEC919BF1}"/>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C88B532-DEDB-8044-B453-F46927CB347B}"/>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DC88B532-DEDB-8044-B453-F46927CB347B}"/>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84134525-3FCC-C0AB-2CD4-E73FDFDB4C08}"/>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84134525-3FCC-C0AB-2CD4-E73FDFDB4C08}"/>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4A1350D-F674-D736-D4DE-D27287C24D3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04A1350D-F674-D736-D4DE-D27287C24D3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3AF2DBBA-8A5D-B8DB-4904-FDD066D89B9A}"/>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467FBC51-D720-D0AC-D0F0-87174BE5D3CC}"/>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F3975C6D-6088-0237-0623-D3EE73BD39D2}"/>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BAED02FB-4C79-C7AC-BAFE-EA03E7CBB3E8}"/>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B4B90408-1228-540B-72C7-27A54CA064DC}"/>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828265B-EEAE-95FD-8BBD-DA30A0DB3174}"/>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3041595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CA9FE-9ECF-3DB4-B21D-D3F16DF3B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2DACF-B005-5BCC-E9BE-21E29D6A42AD}"/>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4AE122E6-B362-AFF3-6A31-4E7966D91717}"/>
              </a:ext>
            </a:extLst>
          </p:cNvPr>
          <p:cNvSpPr>
            <a:spLocks noGrp="1"/>
          </p:cNvSpPr>
          <p:nvPr>
            <p:ph idx="1"/>
          </p:nvPr>
        </p:nvSpPr>
        <p:spPr>
          <a:xfrm>
            <a:off x="598620" y="1596541"/>
            <a:ext cx="10972800" cy="2831808"/>
          </a:xfrm>
        </p:spPr>
        <p:txBody>
          <a:bodyPr>
            <a:normAutofit fontScale="92500" lnSpcReduction="10000"/>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It is easy for the dealer to compute the probability:</a:t>
            </a:r>
            <a:br>
              <a:rPr lang="en-US" dirty="0"/>
            </a:br>
            <a:r>
              <a:rPr lang="en-US" dirty="0" err="1"/>
              <a:t>Pr</a:t>
            </a:r>
            <a:r>
              <a:rPr lang="en-US" dirty="0"/>
              <a:t>(</a:t>
            </a:r>
            <a:r>
              <a:rPr lang="en-US" dirty="0">
                <a:latin typeface="Courier New" panose="02070309020205020404" pitchFamily="49" charset="0"/>
                <a:cs typeface="Courier New" panose="02070309020205020404" pitchFamily="49" charset="0"/>
              </a:rPr>
              <a:t>FFBB</a:t>
            </a:r>
            <a:r>
              <a:rPr lang="en-US" dirty="0">
                <a:cs typeface="Courier New" panose="02070309020205020404" pitchFamily="49" charset="0"/>
              </a:rPr>
              <a:t>)=</a:t>
            </a:r>
            <a:r>
              <a:rPr lang="en-US" dirty="0" err="1">
                <a:cs typeface="Courier New" panose="02070309020205020404" pitchFamily="49" charset="0"/>
              </a:rPr>
              <a:t>Pr</a:t>
            </a:r>
            <a:r>
              <a:rPr lang="en-US" dirty="0">
                <a:cs typeface="Courier New" panose="02070309020205020404" pitchFamily="49" charset="0"/>
              </a:rPr>
              <a:t>(start in F)*</a:t>
            </a:r>
            <a:r>
              <a:rPr lang="en-US" dirty="0" err="1">
                <a:cs typeface="Courier New" panose="02070309020205020404" pitchFamily="49" charset="0"/>
              </a:rPr>
              <a:t>Pr</a:t>
            </a:r>
            <a:r>
              <a:rPr lang="en-US" dirty="0">
                <a:cs typeface="Courier New" panose="02070309020205020404" pitchFamily="49" charset="0"/>
              </a:rPr>
              <a:t>(emit H in F)*</a:t>
            </a:r>
            <a:r>
              <a:rPr lang="en-US" dirty="0" err="1">
                <a:cs typeface="Courier New" panose="02070309020205020404" pitchFamily="49" charset="0"/>
              </a:rPr>
              <a:t>Pr</a:t>
            </a:r>
            <a:r>
              <a:rPr lang="en-US" dirty="0">
                <a:cs typeface="Courier New" panose="02070309020205020404" pitchFamily="49" charset="0"/>
              </a:rPr>
              <a:t>(stay in F)* </a:t>
            </a:r>
            <a:r>
              <a:rPr lang="en-US" dirty="0" err="1">
                <a:cs typeface="Courier New" panose="02070309020205020404" pitchFamily="49" charset="0"/>
              </a:rPr>
              <a:t>Pr</a:t>
            </a:r>
            <a:r>
              <a:rPr lang="en-US" dirty="0">
                <a:cs typeface="Courier New" panose="02070309020205020404" pitchFamily="49" charset="0"/>
              </a:rPr>
              <a:t>(emit T in F)* </a:t>
            </a:r>
            <a:r>
              <a:rPr lang="en-US" dirty="0" err="1">
                <a:cs typeface="Courier New" panose="02070309020205020404" pitchFamily="49" charset="0"/>
              </a:rPr>
              <a:t>Pr</a:t>
            </a:r>
            <a:r>
              <a:rPr lang="en-US" dirty="0">
                <a:cs typeface="Courier New" panose="02070309020205020404" pitchFamily="49" charset="0"/>
              </a:rPr>
              <a:t>(switch to B)* </a:t>
            </a:r>
            <a:r>
              <a:rPr lang="en-US" dirty="0" err="1">
                <a:cs typeface="Courier New" panose="02070309020205020404" pitchFamily="49" charset="0"/>
              </a:rPr>
              <a:t>Pr</a:t>
            </a:r>
            <a:r>
              <a:rPr lang="en-US" dirty="0">
                <a:cs typeface="Courier New" panose="02070309020205020404" pitchFamily="49" charset="0"/>
              </a:rPr>
              <a:t>(emit H in B)*</a:t>
            </a:r>
            <a:r>
              <a:rPr lang="en-US" dirty="0" err="1">
                <a:cs typeface="Courier New" panose="02070309020205020404" pitchFamily="49" charset="0"/>
              </a:rPr>
              <a:t>Pr</a:t>
            </a:r>
            <a:r>
              <a:rPr lang="en-US" dirty="0">
                <a:cs typeface="Courier New" panose="02070309020205020404" pitchFamily="49" charset="0"/>
              </a:rPr>
              <a:t>(stay in B)* </a:t>
            </a:r>
            <a:r>
              <a:rPr lang="en-US" dirty="0" err="1">
                <a:cs typeface="Courier New" panose="02070309020205020404" pitchFamily="49" charset="0"/>
              </a:rPr>
              <a:t>Pr</a:t>
            </a:r>
            <a:r>
              <a:rPr lang="en-US" dirty="0">
                <a:cs typeface="Courier New" panose="02070309020205020404" pitchFamily="49" charset="0"/>
              </a:rPr>
              <a:t>(emit H in B) = </a:t>
            </a:r>
            <a:br>
              <a:rPr lang="en-US" dirty="0">
                <a:cs typeface="Courier New" panose="02070309020205020404" pitchFamily="49" charset="0"/>
              </a:rPr>
            </a:br>
            <a:r>
              <a:rPr lang="en-US" dirty="0">
                <a:cs typeface="Courier New" panose="02070309020205020404" pitchFamily="49" charset="0"/>
              </a:rPr>
              <a:t>0.5*0.5*0.8*0.5*0.2*0.9*0.8*0.9</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0F5982B-5F33-B9E6-B77B-24962F05583C}"/>
              </a:ext>
            </a:extLst>
          </p:cNvPr>
          <p:cNvSpPr>
            <a:spLocks noGrp="1"/>
          </p:cNvSpPr>
          <p:nvPr>
            <p:ph type="sldNum" sz="quarter" idx="12"/>
          </p:nvPr>
        </p:nvSpPr>
        <p:spPr/>
        <p:txBody>
          <a:bodyPr/>
          <a:lstStyle/>
          <a:p>
            <a:fld id="{B82CCC60-E8CD-4174-8B1A-7DF615B22EEF}" type="slidenum">
              <a:rPr lang="en-US" smtClean="0"/>
              <a:pPr/>
              <a:t>35</a:t>
            </a:fld>
            <a:endParaRPr lang="en-US"/>
          </a:p>
        </p:txBody>
      </p:sp>
      <p:sp>
        <p:nvSpPr>
          <p:cNvPr id="5" name="Oval 4">
            <a:extLst>
              <a:ext uri="{FF2B5EF4-FFF2-40B4-BE49-F238E27FC236}">
                <a16:creationId xmlns:a16="http://schemas.microsoft.com/office/drawing/2014/main" id="{BC39ADAA-9D2A-298D-DD69-A5BE32D0C565}"/>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B278906-3134-B264-5987-CC4F215A1860}"/>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44D23E3-96BA-5D6B-4952-2916A41FC51F}"/>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44D23E3-96BA-5D6B-4952-2916A41FC51F}"/>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9F86BA86-54F1-1332-5EE1-F9F4753BD315}"/>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9F86BA86-54F1-1332-5EE1-F9F4753BD315}"/>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4DEE59B-326F-9578-BF8F-46C193D81738}"/>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74DEE59B-326F-9578-BF8F-46C193D81738}"/>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CCAB885-0764-64B5-ACF3-84306CBBFD8B}"/>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CCAB885-0764-64B5-ACF3-84306CBBFD8B}"/>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45DBDF70-2D97-4FF2-B51A-50B5FEBCF94A}"/>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2C866F49-BF0D-FBB4-5844-C7AD498F2BEC}"/>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B67CB788-4FD3-045E-A387-4E9010F9EA7A}"/>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ABD619AE-643D-A691-0B0F-AE1FE0FD9664}"/>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85D557C3-3A3D-0FF5-5A4E-7B5562363ED9}"/>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6B89ADA8-AE0B-2FA3-7C4E-24D5BF713063}"/>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841664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BA45-1CED-D738-3D4E-97ABCC9A9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59515-861D-2B62-EFE7-C139A3E4ADC4}"/>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D29AC204-01C9-954A-CDCA-0CEB4C5ABBD0}"/>
              </a:ext>
            </a:extLst>
          </p:cNvPr>
          <p:cNvSpPr>
            <a:spLocks noGrp="1"/>
          </p:cNvSpPr>
          <p:nvPr>
            <p:ph idx="1"/>
          </p:nvPr>
        </p:nvSpPr>
        <p:spPr>
          <a:xfrm>
            <a:off x="598620" y="1596541"/>
            <a:ext cx="10972800" cy="2831808"/>
          </a:xfrm>
        </p:spPr>
        <p:txBody>
          <a:bodyPr>
            <a:normAutofit/>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What can we do?  The coins are hidden from us!</a:t>
            </a:r>
          </a:p>
          <a:p>
            <a:r>
              <a:rPr lang="en-US" dirty="0"/>
              <a:t>Try all possible sequences of 4-letter combinations of F and B, compute probabilities (2^4)</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0A664F8C-F966-5408-DEB5-27C9EC48F5FC}"/>
              </a:ext>
            </a:extLst>
          </p:cNvPr>
          <p:cNvSpPr>
            <a:spLocks noGrp="1"/>
          </p:cNvSpPr>
          <p:nvPr>
            <p:ph type="sldNum" sz="quarter" idx="12"/>
          </p:nvPr>
        </p:nvSpPr>
        <p:spPr/>
        <p:txBody>
          <a:bodyPr/>
          <a:lstStyle/>
          <a:p>
            <a:fld id="{B82CCC60-E8CD-4174-8B1A-7DF615B22EEF}" type="slidenum">
              <a:rPr lang="en-US" smtClean="0"/>
              <a:pPr/>
              <a:t>36</a:t>
            </a:fld>
            <a:endParaRPr lang="en-US"/>
          </a:p>
        </p:txBody>
      </p:sp>
      <p:sp>
        <p:nvSpPr>
          <p:cNvPr id="5" name="Oval 4">
            <a:extLst>
              <a:ext uri="{FF2B5EF4-FFF2-40B4-BE49-F238E27FC236}">
                <a16:creationId xmlns:a16="http://schemas.microsoft.com/office/drawing/2014/main" id="{1A7BAC98-E2F6-6DB9-850C-EC92F5C00319}"/>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6765AC-5D7E-D806-9988-4FE92DC39D5D}"/>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BE51B1E-B8C7-60B5-A372-35666C77E84D}"/>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1BE51B1E-B8C7-60B5-A372-35666C77E84D}"/>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219F17E-B23F-E567-BF0D-8405FA4AAB5E}"/>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1219F17E-B23F-E567-BF0D-8405FA4AAB5E}"/>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905D0C6-3704-9AF6-9B9C-3F6D71ABB845}"/>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B905D0C6-3704-9AF6-9B9C-3F6D71ABB845}"/>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BE658BA-C980-01DF-D40A-6CF1B9AFC93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BE658BA-C980-01DF-D40A-6CF1B9AFC93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D7F86296-B2AD-EA38-155E-CC326EED969F}"/>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D86DF8B8-73A9-E400-9157-79A24241F29F}"/>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518259B2-C629-9A96-B5CF-4757CAA9A4DA}"/>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7CDA9687-0F74-3940-DC92-79A8E0FB5291}"/>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C312CFE8-320E-CAF3-F358-5E16C444DA30}"/>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E6AE1A07-65B7-D036-0E9C-E894626A3889}"/>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749756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0F56C-3590-4B93-8794-A19D3CDE5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57462-F74A-A55E-066C-0C69AA13F5F4}"/>
              </a:ext>
            </a:extLst>
          </p:cNvPr>
          <p:cNvSpPr>
            <a:spLocks noGrp="1"/>
          </p:cNvSpPr>
          <p:nvPr>
            <p:ph type="title"/>
          </p:nvPr>
        </p:nvSpPr>
        <p:spPr/>
        <p:txBody>
          <a:bodyPr>
            <a:normAutofit fontScale="90000"/>
          </a:bodyPr>
          <a:lstStyle/>
          <a:p>
            <a:r>
              <a:rPr lang="en-US" dirty="0"/>
              <a:t>Hidden Markov Models</a:t>
            </a:r>
          </a:p>
        </p:txBody>
      </p:sp>
      <p:sp>
        <p:nvSpPr>
          <p:cNvPr id="4" name="Slide Number Placeholder 3">
            <a:extLst>
              <a:ext uri="{FF2B5EF4-FFF2-40B4-BE49-F238E27FC236}">
                <a16:creationId xmlns:a16="http://schemas.microsoft.com/office/drawing/2014/main" id="{EDA77FF9-F8F5-C646-8BB3-0620F9F2DFE8}"/>
              </a:ext>
            </a:extLst>
          </p:cNvPr>
          <p:cNvSpPr>
            <a:spLocks noGrp="1"/>
          </p:cNvSpPr>
          <p:nvPr>
            <p:ph type="sldNum" sz="quarter" idx="12"/>
          </p:nvPr>
        </p:nvSpPr>
        <p:spPr/>
        <p:txBody>
          <a:bodyPr/>
          <a:lstStyle/>
          <a:p>
            <a:fld id="{B82CCC60-E8CD-4174-8B1A-7DF615B22EEF}" type="slidenum">
              <a:rPr lang="en-US" smtClean="0"/>
              <a:pPr/>
              <a:t>37</a:t>
            </a:fld>
            <a:endParaRPr lang="en-US"/>
          </a:p>
        </p:txBody>
      </p:sp>
      <p:sp>
        <p:nvSpPr>
          <p:cNvPr id="5" name="Oval 4">
            <a:extLst>
              <a:ext uri="{FF2B5EF4-FFF2-40B4-BE49-F238E27FC236}">
                <a16:creationId xmlns:a16="http://schemas.microsoft.com/office/drawing/2014/main" id="{2B168BAB-2083-2502-D353-A25A7769FBD0}"/>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4DE4518-21A0-2244-5507-5AD14D5C2E2B}"/>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C033EE1-80CB-5702-2CB6-DE987248708D}"/>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C033EE1-80CB-5702-2CB6-DE987248708D}"/>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785C6ED7-F3FE-564F-2717-7064027198B9}"/>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785C6ED7-F3FE-564F-2717-7064027198B9}"/>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096853C-B616-36DA-7743-F106416E6323}"/>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5096853C-B616-36DA-7743-F106416E6323}"/>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3CFBEF3-2A45-9C85-0AED-68B77005B598}"/>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3CFBEF3-2A45-9C85-0AED-68B77005B598}"/>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255E23F1-9141-CDC8-3129-D654535A5391}"/>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0FE18C88-F96A-498E-6BE3-1B27D738DB2D}"/>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436286BF-186E-7F87-8853-637AEE049781}"/>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8DC1FE02-EDB6-4A36-A4E3-5E2B36B98B72}"/>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168FA2C9-3513-886F-8292-5CA9EAAC743E}"/>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BFB9025-2CB3-D674-3F51-301E214E656B}"/>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cxnSp>
        <p:nvCxnSpPr>
          <p:cNvPr id="20" name="Straight Connector 19">
            <a:extLst>
              <a:ext uri="{FF2B5EF4-FFF2-40B4-BE49-F238E27FC236}">
                <a16:creationId xmlns:a16="http://schemas.microsoft.com/office/drawing/2014/main" id="{E8544100-A62F-C523-3AD0-4CC8E61D938C}"/>
              </a:ext>
            </a:extLst>
          </p:cNvPr>
          <p:cNvCxnSpPr>
            <a:cxnSpLocks/>
            <a:endCxn id="26" idx="0"/>
          </p:cNvCxnSpPr>
          <p:nvPr/>
        </p:nvCxnSpPr>
        <p:spPr>
          <a:xfrm>
            <a:off x="6191511" y="2049049"/>
            <a:ext cx="1829726" cy="2100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D4DF3E-91B5-006C-6AC5-F0A8C7EFA5E7}"/>
              </a:ext>
            </a:extLst>
          </p:cNvPr>
          <p:cNvCxnSpPr>
            <a:cxnSpLocks/>
            <a:endCxn id="25" idx="0"/>
          </p:cNvCxnSpPr>
          <p:nvPr/>
        </p:nvCxnSpPr>
        <p:spPr>
          <a:xfrm flipH="1">
            <a:off x="4308596" y="2024743"/>
            <a:ext cx="1584204" cy="191157"/>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5F7F59-92A0-108A-C231-D82E7358C146}"/>
              </a:ext>
            </a:extLst>
          </p:cNvPr>
          <p:cNvSpPr txBox="1"/>
          <p:nvPr/>
        </p:nvSpPr>
        <p:spPr>
          <a:xfrm>
            <a:off x="4180283" y="2215900"/>
            <a:ext cx="256625" cy="369332"/>
          </a:xfrm>
          <a:prstGeom prst="rect">
            <a:avLst/>
          </a:prstGeom>
          <a:noFill/>
        </p:spPr>
        <p:txBody>
          <a:bodyPr wrap="square" rtlCol="0">
            <a:spAutoFit/>
          </a:bodyPr>
          <a:lstStyle/>
          <a:p>
            <a:r>
              <a:rPr lang="en-US" dirty="0"/>
              <a:t>F</a:t>
            </a:r>
          </a:p>
        </p:txBody>
      </p:sp>
      <p:sp>
        <p:nvSpPr>
          <p:cNvPr id="26" name="TextBox 25">
            <a:extLst>
              <a:ext uri="{FF2B5EF4-FFF2-40B4-BE49-F238E27FC236}">
                <a16:creationId xmlns:a16="http://schemas.microsoft.com/office/drawing/2014/main" id="{A6B41A51-5584-AF95-46C4-8A3E56BBC18C}"/>
              </a:ext>
            </a:extLst>
          </p:cNvPr>
          <p:cNvSpPr txBox="1"/>
          <p:nvPr/>
        </p:nvSpPr>
        <p:spPr>
          <a:xfrm>
            <a:off x="7866387" y="2259148"/>
            <a:ext cx="309700" cy="369332"/>
          </a:xfrm>
          <a:prstGeom prst="rect">
            <a:avLst/>
          </a:prstGeom>
          <a:noFill/>
        </p:spPr>
        <p:txBody>
          <a:bodyPr wrap="none" rtlCol="0">
            <a:spAutoFit/>
          </a:bodyPr>
          <a:lstStyle/>
          <a:p>
            <a:r>
              <a:rPr lang="en-US" dirty="0"/>
              <a:t>B</a:t>
            </a:r>
          </a:p>
        </p:txBody>
      </p:sp>
      <p:cxnSp>
        <p:nvCxnSpPr>
          <p:cNvPr id="44" name="Straight Connector 43">
            <a:extLst>
              <a:ext uri="{FF2B5EF4-FFF2-40B4-BE49-F238E27FC236}">
                <a16:creationId xmlns:a16="http://schemas.microsoft.com/office/drawing/2014/main" id="{47DF2FDD-6C92-50D9-B70B-E8D8B631BB69}"/>
              </a:ext>
            </a:extLst>
          </p:cNvPr>
          <p:cNvCxnSpPr>
            <a:cxnSpLocks/>
            <a:stCxn id="25" idx="2"/>
          </p:cNvCxnSpPr>
          <p:nvPr/>
        </p:nvCxnSpPr>
        <p:spPr>
          <a:xfrm>
            <a:off x="4308596" y="2585232"/>
            <a:ext cx="1128284" cy="283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830D506-CFCF-6E2B-6035-378B817F4A65}"/>
              </a:ext>
            </a:extLst>
          </p:cNvPr>
          <p:cNvCxnSpPr>
            <a:cxnSpLocks/>
            <a:stCxn id="25" idx="2"/>
          </p:cNvCxnSpPr>
          <p:nvPr/>
        </p:nvCxnSpPr>
        <p:spPr>
          <a:xfrm flipH="1">
            <a:off x="3194126" y="2585232"/>
            <a:ext cx="1114470" cy="27696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594BEDE-2B6B-B365-8191-FEFDC6A2C5D1}"/>
              </a:ext>
            </a:extLst>
          </p:cNvPr>
          <p:cNvSpPr txBox="1"/>
          <p:nvPr/>
        </p:nvSpPr>
        <p:spPr>
          <a:xfrm>
            <a:off x="3049453" y="2856606"/>
            <a:ext cx="256625" cy="369332"/>
          </a:xfrm>
          <a:prstGeom prst="rect">
            <a:avLst/>
          </a:prstGeom>
          <a:noFill/>
        </p:spPr>
        <p:txBody>
          <a:bodyPr wrap="square" rtlCol="0">
            <a:spAutoFit/>
          </a:bodyPr>
          <a:lstStyle/>
          <a:p>
            <a:r>
              <a:rPr lang="en-US" dirty="0"/>
              <a:t>F</a:t>
            </a:r>
          </a:p>
        </p:txBody>
      </p:sp>
      <p:sp>
        <p:nvSpPr>
          <p:cNvPr id="47" name="TextBox 46">
            <a:extLst>
              <a:ext uri="{FF2B5EF4-FFF2-40B4-BE49-F238E27FC236}">
                <a16:creationId xmlns:a16="http://schemas.microsoft.com/office/drawing/2014/main" id="{CE7E97F8-6B68-959D-4940-AD88F0300ACC}"/>
              </a:ext>
            </a:extLst>
          </p:cNvPr>
          <p:cNvSpPr txBox="1"/>
          <p:nvPr/>
        </p:nvSpPr>
        <p:spPr>
          <a:xfrm>
            <a:off x="5289760" y="2791541"/>
            <a:ext cx="309700" cy="369332"/>
          </a:xfrm>
          <a:prstGeom prst="rect">
            <a:avLst/>
          </a:prstGeom>
          <a:noFill/>
        </p:spPr>
        <p:txBody>
          <a:bodyPr wrap="none" rtlCol="0">
            <a:spAutoFit/>
          </a:bodyPr>
          <a:lstStyle/>
          <a:p>
            <a:r>
              <a:rPr lang="en-US" dirty="0"/>
              <a:t>B</a:t>
            </a:r>
          </a:p>
        </p:txBody>
      </p:sp>
      <p:cxnSp>
        <p:nvCxnSpPr>
          <p:cNvPr id="58" name="Straight Connector 57">
            <a:extLst>
              <a:ext uri="{FF2B5EF4-FFF2-40B4-BE49-F238E27FC236}">
                <a16:creationId xmlns:a16="http://schemas.microsoft.com/office/drawing/2014/main" id="{95C44153-F2E4-FF49-72C3-FD639BBAC441}"/>
              </a:ext>
            </a:extLst>
          </p:cNvPr>
          <p:cNvCxnSpPr>
            <a:cxnSpLocks/>
          </p:cNvCxnSpPr>
          <p:nvPr/>
        </p:nvCxnSpPr>
        <p:spPr>
          <a:xfrm>
            <a:off x="8009788" y="2543401"/>
            <a:ext cx="1128284" cy="283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3BE003-39D7-FD54-6B09-6DD3710576EE}"/>
              </a:ext>
            </a:extLst>
          </p:cNvPr>
          <p:cNvCxnSpPr>
            <a:cxnSpLocks/>
          </p:cNvCxnSpPr>
          <p:nvPr/>
        </p:nvCxnSpPr>
        <p:spPr>
          <a:xfrm flipH="1">
            <a:off x="6895318" y="2543401"/>
            <a:ext cx="1114470" cy="276960"/>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5A2ADD9-281F-00DE-EF14-9CCEAD2BE942}"/>
              </a:ext>
            </a:extLst>
          </p:cNvPr>
          <p:cNvSpPr txBox="1"/>
          <p:nvPr/>
        </p:nvSpPr>
        <p:spPr>
          <a:xfrm>
            <a:off x="6804789" y="2813572"/>
            <a:ext cx="256625" cy="369332"/>
          </a:xfrm>
          <a:prstGeom prst="rect">
            <a:avLst/>
          </a:prstGeom>
          <a:noFill/>
        </p:spPr>
        <p:txBody>
          <a:bodyPr wrap="square" rtlCol="0">
            <a:spAutoFit/>
          </a:bodyPr>
          <a:lstStyle/>
          <a:p>
            <a:r>
              <a:rPr lang="en-US" dirty="0"/>
              <a:t>F</a:t>
            </a:r>
          </a:p>
        </p:txBody>
      </p:sp>
      <p:sp>
        <p:nvSpPr>
          <p:cNvPr id="61" name="TextBox 60">
            <a:extLst>
              <a:ext uri="{FF2B5EF4-FFF2-40B4-BE49-F238E27FC236}">
                <a16:creationId xmlns:a16="http://schemas.microsoft.com/office/drawing/2014/main" id="{657133D1-B946-E1EC-E694-B1462B688298}"/>
              </a:ext>
            </a:extLst>
          </p:cNvPr>
          <p:cNvSpPr txBox="1"/>
          <p:nvPr/>
        </p:nvSpPr>
        <p:spPr>
          <a:xfrm>
            <a:off x="8881447" y="2780024"/>
            <a:ext cx="309700" cy="369332"/>
          </a:xfrm>
          <a:prstGeom prst="rect">
            <a:avLst/>
          </a:prstGeom>
          <a:noFill/>
        </p:spPr>
        <p:txBody>
          <a:bodyPr wrap="none" rtlCol="0">
            <a:spAutoFit/>
          </a:bodyPr>
          <a:lstStyle/>
          <a:p>
            <a:r>
              <a:rPr lang="en-US" dirty="0"/>
              <a:t>B</a:t>
            </a:r>
          </a:p>
        </p:txBody>
      </p:sp>
      <p:cxnSp>
        <p:nvCxnSpPr>
          <p:cNvPr id="62" name="Straight Connector 61">
            <a:extLst>
              <a:ext uri="{FF2B5EF4-FFF2-40B4-BE49-F238E27FC236}">
                <a16:creationId xmlns:a16="http://schemas.microsoft.com/office/drawing/2014/main" id="{4ADA61D5-C87A-3E4E-F78B-A8C0A488C03D}"/>
              </a:ext>
            </a:extLst>
          </p:cNvPr>
          <p:cNvCxnSpPr>
            <a:cxnSpLocks/>
          </p:cNvCxnSpPr>
          <p:nvPr/>
        </p:nvCxnSpPr>
        <p:spPr>
          <a:xfrm>
            <a:off x="3160563" y="3194188"/>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277F3A6-A29F-18A7-7E8A-E3E0CBBA4FEB}"/>
              </a:ext>
            </a:extLst>
          </p:cNvPr>
          <p:cNvCxnSpPr>
            <a:cxnSpLocks/>
          </p:cNvCxnSpPr>
          <p:nvPr/>
        </p:nvCxnSpPr>
        <p:spPr>
          <a:xfrm flipH="1">
            <a:off x="2775558" y="3194188"/>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B3AE2B1-70EA-567F-677B-71FC41B041AF}"/>
              </a:ext>
            </a:extLst>
          </p:cNvPr>
          <p:cNvSpPr txBox="1"/>
          <p:nvPr/>
        </p:nvSpPr>
        <p:spPr>
          <a:xfrm>
            <a:off x="2595418" y="3355050"/>
            <a:ext cx="256625" cy="369332"/>
          </a:xfrm>
          <a:prstGeom prst="rect">
            <a:avLst/>
          </a:prstGeom>
          <a:noFill/>
        </p:spPr>
        <p:txBody>
          <a:bodyPr wrap="square" rtlCol="0">
            <a:spAutoFit/>
          </a:bodyPr>
          <a:lstStyle/>
          <a:p>
            <a:r>
              <a:rPr lang="en-US" dirty="0"/>
              <a:t>F</a:t>
            </a:r>
          </a:p>
        </p:txBody>
      </p:sp>
      <p:sp>
        <p:nvSpPr>
          <p:cNvPr id="65" name="TextBox 64">
            <a:extLst>
              <a:ext uri="{FF2B5EF4-FFF2-40B4-BE49-F238E27FC236}">
                <a16:creationId xmlns:a16="http://schemas.microsoft.com/office/drawing/2014/main" id="{5F60D809-CE3A-9234-5EA0-F4DFB757F53C}"/>
              </a:ext>
            </a:extLst>
          </p:cNvPr>
          <p:cNvSpPr txBox="1"/>
          <p:nvPr/>
        </p:nvSpPr>
        <p:spPr>
          <a:xfrm>
            <a:off x="3462080" y="3361187"/>
            <a:ext cx="309700" cy="369332"/>
          </a:xfrm>
          <a:prstGeom prst="rect">
            <a:avLst/>
          </a:prstGeom>
          <a:noFill/>
        </p:spPr>
        <p:txBody>
          <a:bodyPr wrap="none" rtlCol="0">
            <a:spAutoFit/>
          </a:bodyPr>
          <a:lstStyle/>
          <a:p>
            <a:r>
              <a:rPr lang="en-US" dirty="0"/>
              <a:t>B</a:t>
            </a:r>
          </a:p>
        </p:txBody>
      </p:sp>
      <p:cxnSp>
        <p:nvCxnSpPr>
          <p:cNvPr id="79" name="Straight Connector 78">
            <a:extLst>
              <a:ext uri="{FF2B5EF4-FFF2-40B4-BE49-F238E27FC236}">
                <a16:creationId xmlns:a16="http://schemas.microsoft.com/office/drawing/2014/main" id="{713685AF-B62E-F060-05DB-06BA6A920117}"/>
              </a:ext>
            </a:extLst>
          </p:cNvPr>
          <p:cNvCxnSpPr>
            <a:cxnSpLocks/>
          </p:cNvCxnSpPr>
          <p:nvPr/>
        </p:nvCxnSpPr>
        <p:spPr>
          <a:xfrm>
            <a:off x="5436880" y="3189663"/>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E5E76BD-C7A7-4FBC-834A-F011E3E10EC5}"/>
              </a:ext>
            </a:extLst>
          </p:cNvPr>
          <p:cNvCxnSpPr>
            <a:cxnSpLocks/>
          </p:cNvCxnSpPr>
          <p:nvPr/>
        </p:nvCxnSpPr>
        <p:spPr>
          <a:xfrm flipH="1">
            <a:off x="5051875" y="3189663"/>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7758A69F-7F15-B35A-3637-1FC576F1C1FE}"/>
              </a:ext>
            </a:extLst>
          </p:cNvPr>
          <p:cNvSpPr txBox="1"/>
          <p:nvPr/>
        </p:nvSpPr>
        <p:spPr>
          <a:xfrm>
            <a:off x="4871735" y="3350525"/>
            <a:ext cx="256625" cy="369332"/>
          </a:xfrm>
          <a:prstGeom prst="rect">
            <a:avLst/>
          </a:prstGeom>
          <a:noFill/>
        </p:spPr>
        <p:txBody>
          <a:bodyPr wrap="square" rtlCol="0">
            <a:spAutoFit/>
          </a:bodyPr>
          <a:lstStyle/>
          <a:p>
            <a:r>
              <a:rPr lang="en-US" dirty="0"/>
              <a:t>F</a:t>
            </a:r>
          </a:p>
        </p:txBody>
      </p:sp>
      <p:sp>
        <p:nvSpPr>
          <p:cNvPr id="82" name="TextBox 81">
            <a:extLst>
              <a:ext uri="{FF2B5EF4-FFF2-40B4-BE49-F238E27FC236}">
                <a16:creationId xmlns:a16="http://schemas.microsoft.com/office/drawing/2014/main" id="{BF6BCE03-1696-4511-58D7-EDEE0428EEA4}"/>
              </a:ext>
            </a:extLst>
          </p:cNvPr>
          <p:cNvSpPr txBox="1"/>
          <p:nvPr/>
        </p:nvSpPr>
        <p:spPr>
          <a:xfrm>
            <a:off x="5738397" y="3356662"/>
            <a:ext cx="309700" cy="369332"/>
          </a:xfrm>
          <a:prstGeom prst="rect">
            <a:avLst/>
          </a:prstGeom>
          <a:noFill/>
        </p:spPr>
        <p:txBody>
          <a:bodyPr wrap="none" rtlCol="0">
            <a:spAutoFit/>
          </a:bodyPr>
          <a:lstStyle/>
          <a:p>
            <a:r>
              <a:rPr lang="en-US" dirty="0"/>
              <a:t>B</a:t>
            </a:r>
          </a:p>
        </p:txBody>
      </p:sp>
      <p:cxnSp>
        <p:nvCxnSpPr>
          <p:cNvPr id="83" name="Straight Connector 82">
            <a:extLst>
              <a:ext uri="{FF2B5EF4-FFF2-40B4-BE49-F238E27FC236}">
                <a16:creationId xmlns:a16="http://schemas.microsoft.com/office/drawing/2014/main" id="{D684E74E-3D5E-197F-8F4D-7C7A21164D8B}"/>
              </a:ext>
            </a:extLst>
          </p:cNvPr>
          <p:cNvCxnSpPr>
            <a:cxnSpLocks/>
          </p:cNvCxnSpPr>
          <p:nvPr/>
        </p:nvCxnSpPr>
        <p:spPr>
          <a:xfrm>
            <a:off x="6949462" y="3215235"/>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6A97F96-4CF9-D7B4-3D10-FABB67BA2C98}"/>
              </a:ext>
            </a:extLst>
          </p:cNvPr>
          <p:cNvCxnSpPr>
            <a:cxnSpLocks/>
          </p:cNvCxnSpPr>
          <p:nvPr/>
        </p:nvCxnSpPr>
        <p:spPr>
          <a:xfrm flipH="1">
            <a:off x="6564457" y="3215235"/>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18B5CD3-6F16-1B16-72D1-3571933F78D1}"/>
              </a:ext>
            </a:extLst>
          </p:cNvPr>
          <p:cNvSpPr txBox="1"/>
          <p:nvPr/>
        </p:nvSpPr>
        <p:spPr>
          <a:xfrm>
            <a:off x="6384317" y="3376097"/>
            <a:ext cx="256625" cy="369332"/>
          </a:xfrm>
          <a:prstGeom prst="rect">
            <a:avLst/>
          </a:prstGeom>
          <a:noFill/>
        </p:spPr>
        <p:txBody>
          <a:bodyPr wrap="square" rtlCol="0">
            <a:spAutoFit/>
          </a:bodyPr>
          <a:lstStyle/>
          <a:p>
            <a:r>
              <a:rPr lang="en-US" dirty="0"/>
              <a:t>F</a:t>
            </a:r>
          </a:p>
        </p:txBody>
      </p:sp>
      <p:sp>
        <p:nvSpPr>
          <p:cNvPr id="86" name="TextBox 85">
            <a:extLst>
              <a:ext uri="{FF2B5EF4-FFF2-40B4-BE49-F238E27FC236}">
                <a16:creationId xmlns:a16="http://schemas.microsoft.com/office/drawing/2014/main" id="{FF0417D5-DD9D-3E3A-4B08-574146D16637}"/>
              </a:ext>
            </a:extLst>
          </p:cNvPr>
          <p:cNvSpPr txBox="1"/>
          <p:nvPr/>
        </p:nvSpPr>
        <p:spPr>
          <a:xfrm>
            <a:off x="7250979" y="3382234"/>
            <a:ext cx="309700" cy="369332"/>
          </a:xfrm>
          <a:prstGeom prst="rect">
            <a:avLst/>
          </a:prstGeom>
          <a:noFill/>
        </p:spPr>
        <p:txBody>
          <a:bodyPr wrap="none" rtlCol="0">
            <a:spAutoFit/>
          </a:bodyPr>
          <a:lstStyle/>
          <a:p>
            <a:r>
              <a:rPr lang="en-US" dirty="0"/>
              <a:t>B</a:t>
            </a:r>
          </a:p>
        </p:txBody>
      </p:sp>
      <p:cxnSp>
        <p:nvCxnSpPr>
          <p:cNvPr id="87" name="Straight Connector 86">
            <a:extLst>
              <a:ext uri="{FF2B5EF4-FFF2-40B4-BE49-F238E27FC236}">
                <a16:creationId xmlns:a16="http://schemas.microsoft.com/office/drawing/2014/main" id="{5EFD062F-6722-5D8C-EABE-4F202AF28ABD}"/>
              </a:ext>
            </a:extLst>
          </p:cNvPr>
          <p:cNvCxnSpPr>
            <a:cxnSpLocks/>
          </p:cNvCxnSpPr>
          <p:nvPr/>
        </p:nvCxnSpPr>
        <p:spPr>
          <a:xfrm>
            <a:off x="8972340" y="3102827"/>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F4554D9-3164-70FD-14BA-AF1AE232D1CD}"/>
              </a:ext>
            </a:extLst>
          </p:cNvPr>
          <p:cNvCxnSpPr>
            <a:cxnSpLocks/>
          </p:cNvCxnSpPr>
          <p:nvPr/>
        </p:nvCxnSpPr>
        <p:spPr>
          <a:xfrm flipH="1">
            <a:off x="8587335" y="3102827"/>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CA36C914-632F-5D2E-0D54-DA1CDE0BD284}"/>
              </a:ext>
            </a:extLst>
          </p:cNvPr>
          <p:cNvSpPr txBox="1"/>
          <p:nvPr/>
        </p:nvSpPr>
        <p:spPr>
          <a:xfrm>
            <a:off x="8407195" y="3263689"/>
            <a:ext cx="256625" cy="369332"/>
          </a:xfrm>
          <a:prstGeom prst="rect">
            <a:avLst/>
          </a:prstGeom>
          <a:noFill/>
        </p:spPr>
        <p:txBody>
          <a:bodyPr wrap="square" rtlCol="0">
            <a:spAutoFit/>
          </a:bodyPr>
          <a:lstStyle/>
          <a:p>
            <a:r>
              <a:rPr lang="en-US" dirty="0"/>
              <a:t>F</a:t>
            </a:r>
          </a:p>
        </p:txBody>
      </p:sp>
      <p:sp>
        <p:nvSpPr>
          <p:cNvPr id="90" name="TextBox 89">
            <a:extLst>
              <a:ext uri="{FF2B5EF4-FFF2-40B4-BE49-F238E27FC236}">
                <a16:creationId xmlns:a16="http://schemas.microsoft.com/office/drawing/2014/main" id="{F1FEF200-7B9C-9B54-34FB-FA64335B2091}"/>
              </a:ext>
            </a:extLst>
          </p:cNvPr>
          <p:cNvSpPr txBox="1"/>
          <p:nvPr/>
        </p:nvSpPr>
        <p:spPr>
          <a:xfrm>
            <a:off x="9273857" y="3269826"/>
            <a:ext cx="309700" cy="369332"/>
          </a:xfrm>
          <a:prstGeom prst="rect">
            <a:avLst/>
          </a:prstGeom>
          <a:noFill/>
        </p:spPr>
        <p:txBody>
          <a:bodyPr wrap="none" rtlCol="0">
            <a:spAutoFit/>
          </a:bodyPr>
          <a:lstStyle/>
          <a:p>
            <a:r>
              <a:rPr lang="en-US" dirty="0"/>
              <a:t>B</a:t>
            </a:r>
          </a:p>
        </p:txBody>
      </p:sp>
      <p:cxnSp>
        <p:nvCxnSpPr>
          <p:cNvPr id="91" name="Straight Connector 90">
            <a:extLst>
              <a:ext uri="{FF2B5EF4-FFF2-40B4-BE49-F238E27FC236}">
                <a16:creationId xmlns:a16="http://schemas.microsoft.com/office/drawing/2014/main" id="{4EA0E46A-7074-BD59-28E5-FED0E1A6F859}"/>
              </a:ext>
            </a:extLst>
          </p:cNvPr>
          <p:cNvCxnSpPr>
            <a:cxnSpLocks/>
          </p:cNvCxnSpPr>
          <p:nvPr/>
        </p:nvCxnSpPr>
        <p:spPr>
          <a:xfrm>
            <a:off x="2788970" y="3652498"/>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F371E66-1FBC-595E-2DAF-62CA0F5AFF7C}"/>
              </a:ext>
            </a:extLst>
          </p:cNvPr>
          <p:cNvCxnSpPr>
            <a:cxnSpLocks/>
          </p:cNvCxnSpPr>
          <p:nvPr/>
        </p:nvCxnSpPr>
        <p:spPr>
          <a:xfrm flipH="1">
            <a:off x="2471840" y="3657012"/>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C8770D27-1DFB-6C26-C4E4-5EC68F25BAAF}"/>
              </a:ext>
            </a:extLst>
          </p:cNvPr>
          <p:cNvSpPr txBox="1"/>
          <p:nvPr/>
        </p:nvSpPr>
        <p:spPr>
          <a:xfrm>
            <a:off x="2324072" y="3717812"/>
            <a:ext cx="256625"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AE8D0CCF-7DE4-EC7D-868E-42A18235F3B5}"/>
              </a:ext>
            </a:extLst>
          </p:cNvPr>
          <p:cNvSpPr txBox="1"/>
          <p:nvPr/>
        </p:nvSpPr>
        <p:spPr>
          <a:xfrm>
            <a:off x="2849694" y="3721155"/>
            <a:ext cx="309700" cy="369332"/>
          </a:xfrm>
          <a:prstGeom prst="rect">
            <a:avLst/>
          </a:prstGeom>
          <a:noFill/>
        </p:spPr>
        <p:txBody>
          <a:bodyPr wrap="none" rtlCol="0">
            <a:spAutoFit/>
          </a:bodyPr>
          <a:lstStyle/>
          <a:p>
            <a:r>
              <a:rPr lang="en-US" dirty="0"/>
              <a:t>B</a:t>
            </a:r>
          </a:p>
        </p:txBody>
      </p:sp>
      <p:cxnSp>
        <p:nvCxnSpPr>
          <p:cNvPr id="95" name="Straight Connector 94">
            <a:extLst>
              <a:ext uri="{FF2B5EF4-FFF2-40B4-BE49-F238E27FC236}">
                <a16:creationId xmlns:a16="http://schemas.microsoft.com/office/drawing/2014/main" id="{1C5E2350-97CA-65D4-CD1E-EE6C091C33DE}"/>
              </a:ext>
            </a:extLst>
          </p:cNvPr>
          <p:cNvCxnSpPr>
            <a:cxnSpLocks/>
          </p:cNvCxnSpPr>
          <p:nvPr/>
        </p:nvCxnSpPr>
        <p:spPr>
          <a:xfrm>
            <a:off x="3701428" y="3670852"/>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4EC40E5-DE50-3F73-DFAF-7880D37339D5}"/>
              </a:ext>
            </a:extLst>
          </p:cNvPr>
          <p:cNvCxnSpPr>
            <a:cxnSpLocks/>
          </p:cNvCxnSpPr>
          <p:nvPr/>
        </p:nvCxnSpPr>
        <p:spPr>
          <a:xfrm flipH="1">
            <a:off x="3384298" y="3675366"/>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FB31E9EC-7221-32DF-0185-DB96FEDB994A}"/>
              </a:ext>
            </a:extLst>
          </p:cNvPr>
          <p:cNvSpPr txBox="1"/>
          <p:nvPr/>
        </p:nvSpPr>
        <p:spPr>
          <a:xfrm>
            <a:off x="3236530" y="3736166"/>
            <a:ext cx="256625" cy="369332"/>
          </a:xfrm>
          <a:prstGeom prst="rect">
            <a:avLst/>
          </a:prstGeom>
          <a:noFill/>
        </p:spPr>
        <p:txBody>
          <a:bodyPr wrap="square" rtlCol="0">
            <a:spAutoFit/>
          </a:bodyPr>
          <a:lstStyle/>
          <a:p>
            <a:r>
              <a:rPr lang="en-US" dirty="0"/>
              <a:t>F</a:t>
            </a:r>
          </a:p>
        </p:txBody>
      </p:sp>
      <p:sp>
        <p:nvSpPr>
          <p:cNvPr id="98" name="TextBox 97">
            <a:extLst>
              <a:ext uri="{FF2B5EF4-FFF2-40B4-BE49-F238E27FC236}">
                <a16:creationId xmlns:a16="http://schemas.microsoft.com/office/drawing/2014/main" id="{899890BF-D665-CB4C-2267-C3D98636592E}"/>
              </a:ext>
            </a:extLst>
          </p:cNvPr>
          <p:cNvSpPr txBox="1"/>
          <p:nvPr/>
        </p:nvSpPr>
        <p:spPr>
          <a:xfrm>
            <a:off x="3762152" y="3739509"/>
            <a:ext cx="309700" cy="369332"/>
          </a:xfrm>
          <a:prstGeom prst="rect">
            <a:avLst/>
          </a:prstGeom>
          <a:noFill/>
        </p:spPr>
        <p:txBody>
          <a:bodyPr wrap="none" rtlCol="0">
            <a:spAutoFit/>
          </a:bodyPr>
          <a:lstStyle/>
          <a:p>
            <a:r>
              <a:rPr lang="en-US" dirty="0"/>
              <a:t>B</a:t>
            </a:r>
          </a:p>
        </p:txBody>
      </p:sp>
      <p:cxnSp>
        <p:nvCxnSpPr>
          <p:cNvPr id="99" name="Straight Connector 98">
            <a:extLst>
              <a:ext uri="{FF2B5EF4-FFF2-40B4-BE49-F238E27FC236}">
                <a16:creationId xmlns:a16="http://schemas.microsoft.com/office/drawing/2014/main" id="{A26448AC-810F-D2B7-293D-A50274869F54}"/>
              </a:ext>
            </a:extLst>
          </p:cNvPr>
          <p:cNvCxnSpPr>
            <a:cxnSpLocks/>
          </p:cNvCxnSpPr>
          <p:nvPr/>
        </p:nvCxnSpPr>
        <p:spPr>
          <a:xfrm>
            <a:off x="4988219" y="3674195"/>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34B40D3-65F1-F4A7-2F94-C80F2805D5F1}"/>
              </a:ext>
            </a:extLst>
          </p:cNvPr>
          <p:cNvCxnSpPr>
            <a:cxnSpLocks/>
          </p:cNvCxnSpPr>
          <p:nvPr/>
        </p:nvCxnSpPr>
        <p:spPr>
          <a:xfrm flipH="1">
            <a:off x="4671089" y="3678709"/>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54EDC359-9662-662F-480A-04DB7BE7564A}"/>
              </a:ext>
            </a:extLst>
          </p:cNvPr>
          <p:cNvSpPr txBox="1"/>
          <p:nvPr/>
        </p:nvSpPr>
        <p:spPr>
          <a:xfrm>
            <a:off x="4523321" y="3739509"/>
            <a:ext cx="256625"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F11A9C0F-45E2-8ACD-759A-995642DB329F}"/>
              </a:ext>
            </a:extLst>
          </p:cNvPr>
          <p:cNvSpPr txBox="1"/>
          <p:nvPr/>
        </p:nvSpPr>
        <p:spPr>
          <a:xfrm>
            <a:off x="5048943" y="3742852"/>
            <a:ext cx="309700" cy="369332"/>
          </a:xfrm>
          <a:prstGeom prst="rect">
            <a:avLst/>
          </a:prstGeom>
          <a:noFill/>
        </p:spPr>
        <p:txBody>
          <a:bodyPr wrap="none" rtlCol="0">
            <a:spAutoFit/>
          </a:bodyPr>
          <a:lstStyle/>
          <a:p>
            <a:r>
              <a:rPr lang="en-US" dirty="0"/>
              <a:t>B</a:t>
            </a:r>
          </a:p>
        </p:txBody>
      </p:sp>
      <p:cxnSp>
        <p:nvCxnSpPr>
          <p:cNvPr id="103" name="Straight Connector 102">
            <a:extLst>
              <a:ext uri="{FF2B5EF4-FFF2-40B4-BE49-F238E27FC236}">
                <a16:creationId xmlns:a16="http://schemas.microsoft.com/office/drawing/2014/main" id="{0BA7985D-6D52-E1A4-F03C-66711155101A}"/>
              </a:ext>
            </a:extLst>
          </p:cNvPr>
          <p:cNvCxnSpPr>
            <a:cxnSpLocks/>
          </p:cNvCxnSpPr>
          <p:nvPr/>
        </p:nvCxnSpPr>
        <p:spPr>
          <a:xfrm>
            <a:off x="5901778" y="3673533"/>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60CAC981-9C5D-E0F3-1192-FE0AD61778D8}"/>
              </a:ext>
            </a:extLst>
          </p:cNvPr>
          <p:cNvCxnSpPr>
            <a:cxnSpLocks/>
          </p:cNvCxnSpPr>
          <p:nvPr/>
        </p:nvCxnSpPr>
        <p:spPr>
          <a:xfrm flipH="1">
            <a:off x="5584648" y="3678047"/>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7B6A6A-D55C-73F2-2752-AA4CAB8EFA31}"/>
              </a:ext>
            </a:extLst>
          </p:cNvPr>
          <p:cNvSpPr txBox="1"/>
          <p:nvPr/>
        </p:nvSpPr>
        <p:spPr>
          <a:xfrm>
            <a:off x="5436880" y="3738847"/>
            <a:ext cx="256625"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0C331DC9-4721-8181-87D7-65EA11CC3182}"/>
              </a:ext>
            </a:extLst>
          </p:cNvPr>
          <p:cNvSpPr txBox="1"/>
          <p:nvPr/>
        </p:nvSpPr>
        <p:spPr>
          <a:xfrm>
            <a:off x="5962502" y="3742190"/>
            <a:ext cx="309700" cy="369332"/>
          </a:xfrm>
          <a:prstGeom prst="rect">
            <a:avLst/>
          </a:prstGeom>
          <a:noFill/>
        </p:spPr>
        <p:txBody>
          <a:bodyPr wrap="none" rtlCol="0">
            <a:spAutoFit/>
          </a:bodyPr>
          <a:lstStyle/>
          <a:p>
            <a:r>
              <a:rPr lang="en-US" dirty="0"/>
              <a:t>B</a:t>
            </a:r>
          </a:p>
        </p:txBody>
      </p:sp>
      <p:cxnSp>
        <p:nvCxnSpPr>
          <p:cNvPr id="107" name="Straight Connector 106">
            <a:extLst>
              <a:ext uri="{FF2B5EF4-FFF2-40B4-BE49-F238E27FC236}">
                <a16:creationId xmlns:a16="http://schemas.microsoft.com/office/drawing/2014/main" id="{39C59EEE-5962-12B0-9429-CA3F4E585410}"/>
              </a:ext>
            </a:extLst>
          </p:cNvPr>
          <p:cNvCxnSpPr>
            <a:cxnSpLocks/>
          </p:cNvCxnSpPr>
          <p:nvPr/>
        </p:nvCxnSpPr>
        <p:spPr>
          <a:xfrm>
            <a:off x="6647603" y="3683517"/>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46282897-9A20-ED07-FB9E-72DE7861C289}"/>
              </a:ext>
            </a:extLst>
          </p:cNvPr>
          <p:cNvCxnSpPr>
            <a:cxnSpLocks/>
          </p:cNvCxnSpPr>
          <p:nvPr/>
        </p:nvCxnSpPr>
        <p:spPr>
          <a:xfrm flipH="1">
            <a:off x="6330473" y="3688031"/>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E94349BB-F173-8FDC-4A94-BF4BE0283E9F}"/>
              </a:ext>
            </a:extLst>
          </p:cNvPr>
          <p:cNvSpPr txBox="1"/>
          <p:nvPr/>
        </p:nvSpPr>
        <p:spPr>
          <a:xfrm>
            <a:off x="6182705" y="3748831"/>
            <a:ext cx="256625"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00D73A51-FD40-01FA-F0CB-94BECAB18F81}"/>
              </a:ext>
            </a:extLst>
          </p:cNvPr>
          <p:cNvSpPr txBox="1"/>
          <p:nvPr/>
        </p:nvSpPr>
        <p:spPr>
          <a:xfrm>
            <a:off x="6708327" y="3752174"/>
            <a:ext cx="309700" cy="369332"/>
          </a:xfrm>
          <a:prstGeom prst="rect">
            <a:avLst/>
          </a:prstGeom>
          <a:noFill/>
        </p:spPr>
        <p:txBody>
          <a:bodyPr wrap="none" rtlCol="0">
            <a:spAutoFit/>
          </a:bodyPr>
          <a:lstStyle/>
          <a:p>
            <a:r>
              <a:rPr lang="en-US" dirty="0"/>
              <a:t>B</a:t>
            </a:r>
          </a:p>
        </p:txBody>
      </p:sp>
      <p:cxnSp>
        <p:nvCxnSpPr>
          <p:cNvPr id="111" name="Straight Connector 110">
            <a:extLst>
              <a:ext uri="{FF2B5EF4-FFF2-40B4-BE49-F238E27FC236}">
                <a16:creationId xmlns:a16="http://schemas.microsoft.com/office/drawing/2014/main" id="{3D7E3C20-3DE9-7419-3348-7F7FD634BC52}"/>
              </a:ext>
            </a:extLst>
          </p:cNvPr>
          <p:cNvCxnSpPr>
            <a:cxnSpLocks/>
          </p:cNvCxnSpPr>
          <p:nvPr/>
        </p:nvCxnSpPr>
        <p:spPr>
          <a:xfrm>
            <a:off x="7398589" y="3680920"/>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2ED2343-70C8-7BB3-E4FD-5D10045A632B}"/>
              </a:ext>
            </a:extLst>
          </p:cNvPr>
          <p:cNvCxnSpPr>
            <a:cxnSpLocks/>
          </p:cNvCxnSpPr>
          <p:nvPr/>
        </p:nvCxnSpPr>
        <p:spPr>
          <a:xfrm flipH="1">
            <a:off x="7081459" y="3685434"/>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A1C1EB76-1FDC-1EAC-DEC5-5362F858DD4F}"/>
              </a:ext>
            </a:extLst>
          </p:cNvPr>
          <p:cNvSpPr txBox="1"/>
          <p:nvPr/>
        </p:nvSpPr>
        <p:spPr>
          <a:xfrm>
            <a:off x="6933691" y="3746234"/>
            <a:ext cx="256625" cy="369332"/>
          </a:xfrm>
          <a:prstGeom prst="rect">
            <a:avLst/>
          </a:prstGeom>
          <a:noFill/>
        </p:spPr>
        <p:txBody>
          <a:bodyPr wrap="square" rtlCol="0">
            <a:spAutoFit/>
          </a:bodyPr>
          <a:lstStyle/>
          <a:p>
            <a:r>
              <a:rPr lang="en-US" dirty="0"/>
              <a:t>F</a:t>
            </a:r>
          </a:p>
        </p:txBody>
      </p:sp>
      <p:sp>
        <p:nvSpPr>
          <p:cNvPr id="114" name="TextBox 113">
            <a:extLst>
              <a:ext uri="{FF2B5EF4-FFF2-40B4-BE49-F238E27FC236}">
                <a16:creationId xmlns:a16="http://schemas.microsoft.com/office/drawing/2014/main" id="{D19814A4-549E-57B4-E220-9F23201D7AA0}"/>
              </a:ext>
            </a:extLst>
          </p:cNvPr>
          <p:cNvSpPr txBox="1"/>
          <p:nvPr/>
        </p:nvSpPr>
        <p:spPr>
          <a:xfrm>
            <a:off x="7459313" y="3749577"/>
            <a:ext cx="309700" cy="369332"/>
          </a:xfrm>
          <a:prstGeom prst="rect">
            <a:avLst/>
          </a:prstGeom>
          <a:noFill/>
        </p:spPr>
        <p:txBody>
          <a:bodyPr wrap="none" rtlCol="0">
            <a:spAutoFit/>
          </a:bodyPr>
          <a:lstStyle/>
          <a:p>
            <a:r>
              <a:rPr lang="en-US" dirty="0"/>
              <a:t>B</a:t>
            </a:r>
          </a:p>
        </p:txBody>
      </p:sp>
      <p:cxnSp>
        <p:nvCxnSpPr>
          <p:cNvPr id="119" name="Straight Connector 118">
            <a:extLst>
              <a:ext uri="{FF2B5EF4-FFF2-40B4-BE49-F238E27FC236}">
                <a16:creationId xmlns:a16="http://schemas.microsoft.com/office/drawing/2014/main" id="{D82205B9-B8EC-0CA4-307D-9BCD391214A3}"/>
              </a:ext>
            </a:extLst>
          </p:cNvPr>
          <p:cNvCxnSpPr>
            <a:cxnSpLocks/>
          </p:cNvCxnSpPr>
          <p:nvPr/>
        </p:nvCxnSpPr>
        <p:spPr>
          <a:xfrm>
            <a:off x="8725465" y="3620120"/>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60D731A-F1AB-7FEC-CE44-1F619384908A}"/>
              </a:ext>
            </a:extLst>
          </p:cNvPr>
          <p:cNvCxnSpPr>
            <a:cxnSpLocks/>
          </p:cNvCxnSpPr>
          <p:nvPr/>
        </p:nvCxnSpPr>
        <p:spPr>
          <a:xfrm flipH="1">
            <a:off x="8408335" y="3624634"/>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B9FDE23E-54BA-5718-4479-BEF0CF76D019}"/>
              </a:ext>
            </a:extLst>
          </p:cNvPr>
          <p:cNvSpPr txBox="1"/>
          <p:nvPr/>
        </p:nvSpPr>
        <p:spPr>
          <a:xfrm>
            <a:off x="8260567" y="3685434"/>
            <a:ext cx="256625" cy="369332"/>
          </a:xfrm>
          <a:prstGeom prst="rect">
            <a:avLst/>
          </a:prstGeom>
          <a:noFill/>
        </p:spPr>
        <p:txBody>
          <a:bodyPr wrap="square" rtlCol="0">
            <a:spAutoFit/>
          </a:bodyPr>
          <a:lstStyle/>
          <a:p>
            <a:r>
              <a:rPr lang="en-US" dirty="0"/>
              <a:t>F</a:t>
            </a:r>
          </a:p>
        </p:txBody>
      </p:sp>
      <p:sp>
        <p:nvSpPr>
          <p:cNvPr id="122" name="TextBox 121">
            <a:extLst>
              <a:ext uri="{FF2B5EF4-FFF2-40B4-BE49-F238E27FC236}">
                <a16:creationId xmlns:a16="http://schemas.microsoft.com/office/drawing/2014/main" id="{5DE760F0-101E-AE7A-7557-7DBDF8AD6336}"/>
              </a:ext>
            </a:extLst>
          </p:cNvPr>
          <p:cNvSpPr txBox="1"/>
          <p:nvPr/>
        </p:nvSpPr>
        <p:spPr>
          <a:xfrm>
            <a:off x="8786189" y="3688777"/>
            <a:ext cx="309700" cy="369332"/>
          </a:xfrm>
          <a:prstGeom prst="rect">
            <a:avLst/>
          </a:prstGeom>
          <a:noFill/>
        </p:spPr>
        <p:txBody>
          <a:bodyPr wrap="none" rtlCol="0">
            <a:spAutoFit/>
          </a:bodyPr>
          <a:lstStyle/>
          <a:p>
            <a:r>
              <a:rPr lang="en-US" dirty="0"/>
              <a:t>B</a:t>
            </a:r>
          </a:p>
        </p:txBody>
      </p:sp>
      <p:cxnSp>
        <p:nvCxnSpPr>
          <p:cNvPr id="123" name="Straight Connector 122">
            <a:extLst>
              <a:ext uri="{FF2B5EF4-FFF2-40B4-BE49-F238E27FC236}">
                <a16:creationId xmlns:a16="http://schemas.microsoft.com/office/drawing/2014/main" id="{01C72E8A-B379-6671-23B3-957F1C8EB146}"/>
              </a:ext>
            </a:extLst>
          </p:cNvPr>
          <p:cNvCxnSpPr>
            <a:cxnSpLocks/>
          </p:cNvCxnSpPr>
          <p:nvPr/>
        </p:nvCxnSpPr>
        <p:spPr>
          <a:xfrm>
            <a:off x="9476451" y="3617523"/>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86E9E57-E0A2-C03E-5BB3-C00EF44D03C0}"/>
              </a:ext>
            </a:extLst>
          </p:cNvPr>
          <p:cNvCxnSpPr>
            <a:cxnSpLocks/>
          </p:cNvCxnSpPr>
          <p:nvPr/>
        </p:nvCxnSpPr>
        <p:spPr>
          <a:xfrm flipH="1">
            <a:off x="9159321" y="3622037"/>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EB710DF3-3AEA-DF07-D3CA-17EEAC519A63}"/>
              </a:ext>
            </a:extLst>
          </p:cNvPr>
          <p:cNvSpPr txBox="1"/>
          <p:nvPr/>
        </p:nvSpPr>
        <p:spPr>
          <a:xfrm>
            <a:off x="9011553" y="3682837"/>
            <a:ext cx="256625" cy="369332"/>
          </a:xfrm>
          <a:prstGeom prst="rect">
            <a:avLst/>
          </a:prstGeom>
          <a:noFill/>
        </p:spPr>
        <p:txBody>
          <a:bodyPr wrap="square" rtlCol="0">
            <a:spAutoFit/>
          </a:bodyPr>
          <a:lstStyle/>
          <a:p>
            <a:r>
              <a:rPr lang="en-US" dirty="0"/>
              <a:t>F</a:t>
            </a:r>
          </a:p>
        </p:txBody>
      </p:sp>
      <p:sp>
        <p:nvSpPr>
          <p:cNvPr id="126" name="TextBox 125">
            <a:extLst>
              <a:ext uri="{FF2B5EF4-FFF2-40B4-BE49-F238E27FC236}">
                <a16:creationId xmlns:a16="http://schemas.microsoft.com/office/drawing/2014/main" id="{1130D8EE-69DC-C586-4B34-20D937CA6A6A}"/>
              </a:ext>
            </a:extLst>
          </p:cNvPr>
          <p:cNvSpPr txBox="1"/>
          <p:nvPr/>
        </p:nvSpPr>
        <p:spPr>
          <a:xfrm>
            <a:off x="9537175" y="3686180"/>
            <a:ext cx="309700" cy="369332"/>
          </a:xfrm>
          <a:prstGeom prst="rect">
            <a:avLst/>
          </a:prstGeom>
          <a:noFill/>
        </p:spPr>
        <p:txBody>
          <a:bodyPr wrap="none" rtlCol="0">
            <a:spAutoFit/>
          </a:bodyPr>
          <a:lstStyle/>
          <a:p>
            <a:r>
              <a:rPr lang="en-US" dirty="0"/>
              <a:t>B</a:t>
            </a:r>
          </a:p>
        </p:txBody>
      </p:sp>
      <p:sp>
        <p:nvSpPr>
          <p:cNvPr id="127" name="TextBox 126">
            <a:extLst>
              <a:ext uri="{FF2B5EF4-FFF2-40B4-BE49-F238E27FC236}">
                <a16:creationId xmlns:a16="http://schemas.microsoft.com/office/drawing/2014/main" id="{5EC5C4C3-8DB3-9E15-0F4A-BED8CB4DDFFC}"/>
              </a:ext>
            </a:extLst>
          </p:cNvPr>
          <p:cNvSpPr txBox="1"/>
          <p:nvPr/>
        </p:nvSpPr>
        <p:spPr>
          <a:xfrm>
            <a:off x="293038" y="3041272"/>
            <a:ext cx="1721129" cy="2862322"/>
          </a:xfrm>
          <a:prstGeom prst="rect">
            <a:avLst/>
          </a:prstGeom>
          <a:noFill/>
        </p:spPr>
        <p:txBody>
          <a:bodyPr wrap="square" rtlCol="0">
            <a:spAutoFit/>
          </a:bodyPr>
          <a:lstStyle/>
          <a:p>
            <a:r>
              <a:rPr lang="en-US" dirty="0"/>
              <a:t>2^4=16 probabilities,</a:t>
            </a:r>
          </a:p>
          <a:p>
            <a:endParaRPr lang="en-US" dirty="0"/>
          </a:p>
          <a:p>
            <a:r>
              <a:rPr lang="en-US" dirty="0"/>
              <a:t>Pick the guess with the highest probability</a:t>
            </a:r>
          </a:p>
          <a:p>
            <a:endParaRPr lang="en-US" dirty="0"/>
          </a:p>
          <a:p>
            <a:r>
              <a:rPr lang="en-US" dirty="0"/>
              <a:t>Not feasible to do for long runs!!!</a:t>
            </a:r>
          </a:p>
        </p:txBody>
      </p:sp>
    </p:spTree>
    <p:extLst>
      <p:ext uri="{BB962C8B-B14F-4D97-AF65-F5344CB8AC3E}">
        <p14:creationId xmlns:p14="http://schemas.microsoft.com/office/powerpoint/2010/main" val="1943159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4F253-89E7-0465-DAF4-6D73C0D5F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57CFA-E0D0-5101-9B09-B3F74A8D964B}"/>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8AB317FA-5AC5-854C-F5F8-6D1821D54B7C}"/>
              </a:ext>
            </a:extLst>
          </p:cNvPr>
          <p:cNvSpPr>
            <a:spLocks noGrp="1"/>
          </p:cNvSpPr>
          <p:nvPr>
            <p:ph idx="1"/>
          </p:nvPr>
        </p:nvSpPr>
        <p:spPr>
          <a:xfrm>
            <a:off x="598620" y="1596540"/>
            <a:ext cx="10972800" cy="5124935"/>
          </a:xfrm>
        </p:spPr>
        <p:txBody>
          <a:bodyPr>
            <a:normAutofit/>
          </a:bodyPr>
          <a:lstStyle/>
          <a:p>
            <a:r>
              <a:rPr lang="en-US" dirty="0"/>
              <a:t>Use Viterbi algorithm for long runs</a:t>
            </a:r>
          </a:p>
          <a:p>
            <a:pPr lvl="1"/>
            <a:r>
              <a:rPr lang="en-US" dirty="0">
                <a:cs typeface="Courier New" panose="02070309020205020404" pitchFamily="49" charset="0"/>
              </a:rPr>
              <a:t>Input: HMM and the sequence: </a:t>
            </a:r>
            <a:r>
              <a:rPr lang="en-US" dirty="0">
                <a:latin typeface="Courier New" panose="02070309020205020404" pitchFamily="49" charset="0"/>
                <a:cs typeface="Courier New" panose="02070309020205020404" pitchFamily="49" charset="0"/>
              </a:rPr>
              <a:t>HHTH…</a:t>
            </a:r>
          </a:p>
          <a:p>
            <a:pPr marL="457200" lvl="1" indent="0">
              <a:buNone/>
            </a:pPr>
            <a:endParaRPr lang="en-US" dirty="0">
              <a:cs typeface="Courier New" panose="02070309020205020404" pitchFamily="49" charset="0"/>
            </a:endParaRPr>
          </a:p>
          <a:p>
            <a:pPr marL="457200" lvl="1" indent="0">
              <a:buNone/>
            </a:pPr>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pPr lvl="1"/>
            <a:r>
              <a:rPr lang="en-US" dirty="0">
                <a:cs typeface="Courier New" panose="02070309020205020404" pitchFamily="49" charset="0"/>
              </a:rPr>
              <a:t>Output: a state sequence with maximum probability: </a:t>
            </a:r>
            <a:r>
              <a:rPr lang="en-US" dirty="0">
                <a:latin typeface="Courier New" panose="02070309020205020404" pitchFamily="49" charset="0"/>
                <a:cs typeface="Courier New" panose="02070309020205020404" pitchFamily="49" charset="0"/>
              </a:rPr>
              <a:t>FFBB…</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ACD9757B-DB65-DE71-4327-8D5194508DA9}"/>
              </a:ext>
            </a:extLst>
          </p:cNvPr>
          <p:cNvSpPr>
            <a:spLocks noGrp="1"/>
          </p:cNvSpPr>
          <p:nvPr>
            <p:ph type="sldNum" sz="quarter" idx="12"/>
          </p:nvPr>
        </p:nvSpPr>
        <p:spPr/>
        <p:txBody>
          <a:bodyPr/>
          <a:lstStyle/>
          <a:p>
            <a:fld id="{B82CCC60-E8CD-4174-8B1A-7DF615B22EEF}" type="slidenum">
              <a:rPr lang="en-US" smtClean="0"/>
              <a:pPr/>
              <a:t>38</a:t>
            </a:fld>
            <a:endParaRPr lang="en-US"/>
          </a:p>
        </p:txBody>
      </p:sp>
      <p:sp>
        <p:nvSpPr>
          <p:cNvPr id="5" name="Oval 4">
            <a:extLst>
              <a:ext uri="{FF2B5EF4-FFF2-40B4-BE49-F238E27FC236}">
                <a16:creationId xmlns:a16="http://schemas.microsoft.com/office/drawing/2014/main" id="{5038FF10-107A-4C95-6B8F-542808F2A0CD}"/>
              </a:ext>
            </a:extLst>
          </p:cNvPr>
          <p:cNvSpPr/>
          <p:nvPr/>
        </p:nvSpPr>
        <p:spPr>
          <a:xfrm>
            <a:off x="1821382" y="3218542"/>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54732E7-07DF-738E-6014-B81CE824F0DF}"/>
              </a:ext>
            </a:extLst>
          </p:cNvPr>
          <p:cNvSpPr/>
          <p:nvPr/>
        </p:nvSpPr>
        <p:spPr>
          <a:xfrm>
            <a:off x="4782297" y="3218542"/>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115967F-B6B0-C776-C325-78C6F3F98FAD}"/>
                  </a:ext>
                </a:extLst>
              </p14:cNvPr>
              <p14:cNvContentPartPr/>
              <p14:nvPr/>
            </p14:nvContentPartPr>
            <p14:xfrm>
              <a:off x="2517960" y="2941582"/>
              <a:ext cx="2343600" cy="472680"/>
            </p14:xfrm>
          </p:contentPart>
        </mc:Choice>
        <mc:Fallback xmlns="">
          <p:pic>
            <p:nvPicPr>
              <p:cNvPr id="7" name="Ink 6">
                <a:extLst>
                  <a:ext uri="{FF2B5EF4-FFF2-40B4-BE49-F238E27FC236}">
                    <a16:creationId xmlns:a16="http://schemas.microsoft.com/office/drawing/2014/main" id="{A115967F-B6B0-C776-C325-78C6F3F98FAD}"/>
                  </a:ext>
                </a:extLst>
              </p:cNvPr>
              <p:cNvPicPr/>
              <p:nvPr/>
            </p:nvPicPr>
            <p:blipFill>
              <a:blip r:embed="rId3"/>
              <a:stretch>
                <a:fillRect/>
              </a:stretch>
            </p:blipFill>
            <p:spPr>
              <a:xfrm>
                <a:off x="2511839" y="2935462"/>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E8DB9AE-9DED-841B-6A7C-A4CD94033AD8}"/>
                  </a:ext>
                </a:extLst>
              </p14:cNvPr>
              <p14:cNvContentPartPr/>
              <p14:nvPr/>
            </p14:nvContentPartPr>
            <p14:xfrm>
              <a:off x="2519400" y="4060102"/>
              <a:ext cx="2502720" cy="400320"/>
            </p14:xfrm>
          </p:contentPart>
        </mc:Choice>
        <mc:Fallback xmlns="">
          <p:pic>
            <p:nvPicPr>
              <p:cNvPr id="8" name="Ink 7">
                <a:extLst>
                  <a:ext uri="{FF2B5EF4-FFF2-40B4-BE49-F238E27FC236}">
                    <a16:creationId xmlns:a16="http://schemas.microsoft.com/office/drawing/2014/main" id="{6E8DB9AE-9DED-841B-6A7C-A4CD94033AD8}"/>
                  </a:ext>
                </a:extLst>
              </p:cNvPr>
              <p:cNvPicPr/>
              <p:nvPr/>
            </p:nvPicPr>
            <p:blipFill>
              <a:blip r:embed="rId5"/>
              <a:stretch>
                <a:fillRect/>
              </a:stretch>
            </p:blipFill>
            <p:spPr>
              <a:xfrm>
                <a:off x="2513280" y="4053982"/>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FC824E5-1878-9F08-65A5-85A7B106A254}"/>
                  </a:ext>
                </a:extLst>
              </p14:cNvPr>
              <p14:cNvContentPartPr/>
              <p14:nvPr/>
            </p14:nvContentPartPr>
            <p14:xfrm>
              <a:off x="5580120" y="3087742"/>
              <a:ext cx="1329840" cy="1373040"/>
            </p14:xfrm>
          </p:contentPart>
        </mc:Choice>
        <mc:Fallback xmlns="">
          <p:pic>
            <p:nvPicPr>
              <p:cNvPr id="9" name="Ink 8">
                <a:extLst>
                  <a:ext uri="{FF2B5EF4-FFF2-40B4-BE49-F238E27FC236}">
                    <a16:creationId xmlns:a16="http://schemas.microsoft.com/office/drawing/2014/main" id="{DFC824E5-1878-9F08-65A5-85A7B106A254}"/>
                  </a:ext>
                </a:extLst>
              </p:cNvPr>
              <p:cNvPicPr/>
              <p:nvPr/>
            </p:nvPicPr>
            <p:blipFill>
              <a:blip r:embed="rId7"/>
              <a:stretch>
                <a:fillRect/>
              </a:stretch>
            </p:blipFill>
            <p:spPr>
              <a:xfrm>
                <a:off x="5574000" y="3081622"/>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2D41D02-7C53-37CE-3D83-5D114FC54EE6}"/>
                  </a:ext>
                </a:extLst>
              </p14:cNvPr>
              <p14:cNvContentPartPr/>
              <p14:nvPr/>
            </p14:nvContentPartPr>
            <p14:xfrm>
              <a:off x="587640" y="2899102"/>
              <a:ext cx="1371600" cy="1343880"/>
            </p14:xfrm>
          </p:contentPart>
        </mc:Choice>
        <mc:Fallback xmlns="">
          <p:pic>
            <p:nvPicPr>
              <p:cNvPr id="10" name="Ink 9">
                <a:extLst>
                  <a:ext uri="{FF2B5EF4-FFF2-40B4-BE49-F238E27FC236}">
                    <a16:creationId xmlns:a16="http://schemas.microsoft.com/office/drawing/2014/main" id="{32D41D02-7C53-37CE-3D83-5D114FC54EE6}"/>
                  </a:ext>
                </a:extLst>
              </p:cNvPr>
              <p:cNvPicPr/>
              <p:nvPr/>
            </p:nvPicPr>
            <p:blipFill>
              <a:blip r:embed="rId9"/>
              <a:stretch>
                <a:fillRect/>
              </a:stretch>
            </p:blipFill>
            <p:spPr>
              <a:xfrm>
                <a:off x="581520" y="2892982"/>
                <a:ext cx="1383840" cy="1356120"/>
              </a:xfrm>
              <a:prstGeom prst="rect">
                <a:avLst/>
              </a:prstGeom>
            </p:spPr>
          </p:pic>
        </mc:Fallback>
      </mc:AlternateContent>
      <p:sp>
        <p:nvSpPr>
          <p:cNvPr id="11" name="TextBox 10">
            <a:extLst>
              <a:ext uri="{FF2B5EF4-FFF2-40B4-BE49-F238E27FC236}">
                <a16:creationId xmlns:a16="http://schemas.microsoft.com/office/drawing/2014/main" id="{A3CA6EC5-03AB-A87F-9D63-5E75D3619AE1}"/>
              </a:ext>
            </a:extLst>
          </p:cNvPr>
          <p:cNvSpPr txBox="1"/>
          <p:nvPr/>
        </p:nvSpPr>
        <p:spPr>
          <a:xfrm>
            <a:off x="3294348" y="2558627"/>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98985412-90C4-5868-BB41-94101C59E7DE}"/>
              </a:ext>
            </a:extLst>
          </p:cNvPr>
          <p:cNvSpPr txBox="1"/>
          <p:nvPr/>
        </p:nvSpPr>
        <p:spPr>
          <a:xfrm>
            <a:off x="3294348" y="4617067"/>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44685EB9-4E25-29D8-BC1C-4D85EAF4477D}"/>
              </a:ext>
            </a:extLst>
          </p:cNvPr>
          <p:cNvSpPr txBox="1"/>
          <p:nvPr/>
        </p:nvSpPr>
        <p:spPr>
          <a:xfrm>
            <a:off x="6081906" y="2656490"/>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E022A640-9A05-46AC-3404-B665E2C7C971}"/>
              </a:ext>
            </a:extLst>
          </p:cNvPr>
          <p:cNvSpPr txBox="1"/>
          <p:nvPr/>
        </p:nvSpPr>
        <p:spPr>
          <a:xfrm>
            <a:off x="1035234" y="2529770"/>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FF78BA12-5779-380B-B815-80A9BE84ED46}"/>
              </a:ext>
            </a:extLst>
          </p:cNvPr>
          <p:cNvSpPr txBox="1"/>
          <p:nvPr/>
        </p:nvSpPr>
        <p:spPr>
          <a:xfrm>
            <a:off x="1857494" y="3483819"/>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8DB8FBA-2792-5873-D2FD-004660DA78C8}"/>
              </a:ext>
            </a:extLst>
          </p:cNvPr>
          <p:cNvSpPr txBox="1"/>
          <p:nvPr/>
        </p:nvSpPr>
        <p:spPr>
          <a:xfrm>
            <a:off x="4807009" y="3483819"/>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2131417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2AD2-4470-E3A7-6098-7F8431AEF2A5}"/>
              </a:ext>
            </a:extLst>
          </p:cNvPr>
          <p:cNvSpPr>
            <a:spLocks noGrp="1"/>
          </p:cNvSpPr>
          <p:nvPr>
            <p:ph type="title"/>
          </p:nvPr>
        </p:nvSpPr>
        <p:spPr/>
        <p:txBody>
          <a:bodyPr>
            <a:normAutofit fontScale="90000"/>
          </a:bodyPr>
          <a:lstStyle/>
          <a:p>
            <a:r>
              <a:rPr lang="en-US" dirty="0"/>
              <a:t>Gene finding with HMMs</a:t>
            </a:r>
          </a:p>
        </p:txBody>
      </p:sp>
      <p:sp>
        <p:nvSpPr>
          <p:cNvPr id="3" name="Content Placeholder 2">
            <a:extLst>
              <a:ext uri="{FF2B5EF4-FFF2-40B4-BE49-F238E27FC236}">
                <a16:creationId xmlns:a16="http://schemas.microsoft.com/office/drawing/2014/main" id="{3BDB5289-F96A-3ABB-8FA2-895A3D3DF6DC}"/>
              </a:ext>
            </a:extLst>
          </p:cNvPr>
          <p:cNvSpPr>
            <a:spLocks noGrp="1"/>
          </p:cNvSpPr>
          <p:nvPr>
            <p:ph idx="1"/>
          </p:nvPr>
        </p:nvSpPr>
        <p:spPr>
          <a:xfrm>
            <a:off x="598620" y="1596540"/>
            <a:ext cx="10972800" cy="4978431"/>
          </a:xfrm>
        </p:spPr>
        <p:txBody>
          <a:bodyPr/>
          <a:lstStyle/>
          <a:p>
            <a:r>
              <a:rPr lang="en-US" dirty="0"/>
              <a:t>We know the sequence of a genome, how can we find where the coding sequences are?</a:t>
            </a:r>
            <a:br>
              <a:rPr lang="en-US" dirty="0"/>
            </a:br>
            <a:r>
              <a:rPr lang="en-US" dirty="0"/>
              <a:t>AGA</a:t>
            </a:r>
            <a:r>
              <a:rPr lang="en-US" dirty="0">
                <a:solidFill>
                  <a:srgbClr val="FF0000"/>
                </a:solidFill>
              </a:rPr>
              <a:t>ATGGATAGATAG</a:t>
            </a:r>
            <a:r>
              <a:rPr lang="en-US" dirty="0"/>
              <a:t>GATAATA</a:t>
            </a:r>
            <a:r>
              <a:rPr lang="en-US" dirty="0">
                <a:solidFill>
                  <a:srgbClr val="FF0000"/>
                </a:solidFill>
              </a:rPr>
              <a:t>ATGGGAAATTGA</a:t>
            </a:r>
            <a:r>
              <a:rPr lang="en-US" dirty="0"/>
              <a:t>TTTAAATTTA  --?</a:t>
            </a:r>
          </a:p>
          <a:p>
            <a:endParaRPr lang="en-US" dirty="0"/>
          </a:p>
          <a:p>
            <a:r>
              <a:rPr lang="en-US" dirty="0"/>
              <a:t>The coding/noncoding regions are </a:t>
            </a:r>
            <a:r>
              <a:rPr lang="en-US" i="1" dirty="0"/>
              <a:t>hidden states </a:t>
            </a:r>
            <a:r>
              <a:rPr lang="en-US" dirty="0"/>
              <a:t>(like the coins)</a:t>
            </a:r>
          </a:p>
          <a:p>
            <a:r>
              <a:rPr lang="en-US" dirty="0"/>
              <a:t>Patterns of letters within coding and noncoding sequences </a:t>
            </a:r>
            <a:r>
              <a:rPr lang="en-US" i="1" dirty="0"/>
              <a:t>differ</a:t>
            </a:r>
            <a:endParaRPr lang="en-US" dirty="0"/>
          </a:p>
          <a:p>
            <a:r>
              <a:rPr lang="en-US" dirty="0"/>
              <a:t>We can use the RNA-seq data or a closely related genome to:</a:t>
            </a:r>
          </a:p>
          <a:p>
            <a:pPr lvl="1"/>
            <a:r>
              <a:rPr lang="en-US" dirty="0"/>
              <a:t>compute patterns for coding/noncoding sequence -- these are our </a:t>
            </a:r>
            <a:r>
              <a:rPr lang="en-US" i="1" dirty="0"/>
              <a:t>emission probabilities</a:t>
            </a:r>
          </a:p>
          <a:p>
            <a:pPr lvl="1"/>
            <a:r>
              <a:rPr lang="en-US" dirty="0"/>
              <a:t>compute transition probabilities between coding/noncoding states</a:t>
            </a:r>
          </a:p>
        </p:txBody>
      </p:sp>
      <p:sp>
        <p:nvSpPr>
          <p:cNvPr id="4" name="Slide Number Placeholder 3">
            <a:extLst>
              <a:ext uri="{FF2B5EF4-FFF2-40B4-BE49-F238E27FC236}">
                <a16:creationId xmlns:a16="http://schemas.microsoft.com/office/drawing/2014/main" id="{42C7FC57-277B-DD7F-3E83-B27DB898CE9F}"/>
              </a:ext>
            </a:extLst>
          </p:cNvPr>
          <p:cNvSpPr>
            <a:spLocks noGrp="1"/>
          </p:cNvSpPr>
          <p:nvPr>
            <p:ph type="sldNum" sz="quarter" idx="12"/>
          </p:nvPr>
        </p:nvSpPr>
        <p:spPr/>
        <p:txBody>
          <a:bodyPr/>
          <a:lstStyle/>
          <a:p>
            <a:fld id="{B82CCC60-E8CD-4174-8B1A-7DF615B22EEF}" type="slidenum">
              <a:rPr lang="en-US" smtClean="0"/>
              <a:pPr/>
              <a:t>39</a:t>
            </a:fld>
            <a:endParaRPr lang="en-US"/>
          </a:p>
        </p:txBody>
      </p:sp>
    </p:spTree>
    <p:extLst>
      <p:ext uri="{BB962C8B-B14F-4D97-AF65-F5344CB8AC3E}">
        <p14:creationId xmlns:p14="http://schemas.microsoft.com/office/powerpoint/2010/main" val="32372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C69-F640-3672-34EE-74554EC74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80898-19B7-76FE-4AFE-5E15260480CE}"/>
              </a:ext>
            </a:extLst>
          </p:cNvPr>
          <p:cNvSpPr>
            <a:spLocks noGrp="1"/>
          </p:cNvSpPr>
          <p:nvPr>
            <p:ph type="title"/>
          </p:nvPr>
        </p:nvSpPr>
        <p:spPr/>
        <p:txBody>
          <a:bodyPr>
            <a:normAutofit fontScale="90000"/>
          </a:bodyPr>
          <a:lstStyle/>
          <a:p>
            <a:r>
              <a:rPr lang="en-US" dirty="0"/>
              <a:t>Gene finding with HMMs</a:t>
            </a:r>
          </a:p>
        </p:txBody>
      </p:sp>
      <p:sp>
        <p:nvSpPr>
          <p:cNvPr id="3" name="Content Placeholder 2">
            <a:extLst>
              <a:ext uri="{FF2B5EF4-FFF2-40B4-BE49-F238E27FC236}">
                <a16:creationId xmlns:a16="http://schemas.microsoft.com/office/drawing/2014/main" id="{E5603A78-2368-9F29-197B-E45A2D94E023}"/>
              </a:ext>
            </a:extLst>
          </p:cNvPr>
          <p:cNvSpPr>
            <a:spLocks noGrp="1"/>
          </p:cNvSpPr>
          <p:nvPr>
            <p:ph idx="1"/>
          </p:nvPr>
        </p:nvSpPr>
        <p:spPr>
          <a:xfrm>
            <a:off x="598620" y="1596540"/>
            <a:ext cx="10972800" cy="5261460"/>
          </a:xfrm>
        </p:spPr>
        <p:txBody>
          <a:bodyPr>
            <a:normAutofit fontScale="85000" lnSpcReduction="20000"/>
          </a:bodyPr>
          <a:lstStyle/>
          <a:p>
            <a:r>
              <a:rPr lang="en-US" dirty="0"/>
              <a:t>Closely related annotated genome:</a:t>
            </a:r>
            <a:br>
              <a:rPr lang="en-US" dirty="0"/>
            </a:br>
            <a:r>
              <a:rPr lang="en-US" dirty="0"/>
              <a:t>AGA</a:t>
            </a:r>
            <a:r>
              <a:rPr lang="en-US" dirty="0">
                <a:solidFill>
                  <a:srgbClr val="FF0000"/>
                </a:solidFill>
              </a:rPr>
              <a:t>ATGGGTAGATAG</a:t>
            </a:r>
            <a:r>
              <a:rPr lang="en-US" dirty="0"/>
              <a:t>GATCATA</a:t>
            </a:r>
            <a:r>
              <a:rPr lang="en-US" dirty="0">
                <a:solidFill>
                  <a:srgbClr val="FF0000"/>
                </a:solidFill>
              </a:rPr>
              <a:t>ATGGCAAATTGA</a:t>
            </a:r>
            <a:r>
              <a:rPr lang="en-US" dirty="0"/>
              <a:t>TTTATATTTA </a:t>
            </a:r>
          </a:p>
          <a:p>
            <a:r>
              <a:rPr lang="en-US" dirty="0"/>
              <a:t>Assume a model:</a:t>
            </a:r>
          </a:p>
          <a:p>
            <a:endParaRPr lang="en-US" dirty="0"/>
          </a:p>
          <a:p>
            <a:endParaRPr lang="en-US" dirty="0"/>
          </a:p>
          <a:p>
            <a:endParaRPr lang="en-US" dirty="0"/>
          </a:p>
          <a:p>
            <a:endParaRPr lang="en-US" dirty="0"/>
          </a:p>
          <a:p>
            <a:endParaRPr lang="en-US" dirty="0"/>
          </a:p>
          <a:p>
            <a:r>
              <a:rPr lang="en-US" dirty="0"/>
              <a:t>44 letters, 2 coding-&gt;non-coding and 2 non-coding-&gt; coding transitions</a:t>
            </a:r>
          </a:p>
          <a:p>
            <a:r>
              <a:rPr lang="en-US" i="1" dirty="0"/>
              <a:t>Train</a:t>
            </a:r>
            <a:r>
              <a:rPr lang="en-US" dirty="0"/>
              <a:t> the model by computing emission probabilities:</a:t>
            </a:r>
          </a:p>
          <a:p>
            <a:pPr lvl="1"/>
            <a:r>
              <a:rPr lang="en-US" dirty="0"/>
              <a:t>Coding: A:9/24, C:1/24, G:8/24, T:6/24</a:t>
            </a:r>
          </a:p>
          <a:p>
            <a:pPr lvl="1"/>
            <a:r>
              <a:rPr lang="en-US" dirty="0"/>
              <a:t>Noncoding: A:8/20, C:1/20, G:2/20, T:9/20</a:t>
            </a:r>
          </a:p>
          <a:p>
            <a:r>
              <a:rPr lang="en-US" dirty="0"/>
              <a:t>Use Viterbi algorithm to figure out most likely sequence of states (N or C) given the model and emission probabilities; label the letters </a:t>
            </a:r>
          </a:p>
        </p:txBody>
      </p:sp>
      <p:sp>
        <p:nvSpPr>
          <p:cNvPr id="4" name="Slide Number Placeholder 3">
            <a:extLst>
              <a:ext uri="{FF2B5EF4-FFF2-40B4-BE49-F238E27FC236}">
                <a16:creationId xmlns:a16="http://schemas.microsoft.com/office/drawing/2014/main" id="{4C13829D-62A4-4F36-C414-30BCB30BD578}"/>
              </a:ext>
            </a:extLst>
          </p:cNvPr>
          <p:cNvSpPr>
            <a:spLocks noGrp="1"/>
          </p:cNvSpPr>
          <p:nvPr>
            <p:ph type="sldNum" sz="quarter" idx="12"/>
          </p:nvPr>
        </p:nvSpPr>
        <p:spPr/>
        <p:txBody>
          <a:bodyPr/>
          <a:lstStyle/>
          <a:p>
            <a:fld id="{B82CCC60-E8CD-4174-8B1A-7DF615B22EEF}" type="slidenum">
              <a:rPr lang="en-US" smtClean="0"/>
              <a:pPr/>
              <a:t>40</a:t>
            </a:fld>
            <a:endParaRPr lang="en-US"/>
          </a:p>
        </p:txBody>
      </p:sp>
      <p:sp>
        <p:nvSpPr>
          <p:cNvPr id="5" name="Oval 4">
            <a:extLst>
              <a:ext uri="{FF2B5EF4-FFF2-40B4-BE49-F238E27FC236}">
                <a16:creationId xmlns:a16="http://schemas.microsoft.com/office/drawing/2014/main" id="{AB9D89AB-EA6A-1F39-E4D1-D4C51956D421}"/>
              </a:ext>
            </a:extLst>
          </p:cNvPr>
          <p:cNvSpPr/>
          <p:nvPr/>
        </p:nvSpPr>
        <p:spPr>
          <a:xfrm>
            <a:off x="6770753" y="2754818"/>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E7AF0C9-E395-9EC2-D538-788120EB9A03}"/>
              </a:ext>
            </a:extLst>
          </p:cNvPr>
          <p:cNvSpPr/>
          <p:nvPr/>
        </p:nvSpPr>
        <p:spPr>
          <a:xfrm>
            <a:off x="9731668" y="2754818"/>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AFF7EFF-ABAF-19F4-3A77-BC3AD834F069}"/>
                  </a:ext>
                </a:extLst>
              </p14:cNvPr>
              <p14:cNvContentPartPr/>
              <p14:nvPr/>
            </p14:nvContentPartPr>
            <p14:xfrm>
              <a:off x="7467331" y="2477858"/>
              <a:ext cx="2343600" cy="472680"/>
            </p14:xfrm>
          </p:contentPart>
        </mc:Choice>
        <mc:Fallback xmlns="">
          <p:pic>
            <p:nvPicPr>
              <p:cNvPr id="7" name="Ink 6">
                <a:extLst>
                  <a:ext uri="{FF2B5EF4-FFF2-40B4-BE49-F238E27FC236}">
                    <a16:creationId xmlns:a16="http://schemas.microsoft.com/office/drawing/2014/main" id="{AAFF7EFF-ABAF-19F4-3A77-BC3AD834F069}"/>
                  </a:ext>
                </a:extLst>
              </p:cNvPr>
              <p:cNvPicPr/>
              <p:nvPr/>
            </p:nvPicPr>
            <p:blipFill>
              <a:blip r:embed="rId3"/>
              <a:stretch>
                <a:fillRect/>
              </a:stretch>
            </p:blipFill>
            <p:spPr>
              <a:xfrm>
                <a:off x="7461210" y="2471738"/>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C479AC8-80E6-FC31-7D49-3AE0F71873D8}"/>
                  </a:ext>
                </a:extLst>
              </p14:cNvPr>
              <p14:cNvContentPartPr/>
              <p14:nvPr/>
            </p14:nvContentPartPr>
            <p14:xfrm>
              <a:off x="7468771" y="3596378"/>
              <a:ext cx="2502720" cy="400320"/>
            </p14:xfrm>
          </p:contentPart>
        </mc:Choice>
        <mc:Fallback xmlns="">
          <p:pic>
            <p:nvPicPr>
              <p:cNvPr id="8" name="Ink 7">
                <a:extLst>
                  <a:ext uri="{FF2B5EF4-FFF2-40B4-BE49-F238E27FC236}">
                    <a16:creationId xmlns:a16="http://schemas.microsoft.com/office/drawing/2014/main" id="{6C479AC8-80E6-FC31-7D49-3AE0F71873D8}"/>
                  </a:ext>
                </a:extLst>
              </p:cNvPr>
              <p:cNvPicPr/>
              <p:nvPr/>
            </p:nvPicPr>
            <p:blipFill>
              <a:blip r:embed="rId5"/>
              <a:stretch>
                <a:fillRect/>
              </a:stretch>
            </p:blipFill>
            <p:spPr>
              <a:xfrm>
                <a:off x="7462651" y="3590258"/>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613E774-4061-239B-26B6-96B72909AF0D}"/>
                  </a:ext>
                </a:extLst>
              </p14:cNvPr>
              <p14:cNvContentPartPr/>
              <p14:nvPr/>
            </p14:nvContentPartPr>
            <p14:xfrm>
              <a:off x="10529491" y="2624018"/>
              <a:ext cx="1329840" cy="1373040"/>
            </p14:xfrm>
          </p:contentPart>
        </mc:Choice>
        <mc:Fallback xmlns="">
          <p:pic>
            <p:nvPicPr>
              <p:cNvPr id="9" name="Ink 8">
                <a:extLst>
                  <a:ext uri="{FF2B5EF4-FFF2-40B4-BE49-F238E27FC236}">
                    <a16:creationId xmlns:a16="http://schemas.microsoft.com/office/drawing/2014/main" id="{1613E774-4061-239B-26B6-96B72909AF0D}"/>
                  </a:ext>
                </a:extLst>
              </p:cNvPr>
              <p:cNvPicPr/>
              <p:nvPr/>
            </p:nvPicPr>
            <p:blipFill>
              <a:blip r:embed="rId7"/>
              <a:stretch>
                <a:fillRect/>
              </a:stretch>
            </p:blipFill>
            <p:spPr>
              <a:xfrm>
                <a:off x="10523371" y="2617898"/>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DEFFE29-C076-070C-461D-52BA77EB6362}"/>
                  </a:ext>
                </a:extLst>
              </p14:cNvPr>
              <p14:cNvContentPartPr/>
              <p14:nvPr/>
            </p14:nvContentPartPr>
            <p14:xfrm>
              <a:off x="5537011" y="2435378"/>
              <a:ext cx="1371600" cy="1343880"/>
            </p14:xfrm>
          </p:contentPart>
        </mc:Choice>
        <mc:Fallback xmlns="">
          <p:pic>
            <p:nvPicPr>
              <p:cNvPr id="10" name="Ink 9">
                <a:extLst>
                  <a:ext uri="{FF2B5EF4-FFF2-40B4-BE49-F238E27FC236}">
                    <a16:creationId xmlns:a16="http://schemas.microsoft.com/office/drawing/2014/main" id="{CDEFFE29-C076-070C-461D-52BA77EB6362}"/>
                  </a:ext>
                </a:extLst>
              </p:cNvPr>
              <p:cNvPicPr/>
              <p:nvPr/>
            </p:nvPicPr>
            <p:blipFill>
              <a:blip r:embed="rId9"/>
              <a:stretch>
                <a:fillRect/>
              </a:stretch>
            </p:blipFill>
            <p:spPr>
              <a:xfrm>
                <a:off x="5530891" y="2429258"/>
                <a:ext cx="1383840" cy="1356120"/>
              </a:xfrm>
              <a:prstGeom prst="rect">
                <a:avLst/>
              </a:prstGeom>
            </p:spPr>
          </p:pic>
        </mc:Fallback>
      </mc:AlternateContent>
      <p:sp>
        <p:nvSpPr>
          <p:cNvPr id="11" name="TextBox 10">
            <a:extLst>
              <a:ext uri="{FF2B5EF4-FFF2-40B4-BE49-F238E27FC236}">
                <a16:creationId xmlns:a16="http://schemas.microsoft.com/office/drawing/2014/main" id="{2F423B44-7238-F22F-F7D1-13914ACE33F9}"/>
              </a:ext>
            </a:extLst>
          </p:cNvPr>
          <p:cNvSpPr txBox="1"/>
          <p:nvPr/>
        </p:nvSpPr>
        <p:spPr>
          <a:xfrm>
            <a:off x="8243719" y="2094903"/>
            <a:ext cx="625492" cy="369332"/>
          </a:xfrm>
          <a:prstGeom prst="rect">
            <a:avLst/>
          </a:prstGeom>
          <a:noFill/>
        </p:spPr>
        <p:txBody>
          <a:bodyPr wrap="none" rtlCol="0">
            <a:spAutoFit/>
          </a:bodyPr>
          <a:lstStyle/>
          <a:p>
            <a:r>
              <a:rPr lang="en-US" dirty="0"/>
              <a:t>1/22</a:t>
            </a:r>
          </a:p>
        </p:txBody>
      </p:sp>
      <p:sp>
        <p:nvSpPr>
          <p:cNvPr id="12" name="TextBox 11">
            <a:extLst>
              <a:ext uri="{FF2B5EF4-FFF2-40B4-BE49-F238E27FC236}">
                <a16:creationId xmlns:a16="http://schemas.microsoft.com/office/drawing/2014/main" id="{CE0FE142-0C7E-E30F-BC28-91029A1E4C39}"/>
              </a:ext>
            </a:extLst>
          </p:cNvPr>
          <p:cNvSpPr txBox="1"/>
          <p:nvPr/>
        </p:nvSpPr>
        <p:spPr>
          <a:xfrm>
            <a:off x="8243719" y="4153343"/>
            <a:ext cx="625492" cy="369332"/>
          </a:xfrm>
          <a:prstGeom prst="rect">
            <a:avLst/>
          </a:prstGeom>
          <a:noFill/>
        </p:spPr>
        <p:txBody>
          <a:bodyPr wrap="none" rtlCol="0">
            <a:spAutoFit/>
          </a:bodyPr>
          <a:lstStyle/>
          <a:p>
            <a:r>
              <a:rPr lang="en-US" dirty="0"/>
              <a:t>1/22</a:t>
            </a:r>
          </a:p>
        </p:txBody>
      </p:sp>
      <p:sp>
        <p:nvSpPr>
          <p:cNvPr id="13" name="TextBox 12">
            <a:extLst>
              <a:ext uri="{FF2B5EF4-FFF2-40B4-BE49-F238E27FC236}">
                <a16:creationId xmlns:a16="http://schemas.microsoft.com/office/drawing/2014/main" id="{C82245E6-446F-D6DD-D873-912928473E08}"/>
              </a:ext>
            </a:extLst>
          </p:cNvPr>
          <p:cNvSpPr txBox="1"/>
          <p:nvPr/>
        </p:nvSpPr>
        <p:spPr>
          <a:xfrm>
            <a:off x="10823155" y="2250712"/>
            <a:ext cx="742511" cy="369332"/>
          </a:xfrm>
          <a:prstGeom prst="rect">
            <a:avLst/>
          </a:prstGeom>
          <a:noFill/>
        </p:spPr>
        <p:txBody>
          <a:bodyPr wrap="none" rtlCol="0">
            <a:spAutoFit/>
          </a:bodyPr>
          <a:lstStyle/>
          <a:p>
            <a:r>
              <a:rPr lang="en-US" dirty="0"/>
              <a:t>21/22</a:t>
            </a:r>
          </a:p>
        </p:txBody>
      </p:sp>
      <p:sp>
        <p:nvSpPr>
          <p:cNvPr id="14" name="TextBox 13">
            <a:extLst>
              <a:ext uri="{FF2B5EF4-FFF2-40B4-BE49-F238E27FC236}">
                <a16:creationId xmlns:a16="http://schemas.microsoft.com/office/drawing/2014/main" id="{D8F17330-0991-BB74-4E7D-D1CDA5DDEEC4}"/>
              </a:ext>
            </a:extLst>
          </p:cNvPr>
          <p:cNvSpPr txBox="1"/>
          <p:nvPr/>
        </p:nvSpPr>
        <p:spPr>
          <a:xfrm>
            <a:off x="5800335" y="2108526"/>
            <a:ext cx="742511" cy="369332"/>
          </a:xfrm>
          <a:prstGeom prst="rect">
            <a:avLst/>
          </a:prstGeom>
          <a:noFill/>
        </p:spPr>
        <p:txBody>
          <a:bodyPr wrap="none" rtlCol="0">
            <a:spAutoFit/>
          </a:bodyPr>
          <a:lstStyle/>
          <a:p>
            <a:r>
              <a:rPr lang="en-US" dirty="0"/>
              <a:t>21/22</a:t>
            </a:r>
          </a:p>
        </p:txBody>
      </p:sp>
      <p:sp>
        <p:nvSpPr>
          <p:cNvPr id="15" name="TextBox 14">
            <a:extLst>
              <a:ext uri="{FF2B5EF4-FFF2-40B4-BE49-F238E27FC236}">
                <a16:creationId xmlns:a16="http://schemas.microsoft.com/office/drawing/2014/main" id="{64316D95-D1D9-C44D-88FA-F6DF5E9246E2}"/>
              </a:ext>
            </a:extLst>
          </p:cNvPr>
          <p:cNvSpPr txBox="1"/>
          <p:nvPr/>
        </p:nvSpPr>
        <p:spPr>
          <a:xfrm>
            <a:off x="6835154" y="2877737"/>
            <a:ext cx="835485" cy="646331"/>
          </a:xfrm>
          <a:prstGeom prst="rect">
            <a:avLst/>
          </a:prstGeom>
          <a:noFill/>
        </p:spPr>
        <p:txBody>
          <a:bodyPr wrap="none" rtlCol="0">
            <a:spAutoFit/>
          </a:bodyPr>
          <a:lstStyle/>
          <a:p>
            <a:r>
              <a:rPr lang="en-US" dirty="0"/>
              <a:t>Coding</a:t>
            </a:r>
            <a:br>
              <a:rPr lang="en-US" dirty="0"/>
            </a:br>
            <a:r>
              <a:rPr lang="en-US" dirty="0"/>
              <a:t>(C)</a:t>
            </a:r>
          </a:p>
        </p:txBody>
      </p:sp>
      <p:sp>
        <p:nvSpPr>
          <p:cNvPr id="16" name="TextBox 15">
            <a:extLst>
              <a:ext uri="{FF2B5EF4-FFF2-40B4-BE49-F238E27FC236}">
                <a16:creationId xmlns:a16="http://schemas.microsoft.com/office/drawing/2014/main" id="{2951EE45-B1D7-2130-A400-516514C91402}"/>
              </a:ext>
            </a:extLst>
          </p:cNvPr>
          <p:cNvSpPr txBox="1"/>
          <p:nvPr/>
        </p:nvSpPr>
        <p:spPr>
          <a:xfrm>
            <a:off x="9860544" y="2731374"/>
            <a:ext cx="807913" cy="923330"/>
          </a:xfrm>
          <a:prstGeom prst="rect">
            <a:avLst/>
          </a:prstGeom>
          <a:noFill/>
        </p:spPr>
        <p:txBody>
          <a:bodyPr wrap="none" rtlCol="0">
            <a:spAutoFit/>
          </a:bodyPr>
          <a:lstStyle/>
          <a:p>
            <a:r>
              <a:rPr lang="en-US" dirty="0"/>
              <a:t>Non-</a:t>
            </a:r>
            <a:br>
              <a:rPr lang="en-US" dirty="0"/>
            </a:br>
            <a:r>
              <a:rPr lang="en-US" dirty="0"/>
              <a:t>coding</a:t>
            </a:r>
            <a:br>
              <a:rPr lang="en-US" dirty="0"/>
            </a:br>
            <a:r>
              <a:rPr lang="en-US" dirty="0"/>
              <a:t>(N)</a:t>
            </a:r>
          </a:p>
        </p:txBody>
      </p:sp>
    </p:spTree>
    <p:extLst>
      <p:ext uri="{BB962C8B-B14F-4D97-AF65-F5344CB8AC3E}">
        <p14:creationId xmlns:p14="http://schemas.microsoft.com/office/powerpoint/2010/main" val="169709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383B-57E8-8426-E9B2-F8B08888C8F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1E004E40-D459-3413-C789-D3A6249A7A21}"/>
              </a:ext>
            </a:extLst>
          </p:cNvPr>
          <p:cNvSpPr>
            <a:spLocks noGrp="1"/>
          </p:cNvSpPr>
          <p:nvPr>
            <p:ph idx="1"/>
          </p:nvPr>
        </p:nvSpPr>
        <p:spPr>
          <a:xfrm>
            <a:off x="462013" y="5040427"/>
            <a:ext cx="11109407" cy="1232033"/>
          </a:xfrm>
        </p:spPr>
        <p:txBody>
          <a:bodyPr>
            <a:normAutofit fontScale="92500"/>
          </a:bodyPr>
          <a:lstStyle/>
          <a:p>
            <a:r>
              <a:rPr lang="en-US" dirty="0"/>
              <a:t>Let's consider the following simple HMM for coding/non-coding regions of DNA. This model is composed of 2 states, C (coding) and N (non-coding). </a:t>
            </a:r>
          </a:p>
        </p:txBody>
      </p:sp>
      <p:sp>
        <p:nvSpPr>
          <p:cNvPr id="4" name="Slide Number Placeholder 3">
            <a:extLst>
              <a:ext uri="{FF2B5EF4-FFF2-40B4-BE49-F238E27FC236}">
                <a16:creationId xmlns:a16="http://schemas.microsoft.com/office/drawing/2014/main" id="{DF3AC70A-40B1-7BE0-0F13-CC7563BB660D}"/>
              </a:ext>
            </a:extLst>
          </p:cNvPr>
          <p:cNvSpPr>
            <a:spLocks noGrp="1"/>
          </p:cNvSpPr>
          <p:nvPr>
            <p:ph type="sldNum" sz="quarter" idx="12"/>
          </p:nvPr>
        </p:nvSpPr>
        <p:spPr/>
        <p:txBody>
          <a:bodyPr/>
          <a:lstStyle/>
          <a:p>
            <a:fld id="{B82CCC60-E8CD-4174-8B1A-7DF615B22EEF}" type="slidenum">
              <a:rPr lang="en-US" smtClean="0"/>
              <a:pPr/>
              <a:t>41</a:t>
            </a:fld>
            <a:endParaRPr lang="en-US"/>
          </a:p>
        </p:txBody>
      </p:sp>
      <p:sp>
        <p:nvSpPr>
          <p:cNvPr id="5" name="TextBox 4">
            <a:extLst>
              <a:ext uri="{FF2B5EF4-FFF2-40B4-BE49-F238E27FC236}">
                <a16:creationId xmlns:a16="http://schemas.microsoft.com/office/drawing/2014/main" id="{E4D00B5C-8833-0573-6433-CDF16FFC3174}"/>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1837D1E-C824-4D38-3E44-175345078A28}"/>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DD98F8D4-32E2-D22F-CDAB-D4B025E2D5D2}"/>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E275128-51D8-4160-7033-96D9AEF08A83}"/>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2E881E24-0825-D9BE-3589-7B7020E83921}"/>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4EE1E9DE-2BE4-3551-D4F8-5D6090DD44B5}"/>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152400C1-5A91-B00F-70E1-31311B6AE0D5}"/>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A2786695-1B52-A7A6-6691-CF75F66DA301}"/>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500EEE9E-980C-529C-7B73-FFE2D84E5420}"/>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58063C21-A161-3C73-63C1-1151A03E276F}"/>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5E84933-3B96-B7B4-31B8-874CE728A0D4}"/>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4198DD9-E962-1FF0-F53E-0E125156FE8E}"/>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74198DD9-E962-1FF0-F53E-0E125156FE8E}"/>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4FA7466-D832-6FE4-6427-054900F9CB3D}"/>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94FA7466-D832-6FE4-6427-054900F9CB3D}"/>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9233339F-F742-0CAF-3AAA-F7CFF71F34DA}"/>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FC2AA1FD-571E-DA41-2ED3-8CAC942F260D}"/>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702189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BE885-5B7D-EBFD-B63D-C48C87FF6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936A0-2AF5-CC22-A801-101F9251518E}"/>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4A7508DC-02E3-40FF-DD97-23370E304C90}"/>
              </a:ext>
            </a:extLst>
          </p:cNvPr>
          <p:cNvSpPr>
            <a:spLocks noGrp="1"/>
          </p:cNvSpPr>
          <p:nvPr>
            <p:ph idx="1"/>
          </p:nvPr>
        </p:nvSpPr>
        <p:spPr>
          <a:xfrm>
            <a:off x="462013" y="5040427"/>
            <a:ext cx="11109407" cy="1569657"/>
          </a:xfrm>
        </p:spPr>
        <p:txBody>
          <a:bodyPr>
            <a:normAutofit fontScale="92500" lnSpcReduction="20000"/>
          </a:bodyPr>
          <a:lstStyle/>
          <a:p>
            <a:r>
              <a:rPr lang="en-US" dirty="0"/>
              <a:t>Consider the sequence S = </a:t>
            </a:r>
            <a:r>
              <a:rPr lang="en-US" b="1" dirty="0"/>
              <a:t>GGCACTGAA</a:t>
            </a:r>
          </a:p>
          <a:p>
            <a:r>
              <a:rPr lang="en-US" dirty="0"/>
              <a:t>There are several paths through hidden states (C and N) that lead to this sequence, e.g. NNCCCCNNN</a:t>
            </a:r>
          </a:p>
          <a:p>
            <a:r>
              <a:rPr lang="en-US" dirty="0"/>
              <a:t>Prob(S) through this path is 0.5*0.2*0.6*0.2*0.4*0.3*...</a:t>
            </a:r>
          </a:p>
        </p:txBody>
      </p:sp>
      <p:sp>
        <p:nvSpPr>
          <p:cNvPr id="4" name="Slide Number Placeholder 3">
            <a:extLst>
              <a:ext uri="{FF2B5EF4-FFF2-40B4-BE49-F238E27FC236}">
                <a16:creationId xmlns:a16="http://schemas.microsoft.com/office/drawing/2014/main" id="{63B4668E-8F8D-4864-CF40-178AA1C80751}"/>
              </a:ext>
            </a:extLst>
          </p:cNvPr>
          <p:cNvSpPr>
            <a:spLocks noGrp="1"/>
          </p:cNvSpPr>
          <p:nvPr>
            <p:ph type="sldNum" sz="quarter" idx="12"/>
          </p:nvPr>
        </p:nvSpPr>
        <p:spPr/>
        <p:txBody>
          <a:bodyPr/>
          <a:lstStyle/>
          <a:p>
            <a:fld id="{B82CCC60-E8CD-4174-8B1A-7DF615B22EEF}" type="slidenum">
              <a:rPr lang="en-US" smtClean="0"/>
              <a:pPr/>
              <a:t>42</a:t>
            </a:fld>
            <a:endParaRPr lang="en-US"/>
          </a:p>
        </p:txBody>
      </p:sp>
      <p:sp>
        <p:nvSpPr>
          <p:cNvPr id="5" name="TextBox 4">
            <a:extLst>
              <a:ext uri="{FF2B5EF4-FFF2-40B4-BE49-F238E27FC236}">
                <a16:creationId xmlns:a16="http://schemas.microsoft.com/office/drawing/2014/main" id="{A55A5AD5-1C70-75F5-CD55-0E615525E654}"/>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12DB8BD0-3C2B-7318-5E5A-108B163A329A}"/>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8CC31601-05E6-FB18-C3D9-D4BE2E314B35}"/>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A0F4F18-07F0-CC7A-F542-F9F6F3CEF0D1}"/>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527D4C40-8A7C-873B-D500-CFA1DD00F7A2}"/>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0E6EC965-B672-2760-4B9C-19FE288D2FFB}"/>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F74C7DA6-7FB4-9D00-EE84-79E38DCEDB84}"/>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6353836A-20D7-0C0B-00D2-5189014D038D}"/>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211056B-78D3-5B4F-73BE-0CDA64BA9C00}"/>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40CF8B3D-60F9-A3F3-903D-A4987CD080C1}"/>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12BDD48-899E-48CD-C89A-C7E741E79F14}"/>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F339CE19-8BFF-BCBE-3B49-853277366905}"/>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F339CE19-8BFF-BCBE-3B49-853277366905}"/>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2A3A51AD-2F7D-3A31-E52E-877075D65435}"/>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2A3A51AD-2F7D-3A31-E52E-877075D65435}"/>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38C73F6E-54D5-45BD-0317-CADFE5EF115B}"/>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FD144901-6FAD-6A63-B0D1-1A35879DC63F}"/>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1452179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BD082-5C55-91A8-2DD1-B537010F6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11A75-8B5B-119B-131F-1CB7FAEBE57A}"/>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E27E8D11-182B-65B5-2D67-E39B819B0035}"/>
              </a:ext>
            </a:extLst>
          </p:cNvPr>
          <p:cNvSpPr>
            <a:spLocks noGrp="1"/>
          </p:cNvSpPr>
          <p:nvPr>
            <p:ph idx="1"/>
          </p:nvPr>
        </p:nvSpPr>
        <p:spPr>
          <a:xfrm>
            <a:off x="462013" y="5040427"/>
            <a:ext cx="11109407" cy="1569657"/>
          </a:xfrm>
        </p:spPr>
        <p:txBody>
          <a:bodyPr>
            <a:normAutofit fontScale="92500" lnSpcReduction="20000"/>
          </a:bodyPr>
          <a:lstStyle/>
          <a:p>
            <a:r>
              <a:rPr lang="en-US" dirty="0"/>
              <a:t>Consider the sequence S = </a:t>
            </a:r>
            <a:r>
              <a:rPr lang="en-US" b="1" dirty="0"/>
              <a:t>GGCACTGAA</a:t>
            </a:r>
          </a:p>
          <a:p>
            <a:r>
              <a:rPr lang="en-US" dirty="0"/>
              <a:t>There are several paths through hidden states (C and N) that lead to this sequence, but they do not have the same </a:t>
            </a:r>
            <a:r>
              <a:rPr lang="en-US" b="1" dirty="0"/>
              <a:t>probability</a:t>
            </a:r>
          </a:p>
          <a:p>
            <a:r>
              <a:rPr lang="en-US" dirty="0"/>
              <a:t>The </a:t>
            </a:r>
            <a:r>
              <a:rPr lang="en-US" b="1" dirty="0"/>
              <a:t>Viterbi algorithm </a:t>
            </a:r>
            <a:r>
              <a:rPr lang="en-US" dirty="0"/>
              <a:t>allows us to compute the most probable (best) path</a:t>
            </a:r>
          </a:p>
        </p:txBody>
      </p:sp>
      <p:sp>
        <p:nvSpPr>
          <p:cNvPr id="4" name="Slide Number Placeholder 3">
            <a:extLst>
              <a:ext uri="{FF2B5EF4-FFF2-40B4-BE49-F238E27FC236}">
                <a16:creationId xmlns:a16="http://schemas.microsoft.com/office/drawing/2014/main" id="{274E68D9-D3B9-51CE-7241-35739725B91E}"/>
              </a:ext>
            </a:extLst>
          </p:cNvPr>
          <p:cNvSpPr>
            <a:spLocks noGrp="1"/>
          </p:cNvSpPr>
          <p:nvPr>
            <p:ph type="sldNum" sz="quarter" idx="12"/>
          </p:nvPr>
        </p:nvSpPr>
        <p:spPr/>
        <p:txBody>
          <a:bodyPr/>
          <a:lstStyle/>
          <a:p>
            <a:fld id="{B82CCC60-E8CD-4174-8B1A-7DF615B22EEF}" type="slidenum">
              <a:rPr lang="en-US" smtClean="0"/>
              <a:pPr/>
              <a:t>43</a:t>
            </a:fld>
            <a:endParaRPr lang="en-US"/>
          </a:p>
        </p:txBody>
      </p:sp>
      <p:sp>
        <p:nvSpPr>
          <p:cNvPr id="5" name="TextBox 4">
            <a:extLst>
              <a:ext uri="{FF2B5EF4-FFF2-40B4-BE49-F238E27FC236}">
                <a16:creationId xmlns:a16="http://schemas.microsoft.com/office/drawing/2014/main" id="{BB2D2E36-8E38-DCEA-6168-39EB78FC9426}"/>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8E5C7B58-2C9D-24AD-7336-05BFF06A5BEF}"/>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B1C9963E-310B-3C2D-F2CC-D2625714C7BD}"/>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0FE7B12-B90C-F781-B178-878211277959}"/>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5C062B0A-345E-390C-230B-D14C8823FA56}"/>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378CC1B7-E00B-29C7-7426-7184E2C0FB6F}"/>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E75AECA3-9CDF-21BB-2BCF-EF5DBC86D1C6}"/>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0EE80D44-E5D9-1FDB-66DF-B4F3FE62A62A}"/>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684BDDE-1FC4-0472-F878-77337369E192}"/>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6CB1928-36C4-766A-C76E-E2227B19D406}"/>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269E99DB-20A5-5D4D-EBA0-F50AB1315FAC}"/>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8A8C1BA-B8F4-67C8-6C0C-1788529C0F4B}"/>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78A8C1BA-B8F4-67C8-6C0C-1788529C0F4B}"/>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7D6A4E78-26AC-134B-D5D9-7AB5835D6DB9}"/>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7D6A4E78-26AC-134B-D5D9-7AB5835D6DB9}"/>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80E6B3BD-0D75-E8F5-41C5-FDA5616DC628}"/>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1310C1D9-FC1E-1B1C-0493-3C6B1D0D1D03}"/>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pic>
        <p:nvPicPr>
          <p:cNvPr id="8" name="Picture 7">
            <a:extLst>
              <a:ext uri="{FF2B5EF4-FFF2-40B4-BE49-F238E27FC236}">
                <a16:creationId xmlns:a16="http://schemas.microsoft.com/office/drawing/2014/main" id="{A4E4ABB4-3AB9-DDB5-60B9-79A733FB0CFB}"/>
              </a:ext>
            </a:extLst>
          </p:cNvPr>
          <p:cNvPicPr>
            <a:picLocks noChangeAspect="1"/>
          </p:cNvPicPr>
          <p:nvPr/>
        </p:nvPicPr>
        <p:blipFill>
          <a:blip r:embed="rId5"/>
          <a:stretch>
            <a:fillRect/>
          </a:stretch>
        </p:blipFill>
        <p:spPr>
          <a:xfrm>
            <a:off x="9818262" y="1290780"/>
            <a:ext cx="2257740" cy="3410426"/>
          </a:xfrm>
          <a:prstGeom prst="rect">
            <a:avLst/>
          </a:prstGeom>
        </p:spPr>
      </p:pic>
      <p:sp>
        <p:nvSpPr>
          <p:cNvPr id="10" name="TextBox 9">
            <a:extLst>
              <a:ext uri="{FF2B5EF4-FFF2-40B4-BE49-F238E27FC236}">
                <a16:creationId xmlns:a16="http://schemas.microsoft.com/office/drawing/2014/main" id="{95053595-BADF-4C23-EF16-2321CE20CD0A}"/>
              </a:ext>
            </a:extLst>
          </p:cNvPr>
          <p:cNvSpPr txBox="1"/>
          <p:nvPr/>
        </p:nvSpPr>
        <p:spPr>
          <a:xfrm>
            <a:off x="9663347" y="4673451"/>
            <a:ext cx="2407903" cy="646331"/>
          </a:xfrm>
          <a:prstGeom prst="rect">
            <a:avLst/>
          </a:prstGeom>
          <a:noFill/>
        </p:spPr>
        <p:txBody>
          <a:bodyPr wrap="none" rtlCol="0">
            <a:spAutoFit/>
          </a:bodyPr>
          <a:lstStyle/>
          <a:p>
            <a:r>
              <a:rPr lang="en-US" dirty="0"/>
              <a:t>Andrew James Viterbi</a:t>
            </a:r>
          </a:p>
          <a:p>
            <a:r>
              <a:rPr lang="en-US" dirty="0"/>
              <a:t>Image credit: Wikipedia</a:t>
            </a:r>
          </a:p>
        </p:txBody>
      </p:sp>
    </p:spTree>
    <p:extLst>
      <p:ext uri="{BB962C8B-B14F-4D97-AF65-F5344CB8AC3E}">
        <p14:creationId xmlns:p14="http://schemas.microsoft.com/office/powerpoint/2010/main" val="3549718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9F87-CF8C-7154-EBA1-24BB49DEC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4AF11-B67B-03F1-BFA8-4D940D2B2A8F}"/>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3C9C5ADF-09CC-14A1-E031-F2DC938B9829}"/>
              </a:ext>
            </a:extLst>
          </p:cNvPr>
          <p:cNvSpPr>
            <a:spLocks noGrp="1"/>
          </p:cNvSpPr>
          <p:nvPr>
            <p:ph idx="1"/>
          </p:nvPr>
        </p:nvSpPr>
        <p:spPr>
          <a:xfrm>
            <a:off x="279133" y="1819053"/>
            <a:ext cx="10847671" cy="4822379"/>
          </a:xfrm>
        </p:spPr>
        <p:txBody>
          <a:bodyPr>
            <a:normAutofit/>
          </a:bodyPr>
          <a:lstStyle/>
          <a:p>
            <a:r>
              <a:rPr lang="en-US" dirty="0"/>
              <a:t>Consider the sequence S = </a:t>
            </a:r>
            <a:r>
              <a:rPr lang="en-US" b="1" dirty="0"/>
              <a:t>GGCACTGAA</a:t>
            </a:r>
          </a:p>
          <a:p>
            <a:r>
              <a:rPr lang="en-US" dirty="0"/>
              <a:t>The probability of the best </a:t>
            </a:r>
            <a:br>
              <a:rPr lang="en-US" dirty="0"/>
            </a:br>
            <a:r>
              <a:rPr lang="en-US" dirty="0"/>
              <a:t>path ending in state </a:t>
            </a:r>
            <a:r>
              <a:rPr lang="en-US" i="1" dirty="0"/>
              <a:t>l</a:t>
            </a:r>
            <a:r>
              <a:rPr lang="en-US" dirty="0"/>
              <a:t> </a:t>
            </a:r>
            <a:br>
              <a:rPr lang="en-US" dirty="0"/>
            </a:br>
            <a:r>
              <a:rPr lang="en-US" dirty="0"/>
              <a:t>with observation </a:t>
            </a:r>
            <a:r>
              <a:rPr lang="en-US" i="1" dirty="0" err="1"/>
              <a:t>i</a:t>
            </a:r>
            <a:r>
              <a:rPr lang="en-US" dirty="0"/>
              <a:t> is:</a:t>
            </a:r>
            <a:endParaRPr lang="en-US" i="1" dirty="0"/>
          </a:p>
        </p:txBody>
      </p:sp>
      <p:sp>
        <p:nvSpPr>
          <p:cNvPr id="4" name="Slide Number Placeholder 3">
            <a:extLst>
              <a:ext uri="{FF2B5EF4-FFF2-40B4-BE49-F238E27FC236}">
                <a16:creationId xmlns:a16="http://schemas.microsoft.com/office/drawing/2014/main" id="{8F32EB87-43A9-2C77-497C-37E12F7056BA}"/>
              </a:ext>
            </a:extLst>
          </p:cNvPr>
          <p:cNvSpPr>
            <a:spLocks noGrp="1"/>
          </p:cNvSpPr>
          <p:nvPr>
            <p:ph type="sldNum" sz="quarter" idx="12"/>
          </p:nvPr>
        </p:nvSpPr>
        <p:spPr/>
        <p:txBody>
          <a:bodyPr/>
          <a:lstStyle/>
          <a:p>
            <a:fld id="{B82CCC60-E8CD-4174-8B1A-7DF615B22EEF}" type="slidenum">
              <a:rPr lang="en-US" smtClean="0"/>
              <a:pPr/>
              <a:t>44</a:t>
            </a:fld>
            <a:endParaRPr lang="en-US"/>
          </a:p>
        </p:txBody>
      </p:sp>
      <p:sp>
        <p:nvSpPr>
          <p:cNvPr id="5" name="TextBox 4">
            <a:extLst>
              <a:ext uri="{FF2B5EF4-FFF2-40B4-BE49-F238E27FC236}">
                <a16:creationId xmlns:a16="http://schemas.microsoft.com/office/drawing/2014/main" id="{56FEA932-9DAB-7801-2761-66315AC986C7}"/>
              </a:ext>
            </a:extLst>
          </p:cNvPr>
          <p:cNvSpPr txBox="1"/>
          <p:nvPr/>
        </p:nvSpPr>
        <p:spPr>
          <a:xfrm>
            <a:off x="8325852" y="1659255"/>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10134AF-7567-8095-EDAD-572184BD70B8}"/>
              </a:ext>
            </a:extLst>
          </p:cNvPr>
          <p:cNvCxnSpPr>
            <a:cxnSpLocks/>
          </p:cNvCxnSpPr>
          <p:nvPr/>
        </p:nvCxnSpPr>
        <p:spPr>
          <a:xfrm flipH="1">
            <a:off x="7719461" y="2227145"/>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22B6A63-EB49-0F73-8F3C-B40D637B43FA}"/>
              </a:ext>
            </a:extLst>
          </p:cNvPr>
          <p:cNvCxnSpPr>
            <a:cxnSpLocks/>
          </p:cNvCxnSpPr>
          <p:nvPr/>
        </p:nvCxnSpPr>
        <p:spPr>
          <a:xfrm>
            <a:off x="8835991" y="2227145"/>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DD76057-D642-7806-D58F-1779B42EAC64}"/>
              </a:ext>
            </a:extLst>
          </p:cNvPr>
          <p:cNvSpPr txBox="1"/>
          <p:nvPr/>
        </p:nvSpPr>
        <p:spPr>
          <a:xfrm>
            <a:off x="7690624" y="2042479"/>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246D1124-EC66-4315-10D0-081B71D07B7F}"/>
              </a:ext>
            </a:extLst>
          </p:cNvPr>
          <p:cNvSpPr txBox="1"/>
          <p:nvPr/>
        </p:nvSpPr>
        <p:spPr>
          <a:xfrm>
            <a:off x="9145604" y="2042479"/>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EA8FBE85-4D34-004F-987A-03D1B0304CD9}"/>
              </a:ext>
            </a:extLst>
          </p:cNvPr>
          <p:cNvSpPr txBox="1"/>
          <p:nvPr/>
        </p:nvSpPr>
        <p:spPr>
          <a:xfrm>
            <a:off x="7219459"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8BEC7037-E4D7-7BAE-9C8F-AA19AE39ADFD}"/>
              </a:ext>
            </a:extLst>
          </p:cNvPr>
          <p:cNvSpPr txBox="1"/>
          <p:nvPr/>
        </p:nvSpPr>
        <p:spPr>
          <a:xfrm>
            <a:off x="9114025"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B31EEEA7-CE97-6D1F-12D1-0EE13619D70B}"/>
              </a:ext>
            </a:extLst>
          </p:cNvPr>
          <p:cNvCxnSpPr>
            <a:cxnSpLocks/>
          </p:cNvCxnSpPr>
          <p:nvPr/>
        </p:nvCxnSpPr>
        <p:spPr>
          <a:xfrm>
            <a:off x="8335902" y="3239908"/>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F923779-5FFB-EDBC-FD70-681BEBAF7E25}"/>
              </a:ext>
            </a:extLst>
          </p:cNvPr>
          <p:cNvCxnSpPr>
            <a:cxnSpLocks/>
          </p:cNvCxnSpPr>
          <p:nvPr/>
        </p:nvCxnSpPr>
        <p:spPr>
          <a:xfrm flipH="1">
            <a:off x="8335902" y="361664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80D9A03D-49CD-EA22-B420-804E7F96B24A}"/>
              </a:ext>
            </a:extLst>
          </p:cNvPr>
          <p:cNvSpPr txBox="1"/>
          <p:nvPr/>
        </p:nvSpPr>
        <p:spPr>
          <a:xfrm>
            <a:off x="8367456" y="2900803"/>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700F0219-6BB7-4E7C-4AC7-54B2A5BB1E5C}"/>
              </a:ext>
            </a:extLst>
          </p:cNvPr>
          <p:cNvSpPr txBox="1"/>
          <p:nvPr/>
        </p:nvSpPr>
        <p:spPr>
          <a:xfrm>
            <a:off x="8373834" y="3642225"/>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56599EEB-12F8-0722-89B5-3BBBA55E9E00}"/>
                  </a:ext>
                </a:extLst>
              </p14:cNvPr>
              <p14:cNvContentPartPr/>
              <p14:nvPr/>
            </p14:nvContentPartPr>
            <p14:xfrm>
              <a:off x="10235111" y="2771427"/>
              <a:ext cx="1329840" cy="1373040"/>
            </p14:xfrm>
          </p:contentPart>
        </mc:Choice>
        <mc:Fallback xmlns="">
          <p:pic>
            <p:nvPicPr>
              <p:cNvPr id="27" name="Ink 26">
                <a:extLst>
                  <a:ext uri="{FF2B5EF4-FFF2-40B4-BE49-F238E27FC236}">
                    <a16:creationId xmlns:a16="http://schemas.microsoft.com/office/drawing/2014/main" id="{56599EEB-12F8-0722-89B5-3BBBA55E9E00}"/>
                  </a:ext>
                </a:extLst>
              </p:cNvPr>
              <p:cNvPicPr/>
              <p:nvPr/>
            </p:nvPicPr>
            <p:blipFill>
              <a:blip r:embed="rId3"/>
              <a:stretch>
                <a:fillRect/>
              </a:stretch>
            </p:blipFill>
            <p:spPr>
              <a:xfrm>
                <a:off x="10228991" y="276530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5C4C6E1D-FCF8-A7BC-5B96-8906A40803EC}"/>
                  </a:ext>
                </a:extLst>
              </p14:cNvPr>
              <p14:cNvContentPartPr/>
              <p14:nvPr/>
            </p14:nvContentPartPr>
            <p14:xfrm rot="10800000">
              <a:off x="5713695" y="2638517"/>
              <a:ext cx="1329840" cy="1373040"/>
            </p14:xfrm>
          </p:contentPart>
        </mc:Choice>
        <mc:Fallback xmlns="">
          <p:pic>
            <p:nvPicPr>
              <p:cNvPr id="28" name="Ink 27">
                <a:extLst>
                  <a:ext uri="{FF2B5EF4-FFF2-40B4-BE49-F238E27FC236}">
                    <a16:creationId xmlns:a16="http://schemas.microsoft.com/office/drawing/2014/main" id="{5C4C6E1D-FCF8-A7BC-5B96-8906A40803EC}"/>
                  </a:ext>
                </a:extLst>
              </p:cNvPr>
              <p:cNvPicPr/>
              <p:nvPr/>
            </p:nvPicPr>
            <p:blipFill>
              <a:blip r:embed="rId3"/>
              <a:stretch>
                <a:fillRect/>
              </a:stretch>
            </p:blipFill>
            <p:spPr>
              <a:xfrm rot="10800000">
                <a:off x="5707575" y="2632397"/>
                <a:ext cx="1342080" cy="1385280"/>
              </a:xfrm>
              <a:prstGeom prst="rect">
                <a:avLst/>
              </a:prstGeom>
            </p:spPr>
          </p:pic>
        </mc:Fallback>
      </mc:AlternateContent>
      <p:sp>
        <p:nvSpPr>
          <p:cNvPr id="29" name="TextBox 28">
            <a:extLst>
              <a:ext uri="{FF2B5EF4-FFF2-40B4-BE49-F238E27FC236}">
                <a16:creationId xmlns:a16="http://schemas.microsoft.com/office/drawing/2014/main" id="{230F779E-563F-19DD-605A-20EDC1AC5F57}"/>
              </a:ext>
            </a:extLst>
          </p:cNvPr>
          <p:cNvSpPr txBox="1"/>
          <p:nvPr/>
        </p:nvSpPr>
        <p:spPr>
          <a:xfrm>
            <a:off x="5214254" y="3140371"/>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10ABD210-2224-FC93-F1D8-C2235AC73F53}"/>
              </a:ext>
            </a:extLst>
          </p:cNvPr>
          <p:cNvSpPr txBox="1"/>
          <p:nvPr/>
        </p:nvSpPr>
        <p:spPr>
          <a:xfrm>
            <a:off x="11609719" y="3203504"/>
            <a:ext cx="476412" cy="369332"/>
          </a:xfrm>
          <a:prstGeom prst="rect">
            <a:avLst/>
          </a:prstGeom>
          <a:noFill/>
        </p:spPr>
        <p:txBody>
          <a:bodyPr wrap="none" rtlCol="0">
            <a:spAutoFit/>
          </a:bodyPr>
          <a:lstStyle/>
          <a:p>
            <a:r>
              <a:rPr lang="en-US" dirty="0"/>
              <a:t>0.6</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07D650-3E93-BC0D-4C08-09A227AD354A}"/>
                  </a:ext>
                </a:extLst>
              </p:cNvPr>
              <p:cNvSpPr txBox="1"/>
              <p:nvPr/>
            </p:nvSpPr>
            <p:spPr>
              <a:xfrm>
                <a:off x="598620" y="4574406"/>
                <a:ext cx="6379128" cy="619272"/>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i="1">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e>
                      </m:d>
                      <m:func>
                        <m:funcPr>
                          <m:ctrlPr>
                            <a:rPr lang="en-US" sz="2800" b="0" i="1" smtClean="0">
                              <a:latin typeface="Cambria Math" panose="02040503050406030204" pitchFamily="18" charset="0"/>
                            </a:rPr>
                          </m:ctrlPr>
                        </m:funcPr>
                        <m:fName>
                          <m:limLow>
                            <m:limLowPr>
                              <m:ctrlPr>
                                <a:rPr lang="en-US" sz="2800" b="0" i="0"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𝐶</m:t>
                              </m:r>
                              <m:r>
                                <a:rPr lang="en-US" sz="2800" b="0" i="1" smtClean="0">
                                  <a:latin typeface="Cambria Math" panose="02040503050406030204" pitchFamily="18" charset="0"/>
                                </a:rPr>
                                <m:t>)</m:t>
                              </m:r>
                            </m:lim>
                          </m:limLow>
                        </m:fName>
                        <m:e>
                          <m:r>
                            <a:rPr lang="en-US" sz="2800" b="0" i="1" smtClean="0">
                              <a:latin typeface="Cambria Math" panose="02040503050406030204" pitchFamily="18" charset="0"/>
                            </a:rPr>
                            <m:t>(</m:t>
                          </m:r>
                        </m:e>
                      </m:func>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𝑥</m:t>
                          </m:r>
                          <m:r>
                            <a:rPr lang="en-US" sz="2800" b="0" i="1" smtClean="0">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𝑘𝑙</m:t>
                          </m:r>
                        </m:sub>
                      </m:sSub>
                      <m:r>
                        <a:rPr lang="en-US" sz="28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7607D650-3E93-BC0D-4C08-09A227AD354A}"/>
                  </a:ext>
                </a:extLst>
              </p:cNvPr>
              <p:cNvSpPr txBox="1">
                <a:spLocks noRot="1" noChangeAspect="1" noMove="1" noResize="1" noEditPoints="1" noAdjustHandles="1" noChangeArrowheads="1" noChangeShapeType="1" noTextEdit="1"/>
              </p:cNvSpPr>
              <p:nvPr/>
            </p:nvSpPr>
            <p:spPr>
              <a:xfrm>
                <a:off x="598620" y="4574406"/>
                <a:ext cx="6379128" cy="619272"/>
              </a:xfrm>
              <a:prstGeom prst="rect">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5B44FF7F-3A92-FE2D-25CF-60CDC4012A93}"/>
              </a:ext>
            </a:extLst>
          </p:cNvPr>
          <p:cNvCxnSpPr>
            <a:cxnSpLocks/>
            <a:stCxn id="11" idx="0"/>
          </p:cNvCxnSpPr>
          <p:nvPr/>
        </p:nvCxnSpPr>
        <p:spPr>
          <a:xfrm flipV="1">
            <a:off x="1530417" y="5121801"/>
            <a:ext cx="749450" cy="319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A998A6AA-09A9-E4F1-A9D7-FD298D159A57}"/>
              </a:ext>
            </a:extLst>
          </p:cNvPr>
          <p:cNvSpPr txBox="1"/>
          <p:nvPr/>
        </p:nvSpPr>
        <p:spPr>
          <a:xfrm>
            <a:off x="799557" y="5441103"/>
            <a:ext cx="1461720" cy="1200329"/>
          </a:xfrm>
          <a:prstGeom prst="rect">
            <a:avLst/>
          </a:prstGeom>
          <a:noFill/>
        </p:spPr>
        <p:txBody>
          <a:bodyPr wrap="square" rtlCol="0">
            <a:spAutoFit/>
          </a:bodyPr>
          <a:lstStyle/>
          <a:p>
            <a:r>
              <a:rPr lang="en-US" dirty="0"/>
              <a:t>Probability to observe element </a:t>
            </a:r>
            <a:r>
              <a:rPr lang="en-US" i="1" dirty="0" err="1"/>
              <a:t>i</a:t>
            </a:r>
            <a:r>
              <a:rPr lang="en-US" dirty="0"/>
              <a:t> in state </a:t>
            </a:r>
            <a:r>
              <a:rPr lang="en-US" i="1" dirty="0"/>
              <a:t>l</a:t>
            </a:r>
          </a:p>
        </p:txBody>
      </p:sp>
      <p:sp>
        <p:nvSpPr>
          <p:cNvPr id="15" name="TextBox 14">
            <a:extLst>
              <a:ext uri="{FF2B5EF4-FFF2-40B4-BE49-F238E27FC236}">
                <a16:creationId xmlns:a16="http://schemas.microsoft.com/office/drawing/2014/main" id="{03E1730B-B539-4973-B04D-C977F07144F6}"/>
              </a:ext>
            </a:extLst>
          </p:cNvPr>
          <p:cNvSpPr txBox="1"/>
          <p:nvPr/>
        </p:nvSpPr>
        <p:spPr>
          <a:xfrm>
            <a:off x="5844189" y="5568142"/>
            <a:ext cx="2105260" cy="923330"/>
          </a:xfrm>
          <a:prstGeom prst="rect">
            <a:avLst/>
          </a:prstGeom>
          <a:noFill/>
        </p:spPr>
        <p:txBody>
          <a:bodyPr wrap="square" rtlCol="0">
            <a:spAutoFit/>
          </a:bodyPr>
          <a:lstStyle/>
          <a:p>
            <a:r>
              <a:rPr lang="en-US" dirty="0"/>
              <a:t>Probability of transition from state </a:t>
            </a:r>
            <a:r>
              <a:rPr lang="en-US" i="1" dirty="0"/>
              <a:t>k</a:t>
            </a:r>
            <a:r>
              <a:rPr lang="en-US" dirty="0"/>
              <a:t> to state </a:t>
            </a:r>
            <a:r>
              <a:rPr lang="en-US" i="1" dirty="0"/>
              <a:t>l</a:t>
            </a:r>
          </a:p>
        </p:txBody>
      </p:sp>
      <p:cxnSp>
        <p:nvCxnSpPr>
          <p:cNvPr id="18" name="Straight Arrow Connector 17">
            <a:extLst>
              <a:ext uri="{FF2B5EF4-FFF2-40B4-BE49-F238E27FC236}">
                <a16:creationId xmlns:a16="http://schemas.microsoft.com/office/drawing/2014/main" id="{E70B330A-BD8E-5430-50B8-4A5A35E2ABCB}"/>
              </a:ext>
            </a:extLst>
          </p:cNvPr>
          <p:cNvCxnSpPr>
            <a:cxnSpLocks/>
            <a:stCxn id="15" idx="0"/>
          </p:cNvCxnSpPr>
          <p:nvPr/>
        </p:nvCxnSpPr>
        <p:spPr>
          <a:xfrm flipH="1" flipV="1">
            <a:off x="6036881" y="4979960"/>
            <a:ext cx="859938" cy="5881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AD48E0BE-3D82-AF73-B276-DD51CC2D44E6}"/>
              </a:ext>
            </a:extLst>
          </p:cNvPr>
          <p:cNvCxnSpPr>
            <a:cxnSpLocks/>
          </p:cNvCxnSpPr>
          <p:nvPr/>
        </p:nvCxnSpPr>
        <p:spPr>
          <a:xfrm flipV="1">
            <a:off x="1530417" y="5121801"/>
            <a:ext cx="749450" cy="2923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2C49823B-D7B2-432F-E88E-4A0D04A39672}"/>
              </a:ext>
            </a:extLst>
          </p:cNvPr>
          <p:cNvSpPr txBox="1"/>
          <p:nvPr/>
        </p:nvSpPr>
        <p:spPr>
          <a:xfrm>
            <a:off x="3347200" y="5568142"/>
            <a:ext cx="2105260" cy="1200329"/>
          </a:xfrm>
          <a:prstGeom prst="rect">
            <a:avLst/>
          </a:prstGeom>
          <a:noFill/>
        </p:spPr>
        <p:txBody>
          <a:bodyPr wrap="square" rtlCol="0">
            <a:spAutoFit/>
          </a:bodyPr>
          <a:lstStyle/>
          <a:p>
            <a:r>
              <a:rPr lang="en-US" dirty="0"/>
              <a:t>Probability of the best path ending at position </a:t>
            </a:r>
            <a:r>
              <a:rPr lang="en-US" i="1" dirty="0"/>
              <a:t>x-1</a:t>
            </a:r>
            <a:r>
              <a:rPr lang="en-US" dirty="0"/>
              <a:t> in state </a:t>
            </a:r>
            <a:r>
              <a:rPr lang="en-US" i="1" dirty="0"/>
              <a:t>k </a:t>
            </a:r>
            <a:r>
              <a:rPr lang="en-US" dirty="0"/>
              <a:t>with element </a:t>
            </a:r>
            <a:r>
              <a:rPr lang="en-US" i="1" dirty="0"/>
              <a:t>j</a:t>
            </a:r>
          </a:p>
        </p:txBody>
      </p:sp>
      <p:cxnSp>
        <p:nvCxnSpPr>
          <p:cNvPr id="31" name="Straight Arrow Connector 30">
            <a:extLst>
              <a:ext uri="{FF2B5EF4-FFF2-40B4-BE49-F238E27FC236}">
                <a16:creationId xmlns:a16="http://schemas.microsoft.com/office/drawing/2014/main" id="{21CE15B0-47EC-AD2F-5BB2-20E0276C8898}"/>
              </a:ext>
            </a:extLst>
          </p:cNvPr>
          <p:cNvCxnSpPr>
            <a:cxnSpLocks/>
            <a:stCxn id="24" idx="0"/>
          </p:cNvCxnSpPr>
          <p:nvPr/>
        </p:nvCxnSpPr>
        <p:spPr>
          <a:xfrm flipV="1">
            <a:off x="4399830" y="5118326"/>
            <a:ext cx="143294" cy="4498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17937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EE50-7F12-051A-5DF8-FDAA47F02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9833A-C2AE-0CF3-7399-28B5B8BDFEF4}"/>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C910ADDA-A0FC-A89D-6DCD-DF12C3CB423D}"/>
              </a:ext>
            </a:extLst>
          </p:cNvPr>
          <p:cNvSpPr>
            <a:spLocks noGrp="1"/>
          </p:cNvSpPr>
          <p:nvPr>
            <p:ph idx="1"/>
          </p:nvPr>
        </p:nvSpPr>
        <p:spPr>
          <a:xfrm>
            <a:off x="279133" y="1819053"/>
            <a:ext cx="10847671" cy="4822379"/>
          </a:xfrm>
        </p:spPr>
        <p:txBody>
          <a:bodyPr>
            <a:normAutofit/>
          </a:bodyPr>
          <a:lstStyle/>
          <a:p>
            <a:r>
              <a:rPr lang="en-US" dirty="0"/>
              <a:t>Consider the sequence S = </a:t>
            </a:r>
            <a:r>
              <a:rPr lang="en-US" b="1" dirty="0"/>
              <a:t>GG</a:t>
            </a:r>
            <a:r>
              <a:rPr lang="en-US" b="1" dirty="0">
                <a:solidFill>
                  <a:srgbClr val="018ACF"/>
                </a:solidFill>
              </a:rPr>
              <a:t>C</a:t>
            </a:r>
            <a:r>
              <a:rPr lang="en-US" b="1" dirty="0">
                <a:solidFill>
                  <a:srgbClr val="FF0000"/>
                </a:solidFill>
              </a:rPr>
              <a:t>A</a:t>
            </a:r>
            <a:r>
              <a:rPr lang="en-US" b="1" dirty="0"/>
              <a:t>CTGAA</a:t>
            </a:r>
          </a:p>
          <a:p>
            <a:r>
              <a:rPr lang="en-US" dirty="0"/>
              <a:t>The probability of the best </a:t>
            </a:r>
            <a:br>
              <a:rPr lang="en-US" dirty="0"/>
            </a:br>
            <a:r>
              <a:rPr lang="en-US" dirty="0"/>
              <a:t>path ending in state </a:t>
            </a:r>
            <a:r>
              <a:rPr lang="en-US" i="1" dirty="0"/>
              <a:t>l</a:t>
            </a:r>
            <a:r>
              <a:rPr lang="en-US" dirty="0"/>
              <a:t> </a:t>
            </a:r>
            <a:br>
              <a:rPr lang="en-US" dirty="0"/>
            </a:br>
            <a:r>
              <a:rPr lang="en-US" dirty="0"/>
              <a:t>with observation </a:t>
            </a:r>
            <a:r>
              <a:rPr lang="en-US" i="1" dirty="0" err="1"/>
              <a:t>i</a:t>
            </a:r>
            <a:r>
              <a:rPr lang="en-US" dirty="0"/>
              <a:t> is:</a:t>
            </a:r>
          </a:p>
          <a:p>
            <a:endParaRPr lang="en-US" i="1" dirty="0"/>
          </a:p>
          <a:p>
            <a:endParaRPr lang="en-US" i="1" dirty="0"/>
          </a:p>
          <a:p>
            <a:r>
              <a:rPr lang="en-US" dirty="0"/>
              <a:t>In our example, the probability of the best path ending in state </a:t>
            </a:r>
            <a:r>
              <a:rPr lang="en-US" i="1" dirty="0"/>
              <a:t>l=</a:t>
            </a:r>
            <a:r>
              <a:rPr lang="en-US" dirty="0"/>
              <a:t>C with “A” at the 4</a:t>
            </a:r>
            <a:r>
              <a:rPr lang="en-US" baseline="30000" dirty="0"/>
              <a:t>th</a:t>
            </a:r>
            <a:r>
              <a:rPr lang="en-US" dirty="0"/>
              <a:t> position is:</a:t>
            </a:r>
          </a:p>
        </p:txBody>
      </p:sp>
      <p:sp>
        <p:nvSpPr>
          <p:cNvPr id="4" name="Slide Number Placeholder 3">
            <a:extLst>
              <a:ext uri="{FF2B5EF4-FFF2-40B4-BE49-F238E27FC236}">
                <a16:creationId xmlns:a16="http://schemas.microsoft.com/office/drawing/2014/main" id="{B4B7C4BE-2845-4B25-7913-9152BB88B46A}"/>
              </a:ext>
            </a:extLst>
          </p:cNvPr>
          <p:cNvSpPr>
            <a:spLocks noGrp="1"/>
          </p:cNvSpPr>
          <p:nvPr>
            <p:ph type="sldNum" sz="quarter" idx="12"/>
          </p:nvPr>
        </p:nvSpPr>
        <p:spPr/>
        <p:txBody>
          <a:bodyPr/>
          <a:lstStyle/>
          <a:p>
            <a:fld id="{B82CCC60-E8CD-4174-8B1A-7DF615B22EEF}" type="slidenum">
              <a:rPr lang="en-US" smtClean="0"/>
              <a:pPr/>
              <a:t>45</a:t>
            </a:fld>
            <a:endParaRPr lang="en-US"/>
          </a:p>
        </p:txBody>
      </p:sp>
      <p:sp>
        <p:nvSpPr>
          <p:cNvPr id="5" name="TextBox 4">
            <a:extLst>
              <a:ext uri="{FF2B5EF4-FFF2-40B4-BE49-F238E27FC236}">
                <a16:creationId xmlns:a16="http://schemas.microsoft.com/office/drawing/2014/main" id="{DE298B4D-B013-AB3E-3384-8691EF5821B7}"/>
              </a:ext>
            </a:extLst>
          </p:cNvPr>
          <p:cNvSpPr txBox="1"/>
          <p:nvPr/>
        </p:nvSpPr>
        <p:spPr>
          <a:xfrm>
            <a:off x="8325852" y="1659255"/>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E38C976B-2976-6F70-C194-102B2B565E32}"/>
              </a:ext>
            </a:extLst>
          </p:cNvPr>
          <p:cNvCxnSpPr>
            <a:cxnSpLocks/>
          </p:cNvCxnSpPr>
          <p:nvPr/>
        </p:nvCxnSpPr>
        <p:spPr>
          <a:xfrm flipH="1">
            <a:off x="7719461" y="2227145"/>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62F830A4-F212-DFCA-77F4-3AA7BF73FD87}"/>
              </a:ext>
            </a:extLst>
          </p:cNvPr>
          <p:cNvCxnSpPr>
            <a:cxnSpLocks/>
          </p:cNvCxnSpPr>
          <p:nvPr/>
        </p:nvCxnSpPr>
        <p:spPr>
          <a:xfrm>
            <a:off x="8835991" y="2227145"/>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61C928DF-2FB4-5FE7-BC93-870CB938D21B}"/>
              </a:ext>
            </a:extLst>
          </p:cNvPr>
          <p:cNvSpPr txBox="1"/>
          <p:nvPr/>
        </p:nvSpPr>
        <p:spPr>
          <a:xfrm>
            <a:off x="7690624" y="2042479"/>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BD6E66B2-FBDC-B875-1D36-D88C4F2CB12B}"/>
              </a:ext>
            </a:extLst>
          </p:cNvPr>
          <p:cNvSpPr txBox="1"/>
          <p:nvPr/>
        </p:nvSpPr>
        <p:spPr>
          <a:xfrm>
            <a:off x="9145604" y="2042479"/>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CECF9BCC-AE7F-D0C8-DC14-3ECB78E14455}"/>
              </a:ext>
            </a:extLst>
          </p:cNvPr>
          <p:cNvSpPr txBox="1"/>
          <p:nvPr/>
        </p:nvSpPr>
        <p:spPr>
          <a:xfrm>
            <a:off x="7219459"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19289828-0853-1236-9EC2-6FEC9F8AC4D7}"/>
              </a:ext>
            </a:extLst>
          </p:cNvPr>
          <p:cNvSpPr txBox="1"/>
          <p:nvPr/>
        </p:nvSpPr>
        <p:spPr>
          <a:xfrm>
            <a:off x="9114025"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F2D761C4-C1CB-65FC-0E84-BA63FE7E6ECA}"/>
              </a:ext>
            </a:extLst>
          </p:cNvPr>
          <p:cNvCxnSpPr>
            <a:cxnSpLocks/>
          </p:cNvCxnSpPr>
          <p:nvPr/>
        </p:nvCxnSpPr>
        <p:spPr>
          <a:xfrm>
            <a:off x="8335902" y="3239908"/>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4ECC020-E28D-66B8-C85D-48AE928C857B}"/>
              </a:ext>
            </a:extLst>
          </p:cNvPr>
          <p:cNvCxnSpPr>
            <a:cxnSpLocks/>
          </p:cNvCxnSpPr>
          <p:nvPr/>
        </p:nvCxnSpPr>
        <p:spPr>
          <a:xfrm flipH="1">
            <a:off x="8335902" y="361664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F31C4918-0036-6716-488C-748E653A1175}"/>
              </a:ext>
            </a:extLst>
          </p:cNvPr>
          <p:cNvSpPr txBox="1"/>
          <p:nvPr/>
        </p:nvSpPr>
        <p:spPr>
          <a:xfrm>
            <a:off x="8367456" y="2900803"/>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B00D219-4765-79D9-A0CA-8F5EF857D865}"/>
              </a:ext>
            </a:extLst>
          </p:cNvPr>
          <p:cNvSpPr txBox="1"/>
          <p:nvPr/>
        </p:nvSpPr>
        <p:spPr>
          <a:xfrm>
            <a:off x="8373834" y="3642225"/>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5F49128-EA5C-C56C-978A-F0E5E6023245}"/>
                  </a:ext>
                </a:extLst>
              </p14:cNvPr>
              <p14:cNvContentPartPr/>
              <p14:nvPr/>
            </p14:nvContentPartPr>
            <p14:xfrm>
              <a:off x="10235111" y="2771427"/>
              <a:ext cx="1329840" cy="1373040"/>
            </p14:xfrm>
          </p:contentPart>
        </mc:Choice>
        <mc:Fallback xmlns="">
          <p:pic>
            <p:nvPicPr>
              <p:cNvPr id="27" name="Ink 26">
                <a:extLst>
                  <a:ext uri="{FF2B5EF4-FFF2-40B4-BE49-F238E27FC236}">
                    <a16:creationId xmlns:a16="http://schemas.microsoft.com/office/drawing/2014/main" id="{75F49128-EA5C-C56C-978A-F0E5E6023245}"/>
                  </a:ext>
                </a:extLst>
              </p:cNvPr>
              <p:cNvPicPr/>
              <p:nvPr/>
            </p:nvPicPr>
            <p:blipFill>
              <a:blip r:embed="rId3"/>
              <a:stretch>
                <a:fillRect/>
              </a:stretch>
            </p:blipFill>
            <p:spPr>
              <a:xfrm>
                <a:off x="10228991" y="276530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6320151B-7E63-A31B-F602-1D3A4EB30FC2}"/>
                  </a:ext>
                </a:extLst>
              </p14:cNvPr>
              <p14:cNvContentPartPr/>
              <p14:nvPr/>
            </p14:nvContentPartPr>
            <p14:xfrm rot="10800000">
              <a:off x="5713695" y="2638517"/>
              <a:ext cx="1329840" cy="1373040"/>
            </p14:xfrm>
          </p:contentPart>
        </mc:Choice>
        <mc:Fallback xmlns="">
          <p:pic>
            <p:nvPicPr>
              <p:cNvPr id="28" name="Ink 27">
                <a:extLst>
                  <a:ext uri="{FF2B5EF4-FFF2-40B4-BE49-F238E27FC236}">
                    <a16:creationId xmlns:a16="http://schemas.microsoft.com/office/drawing/2014/main" id="{6320151B-7E63-A31B-F602-1D3A4EB30FC2}"/>
                  </a:ext>
                </a:extLst>
              </p:cNvPr>
              <p:cNvPicPr/>
              <p:nvPr/>
            </p:nvPicPr>
            <p:blipFill>
              <a:blip r:embed="rId3"/>
              <a:stretch>
                <a:fillRect/>
              </a:stretch>
            </p:blipFill>
            <p:spPr>
              <a:xfrm rot="10800000">
                <a:off x="5707575" y="2632397"/>
                <a:ext cx="1342080" cy="1385280"/>
              </a:xfrm>
              <a:prstGeom prst="rect">
                <a:avLst/>
              </a:prstGeom>
            </p:spPr>
          </p:pic>
        </mc:Fallback>
      </mc:AlternateContent>
      <p:sp>
        <p:nvSpPr>
          <p:cNvPr id="29" name="TextBox 28">
            <a:extLst>
              <a:ext uri="{FF2B5EF4-FFF2-40B4-BE49-F238E27FC236}">
                <a16:creationId xmlns:a16="http://schemas.microsoft.com/office/drawing/2014/main" id="{A3921464-E8AF-2738-9C3B-DEB070FA88D5}"/>
              </a:ext>
            </a:extLst>
          </p:cNvPr>
          <p:cNvSpPr txBox="1"/>
          <p:nvPr/>
        </p:nvSpPr>
        <p:spPr>
          <a:xfrm>
            <a:off x="5214254" y="3140371"/>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5F2AAB16-CF45-9B5A-4D0F-D9D9332BA76B}"/>
              </a:ext>
            </a:extLst>
          </p:cNvPr>
          <p:cNvSpPr txBox="1"/>
          <p:nvPr/>
        </p:nvSpPr>
        <p:spPr>
          <a:xfrm>
            <a:off x="11609719" y="3203504"/>
            <a:ext cx="476412" cy="369332"/>
          </a:xfrm>
          <a:prstGeom prst="rect">
            <a:avLst/>
          </a:prstGeom>
          <a:noFill/>
        </p:spPr>
        <p:txBody>
          <a:bodyPr wrap="none" rtlCol="0">
            <a:spAutoFit/>
          </a:bodyPr>
          <a:lstStyle/>
          <a:p>
            <a:r>
              <a:rPr lang="en-US" dirty="0"/>
              <a:t>0.6</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7A5F7B-8CEF-5D1E-C6C0-5703C9D4D65F}"/>
                  </a:ext>
                </a:extLst>
              </p:cNvPr>
              <p:cNvSpPr txBox="1"/>
              <p:nvPr/>
            </p:nvSpPr>
            <p:spPr>
              <a:xfrm>
                <a:off x="541142" y="4125373"/>
                <a:ext cx="6379128" cy="619272"/>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i="1">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e>
                      </m:d>
                      <m:func>
                        <m:funcPr>
                          <m:ctrlPr>
                            <a:rPr lang="en-US" sz="2800" b="0" i="1" smtClean="0">
                              <a:latin typeface="Cambria Math" panose="02040503050406030204" pitchFamily="18" charset="0"/>
                            </a:rPr>
                          </m:ctrlPr>
                        </m:funcPr>
                        <m:fName>
                          <m:limLow>
                            <m:limLowPr>
                              <m:ctrlPr>
                                <a:rPr lang="en-US" sz="2800" b="0" i="0"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𝐶</m:t>
                              </m:r>
                              <m:r>
                                <a:rPr lang="en-US" sz="2800" b="0" i="1" smtClean="0">
                                  <a:latin typeface="Cambria Math" panose="02040503050406030204" pitchFamily="18" charset="0"/>
                                </a:rPr>
                                <m:t>)</m:t>
                              </m:r>
                            </m:lim>
                          </m:limLow>
                        </m:fName>
                        <m:e>
                          <m:r>
                            <a:rPr lang="en-US" sz="2800" b="0" i="1" smtClean="0">
                              <a:latin typeface="Cambria Math" panose="02040503050406030204" pitchFamily="18" charset="0"/>
                            </a:rPr>
                            <m:t>(</m:t>
                          </m:r>
                        </m:e>
                      </m:func>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𝑥</m:t>
                          </m:r>
                          <m:r>
                            <a:rPr lang="en-US" sz="2800" b="0" i="1" smtClean="0">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𝑘𝑙</m:t>
                          </m:r>
                        </m:sub>
                      </m:sSub>
                      <m:r>
                        <a:rPr lang="en-US" sz="28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467A5F7B-8CEF-5D1E-C6C0-5703C9D4D65F}"/>
                  </a:ext>
                </a:extLst>
              </p:cNvPr>
              <p:cNvSpPr txBox="1">
                <a:spLocks noRot="1" noChangeAspect="1" noMove="1" noResize="1" noEditPoints="1" noAdjustHandles="1" noChangeArrowheads="1" noChangeShapeType="1" noTextEdit="1"/>
              </p:cNvSpPr>
              <p:nvPr/>
            </p:nvSpPr>
            <p:spPr>
              <a:xfrm>
                <a:off x="541142" y="4125373"/>
                <a:ext cx="6379128" cy="61927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BC214B-5B3C-57E5-6757-EAEC9FF0575B}"/>
                  </a:ext>
                </a:extLst>
              </p:cNvPr>
              <p:cNvSpPr txBox="1"/>
              <p:nvPr/>
            </p:nvSpPr>
            <p:spPr>
              <a:xfrm>
                <a:off x="541141" y="5746803"/>
                <a:ext cx="8121595" cy="563680"/>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𝐴</m:t>
                          </m:r>
                          <m:r>
                            <a:rPr lang="en-US" sz="2800" b="0" i="1" smtClean="0">
                              <a:latin typeface="Cambria Math" panose="02040503050406030204" pitchFamily="18" charset="0"/>
                            </a:rPr>
                            <m:t>,4</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b="0" i="1" smtClean="0">
                              <a:latin typeface="Cambria Math" panose="02040503050406030204" pitchFamily="18" charset="0"/>
                            </a:rPr>
                            <m:t>𝐶</m:t>
                          </m:r>
                        </m:sub>
                      </m:sSub>
                      <m:d>
                        <m:dPr>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𝐴</m:t>
                          </m:r>
                        </m:e>
                      </m:d>
                      <m:func>
                        <m:funcPr>
                          <m:ctrlPr>
                            <a:rPr lang="en-US" sz="2800" b="0" i="1" smtClean="0">
                              <a:latin typeface="Cambria Math" panose="02040503050406030204" pitchFamily="18" charset="0"/>
                            </a:rPr>
                          </m:ctrlPr>
                        </m:funcPr>
                        <m:fName>
                          <m:limLow>
                            <m:limLowPr>
                              <m:ctrlPr>
                                <a:rPr lang="en-US" sz="2800" b="0" i="0"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lim>
                          </m:limLow>
                        </m:fName>
                        <m:e>
                          <m:r>
                            <a:rPr lang="en-US" sz="2800" b="0" i="1" smtClean="0">
                              <a:latin typeface="Cambria Math" panose="02040503050406030204" pitchFamily="18" charset="0"/>
                            </a:rPr>
                            <m:t>(</m:t>
                          </m:r>
                        </m:e>
                      </m:func>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solidFill>
                                <a:srgbClr val="018ACF"/>
                              </a:solidFill>
                              <a:latin typeface="Cambria Math" panose="02040503050406030204" pitchFamily="18" charset="0"/>
                            </a:rPr>
                          </m:ctrlPr>
                        </m:dPr>
                        <m:e>
                          <m:r>
                            <a:rPr lang="en-US" sz="2800" b="0" i="1" smtClean="0">
                              <a:solidFill>
                                <a:srgbClr val="018ACF"/>
                              </a:solidFill>
                              <a:latin typeface="Cambria Math" panose="02040503050406030204" pitchFamily="18" charset="0"/>
                            </a:rPr>
                            <m:t>𝐶</m:t>
                          </m:r>
                          <m:r>
                            <a:rPr lang="en-US" sz="2800" i="1">
                              <a:latin typeface="Cambria Math" panose="02040503050406030204" pitchFamily="18" charset="0"/>
                            </a:rPr>
                            <m:t>,</m:t>
                          </m:r>
                          <m:r>
                            <a:rPr lang="en-US" sz="2800" b="0" i="1" smtClean="0">
                              <a:latin typeface="Cambria Math" panose="02040503050406030204" pitchFamily="18" charset="0"/>
                            </a:rPr>
                            <m:t>3</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i="1" smtClean="0">
                              <a:solidFill>
                                <a:srgbClr val="018ACF"/>
                              </a:solidFill>
                              <a:latin typeface="Cambria Math" panose="02040503050406030204" pitchFamily="18" charset="0"/>
                            </a:rPr>
                          </m:ctrlPr>
                        </m:dPr>
                        <m:e>
                          <m:r>
                            <a:rPr lang="en-US" sz="2800" i="1" smtClean="0">
                              <a:solidFill>
                                <a:srgbClr val="018ACF"/>
                              </a:solidFill>
                              <a:latin typeface="Cambria Math" panose="02040503050406030204" pitchFamily="18" charset="0"/>
                            </a:rPr>
                            <m:t>𝐶</m:t>
                          </m:r>
                          <m:r>
                            <a:rPr lang="en-US" sz="2800" i="1">
                              <a:latin typeface="Cambria Math" panose="02040503050406030204" pitchFamily="18" charset="0"/>
                            </a:rPr>
                            <m:t>,3</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m:t>
                          </m:r>
                          <m:r>
                            <a:rPr lang="en-US" sz="2800" i="1">
                              <a:latin typeface="Cambria Math" panose="02040503050406030204" pitchFamily="18" charset="0"/>
                            </a:rPr>
                            <m:t>𝐶</m:t>
                          </m:r>
                        </m:sub>
                      </m:sSub>
                      <m:r>
                        <a:rPr lang="en-US" sz="2800" b="0" i="1" smtClean="0">
                          <a:latin typeface="Cambria Math" panose="02040503050406030204" pitchFamily="18" charset="0"/>
                        </a:rPr>
                        <m:t>)</m:t>
                      </m:r>
                    </m:oMath>
                  </m:oMathPara>
                </a14:m>
                <a:endParaRPr lang="en-US" sz="2800" dirty="0"/>
              </a:p>
            </p:txBody>
          </p:sp>
        </mc:Choice>
        <mc:Fallback xmlns="">
          <p:sp>
            <p:nvSpPr>
              <p:cNvPr id="10" name="TextBox 9">
                <a:extLst>
                  <a:ext uri="{FF2B5EF4-FFF2-40B4-BE49-F238E27FC236}">
                    <a16:creationId xmlns:a16="http://schemas.microsoft.com/office/drawing/2014/main" id="{C8BC214B-5B3C-57E5-6757-EAEC9FF0575B}"/>
                  </a:ext>
                </a:extLst>
              </p:cNvPr>
              <p:cNvSpPr txBox="1">
                <a:spLocks noRot="1" noChangeAspect="1" noMove="1" noResize="1" noEditPoints="1" noAdjustHandles="1" noChangeArrowheads="1" noChangeShapeType="1" noTextEdit="1"/>
              </p:cNvSpPr>
              <p:nvPr/>
            </p:nvSpPr>
            <p:spPr>
              <a:xfrm>
                <a:off x="541141" y="5746803"/>
                <a:ext cx="8121595" cy="56368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523457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5944D-9524-E455-1A40-0F20734DC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0C750-9DB6-EB1A-24CD-74966419303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AB61C6BE-2041-35F3-3B28-0A3B3F9025C8}"/>
              </a:ext>
            </a:extLst>
          </p:cNvPr>
          <p:cNvSpPr>
            <a:spLocks noGrp="1"/>
          </p:cNvSpPr>
          <p:nvPr>
            <p:ph idx="1"/>
          </p:nvPr>
        </p:nvSpPr>
        <p:spPr>
          <a:xfrm>
            <a:off x="231007" y="1761423"/>
            <a:ext cx="10895798" cy="4880009"/>
          </a:xfrm>
        </p:spPr>
        <p:txBody>
          <a:bodyPr>
            <a:normAutofit/>
          </a:bodyPr>
          <a:lstStyle/>
          <a:p>
            <a:r>
              <a:rPr lang="en-US" dirty="0"/>
              <a:t>For simplicity, let’s convert </a:t>
            </a:r>
            <a:br>
              <a:rPr lang="en-US" dirty="0"/>
            </a:br>
            <a:r>
              <a:rPr lang="en-US" dirty="0"/>
              <a:t>everything to log</a:t>
            </a:r>
            <a:r>
              <a:rPr lang="en-US" baseline="-25000" dirty="0"/>
              <a:t>2</a:t>
            </a:r>
            <a:r>
              <a:rPr lang="en-US" dirty="0"/>
              <a:t>(p):</a:t>
            </a:r>
          </a:p>
        </p:txBody>
      </p:sp>
      <p:sp>
        <p:nvSpPr>
          <p:cNvPr id="4" name="Slide Number Placeholder 3">
            <a:extLst>
              <a:ext uri="{FF2B5EF4-FFF2-40B4-BE49-F238E27FC236}">
                <a16:creationId xmlns:a16="http://schemas.microsoft.com/office/drawing/2014/main" id="{47D17DEB-E4EC-E871-B749-95D9250FBB79}"/>
              </a:ext>
            </a:extLst>
          </p:cNvPr>
          <p:cNvSpPr>
            <a:spLocks noGrp="1"/>
          </p:cNvSpPr>
          <p:nvPr>
            <p:ph type="sldNum" sz="quarter" idx="12"/>
          </p:nvPr>
        </p:nvSpPr>
        <p:spPr/>
        <p:txBody>
          <a:bodyPr/>
          <a:lstStyle/>
          <a:p>
            <a:fld id="{B82CCC60-E8CD-4174-8B1A-7DF615B22EEF}" type="slidenum">
              <a:rPr lang="en-US" smtClean="0"/>
              <a:pPr/>
              <a:t>46</a:t>
            </a:fld>
            <a:endParaRPr lang="en-US"/>
          </a:p>
        </p:txBody>
      </p:sp>
      <p:sp>
        <p:nvSpPr>
          <p:cNvPr id="5" name="TextBox 4">
            <a:extLst>
              <a:ext uri="{FF2B5EF4-FFF2-40B4-BE49-F238E27FC236}">
                <a16:creationId xmlns:a16="http://schemas.microsoft.com/office/drawing/2014/main" id="{E577C657-FEBD-6103-9932-95AF30413860}"/>
              </a:ext>
            </a:extLst>
          </p:cNvPr>
          <p:cNvSpPr txBox="1"/>
          <p:nvPr/>
        </p:nvSpPr>
        <p:spPr>
          <a:xfrm>
            <a:off x="7366526" y="1947884"/>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8B82A3E-0485-1797-48E6-7BCEA460F3B5}"/>
              </a:ext>
            </a:extLst>
          </p:cNvPr>
          <p:cNvCxnSpPr>
            <a:cxnSpLocks/>
          </p:cNvCxnSpPr>
          <p:nvPr/>
        </p:nvCxnSpPr>
        <p:spPr>
          <a:xfrm flipH="1">
            <a:off x="6760135" y="2515774"/>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AE28BB0B-3FDF-5D1C-799D-9F0DED6BDD39}"/>
              </a:ext>
            </a:extLst>
          </p:cNvPr>
          <p:cNvCxnSpPr>
            <a:cxnSpLocks/>
          </p:cNvCxnSpPr>
          <p:nvPr/>
        </p:nvCxnSpPr>
        <p:spPr>
          <a:xfrm>
            <a:off x="7876665" y="2515774"/>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3FF821A0-B59A-A203-11DC-6273E1C8D880}"/>
              </a:ext>
            </a:extLst>
          </p:cNvPr>
          <p:cNvSpPr txBox="1"/>
          <p:nvPr/>
        </p:nvSpPr>
        <p:spPr>
          <a:xfrm>
            <a:off x="6731298" y="2331108"/>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4B1FD3A1-AA3D-D987-8417-5E4CF4A784B2}"/>
              </a:ext>
            </a:extLst>
          </p:cNvPr>
          <p:cNvSpPr txBox="1"/>
          <p:nvPr/>
        </p:nvSpPr>
        <p:spPr>
          <a:xfrm>
            <a:off x="8186278" y="2331108"/>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AA5291CE-F004-E685-F4FF-D5D4207D864D}"/>
              </a:ext>
            </a:extLst>
          </p:cNvPr>
          <p:cNvSpPr txBox="1"/>
          <p:nvPr/>
        </p:nvSpPr>
        <p:spPr>
          <a:xfrm>
            <a:off x="6260133" y="2892511"/>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A7C7B471-A4E8-D3F5-7A09-997EDE56D8BF}"/>
              </a:ext>
            </a:extLst>
          </p:cNvPr>
          <p:cNvSpPr txBox="1"/>
          <p:nvPr/>
        </p:nvSpPr>
        <p:spPr>
          <a:xfrm>
            <a:off x="8154699" y="2892511"/>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E8AD3631-8975-424F-BE34-92C20566789D}"/>
              </a:ext>
            </a:extLst>
          </p:cNvPr>
          <p:cNvCxnSpPr>
            <a:cxnSpLocks/>
          </p:cNvCxnSpPr>
          <p:nvPr/>
        </p:nvCxnSpPr>
        <p:spPr>
          <a:xfrm>
            <a:off x="7376576" y="352853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444C5F2-4673-D30F-1B53-C88530371C40}"/>
              </a:ext>
            </a:extLst>
          </p:cNvPr>
          <p:cNvCxnSpPr>
            <a:cxnSpLocks/>
          </p:cNvCxnSpPr>
          <p:nvPr/>
        </p:nvCxnSpPr>
        <p:spPr>
          <a:xfrm flipH="1">
            <a:off x="7376576" y="390527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6DA3F4DE-931B-FFB9-E05A-2C5D2AE510CC}"/>
              </a:ext>
            </a:extLst>
          </p:cNvPr>
          <p:cNvSpPr txBox="1"/>
          <p:nvPr/>
        </p:nvSpPr>
        <p:spPr>
          <a:xfrm>
            <a:off x="7408130" y="3189432"/>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5A879C79-0019-BA09-55C4-01EF3FCDD2A9}"/>
              </a:ext>
            </a:extLst>
          </p:cNvPr>
          <p:cNvSpPr txBox="1"/>
          <p:nvPr/>
        </p:nvSpPr>
        <p:spPr>
          <a:xfrm>
            <a:off x="7414508" y="3930854"/>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662B38B4-A41A-67EA-8A0A-5878B9F1406C}"/>
                  </a:ext>
                </a:extLst>
              </p14:cNvPr>
              <p14:cNvContentPartPr/>
              <p14:nvPr/>
            </p14:nvContentPartPr>
            <p14:xfrm>
              <a:off x="9275785" y="3060056"/>
              <a:ext cx="1329840" cy="1373040"/>
            </p14:xfrm>
          </p:contentPart>
        </mc:Choice>
        <mc:Fallback xmlns="">
          <p:pic>
            <p:nvPicPr>
              <p:cNvPr id="27" name="Ink 26">
                <a:extLst>
                  <a:ext uri="{FF2B5EF4-FFF2-40B4-BE49-F238E27FC236}">
                    <a16:creationId xmlns:a16="http://schemas.microsoft.com/office/drawing/2014/main" id="{662B38B4-A41A-67EA-8A0A-5878B9F1406C}"/>
                  </a:ext>
                </a:extLst>
              </p:cNvPr>
              <p:cNvPicPr/>
              <p:nvPr/>
            </p:nvPicPr>
            <p:blipFill>
              <a:blip r:embed="rId3"/>
              <a:stretch>
                <a:fillRect/>
              </a:stretch>
            </p:blipFill>
            <p:spPr>
              <a:xfrm>
                <a:off x="9269665" y="3053936"/>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21E48CD5-8ED7-20F7-39A3-541DE932D956}"/>
                  </a:ext>
                </a:extLst>
              </p14:cNvPr>
              <p14:cNvContentPartPr/>
              <p14:nvPr/>
            </p14:nvContentPartPr>
            <p14:xfrm rot="10800000">
              <a:off x="4754369" y="2927146"/>
              <a:ext cx="1329840" cy="1373040"/>
            </p14:xfrm>
          </p:contentPart>
        </mc:Choice>
        <mc:Fallback xmlns="">
          <p:pic>
            <p:nvPicPr>
              <p:cNvPr id="28" name="Ink 27">
                <a:extLst>
                  <a:ext uri="{FF2B5EF4-FFF2-40B4-BE49-F238E27FC236}">
                    <a16:creationId xmlns:a16="http://schemas.microsoft.com/office/drawing/2014/main" id="{21E48CD5-8ED7-20F7-39A3-541DE932D956}"/>
                  </a:ext>
                </a:extLst>
              </p:cNvPr>
              <p:cNvPicPr/>
              <p:nvPr/>
            </p:nvPicPr>
            <p:blipFill>
              <a:blip r:embed="rId3"/>
              <a:stretch>
                <a:fillRect/>
              </a:stretch>
            </p:blipFill>
            <p:spPr>
              <a:xfrm rot="10800000">
                <a:off x="4748249" y="2921026"/>
                <a:ext cx="1342080" cy="1385280"/>
              </a:xfrm>
              <a:prstGeom prst="rect">
                <a:avLst/>
              </a:prstGeom>
            </p:spPr>
          </p:pic>
        </mc:Fallback>
      </mc:AlternateContent>
      <p:sp>
        <p:nvSpPr>
          <p:cNvPr id="29" name="TextBox 28">
            <a:extLst>
              <a:ext uri="{FF2B5EF4-FFF2-40B4-BE49-F238E27FC236}">
                <a16:creationId xmlns:a16="http://schemas.microsoft.com/office/drawing/2014/main" id="{D0A320EC-7F46-0796-DDB9-D13004868453}"/>
              </a:ext>
            </a:extLst>
          </p:cNvPr>
          <p:cNvSpPr txBox="1"/>
          <p:nvPr/>
        </p:nvSpPr>
        <p:spPr>
          <a:xfrm>
            <a:off x="4254928" y="3429000"/>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D750B36E-962F-5E03-1E90-7396FA491A9F}"/>
              </a:ext>
            </a:extLst>
          </p:cNvPr>
          <p:cNvSpPr txBox="1"/>
          <p:nvPr/>
        </p:nvSpPr>
        <p:spPr>
          <a:xfrm>
            <a:off x="10650393" y="3492133"/>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3197633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2E577-C5ED-CCEB-3703-88F38B90D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49E75-3209-CCB0-7188-C2507BD0C1C1}"/>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B849527A-14E6-96AD-7488-4AC360433817}"/>
              </a:ext>
            </a:extLst>
          </p:cNvPr>
          <p:cNvSpPr>
            <a:spLocks noGrp="1"/>
          </p:cNvSpPr>
          <p:nvPr>
            <p:ph idx="1"/>
          </p:nvPr>
        </p:nvSpPr>
        <p:spPr>
          <a:xfrm>
            <a:off x="231007" y="1761423"/>
            <a:ext cx="10895798" cy="4880009"/>
          </a:xfrm>
        </p:spPr>
        <p:txBody>
          <a:bodyPr>
            <a:normAutofit/>
          </a:bodyPr>
          <a:lstStyle/>
          <a:p>
            <a:r>
              <a:rPr lang="en-US" dirty="0"/>
              <a:t>For simplicity, let’s convert </a:t>
            </a:r>
            <a:br>
              <a:rPr lang="en-US" dirty="0"/>
            </a:br>
            <a:r>
              <a:rPr lang="en-US" dirty="0"/>
              <a:t>everything to log</a:t>
            </a:r>
            <a:r>
              <a:rPr lang="en-US" baseline="-25000" dirty="0"/>
              <a:t>2</a:t>
            </a:r>
            <a:r>
              <a:rPr lang="en-US" dirty="0"/>
              <a:t>(p):</a:t>
            </a:r>
          </a:p>
          <a:p>
            <a:endParaRPr lang="en-US" dirty="0"/>
          </a:p>
          <a:p>
            <a:r>
              <a:rPr lang="en-US" dirty="0"/>
              <a:t>This allows us to add</a:t>
            </a:r>
            <a:br>
              <a:rPr lang="en-US" dirty="0"/>
            </a:br>
            <a:r>
              <a:rPr lang="en-US" dirty="0"/>
              <a:t>probabilities instead of</a:t>
            </a:r>
            <a:br>
              <a:rPr lang="en-US" dirty="0"/>
            </a:br>
            <a:r>
              <a:rPr lang="en-US" dirty="0"/>
              <a:t>multiplying, which is</a:t>
            </a:r>
            <a:br>
              <a:rPr lang="en-US" dirty="0"/>
            </a:br>
            <a:r>
              <a:rPr lang="en-US" dirty="0"/>
              <a:t>more efficient and accurate</a:t>
            </a:r>
          </a:p>
        </p:txBody>
      </p:sp>
      <p:sp>
        <p:nvSpPr>
          <p:cNvPr id="4" name="Slide Number Placeholder 3">
            <a:extLst>
              <a:ext uri="{FF2B5EF4-FFF2-40B4-BE49-F238E27FC236}">
                <a16:creationId xmlns:a16="http://schemas.microsoft.com/office/drawing/2014/main" id="{923F1210-5606-4BD3-D789-0683B276E921}"/>
              </a:ext>
            </a:extLst>
          </p:cNvPr>
          <p:cNvSpPr>
            <a:spLocks noGrp="1"/>
          </p:cNvSpPr>
          <p:nvPr>
            <p:ph type="sldNum" sz="quarter" idx="12"/>
          </p:nvPr>
        </p:nvSpPr>
        <p:spPr/>
        <p:txBody>
          <a:bodyPr/>
          <a:lstStyle/>
          <a:p>
            <a:fld id="{B82CCC60-E8CD-4174-8B1A-7DF615B22EEF}" type="slidenum">
              <a:rPr lang="en-US" smtClean="0"/>
              <a:pPr/>
              <a:t>47</a:t>
            </a:fld>
            <a:endParaRPr lang="en-US"/>
          </a:p>
        </p:txBody>
      </p:sp>
      <p:sp>
        <p:nvSpPr>
          <p:cNvPr id="5" name="TextBox 4">
            <a:extLst>
              <a:ext uri="{FF2B5EF4-FFF2-40B4-BE49-F238E27FC236}">
                <a16:creationId xmlns:a16="http://schemas.microsoft.com/office/drawing/2014/main" id="{7B91244F-0D89-6457-BE1E-D53CFA222DE0}"/>
              </a:ext>
            </a:extLst>
          </p:cNvPr>
          <p:cNvSpPr txBox="1"/>
          <p:nvPr/>
        </p:nvSpPr>
        <p:spPr>
          <a:xfrm>
            <a:off x="7366526" y="1947884"/>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9309ABE6-53B0-517B-5A65-71627E4731DA}"/>
              </a:ext>
            </a:extLst>
          </p:cNvPr>
          <p:cNvCxnSpPr>
            <a:cxnSpLocks/>
          </p:cNvCxnSpPr>
          <p:nvPr/>
        </p:nvCxnSpPr>
        <p:spPr>
          <a:xfrm flipH="1">
            <a:off x="6760135" y="2515774"/>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1E132741-4680-E44E-6C2C-BDF23273CFE0}"/>
              </a:ext>
            </a:extLst>
          </p:cNvPr>
          <p:cNvCxnSpPr>
            <a:cxnSpLocks/>
          </p:cNvCxnSpPr>
          <p:nvPr/>
        </p:nvCxnSpPr>
        <p:spPr>
          <a:xfrm>
            <a:off x="7876665" y="2515774"/>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4E37393-F444-7840-A7D4-338583C70398}"/>
              </a:ext>
            </a:extLst>
          </p:cNvPr>
          <p:cNvSpPr txBox="1"/>
          <p:nvPr/>
        </p:nvSpPr>
        <p:spPr>
          <a:xfrm>
            <a:off x="6731298" y="2331108"/>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1C9B785-62F4-D44B-C80C-490A5EB36254}"/>
              </a:ext>
            </a:extLst>
          </p:cNvPr>
          <p:cNvSpPr txBox="1"/>
          <p:nvPr/>
        </p:nvSpPr>
        <p:spPr>
          <a:xfrm>
            <a:off x="8186278" y="2331108"/>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7BB59851-821A-8094-AA7B-9DD70073DBCA}"/>
              </a:ext>
            </a:extLst>
          </p:cNvPr>
          <p:cNvSpPr txBox="1"/>
          <p:nvPr/>
        </p:nvSpPr>
        <p:spPr>
          <a:xfrm>
            <a:off x="5961822" y="2892511"/>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09F47C8-9CAF-9575-4EE4-F6C3FEECACA8}"/>
              </a:ext>
            </a:extLst>
          </p:cNvPr>
          <p:cNvSpPr txBox="1"/>
          <p:nvPr/>
        </p:nvSpPr>
        <p:spPr>
          <a:xfrm>
            <a:off x="8154699" y="2892511"/>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BA3060B-CA71-FA12-D2B1-7A8358B3ED6E}"/>
              </a:ext>
            </a:extLst>
          </p:cNvPr>
          <p:cNvCxnSpPr>
            <a:cxnSpLocks/>
          </p:cNvCxnSpPr>
          <p:nvPr/>
        </p:nvCxnSpPr>
        <p:spPr>
          <a:xfrm>
            <a:off x="7376576" y="360862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3620E1F6-7AF6-86FE-D2EA-4896592671DE}"/>
              </a:ext>
            </a:extLst>
          </p:cNvPr>
          <p:cNvCxnSpPr>
            <a:cxnSpLocks/>
          </p:cNvCxnSpPr>
          <p:nvPr/>
        </p:nvCxnSpPr>
        <p:spPr>
          <a:xfrm flipH="1">
            <a:off x="7376576" y="390527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2AC32336-7B9B-65EA-E5AA-DBE52D3F82D8}"/>
              </a:ext>
            </a:extLst>
          </p:cNvPr>
          <p:cNvSpPr txBox="1"/>
          <p:nvPr/>
        </p:nvSpPr>
        <p:spPr>
          <a:xfrm>
            <a:off x="7449637" y="3171305"/>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2675C1AD-9059-15EF-77E3-A35CB9C3670B}"/>
              </a:ext>
            </a:extLst>
          </p:cNvPr>
          <p:cNvSpPr txBox="1"/>
          <p:nvPr/>
        </p:nvSpPr>
        <p:spPr>
          <a:xfrm>
            <a:off x="7311535" y="3931683"/>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9A4B3183-0557-32C1-755A-EE89B9ACE3BE}"/>
                  </a:ext>
                </a:extLst>
              </p14:cNvPr>
              <p14:cNvContentPartPr/>
              <p14:nvPr/>
            </p14:nvContentPartPr>
            <p14:xfrm>
              <a:off x="9532722" y="3060868"/>
              <a:ext cx="1329840" cy="1373040"/>
            </p14:xfrm>
          </p:contentPart>
        </mc:Choice>
        <mc:Fallback xmlns="">
          <p:pic>
            <p:nvPicPr>
              <p:cNvPr id="27" name="Ink 26">
                <a:extLst>
                  <a:ext uri="{FF2B5EF4-FFF2-40B4-BE49-F238E27FC236}">
                    <a16:creationId xmlns:a16="http://schemas.microsoft.com/office/drawing/2014/main" id="{9A4B3183-0557-32C1-755A-EE89B9ACE3BE}"/>
                  </a:ext>
                </a:extLst>
              </p:cNvPr>
              <p:cNvPicPr/>
              <p:nvPr/>
            </p:nvPicPr>
            <p:blipFill>
              <a:blip r:embed="rId3"/>
              <a:stretch>
                <a:fillRect/>
              </a:stretch>
            </p:blipFill>
            <p:spPr>
              <a:xfrm>
                <a:off x="9526602" y="3054748"/>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6E038DFD-8B9C-7BAD-A21E-4B3CC9494039}"/>
                  </a:ext>
                </a:extLst>
              </p14:cNvPr>
              <p14:cNvContentPartPr/>
              <p14:nvPr/>
            </p14:nvContentPartPr>
            <p14:xfrm rot="10800000">
              <a:off x="4549405" y="2928705"/>
              <a:ext cx="1329840" cy="1373040"/>
            </p14:xfrm>
          </p:contentPart>
        </mc:Choice>
        <mc:Fallback xmlns="">
          <p:pic>
            <p:nvPicPr>
              <p:cNvPr id="28" name="Ink 27">
                <a:extLst>
                  <a:ext uri="{FF2B5EF4-FFF2-40B4-BE49-F238E27FC236}">
                    <a16:creationId xmlns:a16="http://schemas.microsoft.com/office/drawing/2014/main" id="{6E038DFD-8B9C-7BAD-A21E-4B3CC9494039}"/>
                  </a:ext>
                </a:extLst>
              </p:cNvPr>
              <p:cNvPicPr/>
              <p:nvPr/>
            </p:nvPicPr>
            <p:blipFill>
              <a:blip r:embed="rId5"/>
              <a:stretch>
                <a:fillRect/>
              </a:stretch>
            </p:blipFill>
            <p:spPr>
              <a:xfrm rot="10800000">
                <a:off x="4543285" y="2922585"/>
                <a:ext cx="1342080" cy="1385280"/>
              </a:xfrm>
              <a:prstGeom prst="rect">
                <a:avLst/>
              </a:prstGeom>
            </p:spPr>
          </p:pic>
        </mc:Fallback>
      </mc:AlternateContent>
      <p:sp>
        <p:nvSpPr>
          <p:cNvPr id="29" name="TextBox 28">
            <a:extLst>
              <a:ext uri="{FF2B5EF4-FFF2-40B4-BE49-F238E27FC236}">
                <a16:creationId xmlns:a16="http://schemas.microsoft.com/office/drawing/2014/main" id="{4D3277C0-11C2-C212-D4F2-0F9A5D7D4F7C}"/>
              </a:ext>
            </a:extLst>
          </p:cNvPr>
          <p:cNvSpPr txBox="1"/>
          <p:nvPr/>
        </p:nvSpPr>
        <p:spPr>
          <a:xfrm>
            <a:off x="5033400" y="3423959"/>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CC646632-9461-9334-6023-8EFD6FE1A7B5}"/>
              </a:ext>
            </a:extLst>
          </p:cNvPr>
          <p:cNvSpPr txBox="1"/>
          <p:nvPr/>
        </p:nvSpPr>
        <p:spPr>
          <a:xfrm>
            <a:off x="9823209" y="3504889"/>
            <a:ext cx="780983" cy="369332"/>
          </a:xfrm>
          <a:prstGeom prst="rect">
            <a:avLst/>
          </a:prstGeom>
          <a:noFill/>
        </p:spPr>
        <p:txBody>
          <a:bodyPr wrap="none" rtlCol="0">
            <a:spAutoFit/>
          </a:bodyPr>
          <a:lstStyle/>
          <a:p>
            <a:r>
              <a:rPr lang="en-US" dirty="0"/>
              <a:t>-0.737</a:t>
            </a:r>
          </a:p>
        </p:txBody>
      </p:sp>
    </p:spTree>
    <p:extLst>
      <p:ext uri="{BB962C8B-B14F-4D97-AF65-F5344CB8AC3E}">
        <p14:creationId xmlns:p14="http://schemas.microsoft.com/office/powerpoint/2010/main" val="2537798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AE38-039B-4447-2245-CF422E701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F7082-FFD8-E80B-D0E8-FE1803A7486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C06C58E6-2353-4477-3014-F10A2B206E1D}"/>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rgbClr val="FF0000"/>
                </a:solidFill>
              </a:rPr>
              <a:t>G</a:t>
            </a:r>
            <a:r>
              <a:rPr lang="en-US" b="1" dirty="0"/>
              <a:t>GCACTGAA</a:t>
            </a:r>
            <a:endParaRPr lang="en-US" dirty="0"/>
          </a:p>
          <a:p>
            <a:r>
              <a:rPr lang="en-US" dirty="0"/>
              <a:t>Log probability that the first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first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56AF6888-5503-D188-CEDA-D9026FD626C9}"/>
              </a:ext>
            </a:extLst>
          </p:cNvPr>
          <p:cNvSpPr>
            <a:spLocks noGrp="1"/>
          </p:cNvSpPr>
          <p:nvPr>
            <p:ph type="sldNum" sz="quarter" idx="12"/>
          </p:nvPr>
        </p:nvSpPr>
        <p:spPr/>
        <p:txBody>
          <a:bodyPr/>
          <a:lstStyle/>
          <a:p>
            <a:fld id="{B82CCC60-E8CD-4174-8B1A-7DF615B22EEF}" type="slidenum">
              <a:rPr lang="en-US" smtClean="0"/>
              <a:pPr/>
              <a:t>48</a:t>
            </a:fld>
            <a:endParaRPr lang="en-US"/>
          </a:p>
        </p:txBody>
      </p:sp>
      <p:sp>
        <p:nvSpPr>
          <p:cNvPr id="5" name="TextBox 4">
            <a:extLst>
              <a:ext uri="{FF2B5EF4-FFF2-40B4-BE49-F238E27FC236}">
                <a16:creationId xmlns:a16="http://schemas.microsoft.com/office/drawing/2014/main" id="{3DF5CC4C-6DCD-E279-592D-413B231C9AB1}"/>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0A2F671A-4534-4F1B-19A8-8275662BDDE2}"/>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A7D70554-9BC3-4745-9BE3-7597885C8A8E}"/>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075BE31F-5B7B-D8F2-833C-14D2331F80F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C1169E1-A8F9-F089-3EB0-5600DDCD00D4}"/>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46D161F2-10C0-AAD1-82C2-07982963B0C2}"/>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F36F3175-EF6C-AC89-B6B4-BEA534D3BC26}"/>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FB935BEC-E80A-4901-0E69-A806229EE6C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46D4757-B552-D285-3EEB-71DC3921D92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4D77DA30-59BA-D2C0-3FD0-226CA3FEAE4A}"/>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C434D29-F9DA-8510-9F7F-9F629B373AD6}"/>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AF3EBFD-97E7-1DDF-9460-CE45B409A8B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AF3EBFD-97E7-1DDF-9460-CE45B409A8B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0719D1FF-015E-2CFD-D7B4-AADB312CAC7D}"/>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0719D1FF-015E-2CFD-D7B4-AADB312CAC7D}"/>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F44C4D70-C0C3-4E13-8150-BC09B025A391}"/>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2768F922-B83B-1E70-6AD9-D17981785E20}"/>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D57122-3615-587B-0E96-78F13F620B8E}"/>
                  </a:ext>
                </a:extLst>
              </p:cNvPr>
              <p:cNvSpPr txBox="1"/>
              <p:nvPr/>
            </p:nvSpPr>
            <p:spPr>
              <a:xfrm>
                <a:off x="76444" y="3429000"/>
                <a:ext cx="5208841"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i="1">
                          <a:latin typeface="Cambria Math" panose="02040503050406030204" pitchFamily="18" charset="0"/>
                        </a:rPr>
                        <m:t>−1−1.737=−2.737</m:t>
                      </m:r>
                    </m:oMath>
                  </m:oMathPara>
                </a14:m>
                <a:endParaRPr lang="en-US" sz="2800" dirty="0"/>
              </a:p>
            </p:txBody>
          </p:sp>
        </mc:Choice>
        <mc:Fallback xmlns="">
          <p:sp>
            <p:nvSpPr>
              <p:cNvPr id="6" name="TextBox 5">
                <a:extLst>
                  <a:ext uri="{FF2B5EF4-FFF2-40B4-BE49-F238E27FC236}">
                    <a16:creationId xmlns:a16="http://schemas.microsoft.com/office/drawing/2014/main" id="{95D57122-3615-587B-0E96-78F13F620B8E}"/>
                  </a:ext>
                </a:extLst>
              </p:cNvPr>
              <p:cNvSpPr txBox="1">
                <a:spLocks noRot="1" noChangeAspect="1" noMove="1" noResize="1" noEditPoints="1" noAdjustHandles="1" noChangeArrowheads="1" noChangeShapeType="1" noTextEdit="1"/>
              </p:cNvSpPr>
              <p:nvPr/>
            </p:nvSpPr>
            <p:spPr>
              <a:xfrm>
                <a:off x="76444" y="3429000"/>
                <a:ext cx="5208841"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D1EF8F-78D7-6810-488E-BDAE9C386E3E}"/>
                  </a:ext>
                </a:extLst>
              </p:cNvPr>
              <p:cNvSpPr txBox="1"/>
              <p:nvPr/>
            </p:nvSpPr>
            <p:spPr>
              <a:xfrm>
                <a:off x="76444" y="5527464"/>
                <a:ext cx="5208841"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i="1">
                          <a:latin typeface="Cambria Math" panose="02040503050406030204" pitchFamily="18" charset="0"/>
                        </a:rPr>
                        <m:t>−1−</m:t>
                      </m:r>
                      <m:r>
                        <a:rPr lang="en-US" sz="2800" b="0" i="1" smtClean="0">
                          <a:latin typeface="Cambria Math" panose="02040503050406030204" pitchFamily="18" charset="0"/>
                        </a:rPr>
                        <m:t>2.322</m:t>
                      </m:r>
                      <m:r>
                        <a:rPr lang="en-US" sz="2800" i="1">
                          <a:latin typeface="Cambria Math" panose="02040503050406030204" pitchFamily="18" charset="0"/>
                        </a:rPr>
                        <m:t>=−</m:t>
                      </m:r>
                      <m:r>
                        <a:rPr lang="en-US" sz="2800" b="0" i="1" smtClean="0">
                          <a:latin typeface="Cambria Math" panose="02040503050406030204" pitchFamily="18" charset="0"/>
                        </a:rPr>
                        <m:t>3.322</m:t>
                      </m:r>
                    </m:oMath>
                  </m:oMathPara>
                </a14:m>
                <a:endParaRPr lang="en-US" sz="2800" dirty="0"/>
              </a:p>
            </p:txBody>
          </p:sp>
        </mc:Choice>
        <mc:Fallback xmlns="">
          <p:sp>
            <p:nvSpPr>
              <p:cNvPr id="8" name="TextBox 7">
                <a:extLst>
                  <a:ext uri="{FF2B5EF4-FFF2-40B4-BE49-F238E27FC236}">
                    <a16:creationId xmlns:a16="http://schemas.microsoft.com/office/drawing/2014/main" id="{EDD1EF8F-78D7-6810-488E-BDAE9C386E3E}"/>
                  </a:ext>
                </a:extLst>
              </p:cNvPr>
              <p:cNvSpPr txBox="1">
                <a:spLocks noRot="1" noChangeAspect="1" noMove="1" noResize="1" noEditPoints="1" noAdjustHandles="1" noChangeArrowheads="1" noChangeShapeType="1" noTextEdit="1"/>
              </p:cNvSpPr>
              <p:nvPr/>
            </p:nvSpPr>
            <p:spPr>
              <a:xfrm>
                <a:off x="76444" y="5527464"/>
                <a:ext cx="5208841"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46733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C62D-3DA5-D05D-1AC7-41483E899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C9BD5-0AC4-3B0D-4A73-A13D3B77AC16}"/>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5969A435-D433-07A6-8B5E-BCE4BC84522E}"/>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8E903A0E-2681-075D-844A-70B853F54877}"/>
              </a:ext>
            </a:extLst>
          </p:cNvPr>
          <p:cNvSpPr>
            <a:spLocks noGrp="1"/>
          </p:cNvSpPr>
          <p:nvPr>
            <p:ph type="sldNum" sz="quarter" idx="12"/>
          </p:nvPr>
        </p:nvSpPr>
        <p:spPr/>
        <p:txBody>
          <a:bodyPr/>
          <a:lstStyle/>
          <a:p>
            <a:fld id="{B82CCC60-E8CD-4174-8B1A-7DF615B22EEF}" type="slidenum">
              <a:rPr lang="en-US" smtClean="0"/>
              <a:pPr/>
              <a:t>49</a:t>
            </a:fld>
            <a:endParaRPr lang="en-US"/>
          </a:p>
        </p:txBody>
      </p:sp>
      <p:sp>
        <p:nvSpPr>
          <p:cNvPr id="5" name="TextBox 4">
            <a:extLst>
              <a:ext uri="{FF2B5EF4-FFF2-40B4-BE49-F238E27FC236}">
                <a16:creationId xmlns:a16="http://schemas.microsoft.com/office/drawing/2014/main" id="{041599CF-D883-70DB-5541-6ECFA4535EC4}"/>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1508747C-7137-2AF6-0D8E-179CA5750C95}"/>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2656253-496D-923C-29FD-CC7A01CB84F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740AD09-D3EC-DE80-C01A-4F8C0FA36208}"/>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7954D5AC-4FA2-AD81-96FE-5497875FA6C2}"/>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5DDFA975-00D6-1694-134D-60B7508F57C6}"/>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C50C56A9-E1CB-7EA1-4B15-0A4988449ACC}"/>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2498D920-BF07-330B-CF83-7BE0C216A494}"/>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69B9CA2-1F4A-C01A-30CA-AE82555289D9}"/>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31A8E76-DE19-BE1E-EFD1-1E4169D7701A}"/>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2750610-170B-389C-4D8E-AAFE8200A21D}"/>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17E33069-29D3-8807-E0B8-23D12AA9426E}"/>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17E33069-29D3-8807-E0B8-23D12AA9426E}"/>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B77136E-ED72-7E25-8A04-B354660B1229}"/>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B77136E-ED72-7E25-8A04-B354660B1229}"/>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E5057914-1D20-5CCA-79F4-F0BC16A23466}"/>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3F9CFC80-AB6F-5FC1-B9E8-B02338367128}"/>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D01EF8-4402-C8E2-9971-B56E100D8CD5}"/>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r>
                                    <a:rPr lang="en-US" sz="2800" b="0" i="1" smtClean="0">
                                      <a:latin typeface="Cambria Math" panose="02040503050406030204" pitchFamily="18" charset="0"/>
                                    </a:rPr>
                                    <m:t>𝐶</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50D01EF8-4402-C8E2-9971-B56E100D8CD5}"/>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248F9EE-B4BC-1B3A-4E63-862CEA5D5FF7}"/>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5248F9EE-B4BC-1B3A-4E63-862CEA5D5FF7}"/>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99968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88EF-D146-06E0-F841-86B60A46A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20023-2A85-7B34-0AC9-AD76C74D6680}"/>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6EC04BBE-5CB5-9A21-94B8-99329501EE71}"/>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F21B8868-33B7-A429-ACCA-5C76B437D7EC}"/>
              </a:ext>
            </a:extLst>
          </p:cNvPr>
          <p:cNvSpPr>
            <a:spLocks noGrp="1"/>
          </p:cNvSpPr>
          <p:nvPr>
            <p:ph type="sldNum" sz="quarter" idx="12"/>
          </p:nvPr>
        </p:nvSpPr>
        <p:spPr/>
        <p:txBody>
          <a:bodyPr/>
          <a:lstStyle/>
          <a:p>
            <a:fld id="{B82CCC60-E8CD-4174-8B1A-7DF615B22EEF}" type="slidenum">
              <a:rPr lang="en-US" smtClean="0"/>
              <a:pPr/>
              <a:t>50</a:t>
            </a:fld>
            <a:endParaRPr lang="en-US" dirty="0"/>
          </a:p>
        </p:txBody>
      </p:sp>
      <p:sp>
        <p:nvSpPr>
          <p:cNvPr id="5" name="TextBox 4">
            <a:extLst>
              <a:ext uri="{FF2B5EF4-FFF2-40B4-BE49-F238E27FC236}">
                <a16:creationId xmlns:a16="http://schemas.microsoft.com/office/drawing/2014/main" id="{1A7D3883-5E4B-8893-A248-D83D5797DF2E}"/>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95ECE31C-F41C-AD07-2BC1-3ABA9F7034D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73E8E49-8039-3826-D3C4-B1C2A03B5303}"/>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54551B2-5464-652C-6358-F0EABAC07FF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16CB6DD-1A54-1BE0-C652-2468CF9B9B8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2FDF38AB-524F-D723-DC74-98D4467F6CC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43235F08-914F-9041-022F-075CC67824E4}"/>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0E0E059C-9872-DFD0-F099-6A7C448095D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6E83DF9-CD2F-2B8B-079C-891A3DD17D1C}"/>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2419E6B-9CBE-329F-803F-D4876AFAF5FB}"/>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C6086DB1-DCE0-1F5C-2752-62DC222B7B7B}"/>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EEAD7D7D-56CB-1290-2796-7D3AFD60BACE}"/>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EEAD7D7D-56CB-1290-2796-7D3AFD60BACE}"/>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8C021A9-9344-302C-F924-7611D8C59C4C}"/>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98C021A9-9344-302C-F924-7611D8C59C4C}"/>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4889560-51D9-9C4F-16C3-7B8F66243073}"/>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BC69D2F9-4DAF-7EB9-9507-6129B6FB920B}"/>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70661C-6DE6-E023-6B01-C5617F40FCF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r>
                                    <a:rPr lang="en-US" sz="2800" b="0" i="1" smtClean="0">
                                      <a:latin typeface="Cambria Math" panose="02040503050406030204" pitchFamily="18" charset="0"/>
                                    </a:rPr>
                                    <m:t>𝐶</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9F70661C-6DE6-E023-6B01-C5617F40FCF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92928E1-309C-82CC-5433-BF1BA91A35A3}"/>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092928E1-309C-82CC-5433-BF1BA91A35A3}"/>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26D895C-F46C-748E-8484-3DABAA5CC9E9}"/>
              </a:ext>
            </a:extLst>
          </p:cNvPr>
          <p:cNvSpPr txBox="1"/>
          <p:nvPr/>
        </p:nvSpPr>
        <p:spPr>
          <a:xfrm>
            <a:off x="5344220" y="4573208"/>
            <a:ext cx="968535" cy="369332"/>
          </a:xfrm>
          <a:prstGeom prst="rect">
            <a:avLst/>
          </a:prstGeom>
          <a:noFill/>
        </p:spPr>
        <p:txBody>
          <a:bodyPr wrap="none" rtlCol="0">
            <a:spAutoFit/>
          </a:bodyPr>
          <a:lstStyle/>
          <a:p>
            <a:r>
              <a:rPr lang="en-US" dirty="0"/>
              <a:t>-2.737-1</a:t>
            </a:r>
          </a:p>
        </p:txBody>
      </p:sp>
      <p:sp>
        <p:nvSpPr>
          <p:cNvPr id="8" name="TextBox 7">
            <a:extLst>
              <a:ext uri="{FF2B5EF4-FFF2-40B4-BE49-F238E27FC236}">
                <a16:creationId xmlns:a16="http://schemas.microsoft.com/office/drawing/2014/main" id="{9345B030-0901-7137-02D1-41294CF03029}"/>
              </a:ext>
            </a:extLst>
          </p:cNvPr>
          <p:cNvSpPr txBox="1"/>
          <p:nvPr/>
        </p:nvSpPr>
        <p:spPr>
          <a:xfrm>
            <a:off x="7496422" y="4582656"/>
            <a:ext cx="1377300" cy="369332"/>
          </a:xfrm>
          <a:prstGeom prst="rect">
            <a:avLst/>
          </a:prstGeom>
          <a:noFill/>
        </p:spPr>
        <p:txBody>
          <a:bodyPr wrap="none" rtlCol="0">
            <a:spAutoFit/>
          </a:bodyPr>
          <a:lstStyle/>
          <a:p>
            <a:r>
              <a:rPr lang="en-US" dirty="0"/>
              <a:t>-3.322-1.322</a:t>
            </a:r>
          </a:p>
        </p:txBody>
      </p:sp>
      <p:sp>
        <p:nvSpPr>
          <p:cNvPr id="15" name="TextBox 14">
            <a:extLst>
              <a:ext uri="{FF2B5EF4-FFF2-40B4-BE49-F238E27FC236}">
                <a16:creationId xmlns:a16="http://schemas.microsoft.com/office/drawing/2014/main" id="{FF721369-2FDA-447F-7223-E5700F53F534}"/>
              </a:ext>
            </a:extLst>
          </p:cNvPr>
          <p:cNvSpPr txBox="1"/>
          <p:nvPr/>
        </p:nvSpPr>
        <p:spPr>
          <a:xfrm>
            <a:off x="5194638" y="6192431"/>
            <a:ext cx="968535" cy="369332"/>
          </a:xfrm>
          <a:prstGeom prst="rect">
            <a:avLst/>
          </a:prstGeom>
          <a:noFill/>
        </p:spPr>
        <p:txBody>
          <a:bodyPr wrap="none" rtlCol="0">
            <a:spAutoFit/>
          </a:bodyPr>
          <a:lstStyle/>
          <a:p>
            <a:r>
              <a:rPr lang="en-US" dirty="0"/>
              <a:t>-2.737-1</a:t>
            </a:r>
          </a:p>
        </p:txBody>
      </p:sp>
      <p:sp>
        <p:nvSpPr>
          <p:cNvPr id="18" name="TextBox 17">
            <a:extLst>
              <a:ext uri="{FF2B5EF4-FFF2-40B4-BE49-F238E27FC236}">
                <a16:creationId xmlns:a16="http://schemas.microsoft.com/office/drawing/2014/main" id="{5F32D477-882D-BC60-8AB1-4A2A79351211}"/>
              </a:ext>
            </a:extLst>
          </p:cNvPr>
          <p:cNvSpPr txBox="1"/>
          <p:nvPr/>
        </p:nvSpPr>
        <p:spPr>
          <a:xfrm>
            <a:off x="7472071" y="6186246"/>
            <a:ext cx="1377300" cy="369332"/>
          </a:xfrm>
          <a:prstGeom prst="rect">
            <a:avLst/>
          </a:prstGeom>
          <a:noFill/>
        </p:spPr>
        <p:txBody>
          <a:bodyPr wrap="none" rtlCol="0">
            <a:spAutoFit/>
          </a:bodyPr>
          <a:lstStyle/>
          <a:p>
            <a:r>
              <a:rPr lang="en-US" dirty="0"/>
              <a:t>-3.322-0.737</a:t>
            </a:r>
          </a:p>
        </p:txBody>
      </p:sp>
    </p:spTree>
    <p:extLst>
      <p:ext uri="{BB962C8B-B14F-4D97-AF65-F5344CB8AC3E}">
        <p14:creationId xmlns:p14="http://schemas.microsoft.com/office/powerpoint/2010/main" val="2702561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6D47-634F-495A-ACA9-6DAB8815D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45CF8-0F74-D3F9-48FF-DD6E7F5F431E}"/>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55550C50-0842-F47C-561F-930B2F9E0FE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EBF01CD7-ACC8-D651-D96E-B59D7B5EAC52}"/>
              </a:ext>
            </a:extLst>
          </p:cNvPr>
          <p:cNvSpPr>
            <a:spLocks noGrp="1"/>
          </p:cNvSpPr>
          <p:nvPr>
            <p:ph type="sldNum" sz="quarter" idx="12"/>
          </p:nvPr>
        </p:nvSpPr>
        <p:spPr/>
        <p:txBody>
          <a:bodyPr/>
          <a:lstStyle/>
          <a:p>
            <a:fld id="{B82CCC60-E8CD-4174-8B1A-7DF615B22EEF}" type="slidenum">
              <a:rPr lang="en-US" smtClean="0"/>
              <a:pPr/>
              <a:t>51</a:t>
            </a:fld>
            <a:endParaRPr lang="en-US" dirty="0"/>
          </a:p>
        </p:txBody>
      </p:sp>
      <p:sp>
        <p:nvSpPr>
          <p:cNvPr id="5" name="TextBox 4">
            <a:extLst>
              <a:ext uri="{FF2B5EF4-FFF2-40B4-BE49-F238E27FC236}">
                <a16:creationId xmlns:a16="http://schemas.microsoft.com/office/drawing/2014/main" id="{67570C68-B793-E963-305F-027C30E016E2}"/>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E462C03-E70F-C153-2996-3FB2ECC316A6}"/>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F0DEC7AA-2018-27D8-3663-E974A88F2C6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087A251-D48B-D07F-A799-21EF7753BC2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9F685725-A9E2-76C5-390A-4E7D61F611AA}"/>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08A7AD5D-5D29-FC53-B569-5807381282D4}"/>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92A58C9D-A2B3-2194-9CBE-EC0E4DFE502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66F6BE74-FB6F-9BB1-ACBE-6C1AC237618C}"/>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9642B51-1C40-C41B-9CEB-CC1ED796868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FEC2E37-8F78-0566-7C59-F771F111CA15}"/>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03BE4FF2-6BDD-366A-B125-A05804E16EC4}"/>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B34C872-C7E9-9C97-073A-0AFE83519DB0}"/>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B34C872-C7E9-9C97-073A-0AFE83519DB0}"/>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41CBFED-A52E-AF75-1585-8193672F260B}"/>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41CBFED-A52E-AF75-1585-8193672F260B}"/>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11EBF042-3A73-39CA-C761-BE776F54381C}"/>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23E80CAA-BA41-8F19-5B65-83C5133432EF}"/>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93069F-CBC2-F7DC-1549-1FEDA6C5C9D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1" i="1">
                                  <a:latin typeface="Cambria Math" panose="02040503050406030204" pitchFamily="18" charset="0"/>
                                </a:rPr>
                              </m:ctrlPr>
                            </m:dPr>
                            <m:e>
                              <m:sSub>
                                <m:sSubPr>
                                  <m:ctrlPr>
                                    <a:rPr lang="en-US"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r>
                                    <a:rPr lang="en-US" sz="2800" b="1" i="1" smtClean="0">
                                      <a:latin typeface="Cambria Math" panose="02040503050406030204" pitchFamily="18" charset="0"/>
                                    </a:rPr>
                                    <m:t>𝑪</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2E93069F-CBC2-F7DC-1549-1FEDA6C5C9D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1201C8-F9D7-BB99-0797-D1EC388D1484}"/>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1" i="1">
                                  <a:latin typeface="Cambria Math" panose="02040503050406030204" pitchFamily="18" charset="0"/>
                                </a:rPr>
                              </m:ctrlPr>
                            </m:dPr>
                            <m:e>
                              <m:sSub>
                                <m:sSubPr>
                                  <m:ctrlPr>
                                    <a:rPr lang="en-US"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𝑪𝑵</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DF1201C8-F9D7-BB99-0797-D1EC388D1484}"/>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C6074DB-AFD4-F645-03E7-891C764A230F}"/>
              </a:ext>
            </a:extLst>
          </p:cNvPr>
          <p:cNvSpPr txBox="1"/>
          <p:nvPr/>
        </p:nvSpPr>
        <p:spPr>
          <a:xfrm>
            <a:off x="5344220" y="4573208"/>
            <a:ext cx="968535" cy="369332"/>
          </a:xfrm>
          <a:prstGeom prst="rect">
            <a:avLst/>
          </a:prstGeom>
          <a:noFill/>
        </p:spPr>
        <p:txBody>
          <a:bodyPr wrap="none" rtlCol="0">
            <a:spAutoFit/>
          </a:bodyPr>
          <a:lstStyle/>
          <a:p>
            <a:r>
              <a:rPr lang="en-US" dirty="0"/>
              <a:t>-2.737-1</a:t>
            </a:r>
          </a:p>
        </p:txBody>
      </p:sp>
      <p:sp>
        <p:nvSpPr>
          <p:cNvPr id="8" name="TextBox 7">
            <a:extLst>
              <a:ext uri="{FF2B5EF4-FFF2-40B4-BE49-F238E27FC236}">
                <a16:creationId xmlns:a16="http://schemas.microsoft.com/office/drawing/2014/main" id="{09A4DE38-328F-87F6-76B4-989C064CE5B1}"/>
              </a:ext>
            </a:extLst>
          </p:cNvPr>
          <p:cNvSpPr txBox="1"/>
          <p:nvPr/>
        </p:nvSpPr>
        <p:spPr>
          <a:xfrm>
            <a:off x="7496422" y="4582656"/>
            <a:ext cx="1377300" cy="369332"/>
          </a:xfrm>
          <a:prstGeom prst="rect">
            <a:avLst/>
          </a:prstGeom>
          <a:noFill/>
        </p:spPr>
        <p:txBody>
          <a:bodyPr wrap="none" rtlCol="0">
            <a:spAutoFit/>
          </a:bodyPr>
          <a:lstStyle/>
          <a:p>
            <a:r>
              <a:rPr lang="en-US" dirty="0"/>
              <a:t>-3.322-1.322</a:t>
            </a:r>
          </a:p>
        </p:txBody>
      </p:sp>
      <p:sp>
        <p:nvSpPr>
          <p:cNvPr id="15" name="TextBox 14">
            <a:extLst>
              <a:ext uri="{FF2B5EF4-FFF2-40B4-BE49-F238E27FC236}">
                <a16:creationId xmlns:a16="http://schemas.microsoft.com/office/drawing/2014/main" id="{9CCA705D-C9FB-E1F5-8A5C-CDFC85810C79}"/>
              </a:ext>
            </a:extLst>
          </p:cNvPr>
          <p:cNvSpPr txBox="1"/>
          <p:nvPr/>
        </p:nvSpPr>
        <p:spPr>
          <a:xfrm>
            <a:off x="5194638" y="6192431"/>
            <a:ext cx="968535" cy="369332"/>
          </a:xfrm>
          <a:prstGeom prst="rect">
            <a:avLst/>
          </a:prstGeom>
          <a:noFill/>
        </p:spPr>
        <p:txBody>
          <a:bodyPr wrap="none" rtlCol="0">
            <a:spAutoFit/>
          </a:bodyPr>
          <a:lstStyle/>
          <a:p>
            <a:r>
              <a:rPr lang="en-US" dirty="0"/>
              <a:t>-2.737-1</a:t>
            </a:r>
          </a:p>
        </p:txBody>
      </p:sp>
      <p:sp>
        <p:nvSpPr>
          <p:cNvPr id="18" name="TextBox 17">
            <a:extLst>
              <a:ext uri="{FF2B5EF4-FFF2-40B4-BE49-F238E27FC236}">
                <a16:creationId xmlns:a16="http://schemas.microsoft.com/office/drawing/2014/main" id="{F782CB2C-5BF9-2717-48FE-2E0717D2B0C9}"/>
              </a:ext>
            </a:extLst>
          </p:cNvPr>
          <p:cNvSpPr txBox="1"/>
          <p:nvPr/>
        </p:nvSpPr>
        <p:spPr>
          <a:xfrm>
            <a:off x="7472071" y="6186246"/>
            <a:ext cx="1377300" cy="369332"/>
          </a:xfrm>
          <a:prstGeom prst="rect">
            <a:avLst/>
          </a:prstGeom>
          <a:noFill/>
        </p:spPr>
        <p:txBody>
          <a:bodyPr wrap="none" rtlCol="0">
            <a:spAutoFit/>
          </a:bodyPr>
          <a:lstStyle/>
          <a:p>
            <a:r>
              <a:rPr lang="en-US" dirty="0"/>
              <a:t>-3.322-0.737</a:t>
            </a:r>
          </a:p>
        </p:txBody>
      </p:sp>
    </p:spTree>
    <p:extLst>
      <p:ext uri="{BB962C8B-B14F-4D97-AF65-F5344CB8AC3E}">
        <p14:creationId xmlns:p14="http://schemas.microsoft.com/office/powerpoint/2010/main" val="1526773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r>
              <a:rPr lang="en-US" dirty="0"/>
              <a:t>Iteratively compute probabilities: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p:txBody>
          <a:bodyPr/>
          <a:lstStyle/>
          <a:p>
            <a:fld id="{B82CCC60-E8CD-4174-8B1A-7DF615B22EEF}" type="slidenum">
              <a:rPr lang="en-US" smtClean="0"/>
              <a:pPr/>
              <a:t>52</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extLst>
              <p:ext uri="{D42A27DB-BD31-4B8C-83A1-F6EECF244321}">
                <p14:modId xmlns:p14="http://schemas.microsoft.com/office/powerpoint/2010/main" val="2853138809"/>
              </p:ext>
            </p:extLst>
          </p:nvPr>
        </p:nvGraphicFramePr>
        <p:xfrm>
          <a:off x="598618" y="4592103"/>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09710" y="512031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A64A706A-D802-09AC-9EFC-623F8C25A58A}"/>
              </a:ext>
            </a:extLst>
          </p:cNvPr>
          <p:cNvCxnSpPr>
            <a:cxnSpLocks/>
          </p:cNvCxnSpPr>
          <p:nvPr/>
        </p:nvCxnSpPr>
        <p:spPr>
          <a:xfrm>
            <a:off x="2509710"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518759" y="512031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0E5B8E87-5E0C-E484-CC70-6FAE56CE469E}"/>
              </a:ext>
            </a:extLst>
          </p:cNvPr>
          <p:cNvCxnSpPr>
            <a:cxnSpLocks/>
          </p:cNvCxnSpPr>
          <p:nvPr/>
        </p:nvCxnSpPr>
        <p:spPr>
          <a:xfrm>
            <a:off x="3518759"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527808" y="512031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A682A854-33B1-B945-8F04-46AE8EF3545D}"/>
              </a:ext>
            </a:extLst>
          </p:cNvPr>
          <p:cNvCxnSpPr>
            <a:cxnSpLocks/>
          </p:cNvCxnSpPr>
          <p:nvPr/>
        </p:nvCxnSpPr>
        <p:spPr>
          <a:xfrm>
            <a:off x="4527808"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559314" y="549602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54C04903-636C-6488-6801-1AB4EEDC269F}"/>
              </a:ext>
            </a:extLst>
          </p:cNvPr>
          <p:cNvCxnSpPr>
            <a:cxnSpLocks/>
          </p:cNvCxnSpPr>
          <p:nvPr/>
        </p:nvCxnSpPr>
        <p:spPr>
          <a:xfrm flipV="1">
            <a:off x="5595325" y="5140743"/>
            <a:ext cx="284106" cy="2323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587613" y="549602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656927" y="5504046"/>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02074" y="5504046"/>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657463" y="5504046"/>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52308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0A2DB-67C4-514E-DA41-67A03FA63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7157C-7C57-7FDF-366C-CFC85C29D2E6}"/>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E17F5083-295F-6E63-6FD2-C483D62B7CD7}"/>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a:t>
            </a:r>
            <a:r>
              <a:rPr lang="en-US" b="1" dirty="0"/>
              <a:t>CACTGAA</a:t>
            </a:r>
          </a:p>
          <a:p>
            <a:endParaRPr lang="en-US" b="1" dirty="0"/>
          </a:p>
          <a:p>
            <a:endParaRPr lang="en-US" b="1" dirty="0"/>
          </a:p>
          <a:p>
            <a:endParaRPr lang="en-US" b="1" dirty="0"/>
          </a:p>
          <a:p>
            <a:r>
              <a:rPr lang="en-US" dirty="0"/>
              <a:t>Backtrack:</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D509A93-6C6E-E4A9-7E80-DE5191542472}"/>
              </a:ext>
            </a:extLst>
          </p:cNvPr>
          <p:cNvSpPr>
            <a:spLocks noGrp="1"/>
          </p:cNvSpPr>
          <p:nvPr>
            <p:ph type="sldNum" sz="quarter" idx="12"/>
          </p:nvPr>
        </p:nvSpPr>
        <p:spPr/>
        <p:txBody>
          <a:bodyPr/>
          <a:lstStyle/>
          <a:p>
            <a:fld id="{B82CCC60-E8CD-4174-8B1A-7DF615B22EEF}" type="slidenum">
              <a:rPr lang="en-US" smtClean="0"/>
              <a:pPr/>
              <a:t>53</a:t>
            </a:fld>
            <a:endParaRPr lang="en-US"/>
          </a:p>
        </p:txBody>
      </p:sp>
      <p:sp>
        <p:nvSpPr>
          <p:cNvPr id="5" name="TextBox 4">
            <a:extLst>
              <a:ext uri="{FF2B5EF4-FFF2-40B4-BE49-F238E27FC236}">
                <a16:creationId xmlns:a16="http://schemas.microsoft.com/office/drawing/2014/main" id="{36537713-8E4F-5E95-1893-411F318234A0}"/>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A865345-2291-7144-2E7E-99087C9F9C5F}"/>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CF51FEE8-ECD3-A558-51B6-CE3218CDE8B3}"/>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8BECC602-8A90-47C9-8042-A517A9727FD5}"/>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7D108E0-483A-730C-C1E6-2E7907A254A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13C96E0C-C401-801D-CF35-29E631BCE4EE}"/>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B43E0AFD-E681-FE74-65B2-8BE2CC307CB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B78035F8-BBA5-5DCA-7ECC-8FB71846D08E}"/>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A3A50CC-8E07-7D32-E147-480C1EEF959B}"/>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024479ED-1BA4-B907-7D62-474DDDBCC598}"/>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B88A16F-C6BD-14C9-FF0F-AB380B2A3E64}"/>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20CEF2F5-5355-52AF-C3E4-BB40D88CB5B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20CEF2F5-5355-52AF-C3E4-BB40D88CB5B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67936D0-A0CC-F857-CE2B-DFED9E5F21A7}"/>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67936D0-A0CC-F857-CE2B-DFED9E5F21A7}"/>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E67B7B1E-690D-0C15-64FC-A8901452A210}"/>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D7EA518B-CCA9-5071-41F8-F8DA1A44E775}"/>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02A6B515-9E10-C0AC-C993-FE057971DAC7}"/>
              </a:ext>
            </a:extLst>
          </p:cNvPr>
          <p:cNvGraphicFramePr>
            <a:graphicFrameLocks noGrp="1"/>
          </p:cNvGraphicFramePr>
          <p:nvPr/>
        </p:nvGraphicFramePr>
        <p:xfrm>
          <a:off x="598618" y="4592103"/>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E59BB902-625D-028B-4ED3-3EFC9ACAB179}"/>
              </a:ext>
            </a:extLst>
          </p:cNvPr>
          <p:cNvCxnSpPr>
            <a:cxnSpLocks/>
          </p:cNvCxnSpPr>
          <p:nvPr/>
        </p:nvCxnSpPr>
        <p:spPr>
          <a:xfrm>
            <a:off x="2509710" y="512031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F51FA353-F12B-CFE8-A72D-5E6B190EF97C}"/>
              </a:ext>
            </a:extLst>
          </p:cNvPr>
          <p:cNvCxnSpPr>
            <a:cxnSpLocks/>
          </p:cNvCxnSpPr>
          <p:nvPr/>
        </p:nvCxnSpPr>
        <p:spPr>
          <a:xfrm>
            <a:off x="2509710"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B9A92606-CBDF-9EC8-E9C7-3AE242D51A0C}"/>
              </a:ext>
            </a:extLst>
          </p:cNvPr>
          <p:cNvCxnSpPr>
            <a:cxnSpLocks/>
          </p:cNvCxnSpPr>
          <p:nvPr/>
        </p:nvCxnSpPr>
        <p:spPr>
          <a:xfrm>
            <a:off x="3518759" y="512031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628AB39C-0E3A-28BD-7564-86B1A4941FC9}"/>
              </a:ext>
            </a:extLst>
          </p:cNvPr>
          <p:cNvCxnSpPr>
            <a:cxnSpLocks/>
          </p:cNvCxnSpPr>
          <p:nvPr/>
        </p:nvCxnSpPr>
        <p:spPr>
          <a:xfrm>
            <a:off x="3518759"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AA7E2809-D547-B87D-6A08-DBC557D25B1A}"/>
              </a:ext>
            </a:extLst>
          </p:cNvPr>
          <p:cNvCxnSpPr>
            <a:cxnSpLocks/>
          </p:cNvCxnSpPr>
          <p:nvPr/>
        </p:nvCxnSpPr>
        <p:spPr>
          <a:xfrm>
            <a:off x="4527808" y="512031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610C8D6A-D0E2-4019-B445-AA4D2EBFD722}"/>
              </a:ext>
            </a:extLst>
          </p:cNvPr>
          <p:cNvCxnSpPr>
            <a:cxnSpLocks/>
          </p:cNvCxnSpPr>
          <p:nvPr/>
        </p:nvCxnSpPr>
        <p:spPr>
          <a:xfrm>
            <a:off x="4527808" y="5272715"/>
            <a:ext cx="243115" cy="22331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1311DE8A-8403-D9C2-0171-D5D9EBB8B1D9}"/>
              </a:ext>
            </a:extLst>
          </p:cNvPr>
          <p:cNvCxnSpPr>
            <a:cxnSpLocks/>
          </p:cNvCxnSpPr>
          <p:nvPr/>
        </p:nvCxnSpPr>
        <p:spPr>
          <a:xfrm>
            <a:off x="5559314" y="549602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B93D0F2F-B298-0584-FA7D-9A7A1C665320}"/>
              </a:ext>
            </a:extLst>
          </p:cNvPr>
          <p:cNvCxnSpPr>
            <a:cxnSpLocks/>
          </p:cNvCxnSpPr>
          <p:nvPr/>
        </p:nvCxnSpPr>
        <p:spPr>
          <a:xfrm flipV="1">
            <a:off x="5595325" y="5140743"/>
            <a:ext cx="284106" cy="2323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83C71346-B5E3-5B6D-1AC4-C3506E8C3731}"/>
              </a:ext>
            </a:extLst>
          </p:cNvPr>
          <p:cNvCxnSpPr>
            <a:cxnSpLocks/>
          </p:cNvCxnSpPr>
          <p:nvPr/>
        </p:nvCxnSpPr>
        <p:spPr>
          <a:xfrm>
            <a:off x="6587613" y="549602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456F2060-9BFA-E8C3-35C6-2B61E0D1E716}"/>
              </a:ext>
            </a:extLst>
          </p:cNvPr>
          <p:cNvCxnSpPr>
            <a:cxnSpLocks/>
          </p:cNvCxnSpPr>
          <p:nvPr/>
        </p:nvCxnSpPr>
        <p:spPr>
          <a:xfrm>
            <a:off x="9656927"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B6139335-AAC8-D89E-7134-4EEC136EFFF2}"/>
              </a:ext>
            </a:extLst>
          </p:cNvPr>
          <p:cNvCxnSpPr>
            <a:cxnSpLocks/>
          </p:cNvCxnSpPr>
          <p:nvPr/>
        </p:nvCxnSpPr>
        <p:spPr>
          <a:xfrm>
            <a:off x="7602074"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FD539DFC-9F79-8B66-72A0-50BC961F392A}"/>
              </a:ext>
            </a:extLst>
          </p:cNvPr>
          <p:cNvCxnSpPr>
            <a:cxnSpLocks/>
          </p:cNvCxnSpPr>
          <p:nvPr/>
        </p:nvCxnSpPr>
        <p:spPr>
          <a:xfrm>
            <a:off x="8657463"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35512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F3CFC-673A-DE95-0F64-6A7B06990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EE695-7828-6C93-FACA-7204D8C925C0}"/>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70075A06-6D83-2F1A-07B3-FB04FB3C3E7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a:t>
            </a:r>
            <a:r>
              <a:rPr lang="en-US" b="1" dirty="0"/>
              <a:t>CACTGAA</a:t>
            </a:r>
          </a:p>
          <a:p>
            <a:endParaRPr lang="en-US" b="1" dirty="0"/>
          </a:p>
          <a:p>
            <a:endParaRPr lang="en-US" b="1" dirty="0"/>
          </a:p>
          <a:p>
            <a:endParaRPr lang="en-US" b="1" dirty="0"/>
          </a:p>
          <a:p>
            <a:r>
              <a:rPr lang="en-US" dirty="0"/>
              <a:t>Backtrack:</a:t>
            </a:r>
          </a:p>
          <a:p>
            <a:endParaRPr lang="en-US" dirty="0"/>
          </a:p>
          <a:p>
            <a:endParaRPr lang="en-US" dirty="0"/>
          </a:p>
          <a:p>
            <a:endParaRPr lang="en-US" dirty="0"/>
          </a:p>
          <a:p>
            <a:r>
              <a:rPr lang="en-US" dirty="0"/>
              <a:t>The most probable path is: CCCNNNNNN, its probability is 2</a:t>
            </a:r>
            <a:r>
              <a:rPr lang="en-US" baseline="30000" dirty="0"/>
              <a:t>-24.49</a:t>
            </a:r>
          </a:p>
        </p:txBody>
      </p:sp>
      <p:sp>
        <p:nvSpPr>
          <p:cNvPr id="4" name="Slide Number Placeholder 3">
            <a:extLst>
              <a:ext uri="{FF2B5EF4-FFF2-40B4-BE49-F238E27FC236}">
                <a16:creationId xmlns:a16="http://schemas.microsoft.com/office/drawing/2014/main" id="{B7AADC6F-AF4F-038F-4D76-337A13F03607}"/>
              </a:ext>
            </a:extLst>
          </p:cNvPr>
          <p:cNvSpPr>
            <a:spLocks noGrp="1"/>
          </p:cNvSpPr>
          <p:nvPr>
            <p:ph type="sldNum" sz="quarter" idx="12"/>
          </p:nvPr>
        </p:nvSpPr>
        <p:spPr/>
        <p:txBody>
          <a:bodyPr/>
          <a:lstStyle/>
          <a:p>
            <a:fld id="{B82CCC60-E8CD-4174-8B1A-7DF615B22EEF}" type="slidenum">
              <a:rPr lang="en-US" smtClean="0"/>
              <a:pPr/>
              <a:t>54</a:t>
            </a:fld>
            <a:endParaRPr lang="en-US"/>
          </a:p>
        </p:txBody>
      </p:sp>
      <p:sp>
        <p:nvSpPr>
          <p:cNvPr id="5" name="TextBox 4">
            <a:extLst>
              <a:ext uri="{FF2B5EF4-FFF2-40B4-BE49-F238E27FC236}">
                <a16:creationId xmlns:a16="http://schemas.microsoft.com/office/drawing/2014/main" id="{190F6A0A-EE60-301E-D270-950E40BEB7DF}"/>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B5223EE5-ED80-56C7-E9AE-BF5E9C9817D3}"/>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8109E4BC-5F11-95FD-F869-3E29F17C99EE}"/>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409CC022-23DE-2D76-6D3B-C8328D04E628}"/>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8329298-5A43-D72E-B927-BCBA07646EEF}"/>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AD18A454-0090-42A4-9EA7-D397AA0F3DFA}"/>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B61C8F84-C02B-A49C-785F-2020F44A08B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B8C09C42-013E-DD68-D28C-A9048CBA26D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A41F124C-5AF8-5505-AF83-78749C1D85AE}"/>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DD7607C5-F57E-DFAC-1BB2-0262E352525B}"/>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9F9E47F-932A-5B8A-162D-AFB448384AE8}"/>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EB9FFC7-53A0-CB9B-2AAD-203F77E66297}"/>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EB9FFC7-53A0-CB9B-2AAD-203F77E66297}"/>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A30F9C39-8D6E-8C4F-DB06-693716EB5102}"/>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A30F9C39-8D6E-8C4F-DB06-693716EB5102}"/>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A2C4F18D-3742-2509-75A2-515E0268A7D1}"/>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B06FF042-E5B7-B0CF-718C-94B09C78B7EE}"/>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BC6B9E8E-2D1B-3FC1-C66A-2F9ED095BA66}"/>
              </a:ext>
            </a:extLst>
          </p:cNvPr>
          <p:cNvGraphicFramePr>
            <a:graphicFrameLocks noGrp="1"/>
          </p:cNvGraphicFramePr>
          <p:nvPr/>
        </p:nvGraphicFramePr>
        <p:xfrm>
          <a:off x="598618" y="4592103"/>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21" name="Straight Arrow Connector 20">
            <a:extLst>
              <a:ext uri="{FF2B5EF4-FFF2-40B4-BE49-F238E27FC236}">
                <a16:creationId xmlns:a16="http://schemas.microsoft.com/office/drawing/2014/main" id="{828AD076-4BE8-4CCC-3C67-87B108A5F64B}"/>
              </a:ext>
            </a:extLst>
          </p:cNvPr>
          <p:cNvCxnSpPr>
            <a:cxnSpLocks/>
          </p:cNvCxnSpPr>
          <p:nvPr/>
        </p:nvCxnSpPr>
        <p:spPr>
          <a:xfrm flipH="1">
            <a:off x="9656927"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455BF45-740A-4A7F-7597-A8A01DE9FC08}"/>
              </a:ext>
            </a:extLst>
          </p:cNvPr>
          <p:cNvCxnSpPr>
            <a:cxnSpLocks/>
          </p:cNvCxnSpPr>
          <p:nvPr/>
        </p:nvCxnSpPr>
        <p:spPr>
          <a:xfrm flipH="1">
            <a:off x="8644005"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66A0745D-878E-BA89-4778-86CE5214753F}"/>
              </a:ext>
            </a:extLst>
          </p:cNvPr>
          <p:cNvCxnSpPr>
            <a:cxnSpLocks/>
          </p:cNvCxnSpPr>
          <p:nvPr/>
        </p:nvCxnSpPr>
        <p:spPr>
          <a:xfrm flipH="1">
            <a:off x="7568326"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53F15091-DE57-FA65-C479-942D357FE227}"/>
              </a:ext>
            </a:extLst>
          </p:cNvPr>
          <p:cNvCxnSpPr>
            <a:cxnSpLocks/>
          </p:cNvCxnSpPr>
          <p:nvPr/>
        </p:nvCxnSpPr>
        <p:spPr>
          <a:xfrm flipH="1">
            <a:off x="5579009" y="5505326"/>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ED92E898-934A-816F-2D4B-AEF1A2509180}"/>
              </a:ext>
            </a:extLst>
          </p:cNvPr>
          <p:cNvCxnSpPr>
            <a:cxnSpLocks/>
          </p:cNvCxnSpPr>
          <p:nvPr/>
        </p:nvCxnSpPr>
        <p:spPr>
          <a:xfrm flipH="1">
            <a:off x="6598964" y="5505326"/>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0EE89E41-6F73-E187-3F01-CE5EEE10DF35}"/>
              </a:ext>
            </a:extLst>
          </p:cNvPr>
          <p:cNvCxnSpPr>
            <a:cxnSpLocks/>
          </p:cNvCxnSpPr>
          <p:nvPr/>
        </p:nvCxnSpPr>
        <p:spPr>
          <a:xfrm flipH="1" flipV="1">
            <a:off x="4532671" y="5171768"/>
            <a:ext cx="309717" cy="3180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53009C73-734E-72DF-8B99-0881B4FEBCD5}"/>
              </a:ext>
            </a:extLst>
          </p:cNvPr>
          <p:cNvCxnSpPr>
            <a:cxnSpLocks/>
          </p:cNvCxnSpPr>
          <p:nvPr/>
        </p:nvCxnSpPr>
        <p:spPr>
          <a:xfrm flipH="1">
            <a:off x="3509928" y="5171768"/>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9C0A35C8-FA09-AA65-F07B-AD48CD18D139}"/>
              </a:ext>
            </a:extLst>
          </p:cNvPr>
          <p:cNvCxnSpPr>
            <a:cxnSpLocks/>
          </p:cNvCxnSpPr>
          <p:nvPr/>
        </p:nvCxnSpPr>
        <p:spPr>
          <a:xfrm flipH="1">
            <a:off x="2477541" y="5171768"/>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72453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7C45D-7C74-5ADF-F4BA-A371030EE742}"/>
              </a:ext>
            </a:extLst>
          </p:cNvPr>
          <p:cNvSpPr>
            <a:spLocks noGrp="1"/>
          </p:cNvSpPr>
          <p:nvPr>
            <p:ph type="title"/>
          </p:nvPr>
        </p:nvSpPr>
        <p:spPr/>
        <p:txBody>
          <a:bodyPr>
            <a:normAutofit fontScale="90000"/>
          </a:bodyPr>
          <a:lstStyle/>
          <a:p>
            <a:r>
              <a:rPr lang="en-US" dirty="0"/>
              <a:t>The Viterbi algorithm: summary</a:t>
            </a:r>
          </a:p>
        </p:txBody>
      </p:sp>
      <p:sp>
        <p:nvSpPr>
          <p:cNvPr id="3" name="Content Placeholder 2">
            <a:extLst>
              <a:ext uri="{FF2B5EF4-FFF2-40B4-BE49-F238E27FC236}">
                <a16:creationId xmlns:a16="http://schemas.microsoft.com/office/drawing/2014/main" id="{B842ED8A-7847-C033-1DBA-D4BE94A67E43}"/>
              </a:ext>
            </a:extLst>
          </p:cNvPr>
          <p:cNvSpPr>
            <a:spLocks noGrp="1"/>
          </p:cNvSpPr>
          <p:nvPr>
            <p:ph idx="1"/>
          </p:nvPr>
        </p:nvSpPr>
        <p:spPr/>
        <p:txBody>
          <a:bodyPr>
            <a:normAutofit/>
          </a:bodyPr>
          <a:lstStyle/>
          <a:p>
            <a:r>
              <a:rPr lang="en-US" dirty="0"/>
              <a:t>The Viterbi algorithm is used to compute the most probable path (as well as its probability). It requires knowledge of the parameters of the HMM model and a particular output sequence and it finds the state sequence that is most likely to have generated that output sequence. </a:t>
            </a:r>
          </a:p>
          <a:p>
            <a:r>
              <a:rPr lang="en-US" dirty="0"/>
              <a:t>It works by finding a maximum over all possible state sequences.</a:t>
            </a:r>
          </a:p>
          <a:p>
            <a:r>
              <a:rPr lang="en-US" dirty="0"/>
              <a:t>In sequence analysis, this method can be used for example to predict coding vs non-­coding sequences.</a:t>
            </a:r>
          </a:p>
          <a:p>
            <a:r>
              <a:rPr lang="en-US" dirty="0"/>
              <a:t>Similar (in spirit) to Smith-Waterman alignment!</a:t>
            </a:r>
          </a:p>
        </p:txBody>
      </p:sp>
      <p:sp>
        <p:nvSpPr>
          <p:cNvPr id="4" name="Slide Number Placeholder 3">
            <a:extLst>
              <a:ext uri="{FF2B5EF4-FFF2-40B4-BE49-F238E27FC236}">
                <a16:creationId xmlns:a16="http://schemas.microsoft.com/office/drawing/2014/main" id="{6BCBCB23-C345-B844-AF42-21EC3BE0FA73}"/>
              </a:ext>
            </a:extLst>
          </p:cNvPr>
          <p:cNvSpPr>
            <a:spLocks noGrp="1"/>
          </p:cNvSpPr>
          <p:nvPr>
            <p:ph type="sldNum" sz="quarter" idx="12"/>
          </p:nvPr>
        </p:nvSpPr>
        <p:spPr/>
        <p:txBody>
          <a:bodyPr/>
          <a:lstStyle/>
          <a:p>
            <a:fld id="{B82CCC60-E8CD-4174-8B1A-7DF615B22EEF}" type="slidenum">
              <a:rPr lang="en-US" smtClean="0"/>
              <a:pPr/>
              <a:t>55</a:t>
            </a:fld>
            <a:endParaRPr lang="en-US"/>
          </a:p>
        </p:txBody>
      </p:sp>
    </p:spTree>
    <p:extLst>
      <p:ext uri="{BB962C8B-B14F-4D97-AF65-F5344CB8AC3E}">
        <p14:creationId xmlns:p14="http://schemas.microsoft.com/office/powerpoint/2010/main" val="512676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74075-C915-FC5E-C147-C6C97667092A}"/>
              </a:ext>
            </a:extLst>
          </p:cNvPr>
          <p:cNvSpPr>
            <a:spLocks noGrp="1"/>
          </p:cNvSpPr>
          <p:nvPr>
            <p:ph type="title"/>
          </p:nvPr>
        </p:nvSpPr>
        <p:spPr/>
        <p:txBody>
          <a:bodyPr>
            <a:normAutofit fontScale="90000"/>
          </a:bodyPr>
          <a:lstStyle/>
          <a:p>
            <a:r>
              <a:rPr lang="en-US" dirty="0"/>
              <a:t>Lab #6</a:t>
            </a:r>
          </a:p>
        </p:txBody>
      </p:sp>
      <p:sp>
        <p:nvSpPr>
          <p:cNvPr id="3" name="Content Placeholder 2">
            <a:extLst>
              <a:ext uri="{FF2B5EF4-FFF2-40B4-BE49-F238E27FC236}">
                <a16:creationId xmlns:a16="http://schemas.microsoft.com/office/drawing/2014/main" id="{BF929749-20A1-096D-C027-9B4BA423F86E}"/>
              </a:ext>
            </a:extLst>
          </p:cNvPr>
          <p:cNvSpPr>
            <a:spLocks noGrp="1"/>
          </p:cNvSpPr>
          <p:nvPr>
            <p:ph idx="1"/>
          </p:nvPr>
        </p:nvSpPr>
        <p:spPr/>
        <p:txBody>
          <a:bodyPr/>
          <a:lstStyle/>
          <a:p>
            <a:r>
              <a:rPr lang="en-US"/>
              <a:t>Due November 21</a:t>
            </a:r>
            <a:r>
              <a:rPr lang="en-US" baseline="30000"/>
              <a:t>st</a:t>
            </a:r>
            <a:r>
              <a:rPr lang="en-US"/>
              <a:t> at 8:00pm.</a:t>
            </a:r>
          </a:p>
        </p:txBody>
      </p:sp>
      <p:sp>
        <p:nvSpPr>
          <p:cNvPr id="4" name="Slide Number Placeholder 3">
            <a:extLst>
              <a:ext uri="{FF2B5EF4-FFF2-40B4-BE49-F238E27FC236}">
                <a16:creationId xmlns:a16="http://schemas.microsoft.com/office/drawing/2014/main" id="{A2F778F8-8F0B-0339-A62B-C196F3975C96}"/>
              </a:ext>
            </a:extLst>
          </p:cNvPr>
          <p:cNvSpPr>
            <a:spLocks noGrp="1"/>
          </p:cNvSpPr>
          <p:nvPr>
            <p:ph type="sldNum" sz="quarter" idx="12"/>
          </p:nvPr>
        </p:nvSpPr>
        <p:spPr/>
        <p:txBody>
          <a:bodyPr/>
          <a:lstStyle/>
          <a:p>
            <a:fld id="{B82CCC60-E8CD-4174-8B1A-7DF615B22EEF}" type="slidenum">
              <a:rPr lang="en-US" smtClean="0"/>
              <a:pPr/>
              <a:t>56</a:t>
            </a:fld>
            <a:endParaRPr lang="en-US"/>
          </a:p>
        </p:txBody>
      </p:sp>
    </p:spTree>
    <p:extLst>
      <p:ext uri="{BB962C8B-B14F-4D97-AF65-F5344CB8AC3E}">
        <p14:creationId xmlns:p14="http://schemas.microsoft.com/office/powerpoint/2010/main" val="11539822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9A8F-5566-1A79-CD86-91D3828803F2}"/>
              </a:ext>
            </a:extLst>
          </p:cNvPr>
          <p:cNvSpPr>
            <a:spLocks noGrp="1"/>
          </p:cNvSpPr>
          <p:nvPr>
            <p:ph type="title"/>
          </p:nvPr>
        </p:nvSpPr>
        <p:spPr/>
        <p:txBody>
          <a:bodyPr>
            <a:normAutofit fontScale="90000"/>
          </a:bodyPr>
          <a:lstStyle/>
          <a:p>
            <a:r>
              <a:rPr lang="en-US" dirty="0"/>
              <a:t>Making use of annotated genomes</a:t>
            </a:r>
          </a:p>
        </p:txBody>
      </p:sp>
      <p:sp>
        <p:nvSpPr>
          <p:cNvPr id="3" name="Content Placeholder 2">
            <a:extLst>
              <a:ext uri="{FF2B5EF4-FFF2-40B4-BE49-F238E27FC236}">
                <a16:creationId xmlns:a16="http://schemas.microsoft.com/office/drawing/2014/main" id="{197A7719-33AD-3C56-8D13-83C68C1C8D05}"/>
              </a:ext>
            </a:extLst>
          </p:cNvPr>
          <p:cNvSpPr>
            <a:spLocks noGrp="1"/>
          </p:cNvSpPr>
          <p:nvPr>
            <p:ph idx="1"/>
          </p:nvPr>
        </p:nvSpPr>
        <p:spPr>
          <a:xfrm>
            <a:off x="598620" y="1596540"/>
            <a:ext cx="10972800" cy="5044892"/>
          </a:xfrm>
        </p:spPr>
        <p:txBody>
          <a:bodyPr>
            <a:normAutofit/>
          </a:bodyPr>
          <a:lstStyle/>
          <a:p>
            <a:r>
              <a:rPr lang="en-US" dirty="0"/>
              <a:t>We assembled and annotated a </a:t>
            </a:r>
            <a:r>
              <a:rPr lang="en-US" b="1" dirty="0"/>
              <a:t>reference</a:t>
            </a:r>
            <a:r>
              <a:rPr lang="en-US" dirty="0"/>
              <a:t> genome:</a:t>
            </a:r>
          </a:p>
          <a:p>
            <a:pPr lvl="1"/>
            <a:r>
              <a:rPr lang="en-US" dirty="0"/>
              <a:t>We know the DNA sequence of the genome</a:t>
            </a:r>
          </a:p>
          <a:p>
            <a:pPr lvl="1"/>
            <a:r>
              <a:rPr lang="en-US" dirty="0"/>
              <a:t>We know positions of all functional elements: exons, introns, transcript and protein coding sequences</a:t>
            </a:r>
          </a:p>
          <a:p>
            <a:r>
              <a:rPr lang="en-US" dirty="0"/>
              <a:t>How can we use this information:</a:t>
            </a:r>
          </a:p>
          <a:p>
            <a:pPr lvl="1"/>
            <a:r>
              <a:rPr lang="en-US" dirty="0"/>
              <a:t>We can establish the function of genes by protein homology</a:t>
            </a:r>
          </a:p>
          <a:p>
            <a:pPr lvl="1"/>
            <a:r>
              <a:rPr lang="en-US" dirty="0"/>
              <a:t>We can relate genotype to phenotype by looking at a population of individuals and by cataloguing their: </a:t>
            </a:r>
          </a:p>
          <a:p>
            <a:pPr lvl="2"/>
            <a:r>
              <a:rPr lang="en-US" dirty="0"/>
              <a:t>Phenotypes: physical appearance, </a:t>
            </a:r>
            <a:r>
              <a:rPr lang="en-US" dirty="0" err="1"/>
              <a:t>etc</a:t>
            </a:r>
            <a:endParaRPr lang="en-US" dirty="0"/>
          </a:p>
          <a:p>
            <a:pPr lvl="2"/>
            <a:r>
              <a:rPr lang="en-US" dirty="0"/>
              <a:t>Genotypes: set of differences between their genome and the reference</a:t>
            </a:r>
          </a:p>
          <a:p>
            <a:pPr lvl="1"/>
            <a:endParaRPr lang="en-US" dirty="0"/>
          </a:p>
        </p:txBody>
      </p:sp>
      <p:sp>
        <p:nvSpPr>
          <p:cNvPr id="4" name="Slide Number Placeholder 3">
            <a:extLst>
              <a:ext uri="{FF2B5EF4-FFF2-40B4-BE49-F238E27FC236}">
                <a16:creationId xmlns:a16="http://schemas.microsoft.com/office/drawing/2014/main" id="{4E6F08A2-F465-C564-D808-6612006822E9}"/>
              </a:ext>
            </a:extLst>
          </p:cNvPr>
          <p:cNvSpPr>
            <a:spLocks noGrp="1"/>
          </p:cNvSpPr>
          <p:nvPr>
            <p:ph type="sldNum" sz="quarter" idx="12"/>
          </p:nvPr>
        </p:nvSpPr>
        <p:spPr/>
        <p:txBody>
          <a:bodyPr/>
          <a:lstStyle/>
          <a:p>
            <a:fld id="{B82CCC60-E8CD-4174-8B1A-7DF615B22EEF}" type="slidenum">
              <a:rPr lang="en-US" smtClean="0"/>
              <a:pPr/>
              <a:t>57</a:t>
            </a:fld>
            <a:endParaRPr lang="en-US"/>
          </a:p>
        </p:txBody>
      </p:sp>
    </p:spTree>
    <p:extLst>
      <p:ext uri="{BB962C8B-B14F-4D97-AF65-F5344CB8AC3E}">
        <p14:creationId xmlns:p14="http://schemas.microsoft.com/office/powerpoint/2010/main" val="4101191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2A11A-5645-6CFF-B26C-7B07CA28D3A1}"/>
              </a:ext>
            </a:extLst>
          </p:cNvPr>
          <p:cNvSpPr>
            <a:spLocks noGrp="1"/>
          </p:cNvSpPr>
          <p:nvPr>
            <p:ph type="title"/>
          </p:nvPr>
        </p:nvSpPr>
        <p:spPr/>
        <p:txBody>
          <a:bodyPr>
            <a:normAutofit fontScale="90000"/>
          </a:bodyPr>
          <a:lstStyle/>
          <a:p>
            <a:r>
              <a:rPr lang="en-US" dirty="0"/>
              <a:t>Genome Wide Association Study</a:t>
            </a:r>
          </a:p>
        </p:txBody>
      </p:sp>
      <p:sp>
        <p:nvSpPr>
          <p:cNvPr id="3" name="Content Placeholder 2">
            <a:extLst>
              <a:ext uri="{FF2B5EF4-FFF2-40B4-BE49-F238E27FC236}">
                <a16:creationId xmlns:a16="http://schemas.microsoft.com/office/drawing/2014/main" id="{6258EF31-2952-59EC-61BC-29F953630F6D}"/>
              </a:ext>
            </a:extLst>
          </p:cNvPr>
          <p:cNvSpPr>
            <a:spLocks noGrp="1"/>
          </p:cNvSpPr>
          <p:nvPr>
            <p:ph idx="1"/>
          </p:nvPr>
        </p:nvSpPr>
        <p:spPr/>
        <p:txBody>
          <a:bodyPr/>
          <a:lstStyle/>
          <a:p>
            <a:r>
              <a:rPr lang="en-US" dirty="0"/>
              <a:t>A genome-wide association study (GWAS) is a method used to identify genetic variants, that are associated with a particular disease or trait by comparing the genomes of many individuals. </a:t>
            </a:r>
          </a:p>
          <a:p>
            <a:r>
              <a:rPr lang="en-US" dirty="0"/>
              <a:t>It involves comparing the entire genomes of people who have a disease with those who don't, looking for genetic differences that appear more frequently in the affected group. The results help scientists understand the genetic basis of diseases and other traits. </a:t>
            </a:r>
          </a:p>
          <a:p>
            <a:endParaRPr lang="en-US" dirty="0"/>
          </a:p>
        </p:txBody>
      </p:sp>
      <p:sp>
        <p:nvSpPr>
          <p:cNvPr id="4" name="Slide Number Placeholder 3">
            <a:extLst>
              <a:ext uri="{FF2B5EF4-FFF2-40B4-BE49-F238E27FC236}">
                <a16:creationId xmlns:a16="http://schemas.microsoft.com/office/drawing/2014/main" id="{9160418A-98B5-096D-6463-A0218D37BDB8}"/>
              </a:ext>
            </a:extLst>
          </p:cNvPr>
          <p:cNvSpPr>
            <a:spLocks noGrp="1"/>
          </p:cNvSpPr>
          <p:nvPr>
            <p:ph type="sldNum" sz="quarter" idx="12"/>
          </p:nvPr>
        </p:nvSpPr>
        <p:spPr/>
        <p:txBody>
          <a:bodyPr/>
          <a:lstStyle/>
          <a:p>
            <a:fld id="{B82CCC60-E8CD-4174-8B1A-7DF615B22EEF}" type="slidenum">
              <a:rPr lang="en-US" smtClean="0"/>
              <a:pPr/>
              <a:t>58</a:t>
            </a:fld>
            <a:endParaRPr lang="en-US"/>
          </a:p>
        </p:txBody>
      </p:sp>
    </p:spTree>
    <p:extLst>
      <p:ext uri="{BB962C8B-B14F-4D97-AF65-F5344CB8AC3E}">
        <p14:creationId xmlns:p14="http://schemas.microsoft.com/office/powerpoint/2010/main" val="1351066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6169F-B2C0-93AB-D759-FD4DEBA40CC3}"/>
              </a:ext>
            </a:extLst>
          </p:cNvPr>
          <p:cNvSpPr>
            <a:spLocks noGrp="1"/>
          </p:cNvSpPr>
          <p:nvPr>
            <p:ph type="title"/>
          </p:nvPr>
        </p:nvSpPr>
        <p:spPr/>
        <p:txBody>
          <a:bodyPr>
            <a:normAutofit fontScale="90000"/>
          </a:bodyPr>
          <a:lstStyle/>
          <a:p>
            <a:r>
              <a:rPr lang="en-US" dirty="0"/>
              <a:t>How GWAS works</a:t>
            </a:r>
          </a:p>
        </p:txBody>
      </p:sp>
      <p:sp>
        <p:nvSpPr>
          <p:cNvPr id="3" name="Content Placeholder 2">
            <a:extLst>
              <a:ext uri="{FF2B5EF4-FFF2-40B4-BE49-F238E27FC236}">
                <a16:creationId xmlns:a16="http://schemas.microsoft.com/office/drawing/2014/main" id="{BE208FB0-3474-A3C7-B323-C5BD46C3A5FD}"/>
              </a:ext>
            </a:extLst>
          </p:cNvPr>
          <p:cNvSpPr>
            <a:spLocks noGrp="1"/>
          </p:cNvSpPr>
          <p:nvPr>
            <p:ph idx="1"/>
          </p:nvPr>
        </p:nvSpPr>
        <p:spPr>
          <a:xfrm>
            <a:off x="598620" y="1596540"/>
            <a:ext cx="10972800" cy="4919763"/>
          </a:xfrm>
        </p:spPr>
        <p:txBody>
          <a:bodyPr>
            <a:normAutofit fontScale="92500" lnSpcReduction="10000"/>
          </a:bodyPr>
          <a:lstStyle/>
          <a:p>
            <a:r>
              <a:rPr lang="en-US" b="1" dirty="0"/>
              <a:t>Participant groups:</a:t>
            </a:r>
            <a:r>
              <a:rPr lang="en-US" dirty="0"/>
              <a:t> Researchers assemble two large groups of people: a "case" group with a specific disease or trait and a "control" group without it.</a:t>
            </a:r>
          </a:p>
          <a:p>
            <a:r>
              <a:rPr lang="en-US" b="1" dirty="0"/>
              <a:t>DNA collection:</a:t>
            </a:r>
            <a:r>
              <a:rPr lang="en-US" dirty="0"/>
              <a:t> DNA is collected from all participants, often through a blood sample or a cheek swab.</a:t>
            </a:r>
          </a:p>
          <a:p>
            <a:r>
              <a:rPr lang="en-US" b="1" dirty="0"/>
              <a:t>Genotyping:</a:t>
            </a:r>
            <a:r>
              <a:rPr lang="en-US" dirty="0"/>
              <a:t> The DNA is then analyzed to identify common genetic variants, typically single nucleotide polymorphisms (SNPs), across the entire genome.</a:t>
            </a:r>
          </a:p>
          <a:p>
            <a:r>
              <a:rPr lang="en-US" b="1" dirty="0"/>
              <a:t>Association testing:</a:t>
            </a:r>
            <a:r>
              <a:rPr lang="en-US" dirty="0"/>
              <a:t> Statistical tests are performed to see if any particular SNP variant is found significantly more often in one group than the other. For example, more people with heart disease might have a "C" SNP in a specific gene compared to a "T" SNP, which is more common in the control group.</a:t>
            </a:r>
          </a:p>
          <a:p>
            <a:r>
              <a:rPr lang="en-US" b="1" dirty="0"/>
              <a:t>Interpretation:</a:t>
            </a:r>
            <a:r>
              <a:rPr lang="en-US" dirty="0"/>
              <a:t> Variants found more frequently in the case group are considered to be associated with the disease or trait. </a:t>
            </a:r>
          </a:p>
          <a:p>
            <a:endParaRPr lang="en-US" dirty="0"/>
          </a:p>
        </p:txBody>
      </p:sp>
      <p:sp>
        <p:nvSpPr>
          <p:cNvPr id="4" name="Slide Number Placeholder 3">
            <a:extLst>
              <a:ext uri="{FF2B5EF4-FFF2-40B4-BE49-F238E27FC236}">
                <a16:creationId xmlns:a16="http://schemas.microsoft.com/office/drawing/2014/main" id="{07BD7618-645F-A0B0-1A1C-11848B8F1D67}"/>
              </a:ext>
            </a:extLst>
          </p:cNvPr>
          <p:cNvSpPr>
            <a:spLocks noGrp="1"/>
          </p:cNvSpPr>
          <p:nvPr>
            <p:ph type="sldNum" sz="quarter" idx="12"/>
          </p:nvPr>
        </p:nvSpPr>
        <p:spPr/>
        <p:txBody>
          <a:bodyPr/>
          <a:lstStyle/>
          <a:p>
            <a:fld id="{B82CCC60-E8CD-4174-8B1A-7DF615B22EEF}" type="slidenum">
              <a:rPr lang="en-US" smtClean="0"/>
              <a:pPr/>
              <a:t>59</a:t>
            </a:fld>
            <a:endParaRPr lang="en-US"/>
          </a:p>
        </p:txBody>
      </p:sp>
    </p:spTree>
    <p:extLst>
      <p:ext uri="{BB962C8B-B14F-4D97-AF65-F5344CB8AC3E}">
        <p14:creationId xmlns:p14="http://schemas.microsoft.com/office/powerpoint/2010/main" val="10161144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76A8C-E7D6-3257-9E0F-5BBA4262CB35}"/>
              </a:ext>
            </a:extLst>
          </p:cNvPr>
          <p:cNvSpPr>
            <a:spLocks noGrp="1"/>
          </p:cNvSpPr>
          <p:nvPr>
            <p:ph type="title"/>
          </p:nvPr>
        </p:nvSpPr>
        <p:spPr/>
        <p:txBody>
          <a:bodyPr>
            <a:normAutofit fontScale="90000"/>
          </a:bodyPr>
          <a:lstStyle/>
          <a:p>
            <a:r>
              <a:rPr lang="en-US" dirty="0"/>
              <a:t>What is GWAS used for</a:t>
            </a:r>
          </a:p>
        </p:txBody>
      </p:sp>
      <p:sp>
        <p:nvSpPr>
          <p:cNvPr id="3" name="Content Placeholder 2">
            <a:extLst>
              <a:ext uri="{FF2B5EF4-FFF2-40B4-BE49-F238E27FC236}">
                <a16:creationId xmlns:a16="http://schemas.microsoft.com/office/drawing/2014/main" id="{24432F2C-BBCF-C71E-3A6F-9B8D4C171AD1}"/>
              </a:ext>
            </a:extLst>
          </p:cNvPr>
          <p:cNvSpPr>
            <a:spLocks noGrp="1"/>
          </p:cNvSpPr>
          <p:nvPr>
            <p:ph idx="1"/>
          </p:nvPr>
        </p:nvSpPr>
        <p:spPr/>
        <p:txBody>
          <a:bodyPr>
            <a:normAutofit lnSpcReduction="10000"/>
          </a:bodyPr>
          <a:lstStyle/>
          <a:p>
            <a:r>
              <a:rPr lang="en-US" b="1" dirty="0"/>
              <a:t>Understanding disease:</a:t>
            </a:r>
            <a:r>
              <a:rPr lang="en-US" dirty="0"/>
              <a:t> GWAS provides a way to identify genetic risk factors for many diseases, including some types of cancer, heart disease, and neurological disorders.</a:t>
            </a:r>
          </a:p>
          <a:p>
            <a:r>
              <a:rPr lang="en-US" b="1" dirty="0"/>
              <a:t>Improving research:</a:t>
            </a:r>
            <a:r>
              <a:rPr lang="en-US" dirty="0"/>
              <a:t> By pinpointing these associated variants, researchers can investigate the specific genes and biological mechanisms that contribute to disease risk.</a:t>
            </a:r>
          </a:p>
          <a:p>
            <a:r>
              <a:rPr lang="en-US" b="1" dirty="0"/>
              <a:t>Developing treatments:</a:t>
            </a:r>
            <a:r>
              <a:rPr lang="en-US" dirty="0"/>
              <a:t> Insights from GWAS can serve as a first step toward understanding a disease's underlying causes and eventually lead to the development of new treatments. </a:t>
            </a:r>
          </a:p>
          <a:p>
            <a:endParaRPr lang="en-US" dirty="0"/>
          </a:p>
        </p:txBody>
      </p:sp>
      <p:sp>
        <p:nvSpPr>
          <p:cNvPr id="4" name="Slide Number Placeholder 3">
            <a:extLst>
              <a:ext uri="{FF2B5EF4-FFF2-40B4-BE49-F238E27FC236}">
                <a16:creationId xmlns:a16="http://schemas.microsoft.com/office/drawing/2014/main" id="{23545AC8-91B5-D557-CEE2-13E59A5D176C}"/>
              </a:ext>
            </a:extLst>
          </p:cNvPr>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34778548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The first step in GWAS: 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many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61</a:t>
            </a:fld>
            <a:endParaRPr lang="en-US"/>
          </a:p>
        </p:txBody>
      </p:sp>
    </p:spTree>
    <p:extLst>
      <p:ext uri="{BB962C8B-B14F-4D97-AF65-F5344CB8AC3E}">
        <p14:creationId xmlns:p14="http://schemas.microsoft.com/office/powerpoint/2010/main" val="5826609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62</a:t>
            </a:fld>
            <a:endParaRPr lang="en-US"/>
          </a:p>
        </p:txBody>
      </p:sp>
    </p:spTree>
    <p:extLst>
      <p:ext uri="{BB962C8B-B14F-4D97-AF65-F5344CB8AC3E}">
        <p14:creationId xmlns:p14="http://schemas.microsoft.com/office/powerpoint/2010/main" val="897960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EB4F-9DB9-B8C4-DCFA-CBAE516F9E21}"/>
              </a:ext>
            </a:extLst>
          </p:cNvPr>
          <p:cNvSpPr>
            <a:spLocks noGrp="1"/>
          </p:cNvSpPr>
          <p:nvPr>
            <p:ph type="title"/>
          </p:nvPr>
        </p:nvSpPr>
        <p:spPr/>
        <p:txBody>
          <a:bodyPr>
            <a:normAutofit fontScale="90000"/>
          </a:bodyPr>
          <a:lstStyle/>
          <a:p>
            <a:r>
              <a:rPr lang="en-US" dirty="0"/>
              <a:t>Why variant calling is important</a:t>
            </a:r>
          </a:p>
        </p:txBody>
      </p:sp>
      <p:sp>
        <p:nvSpPr>
          <p:cNvPr id="3" name="Content Placeholder 2">
            <a:extLst>
              <a:ext uri="{FF2B5EF4-FFF2-40B4-BE49-F238E27FC236}">
                <a16:creationId xmlns:a16="http://schemas.microsoft.com/office/drawing/2014/main" id="{AC86A152-31BF-4E55-AF0D-73795B258635}"/>
              </a:ext>
            </a:extLst>
          </p:cNvPr>
          <p:cNvSpPr>
            <a:spLocks noGrp="1"/>
          </p:cNvSpPr>
          <p:nvPr>
            <p:ph idx="1"/>
          </p:nvPr>
        </p:nvSpPr>
        <p:spPr/>
        <p:txBody>
          <a:bodyPr/>
          <a:lstStyle/>
          <a:p>
            <a:r>
              <a:rPr lang="en-US" b="1" dirty="0"/>
              <a:t>Disease Research: </a:t>
            </a:r>
            <a:r>
              <a:rPr lang="en-US" dirty="0"/>
              <a:t>Variant calling helps identify genetic mutations associated with various diseases, including cancer. </a:t>
            </a:r>
          </a:p>
          <a:p>
            <a:r>
              <a:rPr lang="en-US" b="1" dirty="0"/>
              <a:t>Clinical Diagnostics: </a:t>
            </a:r>
            <a:r>
              <a:rPr lang="en-US" dirty="0"/>
              <a:t>It provides data for diagnosing genetic conditions and understanding individual predispositions to common health problems. </a:t>
            </a:r>
          </a:p>
          <a:p>
            <a:r>
              <a:rPr lang="en-US" b="1" dirty="0"/>
              <a:t>Evolutionary Studies: </a:t>
            </a:r>
            <a:r>
              <a:rPr lang="en-US" dirty="0"/>
              <a:t>Comparing variants across populations helps researchers understand evolutionary relationships and genetic diversity. </a:t>
            </a:r>
          </a:p>
        </p:txBody>
      </p:sp>
      <p:sp>
        <p:nvSpPr>
          <p:cNvPr id="4" name="Slide Number Placeholder 3">
            <a:extLst>
              <a:ext uri="{FF2B5EF4-FFF2-40B4-BE49-F238E27FC236}">
                <a16:creationId xmlns:a16="http://schemas.microsoft.com/office/drawing/2014/main" id="{1C15619B-34FD-33B8-1746-F3746FA338C0}"/>
              </a:ext>
            </a:extLst>
          </p:cNvPr>
          <p:cNvSpPr>
            <a:spLocks noGrp="1"/>
          </p:cNvSpPr>
          <p:nvPr>
            <p:ph type="sldNum" sz="quarter" idx="12"/>
          </p:nvPr>
        </p:nvSpPr>
        <p:spPr/>
        <p:txBody>
          <a:bodyPr/>
          <a:lstStyle/>
          <a:p>
            <a:fld id="{B82CCC60-E8CD-4174-8B1A-7DF615B22EEF}" type="slidenum">
              <a:rPr lang="en-US" smtClean="0"/>
              <a:pPr/>
              <a:t>63</a:t>
            </a:fld>
            <a:endParaRPr lang="en-US"/>
          </a:p>
        </p:txBody>
      </p:sp>
    </p:spTree>
    <p:extLst>
      <p:ext uri="{BB962C8B-B14F-4D97-AF65-F5344CB8AC3E}">
        <p14:creationId xmlns:p14="http://schemas.microsoft.com/office/powerpoint/2010/main" val="2016871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15462</TotalTime>
  <Words>5285</Words>
  <Application>Microsoft Office PowerPoint</Application>
  <PresentationFormat>Widescreen</PresentationFormat>
  <Paragraphs>949</Paragraphs>
  <Slides>63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Cambria Math</vt:lpstr>
      <vt:lpstr>Courier New</vt:lpstr>
      <vt:lpstr>Trebuchet MS</vt:lpstr>
      <vt:lpstr>Office Theme</vt:lpstr>
      <vt:lpstr>PowerPoint Presentation</vt:lpstr>
      <vt:lpstr>Lab #5: Jaccard similarity</vt:lpstr>
      <vt:lpstr>Jaccard similarity example</vt:lpstr>
      <vt:lpstr>Ab initio gene finding</vt:lpstr>
      <vt:lpstr>Machine learning algorithms</vt:lpstr>
      <vt:lpstr>Markov chains and HMMs</vt:lpstr>
      <vt:lpstr>Positional Probabilities</vt:lpstr>
      <vt:lpstr>Positional Probabilities</vt:lpstr>
      <vt:lpstr>Example</vt:lpstr>
      <vt:lpstr>Splice site patterns</vt:lpstr>
      <vt:lpstr>Using PWM to evaluate pattern</vt:lpstr>
      <vt:lpstr>PPM vs PWM</vt:lpstr>
      <vt:lpstr>Scoring with PWMs</vt:lpstr>
      <vt:lpstr>PWM score</vt:lpstr>
      <vt:lpstr>Drawback of PWMs</vt:lpstr>
      <vt:lpstr>Markov chain</vt:lpstr>
      <vt:lpstr>Markov chain</vt:lpstr>
      <vt:lpstr>Markov model</vt:lpstr>
      <vt:lpstr>Markov model</vt:lpstr>
      <vt:lpstr>Markov model</vt:lpstr>
      <vt:lpstr>Training Markov chain</vt:lpstr>
      <vt:lpstr>Scoring with Markov chain</vt:lpstr>
      <vt:lpstr>Markov Weight Array Matrix</vt:lpstr>
      <vt:lpstr>PWM vs WAM</vt:lpstr>
      <vt:lpstr>Markov Weight Array Matrix</vt:lpstr>
      <vt:lpstr>Markov Weight Array Matrix</vt:lpstr>
      <vt:lpstr>Scoring pattern with Markov WAM</vt:lpstr>
      <vt:lpstr>Estimation of negative hypothesis</vt:lpstr>
      <vt:lpstr>Extend to arbitrary order</vt:lpstr>
      <vt:lpstr>How to choose the order of Markov chain or WAM</vt:lpstr>
      <vt:lpstr>Hidden Markov Models</vt:lpstr>
      <vt:lpstr>Hidden Markov Models</vt:lpstr>
      <vt:lpstr>The game</vt:lpstr>
      <vt:lpstr>Hidden Markov Models</vt:lpstr>
      <vt:lpstr>Hidden Markov Models</vt:lpstr>
      <vt:lpstr>Hidden Markov Models</vt:lpstr>
      <vt:lpstr>Hidden Markov Models</vt:lpstr>
      <vt:lpstr>Hidden Markov Models</vt:lpstr>
      <vt:lpstr>Gene finding with HMMs</vt:lpstr>
      <vt:lpstr>Gene finding with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The Viterbi algorithm: summary</vt:lpstr>
      <vt:lpstr>Lab #6</vt:lpstr>
      <vt:lpstr>Making use of annotated genomes</vt:lpstr>
      <vt:lpstr>Genome Wide Association Study</vt:lpstr>
      <vt:lpstr>How GWAS works</vt:lpstr>
      <vt:lpstr>What is GWAS used for</vt:lpstr>
      <vt:lpstr>The first step in GWAS: Variant Calling</vt:lpstr>
      <vt:lpstr>Types of variants</vt:lpstr>
      <vt:lpstr>Why variant calling is important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90</cp:revision>
  <dcterms:created xsi:type="dcterms:W3CDTF">2013-08-21T19:17:07Z</dcterms:created>
  <dcterms:modified xsi:type="dcterms:W3CDTF">2026-10-30T15:29:13Z</dcterms:modified>
</cp:coreProperties>
</file>