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72" r:id="rId2"/>
    <p:sldId id="850" r:id="rId3"/>
    <p:sldId id="572" r:id="rId4"/>
    <p:sldId id="823" r:id="rId5"/>
    <p:sldId id="825" r:id="rId6"/>
    <p:sldId id="827" r:id="rId7"/>
    <p:sldId id="826" r:id="rId8"/>
    <p:sldId id="828" r:id="rId9"/>
    <p:sldId id="831" r:id="rId10"/>
    <p:sldId id="824" r:id="rId11"/>
    <p:sldId id="832" r:id="rId12"/>
    <p:sldId id="833" r:id="rId13"/>
    <p:sldId id="834" r:id="rId14"/>
    <p:sldId id="835" r:id="rId15"/>
    <p:sldId id="836" r:id="rId16"/>
    <p:sldId id="883" r:id="rId17"/>
    <p:sldId id="837" r:id="rId18"/>
    <p:sldId id="838" r:id="rId19"/>
    <p:sldId id="839" r:id="rId20"/>
    <p:sldId id="840" r:id="rId21"/>
    <p:sldId id="842" r:id="rId22"/>
    <p:sldId id="844" r:id="rId23"/>
    <p:sldId id="845" r:id="rId24"/>
    <p:sldId id="843" r:id="rId25"/>
    <p:sldId id="846" r:id="rId26"/>
    <p:sldId id="84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5EDCBF-8DA2-4822-B37E-0CD08080AC3E}" v="4" dt="2025-11-04T15:15:24.7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7" autoAdjust="0"/>
    <p:restoredTop sz="93721" autoAdjust="0"/>
  </p:normalViewPr>
  <p:slideViewPr>
    <p:cSldViewPr snapToGrid="0">
      <p:cViewPr varScale="1">
        <p:scale>
          <a:sx n="99" d="100"/>
          <a:sy n="99" d="100"/>
        </p:scale>
        <p:origin x="240" y="84"/>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8553A319-8433-4677-8F80-E28D63617D4C}"/>
    <pc:docChg chg="delSld modSld">
      <pc:chgData name="Aleksey Zimin" userId="7f2637d0bc515791" providerId="LiveId" clId="{8553A319-8433-4677-8F80-E28D63617D4C}" dt="2025-11-04T15:15:24.738" v="4" actId="478"/>
      <pc:docMkLst>
        <pc:docMk/>
      </pc:docMkLst>
      <pc:sldChg chg="del">
        <pc:chgData name="Aleksey Zimin" userId="7f2637d0bc515791" providerId="LiveId" clId="{8553A319-8433-4677-8F80-E28D63617D4C}" dt="2025-11-03T19:18:14.684" v="0" actId="47"/>
        <pc:sldMkLst>
          <pc:docMk/>
          <pc:sldMk cId="582660925" sldId="557"/>
        </pc:sldMkLst>
      </pc:sldChg>
      <pc:sldChg chg="del">
        <pc:chgData name="Aleksey Zimin" userId="7f2637d0bc515791" providerId="LiveId" clId="{8553A319-8433-4677-8F80-E28D63617D4C}" dt="2025-11-03T19:18:14.684" v="0" actId="47"/>
        <pc:sldMkLst>
          <pc:docMk/>
          <pc:sldMk cId="897960614" sldId="559"/>
        </pc:sldMkLst>
      </pc:sldChg>
      <pc:sldChg chg="del">
        <pc:chgData name="Aleksey Zimin" userId="7f2637d0bc515791" providerId="LiveId" clId="{8553A319-8433-4677-8F80-E28D63617D4C}" dt="2025-11-03T19:18:14.684" v="0" actId="47"/>
        <pc:sldMkLst>
          <pc:docMk/>
          <pc:sldMk cId="2016871750" sldId="560"/>
        </pc:sldMkLst>
      </pc:sldChg>
      <pc:sldChg chg="del">
        <pc:chgData name="Aleksey Zimin" userId="7f2637d0bc515791" providerId="LiveId" clId="{8553A319-8433-4677-8F80-E28D63617D4C}" dt="2025-11-03T19:18:14.684" v="0" actId="47"/>
        <pc:sldMkLst>
          <pc:docMk/>
          <pc:sldMk cId="3059937519" sldId="811"/>
        </pc:sldMkLst>
      </pc:sldChg>
      <pc:sldChg chg="addSp delSp modSp">
        <pc:chgData name="Aleksey Zimin" userId="7f2637d0bc515791" providerId="LiveId" clId="{8553A319-8433-4677-8F80-E28D63617D4C}" dt="2025-11-04T15:15:24.738" v="4" actId="478"/>
        <pc:sldMkLst>
          <pc:docMk/>
          <pc:sldMk cId="1295660035" sldId="838"/>
        </pc:sldMkLst>
        <pc:spChg chg="mod">
          <ac:chgData name="Aleksey Zimin" userId="7f2637d0bc515791" providerId="LiveId" clId="{8553A319-8433-4677-8F80-E28D63617D4C}" dt="2025-11-04T15:15:23.985" v="3" actId="14100"/>
          <ac:spMkLst>
            <pc:docMk/>
            <pc:sldMk cId="1295660035" sldId="838"/>
            <ac:spMk id="10" creationId="{C080545E-7C46-2E7C-0336-CF9A4BD8A651}"/>
          </ac:spMkLst>
        </pc:spChg>
        <pc:spChg chg="add del">
          <ac:chgData name="Aleksey Zimin" userId="7f2637d0bc515791" providerId="LiveId" clId="{8553A319-8433-4677-8F80-E28D63617D4C}" dt="2025-11-04T15:15:24.738" v="4" actId="478"/>
          <ac:spMkLst>
            <pc:docMk/>
            <pc:sldMk cId="1295660035" sldId="838"/>
            <ac:spMk id="16" creationId="{27EAB2A2-2055-C259-13E5-150596B1D67E}"/>
          </ac:spMkLst>
        </pc:spChg>
      </pc:sldChg>
      <pc:sldChg chg="del">
        <pc:chgData name="Aleksey Zimin" userId="7f2637d0bc515791" providerId="LiveId" clId="{8553A319-8433-4677-8F80-E28D63617D4C}" dt="2025-11-03T19:18:14.684" v="0" actId="47"/>
        <pc:sldMkLst>
          <pc:docMk/>
          <pc:sldMk cId="523482158" sldId="851"/>
        </pc:sldMkLst>
      </pc:sldChg>
      <pc:sldChg chg="del">
        <pc:chgData name="Aleksey Zimin" userId="7f2637d0bc515791" providerId="LiveId" clId="{8553A319-8433-4677-8F80-E28D63617D4C}" dt="2025-11-03T19:18:14.684" v="0" actId="47"/>
        <pc:sldMkLst>
          <pc:docMk/>
          <pc:sldMk cId="2628352046" sldId="852"/>
        </pc:sldMkLst>
      </pc:sldChg>
      <pc:sldChg chg="del">
        <pc:chgData name="Aleksey Zimin" userId="7f2637d0bc515791" providerId="LiveId" clId="{8553A319-8433-4677-8F80-E28D63617D4C}" dt="2025-11-03T19:18:14.684" v="0" actId="47"/>
        <pc:sldMkLst>
          <pc:docMk/>
          <pc:sldMk cId="688161546" sldId="853"/>
        </pc:sldMkLst>
      </pc:sldChg>
      <pc:sldChg chg="del">
        <pc:chgData name="Aleksey Zimin" userId="7f2637d0bc515791" providerId="LiveId" clId="{8553A319-8433-4677-8F80-E28D63617D4C}" dt="2025-11-03T19:18:14.684" v="0" actId="47"/>
        <pc:sldMkLst>
          <pc:docMk/>
          <pc:sldMk cId="1582605635" sldId="854"/>
        </pc:sldMkLst>
      </pc:sldChg>
      <pc:sldChg chg="del">
        <pc:chgData name="Aleksey Zimin" userId="7f2637d0bc515791" providerId="LiveId" clId="{8553A319-8433-4677-8F80-E28D63617D4C}" dt="2025-11-03T19:18:14.684" v="0" actId="47"/>
        <pc:sldMkLst>
          <pc:docMk/>
          <pc:sldMk cId="2893015969" sldId="855"/>
        </pc:sldMkLst>
      </pc:sldChg>
      <pc:sldChg chg="del">
        <pc:chgData name="Aleksey Zimin" userId="7f2637d0bc515791" providerId="LiveId" clId="{8553A319-8433-4677-8F80-E28D63617D4C}" dt="2025-11-03T19:18:14.684" v="0" actId="47"/>
        <pc:sldMkLst>
          <pc:docMk/>
          <pc:sldMk cId="2155246616" sldId="856"/>
        </pc:sldMkLst>
      </pc:sldChg>
      <pc:sldChg chg="del">
        <pc:chgData name="Aleksey Zimin" userId="7f2637d0bc515791" providerId="LiveId" clId="{8553A319-8433-4677-8F80-E28D63617D4C}" dt="2025-11-03T19:18:14.684" v="0" actId="47"/>
        <pc:sldMkLst>
          <pc:docMk/>
          <pc:sldMk cId="140951592" sldId="857"/>
        </pc:sldMkLst>
      </pc:sldChg>
      <pc:sldChg chg="del">
        <pc:chgData name="Aleksey Zimin" userId="7f2637d0bc515791" providerId="LiveId" clId="{8553A319-8433-4677-8F80-E28D63617D4C}" dt="2025-11-03T19:18:14.684" v="0" actId="47"/>
        <pc:sldMkLst>
          <pc:docMk/>
          <pc:sldMk cId="3851234347" sldId="858"/>
        </pc:sldMkLst>
      </pc:sldChg>
      <pc:sldChg chg="del">
        <pc:chgData name="Aleksey Zimin" userId="7f2637d0bc515791" providerId="LiveId" clId="{8553A319-8433-4677-8F80-E28D63617D4C}" dt="2025-11-03T19:18:14.684" v="0" actId="47"/>
        <pc:sldMkLst>
          <pc:docMk/>
          <pc:sldMk cId="2509772218" sldId="859"/>
        </pc:sldMkLst>
      </pc:sldChg>
      <pc:sldChg chg="del">
        <pc:chgData name="Aleksey Zimin" userId="7f2637d0bc515791" providerId="LiveId" clId="{8553A319-8433-4677-8F80-E28D63617D4C}" dt="2025-11-03T19:18:14.684" v="0" actId="47"/>
        <pc:sldMkLst>
          <pc:docMk/>
          <pc:sldMk cId="3349687225" sldId="860"/>
        </pc:sldMkLst>
      </pc:sldChg>
      <pc:sldChg chg="del">
        <pc:chgData name="Aleksey Zimin" userId="7f2637d0bc515791" providerId="LiveId" clId="{8553A319-8433-4677-8F80-E28D63617D4C}" dt="2025-11-03T19:18:14.684" v="0" actId="47"/>
        <pc:sldMkLst>
          <pc:docMk/>
          <pc:sldMk cId="1777305015" sldId="861"/>
        </pc:sldMkLst>
      </pc:sldChg>
      <pc:sldChg chg="del">
        <pc:chgData name="Aleksey Zimin" userId="7f2637d0bc515791" providerId="LiveId" clId="{8553A319-8433-4677-8F80-E28D63617D4C}" dt="2025-11-03T19:18:14.684" v="0" actId="47"/>
        <pc:sldMkLst>
          <pc:docMk/>
          <pc:sldMk cId="3443782089" sldId="862"/>
        </pc:sldMkLst>
      </pc:sldChg>
      <pc:sldChg chg="del">
        <pc:chgData name="Aleksey Zimin" userId="7f2637d0bc515791" providerId="LiveId" clId="{8553A319-8433-4677-8F80-E28D63617D4C}" dt="2025-11-03T19:18:14.684" v="0" actId="47"/>
        <pc:sldMkLst>
          <pc:docMk/>
          <pc:sldMk cId="1731479648" sldId="863"/>
        </pc:sldMkLst>
      </pc:sldChg>
      <pc:sldChg chg="del">
        <pc:chgData name="Aleksey Zimin" userId="7f2637d0bc515791" providerId="LiveId" clId="{8553A319-8433-4677-8F80-E28D63617D4C}" dt="2025-11-03T19:18:14.684" v="0" actId="47"/>
        <pc:sldMkLst>
          <pc:docMk/>
          <pc:sldMk cId="80240427" sldId="864"/>
        </pc:sldMkLst>
      </pc:sldChg>
      <pc:sldChg chg="del">
        <pc:chgData name="Aleksey Zimin" userId="7f2637d0bc515791" providerId="LiveId" clId="{8553A319-8433-4677-8F80-E28D63617D4C}" dt="2025-11-03T19:18:14.684" v="0" actId="47"/>
        <pc:sldMkLst>
          <pc:docMk/>
          <pc:sldMk cId="2634646025" sldId="865"/>
        </pc:sldMkLst>
      </pc:sldChg>
      <pc:sldChg chg="del">
        <pc:chgData name="Aleksey Zimin" userId="7f2637d0bc515791" providerId="LiveId" clId="{8553A319-8433-4677-8F80-E28D63617D4C}" dt="2025-11-03T19:18:14.684" v="0" actId="47"/>
        <pc:sldMkLst>
          <pc:docMk/>
          <pc:sldMk cId="3640467478" sldId="866"/>
        </pc:sldMkLst>
      </pc:sldChg>
      <pc:sldChg chg="del">
        <pc:chgData name="Aleksey Zimin" userId="7f2637d0bc515791" providerId="LiveId" clId="{8553A319-8433-4677-8F80-E28D63617D4C}" dt="2025-11-03T19:18:14.684" v="0" actId="47"/>
        <pc:sldMkLst>
          <pc:docMk/>
          <pc:sldMk cId="749512955" sldId="868"/>
        </pc:sldMkLst>
      </pc:sldChg>
      <pc:sldChg chg="del">
        <pc:chgData name="Aleksey Zimin" userId="7f2637d0bc515791" providerId="LiveId" clId="{8553A319-8433-4677-8F80-E28D63617D4C}" dt="2025-11-03T19:18:14.684" v="0" actId="47"/>
        <pc:sldMkLst>
          <pc:docMk/>
          <pc:sldMk cId="1007581351" sldId="869"/>
        </pc:sldMkLst>
      </pc:sldChg>
      <pc:sldChg chg="del">
        <pc:chgData name="Aleksey Zimin" userId="7f2637d0bc515791" providerId="LiveId" clId="{8553A319-8433-4677-8F80-E28D63617D4C}" dt="2025-11-03T19:18:14.684" v="0" actId="47"/>
        <pc:sldMkLst>
          <pc:docMk/>
          <pc:sldMk cId="2143161316" sldId="870"/>
        </pc:sldMkLst>
      </pc:sldChg>
      <pc:sldChg chg="del">
        <pc:chgData name="Aleksey Zimin" userId="7f2637d0bc515791" providerId="LiveId" clId="{8553A319-8433-4677-8F80-E28D63617D4C}" dt="2025-11-03T19:18:14.684" v="0" actId="47"/>
        <pc:sldMkLst>
          <pc:docMk/>
          <pc:sldMk cId="3261130923" sldId="871"/>
        </pc:sldMkLst>
      </pc:sldChg>
      <pc:sldChg chg="del">
        <pc:chgData name="Aleksey Zimin" userId="7f2637d0bc515791" providerId="LiveId" clId="{8553A319-8433-4677-8F80-E28D63617D4C}" dt="2025-11-03T19:18:14.684" v="0" actId="47"/>
        <pc:sldMkLst>
          <pc:docMk/>
          <pc:sldMk cId="415209501" sldId="872"/>
        </pc:sldMkLst>
      </pc:sldChg>
      <pc:sldChg chg="del">
        <pc:chgData name="Aleksey Zimin" userId="7f2637d0bc515791" providerId="LiveId" clId="{8553A319-8433-4677-8F80-E28D63617D4C}" dt="2025-11-03T19:18:14.684" v="0" actId="47"/>
        <pc:sldMkLst>
          <pc:docMk/>
          <pc:sldMk cId="3041595195" sldId="873"/>
        </pc:sldMkLst>
      </pc:sldChg>
      <pc:sldChg chg="del">
        <pc:chgData name="Aleksey Zimin" userId="7f2637d0bc515791" providerId="LiveId" clId="{8553A319-8433-4677-8F80-E28D63617D4C}" dt="2025-11-03T19:18:14.684" v="0" actId="47"/>
        <pc:sldMkLst>
          <pc:docMk/>
          <pc:sldMk cId="841664835" sldId="874"/>
        </pc:sldMkLst>
      </pc:sldChg>
      <pc:sldChg chg="del">
        <pc:chgData name="Aleksey Zimin" userId="7f2637d0bc515791" providerId="LiveId" clId="{8553A319-8433-4677-8F80-E28D63617D4C}" dt="2025-11-03T19:18:14.684" v="0" actId="47"/>
        <pc:sldMkLst>
          <pc:docMk/>
          <pc:sldMk cId="749756353" sldId="875"/>
        </pc:sldMkLst>
      </pc:sldChg>
      <pc:sldChg chg="del">
        <pc:chgData name="Aleksey Zimin" userId="7f2637d0bc515791" providerId="LiveId" clId="{8553A319-8433-4677-8F80-E28D63617D4C}" dt="2025-11-03T19:18:14.684" v="0" actId="47"/>
        <pc:sldMkLst>
          <pc:docMk/>
          <pc:sldMk cId="1943159719" sldId="876"/>
        </pc:sldMkLst>
      </pc:sldChg>
      <pc:sldChg chg="del">
        <pc:chgData name="Aleksey Zimin" userId="7f2637d0bc515791" providerId="LiveId" clId="{8553A319-8433-4677-8F80-E28D63617D4C}" dt="2025-11-03T19:18:14.684" v="0" actId="47"/>
        <pc:sldMkLst>
          <pc:docMk/>
          <pc:sldMk cId="2131417150" sldId="877"/>
        </pc:sldMkLst>
      </pc:sldChg>
      <pc:sldChg chg="del">
        <pc:chgData name="Aleksey Zimin" userId="7f2637d0bc515791" providerId="LiveId" clId="{8553A319-8433-4677-8F80-E28D63617D4C}" dt="2025-11-03T19:18:14.684" v="0" actId="47"/>
        <pc:sldMkLst>
          <pc:docMk/>
          <pc:sldMk cId="323728444" sldId="878"/>
        </pc:sldMkLst>
      </pc:sldChg>
      <pc:sldChg chg="del">
        <pc:chgData name="Aleksey Zimin" userId="7f2637d0bc515791" providerId="LiveId" clId="{8553A319-8433-4677-8F80-E28D63617D4C}" dt="2025-11-03T19:18:14.684" v="0" actId="47"/>
        <pc:sldMkLst>
          <pc:docMk/>
          <pc:sldMk cId="1697097188" sldId="879"/>
        </pc:sldMkLst>
      </pc:sldChg>
      <pc:sldChg chg="del">
        <pc:chgData name="Aleksey Zimin" userId="7f2637d0bc515791" providerId="LiveId" clId="{8553A319-8433-4677-8F80-E28D63617D4C}" dt="2025-11-03T19:18:14.684" v="0" actId="47"/>
        <pc:sldMkLst>
          <pc:docMk/>
          <pc:sldMk cId="1972945173" sldId="880"/>
        </pc:sldMkLst>
      </pc:sldChg>
      <pc:sldChg chg="del">
        <pc:chgData name="Aleksey Zimin" userId="7f2637d0bc515791" providerId="LiveId" clId="{8553A319-8433-4677-8F80-E28D63617D4C}" dt="2025-11-03T19:18:14.684" v="0" actId="47"/>
        <pc:sldMkLst>
          <pc:docMk/>
          <pc:sldMk cId="1888440136" sldId="881"/>
        </pc:sldMkLst>
      </pc:sldChg>
      <pc:sldChg chg="del">
        <pc:chgData name="Aleksey Zimin" userId="7f2637d0bc515791" providerId="LiveId" clId="{8553A319-8433-4677-8F80-E28D63617D4C}" dt="2025-11-03T19:18:14.684" v="0" actId="47"/>
        <pc:sldMkLst>
          <pc:docMk/>
          <pc:sldMk cId="702189588" sldId="8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313FD6-7C7B-4426-BFC4-490AC0CFBE05}" type="slidenum">
              <a:rPr lang="en-US" smtClean="0"/>
              <a:t>21</a:t>
            </a:fld>
            <a:endParaRPr lang="en-US"/>
          </a:p>
        </p:txBody>
      </p:sp>
    </p:spTree>
    <p:extLst>
      <p:ext uri="{BB962C8B-B14F-4D97-AF65-F5344CB8AC3E}">
        <p14:creationId xmlns:p14="http://schemas.microsoft.com/office/powerpoint/2010/main" val="302781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F93E5-F2C6-7703-F603-1479BF556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45217-3DBB-69F2-441F-5C61441BB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185C6-F4D9-8DBA-32CD-2B750CF1A3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FD0F73-5C71-CA5C-7736-330387F70BF6}"/>
              </a:ext>
            </a:extLst>
          </p:cNvPr>
          <p:cNvSpPr>
            <a:spLocks noGrp="1"/>
          </p:cNvSpPr>
          <p:nvPr>
            <p:ph type="sldNum" sz="quarter" idx="5"/>
          </p:nvPr>
        </p:nvSpPr>
        <p:spPr/>
        <p:txBody>
          <a:bodyPr/>
          <a:lstStyle/>
          <a:p>
            <a:fld id="{A6313FD6-7C7B-4426-BFC4-490AC0CFBE05}" type="slidenum">
              <a:rPr lang="en-US" smtClean="0"/>
              <a:t>22</a:t>
            </a:fld>
            <a:endParaRPr lang="en-US"/>
          </a:p>
        </p:txBody>
      </p:sp>
    </p:spTree>
    <p:extLst>
      <p:ext uri="{BB962C8B-B14F-4D97-AF65-F5344CB8AC3E}">
        <p14:creationId xmlns:p14="http://schemas.microsoft.com/office/powerpoint/2010/main" val="52405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5789-7209-E4FA-78AE-28CAC5953A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51DF9-E25B-5888-C2A7-922517CC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7F188-369C-D6E3-A338-D6B73A25C3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AC868F-AB89-2C0A-1EB7-F88661B5C956}"/>
              </a:ext>
            </a:extLst>
          </p:cNvPr>
          <p:cNvSpPr>
            <a:spLocks noGrp="1"/>
          </p:cNvSpPr>
          <p:nvPr>
            <p:ph type="sldNum" sz="quarter" idx="5"/>
          </p:nvPr>
        </p:nvSpPr>
        <p:spPr/>
        <p:txBody>
          <a:bodyPr/>
          <a:lstStyle/>
          <a:p>
            <a:fld id="{A6313FD6-7C7B-4426-BFC4-490AC0CFBE05}" type="slidenum">
              <a:rPr lang="en-US" smtClean="0"/>
              <a:t>23</a:t>
            </a:fld>
            <a:endParaRPr lang="en-US"/>
          </a:p>
        </p:txBody>
      </p:sp>
    </p:spTree>
    <p:extLst>
      <p:ext uri="{BB962C8B-B14F-4D97-AF65-F5344CB8AC3E}">
        <p14:creationId xmlns:p14="http://schemas.microsoft.com/office/powerpoint/2010/main" val="4281364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11/4/2025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ccb.jhu.edu/software/stringtie/gff.s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ccb.jhu.edu/software/stringtie/gff.s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10</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958E8-6553-6846-4A14-22724CEEB930}"/>
              </a:ext>
            </a:extLst>
          </p:cNvPr>
          <p:cNvSpPr>
            <a:spLocks noGrp="1"/>
          </p:cNvSpPr>
          <p:nvPr>
            <p:ph type="title"/>
          </p:nvPr>
        </p:nvSpPr>
        <p:spPr/>
        <p:txBody>
          <a:bodyPr>
            <a:normAutofit fontScale="90000"/>
          </a:bodyPr>
          <a:lstStyle/>
          <a:p>
            <a:r>
              <a:rPr lang="en-US" dirty="0"/>
              <a:t>Lab #5: Jaccard similarity</a:t>
            </a:r>
          </a:p>
        </p:txBody>
      </p:sp>
      <p:sp>
        <p:nvSpPr>
          <p:cNvPr id="3" name="Content Placeholder 2">
            <a:extLst>
              <a:ext uri="{FF2B5EF4-FFF2-40B4-BE49-F238E27FC236}">
                <a16:creationId xmlns:a16="http://schemas.microsoft.com/office/drawing/2014/main" id="{15BAB270-8CBA-89C2-3120-EF8B9E1726C7}"/>
              </a:ext>
            </a:extLst>
          </p:cNvPr>
          <p:cNvSpPr>
            <a:spLocks noGrp="1"/>
          </p:cNvSpPr>
          <p:nvPr>
            <p:ph idx="1"/>
          </p:nvPr>
        </p:nvSpPr>
        <p:spPr>
          <a:xfrm>
            <a:off x="598620" y="1596540"/>
            <a:ext cx="10972800" cy="5261460"/>
          </a:xfrm>
        </p:spPr>
        <p:txBody>
          <a:bodyPr>
            <a:normAutofit fontScale="70000" lnSpcReduction="20000"/>
          </a:bodyPr>
          <a:lstStyle/>
          <a:p>
            <a:r>
              <a:rPr lang="en-US" dirty="0"/>
              <a:t>In this lab assignment you will write set of functions to compute Jaccard similarity between genomes based on comparison of their fixed size sketches. Due November 10</a:t>
            </a:r>
            <a:r>
              <a:rPr lang="en-US" baseline="30000" dirty="0"/>
              <a:t>th</a:t>
            </a:r>
            <a:r>
              <a:rPr lang="en-US" dirty="0"/>
              <a:t> at 8:00pm</a:t>
            </a:r>
          </a:p>
          <a:p>
            <a:r>
              <a:rPr lang="en-US" dirty="0"/>
              <a:t>The goal is to write a Python script named </a:t>
            </a:r>
            <a:r>
              <a:rPr lang="en-US" b="1" dirty="0"/>
              <a:t>jaccard.py</a:t>
            </a:r>
            <a:r>
              <a:rPr lang="en-US" dirty="0"/>
              <a:t> containing the following functions:</a:t>
            </a:r>
          </a:p>
          <a:p>
            <a:pPr lvl="1"/>
            <a:r>
              <a:rPr lang="en-US" i="1" dirty="0" err="1"/>
              <a:t>reverse_complement</a:t>
            </a:r>
            <a:r>
              <a:rPr lang="en-US" i="1" dirty="0"/>
              <a:t>(seq): </a:t>
            </a:r>
            <a:r>
              <a:rPr lang="en-US" dirty="0"/>
              <a:t>returns reverse complement of sequence seq; </a:t>
            </a:r>
            <a:r>
              <a:rPr lang="en-US" u="sng" dirty="0"/>
              <a:t>reuse this function from Lab #2</a:t>
            </a:r>
            <a:r>
              <a:rPr lang="en-US" dirty="0"/>
              <a:t>.</a:t>
            </a:r>
          </a:p>
          <a:p>
            <a:pPr lvl="1"/>
            <a:r>
              <a:rPr lang="en-US" i="1" dirty="0" err="1"/>
              <a:t>compute_num_value</a:t>
            </a:r>
            <a:r>
              <a:rPr lang="en-US" i="1" dirty="0"/>
              <a:t> (seq): </a:t>
            </a:r>
            <a:r>
              <a:rPr lang="en-US" dirty="0"/>
              <a:t>returns minimum numerical value between forward and reverse versions of the sequence </a:t>
            </a:r>
            <a:r>
              <a:rPr lang="en-US" i="1" dirty="0"/>
              <a:t>seq</a:t>
            </a:r>
            <a:r>
              <a:rPr lang="en-US" dirty="0"/>
              <a:t>; </a:t>
            </a:r>
            <a:r>
              <a:rPr lang="en-US" u="sng" dirty="0"/>
              <a:t>reuse this function from Lab #2</a:t>
            </a:r>
            <a:r>
              <a:rPr lang="en-US" dirty="0"/>
              <a:t>.</a:t>
            </a:r>
          </a:p>
          <a:p>
            <a:pPr lvl="1"/>
            <a:r>
              <a:rPr lang="en-US" dirty="0"/>
              <a:t>(G:30pt,U:30pt) </a:t>
            </a:r>
            <a:r>
              <a:rPr lang="en-US" i="1" dirty="0" err="1"/>
              <a:t>load_fasta_to_dict</a:t>
            </a:r>
            <a:r>
              <a:rPr lang="en-US" i="1" dirty="0"/>
              <a:t>(</a:t>
            </a:r>
            <a:r>
              <a:rPr lang="en-US" i="1" dirty="0" err="1"/>
              <a:t>fasta_path</a:t>
            </a:r>
            <a:r>
              <a:rPr lang="en-US" i="1" dirty="0"/>
              <a:t>): </a:t>
            </a:r>
            <a:r>
              <a:rPr lang="en-US" dirty="0"/>
              <a:t>parses fasta file </a:t>
            </a:r>
            <a:r>
              <a:rPr lang="en-US" i="1" dirty="0" err="1"/>
              <a:t>fasta_path</a:t>
            </a:r>
            <a:r>
              <a:rPr lang="en-US" i="1" dirty="0"/>
              <a:t> </a:t>
            </a:r>
            <a:r>
              <a:rPr lang="en-US" dirty="0"/>
              <a:t>and returns a dictionary where keys are names of fasta sequences, and values are the genome sequences</a:t>
            </a:r>
          </a:p>
          <a:p>
            <a:pPr lvl="1"/>
            <a:r>
              <a:rPr lang="en-US" dirty="0"/>
              <a:t>(G:30pt,U:30pt) </a:t>
            </a:r>
            <a:r>
              <a:rPr lang="en-US" i="1" dirty="0" err="1"/>
              <a:t>compute_sketch</a:t>
            </a:r>
            <a:r>
              <a:rPr lang="en-US" i="1" dirty="0"/>
              <a:t>(</a:t>
            </a:r>
            <a:r>
              <a:rPr lang="en-US" i="1" dirty="0" err="1"/>
              <a:t>seq_dict,k,s</a:t>
            </a:r>
            <a:r>
              <a:rPr lang="en-US" i="1" dirty="0"/>
              <a:t>): </a:t>
            </a:r>
            <a:r>
              <a:rPr lang="en-US" dirty="0"/>
              <a:t>returns a sketch, which is an array of </a:t>
            </a:r>
            <a:r>
              <a:rPr lang="en-US" i="1" dirty="0"/>
              <a:t>s</a:t>
            </a:r>
            <a:r>
              <a:rPr lang="en-US" dirty="0"/>
              <a:t> smallest distinct integer k-</a:t>
            </a:r>
            <a:r>
              <a:rPr lang="en-US" dirty="0" err="1"/>
              <a:t>mer</a:t>
            </a:r>
            <a:r>
              <a:rPr lang="en-US" dirty="0"/>
              <a:t> values sorted from </a:t>
            </a:r>
            <a:r>
              <a:rPr lang="en-US" b="1" dirty="0"/>
              <a:t>smallest to largest</a:t>
            </a:r>
            <a:r>
              <a:rPr lang="en-US" dirty="0"/>
              <a:t> for all k-</a:t>
            </a:r>
            <a:r>
              <a:rPr lang="en-US" dirty="0" err="1"/>
              <a:t>mers</a:t>
            </a:r>
            <a:r>
              <a:rPr lang="en-US" dirty="0"/>
              <a:t> of size </a:t>
            </a:r>
            <a:r>
              <a:rPr lang="en-US" i="1" dirty="0"/>
              <a:t>k</a:t>
            </a:r>
            <a:r>
              <a:rPr lang="en-US" dirty="0"/>
              <a:t> in all genome sequences in </a:t>
            </a:r>
            <a:r>
              <a:rPr lang="en-US" i="1" dirty="0" err="1"/>
              <a:t>seq_dict</a:t>
            </a:r>
            <a:endParaRPr lang="en-US" i="1" dirty="0"/>
          </a:p>
          <a:p>
            <a:pPr lvl="1"/>
            <a:r>
              <a:rPr lang="en-US" dirty="0"/>
              <a:t>(G:30pt,U:40pt) </a:t>
            </a:r>
            <a:r>
              <a:rPr lang="en-US" i="1" dirty="0" err="1"/>
              <a:t>compare_sketches</a:t>
            </a:r>
            <a:r>
              <a:rPr lang="en-US" i="1" dirty="0"/>
              <a:t>(sketch1,sketch2,s): </a:t>
            </a:r>
            <a:r>
              <a:rPr lang="en-US" dirty="0"/>
              <a:t>computes Jaccard similarity for sketches </a:t>
            </a:r>
            <a:r>
              <a:rPr lang="en-US" i="1" dirty="0"/>
              <a:t>sketch1</a:t>
            </a:r>
            <a:r>
              <a:rPr lang="en-US" dirty="0"/>
              <a:t> and </a:t>
            </a:r>
            <a:r>
              <a:rPr lang="en-US" i="1" dirty="0"/>
              <a:t>sketch2</a:t>
            </a:r>
            <a:r>
              <a:rPr lang="en-US" dirty="0"/>
              <a:t> of size </a:t>
            </a:r>
            <a:r>
              <a:rPr lang="en-US" i="1" dirty="0"/>
              <a:t>s, </a:t>
            </a:r>
            <a:r>
              <a:rPr lang="en-US" dirty="0"/>
              <a:t>returns a floating-point number between 0 and 1</a:t>
            </a:r>
            <a:r>
              <a:rPr lang="en-US" i="1" dirty="0"/>
              <a:t>.</a:t>
            </a:r>
          </a:p>
          <a:p>
            <a:r>
              <a:rPr lang="en-US" dirty="0"/>
              <a:t>Graduate students only: (10pt) download two HIV virus sequences from NCBI: accessions GCA_003109165.1 and GCA_003109225.1; use s=20, vary K from 6 to 101, plot Jaccard(K,s).  At what value of K Jaccard similarity becomes equal to 0? Upload a figure containing plot of Jaccard(K,s) as function of K. Add a box with value of K’ where Jaccard (K’,20)==0</a:t>
            </a:r>
          </a:p>
        </p:txBody>
      </p:sp>
      <p:sp>
        <p:nvSpPr>
          <p:cNvPr id="4" name="Slide Number Placeholder 3">
            <a:extLst>
              <a:ext uri="{FF2B5EF4-FFF2-40B4-BE49-F238E27FC236}">
                <a16:creationId xmlns:a16="http://schemas.microsoft.com/office/drawing/2014/main" id="{72CAADF0-F1F7-C3B8-ED06-EFFA1A9808E4}"/>
              </a:ext>
            </a:extLst>
          </p:cNvPr>
          <p:cNvSpPr>
            <a:spLocks noGrp="1"/>
          </p:cNvSpPr>
          <p:nvPr>
            <p:ph type="sldNum" sz="quarter" idx="12"/>
          </p:nvPr>
        </p:nvSpPr>
        <p:spPr/>
        <p:txBody>
          <a:bodyPr/>
          <a:lstStyle/>
          <a:p>
            <a:fld id="{B82CCC60-E8CD-4174-8B1A-7DF615B22EEF}" type="slidenum">
              <a:rPr lang="en-US" smtClean="0"/>
              <a:pPr/>
              <a:t>2</a:t>
            </a:fld>
            <a:endParaRPr lang="en-US" dirty="0"/>
          </a:p>
        </p:txBody>
      </p:sp>
    </p:spTree>
    <p:extLst>
      <p:ext uri="{BB962C8B-B14F-4D97-AF65-F5344CB8AC3E}">
        <p14:creationId xmlns:p14="http://schemas.microsoft.com/office/powerpoint/2010/main" val="1812347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a:t>Jaccard similarity </a:t>
            </a:r>
            <a:r>
              <a:rPr lang="en-US" dirty="0"/>
              <a:t>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B8FCB-73ED-8DDD-93C0-2D14E24CB9C3}"/>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81C5115-8A33-E86F-8D76-7D36BE76A7A5}"/>
              </a:ext>
            </a:extLst>
          </p:cNvPr>
          <p:cNvSpPr>
            <a:spLocks noGrp="1"/>
          </p:cNvSpPr>
          <p:nvPr>
            <p:ph idx="1"/>
          </p:nvPr>
        </p:nvSpPr>
        <p:spPr>
          <a:xfrm>
            <a:off x="598620" y="1596540"/>
            <a:ext cx="4970907" cy="5124936"/>
          </a:xfrm>
        </p:spPr>
        <p:txBody>
          <a:bodyPr>
            <a:normAutofit lnSpcReduction="10000"/>
          </a:bodyPr>
          <a:lstStyle/>
          <a:p>
            <a:r>
              <a:rPr lang="en-US" dirty="0"/>
              <a:t>Use spliced alignments</a:t>
            </a:r>
          </a:p>
          <a:p>
            <a:r>
              <a:rPr lang="en-US" dirty="0"/>
              <a:t>Typically faster and more accurate</a:t>
            </a:r>
          </a:p>
          <a:p>
            <a:r>
              <a:rPr lang="en-US" dirty="0"/>
              <a:t>Build </a:t>
            </a:r>
            <a:r>
              <a:rPr lang="en-US" i="1" dirty="0"/>
              <a:t>splice graph:</a:t>
            </a:r>
          </a:p>
          <a:p>
            <a:pPr lvl="1"/>
            <a:r>
              <a:rPr lang="en-US" dirty="0"/>
              <a:t>Nodes are exons</a:t>
            </a:r>
          </a:p>
          <a:p>
            <a:pPr lvl="1"/>
            <a:r>
              <a:rPr lang="en-US" dirty="0"/>
              <a:t>Edges are introns</a:t>
            </a:r>
          </a:p>
          <a:p>
            <a:pPr lvl="1"/>
            <a:r>
              <a:rPr lang="en-US" dirty="0"/>
              <a:t>Edge weight is the number of spliced reads</a:t>
            </a:r>
          </a:p>
          <a:p>
            <a:r>
              <a:rPr lang="en-US" dirty="0"/>
              <a:t>Remember that these data represent several linear transcripts</a:t>
            </a:r>
          </a:p>
        </p:txBody>
      </p:sp>
      <p:sp>
        <p:nvSpPr>
          <p:cNvPr id="4" name="Slide Number Placeholder 3">
            <a:extLst>
              <a:ext uri="{FF2B5EF4-FFF2-40B4-BE49-F238E27FC236}">
                <a16:creationId xmlns:a16="http://schemas.microsoft.com/office/drawing/2014/main" id="{2A1FD99D-5F07-0441-DA42-26D97D6949C5}"/>
              </a:ext>
            </a:extLst>
          </p:cNvPr>
          <p:cNvSpPr>
            <a:spLocks noGrp="1"/>
          </p:cNvSpPr>
          <p:nvPr>
            <p:ph type="sldNum" sz="quarter" idx="12"/>
          </p:nvPr>
        </p:nvSpPr>
        <p:spPr/>
        <p:txBody>
          <a:bodyPr/>
          <a:lstStyle/>
          <a:p>
            <a:fld id="{B82CCC60-E8CD-4174-8B1A-7DF615B22EEF}" type="slidenum">
              <a:rPr lang="en-US" smtClean="0"/>
              <a:pPr/>
              <a:t>4</a:t>
            </a:fld>
            <a:endParaRPr lang="en-US"/>
          </a:p>
        </p:txBody>
      </p:sp>
      <p:pic>
        <p:nvPicPr>
          <p:cNvPr id="6" name="Picture 5">
            <a:extLst>
              <a:ext uri="{FF2B5EF4-FFF2-40B4-BE49-F238E27FC236}">
                <a16:creationId xmlns:a16="http://schemas.microsoft.com/office/drawing/2014/main" id="{770E8454-EDB9-F313-7508-D659A7DF43B8}"/>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2E39988-27F3-BD0D-FD4F-3B4D1610A782}"/>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068933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6769-3BB3-9D98-65BC-4DE6E616B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DBFAC-04B0-8310-4F4E-270443094130}"/>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0714195D-A767-9659-DDA1-23587D59564F}"/>
              </a:ext>
            </a:extLst>
          </p:cNvPr>
          <p:cNvSpPr>
            <a:spLocks noGrp="1"/>
          </p:cNvSpPr>
          <p:nvPr>
            <p:ph idx="1"/>
          </p:nvPr>
        </p:nvSpPr>
        <p:spPr>
          <a:xfrm>
            <a:off x="598620" y="1596540"/>
            <a:ext cx="4970907" cy="4581150"/>
          </a:xfrm>
        </p:spPr>
        <p:txBody>
          <a:bodyPr>
            <a:normAutofit fontScale="92500" lnSpcReduction="10000"/>
          </a:bodyPr>
          <a:lstStyle/>
          <a:p>
            <a:r>
              <a:rPr lang="en-US" dirty="0"/>
              <a:t>Can be solved as a variant of </a:t>
            </a:r>
            <a:r>
              <a:rPr lang="en-US" i="1" dirty="0"/>
              <a:t>maximum flow </a:t>
            </a:r>
            <a:r>
              <a:rPr lang="en-US" dirty="0"/>
              <a:t>problem</a:t>
            </a:r>
          </a:p>
          <a:p>
            <a:r>
              <a:rPr lang="en-US" dirty="0"/>
              <a:t>The problem: distribute paths</a:t>
            </a:r>
            <a:r>
              <a:rPr lang="en-US"/>
              <a:t>(flows)  </a:t>
            </a:r>
            <a:r>
              <a:rPr lang="en-US" dirty="0"/>
              <a:t>between several linear transcripts</a:t>
            </a:r>
          </a:p>
          <a:p>
            <a:r>
              <a:rPr lang="en-US" dirty="0"/>
              <a:t>Algorithm: </a:t>
            </a:r>
          </a:p>
          <a:p>
            <a:pPr lvl="1"/>
            <a:r>
              <a:rPr lang="en-US" dirty="0"/>
              <a:t>Compute the path of heaviest coverage</a:t>
            </a:r>
          </a:p>
          <a:p>
            <a:pPr lvl="1"/>
            <a:r>
              <a:rPr lang="en-US" dirty="0"/>
              <a:t>Remove the reads used in the path</a:t>
            </a:r>
          </a:p>
          <a:p>
            <a:pPr lvl="1"/>
            <a:r>
              <a:rPr lang="en-US" dirty="0"/>
              <a:t>iterate</a:t>
            </a:r>
          </a:p>
        </p:txBody>
      </p:sp>
      <p:sp>
        <p:nvSpPr>
          <p:cNvPr id="4" name="Slide Number Placeholder 3">
            <a:extLst>
              <a:ext uri="{FF2B5EF4-FFF2-40B4-BE49-F238E27FC236}">
                <a16:creationId xmlns:a16="http://schemas.microsoft.com/office/drawing/2014/main" id="{3CB789D3-06F2-FC77-BADE-3F6B2303F541}"/>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6" name="Picture 5">
            <a:extLst>
              <a:ext uri="{FF2B5EF4-FFF2-40B4-BE49-F238E27FC236}">
                <a16:creationId xmlns:a16="http://schemas.microsoft.com/office/drawing/2014/main" id="{199C9638-0304-684A-D4FF-F9B86446983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887CB075-DB85-4070-7EB0-681537271EC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Tree>
    <p:extLst>
      <p:ext uri="{BB962C8B-B14F-4D97-AF65-F5344CB8AC3E}">
        <p14:creationId xmlns:p14="http://schemas.microsoft.com/office/powerpoint/2010/main" val="2622166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8E07-771E-28C1-81AA-B358535A4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5722D-FE48-BC1F-6D65-6F842DF021E7}"/>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90F84CA-11C3-FE17-D1F8-EB5ED3AC57B4}"/>
              </a:ext>
            </a:extLst>
          </p:cNvPr>
          <p:cNvSpPr>
            <a:spLocks noGrp="1"/>
          </p:cNvSpPr>
          <p:nvPr>
            <p:ph idx="1"/>
          </p:nvPr>
        </p:nvSpPr>
        <p:spPr>
          <a:xfrm>
            <a:off x="598620" y="1596540"/>
            <a:ext cx="4970907" cy="4581150"/>
          </a:xfrm>
        </p:spPr>
        <p:txBody>
          <a:bodyPr>
            <a:normAutofit/>
          </a:bodyPr>
          <a:lstStyle/>
          <a:p>
            <a:r>
              <a:rPr lang="en-US" dirty="0"/>
              <a:t>Path: 1-2-3-4-6 f=3</a:t>
            </a:r>
          </a:p>
          <a:p>
            <a:endParaRPr lang="en-US" dirty="0"/>
          </a:p>
        </p:txBody>
      </p:sp>
      <p:sp>
        <p:nvSpPr>
          <p:cNvPr id="4" name="Slide Number Placeholder 3">
            <a:extLst>
              <a:ext uri="{FF2B5EF4-FFF2-40B4-BE49-F238E27FC236}">
                <a16:creationId xmlns:a16="http://schemas.microsoft.com/office/drawing/2014/main" id="{9F0C04EC-E66E-726D-76C1-5EA462FD85FD}"/>
              </a:ext>
            </a:extLst>
          </p:cNvPr>
          <p:cNvSpPr>
            <a:spLocks noGrp="1"/>
          </p:cNvSpPr>
          <p:nvPr>
            <p:ph type="sldNum" sz="quarter" idx="12"/>
          </p:nvPr>
        </p:nvSpPr>
        <p:spPr/>
        <p:txBody>
          <a:bodyPr/>
          <a:lstStyle/>
          <a:p>
            <a:fld id="{B82CCC60-E8CD-4174-8B1A-7DF615B22EEF}" type="slidenum">
              <a:rPr lang="en-US" smtClean="0"/>
              <a:pPr/>
              <a:t>6</a:t>
            </a:fld>
            <a:endParaRPr lang="en-US"/>
          </a:p>
        </p:txBody>
      </p:sp>
      <p:pic>
        <p:nvPicPr>
          <p:cNvPr id="6" name="Picture 5">
            <a:extLst>
              <a:ext uri="{FF2B5EF4-FFF2-40B4-BE49-F238E27FC236}">
                <a16:creationId xmlns:a16="http://schemas.microsoft.com/office/drawing/2014/main" id="{BAA57B4D-B9D9-888A-5D3A-8A2943D000B1}"/>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648D4E6D-C6D7-1C6B-DACF-E4B296FF8B8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5C23F08-2910-F8E8-917E-2A5E4F30FE99}"/>
              </a:ext>
            </a:extLst>
          </p:cNvPr>
          <p:cNvSpPr/>
          <p:nvPr/>
        </p:nvSpPr>
        <p:spPr>
          <a:xfrm>
            <a:off x="5842001" y="2104508"/>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CD6D16-3E96-DDAE-9D24-4C002FEE5F8F}"/>
              </a:ext>
            </a:extLst>
          </p:cNvPr>
          <p:cNvSpPr/>
          <p:nvPr/>
        </p:nvSpPr>
        <p:spPr>
          <a:xfrm>
            <a:off x="5842001" y="3097259"/>
            <a:ext cx="30770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0B91601-87F8-7A63-07ED-14E2FE51B903}"/>
              </a:ext>
            </a:extLst>
          </p:cNvPr>
          <p:cNvSpPr/>
          <p:nvPr/>
        </p:nvSpPr>
        <p:spPr>
          <a:xfrm>
            <a:off x="5776687" y="3783173"/>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0FC09D-BCFF-0269-AB72-AD1E9788EAFB}"/>
              </a:ext>
            </a:extLst>
          </p:cNvPr>
          <p:cNvSpPr/>
          <p:nvPr/>
        </p:nvSpPr>
        <p:spPr>
          <a:xfrm>
            <a:off x="7627257" y="3466591"/>
            <a:ext cx="2300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A6A2DF3-25A9-0C5D-2925-970778EFB44A}"/>
              </a:ext>
            </a:extLst>
          </p:cNvPr>
          <p:cNvSpPr/>
          <p:nvPr/>
        </p:nvSpPr>
        <p:spPr>
          <a:xfrm>
            <a:off x="8919029" y="2525945"/>
            <a:ext cx="1074057"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C468DC-A475-1389-4282-2D75D0C0B3F7}"/>
              </a:ext>
            </a:extLst>
          </p:cNvPr>
          <p:cNvSpPr/>
          <p:nvPr/>
        </p:nvSpPr>
        <p:spPr>
          <a:xfrm>
            <a:off x="7670800" y="2895277"/>
            <a:ext cx="3410857"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2FA5F51-E95E-1486-4D87-6B7452CD25E4}"/>
              </a:ext>
            </a:extLst>
          </p:cNvPr>
          <p:cNvSpPr/>
          <p:nvPr/>
        </p:nvSpPr>
        <p:spPr>
          <a:xfrm>
            <a:off x="9993085" y="2579509"/>
            <a:ext cx="174897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2C54B39-3B66-6B2C-A916-1B51866E00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87F76A4-9986-3A09-2CD6-B9AECC28978B}"/>
              </a:ext>
            </a:extLst>
          </p:cNvPr>
          <p:cNvSpPr/>
          <p:nvPr/>
        </p:nvSpPr>
        <p:spPr>
          <a:xfrm>
            <a:off x="9927771" y="3516634"/>
            <a:ext cx="1988458"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13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5C09E-B877-0527-80DC-A8488DA15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F8C4B-B815-187D-1439-1C2A456E1B99}"/>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DA9A05D2-4151-9ADF-2D2E-F216DC620456}"/>
              </a:ext>
            </a:extLst>
          </p:cNvPr>
          <p:cNvSpPr>
            <a:spLocks noGrp="1"/>
          </p:cNvSpPr>
          <p:nvPr>
            <p:ph idx="1"/>
          </p:nvPr>
        </p:nvSpPr>
        <p:spPr>
          <a:xfrm>
            <a:off x="598620" y="1596540"/>
            <a:ext cx="4970907" cy="4581150"/>
          </a:xfrm>
        </p:spPr>
        <p:txBody>
          <a:bodyPr>
            <a:normAutofit/>
          </a:bodyPr>
          <a:lstStyle/>
          <a:p>
            <a:r>
              <a:rPr lang="en-US" dirty="0"/>
              <a:t>Path: 1-2-3-4-6 f=3</a:t>
            </a:r>
          </a:p>
          <a:p>
            <a:r>
              <a:rPr lang="en-US" dirty="0"/>
              <a:t>Remove reads used in the first path</a:t>
            </a:r>
          </a:p>
          <a:p>
            <a:r>
              <a:rPr lang="en-US" dirty="0"/>
              <a:t>Second path:1-3-5-6-7 f=2</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513FE4DD-24CE-5655-7161-F7B166B5256A}"/>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6" name="Picture 5">
            <a:extLst>
              <a:ext uri="{FF2B5EF4-FFF2-40B4-BE49-F238E27FC236}">
                <a16:creationId xmlns:a16="http://schemas.microsoft.com/office/drawing/2014/main" id="{9594CD53-1BC7-5F06-58A9-B771D7BA7AEB}"/>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1E83E689-5182-6F2C-5EE0-666F79D46C6C}"/>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112C66D-0114-6434-BF62-F47733D19722}"/>
              </a:ext>
            </a:extLst>
          </p:cNvPr>
          <p:cNvSpPr/>
          <p:nvPr/>
        </p:nvSpPr>
        <p:spPr>
          <a:xfrm>
            <a:off x="5842001" y="2459987"/>
            <a:ext cx="1785256" cy="61914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02EEB7-86C5-DE20-C399-6E272D4D0E5A}"/>
              </a:ext>
            </a:extLst>
          </p:cNvPr>
          <p:cNvSpPr/>
          <p:nvPr/>
        </p:nvSpPr>
        <p:spPr>
          <a:xfrm>
            <a:off x="5842001" y="3377271"/>
            <a:ext cx="1785256"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F9CDFD2-3157-AFB2-BBFB-93DCFED035AF}"/>
              </a:ext>
            </a:extLst>
          </p:cNvPr>
          <p:cNvSpPr/>
          <p:nvPr/>
        </p:nvSpPr>
        <p:spPr>
          <a:xfrm>
            <a:off x="7590972" y="3824391"/>
            <a:ext cx="1146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ECFE83-B9A8-CFCB-2CC9-CDE73DC22001}"/>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D513AD-A856-2D4C-51F0-F00AAC31BB02}"/>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A238D21-2F25-C07E-AB00-03C8700AFDE2}"/>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87B226F-3088-D8FA-B14E-470022164B8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271F83-C084-F29D-87A2-B593D9CBA3A4}"/>
              </a:ext>
            </a:extLst>
          </p:cNvPr>
          <p:cNvSpPr/>
          <p:nvPr/>
        </p:nvSpPr>
        <p:spPr>
          <a:xfrm>
            <a:off x="11294305" y="2853176"/>
            <a:ext cx="723523"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FC6B678-6BF7-B521-AD7A-702E4F11557F}"/>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08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77FB7-F59C-067A-142B-AAA48C141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71A5D-50A9-5F0E-92E1-371D18D2AE76}"/>
              </a:ext>
            </a:extLst>
          </p:cNvPr>
          <p:cNvSpPr>
            <a:spLocks noGrp="1"/>
          </p:cNvSpPr>
          <p:nvPr>
            <p:ph type="title"/>
          </p:nvPr>
        </p:nvSpPr>
        <p:spPr/>
        <p:txBody>
          <a:bodyPr>
            <a:normAutofit fontScale="90000"/>
          </a:bodyPr>
          <a:lstStyle/>
          <a:p>
            <a:r>
              <a:rPr lang="en-US" dirty="0"/>
              <a:t>Assembly of aligned RNA-seq data</a:t>
            </a:r>
          </a:p>
        </p:txBody>
      </p:sp>
      <p:sp>
        <p:nvSpPr>
          <p:cNvPr id="3" name="Content Placeholder 2">
            <a:extLst>
              <a:ext uri="{FF2B5EF4-FFF2-40B4-BE49-F238E27FC236}">
                <a16:creationId xmlns:a16="http://schemas.microsoft.com/office/drawing/2014/main" id="{21DA65E0-89AA-C828-6221-34BC6BD9CBB9}"/>
              </a:ext>
            </a:extLst>
          </p:cNvPr>
          <p:cNvSpPr>
            <a:spLocks noGrp="1"/>
          </p:cNvSpPr>
          <p:nvPr>
            <p:ph idx="1"/>
          </p:nvPr>
        </p:nvSpPr>
        <p:spPr>
          <a:xfrm>
            <a:off x="598620" y="1596540"/>
            <a:ext cx="4970907" cy="4581150"/>
          </a:xfrm>
        </p:spPr>
        <p:txBody>
          <a:bodyPr>
            <a:normAutofit/>
          </a:bodyPr>
          <a:lstStyle/>
          <a:p>
            <a:r>
              <a:rPr lang="en-US" dirty="0"/>
              <a:t>Path: 1-2-3-4-6-7 f=3</a:t>
            </a:r>
          </a:p>
          <a:p>
            <a:r>
              <a:rPr lang="en-US" dirty="0"/>
              <a:t>Remove reads used in the first path</a:t>
            </a:r>
          </a:p>
          <a:p>
            <a:r>
              <a:rPr lang="en-US" dirty="0"/>
              <a:t>Second path:1-3-5 f=2</a:t>
            </a:r>
          </a:p>
          <a:p>
            <a:r>
              <a:rPr lang="en-US" dirty="0"/>
              <a:t>Remove reads used in the second path</a:t>
            </a:r>
          </a:p>
          <a:p>
            <a:r>
              <a:rPr lang="en-US" dirty="0"/>
              <a:t>Third path: 2-4-5 f=1</a:t>
            </a:r>
          </a:p>
          <a:p>
            <a:endParaRPr lang="en-US" dirty="0"/>
          </a:p>
          <a:p>
            <a:endParaRPr lang="en-US" dirty="0"/>
          </a:p>
        </p:txBody>
      </p:sp>
      <p:sp>
        <p:nvSpPr>
          <p:cNvPr id="4" name="Slide Number Placeholder 3">
            <a:extLst>
              <a:ext uri="{FF2B5EF4-FFF2-40B4-BE49-F238E27FC236}">
                <a16:creationId xmlns:a16="http://schemas.microsoft.com/office/drawing/2014/main" id="{8E581366-5F9C-CB1F-C236-76170A73462D}"/>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6" name="Picture 5">
            <a:extLst>
              <a:ext uri="{FF2B5EF4-FFF2-40B4-BE49-F238E27FC236}">
                <a16:creationId xmlns:a16="http://schemas.microsoft.com/office/drawing/2014/main" id="{83BB448E-566A-02F8-351C-A9F0535000C6}"/>
              </a:ext>
            </a:extLst>
          </p:cNvPr>
          <p:cNvPicPr>
            <a:picLocks noChangeAspect="1"/>
          </p:cNvPicPr>
          <p:nvPr/>
        </p:nvPicPr>
        <p:blipFill>
          <a:blip r:embed="rId2"/>
          <a:stretch>
            <a:fillRect/>
          </a:stretch>
        </p:blipFill>
        <p:spPr>
          <a:xfrm>
            <a:off x="5698250" y="1596540"/>
            <a:ext cx="6422690" cy="5026100"/>
          </a:xfrm>
          <a:prstGeom prst="rect">
            <a:avLst/>
          </a:prstGeom>
        </p:spPr>
      </p:pic>
      <p:sp>
        <p:nvSpPr>
          <p:cNvPr id="7" name="TextBox 6">
            <a:extLst>
              <a:ext uri="{FF2B5EF4-FFF2-40B4-BE49-F238E27FC236}">
                <a16:creationId xmlns:a16="http://schemas.microsoft.com/office/drawing/2014/main" id="{0CF70B1E-B3BA-32E4-9D81-EF29C640A245}"/>
              </a:ext>
            </a:extLst>
          </p:cNvPr>
          <p:cNvSpPr txBox="1"/>
          <p:nvPr/>
        </p:nvSpPr>
        <p:spPr>
          <a:xfrm>
            <a:off x="4395718" y="1313038"/>
            <a:ext cx="7853945" cy="369332"/>
          </a:xfrm>
          <a:prstGeom prst="rect">
            <a:avLst/>
          </a:prstGeom>
          <a:noFill/>
        </p:spPr>
        <p:txBody>
          <a:bodyPr wrap="none" rtlCol="0">
            <a:spAutoFit/>
          </a:bodyPr>
          <a:lstStyle/>
          <a:p>
            <a:r>
              <a:rPr lang="en-US" dirty="0"/>
              <a:t>Image credit: https://www.biorxiv.org/content/10.1101/2024.02.09.579380v1.full</a:t>
            </a:r>
          </a:p>
        </p:txBody>
      </p:sp>
      <p:sp>
        <p:nvSpPr>
          <p:cNvPr id="8" name="Rectangle 7">
            <a:extLst>
              <a:ext uri="{FF2B5EF4-FFF2-40B4-BE49-F238E27FC236}">
                <a16:creationId xmlns:a16="http://schemas.microsoft.com/office/drawing/2014/main" id="{62C54394-EB65-2C2A-C6EB-632B746E6606}"/>
              </a:ext>
            </a:extLst>
          </p:cNvPr>
          <p:cNvSpPr/>
          <p:nvPr/>
        </p:nvSpPr>
        <p:spPr>
          <a:xfrm>
            <a:off x="5842001" y="2157914"/>
            <a:ext cx="1785256" cy="921215"/>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E97092-D4C7-6DE3-8D42-1C6364F1ECED}"/>
              </a:ext>
            </a:extLst>
          </p:cNvPr>
          <p:cNvSpPr/>
          <p:nvPr/>
        </p:nvSpPr>
        <p:spPr>
          <a:xfrm>
            <a:off x="5842001" y="3377271"/>
            <a:ext cx="1785256" cy="63097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DA87554-53CB-24DE-3173-A3AF82E41A8B}"/>
              </a:ext>
            </a:extLst>
          </p:cNvPr>
          <p:cNvSpPr/>
          <p:nvPr/>
        </p:nvSpPr>
        <p:spPr>
          <a:xfrm>
            <a:off x="7590972" y="3516634"/>
            <a:ext cx="2634342" cy="677089"/>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756F1B-A1C8-2F69-689F-0392F3FAC3B2}"/>
              </a:ext>
            </a:extLst>
          </p:cNvPr>
          <p:cNvSpPr/>
          <p:nvPr/>
        </p:nvSpPr>
        <p:spPr>
          <a:xfrm>
            <a:off x="7587343" y="2168217"/>
            <a:ext cx="1202963" cy="59514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8BAC44-D27F-4950-030B-2F6DAC61CF24}"/>
              </a:ext>
            </a:extLst>
          </p:cNvPr>
          <p:cNvSpPr/>
          <p:nvPr/>
        </p:nvSpPr>
        <p:spPr>
          <a:xfrm>
            <a:off x="8941360" y="2157914"/>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5A6E1C-12BB-ECD0-C563-D19816E862BB}"/>
              </a:ext>
            </a:extLst>
          </p:cNvPr>
          <p:cNvSpPr/>
          <p:nvPr/>
        </p:nvSpPr>
        <p:spPr>
          <a:xfrm>
            <a:off x="8790306" y="3824391"/>
            <a:ext cx="2291351"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57AC092-797E-7891-B16B-DD698CCE75F4}"/>
              </a:ext>
            </a:extLst>
          </p:cNvPr>
          <p:cNvSpPr/>
          <p:nvPr/>
        </p:nvSpPr>
        <p:spPr>
          <a:xfrm>
            <a:off x="10014857" y="2533167"/>
            <a:ext cx="1807029"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616010E-AE03-FA92-588A-454779F55CE3}"/>
              </a:ext>
            </a:extLst>
          </p:cNvPr>
          <p:cNvSpPr/>
          <p:nvPr/>
        </p:nvSpPr>
        <p:spPr>
          <a:xfrm>
            <a:off x="11081657" y="3178779"/>
            <a:ext cx="27577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A1883DF-A1EF-00E0-0EAB-EA0C0F770DDE}"/>
              </a:ext>
            </a:extLst>
          </p:cNvPr>
          <p:cNvSpPr/>
          <p:nvPr/>
        </p:nvSpPr>
        <p:spPr>
          <a:xfrm>
            <a:off x="9927771" y="3516634"/>
            <a:ext cx="979715"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AFA0D1B-D6AF-0D01-AC8D-577FB3FD6454}"/>
              </a:ext>
            </a:extLst>
          </p:cNvPr>
          <p:cNvSpPr/>
          <p:nvPr/>
        </p:nvSpPr>
        <p:spPr>
          <a:xfrm>
            <a:off x="10907486" y="3516634"/>
            <a:ext cx="914400"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945850-9D3B-2E98-B61C-D6454E981ACD}"/>
              </a:ext>
            </a:extLst>
          </p:cNvPr>
          <p:cNvSpPr/>
          <p:nvPr/>
        </p:nvSpPr>
        <p:spPr>
          <a:xfrm>
            <a:off x="10755087" y="2853176"/>
            <a:ext cx="1262742" cy="18385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5E49316-8E21-0DB7-3F25-00AFD7BCDD80}"/>
              </a:ext>
            </a:extLst>
          </p:cNvPr>
          <p:cNvSpPr/>
          <p:nvPr/>
        </p:nvSpPr>
        <p:spPr>
          <a:xfrm>
            <a:off x="8919029" y="3085350"/>
            <a:ext cx="2162628"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C998247-07A0-7442-F5BD-E0938136CA90}"/>
              </a:ext>
            </a:extLst>
          </p:cNvPr>
          <p:cNvSpPr/>
          <p:nvPr/>
        </p:nvSpPr>
        <p:spPr>
          <a:xfrm>
            <a:off x="7587343" y="2759215"/>
            <a:ext cx="2427514" cy="369332"/>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59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BB8C-6D26-E7CE-00B3-168F05C536BC}"/>
              </a:ext>
            </a:extLst>
          </p:cNvPr>
          <p:cNvSpPr>
            <a:spLocks noGrp="1"/>
          </p:cNvSpPr>
          <p:nvPr>
            <p:ph type="title"/>
          </p:nvPr>
        </p:nvSpPr>
        <p:spPr/>
        <p:txBody>
          <a:bodyPr>
            <a:normAutofit fontScale="90000"/>
          </a:bodyPr>
          <a:lstStyle/>
          <a:p>
            <a:r>
              <a:rPr lang="en-US" dirty="0"/>
              <a:t>Evaluating transcript assembly</a:t>
            </a:r>
          </a:p>
        </p:txBody>
      </p:sp>
      <p:sp>
        <p:nvSpPr>
          <p:cNvPr id="3" name="Content Placeholder 2">
            <a:extLst>
              <a:ext uri="{FF2B5EF4-FFF2-40B4-BE49-F238E27FC236}">
                <a16:creationId xmlns:a16="http://schemas.microsoft.com/office/drawing/2014/main" id="{EA47D1B9-170D-520A-C276-39860A1323E0}"/>
              </a:ext>
            </a:extLst>
          </p:cNvPr>
          <p:cNvSpPr>
            <a:spLocks noGrp="1"/>
          </p:cNvSpPr>
          <p:nvPr>
            <p:ph idx="1"/>
          </p:nvPr>
        </p:nvSpPr>
        <p:spPr>
          <a:xfrm>
            <a:off x="598620" y="1596540"/>
            <a:ext cx="10972800" cy="4581150"/>
          </a:xfrm>
        </p:spPr>
        <p:txBody>
          <a:bodyPr>
            <a:normAutofit lnSpcReduction="10000"/>
          </a:bodyPr>
          <a:lstStyle/>
          <a:p>
            <a:r>
              <a:rPr lang="en-US" dirty="0">
                <a:latin typeface="Calibri" panose="020F0502020204030204" pitchFamily="34" charset="0"/>
                <a:cs typeface="Calibri" panose="020F0502020204030204" pitchFamily="34" charset="0"/>
              </a:rPr>
              <a:t>We want to compare the assembly output against a benchmark transcriptome where correct sequences of all transcripts are known.</a:t>
            </a:r>
          </a:p>
          <a:p>
            <a:pPr marL="285750" indent="-285750">
              <a:buFontTx/>
              <a:buChar char="-"/>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Limitations of using a known reference transcriptome</a:t>
            </a:r>
            <a:r>
              <a:rPr lang="en-US" dirty="0">
                <a:latin typeface="Calibri" panose="020F0502020204030204" pitchFamily="34" charset="0"/>
                <a:cs typeface="Calibri" panose="020F0502020204030204" pitchFamily="34" charset="0"/>
              </a:rPr>
              <a:t>:</a:t>
            </a:r>
          </a:p>
          <a:p>
            <a:pPr marL="285750" indent="-285750">
              <a:buFontTx/>
              <a:buChar char="-"/>
            </a:pPr>
            <a:r>
              <a:rPr lang="en-US" dirty="0">
                <a:latin typeface="Calibri" panose="020F0502020204030204" pitchFamily="34" charset="0"/>
                <a:cs typeface="Calibri" panose="020F0502020204030204" pitchFamily="34" charset="0"/>
              </a:rPr>
              <a:t>variability in the transcriptome (e.g. among e.g. cell types) makes  it impossible to determine whether sequences from the reference that are missing from the assembled transcriptome are due to assembly errors, or whether they were not expressed in the library sequenced</a:t>
            </a:r>
          </a:p>
          <a:p>
            <a:pPr marL="285750" indent="-285750">
              <a:buFontTx/>
              <a:buChar char="-"/>
            </a:pPr>
            <a:r>
              <a:rPr lang="en-US" dirty="0">
                <a:latin typeface="Calibri" panose="020F0502020204030204" pitchFamily="34" charset="0"/>
                <a:cs typeface="Calibri" panose="020F0502020204030204" pitchFamily="34" charset="0"/>
              </a:rPr>
              <a:t>transcriptome sequences may also vary between the individual under study and the reference</a:t>
            </a:r>
          </a:p>
        </p:txBody>
      </p:sp>
      <p:sp>
        <p:nvSpPr>
          <p:cNvPr id="4" name="Slide Number Placeholder 3">
            <a:extLst>
              <a:ext uri="{FF2B5EF4-FFF2-40B4-BE49-F238E27FC236}">
                <a16:creationId xmlns:a16="http://schemas.microsoft.com/office/drawing/2014/main" id="{93F364A0-E602-1C0F-ABF0-AD654D7FC850}"/>
              </a:ext>
            </a:extLst>
          </p:cNvPr>
          <p:cNvSpPr>
            <a:spLocks noGrp="1"/>
          </p:cNvSpPr>
          <p:nvPr>
            <p:ph type="sldNum" sz="quarter" idx="12"/>
          </p:nvPr>
        </p:nvSpPr>
        <p:spPr/>
        <p:txBody>
          <a:bodyPr/>
          <a:lstStyle/>
          <a:p>
            <a:fld id="{B82CCC60-E8CD-4174-8B1A-7DF615B22EEF}" type="slidenum">
              <a:rPr lang="en-US" smtClean="0"/>
              <a:pPr/>
              <a:t>9</a:t>
            </a:fld>
            <a:endParaRPr lang="en-US"/>
          </a:p>
        </p:txBody>
      </p:sp>
    </p:spTree>
    <p:extLst>
      <p:ext uri="{BB962C8B-B14F-4D97-AF65-F5344CB8AC3E}">
        <p14:creationId xmlns:p14="http://schemas.microsoft.com/office/powerpoint/2010/main" val="2290969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3CC5-F089-7B6F-131C-C16F6C9FAD69}"/>
              </a:ext>
            </a:extLst>
          </p:cNvPr>
          <p:cNvSpPr>
            <a:spLocks noGrp="1"/>
          </p:cNvSpPr>
          <p:nvPr>
            <p:ph type="title"/>
          </p:nvPr>
        </p:nvSpPr>
        <p:spPr/>
        <p:txBody>
          <a:bodyPr>
            <a:normAutofit fontScale="90000"/>
          </a:bodyPr>
          <a:lstStyle/>
          <a:p>
            <a:r>
              <a:rPr lang="en-US" dirty="0"/>
              <a:t>Common reference annotation databases</a:t>
            </a:r>
          </a:p>
        </p:txBody>
      </p:sp>
      <p:sp>
        <p:nvSpPr>
          <p:cNvPr id="4" name="Slide Number Placeholder 3">
            <a:extLst>
              <a:ext uri="{FF2B5EF4-FFF2-40B4-BE49-F238E27FC236}">
                <a16:creationId xmlns:a16="http://schemas.microsoft.com/office/drawing/2014/main" id="{2B72676A-6BD9-BA95-F734-CAC5B5F11A80}"/>
              </a:ext>
            </a:extLst>
          </p:cNvPr>
          <p:cNvSpPr>
            <a:spLocks noGrp="1"/>
          </p:cNvSpPr>
          <p:nvPr>
            <p:ph type="sldNum" sz="quarter" idx="12"/>
          </p:nvPr>
        </p:nvSpPr>
        <p:spPr/>
        <p:txBody>
          <a:bodyPr/>
          <a:lstStyle/>
          <a:p>
            <a:fld id="{B82CCC60-E8CD-4174-8B1A-7DF615B22EEF}" type="slidenum">
              <a:rPr lang="en-US" smtClean="0"/>
              <a:pPr/>
              <a:t>10</a:t>
            </a:fld>
            <a:endParaRPr lang="en-US"/>
          </a:p>
        </p:txBody>
      </p:sp>
      <p:pic>
        <p:nvPicPr>
          <p:cNvPr id="5" name="Content Placeholder 4">
            <a:extLst>
              <a:ext uri="{FF2B5EF4-FFF2-40B4-BE49-F238E27FC236}">
                <a16:creationId xmlns:a16="http://schemas.microsoft.com/office/drawing/2014/main" id="{5413609A-1B79-8C95-DF04-74C5B41AFF97}"/>
              </a:ext>
            </a:extLst>
          </p:cNvPr>
          <p:cNvPicPr>
            <a:picLocks noGrp="1" noChangeAspect="1"/>
          </p:cNvPicPr>
          <p:nvPr>
            <p:ph idx="1"/>
          </p:nvPr>
        </p:nvPicPr>
        <p:blipFill rotWithShape="1">
          <a:blip r:embed="rId2"/>
          <a:srcRect t="13551" b="3388"/>
          <a:stretch/>
        </p:blipFill>
        <p:spPr>
          <a:xfrm>
            <a:off x="863314" y="1697067"/>
            <a:ext cx="8280685" cy="5160933"/>
          </a:xfrm>
          <a:prstGeom prst="rect">
            <a:avLst/>
          </a:prstGeom>
        </p:spPr>
      </p:pic>
    </p:spTree>
    <p:extLst>
      <p:ext uri="{BB962C8B-B14F-4D97-AF65-F5344CB8AC3E}">
        <p14:creationId xmlns:p14="http://schemas.microsoft.com/office/powerpoint/2010/main" val="1248438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B54-E036-D6E7-EE36-5CD76AC5F792}"/>
              </a:ext>
            </a:extLst>
          </p:cNvPr>
          <p:cNvSpPr>
            <a:spLocks noGrp="1"/>
          </p:cNvSpPr>
          <p:nvPr>
            <p:ph type="title"/>
          </p:nvPr>
        </p:nvSpPr>
        <p:spPr/>
        <p:txBody>
          <a:bodyPr>
            <a:normAutofit fontScale="90000"/>
          </a:bodyPr>
          <a:lstStyle/>
          <a:p>
            <a:r>
              <a:rPr lang="en-US" dirty="0"/>
              <a:t>Benchmark transcriptome</a:t>
            </a:r>
          </a:p>
        </p:txBody>
      </p:sp>
      <p:sp>
        <p:nvSpPr>
          <p:cNvPr id="3" name="Content Placeholder 2">
            <a:extLst>
              <a:ext uri="{FF2B5EF4-FFF2-40B4-BE49-F238E27FC236}">
                <a16:creationId xmlns:a16="http://schemas.microsoft.com/office/drawing/2014/main" id="{72435F73-7EFD-DF06-380A-5766C516EF3C}"/>
              </a:ext>
            </a:extLst>
          </p:cNvPr>
          <p:cNvSpPr>
            <a:spLocks noGrp="1"/>
          </p:cNvSpPr>
          <p:nvPr>
            <p:ph idx="1"/>
          </p:nvPr>
        </p:nvSpPr>
        <p:spPr>
          <a:xfrm>
            <a:off x="327259" y="1596540"/>
            <a:ext cx="11244161" cy="4948639"/>
          </a:xfrm>
        </p:spPr>
        <p:txBody>
          <a:bodyPr>
            <a:normAutofit fontScale="85000" lnSpcReduction="20000"/>
          </a:bodyPr>
          <a:lstStyle/>
          <a:p>
            <a:r>
              <a:rPr lang="en-US" dirty="0">
                <a:latin typeface="Calibri" panose="020F0502020204030204" pitchFamily="34" charset="0"/>
                <a:cs typeface="Calibri" panose="020F0502020204030204" pitchFamily="34" charset="0"/>
              </a:rPr>
              <a:t>We don’t have RNA-seq data from a transcriptome where all transcript sequences and expression patterns are known =&gt; simulate the sequencing of a given benchmark transcriptome to comprehensively assess all of the assembly errors.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Tools that can generate simulated reads modeling the errors and biases introduced by </a:t>
            </a:r>
          </a:p>
          <a:p>
            <a:pPr marL="285750" indent="-285750">
              <a:buFontTx/>
              <a:buChar char="-"/>
            </a:pPr>
            <a:r>
              <a:rPr lang="en-US" dirty="0">
                <a:latin typeface="Calibri" panose="020F0502020204030204" pitchFamily="34" charset="0"/>
                <a:cs typeface="Calibri" panose="020F0502020204030204" pitchFamily="34" charset="0"/>
              </a:rPr>
              <a:t>short Illumina reads: RSEM, </a:t>
            </a:r>
            <a:r>
              <a:rPr lang="en-US" dirty="0" err="1">
                <a:latin typeface="Calibri" panose="020F0502020204030204" pitchFamily="34" charset="0"/>
                <a:cs typeface="Calibri" panose="020F0502020204030204" pitchFamily="34" charset="0"/>
              </a:rPr>
              <a:t>FluxSimulator</a:t>
            </a:r>
            <a:r>
              <a:rPr lang="en-US" dirty="0">
                <a:latin typeface="Calibri" panose="020F0502020204030204" pitchFamily="34" charset="0"/>
                <a:cs typeface="Calibri" panose="020F0502020204030204" pitchFamily="34" charset="0"/>
              </a:rPr>
              <a:t>, Polyester</a:t>
            </a:r>
          </a:p>
          <a:p>
            <a:pPr marL="285750" indent="-285750">
              <a:buFontTx/>
              <a:buChar char="-"/>
            </a:pPr>
            <a:r>
              <a:rPr lang="en-US" dirty="0">
                <a:latin typeface="Calibri" panose="020F0502020204030204" pitchFamily="34" charset="0"/>
                <a:cs typeface="Calibri" panose="020F0502020204030204" pitchFamily="34" charset="0"/>
              </a:rPr>
              <a:t>long third- generation sequencing reads: PBSIM, Trans-</a:t>
            </a:r>
            <a:r>
              <a:rPr lang="en-US" dirty="0" err="1">
                <a:latin typeface="Calibri" panose="020F0502020204030204" pitchFamily="34" charset="0"/>
                <a:cs typeface="Calibri" panose="020F0502020204030204" pitchFamily="34" charset="0"/>
              </a:rPr>
              <a:t>NanoSim</a:t>
            </a:r>
            <a:r>
              <a:rPr lang="en-US" dirty="0">
                <a:latin typeface="Calibri" panose="020F0502020204030204" pitchFamily="34" charset="0"/>
                <a:cs typeface="Calibri" panose="020F0502020204030204" pitchFamily="34" charset="0"/>
              </a:rPr>
              <a:t> </a:t>
            </a:r>
          </a:p>
          <a:p>
            <a:pPr marL="285750" indent="-285750">
              <a:buFontTx/>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Using simulated RNA-seq data allows the quantification of each of the following categories: </a:t>
            </a:r>
          </a:p>
          <a:p>
            <a:pPr marL="685800" lvl="1"/>
            <a:r>
              <a:rPr lang="en-US" dirty="0">
                <a:latin typeface="Calibri" panose="020F0502020204030204" pitchFamily="34" charset="0"/>
                <a:cs typeface="Calibri" panose="020F0502020204030204" pitchFamily="34" charset="0"/>
              </a:rPr>
              <a:t>correctly assembled sequences (true positives or TPs) </a:t>
            </a:r>
          </a:p>
          <a:p>
            <a:pPr marL="685800" lvl="1"/>
            <a:r>
              <a:rPr lang="en-US" dirty="0">
                <a:latin typeface="Calibri" panose="020F0502020204030204" pitchFamily="34" charset="0"/>
                <a:cs typeface="Calibri" panose="020F0502020204030204" pitchFamily="34" charset="0"/>
              </a:rPr>
              <a:t>sequences that are assembled with errors (false positives or FPs) </a:t>
            </a:r>
          </a:p>
          <a:p>
            <a:pPr marL="685800" lvl="1"/>
            <a:r>
              <a:rPr lang="en-US" dirty="0">
                <a:latin typeface="Calibri" panose="020F0502020204030204" pitchFamily="34" charset="0"/>
                <a:cs typeface="Calibri" panose="020F0502020204030204" pitchFamily="34" charset="0"/>
              </a:rPr>
              <a:t>sequences in the reference that are missing from the assembly (false negatives or FNs) </a:t>
            </a: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8A1D15BB-2C5D-8F0F-2D0C-9EB1CE4B67AA}"/>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1495454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CE6B2-F882-3B21-1A86-9CAA7D15E62B}"/>
              </a:ext>
            </a:extLst>
          </p:cNvPr>
          <p:cNvSpPr>
            <a:spLocks noGrp="1"/>
          </p:cNvSpPr>
          <p:nvPr>
            <p:ph type="title"/>
          </p:nvPr>
        </p:nvSpPr>
        <p:spPr/>
        <p:txBody>
          <a:bodyPr>
            <a:normAutofit fontScale="90000"/>
          </a:bodyPr>
          <a:lstStyle/>
          <a:p>
            <a:r>
              <a:rPr lang="en-US" dirty="0"/>
              <a:t>Transcriptome assembly metrics</a:t>
            </a:r>
          </a:p>
        </p:txBody>
      </p:sp>
      <p:sp>
        <p:nvSpPr>
          <p:cNvPr id="3" name="Content Placeholder 2">
            <a:extLst>
              <a:ext uri="{FF2B5EF4-FFF2-40B4-BE49-F238E27FC236}">
                <a16:creationId xmlns:a16="http://schemas.microsoft.com/office/drawing/2014/main" id="{7002F20C-6A2D-8878-3CD6-8435E306428F}"/>
              </a:ext>
            </a:extLst>
          </p:cNvPr>
          <p:cNvSpPr>
            <a:spLocks noGrp="1"/>
          </p:cNvSpPr>
          <p:nvPr>
            <p:ph idx="1"/>
          </p:nvPr>
        </p:nvSpPr>
        <p:spPr>
          <a:xfrm>
            <a:off x="356135" y="1596540"/>
            <a:ext cx="11215285" cy="5124936"/>
          </a:xfrm>
        </p:spPr>
        <p:txBody>
          <a:bodyPr>
            <a:normAutofit lnSpcReduction="10000"/>
          </a:bodyPr>
          <a:lstStyle/>
          <a:p>
            <a:r>
              <a:rPr lang="en-US" sz="3200" dirty="0">
                <a:latin typeface="AdvTT6489ba6c"/>
              </a:rPr>
              <a:t>P – positive</a:t>
            </a:r>
          </a:p>
          <a:p>
            <a:r>
              <a:rPr lang="en-US" sz="3200" dirty="0">
                <a:latin typeface="AdvTT6489ba6c"/>
              </a:rPr>
              <a:t>N – negative</a:t>
            </a:r>
          </a:p>
          <a:p>
            <a:endParaRPr lang="en-US" dirty="0">
              <a:latin typeface="AdvTT6489ba6c"/>
            </a:endParaRPr>
          </a:p>
          <a:p>
            <a:r>
              <a:rPr lang="en-US" dirty="0">
                <a:latin typeface="AdvTT6489ba6c"/>
                <a:sym typeface="Wingdings" panose="05000000000000000000" pitchFamily="2" charset="2"/>
              </a:rPr>
              <a:t> </a:t>
            </a:r>
            <a:r>
              <a:rPr lang="en-US" dirty="0">
                <a:latin typeface="AdvTT6489ba6c"/>
              </a:rPr>
              <a:t>TP – True Positive, we found correct transcript</a:t>
            </a:r>
          </a:p>
          <a:p>
            <a:r>
              <a:rPr lang="en-US" dirty="0">
                <a:latin typeface="AdvTT6489ba6c"/>
                <a:sym typeface="Wingdings" panose="05000000000000000000" pitchFamily="2" charset="2"/>
              </a:rPr>
              <a:t> </a:t>
            </a:r>
            <a:r>
              <a:rPr lang="en-US" dirty="0">
                <a:latin typeface="AdvTT6489ba6c"/>
              </a:rPr>
              <a:t>TN – True Negative, we did not find transcript where there was none</a:t>
            </a:r>
          </a:p>
          <a:p>
            <a:r>
              <a:rPr lang="en-US" dirty="0">
                <a:latin typeface="AdvTT6489ba6c"/>
                <a:sym typeface="Wingdings" panose="05000000000000000000" pitchFamily="2" charset="2"/>
              </a:rPr>
              <a:t> </a:t>
            </a:r>
            <a:r>
              <a:rPr lang="en-US" dirty="0">
                <a:latin typeface="AdvTT6489ba6c"/>
              </a:rPr>
              <a:t>FP – False Positive, we found transcript where there was none</a:t>
            </a:r>
          </a:p>
          <a:p>
            <a:r>
              <a:rPr lang="en-US" dirty="0">
                <a:latin typeface="AdvTT6489ba6c"/>
                <a:sym typeface="Wingdings" panose="05000000000000000000" pitchFamily="2" charset="2"/>
              </a:rPr>
              <a:t> </a:t>
            </a:r>
            <a:r>
              <a:rPr lang="en-US" dirty="0">
                <a:latin typeface="AdvTT6489ba6c"/>
              </a:rPr>
              <a:t>FN – False Negative, we missed transcript</a:t>
            </a:r>
          </a:p>
          <a:p>
            <a:endParaRPr lang="en-US" sz="3200" dirty="0">
              <a:latin typeface="AdvTT6489ba6c"/>
            </a:endParaRPr>
          </a:p>
          <a:p>
            <a:r>
              <a:rPr lang="en-US" sz="3200" dirty="0">
                <a:latin typeface="AdvTT6489ba6c"/>
              </a:rPr>
              <a:t>P = TP + FN</a:t>
            </a:r>
          </a:p>
          <a:p>
            <a:r>
              <a:rPr lang="en-US" sz="3200" dirty="0">
                <a:latin typeface="AdvTT6489ba6c"/>
              </a:rPr>
              <a:t>N = TN + FP</a:t>
            </a:r>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F8E564B1-B857-8709-603E-D3E4F0D36F69}"/>
              </a:ext>
            </a:extLst>
          </p:cNvPr>
          <p:cNvSpPr>
            <a:spLocks noGrp="1"/>
          </p:cNvSpPr>
          <p:nvPr>
            <p:ph type="sldNum" sz="quarter" idx="12"/>
          </p:nvPr>
        </p:nvSpPr>
        <p:spPr/>
        <p:txBody>
          <a:bodyPr/>
          <a:lstStyle/>
          <a:p>
            <a:fld id="{B82CCC60-E8CD-4174-8B1A-7DF615B22EEF}" type="slidenum">
              <a:rPr lang="en-US" smtClean="0"/>
              <a:pPr/>
              <a:t>12</a:t>
            </a:fld>
            <a:endParaRPr lang="en-US"/>
          </a:p>
        </p:txBody>
      </p:sp>
    </p:spTree>
    <p:extLst>
      <p:ext uri="{BB962C8B-B14F-4D97-AF65-F5344CB8AC3E}">
        <p14:creationId xmlns:p14="http://schemas.microsoft.com/office/powerpoint/2010/main" val="3625668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1D6E1-3735-EBF6-1705-E84B594E84DC}"/>
              </a:ext>
            </a:extLst>
          </p:cNvPr>
          <p:cNvSpPr>
            <a:spLocks noGrp="1"/>
          </p:cNvSpPr>
          <p:nvPr>
            <p:ph type="title"/>
          </p:nvPr>
        </p:nvSpPr>
        <p:spPr/>
        <p:txBody>
          <a:bodyPr>
            <a:normAutofit fontScale="90000"/>
          </a:bodyPr>
          <a:lstStyle/>
          <a:p>
            <a:r>
              <a:rPr lang="en-US" dirty="0"/>
              <a:t>Assembly metrics based on benchmark</a:t>
            </a:r>
          </a:p>
        </p:txBody>
      </p:sp>
      <p:sp>
        <p:nvSpPr>
          <p:cNvPr id="4" name="Slide Number Placeholder 3">
            <a:extLst>
              <a:ext uri="{FF2B5EF4-FFF2-40B4-BE49-F238E27FC236}">
                <a16:creationId xmlns:a16="http://schemas.microsoft.com/office/drawing/2014/main" id="{E113286E-0EEC-5FEA-0A59-B26D6B5E96C7}"/>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5" name="Picture 4">
            <a:extLst>
              <a:ext uri="{FF2B5EF4-FFF2-40B4-BE49-F238E27FC236}">
                <a16:creationId xmlns:a16="http://schemas.microsoft.com/office/drawing/2014/main" id="{5E0A08B4-3B03-1666-7D11-39FD9AC9952C}"/>
              </a:ext>
            </a:extLst>
          </p:cNvPr>
          <p:cNvPicPr>
            <a:picLocks noChangeAspect="1"/>
          </p:cNvPicPr>
          <p:nvPr/>
        </p:nvPicPr>
        <p:blipFill rotWithShape="1">
          <a:blip r:embed="rId2"/>
          <a:srcRect t="2979"/>
          <a:stretch/>
        </p:blipFill>
        <p:spPr>
          <a:xfrm>
            <a:off x="223405" y="1864663"/>
            <a:ext cx="11745190" cy="4856813"/>
          </a:xfrm>
          <a:prstGeom prst="rect">
            <a:avLst/>
          </a:prstGeom>
        </p:spPr>
      </p:pic>
      <p:sp>
        <p:nvSpPr>
          <p:cNvPr id="6" name="Rectangle 5">
            <a:extLst>
              <a:ext uri="{FF2B5EF4-FFF2-40B4-BE49-F238E27FC236}">
                <a16:creationId xmlns:a16="http://schemas.microsoft.com/office/drawing/2014/main" id="{89B1DDE2-F9EA-BD6D-F6DA-BE187BCA782F}"/>
              </a:ext>
            </a:extLst>
          </p:cNvPr>
          <p:cNvSpPr/>
          <p:nvPr/>
        </p:nvSpPr>
        <p:spPr bwMode="auto">
          <a:xfrm>
            <a:off x="8315422" y="2113890"/>
            <a:ext cx="2105569" cy="10043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200" dirty="0">
                <a:latin typeface="AdvTT6489ba6c"/>
              </a:rPr>
              <a:t>P = TP + FN</a:t>
            </a:r>
          </a:p>
          <a:p>
            <a:r>
              <a:rPr lang="en-US" sz="3200" dirty="0">
                <a:latin typeface="AdvTT6489ba6c"/>
              </a:rPr>
              <a:t>N = TN + FP</a:t>
            </a:r>
          </a:p>
        </p:txBody>
      </p:sp>
    </p:spTree>
    <p:extLst>
      <p:ext uri="{BB962C8B-B14F-4D97-AF65-F5344CB8AC3E}">
        <p14:creationId xmlns:p14="http://schemas.microsoft.com/office/powerpoint/2010/main" val="2230780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54682-97AD-1D8D-F2D1-E5F28017AE25}"/>
              </a:ext>
            </a:extLst>
          </p:cNvPr>
          <p:cNvSpPr>
            <a:spLocks noGrp="1"/>
          </p:cNvSpPr>
          <p:nvPr>
            <p:ph type="title"/>
          </p:nvPr>
        </p:nvSpPr>
        <p:spPr/>
        <p:txBody>
          <a:bodyPr>
            <a:normAutofit fontScale="90000"/>
          </a:bodyPr>
          <a:lstStyle/>
          <a:p>
            <a:r>
              <a:rPr lang="en-US" dirty="0"/>
              <a:t>Measures of correctness</a:t>
            </a:r>
          </a:p>
        </p:txBody>
      </p:sp>
      <p:sp>
        <p:nvSpPr>
          <p:cNvPr id="3" name="Content Placeholder 2">
            <a:extLst>
              <a:ext uri="{FF2B5EF4-FFF2-40B4-BE49-F238E27FC236}">
                <a16:creationId xmlns:a16="http://schemas.microsoft.com/office/drawing/2014/main" id="{FF3B533E-098A-AB07-5BD0-A182675FCD3A}"/>
              </a:ext>
            </a:extLst>
          </p:cNvPr>
          <p:cNvSpPr>
            <a:spLocks noGrp="1"/>
          </p:cNvSpPr>
          <p:nvPr>
            <p:ph idx="1"/>
          </p:nvPr>
        </p:nvSpPr>
        <p:spPr>
          <a:xfrm>
            <a:off x="194359" y="1615790"/>
            <a:ext cx="10972800" cy="3918803"/>
          </a:xfrm>
        </p:spPr>
        <p:txBody>
          <a:bodyPr/>
          <a:lstStyle/>
          <a:p>
            <a:r>
              <a:rPr lang="en-US" dirty="0"/>
              <a:t>Sensitivity (Recall), Specificity </a:t>
            </a:r>
            <a:br>
              <a:rPr lang="en-US" dirty="0"/>
            </a:br>
            <a:r>
              <a:rPr lang="en-US" dirty="0"/>
              <a:t>and Precision</a:t>
            </a:r>
          </a:p>
          <a:p>
            <a:r>
              <a:rPr lang="en-US" dirty="0"/>
              <a:t>Image credit: Wikipedia</a:t>
            </a:r>
          </a:p>
        </p:txBody>
      </p:sp>
      <p:sp>
        <p:nvSpPr>
          <p:cNvPr id="4" name="Slide Number Placeholder 3">
            <a:extLst>
              <a:ext uri="{FF2B5EF4-FFF2-40B4-BE49-F238E27FC236}">
                <a16:creationId xmlns:a16="http://schemas.microsoft.com/office/drawing/2014/main" id="{DA292D60-DA5E-14F9-0F07-0CB969D6706D}"/>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5" name="Picture 4">
            <a:extLst>
              <a:ext uri="{FF2B5EF4-FFF2-40B4-BE49-F238E27FC236}">
                <a16:creationId xmlns:a16="http://schemas.microsoft.com/office/drawing/2014/main" id="{F3340996-5475-CEF7-03C4-9CB816CECE89}"/>
              </a:ext>
            </a:extLst>
          </p:cNvPr>
          <p:cNvPicPr>
            <a:picLocks noChangeAspect="1"/>
          </p:cNvPicPr>
          <p:nvPr/>
        </p:nvPicPr>
        <p:blipFill>
          <a:blip r:embed="rId2"/>
          <a:stretch>
            <a:fillRect/>
          </a:stretch>
        </p:blipFill>
        <p:spPr>
          <a:xfrm>
            <a:off x="8653094" y="-13861"/>
            <a:ext cx="3538906" cy="6735337"/>
          </a:xfrm>
          <a:prstGeom prst="rect">
            <a:avLst/>
          </a:prstGeom>
        </p:spPr>
      </p:pic>
      <p:pic>
        <p:nvPicPr>
          <p:cNvPr id="6" name="Picture 5">
            <a:extLst>
              <a:ext uri="{FF2B5EF4-FFF2-40B4-BE49-F238E27FC236}">
                <a16:creationId xmlns:a16="http://schemas.microsoft.com/office/drawing/2014/main" id="{DEA48554-3C2E-C870-63A6-4244E37829CF}"/>
              </a:ext>
            </a:extLst>
          </p:cNvPr>
          <p:cNvPicPr>
            <a:picLocks noChangeAspect="1"/>
          </p:cNvPicPr>
          <p:nvPr/>
        </p:nvPicPr>
        <p:blipFill>
          <a:blip r:embed="rId3"/>
          <a:stretch>
            <a:fillRect/>
          </a:stretch>
        </p:blipFill>
        <p:spPr>
          <a:xfrm>
            <a:off x="5216423" y="-13861"/>
            <a:ext cx="3436671" cy="6858000"/>
          </a:xfrm>
          <a:prstGeom prst="rect">
            <a:avLst/>
          </a:prstGeom>
        </p:spPr>
      </p:pic>
    </p:spTree>
    <p:extLst>
      <p:ext uri="{BB962C8B-B14F-4D97-AF65-F5344CB8AC3E}">
        <p14:creationId xmlns:p14="http://schemas.microsoft.com/office/powerpoint/2010/main" val="664404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32CB-7DC8-E108-E32D-654A3AC76EE4}"/>
              </a:ext>
            </a:extLst>
          </p:cNvPr>
          <p:cNvSpPr>
            <a:spLocks noGrp="1"/>
          </p:cNvSpPr>
          <p:nvPr>
            <p:ph type="title"/>
          </p:nvPr>
        </p:nvSpPr>
        <p:spPr/>
        <p:txBody>
          <a:bodyPr>
            <a:normAutofit fontScale="90000"/>
          </a:bodyPr>
          <a:lstStyle/>
          <a:p>
            <a:r>
              <a:rPr lang="en-US" dirty="0"/>
              <a:t>Sensitivity and Specificity</a:t>
            </a:r>
          </a:p>
        </p:txBody>
      </p:sp>
      <p:sp>
        <p:nvSpPr>
          <p:cNvPr id="4" name="Slide Number Placeholder 3">
            <a:extLst>
              <a:ext uri="{FF2B5EF4-FFF2-40B4-BE49-F238E27FC236}">
                <a16:creationId xmlns:a16="http://schemas.microsoft.com/office/drawing/2014/main" id="{2F6C5A7E-4A1D-EB66-7BAD-92F3F8D03BA0}"/>
              </a:ext>
            </a:extLst>
          </p:cNvPr>
          <p:cNvSpPr>
            <a:spLocks noGrp="1"/>
          </p:cNvSpPr>
          <p:nvPr>
            <p:ph type="sldNum" sz="quarter" idx="12"/>
          </p:nvPr>
        </p:nvSpPr>
        <p:spPr/>
        <p:txBody>
          <a:bodyPr/>
          <a:lstStyle/>
          <a:p>
            <a:fld id="{B82CCC60-E8CD-4174-8B1A-7DF615B22EEF}" type="slidenum">
              <a:rPr lang="en-US" smtClean="0"/>
              <a:pPr/>
              <a:t>15</a:t>
            </a:fld>
            <a:endParaRPr lang="en-US"/>
          </a:p>
        </p:txBody>
      </p:sp>
      <p:pic>
        <p:nvPicPr>
          <p:cNvPr id="5" name="Content Placeholder 4">
            <a:extLst>
              <a:ext uri="{FF2B5EF4-FFF2-40B4-BE49-F238E27FC236}">
                <a16:creationId xmlns:a16="http://schemas.microsoft.com/office/drawing/2014/main" id="{0955CE53-1B01-98F3-BE32-FB789CB90F63}"/>
              </a:ext>
            </a:extLst>
          </p:cNvPr>
          <p:cNvPicPr>
            <a:picLocks noGrp="1" noChangeAspect="1"/>
          </p:cNvPicPr>
          <p:nvPr>
            <p:ph idx="1"/>
          </p:nvPr>
        </p:nvPicPr>
        <p:blipFill>
          <a:blip r:embed="rId2"/>
          <a:stretch>
            <a:fillRect/>
          </a:stretch>
        </p:blipFill>
        <p:spPr>
          <a:xfrm>
            <a:off x="992422" y="2019417"/>
            <a:ext cx="9010650" cy="3400425"/>
          </a:xfrm>
          <a:prstGeom prst="rect">
            <a:avLst/>
          </a:prstGeom>
        </p:spPr>
      </p:pic>
    </p:spTree>
    <p:extLst>
      <p:ext uri="{BB962C8B-B14F-4D97-AF65-F5344CB8AC3E}">
        <p14:creationId xmlns:p14="http://schemas.microsoft.com/office/powerpoint/2010/main" val="3256696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8D13-8AB2-4BAF-B355-30EA7AC66932}"/>
              </a:ext>
            </a:extLst>
          </p:cNvPr>
          <p:cNvSpPr>
            <a:spLocks noGrp="1"/>
          </p:cNvSpPr>
          <p:nvPr>
            <p:ph type="title"/>
          </p:nvPr>
        </p:nvSpPr>
        <p:spPr/>
        <p:txBody>
          <a:bodyPr>
            <a:normAutofit fontScale="90000"/>
          </a:bodyPr>
          <a:lstStyle/>
          <a:p>
            <a:r>
              <a:rPr lang="en-US" dirty="0"/>
              <a:t>Intron chain</a:t>
            </a:r>
          </a:p>
        </p:txBody>
      </p:sp>
      <p:sp>
        <p:nvSpPr>
          <p:cNvPr id="3" name="Content Placeholder 2">
            <a:extLst>
              <a:ext uri="{FF2B5EF4-FFF2-40B4-BE49-F238E27FC236}">
                <a16:creationId xmlns:a16="http://schemas.microsoft.com/office/drawing/2014/main" id="{A1D5452A-D546-4229-868B-91A050FAFBF4}"/>
              </a:ext>
            </a:extLst>
          </p:cNvPr>
          <p:cNvSpPr>
            <a:spLocks noGrp="1"/>
          </p:cNvSpPr>
          <p:nvPr>
            <p:ph idx="1"/>
          </p:nvPr>
        </p:nvSpPr>
        <p:spPr>
          <a:xfrm>
            <a:off x="598620" y="1596540"/>
            <a:ext cx="10972800" cy="4581150"/>
          </a:xfrm>
        </p:spPr>
        <p:txBody>
          <a:bodyPr>
            <a:normAutofit/>
          </a:bodyPr>
          <a:lstStyle/>
          <a:p>
            <a:r>
              <a:rPr lang="en-US" dirty="0"/>
              <a:t>Intron chain is the set of numbers corresponding to the start and end exon coordinates for spliced exons</a:t>
            </a:r>
          </a:p>
          <a:p>
            <a:r>
              <a:rPr lang="en-US" dirty="0"/>
              <a:t>Intron chain also records the strand (+, or forward) or (-, or reverse)</a:t>
            </a:r>
          </a:p>
          <a:p>
            <a:endParaRPr lang="en-US" dirty="0"/>
          </a:p>
          <a:p>
            <a:endParaRPr lang="en-US" dirty="0"/>
          </a:p>
          <a:p>
            <a:endParaRPr lang="en-US" dirty="0"/>
          </a:p>
          <a:p>
            <a:endParaRPr lang="en-US" dirty="0"/>
          </a:p>
          <a:p>
            <a:r>
              <a:rPr lang="en-US" dirty="0"/>
              <a:t>Intron chain here is (+) </a:t>
            </a:r>
            <a:r>
              <a:rPr lang="en-US" i="1" dirty="0"/>
              <a:t>i</a:t>
            </a:r>
            <a:r>
              <a:rPr lang="en-US" i="1" baseline="-25000" dirty="0"/>
              <a:t>1</a:t>
            </a:r>
            <a:r>
              <a:rPr lang="en-US" i="1" dirty="0"/>
              <a:t>, i</a:t>
            </a:r>
            <a:r>
              <a:rPr lang="en-US" i="1" baseline="-25000" dirty="0"/>
              <a:t>2</a:t>
            </a:r>
            <a:r>
              <a:rPr lang="en-US" i="1" dirty="0"/>
              <a:t>, i</a:t>
            </a:r>
            <a:r>
              <a:rPr lang="en-US" i="1" baseline="-25000" dirty="0"/>
              <a:t>3</a:t>
            </a:r>
            <a:r>
              <a:rPr lang="en-US" i="1" dirty="0"/>
              <a:t>, i</a:t>
            </a:r>
            <a:r>
              <a:rPr lang="en-US" i="1" baseline="-25000" dirty="0"/>
              <a:t>4</a:t>
            </a:r>
            <a:r>
              <a:rPr lang="en-US" i="1" dirty="0"/>
              <a:t>, i</a:t>
            </a:r>
            <a:r>
              <a:rPr lang="en-US" i="1" baseline="-25000" dirty="0"/>
              <a:t>5</a:t>
            </a:r>
            <a:r>
              <a:rPr lang="en-US" i="1" dirty="0"/>
              <a:t>, i</a:t>
            </a:r>
            <a:r>
              <a:rPr lang="en-US" i="1" baseline="-25000" dirty="0"/>
              <a:t>6 </a:t>
            </a:r>
          </a:p>
          <a:p>
            <a:r>
              <a:rPr lang="en-US" dirty="0"/>
              <a:t>Ignores start and end coordinates</a:t>
            </a:r>
          </a:p>
        </p:txBody>
      </p:sp>
      <p:sp>
        <p:nvSpPr>
          <p:cNvPr id="4" name="Slide Number Placeholder 3">
            <a:extLst>
              <a:ext uri="{FF2B5EF4-FFF2-40B4-BE49-F238E27FC236}">
                <a16:creationId xmlns:a16="http://schemas.microsoft.com/office/drawing/2014/main" id="{A362AAFA-96EF-4CD2-A09C-6C24977204B8}"/>
              </a:ext>
            </a:extLst>
          </p:cNvPr>
          <p:cNvSpPr>
            <a:spLocks noGrp="1"/>
          </p:cNvSpPr>
          <p:nvPr>
            <p:ph type="sldNum" sz="quarter" idx="12"/>
          </p:nvPr>
        </p:nvSpPr>
        <p:spPr/>
        <p:txBody>
          <a:bodyPr/>
          <a:lstStyle/>
          <a:p>
            <a:fld id="{B82CCC60-E8CD-4174-8B1A-7DF615B22EEF}" type="slidenum">
              <a:rPr lang="en-US" smtClean="0"/>
              <a:pPr/>
              <a:t>16</a:t>
            </a:fld>
            <a:endParaRPr lang="en-US"/>
          </a:p>
        </p:txBody>
      </p:sp>
      <p:sp>
        <p:nvSpPr>
          <p:cNvPr id="5" name="Line 6">
            <a:extLst>
              <a:ext uri="{FF2B5EF4-FFF2-40B4-BE49-F238E27FC236}">
                <a16:creationId xmlns:a16="http://schemas.microsoft.com/office/drawing/2014/main" id="{33413DA1-3803-48B5-A522-B4421431950A}"/>
              </a:ext>
            </a:extLst>
          </p:cNvPr>
          <p:cNvSpPr>
            <a:spLocks noChangeShapeType="1"/>
          </p:cNvSpPr>
          <p:nvPr/>
        </p:nvSpPr>
        <p:spPr bwMode="auto">
          <a:xfrm>
            <a:off x="2341075" y="4225705"/>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5">
            <a:extLst>
              <a:ext uri="{FF2B5EF4-FFF2-40B4-BE49-F238E27FC236}">
                <a16:creationId xmlns:a16="http://schemas.microsoft.com/office/drawing/2014/main" id="{D040F004-0300-4440-B8ED-46E57751A41B}"/>
              </a:ext>
            </a:extLst>
          </p:cNvPr>
          <p:cNvSpPr>
            <a:spLocks noChangeArrowheads="1"/>
          </p:cNvSpPr>
          <p:nvPr/>
        </p:nvSpPr>
        <p:spPr bwMode="auto">
          <a:xfrm>
            <a:off x="3259483" y="4122395"/>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r>
              <a:rPr lang="en-US" altLang="en-US" dirty="0"/>
              <a:t>    </a:t>
            </a:r>
            <a:endParaRPr lang="en-US" altLang="en-US" sz="1800" i="0" dirty="0">
              <a:solidFill>
                <a:schemeClr val="tx1"/>
              </a:solidFill>
            </a:endParaRPr>
          </a:p>
        </p:txBody>
      </p:sp>
      <p:sp>
        <p:nvSpPr>
          <p:cNvPr id="7" name="Rectangle 6">
            <a:extLst>
              <a:ext uri="{FF2B5EF4-FFF2-40B4-BE49-F238E27FC236}">
                <a16:creationId xmlns:a16="http://schemas.microsoft.com/office/drawing/2014/main" id="{EF110F88-5A96-4E08-AB2A-8842168206FF}"/>
              </a:ext>
            </a:extLst>
          </p:cNvPr>
          <p:cNvSpPr>
            <a:spLocks noChangeArrowheads="1"/>
          </p:cNvSpPr>
          <p:nvPr/>
        </p:nvSpPr>
        <p:spPr bwMode="auto">
          <a:xfrm>
            <a:off x="5264496" y="4116045"/>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sz="1800" i="0" dirty="0">
              <a:solidFill>
                <a:schemeClr val="tx1"/>
              </a:solidFill>
            </a:endParaRPr>
          </a:p>
        </p:txBody>
      </p:sp>
      <p:sp>
        <p:nvSpPr>
          <p:cNvPr id="8" name="Rectangle 7">
            <a:extLst>
              <a:ext uri="{FF2B5EF4-FFF2-40B4-BE49-F238E27FC236}">
                <a16:creationId xmlns:a16="http://schemas.microsoft.com/office/drawing/2014/main" id="{83BFE141-50F9-429D-827F-2FFD6CE59C41}"/>
              </a:ext>
            </a:extLst>
          </p:cNvPr>
          <p:cNvSpPr>
            <a:spLocks noChangeArrowheads="1"/>
          </p:cNvSpPr>
          <p:nvPr/>
        </p:nvSpPr>
        <p:spPr bwMode="auto">
          <a:xfrm>
            <a:off x="7480645" y="4122395"/>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F3F262E8-27B6-496D-ABA8-734D043207C3}"/>
              </a:ext>
            </a:extLst>
          </p:cNvPr>
          <p:cNvSpPr>
            <a:spLocks noChangeArrowheads="1"/>
          </p:cNvSpPr>
          <p:nvPr/>
        </p:nvSpPr>
        <p:spPr bwMode="auto">
          <a:xfrm>
            <a:off x="4478683" y="4123983"/>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cxnSp>
        <p:nvCxnSpPr>
          <p:cNvPr id="10" name="Straight Connector 9">
            <a:extLst>
              <a:ext uri="{FF2B5EF4-FFF2-40B4-BE49-F238E27FC236}">
                <a16:creationId xmlns:a16="http://schemas.microsoft.com/office/drawing/2014/main" id="{13755053-DD41-4A3B-BDDF-10AB3E6AA5BE}"/>
              </a:ext>
            </a:extLst>
          </p:cNvPr>
          <p:cNvCxnSpPr>
            <a:cxnSpLocks/>
          </p:cNvCxnSpPr>
          <p:nvPr/>
        </p:nvCxnSpPr>
        <p:spPr bwMode="auto">
          <a:xfrm flipV="1">
            <a:off x="41230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2BEF8DDF-F119-4E65-800E-43534AD46262}"/>
              </a:ext>
            </a:extLst>
          </p:cNvPr>
          <p:cNvCxnSpPr>
            <a:cxnSpLocks/>
          </p:cNvCxnSpPr>
          <p:nvPr/>
        </p:nvCxnSpPr>
        <p:spPr bwMode="auto">
          <a:xfrm flipV="1">
            <a:off x="4478683" y="3727176"/>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1">
            <a:extLst>
              <a:ext uri="{FF2B5EF4-FFF2-40B4-BE49-F238E27FC236}">
                <a16:creationId xmlns:a16="http://schemas.microsoft.com/office/drawing/2014/main" id="{91CB0433-9DE3-47D1-91E6-212FEC1B97F4}"/>
              </a:ext>
            </a:extLst>
          </p:cNvPr>
          <p:cNvCxnSpPr>
            <a:cxnSpLocks/>
          </p:cNvCxnSpPr>
          <p:nvPr/>
        </p:nvCxnSpPr>
        <p:spPr bwMode="auto">
          <a:xfrm flipV="1">
            <a:off x="526026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12">
            <a:extLst>
              <a:ext uri="{FF2B5EF4-FFF2-40B4-BE49-F238E27FC236}">
                <a16:creationId xmlns:a16="http://schemas.microsoft.com/office/drawing/2014/main" id="{F0900EE1-70C9-467D-B08A-54ECFC559843}"/>
              </a:ext>
            </a:extLst>
          </p:cNvPr>
          <p:cNvCxnSpPr>
            <a:cxnSpLocks/>
          </p:cNvCxnSpPr>
          <p:nvPr/>
        </p:nvCxnSpPr>
        <p:spPr bwMode="auto">
          <a:xfrm flipV="1">
            <a:off x="4984212"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F4360D02-327F-4D70-8DEB-B4CF35D133A0}"/>
              </a:ext>
            </a:extLst>
          </p:cNvPr>
          <p:cNvCxnSpPr>
            <a:cxnSpLocks/>
          </p:cNvCxnSpPr>
          <p:nvPr/>
        </p:nvCxnSpPr>
        <p:spPr bwMode="auto">
          <a:xfrm flipV="1">
            <a:off x="636898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CF36B904-175C-4A9D-A247-838DDD775054}"/>
              </a:ext>
            </a:extLst>
          </p:cNvPr>
          <p:cNvCxnSpPr>
            <a:cxnSpLocks/>
          </p:cNvCxnSpPr>
          <p:nvPr/>
        </p:nvCxnSpPr>
        <p:spPr bwMode="auto">
          <a:xfrm flipV="1">
            <a:off x="7480645" y="3742579"/>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2FA5711C-7C98-450A-ABF0-EBBC4093156E}"/>
              </a:ext>
            </a:extLst>
          </p:cNvPr>
          <p:cNvSpPr txBox="1"/>
          <p:nvPr/>
        </p:nvSpPr>
        <p:spPr>
          <a:xfrm>
            <a:off x="3954215" y="4761845"/>
            <a:ext cx="316112" cy="369332"/>
          </a:xfrm>
          <a:prstGeom prst="rect">
            <a:avLst/>
          </a:prstGeom>
          <a:noFill/>
        </p:spPr>
        <p:txBody>
          <a:bodyPr wrap="none" rtlCol="0">
            <a:spAutoFit/>
          </a:bodyPr>
          <a:lstStyle/>
          <a:p>
            <a:r>
              <a:rPr lang="en-US" i="1" dirty="0">
                <a:latin typeface="+mj-lt"/>
              </a:rPr>
              <a:t>i</a:t>
            </a:r>
            <a:r>
              <a:rPr lang="en-US" i="1" baseline="-25000" dirty="0">
                <a:latin typeface="+mj-lt"/>
              </a:rPr>
              <a:t>1</a:t>
            </a:r>
          </a:p>
        </p:txBody>
      </p:sp>
      <p:sp>
        <p:nvSpPr>
          <p:cNvPr id="17" name="TextBox 16">
            <a:extLst>
              <a:ext uri="{FF2B5EF4-FFF2-40B4-BE49-F238E27FC236}">
                <a16:creationId xmlns:a16="http://schemas.microsoft.com/office/drawing/2014/main" id="{4374D4AD-80E7-41FC-94CE-91751FADCA64}"/>
              </a:ext>
            </a:extLst>
          </p:cNvPr>
          <p:cNvSpPr txBox="1"/>
          <p:nvPr/>
        </p:nvSpPr>
        <p:spPr>
          <a:xfrm>
            <a:off x="432487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2</a:t>
            </a:r>
          </a:p>
        </p:txBody>
      </p:sp>
      <p:sp>
        <p:nvSpPr>
          <p:cNvPr id="18" name="TextBox 17">
            <a:extLst>
              <a:ext uri="{FF2B5EF4-FFF2-40B4-BE49-F238E27FC236}">
                <a16:creationId xmlns:a16="http://schemas.microsoft.com/office/drawing/2014/main" id="{AB0A1987-D9B1-4774-9615-23E138F257F5}"/>
              </a:ext>
            </a:extLst>
          </p:cNvPr>
          <p:cNvSpPr txBox="1"/>
          <p:nvPr/>
        </p:nvSpPr>
        <p:spPr>
          <a:xfrm>
            <a:off x="4826156" y="4788990"/>
            <a:ext cx="316112" cy="369332"/>
          </a:xfrm>
          <a:prstGeom prst="rect">
            <a:avLst/>
          </a:prstGeom>
          <a:noFill/>
        </p:spPr>
        <p:txBody>
          <a:bodyPr wrap="none" rtlCol="0">
            <a:spAutoFit/>
          </a:bodyPr>
          <a:lstStyle/>
          <a:p>
            <a:r>
              <a:rPr lang="en-US" i="1" dirty="0">
                <a:latin typeface="+mj-lt"/>
              </a:rPr>
              <a:t>i</a:t>
            </a:r>
            <a:r>
              <a:rPr lang="en-US" i="1" baseline="-25000" dirty="0">
                <a:latin typeface="+mj-lt"/>
              </a:rPr>
              <a:t>3</a:t>
            </a:r>
          </a:p>
        </p:txBody>
      </p:sp>
      <p:sp>
        <p:nvSpPr>
          <p:cNvPr id="19" name="TextBox 18">
            <a:extLst>
              <a:ext uri="{FF2B5EF4-FFF2-40B4-BE49-F238E27FC236}">
                <a16:creationId xmlns:a16="http://schemas.microsoft.com/office/drawing/2014/main" id="{C7487BDC-E32D-48F8-BD41-F79AC68F0D42}"/>
              </a:ext>
            </a:extLst>
          </p:cNvPr>
          <p:cNvSpPr txBox="1"/>
          <p:nvPr/>
        </p:nvSpPr>
        <p:spPr>
          <a:xfrm>
            <a:off x="5142268" y="4798238"/>
            <a:ext cx="316112" cy="369332"/>
          </a:xfrm>
          <a:prstGeom prst="rect">
            <a:avLst/>
          </a:prstGeom>
          <a:noFill/>
        </p:spPr>
        <p:txBody>
          <a:bodyPr wrap="none" rtlCol="0">
            <a:spAutoFit/>
          </a:bodyPr>
          <a:lstStyle/>
          <a:p>
            <a:r>
              <a:rPr lang="en-US" i="1" dirty="0">
                <a:latin typeface="+mj-lt"/>
              </a:rPr>
              <a:t>i</a:t>
            </a:r>
            <a:r>
              <a:rPr lang="en-US" i="1" baseline="-25000" dirty="0">
                <a:latin typeface="+mj-lt"/>
              </a:rPr>
              <a:t>4</a:t>
            </a:r>
          </a:p>
        </p:txBody>
      </p:sp>
      <p:sp>
        <p:nvSpPr>
          <p:cNvPr id="20" name="TextBox 19">
            <a:extLst>
              <a:ext uri="{FF2B5EF4-FFF2-40B4-BE49-F238E27FC236}">
                <a16:creationId xmlns:a16="http://schemas.microsoft.com/office/drawing/2014/main" id="{460FBECE-096C-4C91-A9FC-EB8FF3466D2A}"/>
              </a:ext>
            </a:extLst>
          </p:cNvPr>
          <p:cNvSpPr txBox="1"/>
          <p:nvPr/>
        </p:nvSpPr>
        <p:spPr>
          <a:xfrm>
            <a:off x="6216446" y="4743188"/>
            <a:ext cx="316112" cy="369332"/>
          </a:xfrm>
          <a:prstGeom prst="rect">
            <a:avLst/>
          </a:prstGeom>
          <a:noFill/>
        </p:spPr>
        <p:txBody>
          <a:bodyPr wrap="none" rtlCol="0">
            <a:spAutoFit/>
          </a:bodyPr>
          <a:lstStyle/>
          <a:p>
            <a:r>
              <a:rPr lang="en-US" i="1" dirty="0">
                <a:latin typeface="+mj-lt"/>
              </a:rPr>
              <a:t>i</a:t>
            </a:r>
            <a:r>
              <a:rPr lang="en-US" i="1" baseline="-25000" dirty="0">
                <a:latin typeface="+mj-lt"/>
              </a:rPr>
              <a:t>5</a:t>
            </a:r>
          </a:p>
        </p:txBody>
      </p:sp>
      <p:sp>
        <p:nvSpPr>
          <p:cNvPr id="21" name="TextBox 20">
            <a:extLst>
              <a:ext uri="{FF2B5EF4-FFF2-40B4-BE49-F238E27FC236}">
                <a16:creationId xmlns:a16="http://schemas.microsoft.com/office/drawing/2014/main" id="{583F122F-B716-4EFB-A597-89E4779B8C2C}"/>
              </a:ext>
            </a:extLst>
          </p:cNvPr>
          <p:cNvSpPr txBox="1"/>
          <p:nvPr/>
        </p:nvSpPr>
        <p:spPr>
          <a:xfrm>
            <a:off x="7305529" y="4760434"/>
            <a:ext cx="316112" cy="369332"/>
          </a:xfrm>
          <a:prstGeom prst="rect">
            <a:avLst/>
          </a:prstGeom>
          <a:noFill/>
        </p:spPr>
        <p:txBody>
          <a:bodyPr wrap="none" rtlCol="0">
            <a:spAutoFit/>
          </a:bodyPr>
          <a:lstStyle/>
          <a:p>
            <a:r>
              <a:rPr lang="en-US" i="1" dirty="0">
                <a:latin typeface="+mj-lt"/>
              </a:rPr>
              <a:t>i</a:t>
            </a:r>
            <a:r>
              <a:rPr lang="en-US" i="1" baseline="-25000" dirty="0">
                <a:latin typeface="+mj-lt"/>
              </a:rPr>
              <a:t>6</a:t>
            </a:r>
          </a:p>
        </p:txBody>
      </p:sp>
      <p:cxnSp>
        <p:nvCxnSpPr>
          <p:cNvPr id="22" name="Straight Connector 21">
            <a:extLst>
              <a:ext uri="{FF2B5EF4-FFF2-40B4-BE49-F238E27FC236}">
                <a16:creationId xmlns:a16="http://schemas.microsoft.com/office/drawing/2014/main" id="{3F1E0697-E5D5-42EB-BF3C-DD1B25506B99}"/>
              </a:ext>
            </a:extLst>
          </p:cNvPr>
          <p:cNvCxnSpPr>
            <a:cxnSpLocks/>
          </p:cNvCxnSpPr>
          <p:nvPr/>
        </p:nvCxnSpPr>
        <p:spPr bwMode="auto">
          <a:xfrm flipV="1">
            <a:off x="3714168"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AA37B75F-06CD-4049-BCAE-7DC44B7503FB}"/>
              </a:ext>
            </a:extLst>
          </p:cNvPr>
          <p:cNvCxnSpPr>
            <a:cxnSpLocks/>
          </p:cNvCxnSpPr>
          <p:nvPr/>
        </p:nvCxnSpPr>
        <p:spPr bwMode="auto">
          <a:xfrm flipV="1">
            <a:off x="8040216" y="3746323"/>
            <a:ext cx="0" cy="1051915"/>
          </a:xfrm>
          <a:prstGeom prst="line">
            <a:avLst/>
          </a:prstGeom>
          <a:solidFill>
            <a:schemeClr val="accent1"/>
          </a:solidFill>
          <a:ln w="38100" cap="flat" cmpd="sng" algn="ctr">
            <a:solidFill>
              <a:schemeClr val="accent3">
                <a:lumMod val="75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Box 23">
            <a:extLst>
              <a:ext uri="{FF2B5EF4-FFF2-40B4-BE49-F238E27FC236}">
                <a16:creationId xmlns:a16="http://schemas.microsoft.com/office/drawing/2014/main" id="{640381EE-46C4-48CD-809C-ACFAE6389AF5}"/>
              </a:ext>
            </a:extLst>
          </p:cNvPr>
          <p:cNvSpPr txBox="1"/>
          <p:nvPr/>
        </p:nvSpPr>
        <p:spPr>
          <a:xfrm>
            <a:off x="2552255" y="3436603"/>
            <a:ext cx="1320298" cy="369332"/>
          </a:xfrm>
          <a:prstGeom prst="rect">
            <a:avLst/>
          </a:prstGeom>
          <a:noFill/>
        </p:spPr>
        <p:txBody>
          <a:bodyPr wrap="none" rtlCol="0">
            <a:spAutoFit/>
          </a:bodyPr>
          <a:lstStyle/>
          <a:p>
            <a:r>
              <a:rPr lang="en-US" i="1" dirty="0">
                <a:latin typeface="+mj-lt"/>
              </a:rPr>
              <a:t>Coding start</a:t>
            </a:r>
            <a:endParaRPr lang="en-US" i="1" baseline="-25000" dirty="0">
              <a:latin typeface="+mj-lt"/>
            </a:endParaRPr>
          </a:p>
        </p:txBody>
      </p:sp>
      <p:sp>
        <p:nvSpPr>
          <p:cNvPr id="25" name="TextBox 24">
            <a:extLst>
              <a:ext uri="{FF2B5EF4-FFF2-40B4-BE49-F238E27FC236}">
                <a16:creationId xmlns:a16="http://schemas.microsoft.com/office/drawing/2014/main" id="{21F13D32-65EF-4C5E-809A-14CC786DE940}"/>
              </a:ext>
            </a:extLst>
          </p:cNvPr>
          <p:cNvSpPr txBox="1"/>
          <p:nvPr/>
        </p:nvSpPr>
        <p:spPr>
          <a:xfrm>
            <a:off x="7718561" y="3409996"/>
            <a:ext cx="1283749" cy="369332"/>
          </a:xfrm>
          <a:prstGeom prst="rect">
            <a:avLst/>
          </a:prstGeom>
          <a:noFill/>
        </p:spPr>
        <p:txBody>
          <a:bodyPr wrap="none" rtlCol="0">
            <a:spAutoFit/>
          </a:bodyPr>
          <a:lstStyle/>
          <a:p>
            <a:r>
              <a:rPr lang="en-US" i="1" dirty="0">
                <a:latin typeface="+mj-lt"/>
              </a:rPr>
              <a:t>Coding stop</a:t>
            </a:r>
            <a:endParaRPr lang="en-US" i="1" baseline="-25000" dirty="0">
              <a:latin typeface="+mj-lt"/>
            </a:endParaRPr>
          </a:p>
        </p:txBody>
      </p:sp>
    </p:spTree>
    <p:extLst>
      <p:ext uri="{BB962C8B-B14F-4D97-AF65-F5344CB8AC3E}">
        <p14:creationId xmlns:p14="http://schemas.microsoft.com/office/powerpoint/2010/main" val="2519693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F3ED-0C93-A2F0-7C92-D36B9BFB1431}"/>
              </a:ext>
            </a:extLst>
          </p:cNvPr>
          <p:cNvSpPr>
            <a:spLocks noGrp="1"/>
          </p:cNvSpPr>
          <p:nvPr>
            <p:ph type="title"/>
          </p:nvPr>
        </p:nvSpPr>
        <p:spPr/>
        <p:txBody>
          <a:bodyPr>
            <a:normAutofit fontScale="90000"/>
          </a:bodyPr>
          <a:lstStyle/>
          <a:p>
            <a:r>
              <a:rPr lang="en-US" dirty="0"/>
              <a:t>Nucleotide level accuracy</a:t>
            </a:r>
          </a:p>
        </p:txBody>
      </p:sp>
      <p:sp>
        <p:nvSpPr>
          <p:cNvPr id="4" name="Slide Number Placeholder 3">
            <a:extLst>
              <a:ext uri="{FF2B5EF4-FFF2-40B4-BE49-F238E27FC236}">
                <a16:creationId xmlns:a16="http://schemas.microsoft.com/office/drawing/2014/main" id="{CCD86338-5554-BDC7-9E3F-68C26CBD76C3}"/>
              </a:ext>
            </a:extLst>
          </p:cNvPr>
          <p:cNvSpPr>
            <a:spLocks noGrp="1"/>
          </p:cNvSpPr>
          <p:nvPr>
            <p:ph type="sldNum" sz="quarter" idx="12"/>
          </p:nvPr>
        </p:nvSpPr>
        <p:spPr/>
        <p:txBody>
          <a:bodyPr/>
          <a:lstStyle/>
          <a:p>
            <a:fld id="{B82CCC60-E8CD-4174-8B1A-7DF615B22EEF}" type="slidenum">
              <a:rPr lang="en-US" smtClean="0"/>
              <a:pPr/>
              <a:t>17</a:t>
            </a:fld>
            <a:endParaRPr lang="en-US"/>
          </a:p>
        </p:txBody>
      </p:sp>
      <p:graphicFrame>
        <p:nvGraphicFramePr>
          <p:cNvPr id="5" name="Object 4">
            <a:extLst>
              <a:ext uri="{FF2B5EF4-FFF2-40B4-BE49-F238E27FC236}">
                <a16:creationId xmlns:a16="http://schemas.microsoft.com/office/drawing/2014/main" id="{208140D2-4393-DBCF-C439-64B39E298A33}"/>
              </a:ext>
            </a:extLst>
          </p:cNvPr>
          <p:cNvGraphicFramePr>
            <a:graphicFrameLocks noChangeAspect="1"/>
          </p:cNvGraphicFramePr>
          <p:nvPr>
            <p:extLst>
              <p:ext uri="{D42A27DB-BD31-4B8C-83A1-F6EECF244321}">
                <p14:modId xmlns:p14="http://schemas.microsoft.com/office/powerpoint/2010/main" val="79109728"/>
              </p:ext>
            </p:extLst>
          </p:nvPr>
        </p:nvGraphicFramePr>
        <p:xfrm>
          <a:off x="5497620" y="3980705"/>
          <a:ext cx="1371600" cy="698500"/>
        </p:xfrm>
        <a:graphic>
          <a:graphicData uri="http://schemas.openxmlformats.org/presentationml/2006/ole">
            <mc:AlternateContent xmlns:mc="http://schemas.openxmlformats.org/markup-compatibility/2006">
              <mc:Choice xmlns:v="urn:schemas-microsoft-com:vml" Requires="v">
                <p:oleObj name="Equation" r:id="rId2" imgW="21361400" imgH="9067800" progId="Equation.3">
                  <p:embed/>
                </p:oleObj>
              </mc:Choice>
              <mc:Fallback>
                <p:oleObj name="Equation" r:id="rId2" imgW="21361400" imgH="9067800" progId="Equation.3">
                  <p:embed/>
                  <p:pic>
                    <p:nvPicPr>
                      <p:cNvPr id="5" name="Object 4">
                        <a:extLst>
                          <a:ext uri="{FF2B5EF4-FFF2-40B4-BE49-F238E27FC236}">
                            <a16:creationId xmlns:a16="http://schemas.microsoft.com/office/drawing/2014/main" id="{208140D2-4393-DBCF-C439-64B39E298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620" y="3980705"/>
                        <a:ext cx="13716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9B119489-6150-7749-D39C-74A80848ED84}"/>
              </a:ext>
            </a:extLst>
          </p:cNvPr>
          <p:cNvSpPr>
            <a:spLocks noChangeShapeType="1"/>
          </p:cNvSpPr>
          <p:nvPr/>
        </p:nvSpPr>
        <p:spPr bwMode="auto">
          <a:xfrm>
            <a:off x="2264895" y="22526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3AD550BB-08C5-35FF-EA14-0CA67B6013B1}"/>
              </a:ext>
            </a:extLst>
          </p:cNvPr>
          <p:cNvSpPr>
            <a:spLocks noChangeShapeType="1"/>
          </p:cNvSpPr>
          <p:nvPr/>
        </p:nvSpPr>
        <p:spPr bwMode="auto">
          <a:xfrm>
            <a:off x="2264895" y="27860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a:extLst>
              <a:ext uri="{FF2B5EF4-FFF2-40B4-BE49-F238E27FC236}">
                <a16:creationId xmlns:a16="http://schemas.microsoft.com/office/drawing/2014/main" id="{C1B63340-741D-2AC4-F048-F88FE0A6102A}"/>
              </a:ext>
            </a:extLst>
          </p:cNvPr>
          <p:cNvSpPr>
            <a:spLocks noChangeShapeType="1"/>
          </p:cNvSpPr>
          <p:nvPr/>
        </p:nvSpPr>
        <p:spPr bwMode="auto">
          <a:xfrm>
            <a:off x="2264895" y="33194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a:extLst>
              <a:ext uri="{FF2B5EF4-FFF2-40B4-BE49-F238E27FC236}">
                <a16:creationId xmlns:a16="http://schemas.microsoft.com/office/drawing/2014/main" id="{57DA34F9-E4D3-B4B8-F5B2-75DC03E337F1}"/>
              </a:ext>
            </a:extLst>
          </p:cNvPr>
          <p:cNvSpPr>
            <a:spLocks noChangeArrowheads="1"/>
          </p:cNvSpPr>
          <p:nvPr/>
        </p:nvSpPr>
        <p:spPr bwMode="auto">
          <a:xfrm>
            <a:off x="3271370" y="2640012"/>
            <a:ext cx="1968500" cy="215900"/>
          </a:xfrm>
          <a:prstGeom prst="rect">
            <a:avLst/>
          </a:prstGeom>
          <a:solidFill>
            <a:srgbClr val="32CC6D"/>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84A41D8E-530A-1AA8-FE30-2786E4B96090}"/>
              </a:ext>
            </a:extLst>
          </p:cNvPr>
          <p:cNvSpPr>
            <a:spLocks noChangeArrowheads="1"/>
          </p:cNvSpPr>
          <p:nvPr/>
        </p:nvSpPr>
        <p:spPr bwMode="auto">
          <a:xfrm>
            <a:off x="6547970" y="2640012"/>
            <a:ext cx="2425700" cy="215900"/>
          </a:xfrm>
          <a:prstGeom prst="rect">
            <a:avLst/>
          </a:prstGeom>
          <a:solidFill>
            <a:srgbClr val="32CC6D"/>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4647C44C-1CEA-BA8A-8B5C-CE9565D792C2}"/>
              </a:ext>
            </a:extLst>
          </p:cNvPr>
          <p:cNvSpPr>
            <a:spLocks noChangeArrowheads="1"/>
          </p:cNvSpPr>
          <p:nvPr/>
        </p:nvSpPr>
        <p:spPr bwMode="auto">
          <a:xfrm>
            <a:off x="3758550" y="3173412"/>
            <a:ext cx="18161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2" name="Rectangle 11">
            <a:extLst>
              <a:ext uri="{FF2B5EF4-FFF2-40B4-BE49-F238E27FC236}">
                <a16:creationId xmlns:a16="http://schemas.microsoft.com/office/drawing/2014/main" id="{97EC20A2-7437-0169-F5C5-A7895D084EEB}"/>
              </a:ext>
            </a:extLst>
          </p:cNvPr>
          <p:cNvSpPr>
            <a:spLocks noChangeArrowheads="1"/>
          </p:cNvSpPr>
          <p:nvPr/>
        </p:nvSpPr>
        <p:spPr bwMode="auto">
          <a:xfrm>
            <a:off x="7005170" y="3173412"/>
            <a:ext cx="16637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Line 12">
            <a:extLst>
              <a:ext uri="{FF2B5EF4-FFF2-40B4-BE49-F238E27FC236}">
                <a16:creationId xmlns:a16="http://schemas.microsoft.com/office/drawing/2014/main" id="{5916501D-EE00-876C-E64E-77946EC4B9F1}"/>
              </a:ext>
            </a:extLst>
          </p:cNvPr>
          <p:cNvSpPr>
            <a:spLocks noChangeShapeType="1"/>
          </p:cNvSpPr>
          <p:nvPr/>
        </p:nvSpPr>
        <p:spPr bwMode="auto">
          <a:xfrm flipV="1">
            <a:off x="2274420"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3">
            <a:extLst>
              <a:ext uri="{FF2B5EF4-FFF2-40B4-BE49-F238E27FC236}">
                <a16:creationId xmlns:a16="http://schemas.microsoft.com/office/drawing/2014/main" id="{D01BFB7B-EB1B-8C8B-C78A-67BC6DAB3892}"/>
              </a:ext>
            </a:extLst>
          </p:cNvPr>
          <p:cNvSpPr>
            <a:spLocks noChangeShapeType="1"/>
          </p:cNvSpPr>
          <p:nvPr/>
        </p:nvSpPr>
        <p:spPr bwMode="auto">
          <a:xfrm flipV="1">
            <a:off x="5246402"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4">
            <a:extLst>
              <a:ext uri="{FF2B5EF4-FFF2-40B4-BE49-F238E27FC236}">
                <a16:creationId xmlns:a16="http://schemas.microsoft.com/office/drawing/2014/main" id="{8C0B0E1A-AE8D-E75C-C19C-1BA002EDE701}"/>
              </a:ext>
            </a:extLst>
          </p:cNvPr>
          <p:cNvSpPr>
            <a:spLocks noChangeShapeType="1"/>
          </p:cNvSpPr>
          <p:nvPr/>
        </p:nvSpPr>
        <p:spPr bwMode="auto">
          <a:xfrm flipV="1">
            <a:off x="5581885"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5">
            <a:extLst>
              <a:ext uri="{FF2B5EF4-FFF2-40B4-BE49-F238E27FC236}">
                <a16:creationId xmlns:a16="http://schemas.microsoft.com/office/drawing/2014/main" id="{1629F53C-C68A-5C71-B189-403048FE94C6}"/>
              </a:ext>
            </a:extLst>
          </p:cNvPr>
          <p:cNvSpPr>
            <a:spLocks noChangeShapeType="1"/>
          </p:cNvSpPr>
          <p:nvPr/>
        </p:nvSpPr>
        <p:spPr bwMode="auto">
          <a:xfrm flipV="1">
            <a:off x="6536857" y="178276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6">
            <a:extLst>
              <a:ext uri="{FF2B5EF4-FFF2-40B4-BE49-F238E27FC236}">
                <a16:creationId xmlns:a16="http://schemas.microsoft.com/office/drawing/2014/main" id="{214A4F89-4FE1-97FD-2A5F-25BB50345D7D}"/>
              </a:ext>
            </a:extLst>
          </p:cNvPr>
          <p:cNvSpPr>
            <a:spLocks noChangeShapeType="1"/>
          </p:cNvSpPr>
          <p:nvPr/>
        </p:nvSpPr>
        <p:spPr bwMode="auto">
          <a:xfrm flipV="1">
            <a:off x="6992470"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7">
            <a:extLst>
              <a:ext uri="{FF2B5EF4-FFF2-40B4-BE49-F238E27FC236}">
                <a16:creationId xmlns:a16="http://schemas.microsoft.com/office/drawing/2014/main" id="{0707ADB7-7EF2-66CB-9113-81A581913F76}"/>
              </a:ext>
            </a:extLst>
          </p:cNvPr>
          <p:cNvSpPr>
            <a:spLocks noChangeShapeType="1"/>
          </p:cNvSpPr>
          <p:nvPr/>
        </p:nvSpPr>
        <p:spPr bwMode="auto">
          <a:xfrm flipV="1">
            <a:off x="8659527"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8">
            <a:extLst>
              <a:ext uri="{FF2B5EF4-FFF2-40B4-BE49-F238E27FC236}">
                <a16:creationId xmlns:a16="http://schemas.microsoft.com/office/drawing/2014/main" id="{87E45C45-2AC1-6EEC-BFCB-FC353C7288FB}"/>
              </a:ext>
            </a:extLst>
          </p:cNvPr>
          <p:cNvSpPr>
            <a:spLocks noChangeShapeType="1"/>
          </p:cNvSpPr>
          <p:nvPr/>
        </p:nvSpPr>
        <p:spPr bwMode="auto">
          <a:xfrm flipV="1">
            <a:off x="8995192"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9">
            <a:extLst>
              <a:ext uri="{FF2B5EF4-FFF2-40B4-BE49-F238E27FC236}">
                <a16:creationId xmlns:a16="http://schemas.microsoft.com/office/drawing/2014/main" id="{EFA7BE8F-DB28-4940-01B5-120C6565ABB9}"/>
              </a:ext>
            </a:extLst>
          </p:cNvPr>
          <p:cNvSpPr>
            <a:spLocks noChangeShapeType="1"/>
          </p:cNvSpPr>
          <p:nvPr/>
        </p:nvSpPr>
        <p:spPr bwMode="auto">
          <a:xfrm flipV="1">
            <a:off x="9961095" y="17986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0">
            <a:extLst>
              <a:ext uri="{FF2B5EF4-FFF2-40B4-BE49-F238E27FC236}">
                <a16:creationId xmlns:a16="http://schemas.microsoft.com/office/drawing/2014/main" id="{D04E150B-FCD5-EEA6-090A-B3A98C1F1229}"/>
              </a:ext>
            </a:extLst>
          </p:cNvPr>
          <p:cNvSpPr>
            <a:spLocks noChangeShapeType="1"/>
          </p:cNvSpPr>
          <p:nvPr/>
        </p:nvSpPr>
        <p:spPr bwMode="auto">
          <a:xfrm flipV="1">
            <a:off x="3268195" y="1784349"/>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1">
            <a:extLst>
              <a:ext uri="{FF2B5EF4-FFF2-40B4-BE49-F238E27FC236}">
                <a16:creationId xmlns:a16="http://schemas.microsoft.com/office/drawing/2014/main" id="{87B7E886-FAE2-23FA-6E5D-75C1C55EEA2B}"/>
              </a:ext>
            </a:extLst>
          </p:cNvPr>
          <p:cNvSpPr>
            <a:spLocks noChangeShapeType="1"/>
          </p:cNvSpPr>
          <p:nvPr/>
        </p:nvSpPr>
        <p:spPr bwMode="auto">
          <a:xfrm flipV="1">
            <a:off x="3767892" y="177958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2">
            <a:extLst>
              <a:ext uri="{FF2B5EF4-FFF2-40B4-BE49-F238E27FC236}">
                <a16:creationId xmlns:a16="http://schemas.microsoft.com/office/drawing/2014/main" id="{FC130264-E2D1-2F9F-0C83-633F637537E4}"/>
              </a:ext>
            </a:extLst>
          </p:cNvPr>
          <p:cNvSpPr>
            <a:spLocks noChangeArrowheads="1"/>
          </p:cNvSpPr>
          <p:nvPr/>
        </p:nvSpPr>
        <p:spPr bwMode="auto">
          <a:xfrm>
            <a:off x="2444282" y="1766887"/>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4" name="Rectangle 23">
            <a:extLst>
              <a:ext uri="{FF2B5EF4-FFF2-40B4-BE49-F238E27FC236}">
                <a16:creationId xmlns:a16="http://schemas.microsoft.com/office/drawing/2014/main" id="{9E1658C2-1CB7-E694-5D28-2C029B509EAD}"/>
              </a:ext>
            </a:extLst>
          </p:cNvPr>
          <p:cNvSpPr>
            <a:spLocks noChangeArrowheads="1"/>
          </p:cNvSpPr>
          <p:nvPr/>
        </p:nvSpPr>
        <p:spPr bwMode="auto">
          <a:xfrm>
            <a:off x="5171607" y="1765299"/>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FP</a:t>
            </a:r>
          </a:p>
        </p:txBody>
      </p:sp>
      <p:sp>
        <p:nvSpPr>
          <p:cNvPr id="25" name="Rectangle 24">
            <a:extLst>
              <a:ext uri="{FF2B5EF4-FFF2-40B4-BE49-F238E27FC236}">
                <a16:creationId xmlns:a16="http://schemas.microsoft.com/office/drawing/2014/main" id="{C96A05CF-9DCA-AAD3-DA31-B2E4B91DCBD6}"/>
              </a:ext>
            </a:extLst>
          </p:cNvPr>
          <p:cNvSpPr>
            <a:spLocks noChangeArrowheads="1"/>
          </p:cNvSpPr>
          <p:nvPr/>
        </p:nvSpPr>
        <p:spPr bwMode="auto">
          <a:xfrm>
            <a:off x="3206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26" name="Rectangle 25">
            <a:extLst>
              <a:ext uri="{FF2B5EF4-FFF2-40B4-BE49-F238E27FC236}">
                <a16:creationId xmlns:a16="http://schemas.microsoft.com/office/drawing/2014/main" id="{8937644B-B94F-068D-4508-167661606524}"/>
              </a:ext>
            </a:extLst>
          </p:cNvPr>
          <p:cNvSpPr>
            <a:spLocks noChangeArrowheads="1"/>
          </p:cNvSpPr>
          <p:nvPr/>
        </p:nvSpPr>
        <p:spPr bwMode="auto">
          <a:xfrm>
            <a:off x="5751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7" name="Rectangle 26">
            <a:extLst>
              <a:ext uri="{FF2B5EF4-FFF2-40B4-BE49-F238E27FC236}">
                <a16:creationId xmlns:a16="http://schemas.microsoft.com/office/drawing/2014/main" id="{6A8D5E0E-A63A-7EDD-8097-8693473B1C42}"/>
              </a:ext>
            </a:extLst>
          </p:cNvPr>
          <p:cNvSpPr>
            <a:spLocks noChangeArrowheads="1"/>
          </p:cNvSpPr>
          <p:nvPr/>
        </p:nvSpPr>
        <p:spPr bwMode="auto">
          <a:xfrm>
            <a:off x="9180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8" name="Rectangle 27">
            <a:extLst>
              <a:ext uri="{FF2B5EF4-FFF2-40B4-BE49-F238E27FC236}">
                <a16:creationId xmlns:a16="http://schemas.microsoft.com/office/drawing/2014/main" id="{2982BE2F-0ED0-FDA6-2F9B-ACCEFABF38D7}"/>
              </a:ext>
            </a:extLst>
          </p:cNvPr>
          <p:cNvSpPr>
            <a:spLocks noChangeArrowheads="1"/>
          </p:cNvSpPr>
          <p:nvPr/>
        </p:nvSpPr>
        <p:spPr bwMode="auto">
          <a:xfrm>
            <a:off x="7473482" y="1765299"/>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29" name="Rectangle 28">
            <a:extLst>
              <a:ext uri="{FF2B5EF4-FFF2-40B4-BE49-F238E27FC236}">
                <a16:creationId xmlns:a16="http://schemas.microsoft.com/office/drawing/2014/main" id="{32D84391-EEFF-6644-8950-1BE424EBC6BB}"/>
              </a:ext>
            </a:extLst>
          </p:cNvPr>
          <p:cNvSpPr>
            <a:spLocks noChangeArrowheads="1"/>
          </p:cNvSpPr>
          <p:nvPr/>
        </p:nvSpPr>
        <p:spPr bwMode="auto">
          <a:xfrm>
            <a:off x="64828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0" name="Rectangle 29">
            <a:extLst>
              <a:ext uri="{FF2B5EF4-FFF2-40B4-BE49-F238E27FC236}">
                <a16:creationId xmlns:a16="http://schemas.microsoft.com/office/drawing/2014/main" id="{620D3ADC-82DE-578C-AF68-548845F8D9F2}"/>
              </a:ext>
            </a:extLst>
          </p:cNvPr>
          <p:cNvSpPr>
            <a:spLocks noChangeArrowheads="1"/>
          </p:cNvSpPr>
          <p:nvPr/>
        </p:nvSpPr>
        <p:spPr bwMode="auto">
          <a:xfrm>
            <a:off x="4182595" y="1766887"/>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31" name="Rectangle 30">
            <a:extLst>
              <a:ext uri="{FF2B5EF4-FFF2-40B4-BE49-F238E27FC236}">
                <a16:creationId xmlns:a16="http://schemas.microsoft.com/office/drawing/2014/main" id="{DD365848-09DE-1A4F-FC7B-771BBB51C708}"/>
              </a:ext>
            </a:extLst>
          </p:cNvPr>
          <p:cNvSpPr>
            <a:spLocks noChangeArrowheads="1"/>
          </p:cNvSpPr>
          <p:nvPr/>
        </p:nvSpPr>
        <p:spPr bwMode="auto">
          <a:xfrm>
            <a:off x="8540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2" name="Rectangle 31">
            <a:extLst>
              <a:ext uri="{FF2B5EF4-FFF2-40B4-BE49-F238E27FC236}">
                <a16:creationId xmlns:a16="http://schemas.microsoft.com/office/drawing/2014/main" id="{CC1ED99B-F761-92B9-52F5-38A658D70D3E}"/>
              </a:ext>
            </a:extLst>
          </p:cNvPr>
          <p:cNvSpPr>
            <a:spLocks noChangeArrowheads="1"/>
          </p:cNvSpPr>
          <p:nvPr/>
        </p:nvSpPr>
        <p:spPr bwMode="auto">
          <a:xfrm>
            <a:off x="1006980" y="2344324"/>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33" name="Rectangle 32">
            <a:extLst>
              <a:ext uri="{FF2B5EF4-FFF2-40B4-BE49-F238E27FC236}">
                <a16:creationId xmlns:a16="http://schemas.microsoft.com/office/drawing/2014/main" id="{D81C1AA5-0DAD-DA28-08D5-90AE4A0E036A}"/>
              </a:ext>
            </a:extLst>
          </p:cNvPr>
          <p:cNvSpPr>
            <a:spLocks noChangeArrowheads="1"/>
          </p:cNvSpPr>
          <p:nvPr/>
        </p:nvSpPr>
        <p:spPr bwMode="auto">
          <a:xfrm>
            <a:off x="758910" y="2912392"/>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34" name="Text Box 33">
            <a:extLst>
              <a:ext uri="{FF2B5EF4-FFF2-40B4-BE49-F238E27FC236}">
                <a16:creationId xmlns:a16="http://schemas.microsoft.com/office/drawing/2014/main" id="{42AD3FBA-69E9-140D-5277-0B4DAA596667}"/>
              </a:ext>
            </a:extLst>
          </p:cNvPr>
          <p:cNvSpPr txBox="1">
            <a:spLocks noChangeArrowheads="1"/>
          </p:cNvSpPr>
          <p:nvPr/>
        </p:nvSpPr>
        <p:spPr bwMode="auto">
          <a:xfrm>
            <a:off x="3791744" y="4098923"/>
            <a:ext cx="164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Sensitivity:</a:t>
            </a:r>
          </a:p>
        </p:txBody>
      </p:sp>
      <p:sp>
        <p:nvSpPr>
          <p:cNvPr id="35" name="Text Box 34">
            <a:extLst>
              <a:ext uri="{FF2B5EF4-FFF2-40B4-BE49-F238E27FC236}">
                <a16:creationId xmlns:a16="http://schemas.microsoft.com/office/drawing/2014/main" id="{092B084A-2B9B-9602-179F-D05E62DD49E4}"/>
              </a:ext>
            </a:extLst>
          </p:cNvPr>
          <p:cNvSpPr txBox="1">
            <a:spLocks noChangeArrowheads="1"/>
          </p:cNvSpPr>
          <p:nvPr/>
        </p:nvSpPr>
        <p:spPr bwMode="auto">
          <a:xfrm>
            <a:off x="3960020" y="4837111"/>
            <a:ext cx="153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Precision:</a:t>
            </a:r>
          </a:p>
        </p:txBody>
      </p:sp>
      <p:graphicFrame>
        <p:nvGraphicFramePr>
          <p:cNvPr id="36" name="Object 35">
            <a:extLst>
              <a:ext uri="{FF2B5EF4-FFF2-40B4-BE49-F238E27FC236}">
                <a16:creationId xmlns:a16="http://schemas.microsoft.com/office/drawing/2014/main" id="{11DEC1A3-B4A4-0879-C10A-32DE733FEBBA}"/>
              </a:ext>
            </a:extLst>
          </p:cNvPr>
          <p:cNvGraphicFramePr>
            <a:graphicFrameLocks noChangeAspect="1"/>
          </p:cNvGraphicFramePr>
          <p:nvPr>
            <p:extLst>
              <p:ext uri="{D42A27DB-BD31-4B8C-83A1-F6EECF244321}">
                <p14:modId xmlns:p14="http://schemas.microsoft.com/office/powerpoint/2010/main" val="2518784070"/>
              </p:ext>
            </p:extLst>
          </p:nvPr>
        </p:nvGraphicFramePr>
        <p:xfrm>
          <a:off x="5497620" y="4742458"/>
          <a:ext cx="1401762" cy="685800"/>
        </p:xfrm>
        <a:graphic>
          <a:graphicData uri="http://schemas.openxmlformats.org/presentationml/2006/ole">
            <mc:AlternateContent xmlns:mc="http://schemas.openxmlformats.org/markup-compatibility/2006">
              <mc:Choice xmlns:v="urn:schemas-microsoft-com:vml" Requires="v">
                <p:oleObj name="Equation" r:id="rId4" imgW="21069300" imgH="9067800" progId="Equation.3">
                  <p:embed/>
                </p:oleObj>
              </mc:Choice>
              <mc:Fallback>
                <p:oleObj name="Equation" r:id="rId4" imgW="21069300" imgH="9067800" progId="Equation.3">
                  <p:embed/>
                  <p:pic>
                    <p:nvPicPr>
                      <p:cNvPr id="36" name="Object 35">
                        <a:extLst>
                          <a:ext uri="{FF2B5EF4-FFF2-40B4-BE49-F238E27FC236}">
                            <a16:creationId xmlns:a16="http://schemas.microsoft.com/office/drawing/2014/main" id="{11DEC1A3-B4A4-0879-C10A-32DE733FE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7620" y="4742458"/>
                        <a:ext cx="1401762" cy="685800"/>
                      </a:xfrm>
                      <a:prstGeom prst="rect">
                        <a:avLst/>
                      </a:prstGeom>
                      <a:noFill/>
                      <a:ln>
                        <a:noFill/>
                      </a:ln>
                      <a:effectLst/>
                    </p:spPr>
                  </p:pic>
                </p:oleObj>
              </mc:Fallback>
            </mc:AlternateContent>
          </a:graphicData>
        </a:graphic>
      </p:graphicFrame>
      <p:sp>
        <p:nvSpPr>
          <p:cNvPr id="37" name="Rectangle 36">
            <a:extLst>
              <a:ext uri="{FF2B5EF4-FFF2-40B4-BE49-F238E27FC236}">
                <a16:creationId xmlns:a16="http://schemas.microsoft.com/office/drawing/2014/main" id="{103FA3C8-E1B4-100C-8961-052E639E32B5}"/>
              </a:ext>
            </a:extLst>
          </p:cNvPr>
          <p:cNvSpPr/>
          <p:nvPr/>
        </p:nvSpPr>
        <p:spPr bwMode="auto">
          <a:xfrm>
            <a:off x="5362890" y="3969853"/>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37">
            <a:extLst>
              <a:ext uri="{FF2B5EF4-FFF2-40B4-BE49-F238E27FC236}">
                <a16:creationId xmlns:a16="http://schemas.microsoft.com/office/drawing/2014/main" id="{02CF6AB4-195F-02E5-7512-39560881587C}"/>
              </a:ext>
            </a:extLst>
          </p:cNvPr>
          <p:cNvSpPr/>
          <p:nvPr/>
        </p:nvSpPr>
        <p:spPr bwMode="auto">
          <a:xfrm>
            <a:off x="5362890" y="4963617"/>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46252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94C3-FB2C-8400-75BA-0914D37D609C}"/>
              </a:ext>
            </a:extLst>
          </p:cNvPr>
          <p:cNvSpPr>
            <a:spLocks noGrp="1"/>
          </p:cNvSpPr>
          <p:nvPr>
            <p:ph type="title"/>
          </p:nvPr>
        </p:nvSpPr>
        <p:spPr/>
        <p:txBody>
          <a:bodyPr>
            <a:normAutofit fontScale="90000"/>
          </a:bodyPr>
          <a:lstStyle/>
          <a:p>
            <a:r>
              <a:rPr lang="en-US" dirty="0"/>
              <a:t>Exon level accuracy</a:t>
            </a:r>
          </a:p>
        </p:txBody>
      </p:sp>
      <p:sp>
        <p:nvSpPr>
          <p:cNvPr id="4" name="Slide Number Placeholder 3">
            <a:extLst>
              <a:ext uri="{FF2B5EF4-FFF2-40B4-BE49-F238E27FC236}">
                <a16:creationId xmlns:a16="http://schemas.microsoft.com/office/drawing/2014/main" id="{B1E4D89E-82EF-9484-9040-4BD561299F53}"/>
              </a:ext>
            </a:extLst>
          </p:cNvPr>
          <p:cNvSpPr>
            <a:spLocks noGrp="1"/>
          </p:cNvSpPr>
          <p:nvPr>
            <p:ph type="sldNum" sz="quarter" idx="12"/>
          </p:nvPr>
        </p:nvSpPr>
        <p:spPr/>
        <p:txBody>
          <a:bodyPr/>
          <a:lstStyle/>
          <a:p>
            <a:fld id="{B82CCC60-E8CD-4174-8B1A-7DF615B22EEF}" type="slidenum">
              <a:rPr lang="en-US" smtClean="0"/>
              <a:pPr/>
              <a:t>18</a:t>
            </a:fld>
            <a:endParaRPr lang="en-US"/>
          </a:p>
        </p:txBody>
      </p:sp>
      <p:graphicFrame>
        <p:nvGraphicFramePr>
          <p:cNvPr id="5" name="Object 4">
            <a:extLst>
              <a:ext uri="{FF2B5EF4-FFF2-40B4-BE49-F238E27FC236}">
                <a16:creationId xmlns:a16="http://schemas.microsoft.com/office/drawing/2014/main" id="{2F71E060-F6E4-DAE0-3C5F-CD4651FE16B8}"/>
              </a:ext>
            </a:extLst>
          </p:cNvPr>
          <p:cNvGraphicFramePr>
            <a:graphicFrameLocks noChangeAspect="1"/>
          </p:cNvGraphicFramePr>
          <p:nvPr/>
        </p:nvGraphicFramePr>
        <p:xfrm>
          <a:off x="3365500" y="4000500"/>
          <a:ext cx="4241800" cy="647700"/>
        </p:xfrm>
        <a:graphic>
          <a:graphicData uri="http://schemas.openxmlformats.org/presentationml/2006/ole">
            <mc:AlternateContent xmlns:mc="http://schemas.openxmlformats.org/markup-compatibility/2006">
              <mc:Choice xmlns:v="urn:schemas-microsoft-com:vml" Requires="v">
                <p:oleObj name="Equation" r:id="rId2" imgW="59397900" imgH="9067800" progId="Equation.3">
                  <p:embed/>
                </p:oleObj>
              </mc:Choice>
              <mc:Fallback>
                <p:oleObj name="Equation" r:id="rId2" imgW="59397900" imgH="9067800" progId="Equation.3">
                  <p:embed/>
                  <p:pic>
                    <p:nvPicPr>
                      <p:cNvPr id="5" name="Object 4">
                        <a:extLst>
                          <a:ext uri="{FF2B5EF4-FFF2-40B4-BE49-F238E27FC236}">
                            <a16:creationId xmlns:a16="http://schemas.microsoft.com/office/drawing/2014/main" id="{2F71E060-F6E4-DAE0-3C5F-CD4651FE1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500" y="4000500"/>
                        <a:ext cx="42418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F9DE2A99-E157-BE2D-C3E2-D8C59B5E1312}"/>
              </a:ext>
            </a:extLst>
          </p:cNvPr>
          <p:cNvSpPr>
            <a:spLocks noChangeShapeType="1"/>
          </p:cNvSpPr>
          <p:nvPr/>
        </p:nvSpPr>
        <p:spPr bwMode="auto">
          <a:xfrm>
            <a:off x="2667000" y="28956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7658A801-71B5-F60B-38B6-0AD9AB7AE34D}"/>
              </a:ext>
            </a:extLst>
          </p:cNvPr>
          <p:cNvSpPr>
            <a:spLocks noChangeShapeType="1"/>
          </p:cNvSpPr>
          <p:nvPr/>
        </p:nvSpPr>
        <p:spPr bwMode="auto">
          <a:xfrm>
            <a:off x="2667000" y="34290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7">
            <a:extLst>
              <a:ext uri="{FF2B5EF4-FFF2-40B4-BE49-F238E27FC236}">
                <a16:creationId xmlns:a16="http://schemas.microsoft.com/office/drawing/2014/main" id="{FE900970-1442-AF2A-8787-DF37EC794E98}"/>
              </a:ext>
            </a:extLst>
          </p:cNvPr>
          <p:cNvSpPr>
            <a:spLocks noChangeArrowheads="1"/>
          </p:cNvSpPr>
          <p:nvPr/>
        </p:nvSpPr>
        <p:spPr bwMode="auto">
          <a:xfrm>
            <a:off x="6146800" y="2794000"/>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56352BDD-18A6-A571-5C9F-14BC5AAFCC96}"/>
              </a:ext>
            </a:extLst>
          </p:cNvPr>
          <p:cNvSpPr>
            <a:spLocks noChangeArrowheads="1"/>
          </p:cNvSpPr>
          <p:nvPr/>
        </p:nvSpPr>
        <p:spPr bwMode="auto">
          <a:xfrm>
            <a:off x="4119563" y="3327400"/>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C080545E-7C46-2E7C-0336-CF9A4BD8A651}"/>
              </a:ext>
            </a:extLst>
          </p:cNvPr>
          <p:cNvSpPr>
            <a:spLocks noChangeArrowheads="1"/>
          </p:cNvSpPr>
          <p:nvPr/>
        </p:nvSpPr>
        <p:spPr bwMode="auto">
          <a:xfrm>
            <a:off x="6124576" y="3321050"/>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AF832437-20A2-F4A6-6E46-5921D15D8074}"/>
              </a:ext>
            </a:extLst>
          </p:cNvPr>
          <p:cNvSpPr>
            <a:spLocks noChangeArrowheads="1"/>
          </p:cNvSpPr>
          <p:nvPr/>
        </p:nvSpPr>
        <p:spPr bwMode="auto">
          <a:xfrm>
            <a:off x="1981201" y="2514601"/>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2" name="Rectangle 11">
            <a:extLst>
              <a:ext uri="{FF2B5EF4-FFF2-40B4-BE49-F238E27FC236}">
                <a16:creationId xmlns:a16="http://schemas.microsoft.com/office/drawing/2014/main" id="{DAAC2508-B04B-20BF-3802-317C2602CA06}"/>
              </a:ext>
            </a:extLst>
          </p:cNvPr>
          <p:cNvSpPr>
            <a:spLocks noChangeArrowheads="1"/>
          </p:cNvSpPr>
          <p:nvPr/>
        </p:nvSpPr>
        <p:spPr bwMode="auto">
          <a:xfrm>
            <a:off x="1981200" y="3049589"/>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3" name="Rectangle 12">
            <a:extLst>
              <a:ext uri="{FF2B5EF4-FFF2-40B4-BE49-F238E27FC236}">
                <a16:creationId xmlns:a16="http://schemas.microsoft.com/office/drawing/2014/main" id="{921668C7-8358-E8E8-6C1F-211634FA9466}"/>
              </a:ext>
            </a:extLst>
          </p:cNvPr>
          <p:cNvSpPr>
            <a:spLocks noChangeArrowheads="1"/>
          </p:cNvSpPr>
          <p:nvPr/>
        </p:nvSpPr>
        <p:spPr bwMode="auto">
          <a:xfrm>
            <a:off x="3662364" y="2794000"/>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3">
            <a:extLst>
              <a:ext uri="{FF2B5EF4-FFF2-40B4-BE49-F238E27FC236}">
                <a16:creationId xmlns:a16="http://schemas.microsoft.com/office/drawing/2014/main" id="{1FF96BA4-9EDC-E071-00BF-6C712A27157A}"/>
              </a:ext>
            </a:extLst>
          </p:cNvPr>
          <p:cNvSpPr>
            <a:spLocks noChangeArrowheads="1"/>
          </p:cNvSpPr>
          <p:nvPr/>
        </p:nvSpPr>
        <p:spPr bwMode="auto">
          <a:xfrm>
            <a:off x="7524751" y="2794000"/>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4">
            <a:extLst>
              <a:ext uri="{FF2B5EF4-FFF2-40B4-BE49-F238E27FC236}">
                <a16:creationId xmlns:a16="http://schemas.microsoft.com/office/drawing/2014/main" id="{673F2E7B-2F5C-6BD4-EBEC-7335179AB28B}"/>
              </a:ext>
            </a:extLst>
          </p:cNvPr>
          <p:cNvSpPr>
            <a:spLocks noChangeArrowheads="1"/>
          </p:cNvSpPr>
          <p:nvPr/>
        </p:nvSpPr>
        <p:spPr bwMode="auto">
          <a:xfrm>
            <a:off x="8578850" y="2794000"/>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5">
            <a:extLst>
              <a:ext uri="{FF2B5EF4-FFF2-40B4-BE49-F238E27FC236}">
                <a16:creationId xmlns:a16="http://schemas.microsoft.com/office/drawing/2014/main" id="{27EAB2A2-2055-C259-13E5-150596B1D67E}"/>
              </a:ext>
            </a:extLst>
          </p:cNvPr>
          <p:cNvSpPr>
            <a:spLocks noChangeArrowheads="1"/>
          </p:cNvSpPr>
          <p:nvPr/>
        </p:nvSpPr>
        <p:spPr bwMode="auto">
          <a:xfrm>
            <a:off x="8340725" y="3327400"/>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Rectangle 16">
            <a:extLst>
              <a:ext uri="{FF2B5EF4-FFF2-40B4-BE49-F238E27FC236}">
                <a16:creationId xmlns:a16="http://schemas.microsoft.com/office/drawing/2014/main" id="{91CF3EC3-2AFA-7BA6-D338-596A7CD53243}"/>
              </a:ext>
            </a:extLst>
          </p:cNvPr>
          <p:cNvSpPr>
            <a:spLocks noChangeArrowheads="1"/>
          </p:cNvSpPr>
          <p:nvPr/>
        </p:nvSpPr>
        <p:spPr bwMode="auto">
          <a:xfrm>
            <a:off x="5338763" y="3328988"/>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 name="Rectangle 17">
            <a:extLst>
              <a:ext uri="{FF2B5EF4-FFF2-40B4-BE49-F238E27FC236}">
                <a16:creationId xmlns:a16="http://schemas.microsoft.com/office/drawing/2014/main" id="{FE7F7D6F-0C35-EBB4-9B96-F0002FEEB912}"/>
              </a:ext>
            </a:extLst>
          </p:cNvPr>
          <p:cNvSpPr>
            <a:spLocks noChangeArrowheads="1"/>
          </p:cNvSpPr>
          <p:nvPr/>
        </p:nvSpPr>
        <p:spPr bwMode="auto">
          <a:xfrm>
            <a:off x="5129805" y="2019301"/>
            <a:ext cx="862417"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WRONG</a:t>
            </a:r>
            <a:br>
              <a:rPr lang="en-US" altLang="en-US" sz="1400" i="0">
                <a:solidFill>
                  <a:schemeClr val="tx1"/>
                </a:solidFill>
              </a:rPr>
            </a:br>
            <a:r>
              <a:rPr lang="en-US" altLang="en-US" sz="1400" i="0">
                <a:solidFill>
                  <a:schemeClr val="tx1"/>
                </a:solidFill>
              </a:rPr>
              <a:t>EXON</a:t>
            </a:r>
          </a:p>
        </p:txBody>
      </p:sp>
      <p:sp>
        <p:nvSpPr>
          <p:cNvPr id="19" name="Rectangle 18">
            <a:extLst>
              <a:ext uri="{FF2B5EF4-FFF2-40B4-BE49-F238E27FC236}">
                <a16:creationId xmlns:a16="http://schemas.microsoft.com/office/drawing/2014/main" id="{8A97BA4B-1AF5-6192-2433-737712891292}"/>
              </a:ext>
            </a:extLst>
          </p:cNvPr>
          <p:cNvSpPr>
            <a:spLocks noChangeArrowheads="1"/>
          </p:cNvSpPr>
          <p:nvPr/>
        </p:nvSpPr>
        <p:spPr bwMode="auto">
          <a:xfrm>
            <a:off x="6122859" y="2019301"/>
            <a:ext cx="101149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CORRECT</a:t>
            </a:r>
            <a:br>
              <a:rPr lang="en-US" altLang="en-US" sz="1400" i="0">
                <a:solidFill>
                  <a:schemeClr val="tx1"/>
                </a:solidFill>
              </a:rPr>
            </a:br>
            <a:r>
              <a:rPr lang="en-US" altLang="en-US" sz="1400" i="0">
                <a:solidFill>
                  <a:schemeClr val="tx1"/>
                </a:solidFill>
              </a:rPr>
              <a:t>EXON</a:t>
            </a:r>
          </a:p>
        </p:txBody>
      </p:sp>
      <p:sp>
        <p:nvSpPr>
          <p:cNvPr id="20" name="Rectangle 19">
            <a:extLst>
              <a:ext uri="{FF2B5EF4-FFF2-40B4-BE49-F238E27FC236}">
                <a16:creationId xmlns:a16="http://schemas.microsoft.com/office/drawing/2014/main" id="{FF53CBA6-4182-F5CF-D660-F15186C1035D}"/>
              </a:ext>
            </a:extLst>
          </p:cNvPr>
          <p:cNvSpPr>
            <a:spLocks noChangeArrowheads="1"/>
          </p:cNvSpPr>
          <p:nvPr/>
        </p:nvSpPr>
        <p:spPr bwMode="auto">
          <a:xfrm>
            <a:off x="7280589" y="2017714"/>
            <a:ext cx="92012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MISSING</a:t>
            </a:r>
          </a:p>
          <a:p>
            <a:pPr algn="ctr">
              <a:spcBef>
                <a:spcPct val="0"/>
              </a:spcBef>
            </a:pPr>
            <a:r>
              <a:rPr lang="en-US" altLang="en-US" sz="1400" i="0">
                <a:solidFill>
                  <a:schemeClr val="tx1"/>
                </a:solidFill>
              </a:rPr>
              <a:t>EXON</a:t>
            </a:r>
          </a:p>
        </p:txBody>
      </p:sp>
      <p:graphicFrame>
        <p:nvGraphicFramePr>
          <p:cNvPr id="21" name="Object 20">
            <a:extLst>
              <a:ext uri="{FF2B5EF4-FFF2-40B4-BE49-F238E27FC236}">
                <a16:creationId xmlns:a16="http://schemas.microsoft.com/office/drawing/2014/main" id="{F2A28321-05C7-0D3B-A159-EACED6A00D2C}"/>
              </a:ext>
            </a:extLst>
          </p:cNvPr>
          <p:cNvGraphicFramePr>
            <a:graphicFrameLocks noChangeAspect="1"/>
          </p:cNvGraphicFramePr>
          <p:nvPr/>
        </p:nvGraphicFramePr>
        <p:xfrm>
          <a:off x="3414714" y="4876800"/>
          <a:ext cx="4446587" cy="685800"/>
        </p:xfrm>
        <a:graphic>
          <a:graphicData uri="http://schemas.openxmlformats.org/presentationml/2006/ole">
            <mc:AlternateContent xmlns:mc="http://schemas.openxmlformats.org/markup-compatibility/2006">
              <mc:Choice xmlns:v="urn:schemas-microsoft-com:vml" Requires="v">
                <p:oleObj name="Equation" r:id="rId4" imgW="62611000" imgH="9652000" progId="Equation.3">
                  <p:embed/>
                </p:oleObj>
              </mc:Choice>
              <mc:Fallback>
                <p:oleObj name="Equation" r:id="rId4" imgW="62611000" imgH="9652000" progId="Equation.3">
                  <p:embed/>
                  <p:pic>
                    <p:nvPicPr>
                      <p:cNvPr id="21" name="Object 20">
                        <a:extLst>
                          <a:ext uri="{FF2B5EF4-FFF2-40B4-BE49-F238E27FC236}">
                            <a16:creationId xmlns:a16="http://schemas.microsoft.com/office/drawing/2014/main" id="{F2A28321-05C7-0D3B-A159-EACED6A00D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714" y="4876800"/>
                        <a:ext cx="4446587"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Box 21">
            <a:extLst>
              <a:ext uri="{FF2B5EF4-FFF2-40B4-BE49-F238E27FC236}">
                <a16:creationId xmlns:a16="http://schemas.microsoft.com/office/drawing/2014/main" id="{095700AC-BF49-3DA3-0541-764B73A77A81}"/>
              </a:ext>
            </a:extLst>
          </p:cNvPr>
          <p:cNvSpPr txBox="1"/>
          <p:nvPr/>
        </p:nvSpPr>
        <p:spPr>
          <a:xfrm>
            <a:off x="2321679" y="4101017"/>
            <a:ext cx="1883849" cy="400110"/>
          </a:xfrm>
          <a:prstGeom prst="rect">
            <a:avLst/>
          </a:prstGeom>
          <a:solidFill>
            <a:schemeClr val="bg1"/>
          </a:solidFill>
        </p:spPr>
        <p:txBody>
          <a:bodyPr wrap="none" rtlCol="0">
            <a:spAutoFit/>
          </a:bodyPr>
          <a:lstStyle/>
          <a:p>
            <a:r>
              <a:rPr lang="en-US" sz="2000" dirty="0">
                <a:latin typeface="+mj-lt"/>
              </a:rPr>
              <a:t>Exon Sensitivity</a:t>
            </a:r>
          </a:p>
        </p:txBody>
      </p:sp>
      <p:sp>
        <p:nvSpPr>
          <p:cNvPr id="23" name="TextBox 22">
            <a:extLst>
              <a:ext uri="{FF2B5EF4-FFF2-40B4-BE49-F238E27FC236}">
                <a16:creationId xmlns:a16="http://schemas.microsoft.com/office/drawing/2014/main" id="{3FCB23BD-106A-E403-E985-44DD7ACB76EE}"/>
              </a:ext>
            </a:extLst>
          </p:cNvPr>
          <p:cNvSpPr txBox="1"/>
          <p:nvPr/>
        </p:nvSpPr>
        <p:spPr>
          <a:xfrm>
            <a:off x="2543321" y="4991099"/>
            <a:ext cx="1742785" cy="400110"/>
          </a:xfrm>
          <a:prstGeom prst="rect">
            <a:avLst/>
          </a:prstGeom>
          <a:solidFill>
            <a:schemeClr val="bg1"/>
          </a:solidFill>
        </p:spPr>
        <p:txBody>
          <a:bodyPr wrap="square" rtlCol="0">
            <a:spAutoFit/>
          </a:bodyPr>
          <a:lstStyle/>
          <a:p>
            <a:r>
              <a:rPr lang="en-US" sz="2000">
                <a:latin typeface="+mj-lt"/>
              </a:rPr>
              <a:t>Exon Precision</a:t>
            </a:r>
          </a:p>
        </p:txBody>
      </p:sp>
      <p:sp>
        <p:nvSpPr>
          <p:cNvPr id="24" name="TextBox 23">
            <a:extLst>
              <a:ext uri="{FF2B5EF4-FFF2-40B4-BE49-F238E27FC236}">
                <a16:creationId xmlns:a16="http://schemas.microsoft.com/office/drawing/2014/main" id="{23D1F067-38A3-42A8-B046-C3B2932CBEE1}"/>
              </a:ext>
            </a:extLst>
          </p:cNvPr>
          <p:cNvSpPr txBox="1"/>
          <p:nvPr/>
        </p:nvSpPr>
        <p:spPr>
          <a:xfrm>
            <a:off x="2193671" y="6132976"/>
            <a:ext cx="6585457" cy="400110"/>
          </a:xfrm>
          <a:prstGeom prst="rect">
            <a:avLst/>
          </a:prstGeom>
          <a:solidFill>
            <a:schemeClr val="bg1"/>
          </a:solidFill>
        </p:spPr>
        <p:txBody>
          <a:bodyPr wrap="none" rtlCol="0">
            <a:spAutoFit/>
          </a:bodyPr>
          <a:lstStyle/>
          <a:p>
            <a:r>
              <a:rPr lang="en-US" sz="2000" dirty="0">
                <a:latin typeface="+mj-lt"/>
              </a:rPr>
              <a:t>“Junction ends” must match exactly, beginning or end do not!</a:t>
            </a:r>
          </a:p>
        </p:txBody>
      </p:sp>
    </p:spTree>
    <p:extLst>
      <p:ext uri="{BB962C8B-B14F-4D97-AF65-F5344CB8AC3E}">
        <p14:creationId xmlns:p14="http://schemas.microsoft.com/office/powerpoint/2010/main" val="1295660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E743-6B97-DF19-1163-F399CCD67EE3}"/>
              </a:ext>
            </a:extLst>
          </p:cNvPr>
          <p:cNvSpPr>
            <a:spLocks noGrp="1"/>
          </p:cNvSpPr>
          <p:nvPr>
            <p:ph type="title"/>
          </p:nvPr>
        </p:nvSpPr>
        <p:spPr/>
        <p:txBody>
          <a:bodyPr>
            <a:normAutofit fontScale="90000"/>
          </a:bodyPr>
          <a:lstStyle/>
          <a:p>
            <a:r>
              <a:rPr lang="en-US" dirty="0"/>
              <a:t>Transcript level accuracy</a:t>
            </a:r>
          </a:p>
        </p:txBody>
      </p:sp>
      <p:sp>
        <p:nvSpPr>
          <p:cNvPr id="4" name="Slide Number Placeholder 3">
            <a:extLst>
              <a:ext uri="{FF2B5EF4-FFF2-40B4-BE49-F238E27FC236}">
                <a16:creationId xmlns:a16="http://schemas.microsoft.com/office/drawing/2014/main" id="{1955F47A-B45F-829D-D39C-C03EF582FDA8}"/>
              </a:ext>
            </a:extLst>
          </p:cNvPr>
          <p:cNvSpPr>
            <a:spLocks noGrp="1"/>
          </p:cNvSpPr>
          <p:nvPr>
            <p:ph type="sldNum" sz="quarter" idx="12"/>
          </p:nvPr>
        </p:nvSpPr>
        <p:spPr/>
        <p:txBody>
          <a:bodyPr/>
          <a:lstStyle/>
          <a:p>
            <a:fld id="{B82CCC60-E8CD-4174-8B1A-7DF615B22EEF}" type="slidenum">
              <a:rPr lang="en-US" smtClean="0"/>
              <a:pPr/>
              <a:t>19</a:t>
            </a:fld>
            <a:endParaRPr lang="en-US"/>
          </a:p>
        </p:txBody>
      </p:sp>
      <p:sp>
        <p:nvSpPr>
          <p:cNvPr id="5" name="Line 5">
            <a:extLst>
              <a:ext uri="{FF2B5EF4-FFF2-40B4-BE49-F238E27FC236}">
                <a16:creationId xmlns:a16="http://schemas.microsoft.com/office/drawing/2014/main" id="{DAA10519-6B0F-953D-1E9E-111ABFE3E658}"/>
              </a:ext>
            </a:extLst>
          </p:cNvPr>
          <p:cNvSpPr>
            <a:spLocks noChangeShapeType="1"/>
          </p:cNvSpPr>
          <p:nvPr/>
        </p:nvSpPr>
        <p:spPr bwMode="auto">
          <a:xfrm>
            <a:off x="4085978" y="3185324"/>
            <a:ext cx="5877210" cy="789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6">
            <a:extLst>
              <a:ext uri="{FF2B5EF4-FFF2-40B4-BE49-F238E27FC236}">
                <a16:creationId xmlns:a16="http://schemas.microsoft.com/office/drawing/2014/main" id="{35242191-2227-5CE1-9EF9-67BC91EEDEEB}"/>
              </a:ext>
            </a:extLst>
          </p:cNvPr>
          <p:cNvSpPr>
            <a:spLocks noChangeShapeType="1"/>
          </p:cNvSpPr>
          <p:nvPr/>
        </p:nvSpPr>
        <p:spPr bwMode="auto">
          <a:xfrm flipV="1">
            <a:off x="4627600" y="3711973"/>
            <a:ext cx="5335588"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7">
            <a:extLst>
              <a:ext uri="{FF2B5EF4-FFF2-40B4-BE49-F238E27FC236}">
                <a16:creationId xmlns:a16="http://schemas.microsoft.com/office/drawing/2014/main" id="{A987CDF5-DFBB-9349-AD88-FAB973504A63}"/>
              </a:ext>
            </a:extLst>
          </p:cNvPr>
          <p:cNvSpPr>
            <a:spLocks noChangeArrowheads="1"/>
          </p:cNvSpPr>
          <p:nvPr/>
        </p:nvSpPr>
        <p:spPr bwMode="auto">
          <a:xfrm>
            <a:off x="6559587" y="3070979"/>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8" name="Rectangle 8">
            <a:extLst>
              <a:ext uri="{FF2B5EF4-FFF2-40B4-BE49-F238E27FC236}">
                <a16:creationId xmlns:a16="http://schemas.microsoft.com/office/drawing/2014/main" id="{45971FBE-C5F4-B5E5-B925-C34072941BE3}"/>
              </a:ext>
            </a:extLst>
          </p:cNvPr>
          <p:cNvSpPr>
            <a:spLocks noChangeArrowheads="1"/>
          </p:cNvSpPr>
          <p:nvPr/>
        </p:nvSpPr>
        <p:spPr bwMode="auto">
          <a:xfrm>
            <a:off x="4603788" y="3604379"/>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9">
            <a:extLst>
              <a:ext uri="{FF2B5EF4-FFF2-40B4-BE49-F238E27FC236}">
                <a16:creationId xmlns:a16="http://schemas.microsoft.com/office/drawing/2014/main" id="{6F73FD67-CD75-B321-5483-20ECACBF72E4}"/>
              </a:ext>
            </a:extLst>
          </p:cNvPr>
          <p:cNvSpPr>
            <a:spLocks noChangeArrowheads="1"/>
          </p:cNvSpPr>
          <p:nvPr/>
        </p:nvSpPr>
        <p:spPr bwMode="auto">
          <a:xfrm>
            <a:off x="6559587" y="3597851"/>
            <a:ext cx="1064935" cy="22242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10">
            <a:extLst>
              <a:ext uri="{FF2B5EF4-FFF2-40B4-BE49-F238E27FC236}">
                <a16:creationId xmlns:a16="http://schemas.microsoft.com/office/drawing/2014/main" id="{A6ADA645-8ABE-46FC-3EF4-CC6CB3C828E4}"/>
              </a:ext>
            </a:extLst>
          </p:cNvPr>
          <p:cNvSpPr>
            <a:spLocks noChangeArrowheads="1"/>
          </p:cNvSpPr>
          <p:nvPr/>
        </p:nvSpPr>
        <p:spPr bwMode="auto">
          <a:xfrm>
            <a:off x="356135" y="2917239"/>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1" name="Rectangle 11">
            <a:extLst>
              <a:ext uri="{FF2B5EF4-FFF2-40B4-BE49-F238E27FC236}">
                <a16:creationId xmlns:a16="http://schemas.microsoft.com/office/drawing/2014/main" id="{7E293B32-C143-545F-EDF0-E5B7EF59AD45}"/>
              </a:ext>
            </a:extLst>
          </p:cNvPr>
          <p:cNvSpPr>
            <a:spLocks noChangeArrowheads="1"/>
          </p:cNvSpPr>
          <p:nvPr/>
        </p:nvSpPr>
        <p:spPr bwMode="auto">
          <a:xfrm>
            <a:off x="362572" y="3314784"/>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2" name="Rectangle 12">
            <a:extLst>
              <a:ext uri="{FF2B5EF4-FFF2-40B4-BE49-F238E27FC236}">
                <a16:creationId xmlns:a16="http://schemas.microsoft.com/office/drawing/2014/main" id="{C05DCF6F-3007-2B8A-82BE-813547B9BC42}"/>
              </a:ext>
            </a:extLst>
          </p:cNvPr>
          <p:cNvSpPr>
            <a:spLocks noChangeArrowheads="1"/>
          </p:cNvSpPr>
          <p:nvPr/>
        </p:nvSpPr>
        <p:spPr bwMode="auto">
          <a:xfrm>
            <a:off x="4075151" y="307097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Rectangle 13">
            <a:extLst>
              <a:ext uri="{FF2B5EF4-FFF2-40B4-BE49-F238E27FC236}">
                <a16:creationId xmlns:a16="http://schemas.microsoft.com/office/drawing/2014/main" id="{8BF5F5E3-4DDC-79FE-DD8D-E5E8B9CF03F5}"/>
              </a:ext>
            </a:extLst>
          </p:cNvPr>
          <p:cNvSpPr>
            <a:spLocks noChangeArrowheads="1"/>
          </p:cNvSpPr>
          <p:nvPr/>
        </p:nvSpPr>
        <p:spPr bwMode="auto">
          <a:xfrm>
            <a:off x="7937538" y="3070979"/>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4">
            <a:extLst>
              <a:ext uri="{FF2B5EF4-FFF2-40B4-BE49-F238E27FC236}">
                <a16:creationId xmlns:a16="http://schemas.microsoft.com/office/drawing/2014/main" id="{C63153BB-3358-0A4A-6925-E4263B168080}"/>
              </a:ext>
            </a:extLst>
          </p:cNvPr>
          <p:cNvSpPr>
            <a:spLocks noChangeArrowheads="1"/>
          </p:cNvSpPr>
          <p:nvPr/>
        </p:nvSpPr>
        <p:spPr bwMode="auto">
          <a:xfrm>
            <a:off x="8991637"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5">
            <a:extLst>
              <a:ext uri="{FF2B5EF4-FFF2-40B4-BE49-F238E27FC236}">
                <a16:creationId xmlns:a16="http://schemas.microsoft.com/office/drawing/2014/main" id="{E0E5723D-3ADC-B457-77ED-8648F0C09218}"/>
              </a:ext>
            </a:extLst>
          </p:cNvPr>
          <p:cNvSpPr>
            <a:spLocks noChangeArrowheads="1"/>
          </p:cNvSpPr>
          <p:nvPr/>
        </p:nvSpPr>
        <p:spPr bwMode="auto">
          <a:xfrm>
            <a:off x="8824950" y="3604379"/>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6">
            <a:extLst>
              <a:ext uri="{FF2B5EF4-FFF2-40B4-BE49-F238E27FC236}">
                <a16:creationId xmlns:a16="http://schemas.microsoft.com/office/drawing/2014/main" id="{53644AFA-D8AC-88CF-97E3-32BEFA0A6C0C}"/>
              </a:ext>
            </a:extLst>
          </p:cNvPr>
          <p:cNvSpPr>
            <a:spLocks noChangeArrowheads="1"/>
          </p:cNvSpPr>
          <p:nvPr/>
        </p:nvSpPr>
        <p:spPr bwMode="auto">
          <a:xfrm>
            <a:off x="5822988" y="3605967"/>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Line 5">
            <a:extLst>
              <a:ext uri="{FF2B5EF4-FFF2-40B4-BE49-F238E27FC236}">
                <a16:creationId xmlns:a16="http://schemas.microsoft.com/office/drawing/2014/main" id="{8B900F11-F172-4A32-E4B5-1D0038D4E0B4}"/>
              </a:ext>
            </a:extLst>
          </p:cNvPr>
          <p:cNvSpPr>
            <a:spLocks noChangeShapeType="1"/>
          </p:cNvSpPr>
          <p:nvPr/>
        </p:nvSpPr>
        <p:spPr bwMode="auto">
          <a:xfrm flipV="1">
            <a:off x="3725108" y="4131429"/>
            <a:ext cx="60755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7">
            <a:extLst>
              <a:ext uri="{FF2B5EF4-FFF2-40B4-BE49-F238E27FC236}">
                <a16:creationId xmlns:a16="http://schemas.microsoft.com/office/drawing/2014/main" id="{3918AA22-CA63-74DD-D01B-953684361DFE}"/>
              </a:ext>
            </a:extLst>
          </p:cNvPr>
          <p:cNvSpPr>
            <a:spLocks noChangeArrowheads="1"/>
          </p:cNvSpPr>
          <p:nvPr/>
        </p:nvSpPr>
        <p:spPr bwMode="auto">
          <a:xfrm>
            <a:off x="6559587" y="4009191"/>
            <a:ext cx="106838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9" name="Rectangle 12">
            <a:extLst>
              <a:ext uri="{FF2B5EF4-FFF2-40B4-BE49-F238E27FC236}">
                <a16:creationId xmlns:a16="http://schemas.microsoft.com/office/drawing/2014/main" id="{B25B50CE-72CF-980E-C40C-96EB14E584A6}"/>
              </a:ext>
            </a:extLst>
          </p:cNvPr>
          <p:cNvSpPr>
            <a:spLocks noChangeArrowheads="1"/>
          </p:cNvSpPr>
          <p:nvPr/>
        </p:nvSpPr>
        <p:spPr bwMode="auto">
          <a:xfrm>
            <a:off x="3676391" y="4009191"/>
            <a:ext cx="1773535" cy="215546"/>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0" name="Rectangle 13">
            <a:extLst>
              <a:ext uri="{FF2B5EF4-FFF2-40B4-BE49-F238E27FC236}">
                <a16:creationId xmlns:a16="http://schemas.microsoft.com/office/drawing/2014/main" id="{201D92B7-CEC7-B695-7D31-783F95BA9874}"/>
              </a:ext>
            </a:extLst>
          </p:cNvPr>
          <p:cNvSpPr>
            <a:spLocks noChangeArrowheads="1"/>
          </p:cNvSpPr>
          <p:nvPr/>
        </p:nvSpPr>
        <p:spPr bwMode="auto">
          <a:xfrm>
            <a:off x="7937538" y="4009191"/>
            <a:ext cx="3540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1" name="Rectangle 14">
            <a:extLst>
              <a:ext uri="{FF2B5EF4-FFF2-40B4-BE49-F238E27FC236}">
                <a16:creationId xmlns:a16="http://schemas.microsoft.com/office/drawing/2014/main" id="{1E266097-E0A3-BB82-2143-69A86E46ADB5}"/>
              </a:ext>
            </a:extLst>
          </p:cNvPr>
          <p:cNvSpPr>
            <a:spLocks noChangeArrowheads="1"/>
          </p:cNvSpPr>
          <p:nvPr/>
        </p:nvSpPr>
        <p:spPr bwMode="auto">
          <a:xfrm>
            <a:off x="8991637" y="4009190"/>
            <a:ext cx="9001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 name="Rectangle 12">
            <a:extLst>
              <a:ext uri="{FF2B5EF4-FFF2-40B4-BE49-F238E27FC236}">
                <a16:creationId xmlns:a16="http://schemas.microsoft.com/office/drawing/2014/main" id="{AF66BFF3-34EB-CF65-56E3-A3F6FA4B6FA3}"/>
              </a:ext>
            </a:extLst>
          </p:cNvPr>
          <p:cNvSpPr>
            <a:spLocks noChangeArrowheads="1"/>
          </p:cNvSpPr>
          <p:nvPr/>
        </p:nvSpPr>
        <p:spPr bwMode="auto">
          <a:xfrm>
            <a:off x="2350333" y="306210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3" name="Rectangle 14">
            <a:extLst>
              <a:ext uri="{FF2B5EF4-FFF2-40B4-BE49-F238E27FC236}">
                <a16:creationId xmlns:a16="http://schemas.microsoft.com/office/drawing/2014/main" id="{9B3C0F1A-DE86-961D-65B3-79CFE02604EE}"/>
              </a:ext>
            </a:extLst>
          </p:cNvPr>
          <p:cNvSpPr>
            <a:spLocks noChangeArrowheads="1"/>
          </p:cNvSpPr>
          <p:nvPr/>
        </p:nvSpPr>
        <p:spPr bwMode="auto">
          <a:xfrm>
            <a:off x="10313100"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 name="Rectangle 16">
            <a:extLst>
              <a:ext uri="{FF2B5EF4-FFF2-40B4-BE49-F238E27FC236}">
                <a16:creationId xmlns:a16="http://schemas.microsoft.com/office/drawing/2014/main" id="{75E70169-B8E5-3DBC-3708-691FF2396B8D}"/>
              </a:ext>
            </a:extLst>
          </p:cNvPr>
          <p:cNvSpPr>
            <a:spLocks noChangeArrowheads="1"/>
          </p:cNvSpPr>
          <p:nvPr/>
        </p:nvSpPr>
        <p:spPr bwMode="auto">
          <a:xfrm>
            <a:off x="2763363" y="3604379"/>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5" name="Rectangle 14">
            <a:extLst>
              <a:ext uri="{FF2B5EF4-FFF2-40B4-BE49-F238E27FC236}">
                <a16:creationId xmlns:a16="http://schemas.microsoft.com/office/drawing/2014/main" id="{3BDF2E52-9744-E4A9-B8C9-CE0C02CED20B}"/>
              </a:ext>
            </a:extLst>
          </p:cNvPr>
          <p:cNvSpPr>
            <a:spLocks noChangeArrowheads="1"/>
          </p:cNvSpPr>
          <p:nvPr/>
        </p:nvSpPr>
        <p:spPr bwMode="auto">
          <a:xfrm>
            <a:off x="10420387" y="4009190"/>
            <a:ext cx="9468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6" name="Group 25">
            <a:extLst>
              <a:ext uri="{FF2B5EF4-FFF2-40B4-BE49-F238E27FC236}">
                <a16:creationId xmlns:a16="http://schemas.microsoft.com/office/drawing/2014/main" id="{1209EBF1-A251-A0CB-D0B1-A5AD73DDE858}"/>
              </a:ext>
            </a:extLst>
          </p:cNvPr>
          <p:cNvGrpSpPr/>
          <p:nvPr/>
        </p:nvGrpSpPr>
        <p:grpSpPr>
          <a:xfrm>
            <a:off x="2606957" y="2284291"/>
            <a:ext cx="795411" cy="1413049"/>
            <a:chOff x="2250822" y="2142223"/>
            <a:chExt cx="795411" cy="1413049"/>
          </a:xfrm>
        </p:grpSpPr>
        <p:cxnSp>
          <p:nvCxnSpPr>
            <p:cNvPr id="27" name="Straight Connector 26">
              <a:extLst>
                <a:ext uri="{FF2B5EF4-FFF2-40B4-BE49-F238E27FC236}">
                  <a16:creationId xmlns:a16="http://schemas.microsoft.com/office/drawing/2014/main" id="{4D3FCC78-F719-E73A-876A-9C66932A041A}"/>
                </a:ext>
              </a:extLst>
            </p:cNvPr>
            <p:cNvCxnSpPr>
              <a:cxnSpLocks/>
            </p:cNvCxnSpPr>
            <p:nvPr/>
          </p:nvCxnSpPr>
          <p:spPr bwMode="auto">
            <a:xfrm flipV="1">
              <a:off x="2889828" y="2503357"/>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851464E3-2DB7-54B9-614D-7DDC8AEC4C5D}"/>
                </a:ext>
              </a:extLst>
            </p:cNvPr>
            <p:cNvCxnSpPr>
              <a:cxnSpLocks/>
            </p:cNvCxnSpPr>
            <p:nvPr/>
          </p:nvCxnSpPr>
          <p:spPr bwMode="auto">
            <a:xfrm flipV="1">
              <a:off x="2407228" y="2503357"/>
              <a:ext cx="0" cy="1028520"/>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E5952F0A-805B-8212-DB46-D8E41B24A364}"/>
                </a:ext>
              </a:extLst>
            </p:cNvPr>
            <p:cNvCxnSpPr/>
            <p:nvPr/>
          </p:nvCxnSpPr>
          <p:spPr bwMode="auto">
            <a:xfrm>
              <a:off x="2407228" y="2653259"/>
              <a:ext cx="482600"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a:extLst>
                <a:ext uri="{FF2B5EF4-FFF2-40B4-BE49-F238E27FC236}">
                  <a16:creationId xmlns:a16="http://schemas.microsoft.com/office/drawing/2014/main" id="{D7F24431-462B-C05C-21CD-DF8D6CEB7173}"/>
                </a:ext>
              </a:extLst>
            </p:cNvPr>
            <p:cNvSpPr txBox="1"/>
            <p:nvPr/>
          </p:nvSpPr>
          <p:spPr>
            <a:xfrm>
              <a:off x="2250822" y="2142223"/>
              <a:ext cx="795411" cy="369332"/>
            </a:xfrm>
            <a:prstGeom prst="rect">
              <a:avLst/>
            </a:prstGeom>
            <a:noFill/>
          </p:spPr>
          <p:txBody>
            <a:bodyPr wrap="none" rtlCol="0">
              <a:spAutoFit/>
            </a:bodyPr>
            <a:lstStyle/>
            <a:p>
              <a:r>
                <a:rPr lang="en-US" dirty="0">
                  <a:latin typeface="+mj-lt"/>
                </a:rPr>
                <a:t>&lt; 80%</a:t>
              </a:r>
            </a:p>
          </p:txBody>
        </p:sp>
      </p:grpSp>
      <p:grpSp>
        <p:nvGrpSpPr>
          <p:cNvPr id="31" name="Group 30">
            <a:extLst>
              <a:ext uri="{FF2B5EF4-FFF2-40B4-BE49-F238E27FC236}">
                <a16:creationId xmlns:a16="http://schemas.microsoft.com/office/drawing/2014/main" id="{B673D7E0-F0ED-D047-B77A-DFBD8CE1C042}"/>
              </a:ext>
            </a:extLst>
          </p:cNvPr>
          <p:cNvGrpSpPr/>
          <p:nvPr/>
        </p:nvGrpSpPr>
        <p:grpSpPr>
          <a:xfrm>
            <a:off x="2406907" y="3429000"/>
            <a:ext cx="1177512" cy="1148271"/>
            <a:chOff x="2050772" y="3286932"/>
            <a:chExt cx="1177512" cy="1148271"/>
          </a:xfrm>
        </p:grpSpPr>
        <p:sp>
          <p:nvSpPr>
            <p:cNvPr id="32" name="Oval 31">
              <a:extLst>
                <a:ext uri="{FF2B5EF4-FFF2-40B4-BE49-F238E27FC236}">
                  <a16:creationId xmlns:a16="http://schemas.microsoft.com/office/drawing/2014/main" id="{C89A2503-CDFD-6D9E-96AB-C648EA5291D4}"/>
                </a:ext>
              </a:extLst>
            </p:cNvPr>
            <p:cNvSpPr/>
            <p:nvPr/>
          </p:nvSpPr>
          <p:spPr bwMode="auto">
            <a:xfrm>
              <a:off x="2050772" y="3286932"/>
              <a:ext cx="1065757" cy="70242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3" name="TextBox 32">
              <a:extLst>
                <a:ext uri="{FF2B5EF4-FFF2-40B4-BE49-F238E27FC236}">
                  <a16:creationId xmlns:a16="http://schemas.microsoft.com/office/drawing/2014/main" id="{5704CB8E-70EF-CC92-7C26-1F3DBEB374A9}"/>
                </a:ext>
              </a:extLst>
            </p:cNvPr>
            <p:cNvSpPr txBox="1"/>
            <p:nvPr/>
          </p:nvSpPr>
          <p:spPr>
            <a:xfrm>
              <a:off x="2068992" y="4065871"/>
              <a:ext cx="1159292" cy="369332"/>
            </a:xfrm>
            <a:prstGeom prst="rect">
              <a:avLst/>
            </a:prstGeom>
            <a:noFill/>
          </p:spPr>
          <p:txBody>
            <a:bodyPr wrap="none" rtlCol="0">
              <a:spAutoFit/>
            </a:bodyPr>
            <a:lstStyle/>
            <a:p>
              <a:r>
                <a:rPr lang="en-US">
                  <a:solidFill>
                    <a:srgbClr val="C00000"/>
                  </a:solidFill>
                </a:rPr>
                <a:t>WRONG!</a:t>
              </a:r>
            </a:p>
          </p:txBody>
        </p:sp>
      </p:grpSp>
      <p:grpSp>
        <p:nvGrpSpPr>
          <p:cNvPr id="34" name="Group 33">
            <a:extLst>
              <a:ext uri="{FF2B5EF4-FFF2-40B4-BE49-F238E27FC236}">
                <a16:creationId xmlns:a16="http://schemas.microsoft.com/office/drawing/2014/main" id="{6EF14382-EE38-85D7-B50C-7683DD42B5EA}"/>
              </a:ext>
            </a:extLst>
          </p:cNvPr>
          <p:cNvGrpSpPr/>
          <p:nvPr/>
        </p:nvGrpSpPr>
        <p:grpSpPr>
          <a:xfrm>
            <a:off x="10277147" y="3673946"/>
            <a:ext cx="1441998" cy="1303301"/>
            <a:chOff x="9921012" y="3531878"/>
            <a:chExt cx="1441998" cy="1303301"/>
          </a:xfrm>
        </p:grpSpPr>
        <p:sp>
          <p:nvSpPr>
            <p:cNvPr id="35" name="Oval 34">
              <a:extLst>
                <a:ext uri="{FF2B5EF4-FFF2-40B4-BE49-F238E27FC236}">
                  <a16:creationId xmlns:a16="http://schemas.microsoft.com/office/drawing/2014/main" id="{08B5F4DC-0C4D-17F5-47C3-03DB5F2B65F0}"/>
                </a:ext>
              </a:extLst>
            </p:cNvPr>
            <p:cNvSpPr/>
            <p:nvPr/>
          </p:nvSpPr>
          <p:spPr bwMode="auto">
            <a:xfrm>
              <a:off x="9921012" y="3531878"/>
              <a:ext cx="1202249" cy="807902"/>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6" name="TextBox 35">
              <a:extLst>
                <a:ext uri="{FF2B5EF4-FFF2-40B4-BE49-F238E27FC236}">
                  <a16:creationId xmlns:a16="http://schemas.microsoft.com/office/drawing/2014/main" id="{266CB5F1-F224-000E-7F20-CD8353AE37B7}"/>
                </a:ext>
              </a:extLst>
            </p:cNvPr>
            <p:cNvSpPr txBox="1"/>
            <p:nvPr/>
          </p:nvSpPr>
          <p:spPr>
            <a:xfrm>
              <a:off x="9972886" y="4465847"/>
              <a:ext cx="1390124" cy="369332"/>
            </a:xfrm>
            <a:prstGeom prst="rect">
              <a:avLst/>
            </a:prstGeom>
            <a:noFill/>
          </p:spPr>
          <p:txBody>
            <a:bodyPr wrap="none" rtlCol="0">
              <a:spAutoFit/>
            </a:bodyPr>
            <a:lstStyle/>
            <a:p>
              <a:r>
                <a:rPr lang="en-US">
                  <a:solidFill>
                    <a:srgbClr val="C00000"/>
                  </a:solidFill>
                </a:rPr>
                <a:t>CORRECT!</a:t>
              </a:r>
            </a:p>
          </p:txBody>
        </p:sp>
      </p:grpSp>
      <p:grpSp>
        <p:nvGrpSpPr>
          <p:cNvPr id="37" name="Group 36">
            <a:extLst>
              <a:ext uri="{FF2B5EF4-FFF2-40B4-BE49-F238E27FC236}">
                <a16:creationId xmlns:a16="http://schemas.microsoft.com/office/drawing/2014/main" id="{CD581B0E-F39C-8252-500E-73FE10ABC687}"/>
              </a:ext>
            </a:extLst>
          </p:cNvPr>
          <p:cNvGrpSpPr/>
          <p:nvPr/>
        </p:nvGrpSpPr>
        <p:grpSpPr>
          <a:xfrm>
            <a:off x="4388873" y="4245373"/>
            <a:ext cx="3799373" cy="762652"/>
            <a:chOff x="4032738" y="4103305"/>
            <a:chExt cx="3799373" cy="762652"/>
          </a:xfrm>
        </p:grpSpPr>
        <p:sp>
          <p:nvSpPr>
            <p:cNvPr id="38" name="TextBox 37">
              <a:extLst>
                <a:ext uri="{FF2B5EF4-FFF2-40B4-BE49-F238E27FC236}">
                  <a16:creationId xmlns:a16="http://schemas.microsoft.com/office/drawing/2014/main" id="{B6D599A8-FA28-E030-2381-40E5F74B370A}"/>
                </a:ext>
              </a:extLst>
            </p:cNvPr>
            <p:cNvSpPr txBox="1"/>
            <p:nvPr/>
          </p:nvSpPr>
          <p:spPr>
            <a:xfrm>
              <a:off x="4032738" y="4465847"/>
              <a:ext cx="3799373" cy="400110"/>
            </a:xfrm>
            <a:prstGeom prst="rect">
              <a:avLst/>
            </a:prstGeom>
            <a:noFill/>
          </p:spPr>
          <p:txBody>
            <a:bodyPr wrap="none" rtlCol="0">
              <a:spAutoFit/>
            </a:bodyPr>
            <a:lstStyle/>
            <a:p>
              <a:r>
                <a:rPr lang="en-US" sz="2000" dirty="0">
                  <a:solidFill>
                    <a:srgbClr val="C00000"/>
                  </a:solidFill>
                </a:rPr>
                <a:t>Same </a:t>
              </a:r>
              <a:r>
                <a:rPr lang="en-US" sz="2000" i="1" dirty="0">
                  <a:solidFill>
                    <a:srgbClr val="C00000"/>
                  </a:solidFill>
                </a:rPr>
                <a:t>INTRON CHAIN </a:t>
              </a:r>
              <a:r>
                <a:rPr lang="en-US" sz="2000" dirty="0">
                  <a:solidFill>
                    <a:srgbClr val="C00000"/>
                  </a:solidFill>
                </a:rPr>
                <a:t>=&gt; CORRECT!</a:t>
              </a:r>
            </a:p>
          </p:txBody>
        </p:sp>
        <p:cxnSp>
          <p:nvCxnSpPr>
            <p:cNvPr id="39" name="Straight Arrow Connector 38">
              <a:extLst>
                <a:ext uri="{FF2B5EF4-FFF2-40B4-BE49-F238E27FC236}">
                  <a16:creationId xmlns:a16="http://schemas.microsoft.com/office/drawing/2014/main" id="{EAEC8C1D-41BB-339A-10B7-41C1DBAD65CD}"/>
                </a:ext>
              </a:extLst>
            </p:cNvPr>
            <p:cNvCxnSpPr>
              <a:stCxn id="38" idx="0"/>
            </p:cNvCxnSpPr>
            <p:nvPr/>
          </p:nvCxnSpPr>
          <p:spPr bwMode="auto">
            <a:xfrm flipV="1">
              <a:off x="5932425" y="4103305"/>
              <a:ext cx="736023" cy="362542"/>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0" name="Group 39">
            <a:extLst>
              <a:ext uri="{FF2B5EF4-FFF2-40B4-BE49-F238E27FC236}">
                <a16:creationId xmlns:a16="http://schemas.microsoft.com/office/drawing/2014/main" id="{7ED92B1C-0D0B-04D3-3A95-17F065D64258}"/>
              </a:ext>
            </a:extLst>
          </p:cNvPr>
          <p:cNvGrpSpPr/>
          <p:nvPr/>
        </p:nvGrpSpPr>
        <p:grpSpPr>
          <a:xfrm>
            <a:off x="5449926" y="2984898"/>
            <a:ext cx="3541711" cy="1054615"/>
            <a:chOff x="5093791" y="2842830"/>
            <a:chExt cx="3541711" cy="1054615"/>
          </a:xfrm>
        </p:grpSpPr>
        <p:cxnSp>
          <p:nvCxnSpPr>
            <p:cNvPr id="41" name="Straight Connector 40">
              <a:extLst>
                <a:ext uri="{FF2B5EF4-FFF2-40B4-BE49-F238E27FC236}">
                  <a16:creationId xmlns:a16="http://schemas.microsoft.com/office/drawing/2014/main" id="{946DFDD2-E524-E8A1-DFAC-268F4D6CF01A}"/>
                </a:ext>
              </a:extLst>
            </p:cNvPr>
            <p:cNvCxnSpPr>
              <a:cxnSpLocks/>
            </p:cNvCxnSpPr>
            <p:nvPr/>
          </p:nvCxnSpPr>
          <p:spPr bwMode="auto">
            <a:xfrm flipV="1">
              <a:off x="5093791" y="28455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934ECAD1-612E-CAB4-3A7F-8778DD2FF228}"/>
                </a:ext>
              </a:extLst>
            </p:cNvPr>
            <p:cNvCxnSpPr>
              <a:cxnSpLocks/>
            </p:cNvCxnSpPr>
            <p:nvPr/>
          </p:nvCxnSpPr>
          <p:spPr bwMode="auto">
            <a:xfrm flipV="1">
              <a:off x="620345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a:extLst>
                <a:ext uri="{FF2B5EF4-FFF2-40B4-BE49-F238E27FC236}">
                  <a16:creationId xmlns:a16="http://schemas.microsoft.com/office/drawing/2014/main" id="{68987DCA-7A9A-2494-D713-038ADC7E3AE2}"/>
                </a:ext>
              </a:extLst>
            </p:cNvPr>
            <p:cNvCxnSpPr>
              <a:cxnSpLocks/>
            </p:cNvCxnSpPr>
            <p:nvPr/>
          </p:nvCxnSpPr>
          <p:spPr bwMode="auto">
            <a:xfrm flipV="1">
              <a:off x="7283011"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D594CAE-F56A-8905-BAE6-001E12AC1242}"/>
                </a:ext>
              </a:extLst>
            </p:cNvPr>
            <p:cNvCxnSpPr>
              <a:cxnSpLocks/>
            </p:cNvCxnSpPr>
            <p:nvPr/>
          </p:nvCxnSpPr>
          <p:spPr bwMode="auto">
            <a:xfrm flipV="1">
              <a:off x="7581403"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CC70D78E-7405-CC93-D61C-A1ECE17A979F}"/>
                </a:ext>
              </a:extLst>
            </p:cNvPr>
            <p:cNvCxnSpPr>
              <a:cxnSpLocks/>
            </p:cNvCxnSpPr>
            <p:nvPr/>
          </p:nvCxnSpPr>
          <p:spPr bwMode="auto">
            <a:xfrm flipV="1">
              <a:off x="863550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2848F8D9-A172-700C-A799-B1A5D531FEBB}"/>
                </a:ext>
              </a:extLst>
            </p:cNvPr>
            <p:cNvCxnSpPr>
              <a:cxnSpLocks/>
            </p:cNvCxnSpPr>
            <p:nvPr/>
          </p:nvCxnSpPr>
          <p:spPr bwMode="auto">
            <a:xfrm flipV="1">
              <a:off x="7935416"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25611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4C79-9850-7711-7E3B-C4D96EF16D2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B502250C-AE07-8493-2834-733D81897B23}"/>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5" name="Rectangle 4">
            <a:extLst>
              <a:ext uri="{FF2B5EF4-FFF2-40B4-BE49-F238E27FC236}">
                <a16:creationId xmlns:a16="http://schemas.microsoft.com/office/drawing/2014/main" id="{A4E458DA-39C3-CF79-0149-E087ED40D845}"/>
              </a:ext>
            </a:extLst>
          </p:cNvPr>
          <p:cNvSpPr/>
          <p:nvPr/>
        </p:nvSpPr>
        <p:spPr bwMode="auto">
          <a:xfrm>
            <a:off x="5533951" y="1683048"/>
            <a:ext cx="1396471"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6" name="Rectangle 5">
            <a:extLst>
              <a:ext uri="{FF2B5EF4-FFF2-40B4-BE49-F238E27FC236}">
                <a16:creationId xmlns:a16="http://schemas.microsoft.com/office/drawing/2014/main" id="{A9660064-5C7C-3C24-F166-BF315A783486}"/>
              </a:ext>
            </a:extLst>
          </p:cNvPr>
          <p:cNvSpPr/>
          <p:nvPr/>
        </p:nvSpPr>
        <p:spPr>
          <a:xfrm>
            <a:off x="5533951" y="1668387"/>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pic>
        <p:nvPicPr>
          <p:cNvPr id="7" name="Picture 6">
            <a:extLst>
              <a:ext uri="{FF2B5EF4-FFF2-40B4-BE49-F238E27FC236}">
                <a16:creationId xmlns:a16="http://schemas.microsoft.com/office/drawing/2014/main" id="{EAEA9615-2B94-2FC8-EB0F-0C7B1378E436}"/>
              </a:ext>
            </a:extLst>
          </p:cNvPr>
          <p:cNvPicPr>
            <a:picLocks noChangeAspect="1"/>
          </p:cNvPicPr>
          <p:nvPr/>
        </p:nvPicPr>
        <p:blipFill>
          <a:blip r:embed="rId2"/>
          <a:srcRect r="1029" b="57678"/>
          <a:stretch>
            <a:fillRect/>
          </a:stretch>
        </p:blipFill>
        <p:spPr>
          <a:xfrm>
            <a:off x="118673" y="1777354"/>
            <a:ext cx="5026191" cy="2278963"/>
          </a:xfrm>
          <a:prstGeom prst="rect">
            <a:avLst/>
          </a:prstGeom>
        </p:spPr>
      </p:pic>
      <p:sp>
        <p:nvSpPr>
          <p:cNvPr id="8" name="Rectangle 7">
            <a:extLst>
              <a:ext uri="{FF2B5EF4-FFF2-40B4-BE49-F238E27FC236}">
                <a16:creationId xmlns:a16="http://schemas.microsoft.com/office/drawing/2014/main" id="{1D7CD01D-9440-7E42-D382-14CA249446BE}"/>
              </a:ext>
            </a:extLst>
          </p:cNvPr>
          <p:cNvSpPr/>
          <p:nvPr/>
        </p:nvSpPr>
        <p:spPr>
          <a:xfrm>
            <a:off x="5306808" y="2333383"/>
            <a:ext cx="6092506" cy="830997"/>
          </a:xfrm>
          <a:prstGeom prst="rect">
            <a:avLst/>
          </a:prstGeom>
        </p:spPr>
        <p:txBody>
          <a:bodyPr wrap="square">
            <a:spAutoFit/>
          </a:bodyPr>
          <a:lstStyle/>
          <a:p>
            <a:r>
              <a:rPr lang="en-US" sz="1600" dirty="0">
                <a:solidFill>
                  <a:srgbClr val="333333"/>
                </a:solidFill>
                <a:latin typeface="Roboto"/>
              </a:rPr>
              <a:t>- a fast tool for verification, filtering and conversion of the most popular annotation file formats (GTF, GFF3, </a:t>
            </a:r>
            <a:r>
              <a:rPr lang="en-US" sz="1600" dirty="0"/>
              <a:t>BED) </a:t>
            </a:r>
            <a:r>
              <a:rPr lang="en-US" sz="1600" dirty="0">
                <a:solidFill>
                  <a:srgbClr val="333333"/>
                </a:solidFill>
                <a:latin typeface="Roboto"/>
              </a:rPr>
              <a:t>and for quick extraction of transcript sequences from the genome sequence. </a:t>
            </a:r>
            <a:endParaRPr lang="en-US" sz="1600" dirty="0"/>
          </a:p>
        </p:txBody>
      </p:sp>
      <p:grpSp>
        <p:nvGrpSpPr>
          <p:cNvPr id="9" name="Group 8">
            <a:extLst>
              <a:ext uri="{FF2B5EF4-FFF2-40B4-BE49-F238E27FC236}">
                <a16:creationId xmlns:a16="http://schemas.microsoft.com/office/drawing/2014/main" id="{9E686C2C-AF3D-9B21-3257-99226D2755A9}"/>
              </a:ext>
            </a:extLst>
          </p:cNvPr>
          <p:cNvGrpSpPr/>
          <p:nvPr/>
        </p:nvGrpSpPr>
        <p:grpSpPr>
          <a:xfrm>
            <a:off x="5408759" y="4020470"/>
            <a:ext cx="6399324" cy="559605"/>
            <a:chOff x="5450077" y="2711434"/>
            <a:chExt cx="6399324" cy="559605"/>
          </a:xfrm>
        </p:grpSpPr>
        <p:pic>
          <p:nvPicPr>
            <p:cNvPr id="10" name="Picture 9">
              <a:extLst>
                <a:ext uri="{FF2B5EF4-FFF2-40B4-BE49-F238E27FC236}">
                  <a16:creationId xmlns:a16="http://schemas.microsoft.com/office/drawing/2014/main" id="{5BDC114E-981E-07CF-6262-982C8E6D32CA}"/>
                </a:ext>
              </a:extLst>
            </p:cNvPr>
            <p:cNvPicPr>
              <a:picLocks noChangeAspect="1"/>
            </p:cNvPicPr>
            <p:nvPr/>
          </p:nvPicPr>
          <p:blipFill rotWithShape="1">
            <a:blip r:embed="rId3"/>
            <a:srcRect l="37166" t="-20686"/>
            <a:stretch/>
          </p:blipFill>
          <p:spPr>
            <a:xfrm>
              <a:off x="5553246" y="3041134"/>
              <a:ext cx="6296155" cy="229905"/>
            </a:xfrm>
            <a:prstGeom prst="rect">
              <a:avLst/>
            </a:prstGeom>
          </p:spPr>
        </p:pic>
        <p:sp>
          <p:nvSpPr>
            <p:cNvPr id="11" name="TextBox 10">
              <a:extLst>
                <a:ext uri="{FF2B5EF4-FFF2-40B4-BE49-F238E27FC236}">
                  <a16:creationId xmlns:a16="http://schemas.microsoft.com/office/drawing/2014/main" id="{9B01A855-1B75-030E-9AB5-65D8D78FA4E4}"/>
                </a:ext>
              </a:extLst>
            </p:cNvPr>
            <p:cNvSpPr txBox="1"/>
            <p:nvPr/>
          </p:nvSpPr>
          <p:spPr>
            <a:xfrm>
              <a:off x="5450077" y="2711434"/>
              <a:ext cx="1067921"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FASTA:</a:t>
              </a:r>
            </a:p>
          </p:txBody>
        </p:sp>
      </p:grpSp>
      <p:grpSp>
        <p:nvGrpSpPr>
          <p:cNvPr id="12" name="Group 11">
            <a:extLst>
              <a:ext uri="{FF2B5EF4-FFF2-40B4-BE49-F238E27FC236}">
                <a16:creationId xmlns:a16="http://schemas.microsoft.com/office/drawing/2014/main" id="{090BFB6B-1931-FA67-1360-FC562234D293}"/>
              </a:ext>
            </a:extLst>
          </p:cNvPr>
          <p:cNvGrpSpPr/>
          <p:nvPr/>
        </p:nvGrpSpPr>
        <p:grpSpPr>
          <a:xfrm>
            <a:off x="5408758" y="4639807"/>
            <a:ext cx="6249413" cy="369332"/>
            <a:chOff x="5450076" y="3330771"/>
            <a:chExt cx="6249413" cy="369332"/>
          </a:xfrm>
        </p:grpSpPr>
        <p:sp>
          <p:nvSpPr>
            <p:cNvPr id="13" name="Rectangle 12">
              <a:extLst>
                <a:ext uri="{FF2B5EF4-FFF2-40B4-BE49-F238E27FC236}">
                  <a16:creationId xmlns:a16="http://schemas.microsoft.com/office/drawing/2014/main" id="{6CB706E4-B2B5-ACCB-FE71-966AFDFD791E}"/>
                </a:ext>
              </a:extLst>
            </p:cNvPr>
            <p:cNvSpPr/>
            <p:nvPr/>
          </p:nvSpPr>
          <p:spPr bwMode="auto">
            <a:xfrm>
              <a:off x="7350120" y="3420301"/>
              <a:ext cx="98526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D6002C0B-CFE7-D04F-641A-275A9767FE3B}"/>
                </a:ext>
              </a:extLst>
            </p:cNvPr>
            <p:cNvSpPr/>
            <p:nvPr/>
          </p:nvSpPr>
          <p:spPr bwMode="auto">
            <a:xfrm>
              <a:off x="8701323" y="3432369"/>
              <a:ext cx="392206"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5" name="Rectangle 14">
              <a:extLst>
                <a:ext uri="{FF2B5EF4-FFF2-40B4-BE49-F238E27FC236}">
                  <a16:creationId xmlns:a16="http://schemas.microsoft.com/office/drawing/2014/main" id="{4544A5C4-7F48-3D34-C2B8-26CE36DB0FE2}"/>
                </a:ext>
              </a:extLst>
            </p:cNvPr>
            <p:cNvSpPr/>
            <p:nvPr/>
          </p:nvSpPr>
          <p:spPr bwMode="auto">
            <a:xfrm>
              <a:off x="9282102" y="3432369"/>
              <a:ext cx="241738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6" name="TextBox 15">
              <a:extLst>
                <a:ext uri="{FF2B5EF4-FFF2-40B4-BE49-F238E27FC236}">
                  <a16:creationId xmlns:a16="http://schemas.microsoft.com/office/drawing/2014/main" id="{91AF5057-14A6-6DB2-180B-5C317311E4FA}"/>
                </a:ext>
              </a:extLst>
            </p:cNvPr>
            <p:cNvSpPr txBox="1"/>
            <p:nvPr/>
          </p:nvSpPr>
          <p:spPr>
            <a:xfrm>
              <a:off x="5450076" y="3330771"/>
              <a:ext cx="1306768"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GFF/BED:</a:t>
              </a:r>
            </a:p>
          </p:txBody>
        </p:sp>
      </p:grpSp>
      <p:grpSp>
        <p:nvGrpSpPr>
          <p:cNvPr id="17" name="Group 16">
            <a:extLst>
              <a:ext uri="{FF2B5EF4-FFF2-40B4-BE49-F238E27FC236}">
                <a16:creationId xmlns:a16="http://schemas.microsoft.com/office/drawing/2014/main" id="{89ABF916-B00C-26C3-4218-351CCE9A2BF4}"/>
              </a:ext>
            </a:extLst>
          </p:cNvPr>
          <p:cNvGrpSpPr/>
          <p:nvPr/>
        </p:nvGrpSpPr>
        <p:grpSpPr>
          <a:xfrm>
            <a:off x="5408758" y="5107350"/>
            <a:ext cx="6525164" cy="1472838"/>
            <a:chOff x="5450076" y="3798314"/>
            <a:chExt cx="6525164" cy="1472838"/>
          </a:xfrm>
        </p:grpSpPr>
        <p:sp>
          <p:nvSpPr>
            <p:cNvPr id="18" name="Notched Right Arrow 17">
              <a:extLst>
                <a:ext uri="{FF2B5EF4-FFF2-40B4-BE49-F238E27FC236}">
                  <a16:creationId xmlns:a16="http://schemas.microsoft.com/office/drawing/2014/main" id="{11E5293E-E7D6-E639-9393-5F65CC6F12E0}"/>
                </a:ext>
              </a:extLst>
            </p:cNvPr>
            <p:cNvSpPr/>
            <p:nvPr/>
          </p:nvSpPr>
          <p:spPr bwMode="auto">
            <a:xfrm rot="5400000">
              <a:off x="6312897" y="3998731"/>
              <a:ext cx="651353" cy="250520"/>
            </a:xfrm>
            <a:prstGeom prst="notchedRightArrow">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pic>
          <p:nvPicPr>
            <p:cNvPr id="19" name="Picture 18">
              <a:extLst>
                <a:ext uri="{FF2B5EF4-FFF2-40B4-BE49-F238E27FC236}">
                  <a16:creationId xmlns:a16="http://schemas.microsoft.com/office/drawing/2014/main" id="{23A44979-E9A0-F08F-6EEF-80AC28373890}"/>
                </a:ext>
              </a:extLst>
            </p:cNvPr>
            <p:cNvPicPr>
              <a:picLocks noChangeAspect="1"/>
            </p:cNvPicPr>
            <p:nvPr/>
          </p:nvPicPr>
          <p:blipFill rotWithShape="1">
            <a:blip r:embed="rId3"/>
            <a:srcRect l="37166" t="-20686"/>
            <a:stretch/>
          </p:blipFill>
          <p:spPr>
            <a:xfrm>
              <a:off x="5553245" y="4701712"/>
              <a:ext cx="6296155" cy="229905"/>
            </a:xfrm>
            <a:prstGeom prst="rect">
              <a:avLst/>
            </a:prstGeom>
          </p:spPr>
        </p:pic>
        <p:sp>
          <p:nvSpPr>
            <p:cNvPr id="20" name="Rectangle 19">
              <a:extLst>
                <a:ext uri="{FF2B5EF4-FFF2-40B4-BE49-F238E27FC236}">
                  <a16:creationId xmlns:a16="http://schemas.microsoft.com/office/drawing/2014/main" id="{D1EE69A6-48B8-7820-43AA-DC515F7776F0}"/>
                </a:ext>
              </a:extLst>
            </p:cNvPr>
            <p:cNvSpPr/>
            <p:nvPr/>
          </p:nvSpPr>
          <p:spPr bwMode="auto">
            <a:xfrm>
              <a:off x="5450076" y="4575690"/>
              <a:ext cx="1872874"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1" name="Rectangle 20">
              <a:extLst>
                <a:ext uri="{FF2B5EF4-FFF2-40B4-BE49-F238E27FC236}">
                  <a16:creationId xmlns:a16="http://schemas.microsoft.com/office/drawing/2014/main" id="{54F52CEB-C1E3-432C-DA5B-DAC44A6B257C}"/>
                </a:ext>
              </a:extLst>
            </p:cNvPr>
            <p:cNvSpPr/>
            <p:nvPr/>
          </p:nvSpPr>
          <p:spPr bwMode="auto">
            <a:xfrm>
              <a:off x="8394379" y="4575690"/>
              <a:ext cx="275751"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2" name="Rectangle 21">
              <a:extLst>
                <a:ext uri="{FF2B5EF4-FFF2-40B4-BE49-F238E27FC236}">
                  <a16:creationId xmlns:a16="http://schemas.microsoft.com/office/drawing/2014/main" id="{3C78A6C8-E76E-78C1-0A87-794E6F5CC9FE}"/>
                </a:ext>
              </a:extLst>
            </p:cNvPr>
            <p:cNvSpPr/>
            <p:nvPr/>
          </p:nvSpPr>
          <p:spPr bwMode="auto">
            <a:xfrm>
              <a:off x="9144227" y="4575690"/>
              <a:ext cx="137876"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3" name="Rectangle 22">
              <a:extLst>
                <a:ext uri="{FF2B5EF4-FFF2-40B4-BE49-F238E27FC236}">
                  <a16:creationId xmlns:a16="http://schemas.microsoft.com/office/drawing/2014/main" id="{09F9F350-693A-0109-AD58-C169BAF92AB5}"/>
                </a:ext>
              </a:extLst>
            </p:cNvPr>
            <p:cNvSpPr/>
            <p:nvPr/>
          </p:nvSpPr>
          <p:spPr bwMode="auto">
            <a:xfrm>
              <a:off x="11699489" y="4575690"/>
              <a:ext cx="275751" cy="69546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4" name="Rectangle 23">
              <a:extLst>
                <a:ext uri="{FF2B5EF4-FFF2-40B4-BE49-F238E27FC236}">
                  <a16:creationId xmlns:a16="http://schemas.microsoft.com/office/drawing/2014/main" id="{2C706F39-0865-EBC8-0DB7-7839B0918CEF}"/>
                </a:ext>
              </a:extLst>
            </p:cNvPr>
            <p:cNvSpPr/>
            <p:nvPr/>
          </p:nvSpPr>
          <p:spPr>
            <a:xfrm>
              <a:off x="5450076" y="4643662"/>
              <a:ext cx="1563248" cy="369332"/>
            </a:xfrm>
            <a:prstGeom prst="rect">
              <a:avLst/>
            </a:prstGeom>
          </p:spPr>
          <p:txBody>
            <a:bodyPr wrap="none">
              <a:spAutoFit/>
            </a:bodyPr>
            <a:lstStyle/>
            <a:p>
              <a:r>
                <a:rPr lang="en-US" err="1">
                  <a:latin typeface="CourierNewPSMT" panose="02070309020205020404" pitchFamily="49" charset="0"/>
                </a:rPr>
                <a:t>gffread</a:t>
              </a:r>
              <a:r>
                <a:rPr lang="en-US">
                  <a:latin typeface="CourierNewPSMT" panose="02070309020205020404" pitchFamily="49" charset="0"/>
                </a:rPr>
                <a:t> -w</a:t>
              </a:r>
              <a:endParaRPr lang="en-US"/>
            </a:p>
          </p:txBody>
        </p:sp>
      </p:grpSp>
      <p:sp>
        <p:nvSpPr>
          <p:cNvPr id="25" name="Rectangle 24">
            <a:extLst>
              <a:ext uri="{FF2B5EF4-FFF2-40B4-BE49-F238E27FC236}">
                <a16:creationId xmlns:a16="http://schemas.microsoft.com/office/drawing/2014/main" id="{19B78C28-ED33-6B4E-5F39-F6391E625644}"/>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Tree>
    <p:extLst>
      <p:ext uri="{BB962C8B-B14F-4D97-AF65-F5344CB8AC3E}">
        <p14:creationId xmlns:p14="http://schemas.microsoft.com/office/powerpoint/2010/main" val="301280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CC921-0A82-4E07-700B-CA3A1D317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19247-4049-626B-547E-936A795FA53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AB64313-7C42-0011-4F39-0676D36FED3C}"/>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7" name="Picture 6">
            <a:extLst>
              <a:ext uri="{FF2B5EF4-FFF2-40B4-BE49-F238E27FC236}">
                <a16:creationId xmlns:a16="http://schemas.microsoft.com/office/drawing/2014/main" id="{38AE655D-2509-0700-AB2A-A8C96AF2E5C0}"/>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CE9D13CA-7192-2117-7A89-322A4908AE08}"/>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C1B8BEEE-D118-1BB0-4B2B-1228C69019A7}"/>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45075AED-6713-D693-8EA7-AE963725A664}"/>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1EAA9AC5-AA16-E12C-E9CF-D004097D0C21}"/>
              </a:ext>
            </a:extLst>
          </p:cNvPr>
          <p:cNvSpPr/>
          <p:nvPr/>
        </p:nvSpPr>
        <p:spPr>
          <a:xfrm>
            <a:off x="6141751" y="1899889"/>
            <a:ext cx="6092506" cy="861774"/>
          </a:xfrm>
          <a:prstGeom prst="rect">
            <a:avLst/>
          </a:prstGeom>
        </p:spPr>
        <p:txBody>
          <a:bodyPr wrap="square">
            <a:spAutoFit/>
          </a:bodyPr>
          <a:lstStyle/>
          <a:p>
            <a:r>
              <a:rPr lang="en-US" sz="1600">
                <a:solidFill>
                  <a:srgbClr val="333333"/>
                </a:solidFill>
                <a:latin typeface="Roboto"/>
              </a:rPr>
              <a:t>- a tool for merging and tracking transcript structures across multiple samples and comparing them to a reference annotation.</a:t>
            </a:r>
          </a:p>
          <a:p>
            <a:endParaRPr lang="en-US"/>
          </a:p>
        </p:txBody>
      </p:sp>
      <p:grpSp>
        <p:nvGrpSpPr>
          <p:cNvPr id="28" name="Group 27">
            <a:extLst>
              <a:ext uri="{FF2B5EF4-FFF2-40B4-BE49-F238E27FC236}">
                <a16:creationId xmlns:a16="http://schemas.microsoft.com/office/drawing/2014/main" id="{E167A7F1-6513-FF5F-4EEE-26C9F3EBB7F2}"/>
              </a:ext>
            </a:extLst>
          </p:cNvPr>
          <p:cNvGrpSpPr/>
          <p:nvPr/>
        </p:nvGrpSpPr>
        <p:grpSpPr>
          <a:xfrm>
            <a:off x="5832271" y="2483318"/>
            <a:ext cx="6313455" cy="3863461"/>
            <a:chOff x="4939809" y="2054246"/>
            <a:chExt cx="7156782" cy="4648201"/>
          </a:xfrm>
        </p:grpSpPr>
        <p:sp>
          <p:nvSpPr>
            <p:cNvPr id="29" name="Rectangle 28">
              <a:extLst>
                <a:ext uri="{FF2B5EF4-FFF2-40B4-BE49-F238E27FC236}">
                  <a16:creationId xmlns:a16="http://schemas.microsoft.com/office/drawing/2014/main" id="{E9A5E65B-927C-15FC-EC55-0BC2E0529BE4}"/>
                </a:ext>
              </a:extLst>
            </p:cNvPr>
            <p:cNvSpPr/>
            <p:nvPr/>
          </p:nvSpPr>
          <p:spPr>
            <a:xfrm>
              <a:off x="6795092" y="4264046"/>
              <a:ext cx="3050999"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030D7DD-94E0-0147-2F3D-D227FDC1D109}"/>
                </a:ext>
              </a:extLst>
            </p:cNvPr>
            <p:cNvSpPr/>
            <p:nvPr/>
          </p:nvSpPr>
          <p:spPr>
            <a:xfrm>
              <a:off x="6590939" y="6321446"/>
              <a:ext cx="3164187" cy="294239"/>
            </a:xfrm>
            <a:prstGeom prst="rect">
              <a:avLst/>
            </a:prstGeom>
            <a:solidFill>
              <a:srgbClr val="FFFF00">
                <a:alpha val="19000"/>
              </a:srgbClr>
            </a:solidFill>
            <a:ln>
              <a:solidFill>
                <a:srgbClr val="FFFF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C31CA95-3CF8-7151-2F4F-9AE344F7F34F}"/>
                </a:ext>
              </a:extLst>
            </p:cNvPr>
            <p:cNvSpPr/>
            <p:nvPr/>
          </p:nvSpPr>
          <p:spPr>
            <a:xfrm>
              <a:off x="7341089" y="4325409"/>
              <a:ext cx="162970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a:extLst>
                <a:ext uri="{FF2B5EF4-FFF2-40B4-BE49-F238E27FC236}">
                  <a16:creationId xmlns:a16="http://schemas.microsoft.com/office/drawing/2014/main" id="{CC7B6FC6-A281-2947-BF9D-F0543BE2336D}"/>
                </a:ext>
              </a:extLst>
            </p:cNvPr>
            <p:cNvSpPr/>
            <p:nvPr/>
          </p:nvSpPr>
          <p:spPr>
            <a:xfrm>
              <a:off x="7344899" y="474316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Freeform 32">
              <a:extLst>
                <a:ext uri="{FF2B5EF4-FFF2-40B4-BE49-F238E27FC236}">
                  <a16:creationId xmlns:a16="http://schemas.microsoft.com/office/drawing/2014/main" id="{D04934AE-48E2-3EBA-4596-5F2926456152}"/>
                </a:ext>
              </a:extLst>
            </p:cNvPr>
            <p:cNvSpPr/>
            <p:nvPr/>
          </p:nvSpPr>
          <p:spPr>
            <a:xfrm>
              <a:off x="8544069" y="474316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a:extLst>
                <a:ext uri="{FF2B5EF4-FFF2-40B4-BE49-F238E27FC236}">
                  <a16:creationId xmlns:a16="http://schemas.microsoft.com/office/drawing/2014/main" id="{12B27A70-AF48-B3CB-92A5-D1CCA7A66180}"/>
                </a:ext>
              </a:extLst>
            </p:cNvPr>
            <p:cNvSpPr/>
            <p:nvPr/>
          </p:nvSpPr>
          <p:spPr>
            <a:xfrm>
              <a:off x="8544069" y="3991600"/>
              <a:ext cx="198882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a:extLst>
                <a:ext uri="{FF2B5EF4-FFF2-40B4-BE49-F238E27FC236}">
                  <a16:creationId xmlns:a16="http://schemas.microsoft.com/office/drawing/2014/main" id="{0220BA2A-5555-235D-AA61-A3D50581D80F}"/>
                </a:ext>
              </a:extLst>
            </p:cNvPr>
            <p:cNvSpPr/>
            <p:nvPr/>
          </p:nvSpPr>
          <p:spPr>
            <a:xfrm>
              <a:off x="8544069" y="2902939"/>
              <a:ext cx="1992630" cy="12058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Freeform 35">
              <a:extLst>
                <a:ext uri="{FF2B5EF4-FFF2-40B4-BE49-F238E27FC236}">
                  <a16:creationId xmlns:a16="http://schemas.microsoft.com/office/drawing/2014/main" id="{D5FC3158-B120-AFC6-529B-22993BFC9A4B}"/>
                </a:ext>
              </a:extLst>
            </p:cNvPr>
            <p:cNvSpPr/>
            <p:nvPr/>
          </p:nvSpPr>
          <p:spPr>
            <a:xfrm>
              <a:off x="7336299" y="2925799"/>
              <a:ext cx="570520" cy="9391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a:extLst>
                <a:ext uri="{FF2B5EF4-FFF2-40B4-BE49-F238E27FC236}">
                  <a16:creationId xmlns:a16="http://schemas.microsoft.com/office/drawing/2014/main" id="{8B8B59C6-EC35-8C90-B67A-BF3D743E7B61}"/>
                </a:ext>
              </a:extLst>
            </p:cNvPr>
            <p:cNvSpPr/>
            <p:nvPr/>
          </p:nvSpPr>
          <p:spPr>
            <a:xfrm>
              <a:off x="7336299" y="2419069"/>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a:extLst>
                <a:ext uri="{FF2B5EF4-FFF2-40B4-BE49-F238E27FC236}">
                  <a16:creationId xmlns:a16="http://schemas.microsoft.com/office/drawing/2014/main" id="{24E2F4D8-2B95-BDF2-86B3-37DD7113F8BA}"/>
                </a:ext>
              </a:extLst>
            </p:cNvPr>
            <p:cNvSpPr/>
            <p:nvPr/>
          </p:nvSpPr>
          <p:spPr>
            <a:xfrm>
              <a:off x="8547879" y="2419069"/>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a:extLst>
                <a:ext uri="{FF2B5EF4-FFF2-40B4-BE49-F238E27FC236}">
                  <a16:creationId xmlns:a16="http://schemas.microsoft.com/office/drawing/2014/main" id="{F14D7C3A-02D2-D754-86B2-86A06ADF18BF}"/>
                </a:ext>
              </a:extLst>
            </p:cNvPr>
            <p:cNvSpPr/>
            <p:nvPr/>
          </p:nvSpPr>
          <p:spPr>
            <a:xfrm>
              <a:off x="9746231" y="242287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a:extLst>
                <a:ext uri="{FF2B5EF4-FFF2-40B4-BE49-F238E27FC236}">
                  <a16:creationId xmlns:a16="http://schemas.microsoft.com/office/drawing/2014/main" id="{20F7B75D-B869-7E7A-72A9-C0EDE0B0D644}"/>
                </a:ext>
              </a:extLst>
            </p:cNvPr>
            <p:cNvSpPr/>
            <p:nvPr/>
          </p:nvSpPr>
          <p:spPr>
            <a:xfrm>
              <a:off x="7341089" y="3546829"/>
              <a:ext cx="570520" cy="10153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Freeform 40">
              <a:extLst>
                <a:ext uri="{FF2B5EF4-FFF2-40B4-BE49-F238E27FC236}">
                  <a16:creationId xmlns:a16="http://schemas.microsoft.com/office/drawing/2014/main" id="{2CA683FD-E6E8-CD42-9068-81D0EBEF8767}"/>
                </a:ext>
              </a:extLst>
            </p:cNvPr>
            <p:cNvSpPr/>
            <p:nvPr/>
          </p:nvSpPr>
          <p:spPr>
            <a:xfrm>
              <a:off x="8544069" y="3554449"/>
              <a:ext cx="438150"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Freeform 41">
              <a:extLst>
                <a:ext uri="{FF2B5EF4-FFF2-40B4-BE49-F238E27FC236}">
                  <a16:creationId xmlns:a16="http://schemas.microsoft.com/office/drawing/2014/main" id="{1B65BF76-EDD2-2C56-54A8-E39F5DAA2786}"/>
                </a:ext>
              </a:extLst>
            </p:cNvPr>
            <p:cNvSpPr/>
            <p:nvPr/>
          </p:nvSpPr>
          <p:spPr>
            <a:xfrm>
              <a:off x="9750041" y="3554449"/>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Rectangle 42">
              <a:extLst>
                <a:ext uri="{FF2B5EF4-FFF2-40B4-BE49-F238E27FC236}">
                  <a16:creationId xmlns:a16="http://schemas.microsoft.com/office/drawing/2014/main" id="{C0B55A50-367B-9BD5-335D-ED279B8B890F}"/>
                </a:ext>
              </a:extLst>
            </p:cNvPr>
            <p:cNvSpPr/>
            <p:nvPr/>
          </p:nvSpPr>
          <p:spPr>
            <a:xfrm>
              <a:off x="7910339" y="2146282"/>
              <a:ext cx="638581" cy="4556164"/>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968063E-7D7D-8C24-49D0-995A6C12C15A}"/>
                </a:ext>
              </a:extLst>
            </p:cNvPr>
            <p:cNvSpPr/>
            <p:nvPr/>
          </p:nvSpPr>
          <p:spPr>
            <a:xfrm>
              <a:off x="8974640" y="2120882"/>
              <a:ext cx="780488" cy="4581565"/>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51AD9F1-139A-A840-213A-E76B730784DC}"/>
                </a:ext>
              </a:extLst>
            </p:cNvPr>
            <p:cNvSpPr/>
            <p:nvPr/>
          </p:nvSpPr>
          <p:spPr>
            <a:xfrm>
              <a:off x="10535615" y="2078546"/>
              <a:ext cx="780488" cy="4623901"/>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5432AF9-6A83-43D5-0A3C-B474AF217620}"/>
                </a:ext>
              </a:extLst>
            </p:cNvPr>
            <p:cNvSpPr/>
            <p:nvPr/>
          </p:nvSpPr>
          <p:spPr>
            <a:xfrm>
              <a:off x="6699843" y="2075328"/>
              <a:ext cx="645547" cy="4627118"/>
            </a:xfrm>
            <a:prstGeom prst="rect">
              <a:avLst/>
            </a:prstGeom>
            <a:solidFill>
              <a:srgbClr val="92D050">
                <a:alpha val="25000"/>
              </a:srgbClr>
            </a:solidFill>
            <a:ln w="635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a:extLst>
                <a:ext uri="{FF2B5EF4-FFF2-40B4-BE49-F238E27FC236}">
                  <a16:creationId xmlns:a16="http://schemas.microsoft.com/office/drawing/2014/main" id="{1070A999-C9BC-0545-53E9-2F7B80736188}"/>
                </a:ext>
              </a:extLst>
            </p:cNvPr>
            <p:cNvSpPr/>
            <p:nvPr/>
          </p:nvSpPr>
          <p:spPr>
            <a:xfrm>
              <a:off x="5457831" y="2054246"/>
              <a:ext cx="6600419" cy="202118"/>
            </a:xfrm>
            <a:custGeom>
              <a:avLst/>
              <a:gdLst>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0 w 7772400"/>
                <a:gd name="connsiteY4"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794 w 7773194"/>
                <a:gd name="connsiteY0" fmla="*/ 0 h 228600"/>
                <a:gd name="connsiteX1" fmla="*/ 7773194 w 7773194"/>
                <a:gd name="connsiteY1" fmla="*/ 0 h 228600"/>
                <a:gd name="connsiteX2" fmla="*/ 7773194 w 7773194"/>
                <a:gd name="connsiteY2" fmla="*/ 228600 h 228600"/>
                <a:gd name="connsiteX3" fmla="*/ 794 w 7773194"/>
                <a:gd name="connsiteY3" fmla="*/ 228600 h 228600"/>
                <a:gd name="connsiteX4" fmla="*/ 74613 w 7773194"/>
                <a:gd name="connsiteY4" fmla="*/ 69056 h 228600"/>
                <a:gd name="connsiteX5" fmla="*/ 794 w 7773194"/>
                <a:gd name="connsiteY5" fmla="*/ 0 h 228600"/>
                <a:gd name="connsiteX0" fmla="*/ 0 w 7772400"/>
                <a:gd name="connsiteY0" fmla="*/ 0 h 228600"/>
                <a:gd name="connsiteX1" fmla="*/ 7772400 w 7772400"/>
                <a:gd name="connsiteY1" fmla="*/ 0 h 228600"/>
                <a:gd name="connsiteX2" fmla="*/ 7772400 w 7772400"/>
                <a:gd name="connsiteY2" fmla="*/ 228600 h 228600"/>
                <a:gd name="connsiteX3" fmla="*/ 0 w 7772400"/>
                <a:gd name="connsiteY3" fmla="*/ 228600 h 228600"/>
                <a:gd name="connsiteX4" fmla="*/ 73819 w 7772400"/>
                <a:gd name="connsiteY4" fmla="*/ 69056 h 228600"/>
                <a:gd name="connsiteX5" fmla="*/ 0 w 7772400"/>
                <a:gd name="connsiteY5"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859"/>
                <a:gd name="connsiteY0" fmla="*/ 0 h 228600"/>
                <a:gd name="connsiteX1" fmla="*/ 7772400 w 7850859"/>
                <a:gd name="connsiteY1" fmla="*/ 0 h 228600"/>
                <a:gd name="connsiteX2" fmla="*/ 7850024 w 7850859"/>
                <a:gd name="connsiteY2" fmla="*/ 69056 h 228600"/>
                <a:gd name="connsiteX3" fmla="*/ 7772400 w 7850859"/>
                <a:gd name="connsiteY3" fmla="*/ 228600 h 228600"/>
                <a:gd name="connsiteX4" fmla="*/ 0 w 7850859"/>
                <a:gd name="connsiteY4" fmla="*/ 228600 h 228600"/>
                <a:gd name="connsiteX5" fmla="*/ 73819 w 7850859"/>
                <a:gd name="connsiteY5" fmla="*/ 69056 h 228600"/>
                <a:gd name="connsiteX6" fmla="*/ 0 w 7850859"/>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930152"/>
                <a:gd name="connsiteY0" fmla="*/ 0 h 228600"/>
                <a:gd name="connsiteX1" fmla="*/ 7772400 w 7930152"/>
                <a:gd name="connsiteY1" fmla="*/ 0 h 228600"/>
                <a:gd name="connsiteX2" fmla="*/ 7930152 w 7930152"/>
                <a:gd name="connsiteY2" fmla="*/ 69056 h 228600"/>
                <a:gd name="connsiteX3" fmla="*/ 7772400 w 7930152"/>
                <a:gd name="connsiteY3" fmla="*/ 228600 h 228600"/>
                <a:gd name="connsiteX4" fmla="*/ 0 w 7930152"/>
                <a:gd name="connsiteY4" fmla="*/ 228600 h 228600"/>
                <a:gd name="connsiteX5" fmla="*/ 73819 w 7930152"/>
                <a:gd name="connsiteY5" fmla="*/ 69056 h 228600"/>
                <a:gd name="connsiteX6" fmla="*/ 0 w 7930152"/>
                <a:gd name="connsiteY6" fmla="*/ 0 h 228600"/>
                <a:gd name="connsiteX0" fmla="*/ 0 w 7850024"/>
                <a:gd name="connsiteY0" fmla="*/ 0 h 228600"/>
                <a:gd name="connsiteX1" fmla="*/ 7772400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 name="connsiteX0" fmla="*/ 0 w 7850024"/>
                <a:gd name="connsiteY0" fmla="*/ 0 h 228600"/>
                <a:gd name="connsiteX1" fmla="*/ 7772401 w 7850024"/>
                <a:gd name="connsiteY1" fmla="*/ 0 h 228600"/>
                <a:gd name="connsiteX2" fmla="*/ 7850024 w 7850024"/>
                <a:gd name="connsiteY2" fmla="*/ 69056 h 228600"/>
                <a:gd name="connsiteX3" fmla="*/ 7772400 w 7850024"/>
                <a:gd name="connsiteY3" fmla="*/ 228600 h 228600"/>
                <a:gd name="connsiteX4" fmla="*/ 0 w 7850024"/>
                <a:gd name="connsiteY4" fmla="*/ 228600 h 228600"/>
                <a:gd name="connsiteX5" fmla="*/ 73819 w 7850024"/>
                <a:gd name="connsiteY5" fmla="*/ 69056 h 228600"/>
                <a:gd name="connsiteX6" fmla="*/ 0 w 7850024"/>
                <a:gd name="connsiteY6" fmla="*/ 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50024" h="228600">
                  <a:moveTo>
                    <a:pt x="0" y="0"/>
                  </a:moveTo>
                  <a:lnTo>
                    <a:pt x="7772401" y="0"/>
                  </a:lnTo>
                  <a:lnTo>
                    <a:pt x="7850024" y="69056"/>
                  </a:lnTo>
                  <a:lnTo>
                    <a:pt x="7772400" y="228600"/>
                  </a:lnTo>
                  <a:lnTo>
                    <a:pt x="0" y="228600"/>
                  </a:lnTo>
                  <a:lnTo>
                    <a:pt x="73819" y="69056"/>
                  </a:lnTo>
                  <a:lnTo>
                    <a:pt x="0" y="0"/>
                  </a:lnTo>
                  <a:close/>
                </a:path>
              </a:pathLst>
            </a:custGeom>
            <a:solidFill>
              <a:schemeClr val="tx1">
                <a:lumMod val="65000"/>
                <a:lumOff val="35000"/>
              </a:schemeClr>
            </a:solidFill>
            <a:ln w="1270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B1BA979-1933-013F-DE82-22DF97C57F65}"/>
                </a:ext>
              </a:extLst>
            </p:cNvPr>
            <p:cNvSpPr/>
            <p:nvPr/>
          </p:nvSpPr>
          <p:spPr>
            <a:xfrm>
              <a:off x="6704130"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1</a:t>
              </a:r>
            </a:p>
          </p:txBody>
        </p:sp>
        <p:sp>
          <p:nvSpPr>
            <p:cNvPr id="49" name="TextBox 48">
              <a:extLst>
                <a:ext uri="{FF2B5EF4-FFF2-40B4-BE49-F238E27FC236}">
                  <a16:creationId xmlns:a16="http://schemas.microsoft.com/office/drawing/2014/main" id="{C5794F8C-071A-2D13-5402-AA735F49D43F}"/>
                </a:ext>
              </a:extLst>
            </p:cNvPr>
            <p:cNvSpPr txBox="1"/>
            <p:nvPr/>
          </p:nvSpPr>
          <p:spPr>
            <a:xfrm>
              <a:off x="5017937" y="2456413"/>
              <a:ext cx="1552934" cy="523220"/>
            </a:xfrm>
            <a:prstGeom prst="rect">
              <a:avLst/>
            </a:prstGeom>
            <a:noFill/>
          </p:spPr>
          <p:txBody>
            <a:bodyPr wrap="square" rtlCol="0">
              <a:spAutoFit/>
            </a:bodyPr>
            <a:lstStyle/>
            <a:p>
              <a:pPr algn="ctr"/>
              <a:r>
                <a:rPr lang="en-US" sz="1400">
                  <a:solidFill>
                    <a:srgbClr val="008000"/>
                  </a:solidFill>
                </a:rPr>
                <a:t>Reference</a:t>
              </a:r>
            </a:p>
            <a:p>
              <a:pPr algn="ctr"/>
              <a:r>
                <a:rPr lang="en-US" sz="1400">
                  <a:solidFill>
                    <a:srgbClr val="008000"/>
                  </a:solidFill>
                </a:rPr>
                <a:t>transcripts</a:t>
              </a:r>
            </a:p>
          </p:txBody>
        </p:sp>
        <p:sp>
          <p:nvSpPr>
            <p:cNvPr id="50" name="TextBox 49">
              <a:extLst>
                <a:ext uri="{FF2B5EF4-FFF2-40B4-BE49-F238E27FC236}">
                  <a16:creationId xmlns:a16="http://schemas.microsoft.com/office/drawing/2014/main" id="{CFE8907E-FF3B-FF1C-91B2-54C6B5963363}"/>
                </a:ext>
              </a:extLst>
            </p:cNvPr>
            <p:cNvSpPr txBox="1"/>
            <p:nvPr/>
          </p:nvSpPr>
          <p:spPr>
            <a:xfrm>
              <a:off x="5290628" y="3434795"/>
              <a:ext cx="979755" cy="523220"/>
            </a:xfrm>
            <a:prstGeom prst="rect">
              <a:avLst/>
            </a:prstGeom>
            <a:noFill/>
          </p:spPr>
          <p:txBody>
            <a:bodyPr wrap="none" rtlCol="0">
              <a:spAutoFit/>
            </a:bodyPr>
            <a:lstStyle/>
            <a:p>
              <a:pPr algn="ctr"/>
              <a:r>
                <a:rPr lang="en-US" sz="1400" b="1">
                  <a:solidFill>
                    <a:srgbClr val="0070C0"/>
                  </a:solidFill>
                </a:rPr>
                <a:t>Sample 1</a:t>
              </a:r>
              <a:endParaRPr lang="en-US" sz="1400">
                <a:solidFill>
                  <a:srgbClr val="0070C0"/>
                </a:solidFill>
              </a:endParaRPr>
            </a:p>
            <a:p>
              <a:pPr algn="ctr"/>
              <a:r>
                <a:rPr lang="ro-RO" sz="1400">
                  <a:solidFill>
                    <a:srgbClr val="0070C0"/>
                  </a:solidFill>
                </a:rPr>
                <a:t>transfrags</a:t>
              </a:r>
              <a:endParaRPr lang="en-US" sz="1400">
                <a:solidFill>
                  <a:srgbClr val="0070C0"/>
                </a:solidFill>
              </a:endParaRPr>
            </a:p>
          </p:txBody>
        </p:sp>
        <p:sp>
          <p:nvSpPr>
            <p:cNvPr id="51" name="Left Brace 50">
              <a:extLst>
                <a:ext uri="{FF2B5EF4-FFF2-40B4-BE49-F238E27FC236}">
                  <a16:creationId xmlns:a16="http://schemas.microsoft.com/office/drawing/2014/main" id="{A2FEF5E8-364F-C906-98D3-52C8CE3ECD8C}"/>
                </a:ext>
              </a:extLst>
            </p:cNvPr>
            <p:cNvSpPr/>
            <p:nvPr/>
          </p:nvSpPr>
          <p:spPr>
            <a:xfrm>
              <a:off x="6298418" y="3273151"/>
              <a:ext cx="204346" cy="841571"/>
            </a:xfrm>
            <a:prstGeom prst="leftBrace">
              <a:avLst>
                <a:gd name="adj1" fmla="val 26920"/>
                <a:gd name="adj2" fmla="val 50000"/>
              </a:avLst>
            </a:prstGeom>
            <a:ln w="25400" cap="rnd">
              <a:solidFill>
                <a:schemeClr val="tx2">
                  <a:lumMod val="60000"/>
                  <a:lumOff val="40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52" name="TextBox 51">
              <a:extLst>
                <a:ext uri="{FF2B5EF4-FFF2-40B4-BE49-F238E27FC236}">
                  <a16:creationId xmlns:a16="http://schemas.microsoft.com/office/drawing/2014/main" id="{17B4C4E0-657D-8B65-ADE1-C01956249667}"/>
                </a:ext>
              </a:extLst>
            </p:cNvPr>
            <p:cNvSpPr txBox="1"/>
            <p:nvPr/>
          </p:nvSpPr>
          <p:spPr>
            <a:xfrm>
              <a:off x="5290628" y="4371635"/>
              <a:ext cx="979755" cy="523220"/>
            </a:xfrm>
            <a:prstGeom prst="rect">
              <a:avLst/>
            </a:prstGeom>
            <a:noFill/>
          </p:spPr>
          <p:txBody>
            <a:bodyPr wrap="none" rtlCol="0">
              <a:spAutoFit/>
            </a:bodyPr>
            <a:lstStyle/>
            <a:p>
              <a:pPr algn="ctr"/>
              <a:r>
                <a:rPr lang="en-US" sz="1400" b="1" dirty="0">
                  <a:solidFill>
                    <a:schemeClr val="accent2">
                      <a:lumMod val="75000"/>
                    </a:schemeClr>
                  </a:solidFill>
                </a:rPr>
                <a:t>Sample 2</a:t>
              </a:r>
            </a:p>
            <a:p>
              <a:pPr algn="ctr"/>
              <a:r>
                <a:rPr lang="ro-RO" sz="1400" dirty="0">
                  <a:solidFill>
                    <a:schemeClr val="accent2">
                      <a:lumMod val="75000"/>
                    </a:schemeClr>
                  </a:solidFill>
                </a:rPr>
                <a:t>transfrags</a:t>
              </a:r>
              <a:endParaRPr lang="en-US" sz="1400" dirty="0">
                <a:solidFill>
                  <a:schemeClr val="accent2">
                    <a:lumMod val="75000"/>
                  </a:schemeClr>
                </a:solidFill>
              </a:endParaRPr>
            </a:p>
          </p:txBody>
        </p:sp>
        <p:sp>
          <p:nvSpPr>
            <p:cNvPr id="53" name="Left Brace 52">
              <a:extLst>
                <a:ext uri="{FF2B5EF4-FFF2-40B4-BE49-F238E27FC236}">
                  <a16:creationId xmlns:a16="http://schemas.microsoft.com/office/drawing/2014/main" id="{EDFF5C10-F75D-D83F-3672-656B821A0DFF}"/>
                </a:ext>
              </a:extLst>
            </p:cNvPr>
            <p:cNvSpPr/>
            <p:nvPr/>
          </p:nvSpPr>
          <p:spPr>
            <a:xfrm>
              <a:off x="6298418" y="4290255"/>
              <a:ext cx="213017" cy="610818"/>
            </a:xfrm>
            <a:prstGeom prst="leftBrace">
              <a:avLst>
                <a:gd name="adj1" fmla="val 31567"/>
                <a:gd name="adj2" fmla="val 50000"/>
              </a:avLst>
            </a:prstGeom>
            <a:ln w="25400" cap="rnd">
              <a:solidFill>
                <a:schemeClr val="accent2">
                  <a:lumMod val="75000"/>
                </a:schemeClr>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accent2">
                    <a:lumMod val="75000"/>
                  </a:schemeClr>
                </a:solidFill>
              </a:endParaRPr>
            </a:p>
          </p:txBody>
        </p:sp>
        <p:sp>
          <p:nvSpPr>
            <p:cNvPr id="54" name="Rectangle 53">
              <a:extLst>
                <a:ext uri="{FF2B5EF4-FFF2-40B4-BE49-F238E27FC236}">
                  <a16:creationId xmlns:a16="http://schemas.microsoft.com/office/drawing/2014/main" id="{71703B34-DF27-4749-53DB-6A01EA9BCCB4}"/>
                </a:ext>
              </a:extLst>
            </p:cNvPr>
            <p:cNvSpPr/>
            <p:nvPr/>
          </p:nvSpPr>
          <p:spPr>
            <a:xfrm>
              <a:off x="7910339" y="2054246"/>
              <a:ext cx="638581"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2</a:t>
              </a:r>
            </a:p>
          </p:txBody>
        </p:sp>
        <p:sp>
          <p:nvSpPr>
            <p:cNvPr id="55" name="Rectangle 54">
              <a:extLst>
                <a:ext uri="{FF2B5EF4-FFF2-40B4-BE49-F238E27FC236}">
                  <a16:creationId xmlns:a16="http://schemas.microsoft.com/office/drawing/2014/main" id="{567F87D4-54C3-5A80-26A7-1BC65C824053}"/>
                </a:ext>
              </a:extLst>
            </p:cNvPr>
            <p:cNvSpPr/>
            <p:nvPr/>
          </p:nvSpPr>
          <p:spPr>
            <a:xfrm>
              <a:off x="8974639"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3</a:t>
              </a:r>
            </a:p>
          </p:txBody>
        </p:sp>
        <p:sp>
          <p:nvSpPr>
            <p:cNvPr id="56" name="Rectangle 55">
              <a:extLst>
                <a:ext uri="{FF2B5EF4-FFF2-40B4-BE49-F238E27FC236}">
                  <a16:creationId xmlns:a16="http://schemas.microsoft.com/office/drawing/2014/main" id="{105E8102-95E7-ED66-0380-BC7F4AC961D3}"/>
                </a:ext>
              </a:extLst>
            </p:cNvPr>
            <p:cNvSpPr/>
            <p:nvPr/>
          </p:nvSpPr>
          <p:spPr>
            <a:xfrm>
              <a:off x="10535615" y="2054246"/>
              <a:ext cx="780488" cy="208542"/>
            </a:xfrm>
            <a:prstGeom prst="rect">
              <a:avLst/>
            </a:prstGeom>
            <a:solidFill>
              <a:srgbClr val="00B050"/>
            </a:solidFill>
            <a:ln>
              <a:noFill/>
            </a:ln>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b="1" err="1"/>
                <a:t>exon</a:t>
              </a:r>
              <a:r>
                <a:rPr lang="en-US" sz="1100" b="1"/>
                <a:t> 4</a:t>
              </a:r>
            </a:p>
          </p:txBody>
        </p:sp>
        <p:sp>
          <p:nvSpPr>
            <p:cNvPr id="57" name="Rectangle 56">
              <a:extLst>
                <a:ext uri="{FF2B5EF4-FFF2-40B4-BE49-F238E27FC236}">
                  <a16:creationId xmlns:a16="http://schemas.microsoft.com/office/drawing/2014/main" id="{3A521E01-B42C-2580-39E0-3E8E3E4B4254}"/>
                </a:ext>
              </a:extLst>
            </p:cNvPr>
            <p:cNvSpPr/>
            <p:nvPr/>
          </p:nvSpPr>
          <p:spPr>
            <a:xfrm>
              <a:off x="8974640" y="4371635"/>
              <a:ext cx="709535"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6C02B0C-E033-15B8-8607-1CE3248D3BEE}"/>
                </a:ext>
              </a:extLst>
            </p:cNvPr>
            <p:cNvSpPr/>
            <p:nvPr/>
          </p:nvSpPr>
          <p:spPr>
            <a:xfrm>
              <a:off x="7912443" y="3604823"/>
              <a:ext cx="636476"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930C950-75EA-148A-4977-1FD1BF0541A6}"/>
                </a:ext>
              </a:extLst>
            </p:cNvPr>
            <p:cNvSpPr/>
            <p:nvPr/>
          </p:nvSpPr>
          <p:spPr>
            <a:xfrm>
              <a:off x="6846036" y="4371635"/>
              <a:ext cx="496674"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5678E05-4883-D075-6077-FD19F6A1667E}"/>
                </a:ext>
              </a:extLst>
            </p:cNvPr>
            <p:cNvSpPr/>
            <p:nvPr/>
          </p:nvSpPr>
          <p:spPr>
            <a:xfrm>
              <a:off x="8974639" y="3604823"/>
              <a:ext cx="780488"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5C98F7C6-8C5A-F3C4-B3FB-18DB726B31EE}"/>
                </a:ext>
              </a:extLst>
            </p:cNvPr>
            <p:cNvSpPr/>
            <p:nvPr/>
          </p:nvSpPr>
          <p:spPr>
            <a:xfrm>
              <a:off x="10535616" y="3604823"/>
              <a:ext cx="658591"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2775DE4-B806-512E-D4EB-FEE9419063F2}"/>
                </a:ext>
              </a:extLst>
            </p:cNvPr>
            <p:cNvSpPr/>
            <p:nvPr/>
          </p:nvSpPr>
          <p:spPr>
            <a:xfrm>
              <a:off x="8194153" y="4042147"/>
              <a:ext cx="354767"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2C8354E-5ADB-252B-979B-585FC6F06161}"/>
                </a:ext>
              </a:extLst>
            </p:cNvPr>
            <p:cNvSpPr/>
            <p:nvPr/>
          </p:nvSpPr>
          <p:spPr>
            <a:xfrm>
              <a:off x="10535615" y="4042147"/>
              <a:ext cx="516684"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162DCCD-B05F-E8B9-2310-1940E7DF7226}"/>
                </a:ext>
              </a:extLst>
            </p:cNvPr>
            <p:cNvSpPr/>
            <p:nvPr/>
          </p:nvSpPr>
          <p:spPr>
            <a:xfrm>
              <a:off x="79103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F606E168-6191-A175-DECB-4587F2DB4E04}"/>
                </a:ext>
              </a:extLst>
            </p:cNvPr>
            <p:cNvSpPr/>
            <p:nvPr/>
          </p:nvSpPr>
          <p:spPr>
            <a:xfrm>
              <a:off x="6795091" y="4797356"/>
              <a:ext cx="547618"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86034A0-5A37-81B2-ACC3-20193FE79471}"/>
                </a:ext>
              </a:extLst>
            </p:cNvPr>
            <p:cNvSpPr/>
            <p:nvPr/>
          </p:nvSpPr>
          <p:spPr>
            <a:xfrm>
              <a:off x="8974640" y="4797356"/>
              <a:ext cx="638581" cy="93659"/>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Left Brace 66">
              <a:extLst>
                <a:ext uri="{FF2B5EF4-FFF2-40B4-BE49-F238E27FC236}">
                  <a16:creationId xmlns:a16="http://schemas.microsoft.com/office/drawing/2014/main" id="{8F66670E-D1AD-CB9F-3F55-ECBCD220DEF3}"/>
                </a:ext>
              </a:extLst>
            </p:cNvPr>
            <p:cNvSpPr/>
            <p:nvPr/>
          </p:nvSpPr>
          <p:spPr>
            <a:xfrm>
              <a:off x="6298418" y="2366842"/>
              <a:ext cx="204346" cy="747387"/>
            </a:xfrm>
            <a:prstGeom prst="leftBrace">
              <a:avLst>
                <a:gd name="adj1" fmla="val 26920"/>
                <a:gd name="adj2" fmla="val 50000"/>
              </a:avLst>
            </a:prstGeom>
            <a:ln w="25400" cap="rnd">
              <a:solidFill>
                <a:srgbClr val="00B050"/>
              </a:solidFill>
              <a:prstDash val="solid"/>
            </a:ln>
            <a:effectLst>
              <a:outerShdw blurRad="127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p:sp>
          <p:nvSpPr>
            <p:cNvPr id="68" name="Rectangle 67">
              <a:extLst>
                <a:ext uri="{FF2B5EF4-FFF2-40B4-BE49-F238E27FC236}">
                  <a16:creationId xmlns:a16="http://schemas.microsoft.com/office/drawing/2014/main" id="{48A32A10-9345-D13C-E7F4-307C818333E1}"/>
                </a:ext>
              </a:extLst>
            </p:cNvPr>
            <p:cNvSpPr/>
            <p:nvPr/>
          </p:nvSpPr>
          <p:spPr>
            <a:xfrm>
              <a:off x="7910823" y="2475649"/>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6193081-68D3-F93A-B112-242988B784DC}"/>
                </a:ext>
              </a:extLst>
            </p:cNvPr>
            <p:cNvSpPr/>
            <p:nvPr/>
          </p:nvSpPr>
          <p:spPr>
            <a:xfrm>
              <a:off x="8979189" y="2475649"/>
              <a:ext cx="76922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31F3918B-AB26-4752-D32E-74BA7FBADF03}"/>
                </a:ext>
              </a:extLst>
            </p:cNvPr>
            <p:cNvSpPr/>
            <p:nvPr/>
          </p:nvSpPr>
          <p:spPr>
            <a:xfrm>
              <a:off x="10536299" y="2475649"/>
              <a:ext cx="77743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DB7BE5E5-EF79-394F-3B8B-7C391ABD36EB}"/>
                </a:ext>
              </a:extLst>
            </p:cNvPr>
            <p:cNvSpPr/>
            <p:nvPr/>
          </p:nvSpPr>
          <p:spPr>
            <a:xfrm>
              <a:off x="6699844" y="2475649"/>
              <a:ext cx="632255"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0F96E96-3B67-B2C3-D534-9AD800BC57CD}"/>
                </a:ext>
              </a:extLst>
            </p:cNvPr>
            <p:cNvSpPr/>
            <p:nvPr/>
          </p:nvSpPr>
          <p:spPr>
            <a:xfrm>
              <a:off x="7906030" y="2972323"/>
              <a:ext cx="634454"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7E7978C-0078-2741-9A12-A62E5A3E8DA8}"/>
                </a:ext>
              </a:extLst>
            </p:cNvPr>
            <p:cNvSpPr/>
            <p:nvPr/>
          </p:nvSpPr>
          <p:spPr>
            <a:xfrm>
              <a:off x="10528926" y="2972323"/>
              <a:ext cx="780012"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66BDCC5C-5FDB-9C19-D04E-8542B136CB41}"/>
                </a:ext>
              </a:extLst>
            </p:cNvPr>
            <p:cNvSpPr/>
            <p:nvPr/>
          </p:nvSpPr>
          <p:spPr>
            <a:xfrm>
              <a:off x="6699844" y="2972323"/>
              <a:ext cx="639409" cy="93659"/>
            </a:xfrm>
            <a:prstGeom prst="rect">
              <a:avLst/>
            </a:prstGeom>
            <a:gradFill>
              <a:gsLst>
                <a:gs pos="0">
                  <a:schemeClr val="accent3">
                    <a:lumMod val="20000"/>
                    <a:lumOff val="80000"/>
                  </a:schemeClr>
                </a:gs>
                <a:gs pos="25000">
                  <a:srgbClr val="00B05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0AFEF34D-0E87-C4BF-F2BB-4D0AEF6F6C7C}"/>
                </a:ext>
              </a:extLst>
            </p:cNvPr>
            <p:cNvSpPr/>
            <p:nvPr/>
          </p:nvSpPr>
          <p:spPr>
            <a:xfrm>
              <a:off x="6936999" y="3327090"/>
              <a:ext cx="70075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013CD7BF-A43A-5340-A420-F7C7C86CF9F4}"/>
                </a:ext>
              </a:extLst>
            </p:cNvPr>
            <p:cNvSpPr txBox="1"/>
            <p:nvPr/>
          </p:nvSpPr>
          <p:spPr>
            <a:xfrm>
              <a:off x="11280342" y="2358737"/>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1</a:t>
              </a:r>
            </a:p>
          </p:txBody>
        </p:sp>
        <p:sp>
          <p:nvSpPr>
            <p:cNvPr id="77" name="TextBox 76">
              <a:extLst>
                <a:ext uri="{FF2B5EF4-FFF2-40B4-BE49-F238E27FC236}">
                  <a16:creationId xmlns:a16="http://schemas.microsoft.com/office/drawing/2014/main" id="{680A79AB-3922-6CBA-9AAD-8F707DDD0F3C}"/>
                </a:ext>
              </a:extLst>
            </p:cNvPr>
            <p:cNvSpPr txBox="1"/>
            <p:nvPr/>
          </p:nvSpPr>
          <p:spPr>
            <a:xfrm>
              <a:off x="11280342" y="2870691"/>
              <a:ext cx="816249" cy="276999"/>
            </a:xfrm>
            <a:prstGeom prst="rect">
              <a:avLst/>
            </a:prstGeom>
            <a:noFill/>
            <a:ln>
              <a:noFill/>
            </a:ln>
          </p:spPr>
          <p:txBody>
            <a:bodyPr wrap="none" rtlCol="0">
              <a:spAutoFit/>
            </a:bodyPr>
            <a:lstStyle/>
            <a:p>
              <a:r>
                <a:rPr lang="en-US" sz="1200" err="1">
                  <a:solidFill>
                    <a:srgbClr val="008000"/>
                  </a:solidFill>
                </a:rPr>
                <a:t>isoform</a:t>
              </a:r>
              <a:r>
                <a:rPr lang="en-US" sz="1200">
                  <a:solidFill>
                    <a:srgbClr val="008000"/>
                  </a:solidFill>
                </a:rPr>
                <a:t> 2</a:t>
              </a:r>
            </a:p>
          </p:txBody>
        </p:sp>
        <p:sp>
          <p:nvSpPr>
            <p:cNvPr id="78" name="Rectangle 77">
              <a:extLst>
                <a:ext uri="{FF2B5EF4-FFF2-40B4-BE49-F238E27FC236}">
                  <a16:creationId xmlns:a16="http://schemas.microsoft.com/office/drawing/2014/main" id="{61E3C8BA-E95B-BE58-728E-0B6216D87EFC}"/>
                </a:ext>
              </a:extLst>
            </p:cNvPr>
            <p:cNvSpPr/>
            <p:nvPr/>
          </p:nvSpPr>
          <p:spPr>
            <a:xfrm>
              <a:off x="9846091" y="3327090"/>
              <a:ext cx="425721" cy="93659"/>
            </a:xfrm>
            <a:prstGeom prst="rect">
              <a:avLst/>
            </a:prstGeom>
            <a:gradFill>
              <a:gsLst>
                <a:gs pos="0">
                  <a:schemeClr val="accent1">
                    <a:lumMod val="20000"/>
                    <a:lumOff val="80000"/>
                  </a:schemeClr>
                </a:gs>
                <a:gs pos="25000">
                  <a:srgbClr val="0070C0"/>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75C05A3D-DE08-D841-6A03-1E65E436746C}"/>
                </a:ext>
              </a:extLst>
            </p:cNvPr>
            <p:cNvSpPr/>
            <p:nvPr/>
          </p:nvSpPr>
          <p:spPr>
            <a:xfrm>
              <a:off x="10616572" y="4571584"/>
              <a:ext cx="496674" cy="110304"/>
            </a:xfrm>
            <a:prstGeom prst="rect">
              <a:avLst/>
            </a:prstGeom>
            <a:gradFill>
              <a:gsLst>
                <a:gs pos="0">
                  <a:schemeClr val="accent2">
                    <a:lumMod val="20000"/>
                    <a:lumOff val="80000"/>
                  </a:schemeClr>
                </a:gs>
                <a:gs pos="25000">
                  <a:srgbClr val="C00000"/>
                </a:gs>
                <a:gs pos="100000">
                  <a:schemeClr val="accent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B664D6E1-272B-7E2C-E629-46A83CA0DB16}"/>
                </a:ext>
              </a:extLst>
            </p:cNvPr>
            <p:cNvSpPr/>
            <p:nvPr/>
          </p:nvSpPr>
          <p:spPr>
            <a:xfrm>
              <a:off x="6991734" y="3604612"/>
              <a:ext cx="347110" cy="93659"/>
            </a:xfrm>
            <a:prstGeom prst="rect">
              <a:avLst/>
            </a:prstGeom>
            <a:gradFill>
              <a:gsLst>
                <a:gs pos="0">
                  <a:schemeClr val="accent1">
                    <a:lumMod val="20000"/>
                    <a:lumOff val="80000"/>
                  </a:schemeClr>
                </a:gs>
                <a:gs pos="25000">
                  <a:srgbClr val="0070C0"/>
                </a:gs>
                <a:gs pos="100000">
                  <a:schemeClr val="tx2">
                    <a:lumMod val="50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ight Arrow 80">
              <a:extLst>
                <a:ext uri="{FF2B5EF4-FFF2-40B4-BE49-F238E27FC236}">
                  <a16:creationId xmlns:a16="http://schemas.microsoft.com/office/drawing/2014/main" id="{6B734BE7-D881-5F29-801C-9EB38BDDADF6}"/>
                </a:ext>
              </a:extLst>
            </p:cNvPr>
            <p:cNvSpPr/>
            <p:nvPr/>
          </p:nvSpPr>
          <p:spPr>
            <a:xfrm rot="5400000">
              <a:off x="5592228" y="5175620"/>
              <a:ext cx="376550" cy="382205"/>
            </a:xfrm>
            <a:prstGeom prst="rightArrow">
              <a:avLst>
                <a:gd name="adj1" fmla="val 41477"/>
                <a:gd name="adj2" fmla="val 48476"/>
              </a:avLst>
            </a:prstGeom>
            <a:solidFill>
              <a:srgbClr val="00B050"/>
            </a:solidFill>
            <a:ln>
              <a:solidFill>
                <a:srgbClr val="00B050"/>
              </a:solidFill>
            </a:ln>
            <a:effectLst>
              <a:outerShdw blurRad="50800" dist="38100" dir="2700000" algn="tl" rotWithShape="0">
                <a:prstClr val="black">
                  <a:alpha val="40000"/>
                </a:prstClr>
              </a:outerShdw>
            </a:effectLst>
            <a:scene3d>
              <a:camera prst="orthographicFront"/>
              <a:lightRig rig="threePt" dir="t">
                <a:rot lat="0" lon="0" rev="15000000"/>
              </a:lightRig>
            </a:scene3d>
            <a:sp3d>
              <a:bevelT w="44450" h="444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a:extLst>
                <a:ext uri="{FF2B5EF4-FFF2-40B4-BE49-F238E27FC236}">
                  <a16:creationId xmlns:a16="http://schemas.microsoft.com/office/drawing/2014/main" id="{3B76F169-3CE8-AA2A-37FA-FA6BC14202AE}"/>
                </a:ext>
              </a:extLst>
            </p:cNvPr>
            <p:cNvSpPr/>
            <p:nvPr/>
          </p:nvSpPr>
          <p:spPr>
            <a:xfrm>
              <a:off x="7339330" y="5706622"/>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Freeform 82">
              <a:extLst>
                <a:ext uri="{FF2B5EF4-FFF2-40B4-BE49-F238E27FC236}">
                  <a16:creationId xmlns:a16="http://schemas.microsoft.com/office/drawing/2014/main" id="{A2578E0C-3211-14DE-20ED-28E909EB74AD}"/>
                </a:ext>
              </a:extLst>
            </p:cNvPr>
            <p:cNvSpPr/>
            <p:nvPr/>
          </p:nvSpPr>
          <p:spPr>
            <a:xfrm>
              <a:off x="8550910" y="5706622"/>
              <a:ext cx="438150" cy="10287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a:extLst>
                <a:ext uri="{FF2B5EF4-FFF2-40B4-BE49-F238E27FC236}">
                  <a16:creationId xmlns:a16="http://schemas.microsoft.com/office/drawing/2014/main" id="{2A569EEB-6A9F-7773-7264-668004C7E332}"/>
                </a:ext>
              </a:extLst>
            </p:cNvPr>
            <p:cNvSpPr/>
            <p:nvPr/>
          </p:nvSpPr>
          <p:spPr>
            <a:xfrm>
              <a:off x="9749262" y="5710432"/>
              <a:ext cx="798088" cy="9906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Rectangle 84">
              <a:extLst>
                <a:ext uri="{FF2B5EF4-FFF2-40B4-BE49-F238E27FC236}">
                  <a16:creationId xmlns:a16="http://schemas.microsoft.com/office/drawing/2014/main" id="{36262B9E-D00C-7F29-AB5B-CC9E15F695CB}"/>
                </a:ext>
              </a:extLst>
            </p:cNvPr>
            <p:cNvSpPr/>
            <p:nvPr/>
          </p:nvSpPr>
          <p:spPr>
            <a:xfrm>
              <a:off x="7913854" y="5763202"/>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E7B8B456-182E-1390-4FDE-B69FC64DEC65}"/>
                </a:ext>
              </a:extLst>
            </p:cNvPr>
            <p:cNvSpPr/>
            <p:nvPr/>
          </p:nvSpPr>
          <p:spPr>
            <a:xfrm>
              <a:off x="8982220" y="5763202"/>
              <a:ext cx="769229"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F39F2594-426F-3CE3-7B31-69AF77CB8BDA}"/>
                </a:ext>
              </a:extLst>
            </p:cNvPr>
            <p:cNvSpPr/>
            <p:nvPr/>
          </p:nvSpPr>
          <p:spPr>
            <a:xfrm>
              <a:off x="10539330" y="5763202"/>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3703A860-11AF-A4DD-3472-CAD9B9C5E860}"/>
                </a:ext>
              </a:extLst>
            </p:cNvPr>
            <p:cNvSpPr/>
            <p:nvPr/>
          </p:nvSpPr>
          <p:spPr>
            <a:xfrm>
              <a:off x="6702875" y="5763202"/>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a:extLst>
                <a:ext uri="{FF2B5EF4-FFF2-40B4-BE49-F238E27FC236}">
                  <a16:creationId xmlns:a16="http://schemas.microsoft.com/office/drawing/2014/main" id="{BB838F19-8F30-1C09-F399-2CC149F2070D}"/>
                </a:ext>
              </a:extLst>
            </p:cNvPr>
            <p:cNvSpPr/>
            <p:nvPr/>
          </p:nvSpPr>
          <p:spPr>
            <a:xfrm>
              <a:off x="7337085" y="6012677"/>
              <a:ext cx="570520" cy="97720"/>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0" name="Rectangle 89">
              <a:extLst>
                <a:ext uri="{FF2B5EF4-FFF2-40B4-BE49-F238E27FC236}">
                  <a16:creationId xmlns:a16="http://schemas.microsoft.com/office/drawing/2014/main" id="{FDF01C0E-9B35-DBCC-4E63-2674C00DD779}"/>
                </a:ext>
              </a:extLst>
            </p:cNvPr>
            <p:cNvSpPr/>
            <p:nvPr/>
          </p:nvSpPr>
          <p:spPr>
            <a:xfrm>
              <a:off x="6700630" y="6069257"/>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a:extLst>
                <a:ext uri="{FF2B5EF4-FFF2-40B4-BE49-F238E27FC236}">
                  <a16:creationId xmlns:a16="http://schemas.microsoft.com/office/drawing/2014/main" id="{85C8672E-10B0-7A17-3F90-FD9FC70EA05A}"/>
                </a:ext>
              </a:extLst>
            </p:cNvPr>
            <p:cNvSpPr/>
            <p:nvPr/>
          </p:nvSpPr>
          <p:spPr>
            <a:xfrm>
              <a:off x="8548920" y="6011337"/>
              <a:ext cx="1980006" cy="104748"/>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2" name="Rectangle 91">
              <a:extLst>
                <a:ext uri="{FF2B5EF4-FFF2-40B4-BE49-F238E27FC236}">
                  <a16:creationId xmlns:a16="http://schemas.microsoft.com/office/drawing/2014/main" id="{422990F8-B286-8813-4757-995BE965CA6B}"/>
                </a:ext>
              </a:extLst>
            </p:cNvPr>
            <p:cNvSpPr/>
            <p:nvPr/>
          </p:nvSpPr>
          <p:spPr>
            <a:xfrm>
              <a:off x="7911609" y="6069257"/>
              <a:ext cx="634454"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3763C6F0-0D93-002C-B562-F86EF6FD2D3D}"/>
                </a:ext>
              </a:extLst>
            </p:cNvPr>
            <p:cNvSpPr/>
            <p:nvPr/>
          </p:nvSpPr>
          <p:spPr>
            <a:xfrm>
              <a:off x="10537085" y="6069257"/>
              <a:ext cx="777432"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93">
              <a:extLst>
                <a:ext uri="{FF2B5EF4-FFF2-40B4-BE49-F238E27FC236}">
                  <a16:creationId xmlns:a16="http://schemas.microsoft.com/office/drawing/2014/main" id="{1BB0917A-FA89-42E0-E9BB-EAB26DB79904}"/>
                </a:ext>
              </a:extLst>
            </p:cNvPr>
            <p:cNvSpPr/>
            <p:nvPr/>
          </p:nvSpPr>
          <p:spPr>
            <a:xfrm>
              <a:off x="7328865" y="6359010"/>
              <a:ext cx="1641924" cy="138519"/>
            </a:xfrm>
            <a:custGeom>
              <a:avLst/>
              <a:gdLst>
                <a:gd name="connsiteX0" fmla="*/ 0 w 606175"/>
                <a:gd name="connsiteY0" fmla="*/ 133564 h 143838"/>
                <a:gd name="connsiteX1" fmla="*/ 328773 w 606175"/>
                <a:gd name="connsiteY1" fmla="*/ 0 h 143838"/>
                <a:gd name="connsiteX2" fmla="*/ 606175 w 606175"/>
                <a:gd name="connsiteY2" fmla="*/ 143838 h 143838"/>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06175"/>
                <a:gd name="connsiteY0" fmla="*/ 132876 h 143150"/>
                <a:gd name="connsiteX1" fmla="*/ 292850 w 606175"/>
                <a:gd name="connsiteY1" fmla="*/ 0 h 143150"/>
                <a:gd name="connsiteX2" fmla="*/ 606175 w 606175"/>
                <a:gd name="connsiteY2" fmla="*/ 143150 h 143150"/>
                <a:gd name="connsiteX0" fmla="*/ 0 w 612706"/>
                <a:gd name="connsiteY0" fmla="*/ 147314 h 147314"/>
                <a:gd name="connsiteX1" fmla="*/ 299381 w 612706"/>
                <a:gd name="connsiteY1" fmla="*/ 0 h 147314"/>
                <a:gd name="connsiteX2" fmla="*/ 612706 w 612706"/>
                <a:gd name="connsiteY2" fmla="*/ 143150 h 147314"/>
              </a:gdLst>
              <a:ahLst/>
              <a:cxnLst>
                <a:cxn ang="0">
                  <a:pos x="connsiteX0" y="connsiteY0"/>
                </a:cxn>
                <a:cxn ang="0">
                  <a:pos x="connsiteX1" y="connsiteY1"/>
                </a:cxn>
                <a:cxn ang="0">
                  <a:pos x="connsiteX2" y="connsiteY2"/>
                </a:cxn>
              </a:cxnLst>
              <a:rect l="l" t="t" r="r" b="b"/>
              <a:pathLst>
                <a:path w="612706" h="147314">
                  <a:moveTo>
                    <a:pt x="0" y="147314"/>
                  </a:moveTo>
                  <a:lnTo>
                    <a:pt x="299381" y="0"/>
                  </a:lnTo>
                  <a:lnTo>
                    <a:pt x="612706" y="143150"/>
                  </a:lnTo>
                </a:path>
              </a:pathLst>
            </a:custGeom>
            <a:ln w="1270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6" name="Rectangle 95">
              <a:extLst>
                <a:ext uri="{FF2B5EF4-FFF2-40B4-BE49-F238E27FC236}">
                  <a16:creationId xmlns:a16="http://schemas.microsoft.com/office/drawing/2014/main" id="{56459A12-1517-9433-F913-45688FE9C168}"/>
                </a:ext>
              </a:extLst>
            </p:cNvPr>
            <p:cNvSpPr/>
            <p:nvPr/>
          </p:nvSpPr>
          <p:spPr>
            <a:xfrm>
              <a:off x="8971755" y="6456388"/>
              <a:ext cx="712420" cy="107777"/>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7AD7231A-C4F1-3843-4468-DEAB1C09C615}"/>
                </a:ext>
              </a:extLst>
            </p:cNvPr>
            <p:cNvSpPr/>
            <p:nvPr/>
          </p:nvSpPr>
          <p:spPr>
            <a:xfrm>
              <a:off x="6692410" y="6456388"/>
              <a:ext cx="632255" cy="93659"/>
            </a:xfrm>
            <a:prstGeom prst="rect">
              <a:avLst/>
            </a:prstGeom>
            <a:gradFill>
              <a:gsLst>
                <a:gs pos="0">
                  <a:schemeClr val="accent3">
                    <a:lumMod val="20000"/>
                    <a:lumOff val="80000"/>
                  </a:schemeClr>
                </a:gs>
                <a:gs pos="12000">
                  <a:schemeClr val="accent4">
                    <a:lumMod val="60000"/>
                    <a:lumOff val="40000"/>
                  </a:schemeClr>
                </a:gs>
                <a:gs pos="60640">
                  <a:schemeClr val="accent4">
                    <a:lumMod val="50000"/>
                  </a:schemeClr>
                </a:gs>
                <a:gs pos="100000">
                  <a:schemeClr val="tx1">
                    <a:lumMod val="95000"/>
                    <a:lumOff val="5000"/>
                  </a:schemeClr>
                </a:gs>
              </a:gsLst>
              <a:lin ang="5400000" scaled="0"/>
            </a:gradFill>
            <a:ln w="12700">
              <a:solidFill>
                <a:schemeClr val="accent4">
                  <a:lumMod val="50000"/>
                </a:schemeClr>
              </a:solidFill>
            </a:ln>
            <a:effectLst>
              <a:outerShdw blurRad="38100" dist="38100" dir="3240000" algn="ctr" rotWithShape="0">
                <a:srgbClr val="000000">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52580302-7AA7-612A-3ECA-B0BA09794564}"/>
                </a:ext>
              </a:extLst>
            </p:cNvPr>
            <p:cNvSpPr txBox="1"/>
            <p:nvPr/>
          </p:nvSpPr>
          <p:spPr>
            <a:xfrm>
              <a:off x="4939809" y="5717811"/>
              <a:ext cx="1657818" cy="523220"/>
            </a:xfrm>
            <a:prstGeom prst="rect">
              <a:avLst/>
            </a:prstGeom>
            <a:noFill/>
          </p:spPr>
          <p:txBody>
            <a:bodyPr wrap="square" rtlCol="0">
              <a:spAutoFit/>
            </a:bodyPr>
            <a:lstStyle/>
            <a:p>
              <a:pPr algn="ctr"/>
              <a:r>
                <a:rPr lang="en-US" sz="1400">
                  <a:solidFill>
                    <a:schemeClr val="accent4">
                      <a:lumMod val="50000"/>
                    </a:schemeClr>
                  </a:solidFill>
                </a:rPr>
                <a:t>Merged </a:t>
              </a:r>
            </a:p>
            <a:p>
              <a:pPr algn="ctr"/>
              <a:r>
                <a:rPr lang="en-US" sz="1400">
                  <a:solidFill>
                    <a:schemeClr val="accent4">
                      <a:lumMod val="50000"/>
                    </a:schemeClr>
                  </a:solidFill>
                </a:rPr>
                <a:t>transcripts</a:t>
              </a:r>
            </a:p>
          </p:txBody>
        </p:sp>
      </p:grpSp>
      <p:cxnSp>
        <p:nvCxnSpPr>
          <p:cNvPr id="100" name="Straight Connector 99">
            <a:extLst>
              <a:ext uri="{FF2B5EF4-FFF2-40B4-BE49-F238E27FC236}">
                <a16:creationId xmlns:a16="http://schemas.microsoft.com/office/drawing/2014/main" id="{ECF8FC49-B070-A07A-E6EB-15051302B496}"/>
              </a:ext>
            </a:extLst>
          </p:cNvPr>
          <p:cNvCxnSpPr/>
          <p:nvPr/>
        </p:nvCxnSpPr>
        <p:spPr bwMode="auto">
          <a:xfrm>
            <a:off x="7155515" y="2194259"/>
            <a:ext cx="837130"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59509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D0474-3339-0808-B189-CF56A8884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7C9DC2-8232-DCD0-02D0-7FFB8895DDC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854D2F3D-7FB9-1B97-F46E-CFB7B3CDB33B}"/>
              </a:ext>
            </a:extLst>
          </p:cNvPr>
          <p:cNvSpPr>
            <a:spLocks noGrp="1"/>
          </p:cNvSpPr>
          <p:nvPr>
            <p:ph type="sldNum" sz="quarter" idx="12"/>
          </p:nvPr>
        </p:nvSpPr>
        <p:spPr/>
        <p:txBody>
          <a:bodyPr/>
          <a:lstStyle/>
          <a:p>
            <a:fld id="{B82CCC60-E8CD-4174-8B1A-7DF615B22EEF}" type="slidenum">
              <a:rPr lang="en-US" smtClean="0"/>
              <a:pPr/>
              <a:t>22</a:t>
            </a:fld>
            <a:endParaRPr lang="en-US"/>
          </a:p>
        </p:txBody>
      </p:sp>
      <p:pic>
        <p:nvPicPr>
          <p:cNvPr id="7" name="Picture 6">
            <a:extLst>
              <a:ext uri="{FF2B5EF4-FFF2-40B4-BE49-F238E27FC236}">
                <a16:creationId xmlns:a16="http://schemas.microsoft.com/office/drawing/2014/main" id="{17A29995-4DF5-397E-1E99-160A255912C9}"/>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BC3C56B6-B3EC-A731-9C38-938922E39DC6}"/>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
        <p:nvSpPr>
          <p:cNvPr id="3" name="Rectangle 2">
            <a:extLst>
              <a:ext uri="{FF2B5EF4-FFF2-40B4-BE49-F238E27FC236}">
                <a16:creationId xmlns:a16="http://schemas.microsoft.com/office/drawing/2014/main" id="{D2925647-49ED-CEC5-E361-21DBF2CEF3FE}"/>
              </a:ext>
            </a:extLst>
          </p:cNvPr>
          <p:cNvSpPr/>
          <p:nvPr/>
        </p:nvSpPr>
        <p:spPr bwMode="auto">
          <a:xfrm>
            <a:off x="7810434" y="1234893"/>
            <a:ext cx="2025182"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6" name="Rectangle 25">
            <a:extLst>
              <a:ext uri="{FF2B5EF4-FFF2-40B4-BE49-F238E27FC236}">
                <a16:creationId xmlns:a16="http://schemas.microsoft.com/office/drawing/2014/main" id="{9D3288F5-3CCF-17D9-6172-022759A665CA}"/>
              </a:ext>
            </a:extLst>
          </p:cNvPr>
          <p:cNvSpPr/>
          <p:nvPr/>
        </p:nvSpPr>
        <p:spPr>
          <a:xfrm>
            <a:off x="6368894" y="123489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
        <p:nvSpPr>
          <p:cNvPr id="27" name="Rectangle 26">
            <a:extLst>
              <a:ext uri="{FF2B5EF4-FFF2-40B4-BE49-F238E27FC236}">
                <a16:creationId xmlns:a16="http://schemas.microsoft.com/office/drawing/2014/main" id="{A41C424A-345F-F1EB-9E3B-A153C16E39FD}"/>
              </a:ext>
            </a:extLst>
          </p:cNvPr>
          <p:cNvSpPr/>
          <p:nvPr/>
        </p:nvSpPr>
        <p:spPr>
          <a:xfrm>
            <a:off x="6085020" y="1696558"/>
            <a:ext cx="6092506" cy="861774"/>
          </a:xfrm>
          <a:prstGeom prst="rect">
            <a:avLst/>
          </a:prstGeom>
        </p:spPr>
        <p:txBody>
          <a:bodyPr wrap="square">
            <a:spAutoFit/>
          </a:bodyPr>
          <a:lstStyle/>
          <a:p>
            <a:r>
              <a:rPr lang="en-US" sz="1600" dirty="0">
                <a:solidFill>
                  <a:srgbClr val="333333"/>
                </a:solidFill>
                <a:latin typeface="Roboto"/>
              </a:rPr>
              <a:t>- a tool for merging and tracking transcript structures across multiple samples and comparing them to a reference annotation.</a:t>
            </a:r>
          </a:p>
          <a:p>
            <a:endParaRPr lang="en-US" dirty="0"/>
          </a:p>
        </p:txBody>
      </p:sp>
      <p:cxnSp>
        <p:nvCxnSpPr>
          <p:cNvPr id="100" name="Straight Connector 99">
            <a:extLst>
              <a:ext uri="{FF2B5EF4-FFF2-40B4-BE49-F238E27FC236}">
                <a16:creationId xmlns:a16="http://schemas.microsoft.com/office/drawing/2014/main" id="{9D17FDCC-57AB-6963-5F1C-CE36F0038231}"/>
              </a:ext>
            </a:extLst>
          </p:cNvPr>
          <p:cNvCxnSpPr/>
          <p:nvPr/>
        </p:nvCxnSpPr>
        <p:spPr bwMode="auto">
          <a:xfrm>
            <a:off x="8125668" y="2232760"/>
            <a:ext cx="3899607" cy="0"/>
          </a:xfrm>
          <a:prstGeom prst="line">
            <a:avLst/>
          </a:prstGeom>
          <a:solidFill>
            <a:schemeClr val="accent1"/>
          </a:solidFill>
          <a:ln w="57150"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Picture 5">
            <a:extLst>
              <a:ext uri="{FF2B5EF4-FFF2-40B4-BE49-F238E27FC236}">
                <a16:creationId xmlns:a16="http://schemas.microsoft.com/office/drawing/2014/main" id="{7CEDCB4B-C6E7-F6C6-0EEC-3B213B1AB732}"/>
              </a:ext>
            </a:extLst>
          </p:cNvPr>
          <p:cNvPicPr>
            <a:picLocks noChangeAspect="1"/>
          </p:cNvPicPr>
          <p:nvPr/>
        </p:nvPicPr>
        <p:blipFill>
          <a:blip r:embed="rId5"/>
          <a:stretch>
            <a:fillRect/>
          </a:stretch>
        </p:blipFill>
        <p:spPr>
          <a:xfrm>
            <a:off x="5957414" y="2367946"/>
            <a:ext cx="5487820" cy="4474005"/>
          </a:xfrm>
          <a:prstGeom prst="rect">
            <a:avLst/>
          </a:prstGeom>
        </p:spPr>
      </p:pic>
    </p:spTree>
    <p:extLst>
      <p:ext uri="{BB962C8B-B14F-4D97-AF65-F5344CB8AC3E}">
        <p14:creationId xmlns:p14="http://schemas.microsoft.com/office/powerpoint/2010/main" val="109889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D997E-3E57-9F4F-83E2-102664A2B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D19B4-B404-338B-9C44-5FA55A730133}"/>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5C4B70E1-1421-92CB-B1D7-9C725594CB65}"/>
              </a:ext>
            </a:extLst>
          </p:cNvPr>
          <p:cNvSpPr>
            <a:spLocks noGrp="1"/>
          </p:cNvSpPr>
          <p:nvPr>
            <p:ph type="sldNum" sz="quarter" idx="12"/>
          </p:nvPr>
        </p:nvSpPr>
        <p:spPr/>
        <p:txBody>
          <a:bodyPr/>
          <a:lstStyle/>
          <a:p>
            <a:fld id="{B82CCC60-E8CD-4174-8B1A-7DF615B22EEF}" type="slidenum">
              <a:rPr lang="en-US" smtClean="0"/>
              <a:pPr/>
              <a:t>23</a:t>
            </a:fld>
            <a:endParaRPr lang="en-US"/>
          </a:p>
        </p:txBody>
      </p:sp>
      <p:pic>
        <p:nvPicPr>
          <p:cNvPr id="7" name="Picture 6">
            <a:extLst>
              <a:ext uri="{FF2B5EF4-FFF2-40B4-BE49-F238E27FC236}">
                <a16:creationId xmlns:a16="http://schemas.microsoft.com/office/drawing/2014/main" id="{7925E43E-65C1-2302-4FC8-084E842C6592}"/>
              </a:ext>
            </a:extLst>
          </p:cNvPr>
          <p:cNvPicPr>
            <a:picLocks noChangeAspect="1"/>
          </p:cNvPicPr>
          <p:nvPr/>
        </p:nvPicPr>
        <p:blipFill>
          <a:blip r:embed="rId3"/>
          <a:srcRect r="1029" b="57678"/>
          <a:stretch>
            <a:fillRect/>
          </a:stretch>
        </p:blipFill>
        <p:spPr>
          <a:xfrm>
            <a:off x="118673" y="1777354"/>
            <a:ext cx="5026191" cy="2278963"/>
          </a:xfrm>
          <a:prstGeom prst="rect">
            <a:avLst/>
          </a:prstGeom>
        </p:spPr>
      </p:pic>
      <p:sp>
        <p:nvSpPr>
          <p:cNvPr id="25" name="Rectangle 24">
            <a:extLst>
              <a:ext uri="{FF2B5EF4-FFF2-40B4-BE49-F238E27FC236}">
                <a16:creationId xmlns:a16="http://schemas.microsoft.com/office/drawing/2014/main" id="{0C42DB4A-55EF-53F1-9C40-430476C2102D}"/>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pic>
        <p:nvPicPr>
          <p:cNvPr id="6" name="Picture 5">
            <a:extLst>
              <a:ext uri="{FF2B5EF4-FFF2-40B4-BE49-F238E27FC236}">
                <a16:creationId xmlns:a16="http://schemas.microsoft.com/office/drawing/2014/main" id="{3657B0DA-2199-F2C2-B212-FF104D149CC8}"/>
              </a:ext>
            </a:extLst>
          </p:cNvPr>
          <p:cNvPicPr>
            <a:picLocks noChangeAspect="1"/>
          </p:cNvPicPr>
          <p:nvPr/>
        </p:nvPicPr>
        <p:blipFill>
          <a:blip r:embed="rId5"/>
          <a:stretch>
            <a:fillRect/>
          </a:stretch>
        </p:blipFill>
        <p:spPr>
          <a:xfrm>
            <a:off x="5957414" y="2367946"/>
            <a:ext cx="5487820" cy="4474005"/>
          </a:xfrm>
          <a:prstGeom prst="rect">
            <a:avLst/>
          </a:prstGeom>
        </p:spPr>
      </p:pic>
      <p:sp>
        <p:nvSpPr>
          <p:cNvPr id="5" name="Rectangle 4">
            <a:extLst>
              <a:ext uri="{FF2B5EF4-FFF2-40B4-BE49-F238E27FC236}">
                <a16:creationId xmlns:a16="http://schemas.microsoft.com/office/drawing/2014/main" id="{CC398E27-FB31-1EB6-2094-93F4E47C25B8}"/>
              </a:ext>
            </a:extLst>
          </p:cNvPr>
          <p:cNvSpPr/>
          <p:nvPr/>
        </p:nvSpPr>
        <p:spPr>
          <a:xfrm>
            <a:off x="258078" y="4604948"/>
            <a:ext cx="6092506" cy="1354217"/>
          </a:xfrm>
          <a:prstGeom prst="rect">
            <a:avLst/>
          </a:prstGeom>
        </p:spPr>
        <p:txBody>
          <a:bodyPr wrap="square">
            <a:spAutoFit/>
          </a:bodyPr>
          <a:lstStyle/>
          <a:p>
            <a:r>
              <a:rPr lang="en-US" dirty="0">
                <a:solidFill>
                  <a:srgbClr val="333333"/>
                </a:solidFill>
                <a:latin typeface="Roboto"/>
              </a:rPr>
              <a:t>- </a:t>
            </a:r>
            <a:r>
              <a:rPr lang="en-US" sz="1600" dirty="0">
                <a:solidFill>
                  <a:srgbClr val="333333"/>
                </a:solidFill>
                <a:latin typeface="Roboto"/>
              </a:rPr>
              <a:t>designed for large scale overlap analysis of streaming transcript prediction data (millions of transcripts) with a reference annotation data set; it performs detection and classification of all the overlaps found between the streamed transcripts and the reference annotation transcripts. </a:t>
            </a:r>
          </a:p>
        </p:txBody>
      </p:sp>
      <p:sp>
        <p:nvSpPr>
          <p:cNvPr id="8" name="Rectangle 7">
            <a:extLst>
              <a:ext uri="{FF2B5EF4-FFF2-40B4-BE49-F238E27FC236}">
                <a16:creationId xmlns:a16="http://schemas.microsoft.com/office/drawing/2014/main" id="{DC5D5AD6-AEB0-D06C-EE7D-4D1FB183A394}"/>
              </a:ext>
            </a:extLst>
          </p:cNvPr>
          <p:cNvSpPr/>
          <p:nvPr/>
        </p:nvSpPr>
        <p:spPr bwMode="auto">
          <a:xfrm>
            <a:off x="9978753" y="1449954"/>
            <a:ext cx="1021138"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9" name="Rectangle 8">
            <a:extLst>
              <a:ext uri="{FF2B5EF4-FFF2-40B4-BE49-F238E27FC236}">
                <a16:creationId xmlns:a16="http://schemas.microsoft.com/office/drawing/2014/main" id="{30E2DC47-BB73-8394-9476-5AED387B7ED5}"/>
              </a:ext>
            </a:extLst>
          </p:cNvPr>
          <p:cNvSpPr/>
          <p:nvPr/>
        </p:nvSpPr>
        <p:spPr>
          <a:xfrm>
            <a:off x="5957414" y="1456223"/>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spTree>
    <p:extLst>
      <p:ext uri="{BB962C8B-B14F-4D97-AF65-F5344CB8AC3E}">
        <p14:creationId xmlns:p14="http://schemas.microsoft.com/office/powerpoint/2010/main" val="396716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65B9-7DF1-CB73-9847-1CE276076BA0}"/>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3589E54C-DB00-5967-34D3-3E7FF0805548}"/>
              </a:ext>
            </a:extLst>
          </p:cNvPr>
          <p:cNvSpPr>
            <a:spLocks noGrp="1"/>
          </p:cNvSpPr>
          <p:nvPr>
            <p:ph type="sldNum" sz="quarter" idx="12"/>
          </p:nvPr>
        </p:nvSpPr>
        <p:spPr/>
        <p:txBody>
          <a:bodyPr/>
          <a:lstStyle/>
          <a:p>
            <a:fld id="{B82CCC60-E8CD-4174-8B1A-7DF615B22EEF}" type="slidenum">
              <a:rPr lang="en-US" smtClean="0"/>
              <a:pPr/>
              <a:t>24</a:t>
            </a:fld>
            <a:endParaRPr lang="en-US"/>
          </a:p>
        </p:txBody>
      </p:sp>
      <p:pic>
        <p:nvPicPr>
          <p:cNvPr id="9" name="Picture 8">
            <a:extLst>
              <a:ext uri="{FF2B5EF4-FFF2-40B4-BE49-F238E27FC236}">
                <a16:creationId xmlns:a16="http://schemas.microsoft.com/office/drawing/2014/main" id="{904EDAB9-192D-F234-8957-65AFB78D1ED8}"/>
              </a:ext>
            </a:extLst>
          </p:cNvPr>
          <p:cNvPicPr>
            <a:picLocks noChangeAspect="1"/>
          </p:cNvPicPr>
          <p:nvPr/>
        </p:nvPicPr>
        <p:blipFill>
          <a:blip r:embed="rId2"/>
          <a:stretch>
            <a:fillRect/>
          </a:stretch>
        </p:blipFill>
        <p:spPr>
          <a:xfrm>
            <a:off x="6130519" y="1839486"/>
            <a:ext cx="5890975" cy="4405198"/>
          </a:xfrm>
          <a:prstGeom prst="rect">
            <a:avLst/>
          </a:prstGeom>
        </p:spPr>
      </p:pic>
      <p:pic>
        <p:nvPicPr>
          <p:cNvPr id="10" name="Picture 9">
            <a:extLst>
              <a:ext uri="{FF2B5EF4-FFF2-40B4-BE49-F238E27FC236}">
                <a16:creationId xmlns:a16="http://schemas.microsoft.com/office/drawing/2014/main" id="{1EC6DBAD-8D55-DFF6-D3B1-69B464698E7A}"/>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11" name="Rectangle 10">
            <a:extLst>
              <a:ext uri="{FF2B5EF4-FFF2-40B4-BE49-F238E27FC236}">
                <a16:creationId xmlns:a16="http://schemas.microsoft.com/office/drawing/2014/main" id="{969D22F1-1A3C-02D4-70F8-8B4EDD8B263E}"/>
              </a:ext>
            </a:extLst>
          </p:cNvPr>
          <p:cNvSpPr/>
          <p:nvPr/>
        </p:nvSpPr>
        <p:spPr bwMode="auto">
          <a:xfrm>
            <a:off x="126496"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2" name="Rectangle 11">
            <a:extLst>
              <a:ext uri="{FF2B5EF4-FFF2-40B4-BE49-F238E27FC236}">
                <a16:creationId xmlns:a16="http://schemas.microsoft.com/office/drawing/2014/main" id="{E0FFD2DC-526C-8740-637B-361E2130A379}"/>
              </a:ext>
            </a:extLst>
          </p:cNvPr>
          <p:cNvSpPr/>
          <p:nvPr/>
        </p:nvSpPr>
        <p:spPr bwMode="auto">
          <a:xfrm>
            <a:off x="113545" y="4713248"/>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3" name="Rectangle 12">
            <a:extLst>
              <a:ext uri="{FF2B5EF4-FFF2-40B4-BE49-F238E27FC236}">
                <a16:creationId xmlns:a16="http://schemas.microsoft.com/office/drawing/2014/main" id="{2D088A7D-5FA8-CA57-5C78-4800EB157B28}"/>
              </a:ext>
            </a:extLst>
          </p:cNvPr>
          <p:cNvSpPr/>
          <p:nvPr/>
        </p:nvSpPr>
        <p:spPr bwMode="auto">
          <a:xfrm>
            <a:off x="6130520" y="2843561"/>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164996AA-6E47-FD61-80EC-CE4CD112BB22}"/>
              </a:ext>
            </a:extLst>
          </p:cNvPr>
          <p:cNvSpPr/>
          <p:nvPr/>
        </p:nvSpPr>
        <p:spPr bwMode="auto">
          <a:xfrm>
            <a:off x="6130520" y="4690946"/>
            <a:ext cx="3988304" cy="34568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1551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A4B5-3E4D-107B-3EF8-6CCC26394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8D66E-FEBE-0048-01CA-FC338FF612CB}"/>
              </a:ext>
            </a:extLst>
          </p:cNvPr>
          <p:cNvSpPr>
            <a:spLocks noGrp="1"/>
          </p:cNvSpPr>
          <p:nvPr>
            <p:ph type="title"/>
          </p:nvPr>
        </p:nvSpPr>
        <p:spPr/>
        <p:txBody>
          <a:bodyPr>
            <a:normAutofit fontScale="90000"/>
          </a:bodyPr>
          <a:lstStyle/>
          <a:p>
            <a:r>
              <a:rPr lang="en-US" dirty="0"/>
              <a:t>gffcompare of two annotations</a:t>
            </a:r>
          </a:p>
        </p:txBody>
      </p:sp>
      <p:sp>
        <p:nvSpPr>
          <p:cNvPr id="4" name="Slide Number Placeholder 3">
            <a:extLst>
              <a:ext uri="{FF2B5EF4-FFF2-40B4-BE49-F238E27FC236}">
                <a16:creationId xmlns:a16="http://schemas.microsoft.com/office/drawing/2014/main" id="{27F6185A-3EB3-0CCA-B4AF-6397E9307BA7}"/>
              </a:ext>
            </a:extLst>
          </p:cNvPr>
          <p:cNvSpPr>
            <a:spLocks noGrp="1"/>
          </p:cNvSpPr>
          <p:nvPr>
            <p:ph type="sldNum" sz="quarter" idx="12"/>
          </p:nvPr>
        </p:nvSpPr>
        <p:spPr/>
        <p:txBody>
          <a:bodyPr/>
          <a:lstStyle/>
          <a:p>
            <a:fld id="{B82CCC60-E8CD-4174-8B1A-7DF615B22EEF}" type="slidenum">
              <a:rPr lang="en-US" smtClean="0"/>
              <a:pPr/>
              <a:t>25</a:t>
            </a:fld>
            <a:endParaRPr lang="en-US"/>
          </a:p>
        </p:txBody>
      </p:sp>
      <p:pic>
        <p:nvPicPr>
          <p:cNvPr id="5" name="Picture 4">
            <a:extLst>
              <a:ext uri="{FF2B5EF4-FFF2-40B4-BE49-F238E27FC236}">
                <a16:creationId xmlns:a16="http://schemas.microsoft.com/office/drawing/2014/main" id="{8DE822E6-7F95-865D-C2A9-42EE47A08EE4}"/>
              </a:ext>
            </a:extLst>
          </p:cNvPr>
          <p:cNvPicPr>
            <a:picLocks noChangeAspect="1"/>
          </p:cNvPicPr>
          <p:nvPr/>
        </p:nvPicPr>
        <p:blipFill>
          <a:blip r:embed="rId2"/>
          <a:stretch>
            <a:fillRect/>
          </a:stretch>
        </p:blipFill>
        <p:spPr>
          <a:xfrm>
            <a:off x="6095999" y="1858236"/>
            <a:ext cx="5865901" cy="4386448"/>
          </a:xfrm>
          <a:prstGeom prst="rect">
            <a:avLst/>
          </a:prstGeom>
        </p:spPr>
      </p:pic>
      <p:pic>
        <p:nvPicPr>
          <p:cNvPr id="6" name="Picture 5">
            <a:extLst>
              <a:ext uri="{FF2B5EF4-FFF2-40B4-BE49-F238E27FC236}">
                <a16:creationId xmlns:a16="http://schemas.microsoft.com/office/drawing/2014/main" id="{B33E88CF-0C20-B3D2-98B8-615EE0FE1F97}"/>
              </a:ext>
            </a:extLst>
          </p:cNvPr>
          <p:cNvPicPr>
            <a:picLocks noChangeAspect="1"/>
          </p:cNvPicPr>
          <p:nvPr/>
        </p:nvPicPr>
        <p:blipFill>
          <a:blip r:embed="rId3"/>
          <a:stretch>
            <a:fillRect/>
          </a:stretch>
        </p:blipFill>
        <p:spPr>
          <a:xfrm>
            <a:off x="126496" y="1809750"/>
            <a:ext cx="5934985" cy="4434934"/>
          </a:xfrm>
          <a:prstGeom prst="rect">
            <a:avLst/>
          </a:prstGeom>
        </p:spPr>
      </p:pic>
      <p:sp>
        <p:nvSpPr>
          <p:cNvPr id="7" name="Rectangle 6">
            <a:extLst>
              <a:ext uri="{FF2B5EF4-FFF2-40B4-BE49-F238E27FC236}">
                <a16:creationId xmlns:a16="http://schemas.microsoft.com/office/drawing/2014/main" id="{4FEF154E-ED16-2673-6C98-50EDA8848679}"/>
              </a:ext>
            </a:extLst>
          </p:cNvPr>
          <p:cNvSpPr/>
          <p:nvPr/>
        </p:nvSpPr>
        <p:spPr bwMode="auto">
          <a:xfrm>
            <a:off x="450832"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8" name="Rectangle 7">
            <a:extLst>
              <a:ext uri="{FF2B5EF4-FFF2-40B4-BE49-F238E27FC236}">
                <a16:creationId xmlns:a16="http://schemas.microsoft.com/office/drawing/2014/main" id="{7AA55CBB-39B2-B121-2EAD-69832930C156}"/>
              </a:ext>
            </a:extLst>
          </p:cNvPr>
          <p:cNvSpPr/>
          <p:nvPr/>
        </p:nvSpPr>
        <p:spPr bwMode="auto">
          <a:xfrm>
            <a:off x="6440390" y="4027217"/>
            <a:ext cx="2638056" cy="500178"/>
          </a:xfrm>
          <a:prstGeom prst="rect">
            <a:avLst/>
          </a:prstGeom>
          <a:solidFill>
            <a:srgbClr val="FFFF66">
              <a:alpha val="38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641111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993AB-6DE7-8285-E0AC-5F1A18195D13}"/>
              </a:ext>
            </a:extLst>
          </p:cNvPr>
          <p:cNvSpPr>
            <a:spLocks noGrp="1"/>
          </p:cNvSpPr>
          <p:nvPr>
            <p:ph type="title"/>
          </p:nvPr>
        </p:nvSpPr>
        <p:spPr/>
        <p:txBody>
          <a:bodyPr>
            <a:normAutofit fontScale="90000"/>
          </a:bodyPr>
          <a:lstStyle/>
          <a:p>
            <a:r>
              <a:rPr lang="en-US" i="1" dirty="0"/>
              <a:t>Ab initio </a:t>
            </a:r>
            <a:r>
              <a:rPr lang="en-US" dirty="0"/>
              <a:t>gene finding</a:t>
            </a:r>
          </a:p>
        </p:txBody>
      </p:sp>
      <p:sp>
        <p:nvSpPr>
          <p:cNvPr id="3" name="Content Placeholder 2">
            <a:extLst>
              <a:ext uri="{FF2B5EF4-FFF2-40B4-BE49-F238E27FC236}">
                <a16:creationId xmlns:a16="http://schemas.microsoft.com/office/drawing/2014/main" id="{37266C4B-003F-16DC-7AF5-AFA961D396B3}"/>
              </a:ext>
            </a:extLst>
          </p:cNvPr>
          <p:cNvSpPr>
            <a:spLocks noGrp="1"/>
          </p:cNvSpPr>
          <p:nvPr>
            <p:ph idx="1"/>
          </p:nvPr>
        </p:nvSpPr>
        <p:spPr>
          <a:xfrm>
            <a:off x="598620" y="1596540"/>
            <a:ext cx="10972800" cy="4759811"/>
          </a:xfrm>
        </p:spPr>
        <p:txBody>
          <a:bodyPr>
            <a:normAutofit fontScale="92500"/>
          </a:bodyPr>
          <a:lstStyle/>
          <a:p>
            <a:r>
              <a:rPr lang="en-US" dirty="0"/>
              <a:t>Transcriptome sequencing data does not provide comprehensive picture of expression – not all transcripts are expressed in all cells at the same time:  </a:t>
            </a:r>
          </a:p>
          <a:p>
            <a:pPr lvl="1"/>
            <a:r>
              <a:rPr lang="en-US" dirty="0"/>
              <a:t>Sequence many different cells under many conditions (expensive)</a:t>
            </a:r>
          </a:p>
          <a:p>
            <a:pPr lvl="1"/>
            <a:r>
              <a:rPr lang="en-US" dirty="0"/>
              <a:t>Supplement transcriptome sequencing data with an </a:t>
            </a:r>
            <a:r>
              <a:rPr lang="en-US" i="1" dirty="0"/>
              <a:t>ab initio </a:t>
            </a:r>
            <a:r>
              <a:rPr lang="en-US" dirty="0"/>
              <a:t>gene finding algorithm to find transcripts that a not expressed</a:t>
            </a:r>
          </a:p>
          <a:p>
            <a:r>
              <a:rPr lang="en-US" dirty="0"/>
              <a:t>Assembled transcripts have errors: </a:t>
            </a:r>
          </a:p>
          <a:p>
            <a:pPr lvl="1"/>
            <a:r>
              <a:rPr lang="en-US" dirty="0"/>
              <a:t>Use machine learning algorithms to detect errors in assembled transcripts</a:t>
            </a:r>
          </a:p>
          <a:p>
            <a:r>
              <a:rPr lang="en-US" dirty="0"/>
              <a:t>Machine learning:</a:t>
            </a:r>
          </a:p>
          <a:p>
            <a:pPr lvl="1"/>
            <a:r>
              <a:rPr lang="en-US" dirty="0"/>
              <a:t>Positional Weights/Markov chain/Hidden Markov Models</a:t>
            </a:r>
          </a:p>
          <a:p>
            <a:pPr lvl="1"/>
            <a:r>
              <a:rPr lang="en-US" dirty="0"/>
              <a:t>Convolution Neural Networks?</a:t>
            </a:r>
          </a:p>
          <a:p>
            <a:pPr lvl="1"/>
            <a:endParaRPr lang="en-US" dirty="0"/>
          </a:p>
        </p:txBody>
      </p:sp>
      <p:sp>
        <p:nvSpPr>
          <p:cNvPr id="4" name="Slide Number Placeholder 3">
            <a:extLst>
              <a:ext uri="{FF2B5EF4-FFF2-40B4-BE49-F238E27FC236}">
                <a16:creationId xmlns:a16="http://schemas.microsoft.com/office/drawing/2014/main" id="{D2B4308B-AFA2-E9DC-AA64-E27C6EAAE005}"/>
              </a:ext>
            </a:extLst>
          </p:cNvPr>
          <p:cNvSpPr>
            <a:spLocks noGrp="1"/>
          </p:cNvSpPr>
          <p:nvPr>
            <p:ph type="sldNum" sz="quarter" idx="12"/>
          </p:nvPr>
        </p:nvSpPr>
        <p:spPr/>
        <p:txBody>
          <a:bodyPr/>
          <a:lstStyle/>
          <a:p>
            <a:fld id="{B82CCC60-E8CD-4174-8B1A-7DF615B22EEF}" type="slidenum">
              <a:rPr lang="en-US" smtClean="0"/>
              <a:pPr/>
              <a:t>26</a:t>
            </a:fld>
            <a:endParaRPr lang="en-US"/>
          </a:p>
        </p:txBody>
      </p:sp>
    </p:spTree>
    <p:extLst>
      <p:ext uri="{BB962C8B-B14F-4D97-AF65-F5344CB8AC3E}">
        <p14:creationId xmlns:p14="http://schemas.microsoft.com/office/powerpoint/2010/main" val="76329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14960</TotalTime>
  <Words>1428</Words>
  <Application>Microsoft Office PowerPoint</Application>
  <PresentationFormat>Widescreen</PresentationFormat>
  <Paragraphs>209</Paragraphs>
  <Slides>26</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7" baseType="lpstr">
      <vt:lpstr>Batang</vt:lpstr>
      <vt:lpstr>AdvTT6489ba6c</vt:lpstr>
      <vt:lpstr>Arial</vt:lpstr>
      <vt:lpstr>Calibri</vt:lpstr>
      <vt:lpstr>Cambria Math</vt:lpstr>
      <vt:lpstr>CourierNewPSMT</vt:lpstr>
      <vt:lpstr>Roboto</vt:lpstr>
      <vt:lpstr>Times</vt:lpstr>
      <vt:lpstr>Trebuchet MS</vt:lpstr>
      <vt:lpstr>Office Theme</vt:lpstr>
      <vt:lpstr>Equation</vt:lpstr>
      <vt:lpstr>PowerPoint Presentation</vt:lpstr>
      <vt:lpstr>Lab #5: Jaccard similarity</vt:lpstr>
      <vt:lpstr>Jaccard similarity example</vt:lpstr>
      <vt:lpstr>Assembly of aligned RNA-seq data</vt:lpstr>
      <vt:lpstr>Assembly of aligned RNA-seq data</vt:lpstr>
      <vt:lpstr>Assembly of aligned RNA-seq data</vt:lpstr>
      <vt:lpstr>Assembly of aligned RNA-seq data</vt:lpstr>
      <vt:lpstr>Assembly of aligned RNA-seq data</vt:lpstr>
      <vt:lpstr>Evaluating transcript assembly</vt:lpstr>
      <vt:lpstr>Common reference annotation databases</vt:lpstr>
      <vt:lpstr>Benchmark transcriptome</vt:lpstr>
      <vt:lpstr>Transcriptome assembly metrics</vt:lpstr>
      <vt:lpstr>Assembly metrics based on benchmark</vt:lpstr>
      <vt:lpstr>Measures of correctness</vt:lpstr>
      <vt:lpstr>Sensitivity and Specificity</vt:lpstr>
      <vt:lpstr>Intron chain</vt:lpstr>
      <vt:lpstr>Nucleotide level accuracy</vt:lpstr>
      <vt:lpstr>Exon level accuracy</vt:lpstr>
      <vt:lpstr>Transcript level accuracy</vt:lpstr>
      <vt:lpstr>gffread, gffcompare and trmap</vt:lpstr>
      <vt:lpstr>gffread, gffcompare and trmap</vt:lpstr>
      <vt:lpstr>gffread, gffcompare and trmap</vt:lpstr>
      <vt:lpstr>gffread, gffcompare and trmap</vt:lpstr>
      <vt:lpstr>gffcompare of two annotations</vt:lpstr>
      <vt:lpstr>gffcompare of two annotations</vt:lpstr>
      <vt:lpstr>Ab initio gene finding</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83</cp:revision>
  <dcterms:created xsi:type="dcterms:W3CDTF">2013-08-21T19:17:07Z</dcterms:created>
  <dcterms:modified xsi:type="dcterms:W3CDTF">2025-11-04T15:15:35Z</dcterms:modified>
</cp:coreProperties>
</file>