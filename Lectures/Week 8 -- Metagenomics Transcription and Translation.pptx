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2" r:id="rId2"/>
    <p:sldId id="579" r:id="rId3"/>
    <p:sldId id="580" r:id="rId4"/>
    <p:sldId id="582" r:id="rId5"/>
    <p:sldId id="583" r:id="rId6"/>
    <p:sldId id="581" r:id="rId7"/>
    <p:sldId id="586" r:id="rId8"/>
    <p:sldId id="813" r:id="rId9"/>
    <p:sldId id="814" r:id="rId10"/>
    <p:sldId id="584" r:id="rId11"/>
    <p:sldId id="585" r:id="rId12"/>
    <p:sldId id="587" r:id="rId13"/>
    <p:sldId id="257" r:id="rId14"/>
    <p:sldId id="806" r:id="rId15"/>
    <p:sldId id="807" r:id="rId16"/>
    <p:sldId id="808" r:id="rId17"/>
    <p:sldId id="810" r:id="rId18"/>
    <p:sldId id="26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0" autoAdjust="0"/>
    <p:restoredTop sz="93721" autoAdjust="0"/>
  </p:normalViewPr>
  <p:slideViewPr>
    <p:cSldViewPr snapToGrid="0">
      <p:cViewPr varScale="1">
        <p:scale>
          <a:sx n="99" d="100"/>
          <a:sy n="99" d="100"/>
        </p:scale>
        <p:origin x="288" y="8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pc:chgData name="Aleksey Zimin" userId="7f2637d0bc515791" providerId="LiveId" clId="{8553A319-8433-4677-8F80-E28D63617D4C}" dt="2025-10-15T15:06:38.612" v="0" actId="47"/>
      <pc:docMkLst>
        <pc:docMk/>
      </pc:docMkLst>
      <pc:sldChg chg="del">
        <pc:chgData name="Aleksey Zimin" userId="7f2637d0bc515791" providerId="LiveId" clId="{8553A319-8433-4677-8F80-E28D63617D4C}" dt="2025-10-15T15:06:38.612" v="0" actId="47"/>
        <pc:sldMkLst>
          <pc:docMk/>
          <pc:sldMk cId="208986471" sldId="258"/>
        </pc:sldMkLst>
      </pc:sldChg>
      <pc:sldChg chg="del">
        <pc:chgData name="Aleksey Zimin" userId="7f2637d0bc515791" providerId="LiveId" clId="{8553A319-8433-4677-8F80-E28D63617D4C}" dt="2025-10-15T15:06:38.612" v="0" actId="47"/>
        <pc:sldMkLst>
          <pc:docMk/>
          <pc:sldMk cId="1183394471" sldId="270"/>
        </pc:sldMkLst>
      </pc:sldChg>
      <pc:sldChg chg="del">
        <pc:chgData name="Aleksey Zimin" userId="7f2637d0bc515791" providerId="LiveId" clId="{8553A319-8433-4677-8F80-E28D63617D4C}" dt="2025-10-15T15:06:38.612" v="0" actId="47"/>
        <pc:sldMkLst>
          <pc:docMk/>
          <pc:sldMk cId="285272752" sldId="399"/>
        </pc:sldMkLst>
      </pc:sldChg>
      <pc:sldChg chg="del">
        <pc:chgData name="Aleksey Zimin" userId="7f2637d0bc515791" providerId="LiveId" clId="{8553A319-8433-4677-8F80-E28D63617D4C}" dt="2025-10-15T15:06:38.612" v="0" actId="47"/>
        <pc:sldMkLst>
          <pc:docMk/>
          <pc:sldMk cId="582660925" sldId="557"/>
        </pc:sldMkLst>
      </pc:sldChg>
      <pc:sldChg chg="del">
        <pc:chgData name="Aleksey Zimin" userId="7f2637d0bc515791" providerId="LiveId" clId="{8553A319-8433-4677-8F80-E28D63617D4C}" dt="2025-10-15T15:06:38.612" v="0" actId="47"/>
        <pc:sldMkLst>
          <pc:docMk/>
          <pc:sldMk cId="897960614" sldId="559"/>
        </pc:sldMkLst>
      </pc:sldChg>
      <pc:sldChg chg="del">
        <pc:chgData name="Aleksey Zimin" userId="7f2637d0bc515791" providerId="LiveId" clId="{8553A319-8433-4677-8F80-E28D63617D4C}" dt="2025-10-15T15:06:38.612" v="0" actId="47"/>
        <pc:sldMkLst>
          <pc:docMk/>
          <pc:sldMk cId="2016871750" sldId="560"/>
        </pc:sldMkLst>
      </pc:sldChg>
      <pc:sldChg chg="del">
        <pc:chgData name="Aleksey Zimin" userId="7f2637d0bc515791" providerId="LiveId" clId="{8553A319-8433-4677-8F80-E28D63617D4C}" dt="2025-10-15T15:06:38.612" v="0" actId="47"/>
        <pc:sldMkLst>
          <pc:docMk/>
          <pc:sldMk cId="2956323222" sldId="588"/>
        </pc:sldMkLst>
      </pc:sldChg>
      <pc:sldChg chg="del">
        <pc:chgData name="Aleksey Zimin" userId="7f2637d0bc515791" providerId="LiveId" clId="{8553A319-8433-4677-8F80-E28D63617D4C}" dt="2025-10-15T15:06:38.612" v="0" actId="47"/>
        <pc:sldMkLst>
          <pc:docMk/>
          <pc:sldMk cId="869239991" sldId="801"/>
        </pc:sldMkLst>
      </pc:sldChg>
      <pc:sldChg chg="del">
        <pc:chgData name="Aleksey Zimin" userId="7f2637d0bc515791" providerId="LiveId" clId="{8553A319-8433-4677-8F80-E28D63617D4C}" dt="2025-10-15T15:06:38.612" v="0" actId="47"/>
        <pc:sldMkLst>
          <pc:docMk/>
          <pc:sldMk cId="494252847" sldId="802"/>
        </pc:sldMkLst>
      </pc:sldChg>
      <pc:sldChg chg="del">
        <pc:chgData name="Aleksey Zimin" userId="7f2637d0bc515791" providerId="LiveId" clId="{8553A319-8433-4677-8F80-E28D63617D4C}" dt="2025-10-15T15:06:38.612" v="0" actId="47"/>
        <pc:sldMkLst>
          <pc:docMk/>
          <pc:sldMk cId="2724807813" sldId="803"/>
        </pc:sldMkLst>
      </pc:sldChg>
      <pc:sldChg chg="del">
        <pc:chgData name="Aleksey Zimin" userId="7f2637d0bc515791" providerId="LiveId" clId="{8553A319-8433-4677-8F80-E28D63617D4C}" dt="2025-10-15T15:06:38.612" v="0" actId="47"/>
        <pc:sldMkLst>
          <pc:docMk/>
          <pc:sldMk cId="1722923118" sldId="805"/>
        </pc:sldMkLst>
      </pc:sldChg>
      <pc:sldChg chg="del">
        <pc:chgData name="Aleksey Zimin" userId="7f2637d0bc515791" providerId="LiveId" clId="{8553A319-8433-4677-8F80-E28D63617D4C}" dt="2025-10-15T15:06:38.612" v="0" actId="47"/>
        <pc:sldMkLst>
          <pc:docMk/>
          <pc:sldMk cId="3059937519" sldId="811"/>
        </pc:sldMkLst>
      </pc:sldChg>
      <pc:sldChg chg="del">
        <pc:chgData name="Aleksey Zimin" userId="7f2637d0bc515791" providerId="LiveId" clId="{8553A319-8433-4677-8F80-E28D63617D4C}" dt="2025-10-15T15:06:38.612" v="0" actId="47"/>
        <pc:sldMkLst>
          <pc:docMk/>
          <pc:sldMk cId="2608576022" sldId="812"/>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47.193"/>
    </inkml:context>
    <inkml:brush xml:id="br0">
      <inkml:brushProperty name="width" value="0.035" units="cm"/>
      <inkml:brushProperty name="height" value="0.035" units="cm"/>
      <inkml:brushProperty name="color" value="#5B2D90"/>
    </inkml:brush>
  </inkml:definitions>
  <inkml:trace contextRef="#ctx0" brushRef="#br0">1 164 24575,'241'2'0,"262"-4"0,-293-10 0,199-4 0,-153 19 0,216-6 0,-311-9 0,79-2 0,77 0 0,29 1 0,331-2 0,-74-13 0,-78-7 0,39 31 0,-298 7 0,1531-3 0,-1678 5 0,178 32 0,-83-14 0,344-8 0,-524-14 0,58 11 0,21 1 0,662-10 63,-401-5-1491,-351 2-5398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52.848"/>
    </inkml:context>
    <inkml:brush xml:id="br0">
      <inkml:brushProperty name="width" value="0.035" units="cm"/>
      <inkml:brushProperty name="height" value="0.035" units="cm"/>
      <inkml:brushProperty name="color" value="#5B2D90"/>
    </inkml:brush>
  </inkml:definitions>
  <inkml:trace contextRef="#ctx0" brushRef="#br0">1 247 24575,'2440'0'0,"-2128"-16"0,-143 4 0,-10 1 0,133-5 0,-265 16 0,373-8 0,-285 1 0,168-35 0,-96 1 0,172-32 0,-234 60 0,0 5 0,155 11 0,-74 1 0,2266-4 0,-1983 27 0,18 1 0,-355-21 0,0 7 0,163 36 0,-154-22 0,630 76 0,-178-92 0,-363-15 0,-180 3 0,62 1 0,143-18 0,-154 8 0,-78 7 0,-1-1 0,48-10 0,55-20-1365,-122 30-5461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6.239"/>
    </inkml:context>
    <inkml:brush xml:id="br0">
      <inkml:brushProperty name="width" value="0.035" units="cm"/>
      <inkml:brushProperty name="height" value="0.035" units="cm"/>
      <inkml:brushProperty name="color" value="#E71224"/>
    </inkml:brush>
  </inkml:definitions>
  <inkml:trace contextRef="#ctx0" brushRef="#br0">1 1 24575,'3'0'0,"0"0"0,0 1 0,0 0 0,-1 0 0,1-1 0,0 2 0,0-1 0,-1 0 0,1 0 0,0 1 0,-1 0 0,1-1 0,-1 1 0,0 0 0,0 0 0,4 4 0,32 45 0,-20-24 0,47 54 0,-30-39 0,-2 0 0,41 72 0,44 117 0,-49-91 0,159 240 0,-95-191 0,208 403 0,-289-484 0,114 211 0,-85-176 0,-40-68 0,78 108 0,32 41 0,-64-89 0,-58-94 0,-3 1 0,-1 0 0,-1 2 0,31 88 0,-48-116-273,0 0 0,0-1 0,2 0 0,14 21 0,-12-21-6553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8.271"/>
    </inkml:context>
    <inkml:brush xml:id="br0">
      <inkml:brushProperty name="width" value="0.035" units="cm"/>
      <inkml:brushProperty name="height" value="0.035" units="cm"/>
      <inkml:brushProperty name="color" value="#E71224"/>
    </inkml:brush>
  </inkml:definitions>
  <inkml:trace contextRef="#ctx0" brushRef="#br0">1899 0 24293,'-1899'3315'0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Poppins" panose="020B0502040204020203" pitchFamily="2" charset="0"/>
              </a:rPr>
              <a:t>Transcription and translation are processes a cell uses to make all proteins the body needs to function from information stored in the sequence of bases in DNA. The four bases (C, A, T/U, and G in the figure) are the building blocks of DNA and RNA. During transcription, a piece of DNA that codes for a specific gene is copied into messenger RNA (mRNA) in the nucleus of the cell. The mRNA then carries the genetic information from the DNA to the cytoplasm, where translation occurs. During translation, proteins are made using the information stored in the mRNA sequence. The mRNA attaches to a structure called a ribosome that can read the genetic information. As the mRNA passes through the ribosome, another type of RNA called transfer RNA (tRNA) carries a protein building block called an amino acid to the ribosome. The tRNA carrying the amino acid binds to a matching sequence in the mRNA. As each tRNA binds to the mRNA strand, the amino acid it carried joins with the other amino acids to form a chain of amino acids. Once all of the amino acids coded for in the piece of mRNA have been linked, the completed protein is released from the ribosome.</a:t>
            </a:r>
            <a:endParaRPr lang="en-US" dirty="0"/>
          </a:p>
        </p:txBody>
      </p:sp>
      <p:sp>
        <p:nvSpPr>
          <p:cNvPr id="4" name="Slide Number Placeholder 3"/>
          <p:cNvSpPr>
            <a:spLocks noGrp="1"/>
          </p:cNvSpPr>
          <p:nvPr>
            <p:ph type="sldNum" sz="quarter" idx="5"/>
          </p:nvPr>
        </p:nvSpPr>
        <p:spPr/>
        <p:txBody>
          <a:bodyPr/>
          <a:lstStyle/>
          <a:p>
            <a:fld id="{56C17E1D-5FD8-4E87-B4B9-0D86153B9F38}" type="slidenum">
              <a:rPr lang="en-US" smtClean="0"/>
              <a:t>13</a:t>
            </a:fld>
            <a:endParaRPr lang="en-US"/>
          </a:p>
        </p:txBody>
      </p:sp>
    </p:spTree>
    <p:extLst>
      <p:ext uri="{BB962C8B-B14F-4D97-AF65-F5344CB8AC3E}">
        <p14:creationId xmlns:p14="http://schemas.microsoft.com/office/powerpoint/2010/main" val="397169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10/15/2025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neurology.org/doi/10.1212/NXI.000000000000025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8.png"/><Relationship Id="rId4" Type="http://schemas.openxmlformats.org/officeDocument/2006/relationships/customXml" Target="../ink/ink2.xm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ncbi.nlm.nih.gov/sra/?term=ERR1540350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8</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FF8B-7ECA-C64D-FA2B-BCFEEFCCEB32}"/>
              </a:ext>
            </a:extLst>
          </p:cNvPr>
          <p:cNvSpPr>
            <a:spLocks noGrp="1"/>
          </p:cNvSpPr>
          <p:nvPr>
            <p:ph type="title"/>
          </p:nvPr>
        </p:nvSpPr>
        <p:spPr/>
        <p:txBody>
          <a:bodyPr>
            <a:normAutofit fontScale="90000"/>
          </a:bodyPr>
          <a:lstStyle/>
          <a:p>
            <a:r>
              <a:rPr lang="en-US" dirty="0"/>
              <a:t>Metagenomic data analysis</a:t>
            </a:r>
          </a:p>
        </p:txBody>
      </p:sp>
      <p:pic>
        <p:nvPicPr>
          <p:cNvPr id="6" name="Content Placeholder 5">
            <a:extLst>
              <a:ext uri="{FF2B5EF4-FFF2-40B4-BE49-F238E27FC236}">
                <a16:creationId xmlns:a16="http://schemas.microsoft.com/office/drawing/2014/main" id="{D7E92C7B-504D-6DC3-4C68-C647A150FBAE}"/>
              </a:ext>
            </a:extLst>
          </p:cNvPr>
          <p:cNvPicPr>
            <a:picLocks noGrp="1" noChangeAspect="1"/>
          </p:cNvPicPr>
          <p:nvPr>
            <p:ph idx="1"/>
          </p:nvPr>
        </p:nvPicPr>
        <p:blipFill>
          <a:blip r:embed="rId2"/>
          <a:stretch>
            <a:fillRect/>
          </a:stretch>
        </p:blipFill>
        <p:spPr>
          <a:xfrm>
            <a:off x="7610015" y="1138425"/>
            <a:ext cx="4192756" cy="3917950"/>
          </a:xfrm>
          <a:prstGeom prst="rect">
            <a:avLst/>
          </a:prstGeom>
        </p:spPr>
      </p:pic>
      <p:sp>
        <p:nvSpPr>
          <p:cNvPr id="4" name="Slide Number Placeholder 3">
            <a:extLst>
              <a:ext uri="{FF2B5EF4-FFF2-40B4-BE49-F238E27FC236}">
                <a16:creationId xmlns:a16="http://schemas.microsoft.com/office/drawing/2014/main" id="{77DAF027-A525-628B-576F-4462F3A7A9DB}"/>
              </a:ext>
            </a:extLst>
          </p:cNvPr>
          <p:cNvSpPr>
            <a:spLocks noGrp="1"/>
          </p:cNvSpPr>
          <p:nvPr>
            <p:ph type="sldNum" sz="quarter" idx="12"/>
          </p:nvPr>
        </p:nvSpPr>
        <p:spPr/>
        <p:txBody>
          <a:bodyPr/>
          <a:lstStyle/>
          <a:p>
            <a:fld id="{B82CCC60-E8CD-4174-8B1A-7DF615B22EEF}" type="slidenum">
              <a:rPr lang="en-US" smtClean="0"/>
              <a:pPr/>
              <a:t>2</a:t>
            </a:fld>
            <a:endParaRPr lang="en-US"/>
          </a:p>
        </p:txBody>
      </p:sp>
      <p:pic>
        <p:nvPicPr>
          <p:cNvPr id="8" name="Picture 7">
            <a:extLst>
              <a:ext uri="{FF2B5EF4-FFF2-40B4-BE49-F238E27FC236}">
                <a16:creationId xmlns:a16="http://schemas.microsoft.com/office/drawing/2014/main" id="{AC51F317-6076-60E8-6ECF-526A018BD1B7}"/>
              </a:ext>
            </a:extLst>
          </p:cNvPr>
          <p:cNvPicPr>
            <a:picLocks noChangeAspect="1"/>
          </p:cNvPicPr>
          <p:nvPr/>
        </p:nvPicPr>
        <p:blipFill>
          <a:blip r:embed="rId3"/>
          <a:stretch>
            <a:fillRect/>
          </a:stretch>
        </p:blipFill>
        <p:spPr>
          <a:xfrm>
            <a:off x="7728736" y="5162543"/>
            <a:ext cx="4192757" cy="703894"/>
          </a:xfrm>
          <a:prstGeom prst="rect">
            <a:avLst/>
          </a:prstGeom>
        </p:spPr>
      </p:pic>
      <p:sp>
        <p:nvSpPr>
          <p:cNvPr id="9" name="Content Placeholder 2">
            <a:extLst>
              <a:ext uri="{FF2B5EF4-FFF2-40B4-BE49-F238E27FC236}">
                <a16:creationId xmlns:a16="http://schemas.microsoft.com/office/drawing/2014/main" id="{708743D7-D6BE-901B-CFEA-3F0240C13E25}"/>
              </a:ext>
            </a:extLst>
          </p:cNvPr>
          <p:cNvSpPr txBox="1">
            <a:spLocks/>
          </p:cNvSpPr>
          <p:nvPr/>
        </p:nvSpPr>
        <p:spPr>
          <a:xfrm>
            <a:off x="598619" y="1596540"/>
            <a:ext cx="6909086" cy="458115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In a typical genome project you want to sequence DNA from a single organism</a:t>
            </a:r>
          </a:p>
          <a:p>
            <a:r>
              <a:rPr lang="en-US" dirty="0"/>
              <a:t>Metagenomic data is sequenced from a sample intentionally containing many species (many of them unknown)</a:t>
            </a:r>
          </a:p>
          <a:p>
            <a:r>
              <a:rPr lang="en-US" dirty="0"/>
              <a:t>Important for studying composition of microorganisms (bacteria of fungus), diagnostics of diseases</a:t>
            </a:r>
          </a:p>
          <a:p>
            <a:r>
              <a:rPr lang="en-US" dirty="0">
                <a:hlinkClick r:id="rId4"/>
              </a:rPr>
              <a:t>https://www.neurology.org/doi/10.1212/NXI.0000000000000251</a:t>
            </a:r>
            <a:r>
              <a:rPr lang="en-US" dirty="0"/>
              <a:t> </a:t>
            </a:r>
          </a:p>
        </p:txBody>
      </p:sp>
    </p:spTree>
    <p:extLst>
      <p:ext uri="{BB962C8B-B14F-4D97-AF65-F5344CB8AC3E}">
        <p14:creationId xmlns:p14="http://schemas.microsoft.com/office/powerpoint/2010/main" val="586871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2CFA-9895-FE23-736B-0ADCCDC9F354}"/>
              </a:ext>
            </a:extLst>
          </p:cNvPr>
          <p:cNvSpPr>
            <a:spLocks noGrp="1"/>
          </p:cNvSpPr>
          <p:nvPr>
            <p:ph type="title"/>
          </p:nvPr>
        </p:nvSpPr>
        <p:spPr/>
        <p:txBody>
          <a:bodyPr>
            <a:normAutofit fontScale="90000"/>
          </a:bodyPr>
          <a:lstStyle/>
          <a:p>
            <a:r>
              <a:rPr lang="en-US" dirty="0"/>
              <a:t>Characteristics of metagenomic data</a:t>
            </a:r>
          </a:p>
        </p:txBody>
      </p:sp>
      <p:sp>
        <p:nvSpPr>
          <p:cNvPr id="3" name="Content Placeholder 2">
            <a:extLst>
              <a:ext uri="{FF2B5EF4-FFF2-40B4-BE49-F238E27FC236}">
                <a16:creationId xmlns:a16="http://schemas.microsoft.com/office/drawing/2014/main" id="{B4F0B9E3-A9AD-BAD1-0027-F0D5944E8293}"/>
              </a:ext>
            </a:extLst>
          </p:cNvPr>
          <p:cNvSpPr>
            <a:spLocks noGrp="1"/>
          </p:cNvSpPr>
          <p:nvPr>
            <p:ph idx="1"/>
          </p:nvPr>
        </p:nvSpPr>
        <p:spPr/>
        <p:txBody>
          <a:bodyPr/>
          <a:lstStyle/>
          <a:p>
            <a:r>
              <a:rPr lang="en-US" dirty="0"/>
              <a:t>Typically short reads (Illumina)</a:t>
            </a:r>
          </a:p>
          <a:p>
            <a:r>
              <a:rPr lang="en-US" dirty="0"/>
              <a:t>Number of species: unknown</a:t>
            </a:r>
          </a:p>
          <a:p>
            <a:r>
              <a:rPr lang="en-US" dirty="0"/>
              <a:t>Coverage of each species: unknown</a:t>
            </a:r>
          </a:p>
          <a:p>
            <a:r>
              <a:rPr lang="en-US" dirty="0"/>
              <a:t>Assembly possible? Maybe, but similar species can assemble together forming chimeric contigs</a:t>
            </a:r>
          </a:p>
          <a:p>
            <a:r>
              <a:rPr lang="en-US" dirty="0"/>
              <a:t>Preferred mode of analysis: K-</a:t>
            </a:r>
            <a:r>
              <a:rPr lang="en-US" dirty="0" err="1"/>
              <a:t>mers</a:t>
            </a:r>
            <a:endParaRPr lang="en-US" dirty="0"/>
          </a:p>
        </p:txBody>
      </p:sp>
      <p:sp>
        <p:nvSpPr>
          <p:cNvPr id="4" name="Slide Number Placeholder 3">
            <a:extLst>
              <a:ext uri="{FF2B5EF4-FFF2-40B4-BE49-F238E27FC236}">
                <a16:creationId xmlns:a16="http://schemas.microsoft.com/office/drawing/2014/main" id="{9C11AC7E-93BD-3248-0387-86D1E1B0BA2B}"/>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191581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FA9E-52CD-A9B3-646D-3A27FD4536F0}"/>
              </a:ext>
            </a:extLst>
          </p:cNvPr>
          <p:cNvSpPr>
            <a:spLocks noGrp="1"/>
          </p:cNvSpPr>
          <p:nvPr>
            <p:ph type="title"/>
          </p:nvPr>
        </p:nvSpPr>
        <p:spPr/>
        <p:txBody>
          <a:bodyPr>
            <a:normAutofit fontScale="90000"/>
          </a:bodyPr>
          <a:lstStyle/>
          <a:p>
            <a:r>
              <a:rPr lang="en-US" dirty="0"/>
              <a:t>NCBI Taxonomy</a:t>
            </a:r>
          </a:p>
        </p:txBody>
      </p:sp>
      <p:sp>
        <p:nvSpPr>
          <p:cNvPr id="3" name="Content Placeholder 2">
            <a:extLst>
              <a:ext uri="{FF2B5EF4-FFF2-40B4-BE49-F238E27FC236}">
                <a16:creationId xmlns:a16="http://schemas.microsoft.com/office/drawing/2014/main" id="{D79EF711-9CE8-F047-1D7A-D8E212100B1E}"/>
              </a:ext>
            </a:extLst>
          </p:cNvPr>
          <p:cNvSpPr>
            <a:spLocks noGrp="1"/>
          </p:cNvSpPr>
          <p:nvPr>
            <p:ph idx="1"/>
          </p:nvPr>
        </p:nvSpPr>
        <p:spPr>
          <a:xfrm>
            <a:off x="598620" y="1596540"/>
            <a:ext cx="6562576" cy="5124936"/>
          </a:xfrm>
        </p:spPr>
        <p:txBody>
          <a:bodyPr>
            <a:normAutofit/>
          </a:bodyPr>
          <a:lstStyle/>
          <a:p>
            <a:r>
              <a:rPr lang="en-US" dirty="0"/>
              <a:t>The Taxonomy Database is a curated classification and nomenclature for all  organisms in the public sequence databases. </a:t>
            </a:r>
          </a:p>
          <a:p>
            <a:r>
              <a:rPr lang="en-US" dirty="0"/>
              <a:t>This currently represents about 10% of the described species of life on the planet.</a:t>
            </a:r>
          </a:p>
          <a:p>
            <a:r>
              <a:rPr lang="en-US" dirty="0"/>
              <a:t>These species are part of NCBI Taxonomy tree.  Each node on the tree has a </a:t>
            </a:r>
            <a:r>
              <a:rPr lang="en-US"/>
              <a:t>numerical ID.</a:t>
            </a:r>
            <a:endParaRPr lang="en-US" dirty="0"/>
          </a:p>
        </p:txBody>
      </p:sp>
      <p:sp>
        <p:nvSpPr>
          <p:cNvPr id="4" name="Slide Number Placeholder 3">
            <a:extLst>
              <a:ext uri="{FF2B5EF4-FFF2-40B4-BE49-F238E27FC236}">
                <a16:creationId xmlns:a16="http://schemas.microsoft.com/office/drawing/2014/main" id="{FB440318-2B73-4E92-84B2-305EBCA6D8AC}"/>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E663A6EE-ADB5-83B0-A0BA-2B2DE1B85AEF}"/>
              </a:ext>
            </a:extLst>
          </p:cNvPr>
          <p:cNvPicPr>
            <a:picLocks noChangeAspect="1"/>
          </p:cNvPicPr>
          <p:nvPr/>
        </p:nvPicPr>
        <p:blipFill>
          <a:blip r:embed="rId2"/>
          <a:stretch>
            <a:fillRect/>
          </a:stretch>
        </p:blipFill>
        <p:spPr>
          <a:xfrm>
            <a:off x="7007355" y="1596540"/>
            <a:ext cx="5098171" cy="3492818"/>
          </a:xfrm>
          <a:prstGeom prst="rect">
            <a:avLst/>
          </a:prstGeom>
        </p:spPr>
      </p:pic>
    </p:spTree>
    <p:extLst>
      <p:ext uri="{BB962C8B-B14F-4D97-AF65-F5344CB8AC3E}">
        <p14:creationId xmlns:p14="http://schemas.microsoft.com/office/powerpoint/2010/main" val="2711271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E514-AD74-45CB-0C67-6F2F6F320367}"/>
              </a:ext>
            </a:extLst>
          </p:cNvPr>
          <p:cNvSpPr>
            <a:spLocks noGrp="1"/>
          </p:cNvSpPr>
          <p:nvPr>
            <p:ph type="title"/>
          </p:nvPr>
        </p:nvSpPr>
        <p:spPr/>
        <p:txBody>
          <a:bodyPr>
            <a:normAutofit fontScale="90000"/>
          </a:bodyPr>
          <a:lstStyle/>
          <a:p>
            <a:r>
              <a:rPr lang="en-US" dirty="0"/>
              <a:t>NCBI Taxonomy Browser</a:t>
            </a:r>
          </a:p>
        </p:txBody>
      </p:sp>
      <p:sp>
        <p:nvSpPr>
          <p:cNvPr id="3" name="Content Placeholder 2">
            <a:extLst>
              <a:ext uri="{FF2B5EF4-FFF2-40B4-BE49-F238E27FC236}">
                <a16:creationId xmlns:a16="http://schemas.microsoft.com/office/drawing/2014/main" id="{DC8826C5-D8D9-0630-D918-315B04F48924}"/>
              </a:ext>
            </a:extLst>
          </p:cNvPr>
          <p:cNvSpPr>
            <a:spLocks noGrp="1"/>
          </p:cNvSpPr>
          <p:nvPr>
            <p:ph idx="1"/>
          </p:nvPr>
        </p:nvSpPr>
        <p:spPr>
          <a:xfrm>
            <a:off x="598620" y="1596540"/>
            <a:ext cx="5272791" cy="3918803"/>
          </a:xfrm>
        </p:spPr>
        <p:txBody>
          <a:bodyPr/>
          <a:lstStyle/>
          <a:p>
            <a:r>
              <a:rPr lang="en-US" dirty="0"/>
              <a:t>By browsing the taxonomy tree one can find all known species, their ID and known evolutionary relationships</a:t>
            </a:r>
          </a:p>
          <a:p>
            <a:endParaRPr lang="en-US" dirty="0"/>
          </a:p>
          <a:p>
            <a:r>
              <a:rPr lang="en-US" dirty="0"/>
              <a:t>DEMO</a:t>
            </a:r>
          </a:p>
        </p:txBody>
      </p:sp>
      <p:sp>
        <p:nvSpPr>
          <p:cNvPr id="4" name="Slide Number Placeholder 3">
            <a:extLst>
              <a:ext uri="{FF2B5EF4-FFF2-40B4-BE49-F238E27FC236}">
                <a16:creationId xmlns:a16="http://schemas.microsoft.com/office/drawing/2014/main" id="{299EDE4F-6DEF-4722-E3E4-7D04A9366C69}"/>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3F70E1E7-A65C-E2DC-30E9-8E509C1991B3}"/>
              </a:ext>
            </a:extLst>
          </p:cNvPr>
          <p:cNvPicPr>
            <a:picLocks noChangeAspect="1"/>
          </p:cNvPicPr>
          <p:nvPr/>
        </p:nvPicPr>
        <p:blipFill>
          <a:blip r:embed="rId2"/>
          <a:stretch>
            <a:fillRect/>
          </a:stretch>
        </p:blipFill>
        <p:spPr>
          <a:xfrm>
            <a:off x="6046764" y="1596540"/>
            <a:ext cx="6145236" cy="4581150"/>
          </a:xfrm>
          <a:prstGeom prst="rect">
            <a:avLst/>
          </a:prstGeom>
        </p:spPr>
      </p:pic>
    </p:spTree>
    <p:extLst>
      <p:ext uri="{BB962C8B-B14F-4D97-AF65-F5344CB8AC3E}">
        <p14:creationId xmlns:p14="http://schemas.microsoft.com/office/powerpoint/2010/main" val="4198790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7B61-F8AB-A062-29F0-CF1A276D03FF}"/>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8A99AE2F-3CF7-74FC-3A8B-478629B967F2}"/>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BE28B1E6-CC2B-C02C-779C-A8585EC60F9E}"/>
              </a:ext>
            </a:extLst>
          </p:cNvPr>
          <p:cNvSpPr>
            <a:spLocks noGrp="1"/>
          </p:cNvSpPr>
          <p:nvPr>
            <p:ph type="sldNum" sz="quarter" idx="12"/>
          </p:nvPr>
        </p:nvSpPr>
        <p:spPr/>
        <p:txBody>
          <a:bodyPr/>
          <a:lstStyle/>
          <a:p>
            <a:fld id="{B82CCC60-E8CD-4174-8B1A-7DF615B22EEF}" type="slidenum">
              <a:rPr lang="en-US" smtClean="0"/>
              <a:pPr/>
              <a:t>6</a:t>
            </a:fld>
            <a:endParaRPr lang="en-US"/>
          </a:p>
        </p:txBody>
      </p:sp>
      <p:sp>
        <p:nvSpPr>
          <p:cNvPr id="7" name="Oval 6">
            <a:extLst>
              <a:ext uri="{FF2B5EF4-FFF2-40B4-BE49-F238E27FC236}">
                <a16:creationId xmlns:a16="http://schemas.microsoft.com/office/drawing/2014/main" id="{A63B60D6-6328-2514-CC94-05026CF64D3F}"/>
              </a:ext>
            </a:extLst>
          </p:cNvPr>
          <p:cNvSpPr/>
          <p:nvPr/>
        </p:nvSpPr>
        <p:spPr>
          <a:xfrm>
            <a:off x="7555832" y="2009274"/>
            <a:ext cx="336884" cy="3489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95706D2-B99B-EB2C-DD1A-5D7F1E726BBE}"/>
              </a:ext>
            </a:extLst>
          </p:cNvPr>
          <p:cNvSpPr/>
          <p:nvPr/>
        </p:nvSpPr>
        <p:spPr>
          <a:xfrm>
            <a:off x="8229601" y="2018617"/>
            <a:ext cx="336884" cy="348915"/>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DDA7B58-FAA1-F362-6A51-1ED812893526}"/>
              </a:ext>
            </a:extLst>
          </p:cNvPr>
          <p:cNvSpPr/>
          <p:nvPr/>
        </p:nvSpPr>
        <p:spPr>
          <a:xfrm>
            <a:off x="8903370" y="2004533"/>
            <a:ext cx="336884" cy="34891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EE3CB4-D6E8-F6CA-BCFC-7D91E5377D66}"/>
              </a:ext>
            </a:extLst>
          </p:cNvPr>
          <p:cNvSpPr/>
          <p:nvPr/>
        </p:nvSpPr>
        <p:spPr>
          <a:xfrm>
            <a:off x="9586762" y="2771274"/>
            <a:ext cx="336884" cy="34891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7F004E-04F0-C6CD-077B-AD99FE477246}"/>
              </a:ext>
            </a:extLst>
          </p:cNvPr>
          <p:cNvSpPr/>
          <p:nvPr/>
        </p:nvSpPr>
        <p:spPr>
          <a:xfrm>
            <a:off x="7904748" y="2771274"/>
            <a:ext cx="336884" cy="348915"/>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64D15C6-573B-B89A-CBA2-F84A689ED567}"/>
              </a:ext>
            </a:extLst>
          </p:cNvPr>
          <p:cNvSpPr/>
          <p:nvPr/>
        </p:nvSpPr>
        <p:spPr>
          <a:xfrm>
            <a:off x="10035945" y="3381315"/>
            <a:ext cx="336884" cy="3489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27F90DD-EF2D-7172-13E0-EB72770F916A}"/>
              </a:ext>
            </a:extLst>
          </p:cNvPr>
          <p:cNvSpPr/>
          <p:nvPr/>
        </p:nvSpPr>
        <p:spPr>
          <a:xfrm>
            <a:off x="9084111" y="4078692"/>
            <a:ext cx="336884" cy="34891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008D9AD-11BD-D81D-0522-67D6B8457105}"/>
              </a:ext>
            </a:extLst>
          </p:cNvPr>
          <p:cNvSpPr/>
          <p:nvPr/>
        </p:nvSpPr>
        <p:spPr>
          <a:xfrm>
            <a:off x="8241632" y="3452262"/>
            <a:ext cx="336884" cy="348915"/>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2E8079E-B514-0401-13B7-7C30F586117B}"/>
              </a:ext>
            </a:extLst>
          </p:cNvPr>
          <p:cNvSpPr/>
          <p:nvPr/>
        </p:nvSpPr>
        <p:spPr>
          <a:xfrm>
            <a:off x="8529182" y="2759253"/>
            <a:ext cx="336884" cy="348915"/>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A583B0F-778F-0091-89CA-50714AC8E9D7}"/>
              </a:ext>
            </a:extLst>
          </p:cNvPr>
          <p:cNvCxnSpPr>
            <a:stCxn id="13" idx="1"/>
            <a:endCxn id="14" idx="5"/>
          </p:cNvCxnSpPr>
          <p:nvPr/>
        </p:nvCxnSpPr>
        <p:spPr>
          <a:xfrm flipH="1" flipV="1">
            <a:off x="8529180" y="3750080"/>
            <a:ext cx="604267" cy="37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A86C908-B026-F853-47C2-E24174F77745}"/>
              </a:ext>
            </a:extLst>
          </p:cNvPr>
          <p:cNvCxnSpPr>
            <a:cxnSpLocks/>
            <a:stCxn id="13" idx="7"/>
            <a:endCxn id="12" idx="3"/>
          </p:cNvCxnSpPr>
          <p:nvPr/>
        </p:nvCxnSpPr>
        <p:spPr>
          <a:xfrm flipV="1">
            <a:off x="9371659" y="3679133"/>
            <a:ext cx="713622" cy="450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785D585-3609-6EE2-F9B7-4FFDB510680C}"/>
              </a:ext>
            </a:extLst>
          </p:cNvPr>
          <p:cNvCxnSpPr>
            <a:cxnSpLocks/>
            <a:stCxn id="14" idx="1"/>
            <a:endCxn id="11" idx="4"/>
          </p:cNvCxnSpPr>
          <p:nvPr/>
        </p:nvCxnSpPr>
        <p:spPr>
          <a:xfrm flipH="1" flipV="1">
            <a:off x="8073190" y="3120189"/>
            <a:ext cx="217778" cy="38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C832D16-CC81-3682-BC26-7E1B11275DFE}"/>
              </a:ext>
            </a:extLst>
          </p:cNvPr>
          <p:cNvCxnSpPr>
            <a:cxnSpLocks/>
            <a:stCxn id="11" idx="1"/>
          </p:cNvCxnSpPr>
          <p:nvPr/>
        </p:nvCxnSpPr>
        <p:spPr>
          <a:xfrm flipH="1" flipV="1">
            <a:off x="7783827" y="2354298"/>
            <a:ext cx="170257" cy="468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D194F66-8DFB-FBF1-ED82-B21CD5BF8FF4}"/>
              </a:ext>
            </a:extLst>
          </p:cNvPr>
          <p:cNvCxnSpPr>
            <a:cxnSpLocks/>
            <a:stCxn id="11" idx="0"/>
            <a:endCxn id="8" idx="3"/>
          </p:cNvCxnSpPr>
          <p:nvPr/>
        </p:nvCxnSpPr>
        <p:spPr>
          <a:xfrm flipV="1">
            <a:off x="8073190" y="2316435"/>
            <a:ext cx="205747" cy="454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7E9B26C-E1E5-3664-8E20-67693EA9AABB}"/>
              </a:ext>
            </a:extLst>
          </p:cNvPr>
          <p:cNvCxnSpPr>
            <a:cxnSpLocks/>
            <a:stCxn id="11" idx="7"/>
            <a:endCxn id="9" idx="3"/>
          </p:cNvCxnSpPr>
          <p:nvPr/>
        </p:nvCxnSpPr>
        <p:spPr>
          <a:xfrm flipV="1">
            <a:off x="8192296" y="2302351"/>
            <a:ext cx="760410" cy="52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471E71D-9544-6C51-E98F-A4FADBC7B714}"/>
              </a:ext>
            </a:extLst>
          </p:cNvPr>
          <p:cNvCxnSpPr>
            <a:cxnSpLocks/>
            <a:stCxn id="14" idx="7"/>
            <a:endCxn id="15" idx="4"/>
          </p:cNvCxnSpPr>
          <p:nvPr/>
        </p:nvCxnSpPr>
        <p:spPr>
          <a:xfrm flipV="1">
            <a:off x="8529180" y="3108168"/>
            <a:ext cx="168444" cy="39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5630235-2C8E-2C54-BD04-B37C1BE83EC6}"/>
              </a:ext>
            </a:extLst>
          </p:cNvPr>
          <p:cNvCxnSpPr>
            <a:cxnSpLocks/>
            <a:stCxn id="12" idx="1"/>
            <a:endCxn id="10" idx="5"/>
          </p:cNvCxnSpPr>
          <p:nvPr/>
        </p:nvCxnSpPr>
        <p:spPr>
          <a:xfrm flipH="1" flipV="1">
            <a:off x="9874310" y="3069092"/>
            <a:ext cx="210971" cy="36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038184CA-550F-DF94-F9CB-4A1046BB0D4E}"/>
              </a:ext>
            </a:extLst>
          </p:cNvPr>
          <p:cNvSpPr/>
          <p:nvPr/>
        </p:nvSpPr>
        <p:spPr>
          <a:xfrm>
            <a:off x="10422961" y="2751632"/>
            <a:ext cx="336884" cy="348915"/>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C6631E49-9531-05F2-603D-80F87CE12556}"/>
              </a:ext>
            </a:extLst>
          </p:cNvPr>
          <p:cNvCxnSpPr>
            <a:cxnSpLocks/>
            <a:stCxn id="12" idx="7"/>
            <a:endCxn id="53" idx="3"/>
          </p:cNvCxnSpPr>
          <p:nvPr/>
        </p:nvCxnSpPr>
        <p:spPr>
          <a:xfrm flipV="1">
            <a:off x="10323493" y="3049450"/>
            <a:ext cx="148804" cy="38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95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58F3-7159-275B-0939-8E6931E35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4855-2703-B0BB-38A7-160F10DC8640}"/>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AB9BFE13-CB34-F0C3-363D-E640E7457CC4}"/>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93C7DC64-079A-37B5-8907-FB76A3FB956C}"/>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F38BC043-165D-78F1-4497-E1915FBD7944}"/>
              </a:ext>
            </a:extLst>
          </p:cNvPr>
          <p:cNvPicPr>
            <a:picLocks noChangeAspect="1"/>
          </p:cNvPicPr>
          <p:nvPr/>
        </p:nvPicPr>
        <p:blipFill>
          <a:blip r:embed="rId2"/>
          <a:stretch>
            <a:fillRect/>
          </a:stretch>
        </p:blipFill>
        <p:spPr>
          <a:xfrm>
            <a:off x="6416448" y="1596540"/>
            <a:ext cx="5639587" cy="3477110"/>
          </a:xfrm>
          <a:prstGeom prst="rect">
            <a:avLst/>
          </a:prstGeom>
        </p:spPr>
      </p:pic>
    </p:spTree>
    <p:extLst>
      <p:ext uri="{BB962C8B-B14F-4D97-AF65-F5344CB8AC3E}">
        <p14:creationId xmlns:p14="http://schemas.microsoft.com/office/powerpoint/2010/main" val="3382068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15C5-033F-EB4E-C156-4BD0622B4F3C}"/>
              </a:ext>
            </a:extLst>
          </p:cNvPr>
          <p:cNvSpPr>
            <a:spLocks noGrp="1"/>
          </p:cNvSpPr>
          <p:nvPr>
            <p:ph type="title"/>
          </p:nvPr>
        </p:nvSpPr>
        <p:spPr/>
        <p:txBody>
          <a:bodyPr>
            <a:normAutofit fontScale="90000"/>
          </a:bodyPr>
          <a:lstStyle/>
          <a:p>
            <a:r>
              <a:rPr lang="en-US" dirty="0"/>
              <a:t>Why Uniq in </a:t>
            </a:r>
            <a:r>
              <a:rPr lang="en-US" dirty="0" err="1"/>
              <a:t>KrakenUniq</a:t>
            </a:r>
            <a:r>
              <a:rPr lang="en-US" dirty="0"/>
              <a:t>?</a:t>
            </a:r>
          </a:p>
        </p:txBody>
      </p:sp>
      <p:sp>
        <p:nvSpPr>
          <p:cNvPr id="4" name="Slide Number Placeholder 3">
            <a:extLst>
              <a:ext uri="{FF2B5EF4-FFF2-40B4-BE49-F238E27FC236}">
                <a16:creationId xmlns:a16="http://schemas.microsoft.com/office/drawing/2014/main" id="{6A58353F-5DE3-1457-DA73-463601C475AF}"/>
              </a:ext>
            </a:extLst>
          </p:cNvPr>
          <p:cNvSpPr>
            <a:spLocks noGrp="1"/>
          </p:cNvSpPr>
          <p:nvPr>
            <p:ph type="sldNum" sz="quarter" idx="12"/>
          </p:nvPr>
        </p:nvSpPr>
        <p:spPr/>
        <p:txBody>
          <a:bodyPr/>
          <a:lstStyle/>
          <a:p>
            <a:fld id="{B82CCC60-E8CD-4174-8B1A-7DF615B22EEF}" type="slidenum">
              <a:rPr lang="en-US" smtClean="0"/>
              <a:pPr/>
              <a:t>8</a:t>
            </a:fld>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6B56381-9E09-D9C0-7959-7FD7F297F529}"/>
                  </a:ext>
                </a:extLst>
              </p14:cNvPr>
              <p14:cNvContentPartPr/>
              <p14:nvPr/>
            </p14:nvContentPartPr>
            <p14:xfrm>
              <a:off x="567227" y="4329966"/>
              <a:ext cx="3667320" cy="60120"/>
            </p14:xfrm>
          </p:contentPart>
        </mc:Choice>
        <mc:Fallback xmlns="">
          <p:pic>
            <p:nvPicPr>
              <p:cNvPr id="7" name="Ink 6">
                <a:extLst>
                  <a:ext uri="{FF2B5EF4-FFF2-40B4-BE49-F238E27FC236}">
                    <a16:creationId xmlns:a16="http://schemas.microsoft.com/office/drawing/2014/main" id="{46B56381-9E09-D9C0-7959-7FD7F297F529}"/>
                  </a:ext>
                </a:extLst>
              </p:cNvPr>
              <p:cNvPicPr/>
              <p:nvPr/>
            </p:nvPicPr>
            <p:blipFill>
              <a:blip r:embed="rId3"/>
              <a:stretch>
                <a:fillRect/>
              </a:stretch>
            </p:blipFill>
            <p:spPr>
              <a:xfrm>
                <a:off x="561107" y="4323846"/>
                <a:ext cx="36795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97D8D637-9EE0-F002-3C41-CB3E944CCD5F}"/>
                  </a:ext>
                </a:extLst>
              </p14:cNvPr>
              <p14:cNvContentPartPr/>
              <p14:nvPr/>
            </p14:nvContentPartPr>
            <p14:xfrm>
              <a:off x="5399147" y="4290366"/>
              <a:ext cx="4436280" cy="100080"/>
            </p14:xfrm>
          </p:contentPart>
        </mc:Choice>
        <mc:Fallback xmlns="">
          <p:pic>
            <p:nvPicPr>
              <p:cNvPr id="9" name="Ink 8">
                <a:extLst>
                  <a:ext uri="{FF2B5EF4-FFF2-40B4-BE49-F238E27FC236}">
                    <a16:creationId xmlns:a16="http://schemas.microsoft.com/office/drawing/2014/main" id="{97D8D637-9EE0-F002-3C41-CB3E944CCD5F}"/>
                  </a:ext>
                </a:extLst>
              </p:cNvPr>
              <p:cNvPicPr/>
              <p:nvPr/>
            </p:nvPicPr>
            <p:blipFill>
              <a:blip r:embed="rId5"/>
              <a:stretch>
                <a:fillRect/>
              </a:stretch>
            </p:blipFill>
            <p:spPr>
              <a:xfrm>
                <a:off x="5393027" y="4284246"/>
                <a:ext cx="4448520" cy="112320"/>
              </a:xfrm>
              <a:prstGeom prst="rect">
                <a:avLst/>
              </a:prstGeom>
            </p:spPr>
          </p:pic>
        </mc:Fallback>
      </mc:AlternateContent>
      <p:cxnSp>
        <p:nvCxnSpPr>
          <p:cNvPr id="12" name="Straight Connector 11">
            <a:extLst>
              <a:ext uri="{FF2B5EF4-FFF2-40B4-BE49-F238E27FC236}">
                <a16:creationId xmlns:a16="http://schemas.microsoft.com/office/drawing/2014/main" id="{2309FAC0-9F0F-248B-49E0-BFC25CFDC5E9}"/>
              </a:ext>
            </a:extLst>
          </p:cNvPr>
          <p:cNvCxnSpPr/>
          <p:nvPr/>
        </p:nvCxnSpPr>
        <p:spPr>
          <a:xfrm>
            <a:off x="2079057"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66B9CF-5EE9-172C-ACCF-B4261C3351FB}"/>
              </a:ext>
            </a:extLst>
          </p:cNvPr>
          <p:cNvCxnSpPr/>
          <p:nvPr/>
        </p:nvCxnSpPr>
        <p:spPr>
          <a:xfrm>
            <a:off x="2079057" y="393512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436ECA1-74BE-A8D4-F512-F8E72202384C}"/>
              </a:ext>
            </a:extLst>
          </p:cNvPr>
          <p:cNvCxnSpPr/>
          <p:nvPr/>
        </p:nvCxnSpPr>
        <p:spPr>
          <a:xfrm>
            <a:off x="2008472"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97713A7-979B-4EE0-7771-DCB66E1E2323}"/>
              </a:ext>
            </a:extLst>
          </p:cNvPr>
          <p:cNvCxnSpPr/>
          <p:nvPr/>
        </p:nvCxnSpPr>
        <p:spPr>
          <a:xfrm>
            <a:off x="2205790" y="4008922"/>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BD2AD0F-CE11-C409-62C0-74482C21156E}"/>
              </a:ext>
            </a:extLst>
          </p:cNvPr>
          <p:cNvCxnSpPr/>
          <p:nvPr/>
        </p:nvCxnSpPr>
        <p:spPr>
          <a:xfrm>
            <a:off x="2079057" y="380518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C9FF506-4E7C-B964-856F-76191C9F8386}"/>
              </a:ext>
            </a:extLst>
          </p:cNvPr>
          <p:cNvCxnSpPr/>
          <p:nvPr/>
        </p:nvCxnSpPr>
        <p:spPr>
          <a:xfrm>
            <a:off x="2079057" y="371695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CA1D44-B48C-A300-C04E-53648FA211B8}"/>
              </a:ext>
            </a:extLst>
          </p:cNvPr>
          <p:cNvCxnSpPr/>
          <p:nvPr/>
        </p:nvCxnSpPr>
        <p:spPr>
          <a:xfrm>
            <a:off x="2008472" y="3609474"/>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8151BCF-F69F-723F-B7FA-F155FF5385A3}"/>
              </a:ext>
            </a:extLst>
          </p:cNvPr>
          <p:cNvCxnSpPr/>
          <p:nvPr/>
        </p:nvCxnSpPr>
        <p:spPr>
          <a:xfrm>
            <a:off x="8617193" y="420463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B21D3C5-0093-6AE1-875F-DD874A087CEC}"/>
              </a:ext>
            </a:extLst>
          </p:cNvPr>
          <p:cNvCxnSpPr/>
          <p:nvPr/>
        </p:nvCxnSpPr>
        <p:spPr>
          <a:xfrm>
            <a:off x="8135930"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430118E-BF13-53B7-11DB-494949C57680}"/>
              </a:ext>
            </a:extLst>
          </p:cNvPr>
          <p:cNvCxnSpPr/>
          <p:nvPr/>
        </p:nvCxnSpPr>
        <p:spPr>
          <a:xfrm>
            <a:off x="5399147"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094FFD8-4A5D-B2D6-BE0E-861791A630D8}"/>
              </a:ext>
            </a:extLst>
          </p:cNvPr>
          <p:cNvCxnSpPr/>
          <p:nvPr/>
        </p:nvCxnSpPr>
        <p:spPr>
          <a:xfrm>
            <a:off x="6847749"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BF22833-0BC5-0174-B105-0468167E512E}"/>
              </a:ext>
            </a:extLst>
          </p:cNvPr>
          <p:cNvCxnSpPr/>
          <p:nvPr/>
        </p:nvCxnSpPr>
        <p:spPr>
          <a:xfrm>
            <a:off x="7423661" y="409394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69BB583-8B21-D9C6-A2C2-BC463A6F584C}"/>
              </a:ext>
            </a:extLst>
          </p:cNvPr>
          <p:cNvCxnSpPr/>
          <p:nvPr/>
        </p:nvCxnSpPr>
        <p:spPr>
          <a:xfrm>
            <a:off x="9223585" y="4175760"/>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FDB8621-FB0B-D01F-9FC2-D1E8505C0572}"/>
              </a:ext>
            </a:extLst>
          </p:cNvPr>
          <p:cNvCxnSpPr/>
          <p:nvPr/>
        </p:nvCxnSpPr>
        <p:spPr>
          <a:xfrm>
            <a:off x="6096000" y="4183781"/>
            <a:ext cx="413886"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9BDD9AA-753B-6CD7-52FF-9750DD861EF9}"/>
              </a:ext>
            </a:extLst>
          </p:cNvPr>
          <p:cNvSpPr txBox="1"/>
          <p:nvPr/>
        </p:nvSpPr>
        <p:spPr>
          <a:xfrm>
            <a:off x="1481725" y="4423010"/>
            <a:ext cx="1053494" cy="369332"/>
          </a:xfrm>
          <a:prstGeom prst="rect">
            <a:avLst/>
          </a:prstGeom>
          <a:noFill/>
        </p:spPr>
        <p:txBody>
          <a:bodyPr wrap="none" rtlCol="0">
            <a:spAutoFit/>
          </a:bodyPr>
          <a:lstStyle/>
          <a:p>
            <a:r>
              <a:rPr lang="en-US" dirty="0"/>
              <a:t>Species 1</a:t>
            </a:r>
          </a:p>
        </p:txBody>
      </p:sp>
      <p:sp>
        <p:nvSpPr>
          <p:cNvPr id="27" name="TextBox 26">
            <a:extLst>
              <a:ext uri="{FF2B5EF4-FFF2-40B4-BE49-F238E27FC236}">
                <a16:creationId xmlns:a16="http://schemas.microsoft.com/office/drawing/2014/main" id="{6FF17A60-9D01-FE5A-C193-4D14B5F65730}"/>
              </a:ext>
            </a:extLst>
          </p:cNvPr>
          <p:cNvSpPr txBox="1"/>
          <p:nvPr/>
        </p:nvSpPr>
        <p:spPr>
          <a:xfrm>
            <a:off x="7103857" y="4423010"/>
            <a:ext cx="1053494" cy="369332"/>
          </a:xfrm>
          <a:prstGeom prst="rect">
            <a:avLst/>
          </a:prstGeom>
          <a:noFill/>
        </p:spPr>
        <p:txBody>
          <a:bodyPr wrap="none" rtlCol="0">
            <a:spAutoFit/>
          </a:bodyPr>
          <a:lstStyle/>
          <a:p>
            <a:r>
              <a:rPr lang="en-US" dirty="0"/>
              <a:t>Species 2</a:t>
            </a:r>
          </a:p>
        </p:txBody>
      </p:sp>
      <p:sp>
        <p:nvSpPr>
          <p:cNvPr id="28" name="TextBox 27">
            <a:extLst>
              <a:ext uri="{FF2B5EF4-FFF2-40B4-BE49-F238E27FC236}">
                <a16:creationId xmlns:a16="http://schemas.microsoft.com/office/drawing/2014/main" id="{3183EA41-10AA-76CD-BAB4-D45D8E47E03A}"/>
              </a:ext>
            </a:extLst>
          </p:cNvPr>
          <p:cNvSpPr txBox="1"/>
          <p:nvPr/>
        </p:nvSpPr>
        <p:spPr>
          <a:xfrm>
            <a:off x="1232506" y="2528034"/>
            <a:ext cx="3146989" cy="646331"/>
          </a:xfrm>
          <a:prstGeom prst="rect">
            <a:avLst/>
          </a:prstGeom>
          <a:noFill/>
        </p:spPr>
        <p:txBody>
          <a:bodyPr wrap="square" rtlCol="0">
            <a:spAutoFit/>
          </a:bodyPr>
          <a:lstStyle/>
          <a:p>
            <a:r>
              <a:rPr lang="en-US" dirty="0"/>
              <a:t>NOT IN the sample due to </a:t>
            </a:r>
            <a:r>
              <a:rPr lang="en-US" i="1" dirty="0"/>
              <a:t>repeat</a:t>
            </a:r>
            <a:r>
              <a:rPr lang="en-US" dirty="0"/>
              <a:t> or </a:t>
            </a:r>
            <a:r>
              <a:rPr lang="en-US" i="1" dirty="0"/>
              <a:t>contamination</a:t>
            </a:r>
          </a:p>
        </p:txBody>
      </p:sp>
      <p:sp>
        <p:nvSpPr>
          <p:cNvPr id="29" name="TextBox 28">
            <a:extLst>
              <a:ext uri="{FF2B5EF4-FFF2-40B4-BE49-F238E27FC236}">
                <a16:creationId xmlns:a16="http://schemas.microsoft.com/office/drawing/2014/main" id="{C95B1692-0DE3-2BA3-B248-DA80A5175168}"/>
              </a:ext>
            </a:extLst>
          </p:cNvPr>
          <p:cNvSpPr txBox="1"/>
          <p:nvPr/>
        </p:nvSpPr>
        <p:spPr>
          <a:xfrm>
            <a:off x="6808855" y="3493875"/>
            <a:ext cx="1486304" cy="369332"/>
          </a:xfrm>
          <a:prstGeom prst="rect">
            <a:avLst/>
          </a:prstGeom>
          <a:noFill/>
        </p:spPr>
        <p:txBody>
          <a:bodyPr wrap="none" rtlCol="0">
            <a:spAutoFit/>
          </a:bodyPr>
          <a:lstStyle/>
          <a:p>
            <a:r>
              <a:rPr lang="en-US" dirty="0"/>
              <a:t>IN the sample</a:t>
            </a:r>
          </a:p>
        </p:txBody>
      </p:sp>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11428A4E-C573-AD96-90C6-96976AFCB1E2}"/>
                  </a:ext>
                </a:extLst>
              </p14:cNvPr>
              <p14:cNvContentPartPr/>
              <p14:nvPr/>
            </p14:nvContentPartPr>
            <p14:xfrm>
              <a:off x="1876547" y="3435726"/>
              <a:ext cx="763920" cy="1265760"/>
            </p14:xfrm>
          </p:contentPart>
        </mc:Choice>
        <mc:Fallback xmlns="">
          <p:pic>
            <p:nvPicPr>
              <p:cNvPr id="30" name="Ink 29">
                <a:extLst>
                  <a:ext uri="{FF2B5EF4-FFF2-40B4-BE49-F238E27FC236}">
                    <a16:creationId xmlns:a16="http://schemas.microsoft.com/office/drawing/2014/main" id="{11428A4E-C573-AD96-90C6-96976AFCB1E2}"/>
                  </a:ext>
                </a:extLst>
              </p:cNvPr>
              <p:cNvPicPr/>
              <p:nvPr/>
            </p:nvPicPr>
            <p:blipFill>
              <a:blip r:embed="rId7"/>
              <a:stretch>
                <a:fillRect/>
              </a:stretch>
            </p:blipFill>
            <p:spPr>
              <a:xfrm>
                <a:off x="1870427" y="3429606"/>
                <a:ext cx="776160" cy="127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4C77A02E-88A6-7029-EAB3-6F8D492FB2A7}"/>
                  </a:ext>
                </a:extLst>
              </p14:cNvPr>
              <p14:cNvContentPartPr/>
              <p14:nvPr/>
            </p14:nvContentPartPr>
            <p14:xfrm>
              <a:off x="1905347" y="3272286"/>
              <a:ext cx="684000" cy="1193760"/>
            </p14:xfrm>
          </p:contentPart>
        </mc:Choice>
        <mc:Fallback xmlns="">
          <p:pic>
            <p:nvPicPr>
              <p:cNvPr id="32" name="Ink 31">
                <a:extLst>
                  <a:ext uri="{FF2B5EF4-FFF2-40B4-BE49-F238E27FC236}">
                    <a16:creationId xmlns:a16="http://schemas.microsoft.com/office/drawing/2014/main" id="{4C77A02E-88A6-7029-EAB3-6F8D492FB2A7}"/>
                  </a:ext>
                </a:extLst>
              </p:cNvPr>
              <p:cNvPicPr/>
              <p:nvPr/>
            </p:nvPicPr>
            <p:blipFill>
              <a:blip r:embed="rId9"/>
              <a:stretch>
                <a:fillRect/>
              </a:stretch>
            </p:blipFill>
            <p:spPr>
              <a:xfrm>
                <a:off x="1899227" y="3266166"/>
                <a:ext cx="696240" cy="1206000"/>
              </a:xfrm>
              <a:prstGeom prst="rect">
                <a:avLst/>
              </a:prstGeom>
            </p:spPr>
          </p:pic>
        </mc:Fallback>
      </mc:AlternateContent>
    </p:spTree>
    <p:extLst>
      <p:ext uri="{BB962C8B-B14F-4D97-AF65-F5344CB8AC3E}">
        <p14:creationId xmlns:p14="http://schemas.microsoft.com/office/powerpoint/2010/main" val="1638590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69AF-1D90-B5EA-CBDB-20AEB47DABCB}"/>
              </a:ext>
            </a:extLst>
          </p:cNvPr>
          <p:cNvSpPr>
            <a:spLocks noGrp="1"/>
          </p:cNvSpPr>
          <p:nvPr>
            <p:ph type="title"/>
          </p:nvPr>
        </p:nvSpPr>
        <p:spPr/>
        <p:txBody>
          <a:bodyPr>
            <a:normAutofit fontScale="90000"/>
          </a:bodyPr>
          <a:lstStyle/>
          <a:p>
            <a:r>
              <a:rPr lang="en-US" dirty="0"/>
              <a:t>Even vs. Uneven coverage</a:t>
            </a:r>
          </a:p>
        </p:txBody>
      </p:sp>
      <p:sp>
        <p:nvSpPr>
          <p:cNvPr id="4" name="Slide Number Placeholder 3">
            <a:extLst>
              <a:ext uri="{FF2B5EF4-FFF2-40B4-BE49-F238E27FC236}">
                <a16:creationId xmlns:a16="http://schemas.microsoft.com/office/drawing/2014/main" id="{C8F59DD8-0265-482A-D0C4-284B7455601C}"/>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6" name="Picture 5">
            <a:extLst>
              <a:ext uri="{FF2B5EF4-FFF2-40B4-BE49-F238E27FC236}">
                <a16:creationId xmlns:a16="http://schemas.microsoft.com/office/drawing/2014/main" id="{7CA01A99-2297-7C5D-C0CF-85D608A24954}"/>
              </a:ext>
            </a:extLst>
          </p:cNvPr>
          <p:cNvPicPr>
            <a:picLocks noChangeAspect="1"/>
          </p:cNvPicPr>
          <p:nvPr/>
        </p:nvPicPr>
        <p:blipFill>
          <a:blip r:embed="rId2"/>
          <a:stretch>
            <a:fillRect/>
          </a:stretch>
        </p:blipFill>
        <p:spPr>
          <a:xfrm>
            <a:off x="609600" y="1815416"/>
            <a:ext cx="7316221" cy="4906060"/>
          </a:xfrm>
          <a:prstGeom prst="rect">
            <a:avLst/>
          </a:prstGeom>
        </p:spPr>
      </p:pic>
      <p:sp>
        <p:nvSpPr>
          <p:cNvPr id="7" name="TextBox 6">
            <a:extLst>
              <a:ext uri="{FF2B5EF4-FFF2-40B4-BE49-F238E27FC236}">
                <a16:creationId xmlns:a16="http://schemas.microsoft.com/office/drawing/2014/main" id="{EB7DC295-7095-AE43-E1C7-C19900D8FC62}"/>
              </a:ext>
            </a:extLst>
          </p:cNvPr>
          <p:cNvSpPr txBox="1"/>
          <p:nvPr/>
        </p:nvSpPr>
        <p:spPr>
          <a:xfrm>
            <a:off x="7089447" y="1292254"/>
            <a:ext cx="5026632" cy="369332"/>
          </a:xfrm>
          <a:prstGeom prst="rect">
            <a:avLst/>
          </a:prstGeom>
          <a:noFill/>
        </p:spPr>
        <p:txBody>
          <a:bodyPr wrap="none" rtlCol="0">
            <a:spAutoFit/>
          </a:bodyPr>
          <a:lstStyle/>
          <a:p>
            <a:r>
              <a:rPr lang="en-US" dirty="0" err="1"/>
              <a:t>Credit:https</a:t>
            </a:r>
            <a:r>
              <a:rPr lang="en-US" dirty="0"/>
              <a:t>://maximeborry.com/post/kraken-</a:t>
            </a:r>
            <a:r>
              <a:rPr lang="en-US" dirty="0" err="1"/>
              <a:t>uniq</a:t>
            </a:r>
            <a:r>
              <a:rPr lang="en-US" dirty="0"/>
              <a:t>/</a:t>
            </a:r>
          </a:p>
        </p:txBody>
      </p:sp>
      <p:sp>
        <p:nvSpPr>
          <p:cNvPr id="8" name="TextBox 7">
            <a:extLst>
              <a:ext uri="{FF2B5EF4-FFF2-40B4-BE49-F238E27FC236}">
                <a16:creationId xmlns:a16="http://schemas.microsoft.com/office/drawing/2014/main" id="{51983872-AA34-E857-6FAE-B3EA5F523AF9}"/>
              </a:ext>
            </a:extLst>
          </p:cNvPr>
          <p:cNvSpPr txBox="1"/>
          <p:nvPr/>
        </p:nvSpPr>
        <p:spPr>
          <a:xfrm>
            <a:off x="5444258" y="2262065"/>
            <a:ext cx="3109806" cy="369332"/>
          </a:xfrm>
          <a:prstGeom prst="rect">
            <a:avLst/>
          </a:prstGeom>
          <a:noFill/>
        </p:spPr>
        <p:txBody>
          <a:bodyPr wrap="square" rtlCol="0">
            <a:spAutoFit/>
          </a:bodyPr>
          <a:lstStyle/>
          <a:p>
            <a:r>
              <a:rPr lang="en-US" b="1" dirty="0"/>
              <a:t>7</a:t>
            </a:r>
            <a:r>
              <a:rPr lang="en-US" dirty="0"/>
              <a:t> reads, </a:t>
            </a:r>
            <a:r>
              <a:rPr lang="en-US" b="1" dirty="0"/>
              <a:t>low</a:t>
            </a:r>
            <a:r>
              <a:rPr lang="en-US" dirty="0"/>
              <a:t> duplication ratio</a:t>
            </a:r>
          </a:p>
        </p:txBody>
      </p:sp>
      <p:sp>
        <p:nvSpPr>
          <p:cNvPr id="9" name="TextBox 8">
            <a:extLst>
              <a:ext uri="{FF2B5EF4-FFF2-40B4-BE49-F238E27FC236}">
                <a16:creationId xmlns:a16="http://schemas.microsoft.com/office/drawing/2014/main" id="{E65A6CE0-CF9C-B0F6-493B-E1646D0B1567}"/>
              </a:ext>
            </a:extLst>
          </p:cNvPr>
          <p:cNvSpPr txBox="1"/>
          <p:nvPr/>
        </p:nvSpPr>
        <p:spPr>
          <a:xfrm>
            <a:off x="5444258" y="4122438"/>
            <a:ext cx="3109806" cy="369332"/>
          </a:xfrm>
          <a:prstGeom prst="rect">
            <a:avLst/>
          </a:prstGeom>
          <a:noFill/>
        </p:spPr>
        <p:txBody>
          <a:bodyPr wrap="square" rtlCol="0">
            <a:spAutoFit/>
          </a:bodyPr>
          <a:lstStyle/>
          <a:p>
            <a:r>
              <a:rPr lang="en-US" b="1" dirty="0"/>
              <a:t>2</a:t>
            </a:r>
            <a:r>
              <a:rPr lang="en-US" dirty="0"/>
              <a:t> reads, </a:t>
            </a:r>
            <a:r>
              <a:rPr lang="en-US" b="1" dirty="0"/>
              <a:t>high</a:t>
            </a:r>
            <a:r>
              <a:rPr lang="en-US" dirty="0"/>
              <a:t> duplication ratio</a:t>
            </a:r>
          </a:p>
        </p:txBody>
      </p:sp>
    </p:spTree>
    <p:extLst>
      <p:ext uri="{BB962C8B-B14F-4D97-AF65-F5344CB8AC3E}">
        <p14:creationId xmlns:p14="http://schemas.microsoft.com/office/powerpoint/2010/main" val="169986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0C8-7423-0921-33B1-1A65892CB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EC0EA-C0EE-9BA9-2A59-F7E32D973E87}"/>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7B264D54-BA8D-456A-8DF7-3527C0DB17AF}"/>
              </a:ext>
            </a:extLst>
          </p:cNvPr>
          <p:cNvSpPr>
            <a:spLocks noGrp="1"/>
          </p:cNvSpPr>
          <p:nvPr>
            <p:ph idx="1"/>
          </p:nvPr>
        </p:nvSpPr>
        <p:spPr>
          <a:xfrm>
            <a:off x="534106" y="1580412"/>
            <a:ext cx="10972800" cy="5124936"/>
          </a:xfrm>
        </p:spPr>
        <p:txBody>
          <a:bodyPr/>
          <a:lstStyle/>
          <a:p>
            <a:r>
              <a:rPr lang="en-US" dirty="0"/>
              <a:t>WARNING!  Contamination!</a:t>
            </a:r>
          </a:p>
          <a:p>
            <a:pPr lvl="1"/>
            <a:r>
              <a:rPr lang="en-US" dirty="0"/>
              <a:t>Species detected != It is in the sample</a:t>
            </a:r>
          </a:p>
          <a:p>
            <a:pPr lvl="2"/>
            <a:r>
              <a:rPr lang="en-US" dirty="0"/>
              <a:t>Lab contamination</a:t>
            </a:r>
          </a:p>
          <a:p>
            <a:pPr lvl="2"/>
            <a:r>
              <a:rPr lang="en-US" dirty="0"/>
              <a:t>Illumina sequencing chemicals have contaminants in them</a:t>
            </a:r>
          </a:p>
          <a:p>
            <a:pPr lvl="2"/>
            <a:r>
              <a:rPr lang="en-US" dirty="0"/>
              <a:t>Sample collection contamination</a:t>
            </a:r>
          </a:p>
          <a:p>
            <a:pPr lvl="1"/>
            <a:r>
              <a:rPr lang="en-US" dirty="0"/>
              <a:t>Can run control sample to eliminate contamination</a:t>
            </a:r>
          </a:p>
          <a:p>
            <a:pPr lvl="1"/>
            <a:r>
              <a:rPr lang="en-US" dirty="0"/>
              <a:t>Add human to database to avoid classifying contaminated genomes</a:t>
            </a:r>
          </a:p>
          <a:p>
            <a:r>
              <a:rPr lang="en-US" dirty="0" err="1"/>
              <a:t>KrakenUniq</a:t>
            </a:r>
            <a:r>
              <a:rPr lang="en-US" dirty="0"/>
              <a:t> DEMO </a:t>
            </a:r>
            <a:br>
              <a:rPr lang="en-US" dirty="0"/>
            </a:br>
            <a:r>
              <a:rPr lang="en-US" dirty="0">
                <a:hlinkClick r:id="rId2"/>
              </a:rPr>
              <a:t>https://www.ncbi.nlm.nih.gov/sra/?term=ERR15403501</a:t>
            </a:r>
            <a:endParaRPr lang="en-US" dirty="0"/>
          </a:p>
          <a:p>
            <a:endParaRPr lang="en-US" dirty="0"/>
          </a:p>
        </p:txBody>
      </p:sp>
      <p:sp>
        <p:nvSpPr>
          <p:cNvPr id="4" name="Slide Number Placeholder 3">
            <a:extLst>
              <a:ext uri="{FF2B5EF4-FFF2-40B4-BE49-F238E27FC236}">
                <a16:creationId xmlns:a16="http://schemas.microsoft.com/office/drawing/2014/main" id="{88770BC6-C7E7-68F8-07FB-7AAFB51FA596}"/>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4236014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00B6-32B5-6192-8B80-2530E3D7A84C}"/>
              </a:ext>
            </a:extLst>
          </p:cNvPr>
          <p:cNvSpPr>
            <a:spLocks noGrp="1"/>
          </p:cNvSpPr>
          <p:nvPr>
            <p:ph type="title"/>
          </p:nvPr>
        </p:nvSpPr>
        <p:spPr/>
        <p:txBody>
          <a:bodyPr>
            <a:normAutofit fontScale="90000"/>
          </a:bodyPr>
          <a:lstStyle/>
          <a:p>
            <a:r>
              <a:rPr lang="en-US" dirty="0"/>
              <a:t>Long-read metagenomics</a:t>
            </a:r>
          </a:p>
        </p:txBody>
      </p:sp>
      <p:sp>
        <p:nvSpPr>
          <p:cNvPr id="3" name="Content Placeholder 2">
            <a:extLst>
              <a:ext uri="{FF2B5EF4-FFF2-40B4-BE49-F238E27FC236}">
                <a16:creationId xmlns:a16="http://schemas.microsoft.com/office/drawing/2014/main" id="{ACCA6921-BB05-1912-4608-5CC9E7E78CF6}"/>
              </a:ext>
            </a:extLst>
          </p:cNvPr>
          <p:cNvSpPr>
            <a:spLocks noGrp="1"/>
          </p:cNvSpPr>
          <p:nvPr>
            <p:ph idx="1"/>
          </p:nvPr>
        </p:nvSpPr>
        <p:spPr>
          <a:xfrm>
            <a:off x="598620" y="1596540"/>
            <a:ext cx="10972800" cy="5008797"/>
          </a:xfrm>
        </p:spPr>
        <p:txBody>
          <a:bodyPr/>
          <a:lstStyle/>
          <a:p>
            <a:r>
              <a:rPr lang="en-US" dirty="0"/>
              <a:t>Long read sequencing is getting cheaper -&gt; can use them for metagenomic samples</a:t>
            </a:r>
          </a:p>
          <a:p>
            <a:r>
              <a:rPr lang="en-US" dirty="0"/>
              <a:t>ONT MinION is portable – can take it into the field</a:t>
            </a:r>
          </a:p>
          <a:p>
            <a:r>
              <a:rPr lang="en-US" dirty="0"/>
              <a:t>Each read yields more K-</a:t>
            </a:r>
            <a:r>
              <a:rPr lang="en-US" dirty="0" err="1"/>
              <a:t>mers</a:t>
            </a:r>
            <a:endParaRPr lang="en-US" dirty="0"/>
          </a:p>
          <a:p>
            <a:r>
              <a:rPr lang="en-US" dirty="0"/>
              <a:t>Create database of sketches or minimizers in genomes</a:t>
            </a:r>
          </a:p>
          <a:p>
            <a:pPr lvl="1"/>
            <a:r>
              <a:rPr lang="en-US" dirty="0"/>
              <a:t>Use minimizers with large window size – number or minimizers proportional to each genome size, or</a:t>
            </a:r>
          </a:p>
          <a:p>
            <a:pPr lvl="1"/>
            <a:r>
              <a:rPr lang="en-US" dirty="0"/>
              <a:t>Use fixed size sketches</a:t>
            </a:r>
          </a:p>
          <a:p>
            <a:r>
              <a:rPr lang="en-US" dirty="0"/>
              <a:t>Assign the Tax ID of the lowest common ancestor to each K-mer</a:t>
            </a:r>
          </a:p>
        </p:txBody>
      </p:sp>
      <p:sp>
        <p:nvSpPr>
          <p:cNvPr id="4" name="Slide Number Placeholder 3">
            <a:extLst>
              <a:ext uri="{FF2B5EF4-FFF2-40B4-BE49-F238E27FC236}">
                <a16:creationId xmlns:a16="http://schemas.microsoft.com/office/drawing/2014/main" id="{6A8525EC-A8F4-5C74-96A2-841EE47E8E7A}"/>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5" name="Picture 4">
            <a:extLst>
              <a:ext uri="{FF2B5EF4-FFF2-40B4-BE49-F238E27FC236}">
                <a16:creationId xmlns:a16="http://schemas.microsoft.com/office/drawing/2014/main" id="{A64DBAE8-6AC2-456B-C4AF-8AA16BFF8C94}"/>
              </a:ext>
            </a:extLst>
          </p:cNvPr>
          <p:cNvPicPr>
            <a:picLocks noChangeAspect="1"/>
          </p:cNvPicPr>
          <p:nvPr/>
        </p:nvPicPr>
        <p:blipFill>
          <a:blip r:embed="rId2"/>
          <a:stretch>
            <a:fillRect/>
          </a:stretch>
        </p:blipFill>
        <p:spPr>
          <a:xfrm>
            <a:off x="8533569" y="2138950"/>
            <a:ext cx="2047479" cy="892701"/>
          </a:xfrm>
          <a:prstGeom prst="rect">
            <a:avLst/>
          </a:prstGeom>
        </p:spPr>
      </p:pic>
    </p:spTree>
    <p:extLst>
      <p:ext uri="{BB962C8B-B14F-4D97-AF65-F5344CB8AC3E}">
        <p14:creationId xmlns:p14="http://schemas.microsoft.com/office/powerpoint/2010/main" val="462681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32BC-F28F-CB44-3A6A-24FD3E899FE7}"/>
              </a:ext>
            </a:extLst>
          </p:cNvPr>
          <p:cNvSpPr>
            <a:spLocks noGrp="1"/>
          </p:cNvSpPr>
          <p:nvPr>
            <p:ph type="title"/>
          </p:nvPr>
        </p:nvSpPr>
        <p:spPr/>
        <p:txBody>
          <a:bodyPr>
            <a:normAutofit fontScale="90000"/>
          </a:bodyPr>
          <a:lstStyle/>
          <a:p>
            <a:r>
              <a:rPr lang="en-US" dirty="0"/>
              <a:t>Making sense of genomic sequence</a:t>
            </a:r>
          </a:p>
        </p:txBody>
      </p:sp>
      <p:sp>
        <p:nvSpPr>
          <p:cNvPr id="3" name="Content Placeholder 2">
            <a:extLst>
              <a:ext uri="{FF2B5EF4-FFF2-40B4-BE49-F238E27FC236}">
                <a16:creationId xmlns:a16="http://schemas.microsoft.com/office/drawing/2014/main" id="{3FAB2AAB-32CD-6C80-DBE6-A5E636746884}"/>
              </a:ext>
            </a:extLst>
          </p:cNvPr>
          <p:cNvSpPr>
            <a:spLocks noGrp="1"/>
          </p:cNvSpPr>
          <p:nvPr>
            <p:ph idx="1"/>
          </p:nvPr>
        </p:nvSpPr>
        <p:spPr>
          <a:xfrm>
            <a:off x="598620" y="1596540"/>
            <a:ext cx="10972800" cy="4759811"/>
          </a:xfrm>
        </p:spPr>
        <p:txBody>
          <a:bodyPr>
            <a:normAutofit/>
          </a:bodyPr>
          <a:lstStyle/>
          <a:p>
            <a:r>
              <a:rPr lang="en-US" dirty="0"/>
              <a:t>We assembled the genome – what is next?</a:t>
            </a:r>
          </a:p>
          <a:p>
            <a:r>
              <a:rPr lang="en-US" dirty="0"/>
              <a:t>We can identify functionally important elements (subsequences):</a:t>
            </a:r>
          </a:p>
          <a:p>
            <a:pPr lvl="1"/>
            <a:r>
              <a:rPr lang="en-US" dirty="0"/>
              <a:t>Genes</a:t>
            </a:r>
          </a:p>
          <a:p>
            <a:pPr lvl="1"/>
            <a:r>
              <a:rPr lang="en-US" dirty="0"/>
              <a:t>Protein coding regions</a:t>
            </a:r>
          </a:p>
          <a:p>
            <a:pPr lvl="1"/>
            <a:r>
              <a:rPr lang="en-US" dirty="0"/>
              <a:t>Regulatory elements</a:t>
            </a:r>
          </a:p>
          <a:p>
            <a:pPr lvl="1"/>
            <a:r>
              <a:rPr lang="en-US" dirty="0"/>
              <a:t>This is called </a:t>
            </a:r>
            <a:r>
              <a:rPr lang="en-US" i="1" dirty="0"/>
              <a:t>genome annotation</a:t>
            </a:r>
          </a:p>
          <a:p>
            <a:r>
              <a:rPr lang="en-US" i="1" dirty="0"/>
              <a:t>Genome annotation </a:t>
            </a:r>
            <a:r>
              <a:rPr lang="en-US" dirty="0"/>
              <a:t>provides coordinates (start, stop and strand) and identifies function of functional elements in the genomic sequence</a:t>
            </a:r>
            <a:endParaRPr lang="en-US" i="1" dirty="0"/>
          </a:p>
        </p:txBody>
      </p:sp>
      <p:sp>
        <p:nvSpPr>
          <p:cNvPr id="4" name="Slide Number Placeholder 3">
            <a:extLst>
              <a:ext uri="{FF2B5EF4-FFF2-40B4-BE49-F238E27FC236}">
                <a16:creationId xmlns:a16="http://schemas.microsoft.com/office/drawing/2014/main" id="{2B709678-CD1E-EF3C-E7B0-557C6BD58873}"/>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269707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B229-F05B-9C72-C7AC-C9C4E770B563}"/>
              </a:ext>
            </a:extLst>
          </p:cNvPr>
          <p:cNvSpPr>
            <a:spLocks noGrp="1"/>
          </p:cNvSpPr>
          <p:nvPr>
            <p:ph type="title"/>
          </p:nvPr>
        </p:nvSpPr>
        <p:spPr/>
        <p:txBody>
          <a:bodyPr>
            <a:normAutofit fontScale="90000"/>
          </a:bodyPr>
          <a:lstStyle/>
          <a:p>
            <a:r>
              <a:rPr lang="en-US" dirty="0"/>
              <a:t>How transcription + translation works?</a:t>
            </a:r>
          </a:p>
        </p:txBody>
      </p:sp>
      <p:pic>
        <p:nvPicPr>
          <p:cNvPr id="5" name="Picture 4">
            <a:extLst>
              <a:ext uri="{FF2B5EF4-FFF2-40B4-BE49-F238E27FC236}">
                <a16:creationId xmlns:a16="http://schemas.microsoft.com/office/drawing/2014/main" id="{4F2E8170-E86A-1FC5-986A-6762D834E690}"/>
              </a:ext>
            </a:extLst>
          </p:cNvPr>
          <p:cNvPicPr>
            <a:picLocks noChangeAspect="1"/>
          </p:cNvPicPr>
          <p:nvPr/>
        </p:nvPicPr>
        <p:blipFill>
          <a:blip r:embed="rId3"/>
          <a:stretch>
            <a:fillRect/>
          </a:stretch>
        </p:blipFill>
        <p:spPr>
          <a:xfrm>
            <a:off x="271921" y="1457739"/>
            <a:ext cx="6770056" cy="5400261"/>
          </a:xfrm>
          <a:prstGeom prst="rect">
            <a:avLst/>
          </a:prstGeom>
        </p:spPr>
      </p:pic>
      <p:sp>
        <p:nvSpPr>
          <p:cNvPr id="6" name="Content Placeholder 2">
            <a:extLst>
              <a:ext uri="{FF2B5EF4-FFF2-40B4-BE49-F238E27FC236}">
                <a16:creationId xmlns:a16="http://schemas.microsoft.com/office/drawing/2014/main" id="{FA4D5DA9-CA09-D0F9-E6B9-42615BC1B89C}"/>
              </a:ext>
            </a:extLst>
          </p:cNvPr>
          <p:cNvSpPr>
            <a:spLocks noGrp="1"/>
          </p:cNvSpPr>
          <p:nvPr>
            <p:ph idx="1"/>
          </p:nvPr>
        </p:nvSpPr>
        <p:spPr>
          <a:xfrm>
            <a:off x="7276563" y="1457738"/>
            <a:ext cx="4915437" cy="5400261"/>
          </a:xfrm>
        </p:spPr>
        <p:txBody>
          <a:bodyPr/>
          <a:lstStyle/>
          <a:p>
            <a:r>
              <a:rPr lang="en-US" b="0" i="0" dirty="0">
                <a:solidFill>
                  <a:srgbClr val="1B1B1B"/>
                </a:solidFill>
                <a:effectLst/>
              </a:rPr>
              <a:t>Transcription and translation are processes a cell uses to make all proteins the organism needs to function from information stored in the sequence of bases in DNA</a:t>
            </a:r>
          </a:p>
          <a:p>
            <a:r>
              <a:rPr lang="en-US" dirty="0">
                <a:solidFill>
                  <a:srgbClr val="1B1B1B"/>
                </a:solidFill>
              </a:rPr>
              <a:t>Pre-mRNA has introns</a:t>
            </a:r>
          </a:p>
          <a:p>
            <a:r>
              <a:rPr lang="en-US" b="0" i="0" dirty="0">
                <a:solidFill>
                  <a:srgbClr val="1B1B1B"/>
                </a:solidFill>
                <a:effectLst/>
              </a:rPr>
              <a:t>mRNA has introns spliced out</a:t>
            </a:r>
          </a:p>
          <a:p>
            <a:r>
              <a:rPr lang="en-US" dirty="0">
                <a:solidFill>
                  <a:srgbClr val="1B1B1B"/>
                </a:solidFill>
              </a:rPr>
              <a:t>Transcript is mRNA with T(Thymine) replaced by U(Uracil)</a:t>
            </a:r>
            <a:endParaRPr lang="en-US" b="0" i="0" dirty="0">
              <a:solidFill>
                <a:srgbClr val="1B1B1B"/>
              </a:solidFill>
              <a:effectLst/>
            </a:endParaRPr>
          </a:p>
          <a:p>
            <a:endParaRPr lang="en-US" dirty="0"/>
          </a:p>
        </p:txBody>
      </p:sp>
    </p:spTree>
    <p:extLst>
      <p:ext uri="{BB962C8B-B14F-4D97-AF65-F5344CB8AC3E}">
        <p14:creationId xmlns:p14="http://schemas.microsoft.com/office/powerpoint/2010/main" val="2537393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823B4-97A5-41D1-7D2E-8C4914CE5E61}"/>
              </a:ext>
            </a:extLst>
          </p:cNvPr>
          <p:cNvSpPr>
            <a:spLocks noGrp="1"/>
          </p:cNvSpPr>
          <p:nvPr>
            <p:ph type="title"/>
          </p:nvPr>
        </p:nvSpPr>
        <p:spPr/>
        <p:txBody>
          <a:bodyPr>
            <a:normAutofit fontScale="90000"/>
          </a:bodyPr>
          <a:lstStyle/>
          <a:p>
            <a:r>
              <a:rPr lang="en-US" dirty="0"/>
              <a:t>Transcription -- initiation</a:t>
            </a:r>
          </a:p>
        </p:txBody>
      </p:sp>
      <p:sp>
        <p:nvSpPr>
          <p:cNvPr id="4" name="Slide Number Placeholder 3">
            <a:extLst>
              <a:ext uri="{FF2B5EF4-FFF2-40B4-BE49-F238E27FC236}">
                <a16:creationId xmlns:a16="http://schemas.microsoft.com/office/drawing/2014/main" id="{AA094019-8A5F-05A0-6A08-83E8B2ED8399}"/>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6EBD4EDA-E014-5986-767D-AB3135664781}"/>
              </a:ext>
            </a:extLst>
          </p:cNvPr>
          <p:cNvPicPr>
            <a:picLocks noChangeAspect="1"/>
          </p:cNvPicPr>
          <p:nvPr/>
        </p:nvPicPr>
        <p:blipFill>
          <a:blip r:embed="rId2"/>
          <a:stretch>
            <a:fillRect/>
          </a:stretch>
        </p:blipFill>
        <p:spPr>
          <a:xfrm>
            <a:off x="413656" y="1678342"/>
            <a:ext cx="7114995" cy="5168772"/>
          </a:xfrm>
          <a:prstGeom prst="rect">
            <a:avLst/>
          </a:prstGeom>
        </p:spPr>
      </p:pic>
      <p:sp>
        <p:nvSpPr>
          <p:cNvPr id="7" name="TextBox 6">
            <a:extLst>
              <a:ext uri="{FF2B5EF4-FFF2-40B4-BE49-F238E27FC236}">
                <a16:creationId xmlns:a16="http://schemas.microsoft.com/office/drawing/2014/main" id="{C2766BE8-4599-CBBC-E3F7-FB863719C5CE}"/>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spTree>
    <p:extLst>
      <p:ext uri="{BB962C8B-B14F-4D97-AF65-F5344CB8AC3E}">
        <p14:creationId xmlns:p14="http://schemas.microsoft.com/office/powerpoint/2010/main" val="3165595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DC607-0552-8196-159E-B8C2666B7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FA2F2-FBB3-7045-7E59-4A34C78A4822}"/>
              </a:ext>
            </a:extLst>
          </p:cNvPr>
          <p:cNvSpPr>
            <a:spLocks noGrp="1"/>
          </p:cNvSpPr>
          <p:nvPr>
            <p:ph type="title"/>
          </p:nvPr>
        </p:nvSpPr>
        <p:spPr/>
        <p:txBody>
          <a:bodyPr>
            <a:normAutofit fontScale="90000"/>
          </a:bodyPr>
          <a:lstStyle/>
          <a:p>
            <a:r>
              <a:rPr lang="en-US" dirty="0"/>
              <a:t>Transcription -- elongation</a:t>
            </a:r>
          </a:p>
        </p:txBody>
      </p:sp>
      <p:sp>
        <p:nvSpPr>
          <p:cNvPr id="4" name="Slide Number Placeholder 3">
            <a:extLst>
              <a:ext uri="{FF2B5EF4-FFF2-40B4-BE49-F238E27FC236}">
                <a16:creationId xmlns:a16="http://schemas.microsoft.com/office/drawing/2014/main" id="{6253CF9B-0121-BFE6-D989-C5DA7F2E610C}"/>
              </a:ext>
            </a:extLst>
          </p:cNvPr>
          <p:cNvSpPr>
            <a:spLocks noGrp="1"/>
          </p:cNvSpPr>
          <p:nvPr>
            <p:ph type="sldNum" sz="quarter" idx="12"/>
          </p:nvPr>
        </p:nvSpPr>
        <p:spPr/>
        <p:txBody>
          <a:bodyPr/>
          <a:lstStyle/>
          <a:p>
            <a:fld id="{B82CCC60-E8CD-4174-8B1A-7DF615B22EEF}" type="slidenum">
              <a:rPr lang="en-US" smtClean="0"/>
              <a:pPr/>
              <a:t>15</a:t>
            </a:fld>
            <a:endParaRPr lang="en-US"/>
          </a:p>
        </p:txBody>
      </p:sp>
      <p:sp>
        <p:nvSpPr>
          <p:cNvPr id="7" name="TextBox 6">
            <a:extLst>
              <a:ext uri="{FF2B5EF4-FFF2-40B4-BE49-F238E27FC236}">
                <a16:creationId xmlns:a16="http://schemas.microsoft.com/office/drawing/2014/main" id="{4617D148-25B7-808E-A646-6340F22289B4}"/>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1F9435B9-EEF8-A6FE-5EBC-CF1303167BB1}"/>
              </a:ext>
            </a:extLst>
          </p:cNvPr>
          <p:cNvPicPr>
            <a:picLocks noChangeAspect="1"/>
          </p:cNvPicPr>
          <p:nvPr/>
        </p:nvPicPr>
        <p:blipFill>
          <a:blip r:embed="rId2"/>
          <a:stretch>
            <a:fillRect/>
          </a:stretch>
        </p:blipFill>
        <p:spPr>
          <a:xfrm>
            <a:off x="318650" y="1661887"/>
            <a:ext cx="7686418" cy="5196114"/>
          </a:xfrm>
          <a:prstGeom prst="rect">
            <a:avLst/>
          </a:prstGeom>
        </p:spPr>
      </p:pic>
    </p:spTree>
    <p:extLst>
      <p:ext uri="{BB962C8B-B14F-4D97-AF65-F5344CB8AC3E}">
        <p14:creationId xmlns:p14="http://schemas.microsoft.com/office/powerpoint/2010/main" val="2104384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6FB4-1A91-54CC-35E8-8123414D7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BD723-47D1-4B41-206B-9C6BAF1C7906}"/>
              </a:ext>
            </a:extLst>
          </p:cNvPr>
          <p:cNvSpPr>
            <a:spLocks noGrp="1"/>
          </p:cNvSpPr>
          <p:nvPr>
            <p:ph type="title"/>
          </p:nvPr>
        </p:nvSpPr>
        <p:spPr/>
        <p:txBody>
          <a:bodyPr>
            <a:normAutofit fontScale="90000"/>
          </a:bodyPr>
          <a:lstStyle/>
          <a:p>
            <a:r>
              <a:rPr lang="en-US" dirty="0"/>
              <a:t>Transcription -- termination</a:t>
            </a:r>
          </a:p>
        </p:txBody>
      </p:sp>
      <p:sp>
        <p:nvSpPr>
          <p:cNvPr id="4" name="Slide Number Placeholder 3">
            <a:extLst>
              <a:ext uri="{FF2B5EF4-FFF2-40B4-BE49-F238E27FC236}">
                <a16:creationId xmlns:a16="http://schemas.microsoft.com/office/drawing/2014/main" id="{12DC14C3-E7BD-B9A5-D1B6-46F698E2A728}"/>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7" name="TextBox 6">
            <a:extLst>
              <a:ext uri="{FF2B5EF4-FFF2-40B4-BE49-F238E27FC236}">
                <a16:creationId xmlns:a16="http://schemas.microsoft.com/office/drawing/2014/main" id="{581B6BB3-9EC0-E547-AC98-AE9B3F2461F7}"/>
              </a:ext>
            </a:extLst>
          </p:cNvPr>
          <p:cNvSpPr txBox="1"/>
          <p:nvPr/>
        </p:nvSpPr>
        <p:spPr>
          <a:xfrm>
            <a:off x="7982857" y="6291943"/>
            <a:ext cx="2858539" cy="369332"/>
          </a:xfrm>
          <a:prstGeom prst="rect">
            <a:avLst/>
          </a:prstGeom>
          <a:noFill/>
        </p:spPr>
        <p:txBody>
          <a:bodyPr wrap="none" rtlCol="0">
            <a:spAutoFit/>
          </a:bodyPr>
          <a:lstStyle/>
          <a:p>
            <a:r>
              <a:rPr lang="en-US" dirty="0"/>
              <a:t>Image credit: Khan Academy</a:t>
            </a:r>
          </a:p>
        </p:txBody>
      </p:sp>
      <p:pic>
        <p:nvPicPr>
          <p:cNvPr id="6" name="Picture 5">
            <a:extLst>
              <a:ext uri="{FF2B5EF4-FFF2-40B4-BE49-F238E27FC236}">
                <a16:creationId xmlns:a16="http://schemas.microsoft.com/office/drawing/2014/main" id="{BE57349B-7048-2F49-9D02-E8DE2D83E114}"/>
              </a:ext>
            </a:extLst>
          </p:cNvPr>
          <p:cNvPicPr>
            <a:picLocks noChangeAspect="1"/>
          </p:cNvPicPr>
          <p:nvPr/>
        </p:nvPicPr>
        <p:blipFill>
          <a:blip r:embed="rId2"/>
          <a:stretch>
            <a:fillRect/>
          </a:stretch>
        </p:blipFill>
        <p:spPr>
          <a:xfrm>
            <a:off x="172612" y="1966989"/>
            <a:ext cx="9335803" cy="4324954"/>
          </a:xfrm>
          <a:prstGeom prst="rect">
            <a:avLst/>
          </a:prstGeom>
        </p:spPr>
      </p:pic>
    </p:spTree>
    <p:extLst>
      <p:ext uri="{BB962C8B-B14F-4D97-AF65-F5344CB8AC3E}">
        <p14:creationId xmlns:p14="http://schemas.microsoft.com/office/powerpoint/2010/main" val="511114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919A-8AF5-A420-27C1-CD180F4F6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C3A2F-01D9-B78E-E3B9-6E455AD58A93}"/>
              </a:ext>
            </a:extLst>
          </p:cNvPr>
          <p:cNvSpPr>
            <a:spLocks noGrp="1"/>
          </p:cNvSpPr>
          <p:nvPr>
            <p:ph type="title"/>
          </p:nvPr>
        </p:nvSpPr>
        <p:spPr/>
        <p:txBody>
          <a:bodyPr>
            <a:normAutofit fontScale="90000"/>
          </a:bodyPr>
          <a:lstStyle/>
          <a:p>
            <a:r>
              <a:rPr lang="en-US" dirty="0"/>
              <a:t>Transcription -- splicing</a:t>
            </a:r>
          </a:p>
        </p:txBody>
      </p:sp>
      <p:sp>
        <p:nvSpPr>
          <p:cNvPr id="4" name="Slide Number Placeholder 3">
            <a:extLst>
              <a:ext uri="{FF2B5EF4-FFF2-40B4-BE49-F238E27FC236}">
                <a16:creationId xmlns:a16="http://schemas.microsoft.com/office/drawing/2014/main" id="{08985A17-241D-1E99-382E-2538E5FE17B8}"/>
              </a:ext>
            </a:extLst>
          </p:cNvPr>
          <p:cNvSpPr>
            <a:spLocks noGrp="1"/>
          </p:cNvSpPr>
          <p:nvPr>
            <p:ph type="sldNum" sz="quarter" idx="12"/>
          </p:nvPr>
        </p:nvSpPr>
        <p:spPr/>
        <p:txBody>
          <a:bodyPr/>
          <a:lstStyle/>
          <a:p>
            <a:fld id="{B82CCC60-E8CD-4174-8B1A-7DF615B22EEF}" type="slidenum">
              <a:rPr lang="en-US" smtClean="0"/>
              <a:pPr/>
              <a:t>17</a:t>
            </a:fld>
            <a:endParaRPr lang="en-US"/>
          </a:p>
        </p:txBody>
      </p:sp>
      <p:sp>
        <p:nvSpPr>
          <p:cNvPr id="7" name="TextBox 6">
            <a:extLst>
              <a:ext uri="{FF2B5EF4-FFF2-40B4-BE49-F238E27FC236}">
                <a16:creationId xmlns:a16="http://schemas.microsoft.com/office/drawing/2014/main" id="{2E0BAC87-D141-E7BB-A22D-9DCF51C586F5}"/>
              </a:ext>
            </a:extLst>
          </p:cNvPr>
          <p:cNvSpPr txBox="1"/>
          <p:nvPr/>
        </p:nvSpPr>
        <p:spPr>
          <a:xfrm>
            <a:off x="7868993" y="6488668"/>
            <a:ext cx="2858539" cy="369332"/>
          </a:xfrm>
          <a:prstGeom prst="rect">
            <a:avLst/>
          </a:prstGeom>
          <a:noFill/>
        </p:spPr>
        <p:txBody>
          <a:bodyPr wrap="none" rtlCol="0">
            <a:spAutoFit/>
          </a:bodyPr>
          <a:lstStyle/>
          <a:p>
            <a:r>
              <a:rPr lang="en-US" dirty="0"/>
              <a:t>Image credit: Khan Academy</a:t>
            </a:r>
          </a:p>
        </p:txBody>
      </p:sp>
      <p:pic>
        <p:nvPicPr>
          <p:cNvPr id="5" name="Picture 4">
            <a:extLst>
              <a:ext uri="{FF2B5EF4-FFF2-40B4-BE49-F238E27FC236}">
                <a16:creationId xmlns:a16="http://schemas.microsoft.com/office/drawing/2014/main" id="{44896F7F-1D18-EF6E-7EB0-CC14AB8EA324}"/>
              </a:ext>
            </a:extLst>
          </p:cNvPr>
          <p:cNvPicPr>
            <a:picLocks noChangeAspect="1"/>
          </p:cNvPicPr>
          <p:nvPr/>
        </p:nvPicPr>
        <p:blipFill>
          <a:blip r:embed="rId2"/>
          <a:stretch>
            <a:fillRect/>
          </a:stretch>
        </p:blipFill>
        <p:spPr>
          <a:xfrm>
            <a:off x="98650" y="1722971"/>
            <a:ext cx="9774014" cy="4753638"/>
          </a:xfrm>
          <a:prstGeom prst="rect">
            <a:avLst/>
          </a:prstGeom>
        </p:spPr>
      </p:pic>
    </p:spTree>
    <p:extLst>
      <p:ext uri="{BB962C8B-B14F-4D97-AF65-F5344CB8AC3E}">
        <p14:creationId xmlns:p14="http://schemas.microsoft.com/office/powerpoint/2010/main" val="2153619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0FA3-F17D-8199-C237-6A2CF51777EA}"/>
              </a:ext>
            </a:extLst>
          </p:cNvPr>
          <p:cNvSpPr>
            <a:spLocks noGrp="1"/>
          </p:cNvSpPr>
          <p:nvPr>
            <p:ph type="title"/>
          </p:nvPr>
        </p:nvSpPr>
        <p:spPr/>
        <p:txBody>
          <a:bodyPr>
            <a:normAutofit fontScale="90000"/>
          </a:bodyPr>
          <a:lstStyle/>
          <a:p>
            <a:r>
              <a:rPr lang="en-US" dirty="0"/>
              <a:t>Poly-A tail</a:t>
            </a:r>
          </a:p>
        </p:txBody>
      </p:sp>
      <p:sp>
        <p:nvSpPr>
          <p:cNvPr id="3" name="Content Placeholder 2">
            <a:extLst>
              <a:ext uri="{FF2B5EF4-FFF2-40B4-BE49-F238E27FC236}">
                <a16:creationId xmlns:a16="http://schemas.microsoft.com/office/drawing/2014/main" id="{1346F293-779C-02FF-E46E-9CF199A76A37}"/>
              </a:ext>
            </a:extLst>
          </p:cNvPr>
          <p:cNvSpPr>
            <a:spLocks noGrp="1"/>
          </p:cNvSpPr>
          <p:nvPr>
            <p:ph idx="1"/>
          </p:nvPr>
        </p:nvSpPr>
        <p:spPr>
          <a:xfrm>
            <a:off x="838200" y="1825624"/>
            <a:ext cx="10515600" cy="4585933"/>
          </a:xfrm>
        </p:spPr>
        <p:txBody>
          <a:bodyPr/>
          <a:lstStyle/>
          <a:p>
            <a:r>
              <a:rPr lang="en-US" dirty="0"/>
              <a:t>The poly-A tail is a long chain of Adenine nucleotides that is added to a messenger RNA (mRNA) molecule during RNA processing to increase the stability of the molecule</a:t>
            </a:r>
          </a:p>
          <a:p>
            <a:r>
              <a:rPr lang="en-US" dirty="0"/>
              <a:t>Processing of the 3' end adds a poly-A tail to the RNA molecule that is between 100 and 250 A’a long</a:t>
            </a:r>
          </a:p>
          <a:p>
            <a:r>
              <a:rPr lang="en-US" dirty="0"/>
              <a:t>Poly-A tail allows the mature messenger RNA molecule to be exported from the nucleus and translated into a protein by ribosomes in the cytoplasm</a:t>
            </a:r>
          </a:p>
        </p:txBody>
      </p:sp>
    </p:spTree>
    <p:extLst>
      <p:ext uri="{BB962C8B-B14F-4D97-AF65-F5344CB8AC3E}">
        <p14:creationId xmlns:p14="http://schemas.microsoft.com/office/powerpoint/2010/main" val="1529027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13886</TotalTime>
  <Words>952</Words>
  <Application>Microsoft Office PowerPoint</Application>
  <PresentationFormat>Widescreen</PresentationFormat>
  <Paragraphs>107</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Poppins</vt:lpstr>
      <vt:lpstr>Trebuchet MS</vt:lpstr>
      <vt:lpstr>Office Theme</vt:lpstr>
      <vt:lpstr>PowerPoint Presentation</vt:lpstr>
      <vt:lpstr>Metagenomic data analysis</vt:lpstr>
      <vt:lpstr>Characteristics of metagenomic data</vt:lpstr>
      <vt:lpstr>NCBI Taxonomy</vt:lpstr>
      <vt:lpstr>NCBI Taxonomy Browser</vt:lpstr>
      <vt:lpstr>Analysis of metagenomic data</vt:lpstr>
      <vt:lpstr>Analysis of metagenomic data</vt:lpstr>
      <vt:lpstr>Why Uniq in KrakenUniq?</vt:lpstr>
      <vt:lpstr>Even vs. Uneven coverage</vt:lpstr>
      <vt:lpstr>Analysis of metagenomic data</vt:lpstr>
      <vt:lpstr>Long-read metagenomics</vt:lpstr>
      <vt:lpstr>Making sense of genomic sequence</vt:lpstr>
      <vt:lpstr>How transcription + translation works?</vt:lpstr>
      <vt:lpstr>Transcription -- initiation</vt:lpstr>
      <vt:lpstr>Transcription -- elongation</vt:lpstr>
      <vt:lpstr>Transcription -- termination</vt:lpstr>
      <vt:lpstr>Transcription -- splicing</vt:lpstr>
      <vt:lpstr>Poly-A tail</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66</cp:revision>
  <dcterms:created xsi:type="dcterms:W3CDTF">2013-08-21T19:17:07Z</dcterms:created>
  <dcterms:modified xsi:type="dcterms:W3CDTF">2025-10-15T15:06:42Z</dcterms:modified>
</cp:coreProperties>
</file>