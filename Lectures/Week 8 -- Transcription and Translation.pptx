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2" r:id="rId2"/>
    <p:sldId id="257" r:id="rId3"/>
    <p:sldId id="806" r:id="rId4"/>
    <p:sldId id="815" r:id="rId5"/>
    <p:sldId id="807" r:id="rId6"/>
    <p:sldId id="808" r:id="rId7"/>
    <p:sldId id="810" r:id="rId8"/>
    <p:sldId id="816" r:id="rId9"/>
    <p:sldId id="805" r:id="rId10"/>
    <p:sldId id="811" r:id="rId11"/>
    <p:sldId id="817" r:id="rId12"/>
    <p:sldId id="812" r:id="rId13"/>
    <p:sldId id="818" r:id="rId14"/>
    <p:sldId id="819" r:id="rId15"/>
    <p:sldId id="82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99B08-CD09-496F-BD81-5B9F5CF8BBEF}" v="14" dt="2026-10-20T18:35:20.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88" autoAdjust="0"/>
    <p:restoredTop sz="93721" autoAdjust="0"/>
  </p:normalViewPr>
  <p:slideViewPr>
    <p:cSldViewPr snapToGrid="0">
      <p:cViewPr varScale="1">
        <p:scale>
          <a:sx n="96" d="100"/>
          <a:sy n="96" d="100"/>
        </p:scale>
        <p:origin x="840"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custSel addSld delSld modSld sldOrd">
      <pc:chgData name="Aleksey Zimin" userId="7f2637d0bc515791" providerId="LiveId" clId="{5F359FD6-B8E9-41DA-90EC-0BA4FD0F3073}" dt="2026-10-20T18:37:50.400" v="278" actId="22"/>
      <pc:docMkLst>
        <pc:docMk/>
      </pc:docMkLst>
      <pc:sldChg chg="add del ord">
        <pc:chgData name="Aleksey Zimin" userId="7f2637d0bc515791" providerId="LiveId" clId="{5F359FD6-B8E9-41DA-90EC-0BA4FD0F3073}" dt="2026-10-19T17:57:19.730" v="69" actId="47"/>
        <pc:sldMkLst>
          <pc:docMk/>
          <pc:sldMk cId="208986471" sldId="258"/>
        </pc:sldMkLst>
      </pc:sldChg>
      <pc:sldChg chg="del">
        <pc:chgData name="Aleksey Zimin" userId="7f2637d0bc515791" providerId="LiveId" clId="{5F359FD6-B8E9-41DA-90EC-0BA4FD0F3073}" dt="2026-10-19T17:50:47.314" v="64" actId="47"/>
        <pc:sldMkLst>
          <pc:docMk/>
          <pc:sldMk cId="1529027372" sldId="260"/>
        </pc:sldMkLst>
      </pc:sldChg>
      <pc:sldChg chg="add del">
        <pc:chgData name="Aleksey Zimin" userId="7f2637d0bc515791" providerId="LiveId" clId="{5F359FD6-B8E9-41DA-90EC-0BA4FD0F3073}" dt="2026-10-19T17:59:57.911" v="72" actId="47"/>
        <pc:sldMkLst>
          <pc:docMk/>
          <pc:sldMk cId="1183394471" sldId="270"/>
        </pc:sldMkLst>
      </pc:sldChg>
      <pc:sldChg chg="add del">
        <pc:chgData name="Aleksey Zimin" userId="7f2637d0bc515791" providerId="LiveId" clId="{5F359FD6-B8E9-41DA-90EC-0BA4FD0F3073}" dt="2026-10-19T18:21:07.917" v="73"/>
        <pc:sldMkLst>
          <pc:docMk/>
          <pc:sldMk cId="1052403946" sldId="272"/>
        </pc:sldMkLst>
      </pc:sldChg>
      <pc:sldChg chg="add del ord">
        <pc:chgData name="Aleksey Zimin" userId="7f2637d0bc515791" providerId="LiveId" clId="{5F359FD6-B8E9-41DA-90EC-0BA4FD0F3073}" dt="2026-10-19T17:57:20.540" v="70" actId="47"/>
        <pc:sldMkLst>
          <pc:docMk/>
          <pc:sldMk cId="285272752" sldId="399"/>
        </pc:sldMkLst>
      </pc:sldChg>
      <pc:sldChg chg="add del">
        <pc:chgData name="Aleksey Zimin" userId="7f2637d0bc515791" providerId="LiveId" clId="{5F359FD6-B8E9-41DA-90EC-0BA4FD0F3073}" dt="2026-10-19T17:52:33.663" v="65" actId="2696"/>
        <pc:sldMkLst>
          <pc:docMk/>
          <pc:sldMk cId="582660925" sldId="557"/>
        </pc:sldMkLst>
      </pc:sldChg>
      <pc:sldChg chg="add del">
        <pc:chgData name="Aleksey Zimin" userId="7f2637d0bc515791" providerId="LiveId" clId="{5F359FD6-B8E9-41DA-90EC-0BA4FD0F3073}" dt="2026-10-19T17:52:33.663" v="65" actId="2696"/>
        <pc:sldMkLst>
          <pc:docMk/>
          <pc:sldMk cId="897960614" sldId="559"/>
        </pc:sldMkLst>
      </pc:sldChg>
      <pc:sldChg chg="add del">
        <pc:chgData name="Aleksey Zimin" userId="7f2637d0bc515791" providerId="LiveId" clId="{5F359FD6-B8E9-41DA-90EC-0BA4FD0F3073}" dt="2026-10-19T17:52:33.663" v="65" actId="2696"/>
        <pc:sldMkLst>
          <pc:docMk/>
          <pc:sldMk cId="2016871750" sldId="560"/>
        </pc:sldMkLst>
      </pc:sldChg>
      <pc:sldChg chg="del">
        <pc:chgData name="Aleksey Zimin" userId="7f2637d0bc515791" providerId="LiveId" clId="{5F359FD6-B8E9-41DA-90EC-0BA4FD0F3073}" dt="2026-10-19T17:48:47.607" v="50" actId="47"/>
        <pc:sldMkLst>
          <pc:docMk/>
          <pc:sldMk cId="586871740" sldId="579"/>
        </pc:sldMkLst>
      </pc:sldChg>
      <pc:sldChg chg="del">
        <pc:chgData name="Aleksey Zimin" userId="7f2637d0bc515791" providerId="LiveId" clId="{5F359FD6-B8E9-41DA-90EC-0BA4FD0F3073}" dt="2026-10-19T17:48:55.759" v="51" actId="47"/>
        <pc:sldMkLst>
          <pc:docMk/>
          <pc:sldMk cId="1915810812" sldId="580"/>
        </pc:sldMkLst>
      </pc:sldChg>
      <pc:sldChg chg="del">
        <pc:chgData name="Aleksey Zimin" userId="7f2637d0bc515791" providerId="LiveId" clId="{5F359FD6-B8E9-41DA-90EC-0BA4FD0F3073}" dt="2026-10-19T17:49:10.975" v="54" actId="47"/>
        <pc:sldMkLst>
          <pc:docMk/>
          <pc:sldMk cId="3279958124" sldId="581"/>
        </pc:sldMkLst>
      </pc:sldChg>
      <pc:sldChg chg="del">
        <pc:chgData name="Aleksey Zimin" userId="7f2637d0bc515791" providerId="LiveId" clId="{5F359FD6-B8E9-41DA-90EC-0BA4FD0F3073}" dt="2026-10-19T17:49:00.651" v="52" actId="47"/>
        <pc:sldMkLst>
          <pc:docMk/>
          <pc:sldMk cId="2711271449" sldId="582"/>
        </pc:sldMkLst>
      </pc:sldChg>
      <pc:sldChg chg="del">
        <pc:chgData name="Aleksey Zimin" userId="7f2637d0bc515791" providerId="LiveId" clId="{5F359FD6-B8E9-41DA-90EC-0BA4FD0F3073}" dt="2026-10-19T17:49:05.339" v="53" actId="47"/>
        <pc:sldMkLst>
          <pc:docMk/>
          <pc:sldMk cId="4198790168" sldId="583"/>
        </pc:sldMkLst>
      </pc:sldChg>
      <pc:sldChg chg="del">
        <pc:chgData name="Aleksey Zimin" userId="7f2637d0bc515791" providerId="LiveId" clId="{5F359FD6-B8E9-41DA-90EC-0BA4FD0F3073}" dt="2026-10-19T17:49:40.764" v="58" actId="47"/>
        <pc:sldMkLst>
          <pc:docMk/>
          <pc:sldMk cId="4236014852" sldId="584"/>
        </pc:sldMkLst>
      </pc:sldChg>
      <pc:sldChg chg="del">
        <pc:chgData name="Aleksey Zimin" userId="7f2637d0bc515791" providerId="LiveId" clId="{5F359FD6-B8E9-41DA-90EC-0BA4FD0F3073}" dt="2026-10-19T17:49:41.952" v="59" actId="47"/>
        <pc:sldMkLst>
          <pc:docMk/>
          <pc:sldMk cId="462681112" sldId="585"/>
        </pc:sldMkLst>
      </pc:sldChg>
      <pc:sldChg chg="del">
        <pc:chgData name="Aleksey Zimin" userId="7f2637d0bc515791" providerId="LiveId" clId="{5F359FD6-B8E9-41DA-90EC-0BA4FD0F3073}" dt="2026-10-19T17:49:21.648" v="55" actId="47"/>
        <pc:sldMkLst>
          <pc:docMk/>
          <pc:sldMk cId="3382068042" sldId="586"/>
        </pc:sldMkLst>
      </pc:sldChg>
      <pc:sldChg chg="del">
        <pc:chgData name="Aleksey Zimin" userId="7f2637d0bc515791" providerId="LiveId" clId="{5F359FD6-B8E9-41DA-90EC-0BA4FD0F3073}" dt="2026-10-19T17:49:42.976" v="60" actId="47"/>
        <pc:sldMkLst>
          <pc:docMk/>
          <pc:sldMk cId="2697071189" sldId="587"/>
        </pc:sldMkLst>
      </pc:sldChg>
      <pc:sldChg chg="add del">
        <pc:chgData name="Aleksey Zimin" userId="7f2637d0bc515791" providerId="LiveId" clId="{5F359FD6-B8E9-41DA-90EC-0BA4FD0F3073}" dt="2026-10-19T17:59:57.911" v="72" actId="47"/>
        <pc:sldMkLst>
          <pc:docMk/>
          <pc:sldMk cId="2956323222" sldId="588"/>
        </pc:sldMkLst>
      </pc:sldChg>
      <pc:sldChg chg="add del">
        <pc:chgData name="Aleksey Zimin" userId="7f2637d0bc515791" providerId="LiveId" clId="{5F359FD6-B8E9-41DA-90EC-0BA4FD0F3073}" dt="2026-10-19T17:59:57.911" v="72" actId="47"/>
        <pc:sldMkLst>
          <pc:docMk/>
          <pc:sldMk cId="869239991" sldId="801"/>
        </pc:sldMkLst>
      </pc:sldChg>
      <pc:sldChg chg="add del">
        <pc:chgData name="Aleksey Zimin" userId="7f2637d0bc515791" providerId="LiveId" clId="{5F359FD6-B8E9-41DA-90EC-0BA4FD0F3073}" dt="2026-10-19T17:59:57.911" v="72" actId="47"/>
        <pc:sldMkLst>
          <pc:docMk/>
          <pc:sldMk cId="494252847" sldId="802"/>
        </pc:sldMkLst>
      </pc:sldChg>
      <pc:sldChg chg="add del">
        <pc:chgData name="Aleksey Zimin" userId="7f2637d0bc515791" providerId="LiveId" clId="{5F359FD6-B8E9-41DA-90EC-0BA4FD0F3073}" dt="2026-10-19T17:52:33.663" v="65" actId="2696"/>
        <pc:sldMkLst>
          <pc:docMk/>
          <pc:sldMk cId="2724807813" sldId="803"/>
        </pc:sldMkLst>
      </pc:sldChg>
      <pc:sldChg chg="add ord">
        <pc:chgData name="Aleksey Zimin" userId="7f2637d0bc515791" providerId="LiveId" clId="{5F359FD6-B8E9-41DA-90EC-0BA4FD0F3073}" dt="2026-10-19T17:50:39.136" v="63"/>
        <pc:sldMkLst>
          <pc:docMk/>
          <pc:sldMk cId="1722923118" sldId="805"/>
        </pc:sldMkLst>
      </pc:sldChg>
      <pc:sldChg chg="addSp modSp mod">
        <pc:chgData name="Aleksey Zimin" userId="7f2637d0bc515791" providerId="LiveId" clId="{5F359FD6-B8E9-41DA-90EC-0BA4FD0F3073}" dt="2026-10-19T17:33:09.716" v="19" actId="113"/>
        <pc:sldMkLst>
          <pc:docMk/>
          <pc:sldMk cId="3165595715" sldId="806"/>
        </pc:sldMkLst>
        <pc:spChg chg="add mod">
          <ac:chgData name="Aleksey Zimin" userId="7f2637d0bc515791" providerId="LiveId" clId="{5F359FD6-B8E9-41DA-90EC-0BA4FD0F3073}" dt="2026-10-19T17:33:09.716" v="19" actId="113"/>
          <ac:spMkLst>
            <pc:docMk/>
            <pc:sldMk cId="3165595715" sldId="806"/>
            <ac:spMk id="3" creationId="{306C6EA5-96E8-3B68-B0E5-D3CFBC8A5023}"/>
          </ac:spMkLst>
        </pc:spChg>
      </pc:sldChg>
      <pc:sldChg chg="addSp modSp mod">
        <pc:chgData name="Aleksey Zimin" userId="7f2637d0bc515791" providerId="LiveId" clId="{5F359FD6-B8E9-41DA-90EC-0BA4FD0F3073}" dt="2026-10-19T17:34:35.825" v="29" actId="6549"/>
        <pc:sldMkLst>
          <pc:docMk/>
          <pc:sldMk cId="2104384076" sldId="807"/>
        </pc:sldMkLst>
        <pc:spChg chg="add mod">
          <ac:chgData name="Aleksey Zimin" userId="7f2637d0bc515791" providerId="LiveId" clId="{5F359FD6-B8E9-41DA-90EC-0BA4FD0F3073}" dt="2026-10-19T17:34:35.825" v="29" actId="6549"/>
          <ac:spMkLst>
            <pc:docMk/>
            <pc:sldMk cId="2104384076" sldId="807"/>
            <ac:spMk id="6" creationId="{EAA75F8B-287D-E7CD-8EFB-3B9BC1AD2ED8}"/>
          </ac:spMkLst>
        </pc:spChg>
      </pc:sldChg>
      <pc:sldChg chg="addSp modSp mod">
        <pc:chgData name="Aleksey Zimin" userId="7f2637d0bc515791" providerId="LiveId" clId="{5F359FD6-B8E9-41DA-90EC-0BA4FD0F3073}" dt="2026-10-19T17:35:38.820" v="41" actId="14100"/>
        <pc:sldMkLst>
          <pc:docMk/>
          <pc:sldMk cId="511114794" sldId="808"/>
        </pc:sldMkLst>
        <pc:spChg chg="add mod">
          <ac:chgData name="Aleksey Zimin" userId="7f2637d0bc515791" providerId="LiveId" clId="{5F359FD6-B8E9-41DA-90EC-0BA4FD0F3073}" dt="2026-10-19T17:35:38.820" v="41" actId="14100"/>
          <ac:spMkLst>
            <pc:docMk/>
            <pc:sldMk cId="511114794" sldId="808"/>
            <ac:spMk id="3" creationId="{B4C5DBB0-6E01-0249-C7B6-49C1E118EB87}"/>
          </ac:spMkLst>
        </pc:spChg>
      </pc:sldChg>
      <pc:sldChg chg="addSp modSp mod">
        <pc:chgData name="Aleksey Zimin" userId="7f2637d0bc515791" providerId="LiveId" clId="{5F359FD6-B8E9-41DA-90EC-0BA4FD0F3073}" dt="2026-10-19T17:36:49.216" v="49" actId="1076"/>
        <pc:sldMkLst>
          <pc:docMk/>
          <pc:sldMk cId="2153619108" sldId="810"/>
        </pc:sldMkLst>
        <pc:spChg chg="add mod">
          <ac:chgData name="Aleksey Zimin" userId="7f2637d0bc515791" providerId="LiveId" clId="{5F359FD6-B8E9-41DA-90EC-0BA4FD0F3073}" dt="2026-10-19T17:36:49.216" v="49" actId="1076"/>
          <ac:spMkLst>
            <pc:docMk/>
            <pc:sldMk cId="2153619108" sldId="810"/>
            <ac:spMk id="3" creationId="{F64C416C-509A-726C-A87B-A8E94915494F}"/>
          </ac:spMkLst>
        </pc:spChg>
      </pc:sldChg>
      <pc:sldChg chg="add">
        <pc:chgData name="Aleksey Zimin" userId="7f2637d0bc515791" providerId="LiveId" clId="{5F359FD6-B8E9-41DA-90EC-0BA4FD0F3073}" dt="2026-10-19T17:55:54.317" v="66"/>
        <pc:sldMkLst>
          <pc:docMk/>
          <pc:sldMk cId="3059937519" sldId="811"/>
        </pc:sldMkLst>
      </pc:sldChg>
      <pc:sldChg chg="modSp add mod">
        <pc:chgData name="Aleksey Zimin" userId="7f2637d0bc515791" providerId="LiveId" clId="{5F359FD6-B8E9-41DA-90EC-0BA4FD0F3073}" dt="2026-10-20T18:22:09.558" v="138" actId="20577"/>
        <pc:sldMkLst>
          <pc:docMk/>
          <pc:sldMk cId="2608576022" sldId="812"/>
        </pc:sldMkLst>
        <pc:spChg chg="mod">
          <ac:chgData name="Aleksey Zimin" userId="7f2637d0bc515791" providerId="LiveId" clId="{5F359FD6-B8E9-41DA-90EC-0BA4FD0F3073}" dt="2026-10-20T18:22:09.558" v="138" actId="20577"/>
          <ac:spMkLst>
            <pc:docMk/>
            <pc:sldMk cId="2608576022" sldId="812"/>
            <ac:spMk id="3" creationId="{93ADE8F8-5AA7-852B-3D94-B9D4E154C0FC}"/>
          </ac:spMkLst>
        </pc:spChg>
        <pc:picChg chg="mod">
          <ac:chgData name="Aleksey Zimin" userId="7f2637d0bc515791" providerId="LiveId" clId="{5F359FD6-B8E9-41DA-90EC-0BA4FD0F3073}" dt="2026-10-20T18:21:59.313" v="117" actId="1076"/>
          <ac:picMkLst>
            <pc:docMk/>
            <pc:sldMk cId="2608576022" sldId="812"/>
            <ac:picMk id="6" creationId="{77189AD1-763A-5286-C04B-8CDEB95F55FE}"/>
          </ac:picMkLst>
        </pc:picChg>
      </pc:sldChg>
      <pc:sldChg chg="del">
        <pc:chgData name="Aleksey Zimin" userId="7f2637d0bc515791" providerId="LiveId" clId="{5F359FD6-B8E9-41DA-90EC-0BA4FD0F3073}" dt="2026-10-19T17:49:23.317" v="56" actId="47"/>
        <pc:sldMkLst>
          <pc:docMk/>
          <pc:sldMk cId="1638590587" sldId="813"/>
        </pc:sldMkLst>
      </pc:sldChg>
      <pc:sldChg chg="del">
        <pc:chgData name="Aleksey Zimin" userId="7f2637d0bc515791" providerId="LiveId" clId="{5F359FD6-B8E9-41DA-90EC-0BA4FD0F3073}" dt="2026-10-19T17:49:28.718" v="57" actId="47"/>
        <pc:sldMkLst>
          <pc:docMk/>
          <pc:sldMk cId="1699868994" sldId="814"/>
        </pc:sldMkLst>
      </pc:sldChg>
      <pc:sldChg chg="modSp add mod">
        <pc:chgData name="Aleksey Zimin" userId="7f2637d0bc515791" providerId="LiveId" clId="{5F359FD6-B8E9-41DA-90EC-0BA4FD0F3073}" dt="2026-10-19T17:33:49.682" v="24" actId="20577"/>
        <pc:sldMkLst>
          <pc:docMk/>
          <pc:sldMk cId="3543941403" sldId="815"/>
        </pc:sldMkLst>
        <pc:spChg chg="mod">
          <ac:chgData name="Aleksey Zimin" userId="7f2637d0bc515791" providerId="LiveId" clId="{5F359FD6-B8E9-41DA-90EC-0BA4FD0F3073}" dt="2026-10-19T17:33:49.682" v="24" actId="20577"/>
          <ac:spMkLst>
            <pc:docMk/>
            <pc:sldMk cId="3543941403" sldId="815"/>
            <ac:spMk id="3" creationId="{EF663F9A-B507-C624-2652-36A90422F7ED}"/>
          </ac:spMkLst>
        </pc:spChg>
      </pc:sldChg>
      <pc:sldChg chg="add ord">
        <pc:chgData name="Aleksey Zimin" userId="7f2637d0bc515791" providerId="LiveId" clId="{5F359FD6-B8E9-41DA-90EC-0BA4FD0F3073}" dt="2026-10-20T18:20:53.893" v="75"/>
        <pc:sldMkLst>
          <pc:docMk/>
          <pc:sldMk cId="4271307477" sldId="816"/>
        </pc:sldMkLst>
      </pc:sldChg>
      <pc:sldChg chg="modSp add mod">
        <pc:chgData name="Aleksey Zimin" userId="7f2637d0bc515791" providerId="LiveId" clId="{5F359FD6-B8E9-41DA-90EC-0BA4FD0F3073}" dt="2026-10-20T18:29:06.113" v="139" actId="20577"/>
        <pc:sldMkLst>
          <pc:docMk/>
          <pc:sldMk cId="1531555332" sldId="817"/>
        </pc:sldMkLst>
        <pc:spChg chg="mod">
          <ac:chgData name="Aleksey Zimin" userId="7f2637d0bc515791" providerId="LiveId" clId="{5F359FD6-B8E9-41DA-90EC-0BA4FD0F3073}" dt="2026-10-20T18:29:06.113" v="139" actId="20577"/>
          <ac:spMkLst>
            <pc:docMk/>
            <pc:sldMk cId="1531555332" sldId="817"/>
            <ac:spMk id="2" creationId="{83B67589-113F-2548-FBFC-71A5452DF06C}"/>
          </ac:spMkLst>
        </pc:spChg>
      </pc:sldChg>
      <pc:sldChg chg="modSp new mod modAnim">
        <pc:chgData name="Aleksey Zimin" userId="7f2637d0bc515791" providerId="LiveId" clId="{5F359FD6-B8E9-41DA-90EC-0BA4FD0F3073}" dt="2026-10-20T18:35:20.614" v="228" actId="20577"/>
        <pc:sldMkLst>
          <pc:docMk/>
          <pc:sldMk cId="3867845425" sldId="818"/>
        </pc:sldMkLst>
        <pc:spChg chg="mod">
          <ac:chgData name="Aleksey Zimin" userId="7f2637d0bc515791" providerId="LiveId" clId="{5F359FD6-B8E9-41DA-90EC-0BA4FD0F3073}" dt="2026-10-20T18:29:31.864" v="181" actId="20577"/>
          <ac:spMkLst>
            <pc:docMk/>
            <pc:sldMk cId="3867845425" sldId="818"/>
            <ac:spMk id="2" creationId="{C4DB20E3-CEDB-EE28-02DB-763F4F8FFDD3}"/>
          </ac:spMkLst>
        </pc:spChg>
        <pc:spChg chg="mod">
          <ac:chgData name="Aleksey Zimin" userId="7f2637d0bc515791" providerId="LiveId" clId="{5F359FD6-B8E9-41DA-90EC-0BA4FD0F3073}" dt="2026-10-20T18:35:20.614" v="228" actId="20577"/>
          <ac:spMkLst>
            <pc:docMk/>
            <pc:sldMk cId="3867845425" sldId="818"/>
            <ac:spMk id="3" creationId="{D1C82173-5983-1A1D-462B-7FC16B981BB0}"/>
          </ac:spMkLst>
        </pc:spChg>
      </pc:sldChg>
      <pc:sldChg chg="addSp delSp modSp new mod">
        <pc:chgData name="Aleksey Zimin" userId="7f2637d0bc515791" providerId="LiveId" clId="{5F359FD6-B8E9-41DA-90EC-0BA4FD0F3073}" dt="2026-10-20T18:35:51.103" v="242" actId="1076"/>
        <pc:sldMkLst>
          <pc:docMk/>
          <pc:sldMk cId="2560295243" sldId="819"/>
        </pc:sldMkLst>
        <pc:spChg chg="mod">
          <ac:chgData name="Aleksey Zimin" userId="7f2637d0bc515791" providerId="LiveId" clId="{5F359FD6-B8E9-41DA-90EC-0BA4FD0F3073}" dt="2026-10-20T18:35:28.753" v="239" actId="20577"/>
          <ac:spMkLst>
            <pc:docMk/>
            <pc:sldMk cId="2560295243" sldId="819"/>
            <ac:spMk id="2" creationId="{560D2AED-A047-4D62-2A93-4212104D7CB9}"/>
          </ac:spMkLst>
        </pc:spChg>
        <pc:spChg chg="del">
          <ac:chgData name="Aleksey Zimin" userId="7f2637d0bc515791" providerId="LiveId" clId="{5F359FD6-B8E9-41DA-90EC-0BA4FD0F3073}" dt="2026-10-20T18:35:31.787" v="240" actId="478"/>
          <ac:spMkLst>
            <pc:docMk/>
            <pc:sldMk cId="2560295243" sldId="819"/>
            <ac:spMk id="3" creationId="{DF4C3F4E-77F3-BBA1-8455-8E0CB2B0A1C1}"/>
          </ac:spMkLst>
        </pc:spChg>
        <pc:picChg chg="add mod">
          <ac:chgData name="Aleksey Zimin" userId="7f2637d0bc515791" providerId="LiveId" clId="{5F359FD6-B8E9-41DA-90EC-0BA4FD0F3073}" dt="2026-10-20T18:35:51.103" v="242" actId="1076"/>
          <ac:picMkLst>
            <pc:docMk/>
            <pc:sldMk cId="2560295243" sldId="819"/>
            <ac:picMk id="6" creationId="{906E48D8-7CD0-9274-F05F-31CDB9873A68}"/>
          </ac:picMkLst>
        </pc:picChg>
      </pc:sldChg>
      <pc:sldChg chg="addSp modSp new mod">
        <pc:chgData name="Aleksey Zimin" userId="7f2637d0bc515791" providerId="LiveId" clId="{5F359FD6-B8E9-41DA-90EC-0BA4FD0F3073}" dt="2026-10-20T18:37:50.400" v="278" actId="22"/>
        <pc:sldMkLst>
          <pc:docMk/>
          <pc:sldMk cId="965929629" sldId="820"/>
        </pc:sldMkLst>
        <pc:spChg chg="mod">
          <ac:chgData name="Aleksey Zimin" userId="7f2637d0bc515791" providerId="LiveId" clId="{5F359FD6-B8E9-41DA-90EC-0BA4FD0F3073}" dt="2026-10-20T18:36:12.254" v="265" actId="20577"/>
          <ac:spMkLst>
            <pc:docMk/>
            <pc:sldMk cId="965929629" sldId="820"/>
            <ac:spMk id="2" creationId="{0ABE1AA5-CBE2-FCEA-82FB-7D8A464CBDFA}"/>
          </ac:spMkLst>
        </pc:spChg>
        <pc:spChg chg="mod">
          <ac:chgData name="Aleksey Zimin" userId="7f2637d0bc515791" providerId="LiveId" clId="{5F359FD6-B8E9-41DA-90EC-0BA4FD0F3073}" dt="2026-10-20T18:37:27.135" v="276" actId="27636"/>
          <ac:spMkLst>
            <pc:docMk/>
            <pc:sldMk cId="965929629" sldId="820"/>
            <ac:spMk id="3" creationId="{3A05CAAF-3D11-89B1-1E85-8FD6DD916276}"/>
          </ac:spMkLst>
        </pc:spChg>
        <pc:spChg chg="add">
          <ac:chgData name="Aleksey Zimin" userId="7f2637d0bc515791" providerId="LiveId" clId="{5F359FD6-B8E9-41DA-90EC-0BA4FD0F3073}" dt="2026-10-20T18:37:50.400" v="278" actId="22"/>
          <ac:spMkLst>
            <pc:docMk/>
            <pc:sldMk cId="965929629" sldId="820"/>
            <ac:spMk id="8" creationId="{45822610-F6AE-1DA3-1737-9A9D6CBEE0B2}"/>
          </ac:spMkLst>
        </pc:spChg>
        <pc:picChg chg="add mod ord">
          <ac:chgData name="Aleksey Zimin" userId="7f2637d0bc515791" providerId="LiveId" clId="{5F359FD6-B8E9-41DA-90EC-0BA4FD0F3073}" dt="2026-10-20T18:37:32.655" v="277" actId="167"/>
          <ac:picMkLst>
            <pc:docMk/>
            <pc:sldMk cId="965929629" sldId="820"/>
            <ac:picMk id="6" creationId="{0C265726-C0FB-3B27-9A10-7317D0A862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Poppins" panose="020B0502040204020203" pitchFamily="2" charset="0"/>
              </a:rPr>
              <a:t>Transcription and translation are processes a cell uses to make all proteins the body needs to function from information stored in the sequence of bases in DNA. The four bases (C, A, T/U, and G in the figure) are the building blocks of DNA and RNA. During transcription, a piece of DNA that codes for a specific gene is copied into messenger RNA (mRNA) in the nucleus of the cell. The mRNA then carries the genetic information from the DNA to the cytoplasm, where translation occurs. During translation, proteins are made using the information stored in the mRNA sequence. The mRNA attaches to a structure called a ribosome that can read the genetic information. As the mRNA passes through the ribosome, another type of RNA called transfer RNA (tRNA) carries a protein building block called an amino acid to the ribosome. The tRNA carrying the amino acid binds to a matching sequence in the mRNA. As each tRNA binds to the mRNA strand, the amino acid it carried joins with the other amino acids to form a chain of amino acids. Once all of the amino acids coded for in the piece of mRNA have been linked, the completed protein is released from the ribosome.</a:t>
            </a:r>
            <a:endParaRPr lang="en-US" dirty="0"/>
          </a:p>
        </p:txBody>
      </p:sp>
      <p:sp>
        <p:nvSpPr>
          <p:cNvPr id="4" name="Slide Number Placeholder 3"/>
          <p:cNvSpPr>
            <a:spLocks noGrp="1"/>
          </p:cNvSpPr>
          <p:nvPr>
            <p:ph type="sldNum" sz="quarter" idx="5"/>
          </p:nvPr>
        </p:nvSpPr>
        <p:spPr/>
        <p:txBody>
          <a:bodyPr/>
          <a:lstStyle/>
          <a:p>
            <a:fld id="{56C17E1D-5FD8-4E87-B4B9-0D86153B9F38}" type="slidenum">
              <a:rPr lang="en-US" smtClean="0"/>
              <a:t>2</a:t>
            </a:fld>
            <a:endParaRPr lang="en-US"/>
          </a:p>
        </p:txBody>
      </p:sp>
    </p:spTree>
    <p:extLst>
      <p:ext uri="{BB962C8B-B14F-4D97-AF65-F5344CB8AC3E}">
        <p14:creationId xmlns:p14="http://schemas.microsoft.com/office/powerpoint/2010/main" val="397169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10/20/2026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8</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B229-F05B-9C72-C7AC-C9C4E770B563}"/>
              </a:ext>
            </a:extLst>
          </p:cNvPr>
          <p:cNvSpPr>
            <a:spLocks noGrp="1"/>
          </p:cNvSpPr>
          <p:nvPr>
            <p:ph type="title"/>
          </p:nvPr>
        </p:nvSpPr>
        <p:spPr/>
        <p:txBody>
          <a:bodyPr>
            <a:normAutofit fontScale="90000"/>
          </a:bodyPr>
          <a:lstStyle/>
          <a:p>
            <a:r>
              <a:rPr lang="en-US" dirty="0"/>
              <a:t>How transcription + translation works?</a:t>
            </a:r>
          </a:p>
        </p:txBody>
      </p:sp>
      <p:pic>
        <p:nvPicPr>
          <p:cNvPr id="5" name="Picture 4">
            <a:extLst>
              <a:ext uri="{FF2B5EF4-FFF2-40B4-BE49-F238E27FC236}">
                <a16:creationId xmlns:a16="http://schemas.microsoft.com/office/drawing/2014/main" id="{4F2E8170-E86A-1FC5-986A-6762D834E690}"/>
              </a:ext>
            </a:extLst>
          </p:cNvPr>
          <p:cNvPicPr>
            <a:picLocks noChangeAspect="1"/>
          </p:cNvPicPr>
          <p:nvPr/>
        </p:nvPicPr>
        <p:blipFill>
          <a:blip r:embed="rId3"/>
          <a:stretch>
            <a:fillRect/>
          </a:stretch>
        </p:blipFill>
        <p:spPr>
          <a:xfrm>
            <a:off x="271921" y="1457739"/>
            <a:ext cx="6770056" cy="5400261"/>
          </a:xfrm>
          <a:prstGeom prst="rect">
            <a:avLst/>
          </a:prstGeom>
        </p:spPr>
      </p:pic>
      <p:sp>
        <p:nvSpPr>
          <p:cNvPr id="6" name="Content Placeholder 2">
            <a:extLst>
              <a:ext uri="{FF2B5EF4-FFF2-40B4-BE49-F238E27FC236}">
                <a16:creationId xmlns:a16="http://schemas.microsoft.com/office/drawing/2014/main" id="{FA4D5DA9-CA09-D0F9-E6B9-42615BC1B89C}"/>
              </a:ext>
            </a:extLst>
          </p:cNvPr>
          <p:cNvSpPr>
            <a:spLocks noGrp="1"/>
          </p:cNvSpPr>
          <p:nvPr>
            <p:ph idx="1"/>
          </p:nvPr>
        </p:nvSpPr>
        <p:spPr>
          <a:xfrm>
            <a:off x="7276563" y="1457738"/>
            <a:ext cx="4915437" cy="5400261"/>
          </a:xfrm>
        </p:spPr>
        <p:txBody>
          <a:bodyPr/>
          <a:lstStyle/>
          <a:p>
            <a:r>
              <a:rPr lang="en-US" b="0" i="0" dirty="0">
                <a:solidFill>
                  <a:srgbClr val="1B1B1B"/>
                </a:solidFill>
                <a:effectLst/>
              </a:rPr>
              <a:t>Transcription and translation are processes a cell uses to make all proteins the organism needs to function from information stored in the sequence of bases in DNA</a:t>
            </a:r>
          </a:p>
          <a:p>
            <a:r>
              <a:rPr lang="en-US" dirty="0">
                <a:solidFill>
                  <a:srgbClr val="1B1B1B"/>
                </a:solidFill>
              </a:rPr>
              <a:t>Pre-mRNA has introns</a:t>
            </a:r>
          </a:p>
          <a:p>
            <a:r>
              <a:rPr lang="en-US" b="0" i="0" dirty="0">
                <a:solidFill>
                  <a:srgbClr val="1B1B1B"/>
                </a:solidFill>
                <a:effectLst/>
              </a:rPr>
              <a:t>mRNA has introns spliced out</a:t>
            </a:r>
          </a:p>
          <a:p>
            <a:r>
              <a:rPr lang="en-US" dirty="0">
                <a:solidFill>
                  <a:srgbClr val="1B1B1B"/>
                </a:solidFill>
              </a:rPr>
              <a:t>Transcript is mRNA with T(Thymine) replaced by U(Uracil)</a:t>
            </a:r>
            <a:endParaRPr lang="en-US" b="0" i="0" dirty="0">
              <a:solidFill>
                <a:srgbClr val="1B1B1B"/>
              </a:solidFill>
              <a:effectLst/>
            </a:endParaRPr>
          </a:p>
          <a:p>
            <a:endParaRPr lang="en-US" dirty="0"/>
          </a:p>
        </p:txBody>
      </p:sp>
    </p:spTree>
    <p:extLst>
      <p:ext uri="{BB962C8B-B14F-4D97-AF65-F5344CB8AC3E}">
        <p14:creationId xmlns:p14="http://schemas.microsoft.com/office/powerpoint/2010/main" val="253739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23B4-97A5-41D1-7D2E-8C4914CE5E61}"/>
              </a:ext>
            </a:extLst>
          </p:cNvPr>
          <p:cNvSpPr>
            <a:spLocks noGrp="1"/>
          </p:cNvSpPr>
          <p:nvPr>
            <p:ph type="title"/>
          </p:nvPr>
        </p:nvSpPr>
        <p:spPr/>
        <p:txBody>
          <a:bodyPr>
            <a:normAutofit fontScale="90000"/>
          </a:bodyPr>
          <a:lstStyle/>
          <a:p>
            <a:r>
              <a:rPr lang="en-US" dirty="0"/>
              <a:t>Transcription -- initiation</a:t>
            </a:r>
          </a:p>
        </p:txBody>
      </p:sp>
      <p:sp>
        <p:nvSpPr>
          <p:cNvPr id="4" name="Slide Number Placeholder 3">
            <a:extLst>
              <a:ext uri="{FF2B5EF4-FFF2-40B4-BE49-F238E27FC236}">
                <a16:creationId xmlns:a16="http://schemas.microsoft.com/office/drawing/2014/main" id="{AA094019-8A5F-05A0-6A08-83E8B2ED8399}"/>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6EBD4EDA-E014-5986-767D-AB3135664781}"/>
              </a:ext>
            </a:extLst>
          </p:cNvPr>
          <p:cNvPicPr>
            <a:picLocks noChangeAspect="1"/>
          </p:cNvPicPr>
          <p:nvPr/>
        </p:nvPicPr>
        <p:blipFill>
          <a:blip r:embed="rId2"/>
          <a:stretch>
            <a:fillRect/>
          </a:stretch>
        </p:blipFill>
        <p:spPr>
          <a:xfrm>
            <a:off x="413656" y="1678342"/>
            <a:ext cx="7114995" cy="5168772"/>
          </a:xfrm>
          <a:prstGeom prst="rect">
            <a:avLst/>
          </a:prstGeom>
        </p:spPr>
      </p:pic>
      <p:sp>
        <p:nvSpPr>
          <p:cNvPr id="7" name="TextBox 6">
            <a:extLst>
              <a:ext uri="{FF2B5EF4-FFF2-40B4-BE49-F238E27FC236}">
                <a16:creationId xmlns:a16="http://schemas.microsoft.com/office/drawing/2014/main" id="{C2766BE8-4599-CBBC-E3F7-FB863719C5CE}"/>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sp>
        <p:nvSpPr>
          <p:cNvPr id="3" name="TextBox 2">
            <a:extLst>
              <a:ext uri="{FF2B5EF4-FFF2-40B4-BE49-F238E27FC236}">
                <a16:creationId xmlns:a16="http://schemas.microsoft.com/office/drawing/2014/main" id="{306C6EA5-96E8-3B68-B0E5-D3CFBC8A5023}"/>
              </a:ext>
            </a:extLst>
          </p:cNvPr>
          <p:cNvSpPr txBox="1"/>
          <p:nvPr/>
        </p:nvSpPr>
        <p:spPr>
          <a:xfrm>
            <a:off x="7682634" y="1678342"/>
            <a:ext cx="3899766"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Transcription is the first step in gene expression. The goal of transcription is to make an RNA copy of a gene's DNA sequence. Eukaryotic transcripts need to go through some processing steps before translation into proteins.</a:t>
            </a:r>
          </a:p>
          <a:p>
            <a:pPr marL="285750" indent="-285750">
              <a:buFont typeface="Arial" panose="020B0604020202020204" pitchFamily="34" charset="0"/>
              <a:buChar char="•"/>
            </a:pPr>
            <a:r>
              <a:rPr lang="en-US" dirty="0"/>
              <a:t>The main enzyme involved in transcription is RNA polymerase, which uses a single-stranded DNA template to synthesize a complementary strand of RNA. </a:t>
            </a:r>
          </a:p>
          <a:p>
            <a:pPr marL="285750" indent="-285750">
              <a:buFont typeface="Arial" panose="020B0604020202020204" pitchFamily="34" charset="0"/>
              <a:buChar char="•"/>
            </a:pPr>
            <a:r>
              <a:rPr lang="en-US" dirty="0"/>
              <a:t>RNA polymerase builds an RNA strand in the 5' to 3' direction, adding each new nucleotide to the 3' end of the strand.</a:t>
            </a:r>
          </a:p>
        </p:txBody>
      </p:sp>
    </p:spTree>
    <p:extLst>
      <p:ext uri="{BB962C8B-B14F-4D97-AF65-F5344CB8AC3E}">
        <p14:creationId xmlns:p14="http://schemas.microsoft.com/office/powerpoint/2010/main" val="316559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7F24-7DBC-A986-2E55-80C799E5D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3705C-991D-1F98-09F2-D4F2F4932BEB}"/>
              </a:ext>
            </a:extLst>
          </p:cNvPr>
          <p:cNvSpPr>
            <a:spLocks noGrp="1"/>
          </p:cNvSpPr>
          <p:nvPr>
            <p:ph type="title"/>
          </p:nvPr>
        </p:nvSpPr>
        <p:spPr/>
        <p:txBody>
          <a:bodyPr>
            <a:normAutofit fontScale="90000"/>
          </a:bodyPr>
          <a:lstStyle/>
          <a:p>
            <a:r>
              <a:rPr lang="en-US" dirty="0"/>
              <a:t>Transcription -- initiation</a:t>
            </a:r>
          </a:p>
        </p:txBody>
      </p:sp>
      <p:sp>
        <p:nvSpPr>
          <p:cNvPr id="4" name="Slide Number Placeholder 3">
            <a:extLst>
              <a:ext uri="{FF2B5EF4-FFF2-40B4-BE49-F238E27FC236}">
                <a16:creationId xmlns:a16="http://schemas.microsoft.com/office/drawing/2014/main" id="{F40A4F0A-2C72-6719-523A-18F03BF74194}"/>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52BDAE90-4DF8-E50E-4F30-999648626EE6}"/>
              </a:ext>
            </a:extLst>
          </p:cNvPr>
          <p:cNvPicPr>
            <a:picLocks noChangeAspect="1"/>
          </p:cNvPicPr>
          <p:nvPr/>
        </p:nvPicPr>
        <p:blipFill>
          <a:blip r:embed="rId2"/>
          <a:stretch>
            <a:fillRect/>
          </a:stretch>
        </p:blipFill>
        <p:spPr>
          <a:xfrm>
            <a:off x="413656" y="1678342"/>
            <a:ext cx="7114995" cy="5168772"/>
          </a:xfrm>
          <a:prstGeom prst="rect">
            <a:avLst/>
          </a:prstGeom>
        </p:spPr>
      </p:pic>
      <p:sp>
        <p:nvSpPr>
          <p:cNvPr id="7" name="TextBox 6">
            <a:extLst>
              <a:ext uri="{FF2B5EF4-FFF2-40B4-BE49-F238E27FC236}">
                <a16:creationId xmlns:a16="http://schemas.microsoft.com/office/drawing/2014/main" id="{EACF87EA-11F5-2D41-1702-E245A57731A6}"/>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sp>
        <p:nvSpPr>
          <p:cNvPr id="3" name="TextBox 2">
            <a:extLst>
              <a:ext uri="{FF2B5EF4-FFF2-40B4-BE49-F238E27FC236}">
                <a16:creationId xmlns:a16="http://schemas.microsoft.com/office/drawing/2014/main" id="{EF663F9A-B507-C624-2652-36A90422F7ED}"/>
              </a:ext>
            </a:extLst>
          </p:cNvPr>
          <p:cNvSpPr txBox="1"/>
          <p:nvPr/>
        </p:nvSpPr>
        <p:spPr>
          <a:xfrm>
            <a:off x="7682634" y="1678342"/>
            <a:ext cx="389976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RNA polymerase binds to a sequence of DNA called the promoter, found near the beginning of a gene. </a:t>
            </a:r>
          </a:p>
          <a:p>
            <a:pPr marL="285750" indent="-285750">
              <a:buFont typeface="Arial" panose="020B0604020202020204" pitchFamily="34" charset="0"/>
              <a:buChar char="•"/>
            </a:pPr>
            <a:r>
              <a:rPr lang="en-US" dirty="0"/>
              <a:t>Each gene (or group of co-transcribed genes, in bacteria) has its own promoter. </a:t>
            </a:r>
          </a:p>
          <a:p>
            <a:pPr marL="285750" indent="-285750">
              <a:buFont typeface="Arial" panose="020B0604020202020204" pitchFamily="34" charset="0"/>
              <a:buChar char="•"/>
            </a:pPr>
            <a:r>
              <a:rPr lang="en-US" dirty="0"/>
              <a:t>Once bound, RNA polymerase separates the DNA strands, providing the single-stranded template needed for transcription.</a:t>
            </a:r>
          </a:p>
        </p:txBody>
      </p:sp>
    </p:spTree>
    <p:extLst>
      <p:ext uri="{BB962C8B-B14F-4D97-AF65-F5344CB8AC3E}">
        <p14:creationId xmlns:p14="http://schemas.microsoft.com/office/powerpoint/2010/main" val="354394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DC607-0552-8196-159E-B8C2666B7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FA2F2-FBB3-7045-7E59-4A34C78A4822}"/>
              </a:ext>
            </a:extLst>
          </p:cNvPr>
          <p:cNvSpPr>
            <a:spLocks noGrp="1"/>
          </p:cNvSpPr>
          <p:nvPr>
            <p:ph type="title"/>
          </p:nvPr>
        </p:nvSpPr>
        <p:spPr/>
        <p:txBody>
          <a:bodyPr>
            <a:normAutofit fontScale="90000"/>
          </a:bodyPr>
          <a:lstStyle/>
          <a:p>
            <a:r>
              <a:rPr lang="en-US" dirty="0"/>
              <a:t>Transcription -- elongation</a:t>
            </a:r>
          </a:p>
        </p:txBody>
      </p:sp>
      <p:sp>
        <p:nvSpPr>
          <p:cNvPr id="4" name="Slide Number Placeholder 3">
            <a:extLst>
              <a:ext uri="{FF2B5EF4-FFF2-40B4-BE49-F238E27FC236}">
                <a16:creationId xmlns:a16="http://schemas.microsoft.com/office/drawing/2014/main" id="{6253CF9B-0121-BFE6-D989-C5DA7F2E610C}"/>
              </a:ext>
            </a:extLst>
          </p:cNvPr>
          <p:cNvSpPr>
            <a:spLocks noGrp="1"/>
          </p:cNvSpPr>
          <p:nvPr>
            <p:ph type="sldNum" sz="quarter" idx="12"/>
          </p:nvPr>
        </p:nvSpPr>
        <p:spPr/>
        <p:txBody>
          <a:bodyPr/>
          <a:lstStyle/>
          <a:p>
            <a:fld id="{B82CCC60-E8CD-4174-8B1A-7DF615B22EEF}" type="slidenum">
              <a:rPr lang="en-US" smtClean="0"/>
              <a:pPr/>
              <a:t>5</a:t>
            </a:fld>
            <a:endParaRPr lang="en-US"/>
          </a:p>
        </p:txBody>
      </p:sp>
      <p:sp>
        <p:nvSpPr>
          <p:cNvPr id="7" name="TextBox 6">
            <a:extLst>
              <a:ext uri="{FF2B5EF4-FFF2-40B4-BE49-F238E27FC236}">
                <a16:creationId xmlns:a16="http://schemas.microsoft.com/office/drawing/2014/main" id="{4617D148-25B7-808E-A646-6340F22289B4}"/>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1F9435B9-EEF8-A6FE-5EBC-CF1303167BB1}"/>
              </a:ext>
            </a:extLst>
          </p:cNvPr>
          <p:cNvPicPr>
            <a:picLocks noChangeAspect="1"/>
          </p:cNvPicPr>
          <p:nvPr/>
        </p:nvPicPr>
        <p:blipFill>
          <a:blip r:embed="rId2"/>
          <a:stretch>
            <a:fillRect/>
          </a:stretch>
        </p:blipFill>
        <p:spPr>
          <a:xfrm>
            <a:off x="318650" y="1661887"/>
            <a:ext cx="7686418" cy="5196114"/>
          </a:xfrm>
          <a:prstGeom prst="rect">
            <a:avLst/>
          </a:prstGeom>
        </p:spPr>
      </p:pic>
      <p:sp>
        <p:nvSpPr>
          <p:cNvPr id="6" name="TextBox 5">
            <a:extLst>
              <a:ext uri="{FF2B5EF4-FFF2-40B4-BE49-F238E27FC236}">
                <a16:creationId xmlns:a16="http://schemas.microsoft.com/office/drawing/2014/main" id="{EAA75F8B-287D-E7CD-8EFB-3B9BC1AD2ED8}"/>
              </a:ext>
            </a:extLst>
          </p:cNvPr>
          <p:cNvSpPr txBox="1"/>
          <p:nvPr/>
        </p:nvSpPr>
        <p:spPr>
          <a:xfrm>
            <a:off x="7682634" y="1678342"/>
            <a:ext cx="3899766" cy="3693319"/>
          </a:xfrm>
          <a:prstGeom prst="rect">
            <a:avLst/>
          </a:prstGeom>
          <a:noFill/>
        </p:spPr>
        <p:txBody>
          <a:bodyPr wrap="square" rtlCol="0">
            <a:spAutoFit/>
          </a:bodyPr>
          <a:lstStyle/>
          <a:p>
            <a:pPr marL="285750" indent="-285750">
              <a:buFont typeface="Arial" panose="020B0604020202020204" pitchFamily="34" charset="0"/>
              <a:buChar char="•"/>
            </a:pPr>
            <a:r>
              <a:rPr lang="en-US" dirty="0"/>
              <a:t>One strand of DNA, the template strand, acts as a template for RNA polymerase. </a:t>
            </a:r>
          </a:p>
          <a:p>
            <a:pPr marL="285750" indent="-285750">
              <a:buFont typeface="Arial" panose="020B0604020202020204" pitchFamily="34" charset="0"/>
              <a:buChar char="•"/>
            </a:pPr>
            <a:r>
              <a:rPr lang="en-US" dirty="0"/>
              <a:t>As it "reads" this template one base at a time, the polymerase builds an RNA molecule out of complementary nucleotides, making a chain that grows from 5' to 3’.</a:t>
            </a:r>
          </a:p>
          <a:p>
            <a:pPr marL="285750" indent="-285750">
              <a:buFont typeface="Arial" panose="020B0604020202020204" pitchFamily="34" charset="0"/>
              <a:buChar char="•"/>
            </a:pPr>
            <a:r>
              <a:rPr lang="en-US" dirty="0"/>
              <a:t>The RNA transcript carries the same information as the non-template (coding) strand of DNA, but it contains the base uracil (U) instead of thymine (T).</a:t>
            </a:r>
            <a:endParaRPr lang="en-US" b="1" dirty="0"/>
          </a:p>
        </p:txBody>
      </p:sp>
    </p:spTree>
    <p:extLst>
      <p:ext uri="{BB962C8B-B14F-4D97-AF65-F5344CB8AC3E}">
        <p14:creationId xmlns:p14="http://schemas.microsoft.com/office/powerpoint/2010/main" val="210438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6FB4-1A91-54CC-35E8-8123414D7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BD723-47D1-4B41-206B-9C6BAF1C7906}"/>
              </a:ext>
            </a:extLst>
          </p:cNvPr>
          <p:cNvSpPr>
            <a:spLocks noGrp="1"/>
          </p:cNvSpPr>
          <p:nvPr>
            <p:ph type="title"/>
          </p:nvPr>
        </p:nvSpPr>
        <p:spPr/>
        <p:txBody>
          <a:bodyPr>
            <a:normAutofit fontScale="90000"/>
          </a:bodyPr>
          <a:lstStyle/>
          <a:p>
            <a:r>
              <a:rPr lang="en-US" dirty="0"/>
              <a:t>Transcription -- termination</a:t>
            </a:r>
          </a:p>
        </p:txBody>
      </p:sp>
      <p:sp>
        <p:nvSpPr>
          <p:cNvPr id="4" name="Slide Number Placeholder 3">
            <a:extLst>
              <a:ext uri="{FF2B5EF4-FFF2-40B4-BE49-F238E27FC236}">
                <a16:creationId xmlns:a16="http://schemas.microsoft.com/office/drawing/2014/main" id="{12DC14C3-E7BD-B9A5-D1B6-46F698E2A728}"/>
              </a:ext>
            </a:extLst>
          </p:cNvPr>
          <p:cNvSpPr>
            <a:spLocks noGrp="1"/>
          </p:cNvSpPr>
          <p:nvPr>
            <p:ph type="sldNum" sz="quarter" idx="12"/>
          </p:nvPr>
        </p:nvSpPr>
        <p:spPr/>
        <p:txBody>
          <a:bodyPr/>
          <a:lstStyle/>
          <a:p>
            <a:fld id="{B82CCC60-E8CD-4174-8B1A-7DF615B22EEF}" type="slidenum">
              <a:rPr lang="en-US" smtClean="0"/>
              <a:pPr/>
              <a:t>6</a:t>
            </a:fld>
            <a:endParaRPr lang="en-US"/>
          </a:p>
        </p:txBody>
      </p:sp>
      <p:sp>
        <p:nvSpPr>
          <p:cNvPr id="7" name="TextBox 6">
            <a:extLst>
              <a:ext uri="{FF2B5EF4-FFF2-40B4-BE49-F238E27FC236}">
                <a16:creationId xmlns:a16="http://schemas.microsoft.com/office/drawing/2014/main" id="{581B6BB3-9EC0-E547-AC98-AE9B3F2461F7}"/>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6" name="Picture 5">
            <a:extLst>
              <a:ext uri="{FF2B5EF4-FFF2-40B4-BE49-F238E27FC236}">
                <a16:creationId xmlns:a16="http://schemas.microsoft.com/office/drawing/2014/main" id="{BE57349B-7048-2F49-9D02-E8DE2D83E114}"/>
              </a:ext>
            </a:extLst>
          </p:cNvPr>
          <p:cNvPicPr>
            <a:picLocks noChangeAspect="1"/>
          </p:cNvPicPr>
          <p:nvPr/>
        </p:nvPicPr>
        <p:blipFill>
          <a:blip r:embed="rId2"/>
          <a:stretch>
            <a:fillRect/>
          </a:stretch>
        </p:blipFill>
        <p:spPr>
          <a:xfrm>
            <a:off x="172612" y="1966989"/>
            <a:ext cx="9335803" cy="4324954"/>
          </a:xfrm>
          <a:prstGeom prst="rect">
            <a:avLst/>
          </a:prstGeom>
        </p:spPr>
      </p:pic>
      <p:sp>
        <p:nvSpPr>
          <p:cNvPr id="3" name="TextBox 2">
            <a:extLst>
              <a:ext uri="{FF2B5EF4-FFF2-40B4-BE49-F238E27FC236}">
                <a16:creationId xmlns:a16="http://schemas.microsoft.com/office/drawing/2014/main" id="{B4C5DBB0-6E01-0249-C7B6-49C1E118EB87}"/>
              </a:ext>
            </a:extLst>
          </p:cNvPr>
          <p:cNvSpPr txBox="1"/>
          <p:nvPr/>
        </p:nvSpPr>
        <p:spPr>
          <a:xfrm>
            <a:off x="9013826" y="1966988"/>
            <a:ext cx="2844799" cy="3693319"/>
          </a:xfrm>
          <a:prstGeom prst="rect">
            <a:avLst/>
          </a:prstGeom>
          <a:noFill/>
        </p:spPr>
        <p:txBody>
          <a:bodyPr wrap="square" rtlCol="0">
            <a:spAutoFit/>
          </a:bodyPr>
          <a:lstStyle/>
          <a:p>
            <a:pPr marL="285750" indent="-285750">
              <a:buFont typeface="Arial" panose="020B0604020202020204" pitchFamily="34" charset="0"/>
              <a:buChar char="•"/>
            </a:pPr>
            <a:r>
              <a:rPr lang="en-US" dirty="0"/>
              <a:t>Sequences called </a:t>
            </a:r>
            <a:r>
              <a:rPr lang="en-US" b="1" dirty="0"/>
              <a:t>terminators</a:t>
            </a:r>
            <a:r>
              <a:rPr lang="en-US" dirty="0"/>
              <a:t> signal that the RNA transcript is complete. Once they are transcribed, they cause the transcript to be released from the RNA polymerase. </a:t>
            </a:r>
          </a:p>
          <a:p>
            <a:pPr marL="285750" indent="-285750">
              <a:buFont typeface="Arial" panose="020B0604020202020204" pitchFamily="34" charset="0"/>
              <a:buChar char="•"/>
            </a:pPr>
            <a:r>
              <a:rPr lang="en-US" dirty="0"/>
              <a:t>An example of a termination mechanism involving formation of a hairpin in the RNA is shown here.</a:t>
            </a:r>
          </a:p>
        </p:txBody>
      </p:sp>
    </p:spTree>
    <p:extLst>
      <p:ext uri="{BB962C8B-B14F-4D97-AF65-F5344CB8AC3E}">
        <p14:creationId xmlns:p14="http://schemas.microsoft.com/office/powerpoint/2010/main" val="51111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919A-8AF5-A420-27C1-CD180F4F6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C3A2F-01D9-B78E-E3B9-6E455AD58A93}"/>
              </a:ext>
            </a:extLst>
          </p:cNvPr>
          <p:cNvSpPr>
            <a:spLocks noGrp="1"/>
          </p:cNvSpPr>
          <p:nvPr>
            <p:ph type="title"/>
          </p:nvPr>
        </p:nvSpPr>
        <p:spPr/>
        <p:txBody>
          <a:bodyPr>
            <a:normAutofit fontScale="90000"/>
          </a:bodyPr>
          <a:lstStyle/>
          <a:p>
            <a:r>
              <a:rPr lang="en-US" dirty="0"/>
              <a:t>Transcription -- splicing</a:t>
            </a:r>
          </a:p>
        </p:txBody>
      </p:sp>
      <p:sp>
        <p:nvSpPr>
          <p:cNvPr id="4" name="Slide Number Placeholder 3">
            <a:extLst>
              <a:ext uri="{FF2B5EF4-FFF2-40B4-BE49-F238E27FC236}">
                <a16:creationId xmlns:a16="http://schemas.microsoft.com/office/drawing/2014/main" id="{08985A17-241D-1E99-382E-2538E5FE17B8}"/>
              </a:ext>
            </a:extLst>
          </p:cNvPr>
          <p:cNvSpPr>
            <a:spLocks noGrp="1"/>
          </p:cNvSpPr>
          <p:nvPr>
            <p:ph type="sldNum" sz="quarter" idx="12"/>
          </p:nvPr>
        </p:nvSpPr>
        <p:spPr/>
        <p:txBody>
          <a:bodyPr/>
          <a:lstStyle/>
          <a:p>
            <a:fld id="{B82CCC60-E8CD-4174-8B1A-7DF615B22EEF}" type="slidenum">
              <a:rPr lang="en-US" smtClean="0"/>
              <a:pPr/>
              <a:t>7</a:t>
            </a:fld>
            <a:endParaRPr lang="en-US"/>
          </a:p>
        </p:txBody>
      </p:sp>
      <p:sp>
        <p:nvSpPr>
          <p:cNvPr id="7" name="TextBox 6">
            <a:extLst>
              <a:ext uri="{FF2B5EF4-FFF2-40B4-BE49-F238E27FC236}">
                <a16:creationId xmlns:a16="http://schemas.microsoft.com/office/drawing/2014/main" id="{2E0BAC87-D141-E7BB-A22D-9DCF51C586F5}"/>
              </a:ext>
            </a:extLst>
          </p:cNvPr>
          <p:cNvSpPr txBox="1"/>
          <p:nvPr/>
        </p:nvSpPr>
        <p:spPr>
          <a:xfrm>
            <a:off x="7868993" y="6488668"/>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44896F7F-1D18-EF6E-7EB0-CC14AB8EA324}"/>
              </a:ext>
            </a:extLst>
          </p:cNvPr>
          <p:cNvPicPr>
            <a:picLocks noChangeAspect="1"/>
          </p:cNvPicPr>
          <p:nvPr/>
        </p:nvPicPr>
        <p:blipFill>
          <a:blip r:embed="rId2"/>
          <a:stretch>
            <a:fillRect/>
          </a:stretch>
        </p:blipFill>
        <p:spPr>
          <a:xfrm>
            <a:off x="98650" y="1722971"/>
            <a:ext cx="9774014" cy="4753638"/>
          </a:xfrm>
          <a:prstGeom prst="rect">
            <a:avLst/>
          </a:prstGeom>
        </p:spPr>
      </p:pic>
      <p:sp>
        <p:nvSpPr>
          <p:cNvPr id="3" name="TextBox 2">
            <a:extLst>
              <a:ext uri="{FF2B5EF4-FFF2-40B4-BE49-F238E27FC236}">
                <a16:creationId xmlns:a16="http://schemas.microsoft.com/office/drawing/2014/main" id="{F64C416C-509A-726C-A87B-A8E94915494F}"/>
              </a:ext>
            </a:extLst>
          </p:cNvPr>
          <p:cNvSpPr txBox="1"/>
          <p:nvPr/>
        </p:nvSpPr>
        <p:spPr>
          <a:xfrm>
            <a:off x="9661236" y="1366164"/>
            <a:ext cx="2432114" cy="5355312"/>
          </a:xfrm>
          <a:prstGeom prst="rect">
            <a:avLst/>
          </a:prstGeom>
          <a:noFill/>
        </p:spPr>
        <p:txBody>
          <a:bodyPr wrap="square" rtlCol="0">
            <a:spAutoFit/>
          </a:bodyPr>
          <a:lstStyle/>
          <a:p>
            <a:pPr marL="285750" lvl="0" indent="-285750" fontAlgn="base">
              <a:buFont typeface="Arial" panose="020B0604020202020204" pitchFamily="34" charset="0"/>
              <a:buChar char="•"/>
            </a:pPr>
            <a:r>
              <a:rPr lang="en-US" dirty="0"/>
              <a:t>Eukaryotic pre-mRNAs must have their ends modified, by addition of a </a:t>
            </a:r>
            <a:r>
              <a:rPr lang="en-US" b="1" dirty="0"/>
              <a:t>5' cap</a:t>
            </a:r>
            <a:r>
              <a:rPr lang="en-US" dirty="0"/>
              <a:t> (at the beginning) and </a:t>
            </a:r>
            <a:r>
              <a:rPr lang="en-US" b="1" dirty="0"/>
              <a:t>3' poly-A tail</a:t>
            </a:r>
            <a:r>
              <a:rPr lang="en-US" dirty="0"/>
              <a:t> (at the end).</a:t>
            </a:r>
          </a:p>
          <a:p>
            <a:pPr marL="285750" lvl="0" indent="-285750" fontAlgn="base">
              <a:buFont typeface="Arial" panose="020B0604020202020204" pitchFamily="34" charset="0"/>
              <a:buChar char="•"/>
            </a:pPr>
            <a:r>
              <a:rPr lang="en-US" dirty="0"/>
              <a:t>Many eukaryotic pre-mRNAs undergo </a:t>
            </a:r>
            <a:r>
              <a:rPr lang="en-US" b="1" dirty="0"/>
              <a:t>splicing</a:t>
            </a:r>
            <a:r>
              <a:rPr lang="en-US" dirty="0"/>
              <a:t>. In this process, parts of the pre-mRNA (called </a:t>
            </a:r>
            <a:r>
              <a:rPr lang="en-US" b="1" dirty="0"/>
              <a:t>introns</a:t>
            </a:r>
            <a:r>
              <a:rPr lang="en-US" dirty="0"/>
              <a:t>) are chopped out, and the remaining pieces (called </a:t>
            </a:r>
            <a:r>
              <a:rPr lang="en-US" b="1" dirty="0"/>
              <a:t>exons</a:t>
            </a:r>
            <a:r>
              <a:rPr lang="en-US" dirty="0"/>
              <a:t>) are stuck back together.</a:t>
            </a:r>
          </a:p>
          <a:p>
            <a:endParaRPr lang="en-US" dirty="0"/>
          </a:p>
        </p:txBody>
      </p:sp>
    </p:spTree>
    <p:extLst>
      <p:ext uri="{BB962C8B-B14F-4D97-AF65-F5344CB8AC3E}">
        <p14:creationId xmlns:p14="http://schemas.microsoft.com/office/powerpoint/2010/main" val="215361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0FA3-F17D-8199-C237-6A2CF51777EA}"/>
              </a:ext>
            </a:extLst>
          </p:cNvPr>
          <p:cNvSpPr>
            <a:spLocks noGrp="1"/>
          </p:cNvSpPr>
          <p:nvPr>
            <p:ph type="title"/>
          </p:nvPr>
        </p:nvSpPr>
        <p:spPr/>
        <p:txBody>
          <a:bodyPr>
            <a:normAutofit fontScale="90000"/>
          </a:bodyPr>
          <a:lstStyle/>
          <a:p>
            <a:r>
              <a:rPr lang="en-US" dirty="0"/>
              <a:t>Poly-A tail</a:t>
            </a:r>
          </a:p>
        </p:txBody>
      </p:sp>
      <p:sp>
        <p:nvSpPr>
          <p:cNvPr id="3" name="Content Placeholder 2">
            <a:extLst>
              <a:ext uri="{FF2B5EF4-FFF2-40B4-BE49-F238E27FC236}">
                <a16:creationId xmlns:a16="http://schemas.microsoft.com/office/drawing/2014/main" id="{1346F293-779C-02FF-E46E-9CF199A76A37}"/>
              </a:ext>
            </a:extLst>
          </p:cNvPr>
          <p:cNvSpPr>
            <a:spLocks noGrp="1"/>
          </p:cNvSpPr>
          <p:nvPr>
            <p:ph idx="1"/>
          </p:nvPr>
        </p:nvSpPr>
        <p:spPr>
          <a:xfrm>
            <a:off x="838200" y="1825624"/>
            <a:ext cx="10515600" cy="4585933"/>
          </a:xfrm>
        </p:spPr>
        <p:txBody>
          <a:bodyPr/>
          <a:lstStyle/>
          <a:p>
            <a:r>
              <a:rPr lang="en-US" dirty="0"/>
              <a:t>The poly-A tail is a long chain of Adenine nucleotides that is added to a messenger RNA (mRNA) molecule during RNA processing to increase the stability of the molecule</a:t>
            </a:r>
          </a:p>
          <a:p>
            <a:r>
              <a:rPr lang="en-US" dirty="0"/>
              <a:t>Processing of the 3' end adds a poly-A tail to the RNA molecule that is between 100 and 250 A’a long</a:t>
            </a:r>
          </a:p>
          <a:p>
            <a:r>
              <a:rPr lang="en-US" dirty="0"/>
              <a:t>Poly-A tail allows the mature messenger RNA molecule to be exported from the nucleus and translated into a protein by ribosomes in the cytoplasm</a:t>
            </a:r>
          </a:p>
        </p:txBody>
      </p:sp>
    </p:spTree>
    <p:extLst>
      <p:ext uri="{BB962C8B-B14F-4D97-AF65-F5344CB8AC3E}">
        <p14:creationId xmlns:p14="http://schemas.microsoft.com/office/powerpoint/2010/main" val="4271307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28ED-23E7-0DD9-698A-54638488F9BA}"/>
              </a:ext>
            </a:extLst>
          </p:cNvPr>
          <p:cNvSpPr>
            <a:spLocks noGrp="1"/>
          </p:cNvSpPr>
          <p:nvPr>
            <p:ph type="title"/>
          </p:nvPr>
        </p:nvSpPr>
        <p:spPr/>
        <p:txBody>
          <a:bodyPr>
            <a:normAutofit fontScale="90000"/>
          </a:bodyPr>
          <a:lstStyle/>
          <a:p>
            <a:r>
              <a:rPr lang="en-US" dirty="0"/>
              <a:t>Splicing</a:t>
            </a:r>
          </a:p>
        </p:txBody>
      </p:sp>
      <p:sp>
        <p:nvSpPr>
          <p:cNvPr id="3" name="Content Placeholder 2">
            <a:extLst>
              <a:ext uri="{FF2B5EF4-FFF2-40B4-BE49-F238E27FC236}">
                <a16:creationId xmlns:a16="http://schemas.microsoft.com/office/drawing/2014/main" id="{F16D4F4A-7104-01C8-D998-62D6074CEEB9}"/>
              </a:ext>
            </a:extLst>
          </p:cNvPr>
          <p:cNvSpPr>
            <a:spLocks noGrp="1"/>
          </p:cNvSpPr>
          <p:nvPr>
            <p:ph idx="1"/>
          </p:nvPr>
        </p:nvSpPr>
        <p:spPr>
          <a:xfrm>
            <a:off x="598620" y="1596540"/>
            <a:ext cx="5908058" cy="5124936"/>
          </a:xfrm>
        </p:spPr>
        <p:txBody>
          <a:bodyPr>
            <a:normAutofit fontScale="92500" lnSpcReduction="10000"/>
          </a:bodyPr>
          <a:lstStyle/>
          <a:p>
            <a:r>
              <a:rPr lang="en-US" dirty="0"/>
              <a:t>Spliceosome includes five so-called ‘small nuclear ribonucleoproteins’ (snRNPs, often pronounced ‘snurps’) and numerous associated proteins. </a:t>
            </a:r>
          </a:p>
          <a:p>
            <a:r>
              <a:rPr lang="en-US" dirty="0"/>
              <a:t>The snRNPs contain RNA that is rich in Uracil, the RNA base that replaces DNA’s Thymine, and they are named – perhaps unimaginatively – U1, U2, U4, U5 and U6</a:t>
            </a:r>
          </a:p>
          <a:p>
            <a:r>
              <a:rPr lang="en-US" dirty="0"/>
              <a:t>Spliceosome determines the start and end of an intron by detecting DNA patterns around donor (typically GT) and acceptor (typically AG) sites</a:t>
            </a:r>
          </a:p>
        </p:txBody>
      </p:sp>
      <p:sp>
        <p:nvSpPr>
          <p:cNvPr id="4" name="Slide Number Placeholder 3">
            <a:extLst>
              <a:ext uri="{FF2B5EF4-FFF2-40B4-BE49-F238E27FC236}">
                <a16:creationId xmlns:a16="http://schemas.microsoft.com/office/drawing/2014/main" id="{89578F2D-FE73-DD43-722C-B83D9DA54F59}"/>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6" name="Picture 5">
            <a:extLst>
              <a:ext uri="{FF2B5EF4-FFF2-40B4-BE49-F238E27FC236}">
                <a16:creationId xmlns:a16="http://schemas.microsoft.com/office/drawing/2014/main" id="{F445E3C6-EDDB-976B-129A-CF96D9008568}"/>
              </a:ext>
            </a:extLst>
          </p:cNvPr>
          <p:cNvPicPr>
            <a:picLocks noChangeAspect="1"/>
          </p:cNvPicPr>
          <p:nvPr/>
        </p:nvPicPr>
        <p:blipFill>
          <a:blip r:embed="rId2"/>
          <a:stretch>
            <a:fillRect/>
          </a:stretch>
        </p:blipFill>
        <p:spPr>
          <a:xfrm>
            <a:off x="6883861" y="1138425"/>
            <a:ext cx="5308139" cy="5426242"/>
          </a:xfrm>
          <a:prstGeom prst="rect">
            <a:avLst/>
          </a:prstGeom>
        </p:spPr>
      </p:pic>
    </p:spTree>
    <p:extLst>
      <p:ext uri="{BB962C8B-B14F-4D97-AF65-F5344CB8AC3E}">
        <p14:creationId xmlns:p14="http://schemas.microsoft.com/office/powerpoint/2010/main" val="1722923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A422-EB5B-6C9F-83F4-CCA5AC38E6BB}"/>
              </a:ext>
            </a:extLst>
          </p:cNvPr>
          <p:cNvSpPr>
            <a:spLocks noGrp="1"/>
          </p:cNvSpPr>
          <p:nvPr>
            <p:ph type="title"/>
          </p:nvPr>
        </p:nvSpPr>
        <p:spPr/>
        <p:txBody>
          <a:bodyPr>
            <a:normAutofit fontScale="90000"/>
          </a:bodyPr>
          <a:lstStyle/>
          <a:p>
            <a:r>
              <a:rPr lang="en-US" dirty="0"/>
              <a:t>Splice site patterns</a:t>
            </a:r>
          </a:p>
        </p:txBody>
      </p:sp>
      <p:sp>
        <p:nvSpPr>
          <p:cNvPr id="4" name="Slide Number Placeholder 3">
            <a:extLst>
              <a:ext uri="{FF2B5EF4-FFF2-40B4-BE49-F238E27FC236}">
                <a16:creationId xmlns:a16="http://schemas.microsoft.com/office/drawing/2014/main" id="{C62F78B9-9182-E692-99AF-1FA2D9B1C388}"/>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7" name="Picture 6">
            <a:extLst>
              <a:ext uri="{FF2B5EF4-FFF2-40B4-BE49-F238E27FC236}">
                <a16:creationId xmlns:a16="http://schemas.microsoft.com/office/drawing/2014/main" id="{9403D917-D8B8-7316-1BC8-4876A096C5FB}"/>
              </a:ext>
            </a:extLst>
          </p:cNvPr>
          <p:cNvPicPr>
            <a:picLocks noChangeAspect="1"/>
          </p:cNvPicPr>
          <p:nvPr/>
        </p:nvPicPr>
        <p:blipFill>
          <a:blip r:embed="rId2"/>
          <a:stretch>
            <a:fillRect/>
          </a:stretch>
        </p:blipFill>
        <p:spPr>
          <a:xfrm>
            <a:off x="3674217" y="2006518"/>
            <a:ext cx="8437459" cy="4091344"/>
          </a:xfrm>
          <a:prstGeom prst="rect">
            <a:avLst/>
          </a:prstGeom>
        </p:spPr>
      </p:pic>
      <p:pic>
        <p:nvPicPr>
          <p:cNvPr id="9" name="Picture 8">
            <a:extLst>
              <a:ext uri="{FF2B5EF4-FFF2-40B4-BE49-F238E27FC236}">
                <a16:creationId xmlns:a16="http://schemas.microsoft.com/office/drawing/2014/main" id="{6B966AE1-796E-6EAE-1517-76D18A951198}"/>
              </a:ext>
            </a:extLst>
          </p:cNvPr>
          <p:cNvPicPr>
            <a:picLocks noChangeAspect="1"/>
          </p:cNvPicPr>
          <p:nvPr/>
        </p:nvPicPr>
        <p:blipFill>
          <a:blip r:embed="rId3"/>
          <a:stretch>
            <a:fillRect/>
          </a:stretch>
        </p:blipFill>
        <p:spPr>
          <a:xfrm>
            <a:off x="226494" y="2128063"/>
            <a:ext cx="3307736" cy="3901625"/>
          </a:xfrm>
          <a:prstGeom prst="rect">
            <a:avLst/>
          </a:prstGeom>
        </p:spPr>
      </p:pic>
      <p:pic>
        <p:nvPicPr>
          <p:cNvPr id="11" name="Picture 10">
            <a:extLst>
              <a:ext uri="{FF2B5EF4-FFF2-40B4-BE49-F238E27FC236}">
                <a16:creationId xmlns:a16="http://schemas.microsoft.com/office/drawing/2014/main" id="{FE3AD03D-16BF-6442-AF61-6D82FBBDE134}"/>
              </a:ext>
            </a:extLst>
          </p:cNvPr>
          <p:cNvPicPr>
            <a:picLocks noChangeAspect="1"/>
          </p:cNvPicPr>
          <p:nvPr/>
        </p:nvPicPr>
        <p:blipFill>
          <a:blip r:embed="rId4"/>
          <a:stretch>
            <a:fillRect/>
          </a:stretch>
        </p:blipFill>
        <p:spPr>
          <a:xfrm>
            <a:off x="8297989" y="760138"/>
            <a:ext cx="3894011" cy="1224283"/>
          </a:xfrm>
          <a:prstGeom prst="rect">
            <a:avLst/>
          </a:prstGeom>
        </p:spPr>
      </p:pic>
      <p:sp>
        <p:nvSpPr>
          <p:cNvPr id="12" name="TextBox 11">
            <a:extLst>
              <a:ext uri="{FF2B5EF4-FFF2-40B4-BE49-F238E27FC236}">
                <a16:creationId xmlns:a16="http://schemas.microsoft.com/office/drawing/2014/main" id="{AAC7C38F-A22A-D105-3E87-477459DC8AFD}"/>
              </a:ext>
            </a:extLst>
          </p:cNvPr>
          <p:cNvSpPr txBox="1"/>
          <p:nvPr/>
        </p:nvSpPr>
        <p:spPr>
          <a:xfrm>
            <a:off x="931164" y="1651700"/>
            <a:ext cx="1223861" cy="369332"/>
          </a:xfrm>
          <a:prstGeom prst="rect">
            <a:avLst/>
          </a:prstGeom>
          <a:noFill/>
        </p:spPr>
        <p:txBody>
          <a:bodyPr wrap="none" rtlCol="0">
            <a:spAutoFit/>
          </a:bodyPr>
          <a:lstStyle/>
          <a:p>
            <a:r>
              <a:rPr lang="en-US" dirty="0"/>
              <a:t>Donor (GT)</a:t>
            </a:r>
          </a:p>
        </p:txBody>
      </p:sp>
      <p:sp>
        <p:nvSpPr>
          <p:cNvPr id="13" name="TextBox 12">
            <a:extLst>
              <a:ext uri="{FF2B5EF4-FFF2-40B4-BE49-F238E27FC236}">
                <a16:creationId xmlns:a16="http://schemas.microsoft.com/office/drawing/2014/main" id="{1D9F0EAD-576D-79AD-537E-10C7899ACCEE}"/>
              </a:ext>
            </a:extLst>
          </p:cNvPr>
          <p:cNvSpPr txBox="1"/>
          <p:nvPr/>
        </p:nvSpPr>
        <p:spPr>
          <a:xfrm>
            <a:off x="6178078" y="1626138"/>
            <a:ext cx="1497398" cy="369332"/>
          </a:xfrm>
          <a:prstGeom prst="rect">
            <a:avLst/>
          </a:prstGeom>
          <a:noFill/>
        </p:spPr>
        <p:txBody>
          <a:bodyPr wrap="none" rtlCol="0">
            <a:spAutoFit/>
          </a:bodyPr>
          <a:lstStyle/>
          <a:p>
            <a:r>
              <a:rPr lang="en-US"/>
              <a:t>Acceptor (AG)</a:t>
            </a:r>
            <a:endParaRPr lang="en-US" dirty="0"/>
          </a:p>
        </p:txBody>
      </p:sp>
    </p:spTree>
    <p:extLst>
      <p:ext uri="{BB962C8B-B14F-4D97-AF65-F5344CB8AC3E}">
        <p14:creationId xmlns:p14="http://schemas.microsoft.com/office/powerpoint/2010/main" val="3059937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67589-113F-2548-FBFC-71A5452DF06C}"/>
              </a:ext>
            </a:extLst>
          </p:cNvPr>
          <p:cNvSpPr>
            <a:spLocks noGrp="1"/>
          </p:cNvSpPr>
          <p:nvPr>
            <p:ph type="title"/>
          </p:nvPr>
        </p:nvSpPr>
        <p:spPr>
          <a:xfrm>
            <a:off x="598620" y="680310"/>
            <a:ext cx="6208580" cy="458115"/>
          </a:xfrm>
        </p:spPr>
        <p:txBody>
          <a:bodyPr>
            <a:normAutofit fontScale="90000"/>
          </a:bodyPr>
          <a:lstStyle/>
          <a:p>
            <a:r>
              <a:rPr lang="en-US" dirty="0"/>
              <a:t>What goes wrong in transcription</a:t>
            </a:r>
          </a:p>
        </p:txBody>
      </p:sp>
      <p:sp>
        <p:nvSpPr>
          <p:cNvPr id="3" name="Content Placeholder 2">
            <a:extLst>
              <a:ext uri="{FF2B5EF4-FFF2-40B4-BE49-F238E27FC236}">
                <a16:creationId xmlns:a16="http://schemas.microsoft.com/office/drawing/2014/main" id="{967EA890-4A86-8457-7BFC-1175253D1AA2}"/>
              </a:ext>
            </a:extLst>
          </p:cNvPr>
          <p:cNvSpPr>
            <a:spLocks noGrp="1"/>
          </p:cNvSpPr>
          <p:nvPr>
            <p:ph idx="1"/>
          </p:nvPr>
        </p:nvSpPr>
        <p:spPr>
          <a:xfrm>
            <a:off x="598620" y="1596540"/>
            <a:ext cx="6281151" cy="5007460"/>
          </a:xfrm>
        </p:spPr>
        <p:txBody>
          <a:bodyPr>
            <a:normAutofit fontScale="92500" lnSpcReduction="10000"/>
          </a:bodyPr>
          <a:lstStyle/>
          <a:p>
            <a:r>
              <a:rPr lang="en-US" dirty="0"/>
              <a:t>Biochemical processes are not exact</a:t>
            </a:r>
          </a:p>
          <a:p>
            <a:r>
              <a:rPr lang="en-US" dirty="0"/>
              <a:t>RNA polymerase recognizes promoter sites imperfectly</a:t>
            </a:r>
          </a:p>
          <a:p>
            <a:r>
              <a:rPr lang="en-US" dirty="0"/>
              <a:t>More than 50% of the </a:t>
            </a:r>
            <a:r>
              <a:rPr lang="en-US" i="1" dirty="0"/>
              <a:t>distinct</a:t>
            </a:r>
            <a:r>
              <a:rPr lang="en-US" dirty="0"/>
              <a:t> transcripts are produced in error -- “transcriptional noise”</a:t>
            </a:r>
          </a:p>
          <a:p>
            <a:pPr lvl="1"/>
            <a:r>
              <a:rPr lang="en-US" dirty="0"/>
              <a:t>Small portion of overall transcripts</a:t>
            </a:r>
          </a:p>
          <a:p>
            <a:pPr lvl="1"/>
            <a:r>
              <a:rPr lang="en-US" dirty="0"/>
              <a:t>Generally expressed at a low level</a:t>
            </a:r>
          </a:p>
          <a:p>
            <a:pPr lvl="1"/>
            <a:r>
              <a:rPr lang="en-US" dirty="0"/>
              <a:t>Never coding, recycled in cytoplasm</a:t>
            </a:r>
          </a:p>
          <a:p>
            <a:r>
              <a:rPr lang="en-US" dirty="0"/>
              <a:t>Introns are sometimes spliced </a:t>
            </a:r>
            <a:r>
              <a:rPr lang="en-US" dirty="0" err="1"/>
              <a:t>imperfecty</a:t>
            </a:r>
            <a:r>
              <a:rPr lang="en-US" dirty="0"/>
              <a:t> </a:t>
            </a:r>
          </a:p>
          <a:p>
            <a:pPr lvl="1"/>
            <a:r>
              <a:rPr lang="en-US" dirty="0"/>
              <a:t>This is called </a:t>
            </a:r>
            <a:r>
              <a:rPr lang="en-US" i="1" dirty="0"/>
              <a:t>intron retention</a:t>
            </a:r>
          </a:p>
          <a:p>
            <a:r>
              <a:rPr lang="en-US" dirty="0"/>
              <a:t>Splicing errors</a:t>
            </a:r>
          </a:p>
        </p:txBody>
      </p:sp>
      <p:sp>
        <p:nvSpPr>
          <p:cNvPr id="4" name="Slide Number Placeholder 3">
            <a:extLst>
              <a:ext uri="{FF2B5EF4-FFF2-40B4-BE49-F238E27FC236}">
                <a16:creationId xmlns:a16="http://schemas.microsoft.com/office/drawing/2014/main" id="{6AD71F59-E2CB-986E-41EF-C38922BC95F8}"/>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5" name="Picture 4">
            <a:extLst>
              <a:ext uri="{FF2B5EF4-FFF2-40B4-BE49-F238E27FC236}">
                <a16:creationId xmlns:a16="http://schemas.microsoft.com/office/drawing/2014/main" id="{99873D58-11C8-2E09-26E6-9A2DA93B035E}"/>
              </a:ext>
            </a:extLst>
          </p:cNvPr>
          <p:cNvPicPr>
            <a:picLocks noChangeAspect="1"/>
          </p:cNvPicPr>
          <p:nvPr/>
        </p:nvPicPr>
        <p:blipFill>
          <a:blip r:embed="rId2"/>
          <a:srcRect r="3475" b="72154"/>
          <a:stretch>
            <a:fillRect/>
          </a:stretch>
        </p:blipFill>
        <p:spPr>
          <a:xfrm>
            <a:off x="7486847" y="1334193"/>
            <a:ext cx="4541669" cy="951807"/>
          </a:xfrm>
          <a:prstGeom prst="rect">
            <a:avLst/>
          </a:prstGeom>
        </p:spPr>
      </p:pic>
      <p:sp>
        <p:nvSpPr>
          <p:cNvPr id="6" name="TextBox 5">
            <a:extLst>
              <a:ext uri="{FF2B5EF4-FFF2-40B4-BE49-F238E27FC236}">
                <a16:creationId xmlns:a16="http://schemas.microsoft.com/office/drawing/2014/main" id="{131E62DA-FBE6-9523-F824-E555CB4C80A4}"/>
              </a:ext>
            </a:extLst>
          </p:cNvPr>
          <p:cNvSpPr txBox="1"/>
          <p:nvPr/>
        </p:nvSpPr>
        <p:spPr>
          <a:xfrm>
            <a:off x="8007795" y="5643550"/>
            <a:ext cx="2858539" cy="369332"/>
          </a:xfrm>
          <a:prstGeom prst="rect">
            <a:avLst/>
          </a:prstGeom>
          <a:noFill/>
        </p:spPr>
        <p:txBody>
          <a:bodyPr wrap="none" rtlCol="0">
            <a:spAutoFit/>
          </a:bodyPr>
          <a:lstStyle/>
          <a:p>
            <a:r>
              <a:rPr lang="en-US" dirty="0"/>
              <a:t>Image credit: Khan Academy</a:t>
            </a:r>
          </a:p>
        </p:txBody>
      </p:sp>
      <p:pic>
        <p:nvPicPr>
          <p:cNvPr id="7" name="Picture 6">
            <a:extLst>
              <a:ext uri="{FF2B5EF4-FFF2-40B4-BE49-F238E27FC236}">
                <a16:creationId xmlns:a16="http://schemas.microsoft.com/office/drawing/2014/main" id="{285C77CA-A8DD-57E2-4967-C0606D24C497}"/>
              </a:ext>
            </a:extLst>
          </p:cNvPr>
          <p:cNvPicPr>
            <a:picLocks noChangeAspect="1"/>
          </p:cNvPicPr>
          <p:nvPr/>
        </p:nvPicPr>
        <p:blipFill>
          <a:blip r:embed="rId3"/>
          <a:stretch>
            <a:fillRect/>
          </a:stretch>
        </p:blipFill>
        <p:spPr>
          <a:xfrm>
            <a:off x="7577018" y="2629469"/>
            <a:ext cx="4361326" cy="2121152"/>
          </a:xfrm>
          <a:prstGeom prst="rect">
            <a:avLst/>
          </a:prstGeom>
        </p:spPr>
      </p:pic>
    </p:spTree>
    <p:extLst>
      <p:ext uri="{BB962C8B-B14F-4D97-AF65-F5344CB8AC3E}">
        <p14:creationId xmlns:p14="http://schemas.microsoft.com/office/powerpoint/2010/main" val="153155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F8FF3-9727-1B00-58BE-3C2A68A1FB5E}"/>
              </a:ext>
            </a:extLst>
          </p:cNvPr>
          <p:cNvSpPr>
            <a:spLocks noGrp="1"/>
          </p:cNvSpPr>
          <p:nvPr>
            <p:ph type="title"/>
          </p:nvPr>
        </p:nvSpPr>
        <p:spPr/>
        <p:txBody>
          <a:bodyPr>
            <a:normAutofit fontScale="90000"/>
          </a:bodyPr>
          <a:lstStyle/>
          <a:p>
            <a:r>
              <a:rPr lang="en-US" dirty="0"/>
              <a:t>Transcription levels</a:t>
            </a:r>
          </a:p>
        </p:txBody>
      </p:sp>
      <p:sp>
        <p:nvSpPr>
          <p:cNvPr id="3" name="Content Placeholder 2">
            <a:extLst>
              <a:ext uri="{FF2B5EF4-FFF2-40B4-BE49-F238E27FC236}">
                <a16:creationId xmlns:a16="http://schemas.microsoft.com/office/drawing/2014/main" id="{93ADE8F8-5AA7-852B-3D94-B9D4E154C0FC}"/>
              </a:ext>
            </a:extLst>
          </p:cNvPr>
          <p:cNvSpPr>
            <a:spLocks noGrp="1"/>
          </p:cNvSpPr>
          <p:nvPr>
            <p:ph idx="1"/>
          </p:nvPr>
        </p:nvSpPr>
        <p:spPr>
          <a:xfrm>
            <a:off x="598620" y="1596540"/>
            <a:ext cx="10972800" cy="4759811"/>
          </a:xfrm>
        </p:spPr>
        <p:txBody>
          <a:bodyPr/>
          <a:lstStyle/>
          <a:p>
            <a:r>
              <a:rPr lang="en-US" dirty="0"/>
              <a:t>Transcription levels vary </a:t>
            </a:r>
            <a:r>
              <a:rPr lang="en-US" i="1" dirty="0"/>
              <a:t>a lot </a:t>
            </a:r>
            <a:r>
              <a:rPr lang="en-US" dirty="0"/>
              <a:t>for individual genes</a:t>
            </a:r>
          </a:p>
          <a:p>
            <a:r>
              <a:rPr lang="en-US" dirty="0"/>
              <a:t>Transcript present is many copies != it is functional!</a:t>
            </a:r>
          </a:p>
        </p:txBody>
      </p:sp>
      <p:sp>
        <p:nvSpPr>
          <p:cNvPr id="4" name="Slide Number Placeholder 3">
            <a:extLst>
              <a:ext uri="{FF2B5EF4-FFF2-40B4-BE49-F238E27FC236}">
                <a16:creationId xmlns:a16="http://schemas.microsoft.com/office/drawing/2014/main" id="{7DA79D49-AC9E-1653-F78D-7D4A7755509E}"/>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 name="Picture 5">
            <a:extLst>
              <a:ext uri="{FF2B5EF4-FFF2-40B4-BE49-F238E27FC236}">
                <a16:creationId xmlns:a16="http://schemas.microsoft.com/office/drawing/2014/main" id="{77189AD1-763A-5286-C04B-8CDEB95F55FE}"/>
              </a:ext>
            </a:extLst>
          </p:cNvPr>
          <p:cNvPicPr>
            <a:picLocks noChangeAspect="1"/>
          </p:cNvPicPr>
          <p:nvPr/>
        </p:nvPicPr>
        <p:blipFill>
          <a:blip r:embed="rId2"/>
          <a:stretch>
            <a:fillRect/>
          </a:stretch>
        </p:blipFill>
        <p:spPr>
          <a:xfrm>
            <a:off x="898953" y="2910159"/>
            <a:ext cx="8840434" cy="3267531"/>
          </a:xfrm>
          <a:prstGeom prst="rect">
            <a:avLst/>
          </a:prstGeom>
        </p:spPr>
      </p:pic>
      <p:sp>
        <p:nvSpPr>
          <p:cNvPr id="7" name="TextBox 6">
            <a:extLst>
              <a:ext uri="{FF2B5EF4-FFF2-40B4-BE49-F238E27FC236}">
                <a16:creationId xmlns:a16="http://schemas.microsoft.com/office/drawing/2014/main" id="{66B3491C-3B61-2DEA-EC0D-47B03663C29B}"/>
              </a:ext>
            </a:extLst>
          </p:cNvPr>
          <p:cNvSpPr txBox="1"/>
          <p:nvPr/>
        </p:nvSpPr>
        <p:spPr>
          <a:xfrm>
            <a:off x="7868993" y="6488668"/>
            <a:ext cx="2858539" cy="369332"/>
          </a:xfrm>
          <a:prstGeom prst="rect">
            <a:avLst/>
          </a:prstGeom>
          <a:noFill/>
        </p:spPr>
        <p:txBody>
          <a:bodyPr wrap="none" rtlCol="0">
            <a:spAutoFit/>
          </a:bodyPr>
          <a:lstStyle/>
          <a:p>
            <a:r>
              <a:rPr lang="en-US" dirty="0"/>
              <a:t>Image credit: Khan Academy</a:t>
            </a:r>
          </a:p>
        </p:txBody>
      </p:sp>
    </p:spTree>
    <p:extLst>
      <p:ext uri="{BB962C8B-B14F-4D97-AF65-F5344CB8AC3E}">
        <p14:creationId xmlns:p14="http://schemas.microsoft.com/office/powerpoint/2010/main" val="2608576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20E3-CEDB-EE28-02DB-763F4F8FFDD3}"/>
              </a:ext>
            </a:extLst>
          </p:cNvPr>
          <p:cNvSpPr>
            <a:spLocks noGrp="1"/>
          </p:cNvSpPr>
          <p:nvPr>
            <p:ph type="title"/>
          </p:nvPr>
        </p:nvSpPr>
        <p:spPr/>
        <p:txBody>
          <a:bodyPr>
            <a:normAutofit fontScale="90000"/>
          </a:bodyPr>
          <a:lstStyle/>
          <a:p>
            <a:r>
              <a:rPr lang="en-US" dirty="0"/>
              <a:t>Translation: how proteins are made</a:t>
            </a:r>
          </a:p>
        </p:txBody>
      </p:sp>
      <p:sp>
        <p:nvSpPr>
          <p:cNvPr id="3" name="Content Placeholder 2">
            <a:extLst>
              <a:ext uri="{FF2B5EF4-FFF2-40B4-BE49-F238E27FC236}">
                <a16:creationId xmlns:a16="http://schemas.microsoft.com/office/drawing/2014/main" id="{D1C82173-5983-1A1D-462B-7FC16B981BB0}"/>
              </a:ext>
            </a:extLst>
          </p:cNvPr>
          <p:cNvSpPr>
            <a:spLocks noGrp="1"/>
          </p:cNvSpPr>
          <p:nvPr>
            <p:ph idx="1"/>
          </p:nvPr>
        </p:nvSpPr>
        <p:spPr>
          <a:xfrm>
            <a:off x="598620" y="1596540"/>
            <a:ext cx="10972800" cy="4863895"/>
          </a:xfrm>
        </p:spPr>
        <p:txBody>
          <a:bodyPr>
            <a:normAutofit fontScale="92500" lnSpcReduction="10000"/>
          </a:bodyPr>
          <a:lstStyle/>
          <a:p>
            <a:r>
              <a:rPr lang="en-US" dirty="0"/>
              <a:t>Translation involves “decoding” a messenger RNA (mRNA) and using its information to build a polypeptide, or chain of amino acids. For most purposes, a polypeptide is basically just a protein (with the technical difference being that some large proteins are made up of several polypeptide chains).</a:t>
            </a:r>
          </a:p>
          <a:p>
            <a:r>
              <a:rPr lang="en-US" dirty="0"/>
              <a:t>In an mRNA, the instructions for building a polypeptide come in groups of three nucleotides called codons. Here are some key features of codons to keep in mind as we move forward:</a:t>
            </a:r>
          </a:p>
          <a:p>
            <a:pPr lvl="1"/>
            <a:r>
              <a:rPr lang="en-US" dirty="0"/>
              <a:t>There are 61 different codons for 20 amino acids</a:t>
            </a:r>
          </a:p>
          <a:p>
            <a:pPr lvl="1"/>
            <a:r>
              <a:rPr lang="en-US" dirty="0"/>
              <a:t>Three “stop” codons mark the polypeptide as finished</a:t>
            </a:r>
          </a:p>
          <a:p>
            <a:pPr lvl="1"/>
            <a:r>
              <a:rPr lang="en-US" dirty="0"/>
              <a:t>One codon, AUG (ATG in transcript), is a “start” signal to kick off translation (it also specifies the amino acid methionine)</a:t>
            </a:r>
          </a:p>
          <a:p>
            <a:endParaRPr lang="en-US" dirty="0"/>
          </a:p>
        </p:txBody>
      </p:sp>
      <p:sp>
        <p:nvSpPr>
          <p:cNvPr id="4" name="Slide Number Placeholder 3">
            <a:extLst>
              <a:ext uri="{FF2B5EF4-FFF2-40B4-BE49-F238E27FC236}">
                <a16:creationId xmlns:a16="http://schemas.microsoft.com/office/drawing/2014/main" id="{EA6EC421-33B2-24CB-48EC-7FF66EB08DBC}"/>
              </a:ext>
            </a:extLst>
          </p:cNvPr>
          <p:cNvSpPr>
            <a:spLocks noGrp="1"/>
          </p:cNvSpPr>
          <p:nvPr>
            <p:ph type="sldNum" sz="quarter" idx="12"/>
          </p:nvPr>
        </p:nvSpPr>
        <p:spPr/>
        <p:txBody>
          <a:bodyPr/>
          <a:lstStyle/>
          <a:p>
            <a:fld id="{B82CCC60-E8CD-4174-8B1A-7DF615B22EEF}" type="slidenum">
              <a:rPr lang="en-US" smtClean="0"/>
              <a:pPr/>
              <a:t>13</a:t>
            </a:fld>
            <a:endParaRPr lang="en-US"/>
          </a:p>
        </p:txBody>
      </p:sp>
    </p:spTree>
    <p:extLst>
      <p:ext uri="{BB962C8B-B14F-4D97-AF65-F5344CB8AC3E}">
        <p14:creationId xmlns:p14="http://schemas.microsoft.com/office/powerpoint/2010/main" val="386784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D2AED-A047-4D62-2A93-4212104D7CB9}"/>
              </a:ext>
            </a:extLst>
          </p:cNvPr>
          <p:cNvSpPr>
            <a:spLocks noGrp="1"/>
          </p:cNvSpPr>
          <p:nvPr>
            <p:ph type="title"/>
          </p:nvPr>
        </p:nvSpPr>
        <p:spPr/>
        <p:txBody>
          <a:bodyPr>
            <a:normAutofit fontScale="90000"/>
          </a:bodyPr>
          <a:lstStyle/>
          <a:p>
            <a:r>
              <a:rPr lang="en-US" dirty="0"/>
              <a:t>Codon table</a:t>
            </a:r>
          </a:p>
        </p:txBody>
      </p:sp>
      <p:sp>
        <p:nvSpPr>
          <p:cNvPr id="4" name="Slide Number Placeholder 3">
            <a:extLst>
              <a:ext uri="{FF2B5EF4-FFF2-40B4-BE49-F238E27FC236}">
                <a16:creationId xmlns:a16="http://schemas.microsoft.com/office/drawing/2014/main" id="{77FCD152-F58B-4E99-E525-A01FE63E7F73}"/>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906E48D8-7CD0-9274-F05F-31CDB9873A68}"/>
              </a:ext>
            </a:extLst>
          </p:cNvPr>
          <p:cNvPicPr>
            <a:picLocks noChangeAspect="1"/>
          </p:cNvPicPr>
          <p:nvPr/>
        </p:nvPicPr>
        <p:blipFill>
          <a:blip r:embed="rId2"/>
          <a:stretch>
            <a:fillRect/>
          </a:stretch>
        </p:blipFill>
        <p:spPr>
          <a:xfrm>
            <a:off x="2907601" y="1640694"/>
            <a:ext cx="6058746" cy="4963218"/>
          </a:xfrm>
          <a:prstGeom prst="rect">
            <a:avLst/>
          </a:prstGeom>
        </p:spPr>
      </p:pic>
    </p:spTree>
    <p:extLst>
      <p:ext uri="{BB962C8B-B14F-4D97-AF65-F5344CB8AC3E}">
        <p14:creationId xmlns:p14="http://schemas.microsoft.com/office/powerpoint/2010/main" val="256029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C265726-C0FB-3B27-9A10-7317D0A8623A}"/>
              </a:ext>
            </a:extLst>
          </p:cNvPr>
          <p:cNvPicPr>
            <a:picLocks noChangeAspect="1"/>
          </p:cNvPicPr>
          <p:nvPr/>
        </p:nvPicPr>
        <p:blipFill>
          <a:blip r:embed="rId2"/>
          <a:stretch>
            <a:fillRect/>
          </a:stretch>
        </p:blipFill>
        <p:spPr>
          <a:xfrm>
            <a:off x="2019398" y="3742890"/>
            <a:ext cx="7497221" cy="3115110"/>
          </a:xfrm>
          <a:prstGeom prst="rect">
            <a:avLst/>
          </a:prstGeom>
        </p:spPr>
      </p:pic>
      <p:sp>
        <p:nvSpPr>
          <p:cNvPr id="2" name="Title 1">
            <a:extLst>
              <a:ext uri="{FF2B5EF4-FFF2-40B4-BE49-F238E27FC236}">
                <a16:creationId xmlns:a16="http://schemas.microsoft.com/office/drawing/2014/main" id="{0ABE1AA5-CBE2-FCEA-82FB-7D8A464CBDFA}"/>
              </a:ext>
            </a:extLst>
          </p:cNvPr>
          <p:cNvSpPr>
            <a:spLocks noGrp="1"/>
          </p:cNvSpPr>
          <p:nvPr>
            <p:ph type="title"/>
          </p:nvPr>
        </p:nvSpPr>
        <p:spPr/>
        <p:txBody>
          <a:bodyPr>
            <a:normAutofit fontScale="90000"/>
          </a:bodyPr>
          <a:lstStyle/>
          <a:p>
            <a:r>
              <a:rPr lang="en-US" dirty="0"/>
              <a:t>Stages of translation</a:t>
            </a:r>
          </a:p>
        </p:txBody>
      </p:sp>
      <p:sp>
        <p:nvSpPr>
          <p:cNvPr id="3" name="Content Placeholder 2">
            <a:extLst>
              <a:ext uri="{FF2B5EF4-FFF2-40B4-BE49-F238E27FC236}">
                <a16:creationId xmlns:a16="http://schemas.microsoft.com/office/drawing/2014/main" id="{3A05CAAF-3D11-89B1-1E85-8FD6DD916276}"/>
              </a:ext>
            </a:extLst>
          </p:cNvPr>
          <p:cNvSpPr>
            <a:spLocks noGrp="1"/>
          </p:cNvSpPr>
          <p:nvPr>
            <p:ph idx="1"/>
          </p:nvPr>
        </p:nvSpPr>
        <p:spPr>
          <a:xfrm>
            <a:off x="598620" y="1596541"/>
            <a:ext cx="11219006" cy="2478502"/>
          </a:xfrm>
        </p:spPr>
        <p:txBody>
          <a:bodyPr>
            <a:normAutofit fontScale="92500" lnSpcReduction="10000"/>
          </a:bodyPr>
          <a:lstStyle/>
          <a:p>
            <a:r>
              <a:rPr lang="en-US" b="1" dirty="0"/>
              <a:t>Initiation</a:t>
            </a:r>
            <a:r>
              <a:rPr lang="en-US" dirty="0"/>
              <a:t> ("beginning"): in this stage, the ribosome gets together with the mRNA and the first tRNA so translation can begin.</a:t>
            </a:r>
          </a:p>
          <a:p>
            <a:r>
              <a:rPr lang="en-US" b="1" dirty="0"/>
              <a:t>Elongation</a:t>
            </a:r>
            <a:r>
              <a:rPr lang="en-US" dirty="0"/>
              <a:t> ("middle"): in this stage, amino acids are brought to the ribosome by tRNAs and linked together to form a chain.</a:t>
            </a:r>
          </a:p>
          <a:p>
            <a:r>
              <a:rPr lang="en-US" b="1" dirty="0"/>
              <a:t>Termination</a:t>
            </a:r>
            <a:r>
              <a:rPr lang="en-US" dirty="0"/>
              <a:t> ("end"): in the last stage, the finished polypeptide is released to go and do its job in the cell.</a:t>
            </a:r>
          </a:p>
          <a:p>
            <a:endParaRPr lang="en-US" dirty="0"/>
          </a:p>
        </p:txBody>
      </p:sp>
      <p:sp>
        <p:nvSpPr>
          <p:cNvPr id="4" name="Slide Number Placeholder 3">
            <a:extLst>
              <a:ext uri="{FF2B5EF4-FFF2-40B4-BE49-F238E27FC236}">
                <a16:creationId xmlns:a16="http://schemas.microsoft.com/office/drawing/2014/main" id="{C5CE1E72-3D4B-F3FD-438F-3D27B0523F31}"/>
              </a:ext>
            </a:extLst>
          </p:cNvPr>
          <p:cNvSpPr>
            <a:spLocks noGrp="1"/>
          </p:cNvSpPr>
          <p:nvPr>
            <p:ph type="sldNum" sz="quarter" idx="12"/>
          </p:nvPr>
        </p:nvSpPr>
        <p:spPr/>
        <p:txBody>
          <a:bodyPr/>
          <a:lstStyle/>
          <a:p>
            <a:fld id="{B82CCC60-E8CD-4174-8B1A-7DF615B22EEF}" type="slidenum">
              <a:rPr lang="en-US" smtClean="0"/>
              <a:pPr/>
              <a:t>15</a:t>
            </a:fld>
            <a:endParaRPr lang="en-US"/>
          </a:p>
        </p:txBody>
      </p:sp>
      <p:sp>
        <p:nvSpPr>
          <p:cNvPr id="8" name="TextBox 7">
            <a:extLst>
              <a:ext uri="{FF2B5EF4-FFF2-40B4-BE49-F238E27FC236}">
                <a16:creationId xmlns:a16="http://schemas.microsoft.com/office/drawing/2014/main" id="{45822610-F6AE-1DA3-1737-9A9D6CBEE0B2}"/>
              </a:ext>
            </a:extLst>
          </p:cNvPr>
          <p:cNvSpPr txBox="1"/>
          <p:nvPr/>
        </p:nvSpPr>
        <p:spPr>
          <a:xfrm>
            <a:off x="7868993" y="6488668"/>
            <a:ext cx="2858539" cy="369332"/>
          </a:xfrm>
          <a:prstGeom prst="rect">
            <a:avLst/>
          </a:prstGeom>
          <a:noFill/>
        </p:spPr>
        <p:txBody>
          <a:bodyPr wrap="none" rtlCol="0">
            <a:spAutoFit/>
          </a:bodyPr>
          <a:lstStyle/>
          <a:p>
            <a:r>
              <a:rPr lang="en-US" dirty="0"/>
              <a:t>Image credit: Khan Academy</a:t>
            </a:r>
          </a:p>
        </p:txBody>
      </p:sp>
    </p:spTree>
    <p:extLst>
      <p:ext uri="{BB962C8B-B14F-4D97-AF65-F5344CB8AC3E}">
        <p14:creationId xmlns:p14="http://schemas.microsoft.com/office/powerpoint/2010/main" val="965929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13926</TotalTime>
  <Words>1185</Words>
  <Application>Microsoft Office PowerPoint</Application>
  <PresentationFormat>Widescreen</PresentationFormat>
  <Paragraphs>84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Poppins</vt:lpstr>
      <vt:lpstr>Trebuchet MS</vt:lpstr>
      <vt:lpstr>Office Theme</vt:lpstr>
      <vt:lpstr>PowerPoint Presentation</vt:lpstr>
      <vt:lpstr>How transcription + translation works?</vt:lpstr>
      <vt:lpstr>Transcription -- initiation</vt:lpstr>
      <vt:lpstr>Transcription -- initiation</vt:lpstr>
      <vt:lpstr>Transcription -- elongation</vt:lpstr>
      <vt:lpstr>Transcription -- termination</vt:lpstr>
      <vt:lpstr>Transcription -- splicing</vt:lpstr>
      <vt:lpstr>Poly-A tail</vt:lpstr>
      <vt:lpstr>Splicing</vt:lpstr>
      <vt:lpstr>Splice site patterns</vt:lpstr>
      <vt:lpstr>What goes wrong in transcription</vt:lpstr>
      <vt:lpstr>Transcription levels</vt:lpstr>
      <vt:lpstr>Translation: how proteins are made</vt:lpstr>
      <vt:lpstr>Codon table</vt:lpstr>
      <vt:lpstr>Stages of translation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66</cp:revision>
  <dcterms:created xsi:type="dcterms:W3CDTF">2013-08-21T19:17:07Z</dcterms:created>
  <dcterms:modified xsi:type="dcterms:W3CDTF">2026-10-20T18:38:01Z</dcterms:modified>
</cp:coreProperties>
</file>