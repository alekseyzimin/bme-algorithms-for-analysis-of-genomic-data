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sldIdLst>
    <p:sldId id="272" r:id="rId2"/>
    <p:sldId id="470" r:id="rId3"/>
    <p:sldId id="449" r:id="rId4"/>
    <p:sldId id="450" r:id="rId5"/>
    <p:sldId id="452" r:id="rId6"/>
    <p:sldId id="451" r:id="rId7"/>
    <p:sldId id="453" r:id="rId8"/>
    <p:sldId id="454" r:id="rId9"/>
    <p:sldId id="471" r:id="rId10"/>
    <p:sldId id="472" r:id="rId11"/>
    <p:sldId id="456" r:id="rId12"/>
    <p:sldId id="455" r:id="rId13"/>
    <p:sldId id="457" r:id="rId14"/>
    <p:sldId id="469" r:id="rId15"/>
    <p:sldId id="458" r:id="rId16"/>
    <p:sldId id="459" r:id="rId17"/>
    <p:sldId id="460" r:id="rId18"/>
    <p:sldId id="415" r:id="rId19"/>
    <p:sldId id="416" r:id="rId20"/>
    <p:sldId id="269" r:id="rId21"/>
    <p:sldId id="482" r:id="rId22"/>
    <p:sldId id="483" r:id="rId23"/>
    <p:sldId id="461" r:id="rId24"/>
    <p:sldId id="281" r:id="rId25"/>
    <p:sldId id="282" r:id="rId26"/>
    <p:sldId id="462" r:id="rId27"/>
    <p:sldId id="474" r:id="rId28"/>
    <p:sldId id="280" r:id="rId29"/>
    <p:sldId id="279" r:id="rId30"/>
    <p:sldId id="263" r:id="rId31"/>
    <p:sldId id="475" r:id="rId32"/>
    <p:sldId id="463" r:id="rId33"/>
    <p:sldId id="473" r:id="rId34"/>
    <p:sldId id="264" r:id="rId35"/>
    <p:sldId id="464" r:id="rId36"/>
    <p:sldId id="258" r:id="rId37"/>
    <p:sldId id="261" r:id="rId38"/>
    <p:sldId id="285" r:id="rId39"/>
    <p:sldId id="262" r:id="rId40"/>
    <p:sldId id="465" r:id="rId41"/>
    <p:sldId id="466" r:id="rId42"/>
    <p:sldId id="286" r:id="rId43"/>
    <p:sldId id="265" r:id="rId44"/>
    <p:sldId id="287" r:id="rId45"/>
    <p:sldId id="288" r:id="rId46"/>
    <p:sldId id="289" r:id="rId47"/>
    <p:sldId id="260" r:id="rId48"/>
    <p:sldId id="270" r:id="rId49"/>
    <p:sldId id="271" r:id="rId50"/>
    <p:sldId id="273" r:id="rId51"/>
    <p:sldId id="290" r:id="rId52"/>
    <p:sldId id="467" r:id="rId53"/>
    <p:sldId id="476" r:id="rId54"/>
    <p:sldId id="477" r:id="rId55"/>
    <p:sldId id="478" r:id="rId56"/>
    <p:sldId id="479" r:id="rId57"/>
    <p:sldId id="480" r:id="rId58"/>
    <p:sldId id="481" r:id="rId59"/>
    <p:sldId id="468" r:id="rId60"/>
    <p:sldId id="257" r:id="rId61"/>
    <p:sldId id="268" r:id="rId62"/>
    <p:sldId id="397" r:id="rId63"/>
    <p:sldId id="414" r:id="rId64"/>
    <p:sldId id="437" r:id="rId65"/>
    <p:sldId id="406" r:id="rId66"/>
    <p:sldId id="409" r:id="rId67"/>
    <p:sldId id="410" r:id="rId68"/>
    <p:sldId id="440" r:id="rId69"/>
    <p:sldId id="441" r:id="rId70"/>
    <p:sldId id="442" r:id="rId71"/>
    <p:sldId id="443" r:id="rId72"/>
    <p:sldId id="444" r:id="rId73"/>
    <p:sldId id="412" r:id="rId74"/>
    <p:sldId id="411" r:id="rId75"/>
    <p:sldId id="413" r:id="rId76"/>
    <p:sldId id="432" r:id="rId77"/>
    <p:sldId id="407" r:id="rId78"/>
    <p:sldId id="423" r:id="rId79"/>
    <p:sldId id="433" r:id="rId80"/>
    <p:sldId id="434" r:id="rId81"/>
    <p:sldId id="435" r:id="rId82"/>
    <p:sldId id="436" r:id="rId83"/>
    <p:sldId id="421" r:id="rId84"/>
    <p:sldId id="445" r:id="rId85"/>
    <p:sldId id="425" r:id="rId86"/>
    <p:sldId id="426" r:id="rId87"/>
    <p:sldId id="427" r:id="rId88"/>
    <p:sldId id="429" r:id="rId89"/>
    <p:sldId id="428" r:id="rId90"/>
    <p:sldId id="430" r:id="rId91"/>
    <p:sldId id="431" r:id="rId92"/>
    <p:sldId id="446" r:id="rId93"/>
    <p:sldId id="447" r:id="rId94"/>
    <p:sldId id="448" r:id="rId95"/>
    <p:sldId id="424" r:id="rId96"/>
    <p:sldId id="420" r:id="rId9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E3E753-8E4F-48BC-B607-23BFE06FB3DE}" v="2" dt="2026-01-21T15:20:13.1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68" autoAdjust="0"/>
    <p:restoredTop sz="93721" autoAdjust="0"/>
  </p:normalViewPr>
  <p:slideViewPr>
    <p:cSldViewPr>
      <p:cViewPr varScale="1">
        <p:scale>
          <a:sx n="116" d="100"/>
          <a:sy n="116" d="100"/>
        </p:scale>
        <p:origin x="324" y="102"/>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8553A319-8433-4677-8F80-E28D63617D4C}"/>
    <pc:docChg chg="modSld">
      <pc:chgData name="Aleksey Zimin" userId="7f2637d0bc515791" providerId="LiveId" clId="{8553A319-8433-4677-8F80-E28D63617D4C}" dt="2026-01-21T15:20:13.100" v="1" actId="732"/>
      <pc:docMkLst>
        <pc:docMk/>
      </pc:docMkLst>
      <pc:sldChg chg="modSp">
        <pc:chgData name="Aleksey Zimin" userId="7f2637d0bc515791" providerId="LiveId" clId="{8553A319-8433-4677-8F80-E28D63617D4C}" dt="2026-01-21T15:20:13.100" v="1" actId="732"/>
        <pc:sldMkLst>
          <pc:docMk/>
          <pc:sldMk cId="2301376120" sldId="456"/>
        </pc:sldMkLst>
        <pc:picChg chg="mod">
          <ac:chgData name="Aleksey Zimin" userId="7f2637d0bc515791" providerId="LiveId" clId="{8553A319-8433-4677-8F80-E28D63617D4C}" dt="2026-01-21T15:20:13.100" v="1" actId="732"/>
          <ac:picMkLst>
            <pc:docMk/>
            <pc:sldMk cId="2301376120" sldId="456"/>
            <ac:picMk id="1026" creationId="{5BA0E88B-C6CD-A09C-CC68-6A564A7360E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1/21/2026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ccb.jhu.edu/people/alekseyz/"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youtube.com/watch?v=nONNN92VWSA&amp;t=100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Phred_(software)#cite_note-1" TargetMode="External"/><Relationship Id="rId2" Type="http://schemas.openxmlformats.org/officeDocument/2006/relationships/hyperlink" Target="https://en.wikipedia.org/wiki/Philip_Palmer_Green"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7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1938992"/>
          </a:xfrm>
          <a:prstGeom prst="rect">
            <a:avLst/>
          </a:prstGeom>
          <a:noFill/>
        </p:spPr>
        <p:txBody>
          <a:bodyPr wrap="square">
            <a:spAutoFit/>
          </a:bodyPr>
          <a:lstStyle/>
          <a:p>
            <a:r>
              <a:rPr lang="en-US" sz="4400" b="1" i="1" dirty="0">
                <a:solidFill>
                  <a:srgbClr val="BE0260"/>
                </a:solidFill>
              </a:rPr>
              <a:t>Algorithms for Analysis of Genomic Sequence Data</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B612B-98CB-C932-2033-A12B19051ED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8F25939-4658-D534-5643-FDE75514C824}"/>
              </a:ext>
            </a:extLst>
          </p:cNvPr>
          <p:cNvSpPr>
            <a:spLocks noGrp="1"/>
          </p:cNvSpPr>
          <p:nvPr>
            <p:ph type="sldNum" sz="quarter" idx="12"/>
          </p:nvPr>
        </p:nvSpPr>
        <p:spPr/>
        <p:txBody>
          <a:bodyPr/>
          <a:lstStyle/>
          <a:p>
            <a:fld id="{B82CCC60-E8CD-4174-8B1A-7DF615B22EEF}" type="slidenum">
              <a:rPr lang="en-US" smtClean="0"/>
              <a:pPr/>
              <a:t>2</a:t>
            </a:fld>
            <a:endParaRPr lang="en-US"/>
          </a:p>
        </p:txBody>
      </p:sp>
      <p:sp>
        <p:nvSpPr>
          <p:cNvPr id="6" name="TextBox 5">
            <a:extLst>
              <a:ext uri="{FF2B5EF4-FFF2-40B4-BE49-F238E27FC236}">
                <a16:creationId xmlns:a16="http://schemas.microsoft.com/office/drawing/2014/main" id="{195DB5D2-140C-EDF7-8F2A-978926E093C8}"/>
              </a:ext>
            </a:extLst>
          </p:cNvPr>
          <p:cNvSpPr txBox="1"/>
          <p:nvPr/>
        </p:nvSpPr>
        <p:spPr>
          <a:xfrm>
            <a:off x="1308659" y="2437886"/>
            <a:ext cx="9677025" cy="1261884"/>
          </a:xfrm>
          <a:prstGeom prst="rect">
            <a:avLst/>
          </a:prstGeom>
          <a:noFill/>
        </p:spPr>
        <p:txBody>
          <a:bodyPr wrap="square">
            <a:spAutoFit/>
          </a:bodyPr>
          <a:lstStyle/>
          <a:p>
            <a:r>
              <a:rPr lang="en-US" sz="4400" b="1" i="1" dirty="0">
                <a:solidFill>
                  <a:srgbClr val="BE0260"/>
                </a:solidFill>
              </a:rPr>
              <a:t>Week 1</a:t>
            </a:r>
            <a:br>
              <a:rPr lang="en-US" sz="3200" b="1" dirty="0">
                <a:solidFill>
                  <a:srgbClr val="BE0260"/>
                </a:solidFill>
              </a:rPr>
            </a:br>
            <a:endParaRPr lang="en-US" sz="3200" b="1" dirty="0">
              <a:solidFill>
                <a:srgbClr val="BE0260"/>
              </a:solidFill>
            </a:endParaRPr>
          </a:p>
        </p:txBody>
      </p:sp>
      <p:sp>
        <p:nvSpPr>
          <p:cNvPr id="2" name="TextBox 1">
            <a:extLst>
              <a:ext uri="{FF2B5EF4-FFF2-40B4-BE49-F238E27FC236}">
                <a16:creationId xmlns:a16="http://schemas.microsoft.com/office/drawing/2014/main" id="{1019D3E0-3163-0D25-5B12-92B4E6621D3B}"/>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BME 580.417.707</a:t>
            </a:r>
          </a:p>
        </p:txBody>
      </p:sp>
    </p:spTree>
    <p:extLst>
      <p:ext uri="{BB962C8B-B14F-4D97-AF65-F5344CB8AC3E}">
        <p14:creationId xmlns:p14="http://schemas.microsoft.com/office/powerpoint/2010/main" val="26427504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2C320-A59E-6BB6-DC92-BC81B08B2E00}"/>
              </a:ext>
            </a:extLst>
          </p:cNvPr>
          <p:cNvSpPr>
            <a:spLocks noGrp="1"/>
          </p:cNvSpPr>
          <p:nvPr>
            <p:ph type="title"/>
          </p:nvPr>
        </p:nvSpPr>
        <p:spPr/>
        <p:txBody>
          <a:bodyPr>
            <a:normAutofit fontScale="90000"/>
          </a:bodyPr>
          <a:lstStyle/>
          <a:p>
            <a:r>
              <a:rPr lang="en-US" dirty="0"/>
              <a:t>Introduction to the course</a:t>
            </a:r>
          </a:p>
        </p:txBody>
      </p:sp>
      <p:sp>
        <p:nvSpPr>
          <p:cNvPr id="3" name="Content Placeholder 2">
            <a:extLst>
              <a:ext uri="{FF2B5EF4-FFF2-40B4-BE49-F238E27FC236}">
                <a16:creationId xmlns:a16="http://schemas.microsoft.com/office/drawing/2014/main" id="{B97B37B7-B419-CB2A-6F45-494BD789BA6B}"/>
              </a:ext>
            </a:extLst>
          </p:cNvPr>
          <p:cNvSpPr>
            <a:spLocks noGrp="1"/>
          </p:cNvSpPr>
          <p:nvPr>
            <p:ph idx="1"/>
          </p:nvPr>
        </p:nvSpPr>
        <p:spPr>
          <a:xfrm>
            <a:off x="598620" y="2054655"/>
            <a:ext cx="10972800" cy="4666821"/>
          </a:xfrm>
        </p:spPr>
        <p:txBody>
          <a:bodyPr>
            <a:normAutofit fontScale="85000" lnSpcReduction="10000"/>
          </a:bodyPr>
          <a:lstStyle/>
          <a:p>
            <a:r>
              <a:rPr lang="en-US" b="1" dirty="0"/>
              <a:t>Professor:</a:t>
            </a:r>
            <a:r>
              <a:rPr lang="en-US" dirty="0"/>
              <a:t> Alexey Zimin,  </a:t>
            </a:r>
            <a:r>
              <a:rPr lang="en-US" u="sng" dirty="0">
                <a:hlinkClick r:id="rId2"/>
              </a:rPr>
              <a:t>https://ccb.jhu.edu/people/alekseyz/</a:t>
            </a:r>
            <a:endParaRPr lang="en-US" u="sng" dirty="0"/>
          </a:p>
          <a:p>
            <a:r>
              <a:rPr lang="en-US" b="1" dirty="0"/>
              <a:t>Times:</a:t>
            </a:r>
            <a:r>
              <a:rPr lang="en-US" dirty="0"/>
              <a:t> MWF, 8:00am – 8:50am </a:t>
            </a:r>
          </a:p>
          <a:p>
            <a:r>
              <a:rPr lang="en-US" b="1" dirty="0"/>
              <a:t>Location:</a:t>
            </a:r>
            <a:r>
              <a:rPr lang="en-US" dirty="0"/>
              <a:t> Hodson 203</a:t>
            </a:r>
          </a:p>
          <a:p>
            <a:r>
              <a:rPr lang="en-US" b="1" dirty="0"/>
              <a:t>Office hours and location:</a:t>
            </a:r>
            <a:r>
              <a:rPr lang="en-US" dirty="0"/>
              <a:t> Wyman Park building, second floor, S237, Wednesdays 4pm-5pm.</a:t>
            </a:r>
          </a:p>
          <a:p>
            <a:r>
              <a:rPr lang="en-US" b="1" dirty="0"/>
              <a:t>Textbook:</a:t>
            </a:r>
            <a:r>
              <a:rPr lang="en-US" dirty="0"/>
              <a:t> None, all lecture slides will be made available online</a:t>
            </a:r>
          </a:p>
          <a:p>
            <a:r>
              <a:rPr lang="en-US" b="1" dirty="0"/>
              <a:t>Attendance policy: </a:t>
            </a:r>
            <a:r>
              <a:rPr lang="en-US" dirty="0"/>
              <a:t>attendance is mandatory, no video/audio lecture recordings will be made available online. Lecture slides will be available online.</a:t>
            </a:r>
          </a:p>
          <a:p>
            <a:r>
              <a:rPr lang="en-US" b="1" dirty="0"/>
              <a:t>GRADING POLICY:</a:t>
            </a:r>
            <a:r>
              <a:rPr lang="en-US" dirty="0"/>
              <a:t> Six laboratory assignments are worth 14% each. The in-class presentation is worth 16%.</a:t>
            </a:r>
          </a:p>
          <a:p>
            <a:r>
              <a:rPr lang="en-US" dirty="0"/>
              <a:t>This is a new course.  The pace of the course and topics covered may be adjusted as we go through the semester.</a:t>
            </a:r>
          </a:p>
        </p:txBody>
      </p:sp>
      <p:sp>
        <p:nvSpPr>
          <p:cNvPr id="4" name="Slide Number Placeholder 3">
            <a:extLst>
              <a:ext uri="{FF2B5EF4-FFF2-40B4-BE49-F238E27FC236}">
                <a16:creationId xmlns:a16="http://schemas.microsoft.com/office/drawing/2014/main" id="{0F9292D2-1731-815F-4FBC-D993321A78FC}"/>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999224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813C6-CF5E-F19A-1911-C0248DCADEF8}"/>
              </a:ext>
            </a:extLst>
          </p:cNvPr>
          <p:cNvSpPr>
            <a:spLocks noGrp="1"/>
          </p:cNvSpPr>
          <p:nvPr>
            <p:ph type="title"/>
          </p:nvPr>
        </p:nvSpPr>
        <p:spPr/>
        <p:txBody>
          <a:bodyPr>
            <a:normAutofit fontScale="90000"/>
          </a:bodyPr>
          <a:lstStyle/>
          <a:p>
            <a:r>
              <a:rPr lang="en-US" dirty="0"/>
              <a:t>More on the grades</a:t>
            </a:r>
          </a:p>
        </p:txBody>
      </p:sp>
      <p:sp>
        <p:nvSpPr>
          <p:cNvPr id="3" name="Content Placeholder 2">
            <a:extLst>
              <a:ext uri="{FF2B5EF4-FFF2-40B4-BE49-F238E27FC236}">
                <a16:creationId xmlns:a16="http://schemas.microsoft.com/office/drawing/2014/main" id="{19EF5C3B-90EF-64E1-09AF-4D77CB47BE41}"/>
              </a:ext>
            </a:extLst>
          </p:cNvPr>
          <p:cNvSpPr>
            <a:spLocks noGrp="1"/>
          </p:cNvSpPr>
          <p:nvPr>
            <p:ph idx="1"/>
          </p:nvPr>
        </p:nvSpPr>
        <p:spPr>
          <a:xfrm>
            <a:off x="598620" y="1596539"/>
            <a:ext cx="10972800" cy="5039265"/>
          </a:xfrm>
        </p:spPr>
        <p:txBody>
          <a:bodyPr>
            <a:normAutofit lnSpcReduction="10000"/>
          </a:bodyPr>
          <a:lstStyle/>
          <a:p>
            <a:r>
              <a:rPr lang="en-US" dirty="0"/>
              <a:t>Grades will be derived from six lab assignments, and an in-class presentation</a:t>
            </a:r>
          </a:p>
          <a:p>
            <a:r>
              <a:rPr lang="en-US" dirty="0"/>
              <a:t>Lab assignments will include writing a code to accomplish certain task and may include additional task to plot outputs (depending on the assignment)</a:t>
            </a:r>
          </a:p>
          <a:p>
            <a:r>
              <a:rPr lang="en-US" dirty="0"/>
              <a:t>You can write code in python,  all code submissions will be handled and graded by </a:t>
            </a:r>
            <a:r>
              <a:rPr lang="en-US" dirty="0" err="1"/>
              <a:t>GradeScope</a:t>
            </a:r>
            <a:endParaRPr lang="en-US" dirty="0"/>
          </a:p>
          <a:p>
            <a:r>
              <a:rPr lang="en-US" dirty="0"/>
              <a:t>You can use AI (e.g. ChatGPT or MS Copilot) to help you with writing the code, however, the you must understand that an AI will always provide very similar code when prompted. If several students submit very similar code, this will be flagged in </a:t>
            </a:r>
            <a:r>
              <a:rPr lang="en-US" dirty="0" err="1"/>
              <a:t>GradeScope</a:t>
            </a:r>
            <a:r>
              <a:rPr lang="en-US" dirty="0"/>
              <a:t>, and may become grounds for investigation for cheating</a:t>
            </a:r>
          </a:p>
        </p:txBody>
      </p:sp>
      <p:sp>
        <p:nvSpPr>
          <p:cNvPr id="4" name="Slide Number Placeholder 3">
            <a:extLst>
              <a:ext uri="{FF2B5EF4-FFF2-40B4-BE49-F238E27FC236}">
                <a16:creationId xmlns:a16="http://schemas.microsoft.com/office/drawing/2014/main" id="{83A99E4E-B0AA-3BAF-4E55-D4E09E795A22}"/>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3655342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4AF5A-638B-145D-8A82-3BE913361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3353-9A9C-3489-FDEF-EC89FA78FC11}"/>
              </a:ext>
            </a:extLst>
          </p:cNvPr>
          <p:cNvSpPr>
            <a:spLocks noGrp="1"/>
          </p:cNvSpPr>
          <p:nvPr>
            <p:ph type="title"/>
          </p:nvPr>
        </p:nvSpPr>
        <p:spPr/>
        <p:txBody>
          <a:bodyPr>
            <a:normAutofit fontScale="90000"/>
          </a:bodyPr>
          <a:lstStyle/>
          <a:p>
            <a:r>
              <a:rPr lang="en-US" dirty="0"/>
              <a:t>Reading list and presentations</a:t>
            </a:r>
          </a:p>
        </p:txBody>
      </p:sp>
      <p:sp>
        <p:nvSpPr>
          <p:cNvPr id="3" name="Content Placeholder 2">
            <a:extLst>
              <a:ext uri="{FF2B5EF4-FFF2-40B4-BE49-F238E27FC236}">
                <a16:creationId xmlns:a16="http://schemas.microsoft.com/office/drawing/2014/main" id="{2B47A926-0D3F-296B-21A2-0A81ED1DAB52}"/>
              </a:ext>
            </a:extLst>
          </p:cNvPr>
          <p:cNvSpPr>
            <a:spLocks noGrp="1"/>
          </p:cNvSpPr>
          <p:nvPr>
            <p:ph idx="1"/>
          </p:nvPr>
        </p:nvSpPr>
        <p:spPr>
          <a:xfrm>
            <a:off x="597472" y="2054655"/>
            <a:ext cx="10972800" cy="4301696"/>
          </a:xfrm>
        </p:spPr>
        <p:txBody>
          <a:bodyPr>
            <a:normAutofit/>
          </a:bodyPr>
          <a:lstStyle/>
          <a:p>
            <a:r>
              <a:rPr lang="en-US" dirty="0"/>
              <a:t>I will share a Google Sheet listing a set of papers on genome assembly/annotation</a:t>
            </a:r>
          </a:p>
          <a:p>
            <a:r>
              <a:rPr lang="en-US" dirty="0"/>
              <a:t>Each student can choose a paper they will read (you are welcome to read more than one). </a:t>
            </a:r>
          </a:p>
          <a:p>
            <a:r>
              <a:rPr lang="en-US" dirty="0"/>
              <a:t>Each student will them prepare a 10-minute presentation on an aspect of a paper related to what we studied in class. </a:t>
            </a:r>
          </a:p>
          <a:p>
            <a:r>
              <a:rPr lang="en-US" dirty="0"/>
              <a:t>The presentations will be scheduled during the last three weeks of the course, and they are worth 16% of the grade</a:t>
            </a:r>
          </a:p>
          <a:p>
            <a:endParaRPr lang="en-US" dirty="0"/>
          </a:p>
        </p:txBody>
      </p:sp>
      <p:sp>
        <p:nvSpPr>
          <p:cNvPr id="4" name="Slide Number Placeholder 3">
            <a:extLst>
              <a:ext uri="{FF2B5EF4-FFF2-40B4-BE49-F238E27FC236}">
                <a16:creationId xmlns:a16="http://schemas.microsoft.com/office/drawing/2014/main" id="{CA619E31-38DC-B6A3-9554-C6BA937F30D2}"/>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3790567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E613B-1931-5322-CE3B-0410BFF18CCF}"/>
              </a:ext>
            </a:extLst>
          </p:cNvPr>
          <p:cNvSpPr>
            <a:spLocks noGrp="1"/>
          </p:cNvSpPr>
          <p:nvPr>
            <p:ph type="title"/>
          </p:nvPr>
        </p:nvSpPr>
        <p:spPr/>
        <p:txBody>
          <a:bodyPr>
            <a:normAutofit fontScale="90000"/>
          </a:bodyPr>
          <a:lstStyle/>
          <a:p>
            <a:r>
              <a:rPr lang="en-US" dirty="0"/>
              <a:t>Concepts we will learn</a:t>
            </a:r>
          </a:p>
        </p:txBody>
      </p:sp>
      <p:sp>
        <p:nvSpPr>
          <p:cNvPr id="3" name="Content Placeholder 2">
            <a:extLst>
              <a:ext uri="{FF2B5EF4-FFF2-40B4-BE49-F238E27FC236}">
                <a16:creationId xmlns:a16="http://schemas.microsoft.com/office/drawing/2014/main" id="{350B2E19-F44E-A885-A753-15020D4916B1}"/>
              </a:ext>
            </a:extLst>
          </p:cNvPr>
          <p:cNvSpPr>
            <a:spLocks noGrp="1"/>
          </p:cNvSpPr>
          <p:nvPr>
            <p:ph idx="1"/>
          </p:nvPr>
        </p:nvSpPr>
        <p:spPr>
          <a:xfrm>
            <a:off x="597472" y="2054655"/>
            <a:ext cx="10972800" cy="3918803"/>
          </a:xfrm>
        </p:spPr>
        <p:txBody>
          <a:bodyPr/>
          <a:lstStyle/>
          <a:p>
            <a:r>
              <a:rPr lang="en-US" dirty="0"/>
              <a:t>Basics DNA/RNA sequencing</a:t>
            </a:r>
          </a:p>
          <a:p>
            <a:r>
              <a:rPr lang="en-US" dirty="0"/>
              <a:t>Alignment of DNA/RNA/AA sequences, suffix arrays, BW transform, Smith-Waterman alignment</a:t>
            </a:r>
          </a:p>
          <a:p>
            <a:r>
              <a:rPr lang="en-US" dirty="0"/>
              <a:t>Assembly methods of DNA/RNA sequencing data and corresponding data structures: k-mer and overlap graphs</a:t>
            </a:r>
          </a:p>
          <a:p>
            <a:r>
              <a:rPr lang="en-US" dirty="0"/>
              <a:t>Evaluation of assemblies</a:t>
            </a:r>
          </a:p>
          <a:p>
            <a:r>
              <a:rPr lang="en-US" dirty="0"/>
              <a:t>Making sense of the genomic sequence -- introduction to genome annotation</a:t>
            </a:r>
          </a:p>
          <a:p>
            <a:endParaRPr lang="en-US" dirty="0"/>
          </a:p>
        </p:txBody>
      </p:sp>
      <p:sp>
        <p:nvSpPr>
          <p:cNvPr id="4" name="Slide Number Placeholder 3">
            <a:extLst>
              <a:ext uri="{FF2B5EF4-FFF2-40B4-BE49-F238E27FC236}">
                <a16:creationId xmlns:a16="http://schemas.microsoft.com/office/drawing/2014/main" id="{AE15C277-C6A4-E5B7-63B3-0BC8B74D377D}"/>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3431220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C4F8B-CDAB-CFF6-2F26-3E0E42DF55CA}"/>
              </a:ext>
            </a:extLst>
          </p:cNvPr>
          <p:cNvSpPr>
            <a:spLocks noGrp="1"/>
          </p:cNvSpPr>
          <p:nvPr>
            <p:ph type="title"/>
          </p:nvPr>
        </p:nvSpPr>
        <p:spPr/>
        <p:txBody>
          <a:bodyPr>
            <a:normAutofit fontScale="90000"/>
          </a:bodyPr>
          <a:lstStyle/>
          <a:p>
            <a:r>
              <a:rPr lang="en-US" dirty="0"/>
              <a:t>Computing facility</a:t>
            </a:r>
          </a:p>
        </p:txBody>
      </p:sp>
      <p:sp>
        <p:nvSpPr>
          <p:cNvPr id="3" name="Content Placeholder 2">
            <a:extLst>
              <a:ext uri="{FF2B5EF4-FFF2-40B4-BE49-F238E27FC236}">
                <a16:creationId xmlns:a16="http://schemas.microsoft.com/office/drawing/2014/main" id="{4BCFBD16-2336-DD16-E500-F0C719D3871C}"/>
              </a:ext>
            </a:extLst>
          </p:cNvPr>
          <p:cNvSpPr>
            <a:spLocks noGrp="1"/>
          </p:cNvSpPr>
          <p:nvPr>
            <p:ph idx="1"/>
          </p:nvPr>
        </p:nvSpPr>
        <p:spPr>
          <a:xfrm>
            <a:off x="597472" y="1787986"/>
            <a:ext cx="10972800" cy="3918803"/>
          </a:xfrm>
        </p:spPr>
        <p:txBody>
          <a:bodyPr/>
          <a:lstStyle/>
          <a:p>
            <a:r>
              <a:rPr lang="en-US" dirty="0"/>
              <a:t>I designed most of the lab assignments to be light on the data/computing, a laptop with 8-16Gb of RAM and a few Gb of available disk space will be enough for the labs</a:t>
            </a:r>
          </a:p>
          <a:p>
            <a:r>
              <a:rPr lang="en-US" dirty="0"/>
              <a:t>You can use campus computing facilities that are available to you</a:t>
            </a:r>
          </a:p>
          <a:p>
            <a:r>
              <a:rPr lang="en-US" dirty="0"/>
              <a:t>Talk to me after class if you need computer access</a:t>
            </a:r>
          </a:p>
        </p:txBody>
      </p:sp>
      <p:sp>
        <p:nvSpPr>
          <p:cNvPr id="4" name="Slide Number Placeholder 3">
            <a:extLst>
              <a:ext uri="{FF2B5EF4-FFF2-40B4-BE49-F238E27FC236}">
                <a16:creationId xmlns:a16="http://schemas.microsoft.com/office/drawing/2014/main" id="{2877BFDB-D530-D602-2E8C-DACC5E75CC18}"/>
              </a:ext>
            </a:extLst>
          </p:cNvPr>
          <p:cNvSpPr>
            <a:spLocks noGrp="1"/>
          </p:cNvSpPr>
          <p:nvPr>
            <p:ph type="sldNum" sz="quarter" idx="12"/>
          </p:nvPr>
        </p:nvSpPr>
        <p:spPr/>
        <p:txBody>
          <a:bodyPr/>
          <a:lstStyle/>
          <a:p>
            <a:fld id="{B82CCC60-E8CD-4174-8B1A-7DF615B22EEF}" type="slidenum">
              <a:rPr lang="en-US" smtClean="0"/>
              <a:pPr/>
              <a:t>7</a:t>
            </a:fld>
            <a:endParaRPr lang="en-US"/>
          </a:p>
        </p:txBody>
      </p:sp>
    </p:spTree>
    <p:extLst>
      <p:ext uri="{BB962C8B-B14F-4D97-AF65-F5344CB8AC3E}">
        <p14:creationId xmlns:p14="http://schemas.microsoft.com/office/powerpoint/2010/main" val="27569684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9705F-2E18-7D0C-AFCA-58EF3F1E778E}"/>
              </a:ext>
            </a:extLst>
          </p:cNvPr>
          <p:cNvSpPr>
            <a:spLocks noGrp="1"/>
          </p:cNvSpPr>
          <p:nvPr>
            <p:ph type="title"/>
          </p:nvPr>
        </p:nvSpPr>
        <p:spPr/>
        <p:txBody>
          <a:bodyPr>
            <a:normAutofit fontScale="90000"/>
          </a:bodyPr>
          <a:lstStyle/>
          <a:p>
            <a:r>
              <a:rPr lang="en-US" dirty="0"/>
              <a:t>What is DNA?</a:t>
            </a:r>
          </a:p>
        </p:txBody>
      </p:sp>
      <p:sp>
        <p:nvSpPr>
          <p:cNvPr id="4" name="Slide Number Placeholder 3">
            <a:extLst>
              <a:ext uri="{FF2B5EF4-FFF2-40B4-BE49-F238E27FC236}">
                <a16:creationId xmlns:a16="http://schemas.microsoft.com/office/drawing/2014/main" id="{26BEAA35-F6C6-8520-E052-73608F11DB4D}"/>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7" name="Picture 4" descr="dna_cpk_lg">
            <a:extLst>
              <a:ext uri="{FF2B5EF4-FFF2-40B4-BE49-F238E27FC236}">
                <a16:creationId xmlns:a16="http://schemas.microsoft.com/office/drawing/2014/main" id="{C8F8BB85-2D21-0D62-902C-EC586E217A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210" y="1749245"/>
            <a:ext cx="4733855" cy="48408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Text Box 5">
            <a:extLst>
              <a:ext uri="{FF2B5EF4-FFF2-40B4-BE49-F238E27FC236}">
                <a16:creationId xmlns:a16="http://schemas.microsoft.com/office/drawing/2014/main" id="{901210FC-B53E-1AF0-E2E2-F75F5A29BB0E}"/>
              </a:ext>
            </a:extLst>
          </p:cNvPr>
          <p:cNvSpPr txBox="1">
            <a:spLocks noChangeArrowheads="1"/>
          </p:cNvSpPr>
          <p:nvPr/>
        </p:nvSpPr>
        <p:spPr bwMode="auto">
          <a:xfrm>
            <a:off x="5105400" y="1410355"/>
            <a:ext cx="6466020" cy="54476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defRPr>
                <a:solidFill>
                  <a:schemeClr val="tx1"/>
                </a:solidFill>
                <a:latin typeface="Garamond" panose="02020404030301010803" pitchFamily="18" charset="0"/>
              </a:defRPr>
            </a:lvl1pPr>
            <a:lvl2pPr marL="742950" indent="-285750">
              <a:defRPr>
                <a:solidFill>
                  <a:schemeClr val="tx1"/>
                </a:solidFill>
                <a:latin typeface="Garamond" panose="02020404030301010803" pitchFamily="18" charset="0"/>
              </a:defRPr>
            </a:lvl2pPr>
            <a:lvl3pPr marL="1257300" indent="-342900">
              <a:defRPr>
                <a:solidFill>
                  <a:schemeClr val="tx1"/>
                </a:solidFill>
                <a:latin typeface="Garamond" panose="02020404030301010803" pitchFamily="18" charset="0"/>
              </a:defRPr>
            </a:lvl3pPr>
            <a:lvl4pPr marL="1600200" indent="-228600">
              <a:defRPr>
                <a:solidFill>
                  <a:schemeClr val="tx1"/>
                </a:solidFill>
                <a:latin typeface="Garamond" panose="02020404030301010803" pitchFamily="18" charset="0"/>
              </a:defRPr>
            </a:lvl4pPr>
            <a:lvl5pPr marL="2057400" indent="-228600">
              <a:defRPr>
                <a:solidFill>
                  <a:schemeClr val="tx1"/>
                </a:solidFill>
                <a:latin typeface="Garamond" panose="02020404030301010803" pitchFamily="18" charset="0"/>
              </a:defRPr>
            </a:lvl5pPr>
            <a:lvl6pPr marL="2514600" indent="-228600" eaLnBrk="0" fontAlgn="base" hangingPunct="0">
              <a:spcBef>
                <a:spcPct val="0"/>
              </a:spcBef>
              <a:spcAft>
                <a:spcPct val="0"/>
              </a:spcAft>
              <a:defRPr>
                <a:solidFill>
                  <a:schemeClr val="tx1"/>
                </a:solidFill>
                <a:latin typeface="Garamond" panose="02020404030301010803" pitchFamily="18" charset="0"/>
              </a:defRPr>
            </a:lvl6pPr>
            <a:lvl7pPr marL="2971800" indent="-228600" eaLnBrk="0" fontAlgn="base" hangingPunct="0">
              <a:spcBef>
                <a:spcPct val="0"/>
              </a:spcBef>
              <a:spcAft>
                <a:spcPct val="0"/>
              </a:spcAft>
              <a:defRPr>
                <a:solidFill>
                  <a:schemeClr val="tx1"/>
                </a:solidFill>
                <a:latin typeface="Garamond" panose="02020404030301010803" pitchFamily="18" charset="0"/>
              </a:defRPr>
            </a:lvl7pPr>
            <a:lvl8pPr marL="3429000" indent="-228600" eaLnBrk="0" fontAlgn="base" hangingPunct="0">
              <a:spcBef>
                <a:spcPct val="0"/>
              </a:spcBef>
              <a:spcAft>
                <a:spcPct val="0"/>
              </a:spcAft>
              <a:defRPr>
                <a:solidFill>
                  <a:schemeClr val="tx1"/>
                </a:solidFill>
                <a:latin typeface="Garamond" panose="02020404030301010803" pitchFamily="18" charset="0"/>
              </a:defRPr>
            </a:lvl8pPr>
            <a:lvl9pPr marL="3886200" indent="-228600" eaLnBrk="0" fontAlgn="base" hangingPunct="0">
              <a:spcBef>
                <a:spcPct val="0"/>
              </a:spcBef>
              <a:spcAft>
                <a:spcPct val="0"/>
              </a:spcAft>
              <a:defRPr>
                <a:solidFill>
                  <a:schemeClr val="tx1"/>
                </a:solidFill>
                <a:latin typeface="Garamond" panose="02020404030301010803" pitchFamily="18" charset="0"/>
              </a:defRPr>
            </a:lvl9pPr>
          </a:lstStyle>
          <a:p>
            <a:pPr>
              <a:spcBef>
                <a:spcPct val="50000"/>
              </a:spcBef>
              <a:buFontTx/>
              <a:buChar char="•"/>
            </a:pPr>
            <a:r>
              <a:rPr lang="en-US" altLang="en-US" sz="2400" dirty="0">
                <a:latin typeface="Arial" panose="020B0604020202020204" pitchFamily="34" charset="0"/>
              </a:rPr>
              <a:t>Most cells in all living beings have a DNA molecule in their nucleus </a:t>
            </a:r>
          </a:p>
          <a:p>
            <a:pPr>
              <a:spcBef>
                <a:spcPct val="50000"/>
              </a:spcBef>
              <a:buFontTx/>
              <a:buChar char="•"/>
            </a:pPr>
            <a:r>
              <a:rPr lang="en-US" altLang="en-US" sz="2400" dirty="0">
                <a:latin typeface="Arial" panose="020B0604020202020204" pitchFamily="34" charset="0"/>
              </a:rPr>
              <a:t>DNA abbreviates </a:t>
            </a:r>
            <a:r>
              <a:rPr lang="en-US" altLang="en-US" sz="2400" dirty="0" err="1">
                <a:latin typeface="Arial" panose="020B0604020202020204" pitchFamily="34" charset="0"/>
              </a:rPr>
              <a:t>DeoxyriboNucleic</a:t>
            </a:r>
            <a:r>
              <a:rPr lang="en-US" altLang="en-US" sz="2400" dirty="0">
                <a:latin typeface="Arial" panose="020B0604020202020204" pitchFamily="34" charset="0"/>
              </a:rPr>
              <a:t> Acid </a:t>
            </a:r>
          </a:p>
          <a:p>
            <a:pPr>
              <a:spcBef>
                <a:spcPct val="50000"/>
              </a:spcBef>
              <a:buFontTx/>
              <a:buChar char="•"/>
            </a:pPr>
            <a:r>
              <a:rPr lang="en-US" altLang="en-US" sz="2400" dirty="0">
                <a:latin typeface="Arial" panose="020B0604020202020204" pitchFamily="34" charset="0"/>
              </a:rPr>
              <a:t>Determines the structure, function, and behavior of the cell </a:t>
            </a:r>
          </a:p>
          <a:p>
            <a:pPr eaLnBrk="1" hangingPunct="1">
              <a:spcBef>
                <a:spcPct val="50000"/>
              </a:spcBef>
              <a:buFontTx/>
              <a:buChar char="•"/>
            </a:pPr>
            <a:r>
              <a:rPr lang="en-US" altLang="en-US" sz="2400" dirty="0">
                <a:latin typeface="Arial" panose="020B0604020202020204" pitchFamily="34" charset="0"/>
              </a:rPr>
              <a:t>Linear, d</a:t>
            </a:r>
            <a:r>
              <a:rPr lang="ru-RU" altLang="en-US" sz="2400" dirty="0">
                <a:latin typeface="Arial" panose="020B0604020202020204" pitchFamily="34" charset="0"/>
              </a:rPr>
              <a:t>ouble-stranded, </a:t>
            </a:r>
            <a:r>
              <a:rPr lang="en-US" altLang="en-US" sz="2400" dirty="0">
                <a:latin typeface="Arial" panose="020B0604020202020204" pitchFamily="34" charset="0"/>
              </a:rPr>
              <a:t>h</a:t>
            </a:r>
            <a:r>
              <a:rPr lang="ru-RU" altLang="en-US" sz="2400" dirty="0">
                <a:latin typeface="Arial" panose="020B0604020202020204" pitchFamily="34" charset="0"/>
              </a:rPr>
              <a:t>elical molecul</a:t>
            </a:r>
            <a:r>
              <a:rPr lang="en-US" altLang="en-US" sz="2400" dirty="0">
                <a:latin typeface="Arial" panose="020B0604020202020204" pitchFamily="34" charset="0"/>
              </a:rPr>
              <a:t>e.</a:t>
            </a:r>
          </a:p>
          <a:p>
            <a:pPr eaLnBrk="1" hangingPunct="1">
              <a:spcBef>
                <a:spcPct val="50000"/>
              </a:spcBef>
              <a:buFontTx/>
              <a:buChar char="•"/>
            </a:pPr>
            <a:r>
              <a:rPr lang="en-US" altLang="en-US" sz="2400" dirty="0">
                <a:latin typeface="Arial" panose="020B0604020202020204" pitchFamily="34" charset="0"/>
              </a:rPr>
              <a:t>Consists of four types of nucleotides (bases):</a:t>
            </a:r>
          </a:p>
          <a:p>
            <a:pPr eaLnBrk="1" hangingPunct="1">
              <a:spcBef>
                <a:spcPct val="50000"/>
              </a:spcBef>
            </a:pPr>
            <a:r>
              <a:rPr lang="en-US" altLang="en-US" sz="2400" dirty="0">
                <a:latin typeface="Arial" panose="020B0604020202020204" pitchFamily="34" charset="0"/>
              </a:rPr>
              <a:t>           </a:t>
            </a:r>
            <a:r>
              <a:rPr lang="ru-RU" altLang="en-US" sz="2400" dirty="0">
                <a:latin typeface="Arial" panose="020B0604020202020204" pitchFamily="34" charset="0"/>
              </a:rPr>
              <a:t>adenine (</a:t>
            </a:r>
            <a:r>
              <a:rPr lang="ru-RU" altLang="en-US" sz="2400" dirty="0">
                <a:solidFill>
                  <a:schemeClr val="accent4"/>
                </a:solidFill>
                <a:latin typeface="Arial" panose="020B0604020202020204" pitchFamily="34" charset="0"/>
              </a:rPr>
              <a:t>A</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thymine (</a:t>
            </a:r>
            <a:r>
              <a:rPr lang="ru-RU" altLang="en-US" sz="2400" dirty="0">
                <a:solidFill>
                  <a:schemeClr val="accent4"/>
                </a:solidFill>
                <a:latin typeface="Arial" panose="020B0604020202020204" pitchFamily="34" charset="0"/>
              </a:rPr>
              <a:t>T</a:t>
            </a:r>
            <a:r>
              <a:rPr lang="en-US" altLang="en-US" sz="2400" dirty="0">
                <a:latin typeface="Arial" panose="020B0604020202020204" pitchFamily="34" charset="0"/>
              </a:rPr>
              <a:t>)</a:t>
            </a:r>
          </a:p>
          <a:p>
            <a:pPr lvl="2" eaLnBrk="1" hangingPunct="1"/>
            <a:r>
              <a:rPr lang="ru-RU" altLang="en-US" sz="2400" dirty="0">
                <a:latin typeface="Arial" panose="020B0604020202020204" pitchFamily="34" charset="0"/>
              </a:rPr>
              <a:t>guanine (</a:t>
            </a:r>
            <a:r>
              <a:rPr lang="ru-RU" altLang="en-US" sz="2400" dirty="0">
                <a:solidFill>
                  <a:schemeClr val="accent4"/>
                </a:solidFill>
                <a:latin typeface="Arial" panose="020B0604020202020204" pitchFamily="34" charset="0"/>
              </a:rPr>
              <a:t>G</a:t>
            </a:r>
            <a:r>
              <a:rPr lang="ru-RU" altLang="en-US" sz="2400" dirty="0">
                <a:latin typeface="Arial" panose="020B0604020202020204" pitchFamily="34" charset="0"/>
              </a:rPr>
              <a:t>)</a:t>
            </a:r>
            <a:endParaRPr lang="en-US" altLang="en-US" sz="2400" dirty="0">
              <a:latin typeface="Arial" panose="020B0604020202020204" pitchFamily="34" charset="0"/>
            </a:endParaRPr>
          </a:p>
          <a:p>
            <a:pPr lvl="2" eaLnBrk="1" hangingPunct="1"/>
            <a:r>
              <a:rPr lang="ru-RU" altLang="en-US" sz="2400" dirty="0">
                <a:latin typeface="Arial" panose="020B0604020202020204" pitchFamily="34" charset="0"/>
              </a:rPr>
              <a:t>cytosine (</a:t>
            </a:r>
            <a:r>
              <a:rPr lang="ru-RU" altLang="en-US" sz="2400" dirty="0">
                <a:solidFill>
                  <a:schemeClr val="accent4"/>
                </a:solidFill>
                <a:latin typeface="Arial" panose="020B0604020202020204" pitchFamily="34" charset="0"/>
              </a:rPr>
              <a:t>C</a:t>
            </a:r>
            <a:r>
              <a:rPr lang="ru-RU" altLang="en-US" sz="2400" dirty="0">
                <a:latin typeface="Arial" panose="020B0604020202020204" pitchFamily="34" charset="0"/>
              </a:rPr>
              <a:t>)</a:t>
            </a:r>
          </a:p>
        </p:txBody>
      </p:sp>
    </p:spTree>
    <p:extLst>
      <p:ext uri="{BB962C8B-B14F-4D97-AF65-F5344CB8AC3E}">
        <p14:creationId xmlns:p14="http://schemas.microsoft.com/office/powerpoint/2010/main" val="1344649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box(in)">
                                      <p:cBhvr>
                                        <p:cTn id="7" dur="500"/>
                                        <p:tgtEl>
                                          <p:spTgt spid="8">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blinds(horizontal)">
                                      <p:cBhvr>
                                        <p:cTn id="12" dur="500"/>
                                        <p:tgtEl>
                                          <p:spTgt spid="8">
                                            <p:txEl>
                                              <p:pRg st="5" end="5"/>
                                            </p:txEl>
                                          </p:spTgt>
                                        </p:tgtEl>
                                      </p:cBhvr>
                                    </p:animEffect>
                                  </p:childTnLst>
                                </p:cTn>
                              </p:par>
                              <p:par>
                                <p:cTn id="13" presetID="3" presetClass="entr" presetSubtype="10" fill="hold" nodeType="with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animEffect transition="in" filter="blinds(horizontal)">
                                      <p:cBhvr>
                                        <p:cTn id="15" dur="500"/>
                                        <p:tgtEl>
                                          <p:spTgt spid="8">
                                            <p:txEl>
                                              <p:pRg st="6" end="6"/>
                                            </p:txEl>
                                          </p:spTgt>
                                        </p:tgtEl>
                                      </p:cBhvr>
                                    </p:animEffect>
                                  </p:childTnLst>
                                </p:cTn>
                              </p:par>
                              <p:par>
                                <p:cTn id="16" presetID="3" presetClass="entr" presetSubtype="10" fill="hold" nodeType="withEffect">
                                  <p:stCondLst>
                                    <p:cond delay="0"/>
                                  </p:stCondLst>
                                  <p:childTnLst>
                                    <p:set>
                                      <p:cBhvr>
                                        <p:cTn id="17" dur="1" fill="hold">
                                          <p:stCondLst>
                                            <p:cond delay="0"/>
                                          </p:stCondLst>
                                        </p:cTn>
                                        <p:tgtEl>
                                          <p:spTgt spid="8">
                                            <p:txEl>
                                              <p:pRg st="7" end="7"/>
                                            </p:txEl>
                                          </p:spTgt>
                                        </p:tgtEl>
                                        <p:attrNameLst>
                                          <p:attrName>style.visibility</p:attrName>
                                        </p:attrNameLst>
                                      </p:cBhvr>
                                      <p:to>
                                        <p:strVal val="visible"/>
                                      </p:to>
                                    </p:set>
                                    <p:animEffect transition="in" filter="blinds(horizontal)">
                                      <p:cBhvr>
                                        <p:cTn id="18" dur="500"/>
                                        <p:tgtEl>
                                          <p:spTgt spid="8">
                                            <p:txEl>
                                              <p:pRg st="7" end="7"/>
                                            </p:txEl>
                                          </p:spTgt>
                                        </p:tgtEl>
                                      </p:cBhvr>
                                    </p:animEffect>
                                  </p:childTnLst>
                                </p:cTn>
                              </p:par>
                              <p:par>
                                <p:cTn id="19" presetID="3" presetClass="entr" presetSubtype="10" fill="hold" nodeType="withEffect">
                                  <p:stCondLst>
                                    <p:cond delay="0"/>
                                  </p:stCondLst>
                                  <p:childTnLst>
                                    <p:set>
                                      <p:cBhvr>
                                        <p:cTn id="20" dur="1" fill="hold">
                                          <p:stCondLst>
                                            <p:cond delay="0"/>
                                          </p:stCondLst>
                                        </p:cTn>
                                        <p:tgtEl>
                                          <p:spTgt spid="8">
                                            <p:txEl>
                                              <p:pRg st="8" end="8"/>
                                            </p:txEl>
                                          </p:spTgt>
                                        </p:tgtEl>
                                        <p:attrNameLst>
                                          <p:attrName>style.visibility</p:attrName>
                                        </p:attrNameLst>
                                      </p:cBhvr>
                                      <p:to>
                                        <p:strVal val="visible"/>
                                      </p:to>
                                    </p:set>
                                    <p:animEffect transition="in" filter="blinds(horizontal)">
                                      <p:cBhvr>
                                        <p:cTn id="21"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1CFDA-8F37-5126-B5C4-E996A15E16C0}"/>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4F3F724D-32A2-45C6-F865-47EC044B5421}"/>
              </a:ext>
            </a:extLst>
          </p:cNvPr>
          <p:cNvSpPr>
            <a:spLocks noGrp="1"/>
          </p:cNvSpPr>
          <p:nvPr>
            <p:ph type="sldNum" sz="quarter" idx="12"/>
          </p:nvPr>
        </p:nvSpPr>
        <p:spPr/>
        <p:txBody>
          <a:bodyPr/>
          <a:lstStyle/>
          <a:p>
            <a:fld id="{B82CCC60-E8CD-4174-8B1A-7DF615B22EEF}" type="slidenum">
              <a:rPr lang="en-US" smtClean="0"/>
              <a:pPr/>
              <a:t>9</a:t>
            </a:fld>
            <a:endParaRPr lang="en-US"/>
          </a:p>
        </p:txBody>
      </p:sp>
      <p:cxnSp>
        <p:nvCxnSpPr>
          <p:cNvPr id="6" name="Straight Connector 5">
            <a:extLst>
              <a:ext uri="{FF2B5EF4-FFF2-40B4-BE49-F238E27FC236}">
                <a16:creationId xmlns:a16="http://schemas.microsoft.com/office/drawing/2014/main" id="{C59CEBD8-E8FA-6407-FA11-80985A23A658}"/>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90F1219-1E1C-D142-9792-CB723FAECCEB}"/>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7F25C6E0-1562-23AB-DB59-7A5BCFCDF792}"/>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8CCB24F8-D379-8818-423D-D1B7E99C2B5C}"/>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E97C265-E613-C3EB-FE56-240D76B309AF}"/>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24D04792-F684-1A66-9DA3-6245FDC41DAD}"/>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625EE9E-F5DC-1308-887C-6745C926B476}"/>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4A7403C-8C5B-7763-F0C4-F60E684A8B87}"/>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AC2711A-2FED-8CC7-ABD3-511B100487D6}"/>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A860F89-FA43-D71A-DB05-8082E6E104A9}"/>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280CA31B-66B6-ACB1-1D0A-1A0B0B797155}"/>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2C8E1E-D8B7-E31F-29D1-1DA15BB2FEBD}"/>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86F7D1F-9B79-471A-09F6-43850B25393B}"/>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973DBCFB-E0C6-E45C-2E55-83B9B8EAD2E3}"/>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FB99F5F-BCD4-5C58-41F6-1D6BDF335A59}"/>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07138A59-0F5C-3CE2-BDCC-00AB45951950}"/>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11FB4347-8CBC-B679-FB8B-1575A640219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6C877F77-FB66-3EBD-E905-CC8229DEF779}"/>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217CBBD-D63D-A145-241F-D88AC0C8F9F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26C8B25F-2E60-FC89-33F9-10D5A6DCB903}"/>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B558A5E-D50C-B8CC-BC8C-27A26F96F055}"/>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A0656ABC-C7E9-C9F8-7500-3BAABBF93E5C}"/>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6C52303-D13C-3352-8012-74EE1EC0B0CF}"/>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D5170215-83AC-5445-87B0-347853C546C7}"/>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1B94DE-9F75-D177-7FB8-3F0407ED5B89}"/>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8FE9A664-1405-852E-613C-CD763076BF78}"/>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67744E23-C9FA-0913-E686-7577E28B370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0E512A0D-D729-E2B7-B2E6-2838B9569DF5}"/>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0B4B3F01-60B2-1D84-791D-4D1EECA8E067}"/>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6CA5A169-25C5-3D49-BCF1-77685EB06DEC}"/>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7EBBC627-29D5-2653-3927-7A7B0164E08A}"/>
              </a:ext>
            </a:extLst>
          </p:cNvPr>
          <p:cNvSpPr txBox="1"/>
          <p:nvPr/>
        </p:nvSpPr>
        <p:spPr>
          <a:xfrm>
            <a:off x="4432572" y="2360449"/>
            <a:ext cx="3971344" cy="584775"/>
          </a:xfrm>
          <a:prstGeom prst="rect">
            <a:avLst/>
          </a:prstGeom>
          <a:noFill/>
        </p:spPr>
        <p:txBody>
          <a:bodyPr wrap="none" rtlCol="0">
            <a:spAutoFit/>
          </a:bodyPr>
          <a:lstStyle/>
          <a:p>
            <a:r>
              <a:rPr lang="en-US" sz="3200" dirty="0"/>
              <a:t>Pentose sugar (Ribose)</a:t>
            </a:r>
          </a:p>
        </p:txBody>
      </p:sp>
      <p:sp>
        <p:nvSpPr>
          <p:cNvPr id="71" name="TextBox 70">
            <a:extLst>
              <a:ext uri="{FF2B5EF4-FFF2-40B4-BE49-F238E27FC236}">
                <a16:creationId xmlns:a16="http://schemas.microsoft.com/office/drawing/2014/main" id="{B62101E9-3B1C-D47E-B46E-DBF8D5665ABC}"/>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CF0DDFBE-0B61-97D2-4537-D61E382E17AF}"/>
              </a:ext>
            </a:extLst>
          </p:cNvPr>
          <p:cNvPicPr>
            <a:picLocks noChangeAspect="1"/>
          </p:cNvPicPr>
          <p:nvPr/>
        </p:nvPicPr>
        <p:blipFill>
          <a:blip r:embed="rId2"/>
          <a:stretch>
            <a:fillRect/>
          </a:stretch>
        </p:blipFill>
        <p:spPr>
          <a:xfrm>
            <a:off x="8516955" y="1259047"/>
            <a:ext cx="3662572" cy="3252942"/>
          </a:xfrm>
          <a:prstGeom prst="rect">
            <a:avLst/>
          </a:prstGeom>
        </p:spPr>
      </p:pic>
      <p:cxnSp>
        <p:nvCxnSpPr>
          <p:cNvPr id="78" name="Straight Connector 77">
            <a:extLst>
              <a:ext uri="{FF2B5EF4-FFF2-40B4-BE49-F238E27FC236}">
                <a16:creationId xmlns:a16="http://schemas.microsoft.com/office/drawing/2014/main" id="{501F58C0-51C5-C713-26CD-07613FE94F4F}"/>
              </a:ext>
            </a:extLst>
          </p:cNvPr>
          <p:cNvCxnSpPr>
            <a:cxnSpLocks/>
            <a:stCxn id="79" idx="0"/>
            <a:endCxn id="32" idx="2"/>
          </p:cNvCxnSpPr>
          <p:nvPr/>
        </p:nvCxnSpPr>
        <p:spPr>
          <a:xfrm flipH="1" flipV="1">
            <a:off x="6900909" y="5611521"/>
            <a:ext cx="264957" cy="66170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285B96AC-1327-976E-F9D6-9ED15F25E9AA}"/>
              </a:ext>
            </a:extLst>
          </p:cNvPr>
          <p:cNvSpPr txBox="1"/>
          <p:nvPr/>
        </p:nvSpPr>
        <p:spPr>
          <a:xfrm>
            <a:off x="6809037" y="6273225"/>
            <a:ext cx="713657" cy="584775"/>
          </a:xfrm>
          <a:prstGeom prst="rect">
            <a:avLst/>
          </a:prstGeom>
          <a:noFill/>
        </p:spPr>
        <p:txBody>
          <a:bodyPr wrap="none" rtlCol="0">
            <a:spAutoFit/>
          </a:bodyPr>
          <a:lstStyle/>
          <a:p>
            <a:r>
              <a:rPr lang="en-US" sz="3200" dirty="0"/>
              <a:t>OH</a:t>
            </a:r>
          </a:p>
        </p:txBody>
      </p:sp>
    </p:spTree>
    <p:extLst>
      <p:ext uri="{BB962C8B-B14F-4D97-AF65-F5344CB8AC3E}">
        <p14:creationId xmlns:p14="http://schemas.microsoft.com/office/powerpoint/2010/main" val="3362776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FA6F-868E-A993-9B30-AA7ADE78B7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DA4AFA-6D92-D9F1-63A5-93BC5D051F2D}"/>
              </a:ext>
            </a:extLst>
          </p:cNvPr>
          <p:cNvSpPr>
            <a:spLocks noGrp="1"/>
          </p:cNvSpPr>
          <p:nvPr>
            <p:ph type="title"/>
          </p:nvPr>
        </p:nvSpPr>
        <p:spPr>
          <a:xfrm>
            <a:off x="255271" y="121061"/>
            <a:ext cx="7177135" cy="916230"/>
          </a:xfrm>
        </p:spPr>
        <p:txBody>
          <a:bodyPr>
            <a:normAutofit fontScale="90000"/>
          </a:bodyPr>
          <a:lstStyle/>
          <a:p>
            <a:r>
              <a:rPr lang="en-US" dirty="0"/>
              <a:t>Nucleotide: Phosphate, Base and Pentose sugar</a:t>
            </a:r>
          </a:p>
        </p:txBody>
      </p:sp>
      <p:sp>
        <p:nvSpPr>
          <p:cNvPr id="4" name="Slide Number Placeholder 3">
            <a:extLst>
              <a:ext uri="{FF2B5EF4-FFF2-40B4-BE49-F238E27FC236}">
                <a16:creationId xmlns:a16="http://schemas.microsoft.com/office/drawing/2014/main" id="{24F83B56-44F3-50CD-CB4D-8899B22CA1A6}"/>
              </a:ext>
            </a:extLst>
          </p:cNvPr>
          <p:cNvSpPr>
            <a:spLocks noGrp="1"/>
          </p:cNvSpPr>
          <p:nvPr>
            <p:ph type="sldNum" sz="quarter" idx="12"/>
          </p:nvPr>
        </p:nvSpPr>
        <p:spPr/>
        <p:txBody>
          <a:bodyPr/>
          <a:lstStyle/>
          <a:p>
            <a:fld id="{B82CCC60-E8CD-4174-8B1A-7DF615B22EEF}" type="slidenum">
              <a:rPr lang="en-US" smtClean="0"/>
              <a:pPr/>
              <a:t>10</a:t>
            </a:fld>
            <a:endParaRPr lang="en-US"/>
          </a:p>
        </p:txBody>
      </p:sp>
      <p:cxnSp>
        <p:nvCxnSpPr>
          <p:cNvPr id="6" name="Straight Connector 5">
            <a:extLst>
              <a:ext uri="{FF2B5EF4-FFF2-40B4-BE49-F238E27FC236}">
                <a16:creationId xmlns:a16="http://schemas.microsoft.com/office/drawing/2014/main" id="{B23C8A70-640D-635E-7D10-09FF3FDE01C4}"/>
              </a:ext>
            </a:extLst>
          </p:cNvPr>
          <p:cNvCxnSpPr/>
          <p:nvPr/>
        </p:nvCxnSpPr>
        <p:spPr>
          <a:xfrm>
            <a:off x="1362145" y="2207360"/>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82C74F-438A-BAA0-BF71-65A466B8A819}"/>
              </a:ext>
            </a:extLst>
          </p:cNvPr>
          <p:cNvSpPr txBox="1"/>
          <p:nvPr/>
        </p:nvSpPr>
        <p:spPr>
          <a:xfrm>
            <a:off x="1209440" y="1622585"/>
            <a:ext cx="713657" cy="584775"/>
          </a:xfrm>
          <a:prstGeom prst="rect">
            <a:avLst/>
          </a:prstGeom>
          <a:noFill/>
        </p:spPr>
        <p:txBody>
          <a:bodyPr wrap="none" rtlCol="0">
            <a:spAutoFit/>
          </a:bodyPr>
          <a:lstStyle/>
          <a:p>
            <a:r>
              <a:rPr lang="en-US" sz="3200" dirty="0"/>
              <a:t>OH</a:t>
            </a:r>
          </a:p>
        </p:txBody>
      </p:sp>
      <p:sp>
        <p:nvSpPr>
          <p:cNvPr id="9" name="TextBox 8">
            <a:extLst>
              <a:ext uri="{FF2B5EF4-FFF2-40B4-BE49-F238E27FC236}">
                <a16:creationId xmlns:a16="http://schemas.microsoft.com/office/drawing/2014/main" id="{CBB03E3C-BF2F-D436-31F0-C0E1D5A1EF0D}"/>
              </a:ext>
            </a:extLst>
          </p:cNvPr>
          <p:cNvSpPr txBox="1"/>
          <p:nvPr/>
        </p:nvSpPr>
        <p:spPr>
          <a:xfrm>
            <a:off x="1209440" y="2613246"/>
            <a:ext cx="396262" cy="584775"/>
          </a:xfrm>
          <a:prstGeom prst="rect">
            <a:avLst/>
          </a:prstGeom>
          <a:noFill/>
        </p:spPr>
        <p:txBody>
          <a:bodyPr wrap="none" rtlCol="0">
            <a:spAutoFit/>
          </a:bodyPr>
          <a:lstStyle/>
          <a:p>
            <a:r>
              <a:rPr lang="en-US" sz="3200" dirty="0"/>
              <a:t>P</a:t>
            </a:r>
          </a:p>
        </p:txBody>
      </p:sp>
      <p:cxnSp>
        <p:nvCxnSpPr>
          <p:cNvPr id="10" name="Straight Connector 9">
            <a:extLst>
              <a:ext uri="{FF2B5EF4-FFF2-40B4-BE49-F238E27FC236}">
                <a16:creationId xmlns:a16="http://schemas.microsoft.com/office/drawing/2014/main" id="{3E47F9FC-130B-80EB-D2B4-114E60001042}"/>
              </a:ext>
            </a:extLst>
          </p:cNvPr>
          <p:cNvCxnSpPr/>
          <p:nvPr/>
        </p:nvCxnSpPr>
        <p:spPr>
          <a:xfrm>
            <a:off x="1362145" y="3188128"/>
            <a:ext cx="0" cy="458115"/>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AEA6C47-F573-C5F1-9242-B592EAD6C8FD}"/>
              </a:ext>
            </a:extLst>
          </p:cNvPr>
          <p:cNvSpPr txBox="1"/>
          <p:nvPr/>
        </p:nvSpPr>
        <p:spPr>
          <a:xfrm>
            <a:off x="1205414" y="3584121"/>
            <a:ext cx="713657" cy="584775"/>
          </a:xfrm>
          <a:prstGeom prst="rect">
            <a:avLst/>
          </a:prstGeom>
          <a:noFill/>
        </p:spPr>
        <p:txBody>
          <a:bodyPr wrap="none" rtlCol="0">
            <a:spAutoFit/>
          </a:bodyPr>
          <a:lstStyle/>
          <a:p>
            <a:r>
              <a:rPr lang="en-US" sz="3200" dirty="0"/>
              <a:t>OH</a:t>
            </a:r>
          </a:p>
        </p:txBody>
      </p:sp>
      <p:cxnSp>
        <p:nvCxnSpPr>
          <p:cNvPr id="13" name="Straight Connector 12">
            <a:extLst>
              <a:ext uri="{FF2B5EF4-FFF2-40B4-BE49-F238E27FC236}">
                <a16:creationId xmlns:a16="http://schemas.microsoft.com/office/drawing/2014/main" id="{9945E5D4-8D2A-4D1A-3917-2E6FBC8BFDFC}"/>
              </a:ext>
            </a:extLst>
          </p:cNvPr>
          <p:cNvCxnSpPr>
            <a:cxnSpLocks/>
          </p:cNvCxnSpPr>
          <p:nvPr/>
        </p:nvCxnSpPr>
        <p:spPr>
          <a:xfrm flipH="1">
            <a:off x="1562242"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B2F8C29-827B-B345-E206-67F78FBF7FDC}"/>
              </a:ext>
            </a:extLst>
          </p:cNvPr>
          <p:cNvCxnSpPr>
            <a:cxnSpLocks/>
          </p:cNvCxnSpPr>
          <p:nvPr/>
        </p:nvCxnSpPr>
        <p:spPr>
          <a:xfrm flipH="1">
            <a:off x="1562242"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E2F5B26-4B69-932E-B976-EED3FC902D9B}"/>
              </a:ext>
            </a:extLst>
          </p:cNvPr>
          <p:cNvCxnSpPr>
            <a:cxnSpLocks/>
          </p:cNvCxnSpPr>
          <p:nvPr/>
        </p:nvCxnSpPr>
        <p:spPr>
          <a:xfrm flipH="1">
            <a:off x="641986" y="2891818"/>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47F4A6A-4D2C-244D-2949-F911943FD168}"/>
              </a:ext>
            </a:extLst>
          </p:cNvPr>
          <p:cNvCxnSpPr>
            <a:cxnSpLocks/>
          </p:cNvCxnSpPr>
          <p:nvPr/>
        </p:nvCxnSpPr>
        <p:spPr>
          <a:xfrm flipH="1">
            <a:off x="641986" y="2970885"/>
            <a:ext cx="563428"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0AE4545-C3C1-39E5-0EFC-CDEE95AEE74F}"/>
              </a:ext>
            </a:extLst>
          </p:cNvPr>
          <p:cNvSpPr txBox="1"/>
          <p:nvPr/>
        </p:nvSpPr>
        <p:spPr>
          <a:xfrm>
            <a:off x="2121643" y="2652837"/>
            <a:ext cx="457176" cy="584775"/>
          </a:xfrm>
          <a:prstGeom prst="rect">
            <a:avLst/>
          </a:prstGeom>
          <a:noFill/>
        </p:spPr>
        <p:txBody>
          <a:bodyPr wrap="none" rtlCol="0">
            <a:spAutoFit/>
          </a:bodyPr>
          <a:lstStyle/>
          <a:p>
            <a:r>
              <a:rPr lang="en-US" sz="3200" dirty="0"/>
              <a:t>O</a:t>
            </a:r>
          </a:p>
        </p:txBody>
      </p:sp>
      <p:sp>
        <p:nvSpPr>
          <p:cNvPr id="20" name="TextBox 19">
            <a:extLst>
              <a:ext uri="{FF2B5EF4-FFF2-40B4-BE49-F238E27FC236}">
                <a16:creationId xmlns:a16="http://schemas.microsoft.com/office/drawing/2014/main" id="{9175F889-24D3-C460-6DFB-E8DA73655051}"/>
              </a:ext>
            </a:extLst>
          </p:cNvPr>
          <p:cNvSpPr txBox="1"/>
          <p:nvPr/>
        </p:nvSpPr>
        <p:spPr>
          <a:xfrm>
            <a:off x="255271" y="2623401"/>
            <a:ext cx="457176" cy="584775"/>
          </a:xfrm>
          <a:prstGeom prst="rect">
            <a:avLst/>
          </a:prstGeom>
          <a:noFill/>
        </p:spPr>
        <p:txBody>
          <a:bodyPr wrap="none" rtlCol="0">
            <a:spAutoFit/>
          </a:bodyPr>
          <a:lstStyle/>
          <a:p>
            <a:r>
              <a:rPr lang="en-US" sz="3200" dirty="0"/>
              <a:t>O</a:t>
            </a:r>
          </a:p>
        </p:txBody>
      </p:sp>
      <p:cxnSp>
        <p:nvCxnSpPr>
          <p:cNvPr id="21" name="Straight Connector 20">
            <a:extLst>
              <a:ext uri="{FF2B5EF4-FFF2-40B4-BE49-F238E27FC236}">
                <a16:creationId xmlns:a16="http://schemas.microsoft.com/office/drawing/2014/main" id="{EFE25B64-AA92-6975-8CD3-50E45F0B3A36}"/>
              </a:ext>
            </a:extLst>
          </p:cNvPr>
          <p:cNvCxnSpPr>
            <a:cxnSpLocks/>
            <a:stCxn id="23" idx="1"/>
            <a:endCxn id="25" idx="0"/>
          </p:cNvCxnSpPr>
          <p:nvPr/>
        </p:nvCxnSpPr>
        <p:spPr>
          <a:xfrm flipH="1">
            <a:off x="5140891" y="3404716"/>
            <a:ext cx="530274" cy="52249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202BADB-80C7-84D4-377B-13FD8C5591DF}"/>
              </a:ext>
            </a:extLst>
          </p:cNvPr>
          <p:cNvSpPr txBox="1"/>
          <p:nvPr/>
        </p:nvSpPr>
        <p:spPr>
          <a:xfrm>
            <a:off x="5671165" y="3112328"/>
            <a:ext cx="457176" cy="584775"/>
          </a:xfrm>
          <a:prstGeom prst="rect">
            <a:avLst/>
          </a:prstGeom>
          <a:noFill/>
        </p:spPr>
        <p:txBody>
          <a:bodyPr wrap="none" rtlCol="0">
            <a:spAutoFit/>
          </a:bodyPr>
          <a:lstStyle/>
          <a:p>
            <a:r>
              <a:rPr lang="en-US" sz="3200" dirty="0"/>
              <a:t>O</a:t>
            </a:r>
          </a:p>
        </p:txBody>
      </p:sp>
      <p:cxnSp>
        <p:nvCxnSpPr>
          <p:cNvPr id="24" name="Straight Connector 23">
            <a:extLst>
              <a:ext uri="{FF2B5EF4-FFF2-40B4-BE49-F238E27FC236}">
                <a16:creationId xmlns:a16="http://schemas.microsoft.com/office/drawing/2014/main" id="{FD0AD152-6007-8972-3ECC-A5AE9E349CFC}"/>
              </a:ext>
            </a:extLst>
          </p:cNvPr>
          <p:cNvCxnSpPr>
            <a:cxnSpLocks/>
            <a:stCxn id="23" idx="3"/>
            <a:endCxn id="28" idx="0"/>
          </p:cNvCxnSpPr>
          <p:nvPr/>
        </p:nvCxnSpPr>
        <p:spPr>
          <a:xfrm>
            <a:off x="6128341" y="3404716"/>
            <a:ext cx="826043" cy="49050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84EA22-5E66-C218-5042-5DFD74690888}"/>
              </a:ext>
            </a:extLst>
          </p:cNvPr>
          <p:cNvSpPr txBox="1"/>
          <p:nvPr/>
        </p:nvSpPr>
        <p:spPr>
          <a:xfrm>
            <a:off x="6471719" y="3895225"/>
            <a:ext cx="965329" cy="584775"/>
          </a:xfrm>
          <a:prstGeom prst="rect">
            <a:avLst/>
          </a:prstGeom>
          <a:noFill/>
        </p:spPr>
        <p:txBody>
          <a:bodyPr wrap="none" rtlCol="0">
            <a:spAutoFit/>
          </a:bodyPr>
          <a:lstStyle/>
          <a:p>
            <a:r>
              <a:rPr lang="en-US" sz="3200" dirty="0"/>
              <a:t>C(1’)</a:t>
            </a:r>
          </a:p>
        </p:txBody>
      </p:sp>
      <p:cxnSp>
        <p:nvCxnSpPr>
          <p:cNvPr id="29" name="Straight Connector 28">
            <a:extLst>
              <a:ext uri="{FF2B5EF4-FFF2-40B4-BE49-F238E27FC236}">
                <a16:creationId xmlns:a16="http://schemas.microsoft.com/office/drawing/2014/main" id="{DFA27728-131D-7EE3-C395-A98EF426F301}"/>
              </a:ext>
            </a:extLst>
          </p:cNvPr>
          <p:cNvCxnSpPr>
            <a:cxnSpLocks/>
            <a:stCxn id="28" idx="2"/>
            <a:endCxn id="32" idx="0"/>
          </p:cNvCxnSpPr>
          <p:nvPr/>
        </p:nvCxnSpPr>
        <p:spPr>
          <a:xfrm flipH="1">
            <a:off x="6900909" y="4480000"/>
            <a:ext cx="53475" cy="546746"/>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C0D91356-785D-75EC-5335-C6CF1FB0F069}"/>
              </a:ext>
            </a:extLst>
          </p:cNvPr>
          <p:cNvSpPr txBox="1"/>
          <p:nvPr/>
        </p:nvSpPr>
        <p:spPr>
          <a:xfrm>
            <a:off x="6418244" y="5026746"/>
            <a:ext cx="965329" cy="584775"/>
          </a:xfrm>
          <a:prstGeom prst="rect">
            <a:avLst/>
          </a:prstGeom>
          <a:noFill/>
        </p:spPr>
        <p:txBody>
          <a:bodyPr wrap="none" rtlCol="0">
            <a:spAutoFit/>
          </a:bodyPr>
          <a:lstStyle/>
          <a:p>
            <a:r>
              <a:rPr lang="en-US" sz="3200" dirty="0"/>
              <a:t>C(2’)</a:t>
            </a:r>
          </a:p>
        </p:txBody>
      </p:sp>
      <p:cxnSp>
        <p:nvCxnSpPr>
          <p:cNvPr id="3" name="Straight Connector 2">
            <a:extLst>
              <a:ext uri="{FF2B5EF4-FFF2-40B4-BE49-F238E27FC236}">
                <a16:creationId xmlns:a16="http://schemas.microsoft.com/office/drawing/2014/main" id="{CF332254-AC91-4EF6-BDAF-6516E0837314}"/>
              </a:ext>
            </a:extLst>
          </p:cNvPr>
          <p:cNvCxnSpPr>
            <a:cxnSpLocks/>
            <a:stCxn id="32" idx="1"/>
            <a:endCxn id="7" idx="3"/>
          </p:cNvCxnSpPr>
          <p:nvPr/>
        </p:nvCxnSpPr>
        <p:spPr>
          <a:xfrm flipH="1">
            <a:off x="5773757" y="5319134"/>
            <a:ext cx="644487" cy="888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6B4DDB6-B3C0-E7A8-9A07-B9075A27727B}"/>
              </a:ext>
            </a:extLst>
          </p:cNvPr>
          <p:cNvSpPr txBox="1"/>
          <p:nvPr/>
        </p:nvSpPr>
        <p:spPr>
          <a:xfrm>
            <a:off x="4808428" y="5035629"/>
            <a:ext cx="965329" cy="584775"/>
          </a:xfrm>
          <a:prstGeom prst="rect">
            <a:avLst/>
          </a:prstGeom>
          <a:noFill/>
        </p:spPr>
        <p:txBody>
          <a:bodyPr wrap="none" rtlCol="0">
            <a:spAutoFit/>
          </a:bodyPr>
          <a:lstStyle/>
          <a:p>
            <a:r>
              <a:rPr lang="en-US" sz="3200" dirty="0"/>
              <a:t>C(3’)</a:t>
            </a:r>
          </a:p>
        </p:txBody>
      </p:sp>
      <p:cxnSp>
        <p:nvCxnSpPr>
          <p:cNvPr id="12" name="Straight Connector 11">
            <a:extLst>
              <a:ext uri="{FF2B5EF4-FFF2-40B4-BE49-F238E27FC236}">
                <a16:creationId xmlns:a16="http://schemas.microsoft.com/office/drawing/2014/main" id="{BA9D3BC0-81CA-4592-3BB0-63363D7C4C7F}"/>
              </a:ext>
            </a:extLst>
          </p:cNvPr>
          <p:cNvCxnSpPr>
            <a:cxnSpLocks/>
            <a:stCxn id="7" idx="0"/>
            <a:endCxn id="25" idx="2"/>
          </p:cNvCxnSpPr>
          <p:nvPr/>
        </p:nvCxnSpPr>
        <p:spPr>
          <a:xfrm flipH="1" flipV="1">
            <a:off x="5140891" y="4511989"/>
            <a:ext cx="150202" cy="52364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C1776FAD-5CE0-4C28-6E69-32465B77588D}"/>
              </a:ext>
            </a:extLst>
          </p:cNvPr>
          <p:cNvSpPr txBox="1"/>
          <p:nvPr/>
        </p:nvSpPr>
        <p:spPr>
          <a:xfrm>
            <a:off x="4658226" y="3927214"/>
            <a:ext cx="965329" cy="584775"/>
          </a:xfrm>
          <a:prstGeom prst="rect">
            <a:avLst/>
          </a:prstGeom>
          <a:noFill/>
        </p:spPr>
        <p:txBody>
          <a:bodyPr wrap="none" rtlCol="0">
            <a:spAutoFit/>
          </a:bodyPr>
          <a:lstStyle/>
          <a:p>
            <a:r>
              <a:rPr lang="en-US" sz="3200" dirty="0"/>
              <a:t>C(4’)</a:t>
            </a:r>
          </a:p>
        </p:txBody>
      </p:sp>
      <p:cxnSp>
        <p:nvCxnSpPr>
          <p:cNvPr id="26" name="Straight Connector 25">
            <a:extLst>
              <a:ext uri="{FF2B5EF4-FFF2-40B4-BE49-F238E27FC236}">
                <a16:creationId xmlns:a16="http://schemas.microsoft.com/office/drawing/2014/main" id="{3F2674AC-74CC-399C-D60A-23771103F429}"/>
              </a:ext>
            </a:extLst>
          </p:cNvPr>
          <p:cNvCxnSpPr>
            <a:cxnSpLocks/>
            <a:stCxn id="56" idx="3"/>
            <a:endCxn id="30" idx="1"/>
          </p:cNvCxnSpPr>
          <p:nvPr/>
        </p:nvCxnSpPr>
        <p:spPr>
          <a:xfrm>
            <a:off x="3590010" y="3333773"/>
            <a:ext cx="457176"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91D7C6E-5EB9-6884-44DB-ABE7B0F41BE1}"/>
              </a:ext>
            </a:extLst>
          </p:cNvPr>
          <p:cNvSpPr txBox="1"/>
          <p:nvPr/>
        </p:nvSpPr>
        <p:spPr>
          <a:xfrm>
            <a:off x="4047186" y="3041385"/>
            <a:ext cx="965329" cy="584775"/>
          </a:xfrm>
          <a:prstGeom prst="rect">
            <a:avLst/>
          </a:prstGeom>
          <a:noFill/>
        </p:spPr>
        <p:txBody>
          <a:bodyPr wrap="none" rtlCol="0">
            <a:spAutoFit/>
          </a:bodyPr>
          <a:lstStyle/>
          <a:p>
            <a:r>
              <a:rPr lang="en-US" sz="3200" dirty="0"/>
              <a:t>C(5’)</a:t>
            </a:r>
          </a:p>
        </p:txBody>
      </p:sp>
      <p:cxnSp>
        <p:nvCxnSpPr>
          <p:cNvPr id="35" name="Straight Connector 34">
            <a:extLst>
              <a:ext uri="{FF2B5EF4-FFF2-40B4-BE49-F238E27FC236}">
                <a16:creationId xmlns:a16="http://schemas.microsoft.com/office/drawing/2014/main" id="{0DFB7710-8D99-FA08-7F8F-E92C62BF2AB8}"/>
              </a:ext>
            </a:extLst>
          </p:cNvPr>
          <p:cNvCxnSpPr>
            <a:cxnSpLocks/>
            <a:stCxn id="25" idx="1"/>
            <a:endCxn id="30" idx="2"/>
          </p:cNvCxnSpPr>
          <p:nvPr/>
        </p:nvCxnSpPr>
        <p:spPr>
          <a:xfrm flipH="1" flipV="1">
            <a:off x="4529851" y="3626160"/>
            <a:ext cx="128375" cy="59344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3A90F540-14AD-2F8A-04FB-0AE00DD6F4A5}"/>
              </a:ext>
            </a:extLst>
          </p:cNvPr>
          <p:cNvSpPr txBox="1"/>
          <p:nvPr/>
        </p:nvSpPr>
        <p:spPr>
          <a:xfrm>
            <a:off x="2876353" y="3041385"/>
            <a:ext cx="713657" cy="584775"/>
          </a:xfrm>
          <a:prstGeom prst="rect">
            <a:avLst/>
          </a:prstGeom>
          <a:noFill/>
        </p:spPr>
        <p:txBody>
          <a:bodyPr wrap="none" rtlCol="0">
            <a:spAutoFit/>
          </a:bodyPr>
          <a:lstStyle/>
          <a:p>
            <a:r>
              <a:rPr lang="en-US" sz="3200" dirty="0"/>
              <a:t>OH</a:t>
            </a:r>
          </a:p>
        </p:txBody>
      </p:sp>
      <p:cxnSp>
        <p:nvCxnSpPr>
          <p:cNvPr id="59" name="Straight Connector 58">
            <a:extLst>
              <a:ext uri="{FF2B5EF4-FFF2-40B4-BE49-F238E27FC236}">
                <a16:creationId xmlns:a16="http://schemas.microsoft.com/office/drawing/2014/main" id="{2A17B156-2296-1143-92E4-D592255C8D82}"/>
              </a:ext>
            </a:extLst>
          </p:cNvPr>
          <p:cNvCxnSpPr>
            <a:cxnSpLocks/>
            <a:stCxn id="62" idx="0"/>
            <a:endCxn id="7" idx="2"/>
          </p:cNvCxnSpPr>
          <p:nvPr/>
        </p:nvCxnSpPr>
        <p:spPr>
          <a:xfrm flipV="1">
            <a:off x="5237303" y="5620404"/>
            <a:ext cx="53790" cy="64300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234F114-7156-9F65-DB16-979F079515DA}"/>
              </a:ext>
            </a:extLst>
          </p:cNvPr>
          <p:cNvSpPr txBox="1"/>
          <p:nvPr/>
        </p:nvSpPr>
        <p:spPr>
          <a:xfrm>
            <a:off x="4880474" y="6263411"/>
            <a:ext cx="713657" cy="584775"/>
          </a:xfrm>
          <a:prstGeom prst="rect">
            <a:avLst/>
          </a:prstGeom>
          <a:noFill/>
        </p:spPr>
        <p:txBody>
          <a:bodyPr wrap="none" rtlCol="0">
            <a:spAutoFit/>
          </a:bodyPr>
          <a:lstStyle/>
          <a:p>
            <a:r>
              <a:rPr lang="en-US" sz="3200" dirty="0"/>
              <a:t>OH</a:t>
            </a:r>
          </a:p>
        </p:txBody>
      </p:sp>
      <p:cxnSp>
        <p:nvCxnSpPr>
          <p:cNvPr id="64" name="Straight Connector 63">
            <a:extLst>
              <a:ext uri="{FF2B5EF4-FFF2-40B4-BE49-F238E27FC236}">
                <a16:creationId xmlns:a16="http://schemas.microsoft.com/office/drawing/2014/main" id="{6AEC3C19-432D-CF18-1CA7-13247F8E066F}"/>
              </a:ext>
            </a:extLst>
          </p:cNvPr>
          <p:cNvCxnSpPr>
            <a:cxnSpLocks/>
            <a:stCxn id="28" idx="3"/>
            <a:endCxn id="67" idx="1"/>
          </p:cNvCxnSpPr>
          <p:nvPr/>
        </p:nvCxnSpPr>
        <p:spPr>
          <a:xfrm flipV="1">
            <a:off x="7437048" y="4185781"/>
            <a:ext cx="393642" cy="183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121DD6E6-F655-B564-2EA6-83A47B89C57A}"/>
              </a:ext>
            </a:extLst>
          </p:cNvPr>
          <p:cNvSpPr txBox="1"/>
          <p:nvPr/>
        </p:nvSpPr>
        <p:spPr>
          <a:xfrm>
            <a:off x="7830690" y="3893393"/>
            <a:ext cx="713657" cy="584775"/>
          </a:xfrm>
          <a:prstGeom prst="rect">
            <a:avLst/>
          </a:prstGeom>
          <a:noFill/>
        </p:spPr>
        <p:txBody>
          <a:bodyPr wrap="none" rtlCol="0">
            <a:spAutoFit/>
          </a:bodyPr>
          <a:lstStyle/>
          <a:p>
            <a:r>
              <a:rPr lang="en-US" sz="3200" dirty="0"/>
              <a:t>OH</a:t>
            </a:r>
          </a:p>
        </p:txBody>
      </p:sp>
      <p:sp>
        <p:nvSpPr>
          <p:cNvPr id="69" name="TextBox 68">
            <a:extLst>
              <a:ext uri="{FF2B5EF4-FFF2-40B4-BE49-F238E27FC236}">
                <a16:creationId xmlns:a16="http://schemas.microsoft.com/office/drawing/2014/main" id="{B7CBF5B7-133E-A6D2-8FA8-32BE49BEC0C5}"/>
              </a:ext>
            </a:extLst>
          </p:cNvPr>
          <p:cNvSpPr txBox="1"/>
          <p:nvPr/>
        </p:nvSpPr>
        <p:spPr>
          <a:xfrm>
            <a:off x="241791" y="4376793"/>
            <a:ext cx="1952586" cy="584775"/>
          </a:xfrm>
          <a:prstGeom prst="rect">
            <a:avLst/>
          </a:prstGeom>
          <a:noFill/>
        </p:spPr>
        <p:txBody>
          <a:bodyPr wrap="none" rtlCol="0">
            <a:spAutoFit/>
          </a:bodyPr>
          <a:lstStyle/>
          <a:p>
            <a:r>
              <a:rPr lang="en-US" sz="3200" dirty="0"/>
              <a:t>Phosphate</a:t>
            </a:r>
          </a:p>
        </p:txBody>
      </p:sp>
      <p:sp>
        <p:nvSpPr>
          <p:cNvPr id="70" name="TextBox 69">
            <a:extLst>
              <a:ext uri="{FF2B5EF4-FFF2-40B4-BE49-F238E27FC236}">
                <a16:creationId xmlns:a16="http://schemas.microsoft.com/office/drawing/2014/main" id="{275AE612-EEA5-38FC-1BBE-B27DAAC68496}"/>
              </a:ext>
            </a:extLst>
          </p:cNvPr>
          <p:cNvSpPr txBox="1"/>
          <p:nvPr/>
        </p:nvSpPr>
        <p:spPr>
          <a:xfrm>
            <a:off x="4808428" y="2306083"/>
            <a:ext cx="2327881" cy="584775"/>
          </a:xfrm>
          <a:prstGeom prst="rect">
            <a:avLst/>
          </a:prstGeom>
          <a:noFill/>
        </p:spPr>
        <p:txBody>
          <a:bodyPr wrap="none" rtlCol="0">
            <a:spAutoFit/>
          </a:bodyPr>
          <a:lstStyle/>
          <a:p>
            <a:r>
              <a:rPr lang="en-US" sz="3200" dirty="0" err="1"/>
              <a:t>DeoxyRibose</a:t>
            </a:r>
            <a:endParaRPr lang="en-US" sz="3200" dirty="0"/>
          </a:p>
        </p:txBody>
      </p:sp>
      <p:sp>
        <p:nvSpPr>
          <p:cNvPr id="71" name="TextBox 70">
            <a:extLst>
              <a:ext uri="{FF2B5EF4-FFF2-40B4-BE49-F238E27FC236}">
                <a16:creationId xmlns:a16="http://schemas.microsoft.com/office/drawing/2014/main" id="{11D07C11-D7AC-511F-790A-12C4E152D50D}"/>
              </a:ext>
            </a:extLst>
          </p:cNvPr>
          <p:cNvSpPr txBox="1"/>
          <p:nvPr/>
        </p:nvSpPr>
        <p:spPr>
          <a:xfrm>
            <a:off x="9913625" y="4711406"/>
            <a:ext cx="1548822" cy="584775"/>
          </a:xfrm>
          <a:prstGeom prst="rect">
            <a:avLst/>
          </a:prstGeom>
          <a:noFill/>
        </p:spPr>
        <p:txBody>
          <a:bodyPr wrap="none" rtlCol="0">
            <a:spAutoFit/>
          </a:bodyPr>
          <a:lstStyle/>
          <a:p>
            <a:r>
              <a:rPr lang="en-US" sz="3200" dirty="0"/>
              <a:t>Base (A)</a:t>
            </a:r>
          </a:p>
        </p:txBody>
      </p:sp>
      <p:pic>
        <p:nvPicPr>
          <p:cNvPr id="77" name="Picture 76">
            <a:extLst>
              <a:ext uri="{FF2B5EF4-FFF2-40B4-BE49-F238E27FC236}">
                <a16:creationId xmlns:a16="http://schemas.microsoft.com/office/drawing/2014/main" id="{4FF48EEA-4CB3-9AB8-230B-C4C7D7384701}"/>
              </a:ext>
            </a:extLst>
          </p:cNvPr>
          <p:cNvPicPr>
            <a:picLocks noChangeAspect="1"/>
          </p:cNvPicPr>
          <p:nvPr/>
        </p:nvPicPr>
        <p:blipFill>
          <a:blip r:embed="rId2"/>
          <a:stretch>
            <a:fillRect/>
          </a:stretch>
        </p:blipFill>
        <p:spPr>
          <a:xfrm>
            <a:off x="8516955" y="1259047"/>
            <a:ext cx="3662572" cy="3252942"/>
          </a:xfrm>
          <a:prstGeom prst="rect">
            <a:avLst/>
          </a:prstGeom>
        </p:spPr>
      </p:pic>
    </p:spTree>
    <p:extLst>
      <p:ext uri="{BB962C8B-B14F-4D97-AF65-F5344CB8AC3E}">
        <p14:creationId xmlns:p14="http://schemas.microsoft.com/office/powerpoint/2010/main" val="2875518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5F614-6308-6C13-EA9C-3E687AE8AB03}"/>
              </a:ext>
            </a:extLst>
          </p:cNvPr>
          <p:cNvSpPr>
            <a:spLocks noGrp="1"/>
          </p:cNvSpPr>
          <p:nvPr>
            <p:ph type="title"/>
          </p:nvPr>
        </p:nvSpPr>
        <p:spPr/>
        <p:txBody>
          <a:bodyPr>
            <a:normAutofit fontScale="90000"/>
          </a:bodyPr>
          <a:lstStyle/>
          <a:p>
            <a:r>
              <a:rPr lang="en-US" dirty="0"/>
              <a:t>DNA replication</a:t>
            </a:r>
          </a:p>
        </p:txBody>
      </p:sp>
      <p:sp>
        <p:nvSpPr>
          <p:cNvPr id="3" name="Content Placeholder 2">
            <a:extLst>
              <a:ext uri="{FF2B5EF4-FFF2-40B4-BE49-F238E27FC236}">
                <a16:creationId xmlns:a16="http://schemas.microsoft.com/office/drawing/2014/main" id="{94C724C3-B19F-1F54-032D-50FF66A05088}"/>
              </a:ext>
            </a:extLst>
          </p:cNvPr>
          <p:cNvSpPr>
            <a:spLocks noGrp="1"/>
          </p:cNvSpPr>
          <p:nvPr>
            <p:ph idx="1"/>
          </p:nvPr>
        </p:nvSpPr>
        <p:spPr>
          <a:xfrm>
            <a:off x="598619" y="1596540"/>
            <a:ext cx="3206805" cy="4759811"/>
          </a:xfrm>
        </p:spPr>
        <p:txBody>
          <a:bodyPr/>
          <a:lstStyle/>
          <a:p>
            <a:r>
              <a:rPr lang="en-US" dirty="0"/>
              <a:t>DNA polymerase </a:t>
            </a:r>
            <a:r>
              <a:rPr lang="en-US" i="1" dirty="0"/>
              <a:t>reads</a:t>
            </a:r>
            <a:r>
              <a:rPr lang="en-US" dirty="0"/>
              <a:t> from 3’ end to 5’ end and </a:t>
            </a:r>
            <a:r>
              <a:rPr lang="en-US" i="1" dirty="0"/>
              <a:t>synthesizes (writes)</a:t>
            </a:r>
            <a:r>
              <a:rPr lang="en-US" dirty="0"/>
              <a:t> from 5’ to 3’ direction (Image by </a:t>
            </a:r>
            <a:r>
              <a:rPr lang="en-US" dirty="0" err="1"/>
              <a:t>GiGa</a:t>
            </a:r>
            <a:r>
              <a:rPr lang="en-US" dirty="0"/>
              <a:t> Group)</a:t>
            </a:r>
          </a:p>
          <a:p>
            <a:pPr marL="0" indent="0">
              <a:buNone/>
            </a:pPr>
            <a:endParaRPr lang="en-US" dirty="0"/>
          </a:p>
        </p:txBody>
      </p:sp>
      <p:sp>
        <p:nvSpPr>
          <p:cNvPr id="4" name="Slide Number Placeholder 3">
            <a:extLst>
              <a:ext uri="{FF2B5EF4-FFF2-40B4-BE49-F238E27FC236}">
                <a16:creationId xmlns:a16="http://schemas.microsoft.com/office/drawing/2014/main" id="{F0E7F10A-D31F-6442-99C8-11BDCDB32233}"/>
              </a:ext>
            </a:extLst>
          </p:cNvPr>
          <p:cNvSpPr>
            <a:spLocks noGrp="1"/>
          </p:cNvSpPr>
          <p:nvPr>
            <p:ph type="sldNum" sz="quarter" idx="12"/>
          </p:nvPr>
        </p:nvSpPr>
        <p:spPr/>
        <p:txBody>
          <a:bodyPr/>
          <a:lstStyle/>
          <a:p>
            <a:fld id="{B82CCC60-E8CD-4174-8B1A-7DF615B22EEF}" type="slidenum">
              <a:rPr lang="en-US" smtClean="0"/>
              <a:pPr/>
              <a:t>11</a:t>
            </a:fld>
            <a:endParaRPr lang="en-US"/>
          </a:p>
        </p:txBody>
      </p:sp>
      <p:pic>
        <p:nvPicPr>
          <p:cNvPr id="1026" name="Picture 2" descr="19.5 dna">
            <a:extLst>
              <a:ext uri="{FF2B5EF4-FFF2-40B4-BE49-F238E27FC236}">
                <a16:creationId xmlns:a16="http://schemas.microsoft.com/office/drawing/2014/main" id="{5BA0E88B-C6CD-A09C-CC68-6A564A7360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4196" y="1749245"/>
            <a:ext cx="8267804" cy="4650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1376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574C4-7DD6-5A34-A859-ED0055D95742}"/>
              </a:ext>
            </a:extLst>
          </p:cNvPr>
          <p:cNvSpPr>
            <a:spLocks noGrp="1"/>
          </p:cNvSpPr>
          <p:nvPr>
            <p:ph type="title"/>
          </p:nvPr>
        </p:nvSpPr>
        <p:spPr/>
        <p:txBody>
          <a:bodyPr>
            <a:normAutofit fontScale="90000"/>
          </a:bodyPr>
          <a:lstStyle/>
          <a:p>
            <a:r>
              <a:rPr lang="en-US" dirty="0"/>
              <a:t>Complementary strands</a:t>
            </a:r>
          </a:p>
        </p:txBody>
      </p:sp>
      <p:sp>
        <p:nvSpPr>
          <p:cNvPr id="4" name="Slide Number Placeholder 3">
            <a:extLst>
              <a:ext uri="{FF2B5EF4-FFF2-40B4-BE49-F238E27FC236}">
                <a16:creationId xmlns:a16="http://schemas.microsoft.com/office/drawing/2014/main" id="{0A5568FD-E57D-04EE-288C-EAA7C5BF854C}"/>
              </a:ext>
            </a:extLst>
          </p:cNvPr>
          <p:cNvSpPr>
            <a:spLocks noGrp="1"/>
          </p:cNvSpPr>
          <p:nvPr>
            <p:ph type="sldNum" sz="quarter" idx="12"/>
          </p:nvPr>
        </p:nvSpPr>
        <p:spPr/>
        <p:txBody>
          <a:bodyPr/>
          <a:lstStyle/>
          <a:p>
            <a:fld id="{B82CCC60-E8CD-4174-8B1A-7DF615B22EEF}" type="slidenum">
              <a:rPr lang="en-US" smtClean="0"/>
              <a:pPr/>
              <a:t>12</a:t>
            </a:fld>
            <a:endParaRPr lang="en-US"/>
          </a:p>
        </p:txBody>
      </p:sp>
      <p:sp>
        <p:nvSpPr>
          <p:cNvPr id="5" name="Content Placeholder 2">
            <a:extLst>
              <a:ext uri="{FF2B5EF4-FFF2-40B4-BE49-F238E27FC236}">
                <a16:creationId xmlns:a16="http://schemas.microsoft.com/office/drawing/2014/main" id="{FF835359-E2B4-5BD5-2211-88107A82F441}"/>
              </a:ext>
            </a:extLst>
          </p:cNvPr>
          <p:cNvSpPr>
            <a:spLocks noGrp="1"/>
          </p:cNvSpPr>
          <p:nvPr>
            <p:ph idx="1"/>
          </p:nvPr>
        </p:nvSpPr>
        <p:spPr>
          <a:xfrm>
            <a:off x="598620" y="1596539"/>
            <a:ext cx="10972800" cy="5039265"/>
          </a:xfrm>
        </p:spPr>
        <p:txBody>
          <a:bodyPr>
            <a:normAutofit lnSpcReduction="10000"/>
          </a:bodyPr>
          <a:lstStyle/>
          <a:p>
            <a:r>
              <a:rPr lang="en-US" dirty="0"/>
              <a:t>DNA is double-stranded :</a:t>
            </a:r>
            <a:br>
              <a:rPr lang="en-US" dirty="0"/>
            </a:br>
            <a:br>
              <a:rPr lang="en-US" dirty="0"/>
            </a:br>
            <a:r>
              <a:rPr lang="en-US" dirty="0"/>
              <a:t>5’ forward strand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These two sequences are the SAME:</a:t>
            </a:r>
            <a:br>
              <a:rPr lang="en-US" dirty="0">
                <a:cs typeface="Courier New" panose="02070309020205020404" pitchFamily="49" charset="0"/>
              </a:rPr>
            </a:b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endParaRPr lang="en-US" dirty="0">
              <a:cs typeface="Courier New" panose="02070309020205020404" pitchFamily="49" charset="0"/>
            </a:endParaRPr>
          </a:p>
          <a:p>
            <a:endParaRPr lang="en-US" dirty="0"/>
          </a:p>
          <a:p>
            <a:pPr marL="457200" lvl="1" indent="0">
              <a:buNone/>
            </a:pPr>
            <a:endParaRPr lang="en-US" dirty="0"/>
          </a:p>
        </p:txBody>
      </p:sp>
    </p:spTree>
    <p:extLst>
      <p:ext uri="{BB962C8B-B14F-4D97-AF65-F5344CB8AC3E}">
        <p14:creationId xmlns:p14="http://schemas.microsoft.com/office/powerpoint/2010/main" val="28624153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B21A3-1BC8-67B7-DB8C-2BC4AD75CF5E}"/>
              </a:ext>
            </a:extLst>
          </p:cNvPr>
          <p:cNvSpPr>
            <a:spLocks noGrp="1"/>
          </p:cNvSpPr>
          <p:nvPr>
            <p:ph type="title"/>
          </p:nvPr>
        </p:nvSpPr>
        <p:spPr/>
        <p:txBody>
          <a:bodyPr>
            <a:normAutofit fontScale="90000"/>
          </a:bodyPr>
          <a:lstStyle/>
          <a:p>
            <a:r>
              <a:rPr lang="en-US" dirty="0"/>
              <a:t>DNA extraction</a:t>
            </a:r>
          </a:p>
        </p:txBody>
      </p:sp>
      <p:sp>
        <p:nvSpPr>
          <p:cNvPr id="3" name="Content Placeholder 2">
            <a:extLst>
              <a:ext uri="{FF2B5EF4-FFF2-40B4-BE49-F238E27FC236}">
                <a16:creationId xmlns:a16="http://schemas.microsoft.com/office/drawing/2014/main" id="{FF89A956-F629-D11F-8BD1-182BB9B01025}"/>
              </a:ext>
            </a:extLst>
          </p:cNvPr>
          <p:cNvSpPr>
            <a:spLocks noGrp="1"/>
          </p:cNvSpPr>
          <p:nvPr>
            <p:ph idx="1"/>
          </p:nvPr>
        </p:nvSpPr>
        <p:spPr>
          <a:xfrm>
            <a:off x="598620" y="1751768"/>
            <a:ext cx="10972800" cy="4759811"/>
          </a:xfrm>
        </p:spPr>
        <p:txBody>
          <a:bodyPr>
            <a:normAutofit fontScale="92500"/>
          </a:bodyPr>
          <a:lstStyle/>
          <a:p>
            <a:r>
              <a:rPr lang="en-US" b="1" dirty="0"/>
              <a:t>Lysis</a:t>
            </a:r>
            <a:r>
              <a:rPr lang="en-US" dirty="0"/>
              <a:t>: This step breaks open cells to release DNA into solution. Lysis can be achieved through physical, chemical, or enzymatic methods. </a:t>
            </a:r>
          </a:p>
          <a:p>
            <a:r>
              <a:rPr lang="en-US" b="1" dirty="0"/>
              <a:t>Separation</a:t>
            </a:r>
            <a:r>
              <a:rPr lang="en-US" dirty="0"/>
              <a:t>: After lysis, the DNA needs to be separated from cellular debris, proteins, and other macromolecules. This can be done through methods like salting out, precipitation with alcohol, or magnetic bead separation. </a:t>
            </a:r>
          </a:p>
          <a:p>
            <a:r>
              <a:rPr lang="en-US" b="1" dirty="0"/>
              <a:t>Purification</a:t>
            </a:r>
            <a:r>
              <a:rPr lang="en-US" dirty="0"/>
              <a:t>: Once separated, the DNA is further purified to remove any remaining contaminants. This can involve techniques like silica-based column purification, or washing the DNA pellet with ethanol. </a:t>
            </a:r>
          </a:p>
          <a:p>
            <a:r>
              <a:rPr lang="en-US" b="1" dirty="0"/>
              <a:t>Concentration</a:t>
            </a:r>
            <a:r>
              <a:rPr lang="en-US" dirty="0"/>
              <a:t>: Finally, the DNA is concentrated by removing the remaining liquid through methods like vacuum centrifugation or lyophilization. </a:t>
            </a:r>
          </a:p>
        </p:txBody>
      </p:sp>
      <p:sp>
        <p:nvSpPr>
          <p:cNvPr id="4" name="Slide Number Placeholder 3">
            <a:extLst>
              <a:ext uri="{FF2B5EF4-FFF2-40B4-BE49-F238E27FC236}">
                <a16:creationId xmlns:a16="http://schemas.microsoft.com/office/drawing/2014/main" id="{A6B7D082-B5DB-4686-F40B-B6F8D75A5FD9}"/>
              </a:ext>
            </a:extLst>
          </p:cNvPr>
          <p:cNvSpPr>
            <a:spLocks noGrp="1"/>
          </p:cNvSpPr>
          <p:nvPr>
            <p:ph type="sldNum" sz="quarter" idx="12"/>
          </p:nvPr>
        </p:nvSpPr>
        <p:spPr/>
        <p:txBody>
          <a:bodyPr/>
          <a:lstStyle/>
          <a:p>
            <a:fld id="{B82CCC60-E8CD-4174-8B1A-7DF615B22EEF}" type="slidenum">
              <a:rPr lang="en-US" smtClean="0"/>
              <a:pPr/>
              <a:t>13</a:t>
            </a:fld>
            <a:endParaRPr lang="en-US"/>
          </a:p>
        </p:txBody>
      </p:sp>
    </p:spTree>
    <p:extLst>
      <p:ext uri="{BB962C8B-B14F-4D97-AF65-F5344CB8AC3E}">
        <p14:creationId xmlns:p14="http://schemas.microsoft.com/office/powerpoint/2010/main" val="1996286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E35A-D17C-69A1-01AE-FCFEE7AC2E5F}"/>
              </a:ext>
            </a:extLst>
          </p:cNvPr>
          <p:cNvSpPr>
            <a:spLocks noGrp="1"/>
          </p:cNvSpPr>
          <p:nvPr>
            <p:ph type="title"/>
          </p:nvPr>
        </p:nvSpPr>
        <p:spPr/>
        <p:txBody>
          <a:bodyPr>
            <a:normAutofit fontScale="90000"/>
          </a:bodyPr>
          <a:lstStyle/>
          <a:p>
            <a:r>
              <a:rPr lang="en-US" dirty="0"/>
              <a:t>DNA Extraction -Video</a:t>
            </a:r>
          </a:p>
        </p:txBody>
      </p:sp>
      <p:sp>
        <p:nvSpPr>
          <p:cNvPr id="3" name="Content Placeholder 2">
            <a:extLst>
              <a:ext uri="{FF2B5EF4-FFF2-40B4-BE49-F238E27FC236}">
                <a16:creationId xmlns:a16="http://schemas.microsoft.com/office/drawing/2014/main" id="{5CB7C53A-F054-8B3F-FCB6-C6E20F3E77AF}"/>
              </a:ext>
            </a:extLst>
          </p:cNvPr>
          <p:cNvSpPr>
            <a:spLocks noGrp="1"/>
          </p:cNvSpPr>
          <p:nvPr>
            <p:ph idx="1"/>
          </p:nvPr>
        </p:nvSpPr>
        <p:spPr/>
        <p:txBody>
          <a:bodyPr/>
          <a:lstStyle/>
          <a:p>
            <a:r>
              <a:rPr lang="en-US" dirty="0"/>
              <a:t>Video demonstration of strawberry DNA extraction</a:t>
            </a:r>
          </a:p>
          <a:p>
            <a:pPr marL="0" indent="0">
              <a:buNone/>
            </a:pPr>
            <a:r>
              <a:rPr lang="en-US" dirty="0">
                <a:hlinkClick r:id="rId2"/>
              </a:rPr>
              <a:t>DIY DNA Extraction!</a:t>
            </a:r>
            <a:endParaRPr lang="en-US" dirty="0"/>
          </a:p>
        </p:txBody>
      </p:sp>
      <p:sp>
        <p:nvSpPr>
          <p:cNvPr id="4" name="Slide Number Placeholder 3">
            <a:extLst>
              <a:ext uri="{FF2B5EF4-FFF2-40B4-BE49-F238E27FC236}">
                <a16:creationId xmlns:a16="http://schemas.microsoft.com/office/drawing/2014/main" id="{8A8D1086-E605-7728-9909-A21327285BE4}"/>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2924610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67CB-C05F-34BD-1924-F750701680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0EAE76-699A-42C5-B6FC-DECACAB4C8AD}"/>
              </a:ext>
            </a:extLst>
          </p:cNvPr>
          <p:cNvSpPr>
            <a:spLocks noGrp="1"/>
          </p:cNvSpPr>
          <p:nvPr>
            <p:ph type="title"/>
          </p:nvPr>
        </p:nvSpPr>
        <p:spPr/>
        <p:txBody>
          <a:bodyPr>
            <a:normAutofit fontScale="90000"/>
          </a:bodyPr>
          <a:lstStyle/>
          <a:p>
            <a:r>
              <a:rPr lang="en-US" dirty="0"/>
              <a:t>Library preparation</a:t>
            </a:r>
          </a:p>
        </p:txBody>
      </p:sp>
      <p:sp>
        <p:nvSpPr>
          <p:cNvPr id="3" name="Content Placeholder 2">
            <a:extLst>
              <a:ext uri="{FF2B5EF4-FFF2-40B4-BE49-F238E27FC236}">
                <a16:creationId xmlns:a16="http://schemas.microsoft.com/office/drawing/2014/main" id="{051992AE-4E7C-BD46-2F26-D657FDD9C21B}"/>
              </a:ext>
            </a:extLst>
          </p:cNvPr>
          <p:cNvSpPr>
            <a:spLocks noGrp="1"/>
          </p:cNvSpPr>
          <p:nvPr>
            <p:ph idx="1"/>
          </p:nvPr>
        </p:nvSpPr>
        <p:spPr>
          <a:xfrm>
            <a:off x="598620" y="1751768"/>
            <a:ext cx="10972800" cy="4759811"/>
          </a:xfrm>
        </p:spPr>
        <p:txBody>
          <a:bodyPr>
            <a:normAutofit/>
          </a:bodyPr>
          <a:lstStyle/>
          <a:p>
            <a:r>
              <a:rPr lang="en-US" b="1" dirty="0"/>
              <a:t>Fragmentation: </a:t>
            </a:r>
            <a:r>
              <a:rPr lang="en-US" dirty="0"/>
              <a:t>DNA is fragmented by mechanical or chemical (restriction enzyme) means</a:t>
            </a:r>
          </a:p>
          <a:p>
            <a:r>
              <a:rPr lang="en-US" b="1" dirty="0"/>
              <a:t>DNA end repair: </a:t>
            </a:r>
            <a:r>
              <a:rPr lang="en-US" dirty="0"/>
              <a:t>ends are repaired by incorporating missing nucleotides</a:t>
            </a:r>
            <a:br>
              <a:rPr lang="en-US" b="1" dirty="0"/>
            </a:br>
            <a:r>
              <a:rPr lang="en-US" b="1" dirty="0">
                <a:latin typeface="Courier New" panose="02070309020205020404" pitchFamily="49" charset="0"/>
                <a:cs typeface="Courier New" panose="02070309020205020404" pitchFamily="49" charset="0"/>
              </a:rPr>
              <a:t>AGATAGACATAGACATAGACAGATAC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TGTATCTGTATCTGTCTATGTGAGCTAGC</a:t>
            </a:r>
            <a:endParaRPr lang="en-US" b="1" dirty="0"/>
          </a:p>
          <a:p>
            <a:r>
              <a:rPr lang="en-US" b="1" dirty="0"/>
              <a:t>Size selection: </a:t>
            </a:r>
            <a:r>
              <a:rPr lang="en-US" dirty="0"/>
              <a:t>fragments of target size are pulled out:</a:t>
            </a:r>
          </a:p>
          <a:p>
            <a:pPr lvl="1"/>
            <a:r>
              <a:rPr lang="en-US" dirty="0"/>
              <a:t>Gel electrophoresis</a:t>
            </a:r>
          </a:p>
          <a:p>
            <a:pPr lvl="1"/>
            <a:r>
              <a:rPr lang="en-US" dirty="0"/>
              <a:t>Magnetic beads </a:t>
            </a:r>
          </a:p>
        </p:txBody>
      </p:sp>
      <p:sp>
        <p:nvSpPr>
          <p:cNvPr id="4" name="Slide Number Placeholder 3">
            <a:extLst>
              <a:ext uri="{FF2B5EF4-FFF2-40B4-BE49-F238E27FC236}">
                <a16:creationId xmlns:a16="http://schemas.microsoft.com/office/drawing/2014/main" id="{525B17CA-5548-4C86-02A7-3B99ADEF710F}"/>
              </a:ext>
            </a:extLst>
          </p:cNvPr>
          <p:cNvSpPr>
            <a:spLocks noGrp="1"/>
          </p:cNvSpPr>
          <p:nvPr>
            <p:ph type="sldNum" sz="quarter" idx="12"/>
          </p:nvPr>
        </p:nvSpPr>
        <p:spPr/>
        <p:txBody>
          <a:bodyPr/>
          <a:lstStyle/>
          <a:p>
            <a:fld id="{B82CCC60-E8CD-4174-8B1A-7DF615B22EEF}" type="slidenum">
              <a:rPr lang="en-US" smtClean="0"/>
              <a:pPr/>
              <a:t>15</a:t>
            </a:fld>
            <a:endParaRPr lang="en-US"/>
          </a:p>
        </p:txBody>
      </p:sp>
    </p:spTree>
    <p:extLst>
      <p:ext uri="{BB962C8B-B14F-4D97-AF65-F5344CB8AC3E}">
        <p14:creationId xmlns:p14="http://schemas.microsoft.com/office/powerpoint/2010/main" val="8817169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09785-87F3-6C18-F945-35B51DCDC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F6B432-A7E2-BCC1-A66C-B741BFA43983}"/>
              </a:ext>
            </a:extLst>
          </p:cNvPr>
          <p:cNvSpPr>
            <a:spLocks noGrp="1"/>
          </p:cNvSpPr>
          <p:nvPr>
            <p:ph type="title"/>
          </p:nvPr>
        </p:nvSpPr>
        <p:spPr/>
        <p:txBody>
          <a:bodyPr>
            <a:normAutofit fontScale="90000"/>
          </a:bodyPr>
          <a:lstStyle/>
          <a:p>
            <a:r>
              <a:rPr lang="en-US" dirty="0"/>
              <a:t>DNA sequencing overview</a:t>
            </a:r>
          </a:p>
        </p:txBody>
      </p:sp>
      <p:grpSp>
        <p:nvGrpSpPr>
          <p:cNvPr id="6" name="Group 5">
            <a:extLst>
              <a:ext uri="{FF2B5EF4-FFF2-40B4-BE49-F238E27FC236}">
                <a16:creationId xmlns:a16="http://schemas.microsoft.com/office/drawing/2014/main" id="{8AB3F883-101D-8CD5-1046-1FC949C783EE}"/>
              </a:ext>
            </a:extLst>
          </p:cNvPr>
          <p:cNvGrpSpPr/>
          <p:nvPr/>
        </p:nvGrpSpPr>
        <p:grpSpPr>
          <a:xfrm>
            <a:off x="1133938" y="2875148"/>
            <a:ext cx="2006573" cy="1905000"/>
            <a:chOff x="685800" y="2819400"/>
            <a:chExt cx="3036888" cy="3279775"/>
          </a:xfrm>
        </p:grpSpPr>
        <p:sp>
          <p:nvSpPr>
            <p:cNvPr id="7" name="Freeform 3">
              <a:extLst>
                <a:ext uri="{FF2B5EF4-FFF2-40B4-BE49-F238E27FC236}">
                  <a16:creationId xmlns:a16="http://schemas.microsoft.com/office/drawing/2014/main" id="{5BC98269-1E9A-2EB9-0F02-EF75B2E7765D}"/>
                </a:ext>
              </a:extLst>
            </p:cNvPr>
            <p:cNvSpPr>
              <a:spLocks/>
            </p:cNvSpPr>
            <p:nvPr/>
          </p:nvSpPr>
          <p:spPr bwMode="auto">
            <a:xfrm>
              <a:off x="1752600" y="2819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Freeform 4">
              <a:extLst>
                <a:ext uri="{FF2B5EF4-FFF2-40B4-BE49-F238E27FC236}">
                  <a16:creationId xmlns:a16="http://schemas.microsoft.com/office/drawing/2014/main" id="{6D33910A-A4DA-4A31-266C-D739F0A21D6C}"/>
                </a:ext>
              </a:extLst>
            </p:cNvPr>
            <p:cNvSpPr>
              <a:spLocks/>
            </p:cNvSpPr>
            <p:nvPr/>
          </p:nvSpPr>
          <p:spPr bwMode="auto">
            <a:xfrm>
              <a:off x="685800" y="41148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Freeform 5">
              <a:extLst>
                <a:ext uri="{FF2B5EF4-FFF2-40B4-BE49-F238E27FC236}">
                  <a16:creationId xmlns:a16="http://schemas.microsoft.com/office/drawing/2014/main" id="{CCB2377D-6E85-0D16-1839-9D630633A236}"/>
                </a:ext>
              </a:extLst>
            </p:cNvPr>
            <p:cNvSpPr>
              <a:spLocks/>
            </p:cNvSpPr>
            <p:nvPr/>
          </p:nvSpPr>
          <p:spPr bwMode="auto">
            <a:xfrm>
              <a:off x="2209800" y="4343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0" name="Text Box 6">
            <a:extLst>
              <a:ext uri="{FF2B5EF4-FFF2-40B4-BE49-F238E27FC236}">
                <a16:creationId xmlns:a16="http://schemas.microsoft.com/office/drawing/2014/main" id="{D1096B80-0A3A-4185-81D5-FF456D023868}"/>
              </a:ext>
            </a:extLst>
          </p:cNvPr>
          <p:cNvSpPr txBox="1">
            <a:spLocks noChangeArrowheads="1"/>
          </p:cNvSpPr>
          <p:nvPr/>
        </p:nvSpPr>
        <p:spPr bwMode="auto">
          <a:xfrm>
            <a:off x="847180" y="2407727"/>
            <a:ext cx="2698865" cy="727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latin typeface="+mn-lt"/>
              </a:rPr>
              <a:t>Multiple copies of DNA</a:t>
            </a:r>
            <a:endParaRPr lang="ru-RU" sz="2000" dirty="0">
              <a:latin typeface="+mn-lt"/>
            </a:endParaRPr>
          </a:p>
        </p:txBody>
      </p:sp>
      <p:sp>
        <p:nvSpPr>
          <p:cNvPr id="12" name="Text Box 6">
            <a:extLst>
              <a:ext uri="{FF2B5EF4-FFF2-40B4-BE49-F238E27FC236}">
                <a16:creationId xmlns:a16="http://schemas.microsoft.com/office/drawing/2014/main" id="{DFCE6A17-E816-853B-5BA2-F87366A85003}"/>
              </a:ext>
            </a:extLst>
          </p:cNvPr>
          <p:cNvSpPr txBox="1">
            <a:spLocks noChangeArrowheads="1"/>
          </p:cNvSpPr>
          <p:nvPr/>
        </p:nvSpPr>
        <p:spPr bwMode="auto">
          <a:xfrm>
            <a:off x="3556984" y="2804469"/>
            <a:ext cx="101677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Extract, Shred &amp;</a:t>
            </a:r>
          </a:p>
          <a:p>
            <a:pPr eaLnBrk="1" hangingPunct="1"/>
            <a:r>
              <a:rPr lang="en-US" sz="2000" dirty="0">
                <a:solidFill>
                  <a:schemeClr val="accent2">
                    <a:lumMod val="75000"/>
                  </a:schemeClr>
                </a:solidFill>
                <a:latin typeface="+mn-lt"/>
              </a:rPr>
              <a:t>(Size select)</a:t>
            </a:r>
            <a:endParaRPr lang="ru-RU" sz="2000" dirty="0">
              <a:solidFill>
                <a:schemeClr val="accent2">
                  <a:lumMod val="75000"/>
                </a:schemeClr>
              </a:solidFill>
              <a:latin typeface="+mn-lt"/>
            </a:endParaRPr>
          </a:p>
        </p:txBody>
      </p:sp>
      <p:sp>
        <p:nvSpPr>
          <p:cNvPr id="13" name="Text Box 8">
            <a:extLst>
              <a:ext uri="{FF2B5EF4-FFF2-40B4-BE49-F238E27FC236}">
                <a16:creationId xmlns:a16="http://schemas.microsoft.com/office/drawing/2014/main" id="{992F1E14-1007-334B-7848-DEFB1A79531A}"/>
              </a:ext>
            </a:extLst>
          </p:cNvPr>
          <p:cNvSpPr txBox="1">
            <a:spLocks noChangeArrowheads="1"/>
          </p:cNvSpPr>
          <p:nvPr/>
        </p:nvSpPr>
        <p:spPr bwMode="auto">
          <a:xfrm>
            <a:off x="4563414" y="2414398"/>
            <a:ext cx="24384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b="1" dirty="0">
                <a:solidFill>
                  <a:schemeClr val="accent2"/>
                </a:solidFill>
                <a:latin typeface="+mn-lt"/>
              </a:rPr>
              <a:t>Fragments</a:t>
            </a:r>
            <a:r>
              <a:rPr lang="en-US" sz="2000" dirty="0">
                <a:latin typeface="+mn-lt"/>
              </a:rPr>
              <a:t> of </a:t>
            </a:r>
          </a:p>
          <a:p>
            <a:pPr eaLnBrk="1" hangingPunct="1"/>
            <a:r>
              <a:rPr lang="en-US" sz="2000" dirty="0">
                <a:latin typeface="+mn-lt"/>
              </a:rPr>
              <a:t>150 - </a:t>
            </a:r>
            <a:r>
              <a:rPr lang="en-US" sz="2000" dirty="0"/>
              <a:t>&gt;5</a:t>
            </a:r>
            <a:r>
              <a:rPr lang="en-US" sz="2000" dirty="0">
                <a:latin typeface="+mn-lt"/>
              </a:rPr>
              <a:t>00,000 bases</a:t>
            </a:r>
            <a:endParaRPr lang="ru-RU" sz="2000" dirty="0">
              <a:latin typeface="+mn-lt"/>
            </a:endParaRPr>
          </a:p>
        </p:txBody>
      </p:sp>
      <p:grpSp>
        <p:nvGrpSpPr>
          <p:cNvPr id="14" name="Group 13">
            <a:extLst>
              <a:ext uri="{FF2B5EF4-FFF2-40B4-BE49-F238E27FC236}">
                <a16:creationId xmlns:a16="http://schemas.microsoft.com/office/drawing/2014/main" id="{B5FCCB0F-130F-2AB7-5B40-4AAFE8780768}"/>
              </a:ext>
            </a:extLst>
          </p:cNvPr>
          <p:cNvGrpSpPr/>
          <p:nvPr/>
        </p:nvGrpSpPr>
        <p:grpSpPr>
          <a:xfrm>
            <a:off x="4637174" y="3273947"/>
            <a:ext cx="735231" cy="461666"/>
            <a:chOff x="4686299" y="2286725"/>
            <a:chExt cx="1828800" cy="1036733"/>
          </a:xfrm>
        </p:grpSpPr>
        <p:sp>
          <p:nvSpPr>
            <p:cNvPr id="15" name="Freeform 9">
              <a:extLst>
                <a:ext uri="{FF2B5EF4-FFF2-40B4-BE49-F238E27FC236}">
                  <a16:creationId xmlns:a16="http://schemas.microsoft.com/office/drawing/2014/main" id="{7BF6BBA7-FD48-C587-AAA9-47884DD2E9FC}"/>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Freeform 10">
              <a:extLst>
                <a:ext uri="{FF2B5EF4-FFF2-40B4-BE49-F238E27FC236}">
                  <a16:creationId xmlns:a16="http://schemas.microsoft.com/office/drawing/2014/main" id="{8CF0D3A9-0068-DE3B-9F12-8FE00128736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Freeform 11">
              <a:extLst>
                <a:ext uri="{FF2B5EF4-FFF2-40B4-BE49-F238E27FC236}">
                  <a16:creationId xmlns:a16="http://schemas.microsoft.com/office/drawing/2014/main" id="{86B18BCA-2ABA-80DB-0A28-97DFDE3A5860}"/>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Freeform 12">
              <a:extLst>
                <a:ext uri="{FF2B5EF4-FFF2-40B4-BE49-F238E27FC236}">
                  <a16:creationId xmlns:a16="http://schemas.microsoft.com/office/drawing/2014/main" id="{F034B5B4-BF8E-6ECD-7FAE-8E4789B95C73}"/>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Freeform 13">
              <a:extLst>
                <a:ext uri="{FF2B5EF4-FFF2-40B4-BE49-F238E27FC236}">
                  <a16:creationId xmlns:a16="http://schemas.microsoft.com/office/drawing/2014/main" id="{114F10FE-856F-C74D-9E01-EA812236A6D9}"/>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1" name="Text Box 6">
            <a:extLst>
              <a:ext uri="{FF2B5EF4-FFF2-40B4-BE49-F238E27FC236}">
                <a16:creationId xmlns:a16="http://schemas.microsoft.com/office/drawing/2014/main" id="{E3FB4FD6-87E9-A97B-6F8F-D1756FF88DBC}"/>
              </a:ext>
            </a:extLst>
          </p:cNvPr>
          <p:cNvSpPr txBox="1">
            <a:spLocks noChangeArrowheads="1"/>
          </p:cNvSpPr>
          <p:nvPr/>
        </p:nvSpPr>
        <p:spPr bwMode="auto">
          <a:xfrm>
            <a:off x="8273800" y="2408452"/>
            <a:ext cx="141385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Read the Sequences</a:t>
            </a:r>
            <a:endParaRPr lang="ru-RU" sz="2000" dirty="0">
              <a:solidFill>
                <a:schemeClr val="accent2">
                  <a:lumMod val="75000"/>
                </a:schemeClr>
              </a:solidFill>
              <a:latin typeface="+mn-lt"/>
            </a:endParaRPr>
          </a:p>
        </p:txBody>
      </p:sp>
      <p:pic>
        <p:nvPicPr>
          <p:cNvPr id="24" name="Picture 23">
            <a:extLst>
              <a:ext uri="{FF2B5EF4-FFF2-40B4-BE49-F238E27FC236}">
                <a16:creationId xmlns:a16="http://schemas.microsoft.com/office/drawing/2014/main" id="{39213E52-E817-0323-8E1B-04E5B3029882}"/>
              </a:ext>
            </a:extLst>
          </p:cNvPr>
          <p:cNvPicPr>
            <a:picLocks noChangeAspect="1"/>
          </p:cNvPicPr>
          <p:nvPr/>
        </p:nvPicPr>
        <p:blipFill>
          <a:blip r:embed="rId2"/>
          <a:stretch>
            <a:fillRect/>
          </a:stretch>
        </p:blipFill>
        <p:spPr>
          <a:xfrm>
            <a:off x="7317945" y="2971190"/>
            <a:ext cx="1793966" cy="1554023"/>
          </a:xfrm>
          <a:prstGeom prst="rect">
            <a:avLst/>
          </a:prstGeom>
        </p:spPr>
      </p:pic>
      <p:pic>
        <p:nvPicPr>
          <p:cNvPr id="25" name="Picture 24">
            <a:extLst>
              <a:ext uri="{FF2B5EF4-FFF2-40B4-BE49-F238E27FC236}">
                <a16:creationId xmlns:a16="http://schemas.microsoft.com/office/drawing/2014/main" id="{0EFF2065-B1C9-FB79-40A8-7B55EBF112BE}"/>
              </a:ext>
            </a:extLst>
          </p:cNvPr>
          <p:cNvPicPr>
            <a:picLocks noChangeAspect="1"/>
          </p:cNvPicPr>
          <p:nvPr/>
        </p:nvPicPr>
        <p:blipFill>
          <a:blip r:embed="rId3"/>
          <a:stretch>
            <a:fillRect/>
          </a:stretch>
        </p:blipFill>
        <p:spPr>
          <a:xfrm>
            <a:off x="9222046" y="3071223"/>
            <a:ext cx="1000336" cy="1485647"/>
          </a:xfrm>
          <a:prstGeom prst="rect">
            <a:avLst/>
          </a:prstGeom>
        </p:spPr>
      </p:pic>
      <p:pic>
        <p:nvPicPr>
          <p:cNvPr id="26" name="Picture 25">
            <a:extLst>
              <a:ext uri="{FF2B5EF4-FFF2-40B4-BE49-F238E27FC236}">
                <a16:creationId xmlns:a16="http://schemas.microsoft.com/office/drawing/2014/main" id="{D9AC5FC2-FD16-4BD3-5791-051765E575F7}"/>
              </a:ext>
            </a:extLst>
          </p:cNvPr>
          <p:cNvPicPr>
            <a:picLocks noChangeAspect="1"/>
          </p:cNvPicPr>
          <p:nvPr/>
        </p:nvPicPr>
        <p:blipFill>
          <a:blip r:embed="rId4"/>
          <a:stretch>
            <a:fillRect/>
          </a:stretch>
        </p:blipFill>
        <p:spPr>
          <a:xfrm>
            <a:off x="7815685" y="4525213"/>
            <a:ext cx="2047479" cy="892701"/>
          </a:xfrm>
          <a:prstGeom prst="rect">
            <a:avLst/>
          </a:prstGeom>
        </p:spPr>
      </p:pic>
      <p:grpSp>
        <p:nvGrpSpPr>
          <p:cNvPr id="54" name="Group 53">
            <a:extLst>
              <a:ext uri="{FF2B5EF4-FFF2-40B4-BE49-F238E27FC236}">
                <a16:creationId xmlns:a16="http://schemas.microsoft.com/office/drawing/2014/main" id="{9123751D-95CA-E0AF-C6DA-498F56C45225}"/>
              </a:ext>
            </a:extLst>
          </p:cNvPr>
          <p:cNvGrpSpPr/>
          <p:nvPr/>
        </p:nvGrpSpPr>
        <p:grpSpPr>
          <a:xfrm>
            <a:off x="5461533" y="3151313"/>
            <a:ext cx="735231" cy="461666"/>
            <a:chOff x="4686299" y="2286725"/>
            <a:chExt cx="1828800" cy="1036733"/>
          </a:xfrm>
        </p:grpSpPr>
        <p:sp>
          <p:nvSpPr>
            <p:cNvPr id="55" name="Freeform 9">
              <a:extLst>
                <a:ext uri="{FF2B5EF4-FFF2-40B4-BE49-F238E27FC236}">
                  <a16:creationId xmlns:a16="http://schemas.microsoft.com/office/drawing/2014/main" id="{31CB3B1F-0917-3BF1-433D-E4757D4FCE60}"/>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Freeform 10">
              <a:extLst>
                <a:ext uri="{FF2B5EF4-FFF2-40B4-BE49-F238E27FC236}">
                  <a16:creationId xmlns:a16="http://schemas.microsoft.com/office/drawing/2014/main" id="{B34ED2BF-37EC-D480-15CA-19992DCBD35D}"/>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7" name="Freeform 11">
              <a:extLst>
                <a:ext uri="{FF2B5EF4-FFF2-40B4-BE49-F238E27FC236}">
                  <a16:creationId xmlns:a16="http://schemas.microsoft.com/office/drawing/2014/main" id="{33A84F8B-3043-724F-F0A9-B7B86E7529F1}"/>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8" name="Freeform 12">
              <a:extLst>
                <a:ext uri="{FF2B5EF4-FFF2-40B4-BE49-F238E27FC236}">
                  <a16:creationId xmlns:a16="http://schemas.microsoft.com/office/drawing/2014/main" id="{2343BEAB-51B4-96BC-4104-4D7DFECB4D8F}"/>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9" name="Freeform 13">
              <a:extLst>
                <a:ext uri="{FF2B5EF4-FFF2-40B4-BE49-F238E27FC236}">
                  <a16:creationId xmlns:a16="http://schemas.microsoft.com/office/drawing/2014/main" id="{0A8080C9-882A-C0F0-F3B2-DBA877C1334D}"/>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0" name="Group 69">
            <a:extLst>
              <a:ext uri="{FF2B5EF4-FFF2-40B4-BE49-F238E27FC236}">
                <a16:creationId xmlns:a16="http://schemas.microsoft.com/office/drawing/2014/main" id="{3DFA4DD4-AAC9-201F-7637-2C29DAF8F429}"/>
              </a:ext>
            </a:extLst>
          </p:cNvPr>
          <p:cNvGrpSpPr/>
          <p:nvPr/>
        </p:nvGrpSpPr>
        <p:grpSpPr>
          <a:xfrm>
            <a:off x="5185846" y="3835405"/>
            <a:ext cx="735231" cy="461666"/>
            <a:chOff x="4686299" y="2286725"/>
            <a:chExt cx="1828800" cy="1036733"/>
          </a:xfrm>
        </p:grpSpPr>
        <p:sp>
          <p:nvSpPr>
            <p:cNvPr id="71" name="Freeform 9">
              <a:extLst>
                <a:ext uri="{FF2B5EF4-FFF2-40B4-BE49-F238E27FC236}">
                  <a16:creationId xmlns:a16="http://schemas.microsoft.com/office/drawing/2014/main" id="{DD9800D4-136D-F903-29CC-D54332E371B5}"/>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Freeform 10">
              <a:extLst>
                <a:ext uri="{FF2B5EF4-FFF2-40B4-BE49-F238E27FC236}">
                  <a16:creationId xmlns:a16="http://schemas.microsoft.com/office/drawing/2014/main" id="{86348A91-190B-2913-5C55-24138C59E428}"/>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Freeform 11">
              <a:extLst>
                <a:ext uri="{FF2B5EF4-FFF2-40B4-BE49-F238E27FC236}">
                  <a16:creationId xmlns:a16="http://schemas.microsoft.com/office/drawing/2014/main" id="{08256DB1-71D8-13AB-1F3A-DACE11AF1B4A}"/>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Freeform 12">
              <a:extLst>
                <a:ext uri="{FF2B5EF4-FFF2-40B4-BE49-F238E27FC236}">
                  <a16:creationId xmlns:a16="http://schemas.microsoft.com/office/drawing/2014/main" id="{A4032185-5C5D-E195-73DF-D800487324D9}"/>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Freeform 13">
              <a:extLst>
                <a:ext uri="{FF2B5EF4-FFF2-40B4-BE49-F238E27FC236}">
                  <a16:creationId xmlns:a16="http://schemas.microsoft.com/office/drawing/2014/main" id="{33495626-88C0-E208-D41E-06A925CE0945}"/>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Arrow: Right 2">
            <a:extLst>
              <a:ext uri="{FF2B5EF4-FFF2-40B4-BE49-F238E27FC236}">
                <a16:creationId xmlns:a16="http://schemas.microsoft.com/office/drawing/2014/main" id="{7DC8023A-5703-7398-BCFF-FF3BE06D8B8C}"/>
              </a:ext>
            </a:extLst>
          </p:cNvPr>
          <p:cNvSpPr/>
          <p:nvPr/>
        </p:nvSpPr>
        <p:spPr>
          <a:xfrm>
            <a:off x="3598003" y="4137198"/>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6" name="Arrow: Right 75">
            <a:extLst>
              <a:ext uri="{FF2B5EF4-FFF2-40B4-BE49-F238E27FC236}">
                <a16:creationId xmlns:a16="http://schemas.microsoft.com/office/drawing/2014/main" id="{5F5EEB83-FBAC-23B4-1B75-3404F1AC437B}"/>
              </a:ext>
            </a:extLst>
          </p:cNvPr>
          <p:cNvSpPr/>
          <p:nvPr/>
        </p:nvSpPr>
        <p:spPr>
          <a:xfrm>
            <a:off x="6416925" y="3712555"/>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FDF25D9A-1304-EE17-846C-6021F45173C2}"/>
              </a:ext>
            </a:extLst>
          </p:cNvPr>
          <p:cNvPicPr>
            <a:picLocks noChangeAspect="1"/>
          </p:cNvPicPr>
          <p:nvPr/>
        </p:nvPicPr>
        <p:blipFill>
          <a:blip r:embed="rId2"/>
          <a:stretch>
            <a:fillRect/>
          </a:stretch>
        </p:blipFill>
        <p:spPr>
          <a:xfrm>
            <a:off x="7470345" y="3123590"/>
            <a:ext cx="1793966" cy="1554023"/>
          </a:xfrm>
          <a:prstGeom prst="rect">
            <a:avLst/>
          </a:prstGeom>
        </p:spPr>
      </p:pic>
      <p:pic>
        <p:nvPicPr>
          <p:cNvPr id="81" name="Picture 80">
            <a:extLst>
              <a:ext uri="{FF2B5EF4-FFF2-40B4-BE49-F238E27FC236}">
                <a16:creationId xmlns:a16="http://schemas.microsoft.com/office/drawing/2014/main" id="{907A1F94-10A2-EC2E-0270-D3AD7D4F9B5E}"/>
              </a:ext>
            </a:extLst>
          </p:cNvPr>
          <p:cNvPicPr>
            <a:picLocks noChangeAspect="1"/>
          </p:cNvPicPr>
          <p:nvPr/>
        </p:nvPicPr>
        <p:blipFill>
          <a:blip r:embed="rId4"/>
          <a:stretch>
            <a:fillRect/>
          </a:stretch>
        </p:blipFill>
        <p:spPr>
          <a:xfrm>
            <a:off x="7968085" y="4677613"/>
            <a:ext cx="2047479" cy="892701"/>
          </a:xfrm>
          <a:prstGeom prst="rect">
            <a:avLst/>
          </a:prstGeom>
        </p:spPr>
      </p:pic>
    </p:spTree>
    <p:extLst>
      <p:ext uri="{BB962C8B-B14F-4D97-AF65-F5344CB8AC3E}">
        <p14:creationId xmlns:p14="http://schemas.microsoft.com/office/powerpoint/2010/main" val="3319613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6F2BD-247C-DC5B-BA93-F11C972FD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17D87-B202-8BCB-7936-3995D8FCD15E}"/>
              </a:ext>
            </a:extLst>
          </p:cNvPr>
          <p:cNvSpPr>
            <a:spLocks noGrp="1"/>
          </p:cNvSpPr>
          <p:nvPr>
            <p:ph type="title"/>
          </p:nvPr>
        </p:nvSpPr>
        <p:spPr/>
        <p:txBody>
          <a:bodyPr>
            <a:normAutofit fontScale="90000"/>
          </a:bodyPr>
          <a:lstStyle/>
          <a:p>
            <a:r>
              <a:rPr lang="en-US" dirty="0"/>
              <a:t>DNA sequencing data: (pairs of) reads</a:t>
            </a:r>
          </a:p>
        </p:txBody>
      </p:sp>
      <p:sp>
        <p:nvSpPr>
          <p:cNvPr id="3" name="Content Placeholder 2">
            <a:extLst>
              <a:ext uri="{FF2B5EF4-FFF2-40B4-BE49-F238E27FC236}">
                <a16:creationId xmlns:a16="http://schemas.microsoft.com/office/drawing/2014/main" id="{647E0145-AC11-4853-CB75-4A8A503B0D44}"/>
              </a:ext>
            </a:extLst>
          </p:cNvPr>
          <p:cNvSpPr>
            <a:spLocks noGrp="1"/>
          </p:cNvSpPr>
          <p:nvPr>
            <p:ph idx="1"/>
          </p:nvPr>
        </p:nvSpPr>
        <p:spPr>
          <a:xfrm>
            <a:off x="598620" y="1751768"/>
            <a:ext cx="10972800" cy="4759811"/>
          </a:xfrm>
        </p:spPr>
        <p:txBody>
          <a:bodyPr>
            <a:normAutofit/>
          </a:bodyPr>
          <a:lstStyle/>
          <a:p>
            <a:r>
              <a:rPr lang="en-US" dirty="0"/>
              <a:t>Sequencing machines output letters of DNA and estimated quality scores</a:t>
            </a:r>
          </a:p>
          <a:p>
            <a:r>
              <a:rPr lang="en-US" dirty="0"/>
              <a:t>Two types of data:</a:t>
            </a:r>
          </a:p>
          <a:p>
            <a:pPr lvl="1"/>
            <a:r>
              <a:rPr lang="en-US" dirty="0"/>
              <a:t>Reads</a:t>
            </a:r>
          </a:p>
          <a:p>
            <a:pPr lvl="1"/>
            <a:r>
              <a:rPr lang="en-US" dirty="0"/>
              <a:t>Pairs of reads</a:t>
            </a:r>
          </a:p>
          <a:p>
            <a:r>
              <a:rPr lang="en-US" dirty="0"/>
              <a:t>A read is a sequence of letters read from a forward or reverse strand</a:t>
            </a:r>
          </a:p>
          <a:p>
            <a:r>
              <a:rPr lang="en-US" dirty="0"/>
              <a:t>Letters (bases) typically have quality scores</a:t>
            </a:r>
          </a:p>
        </p:txBody>
      </p:sp>
      <p:sp>
        <p:nvSpPr>
          <p:cNvPr id="4" name="Slide Number Placeholder 3">
            <a:extLst>
              <a:ext uri="{FF2B5EF4-FFF2-40B4-BE49-F238E27FC236}">
                <a16:creationId xmlns:a16="http://schemas.microsoft.com/office/drawing/2014/main" id="{D414E05D-467A-77EE-74DF-B640519A945F}"/>
              </a:ext>
            </a:extLst>
          </p:cNvPr>
          <p:cNvSpPr>
            <a:spLocks noGrp="1"/>
          </p:cNvSpPr>
          <p:nvPr>
            <p:ph type="sldNum" sz="quarter" idx="12"/>
          </p:nvPr>
        </p:nvSpPr>
        <p:spPr/>
        <p:txBody>
          <a:bodyPr/>
          <a:lstStyle/>
          <a:p>
            <a:fld id="{B82CCC60-E8CD-4174-8B1A-7DF615B22EEF}" type="slidenum">
              <a:rPr lang="en-US" smtClean="0"/>
              <a:pPr/>
              <a:t>17</a:t>
            </a:fld>
            <a:endParaRPr lang="en-US"/>
          </a:p>
        </p:txBody>
      </p:sp>
    </p:spTree>
    <p:extLst>
      <p:ext uri="{BB962C8B-B14F-4D97-AF65-F5344CB8AC3E}">
        <p14:creationId xmlns:p14="http://schemas.microsoft.com/office/powerpoint/2010/main" val="6610205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9A89C-8B99-B319-CFA8-70AFC69FAA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06C9F-FE30-21CF-00E3-1C90938C5CC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5A7122D4-6535-ED97-5E91-D1F1E6186372}"/>
              </a:ext>
            </a:extLst>
          </p:cNvPr>
          <p:cNvSpPr>
            <a:spLocks noGrp="1"/>
          </p:cNvSpPr>
          <p:nvPr>
            <p:ph idx="1"/>
          </p:nvPr>
        </p:nvSpPr>
        <p:spPr>
          <a:xfrm>
            <a:off x="598620" y="1596539"/>
            <a:ext cx="10972800" cy="5039265"/>
          </a:xfrm>
        </p:spPr>
        <p:txBody>
          <a:bodyPr>
            <a:normAutofit/>
          </a:bodyPr>
          <a:lstStyle/>
          <a:p>
            <a:r>
              <a:rPr lang="en-US" dirty="0"/>
              <a:t>Single-end reads: PacBio HiFi or Oxford Nanopore:</a:t>
            </a:r>
            <a:br>
              <a:rPr lang="en-US" dirty="0"/>
            </a:br>
            <a:br>
              <a:rPr lang="en-US" dirty="0"/>
            </a:br>
            <a:r>
              <a:rPr lang="en-US" dirty="0"/>
              <a:t>5’ direction -&gt;</a:t>
            </a:r>
            <a:br>
              <a:rPr lang="en-US" dirty="0"/>
            </a:br>
            <a:r>
              <a:rPr lang="en-US" b="1" dirty="0">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or</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CGATCGAGTGTATCTGTCTATGTCTATGTCTATCT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30F037C-7BE2-29D0-FF10-971C2238D17C}"/>
              </a:ext>
            </a:extLst>
          </p:cNvPr>
          <p:cNvSpPr>
            <a:spLocks noGrp="1"/>
          </p:cNvSpPr>
          <p:nvPr>
            <p:ph type="sldNum" sz="quarter" idx="12"/>
          </p:nvPr>
        </p:nvSpPr>
        <p:spPr/>
        <p:txBody>
          <a:bodyPr/>
          <a:lstStyle/>
          <a:p>
            <a:fld id="{B82CCC60-E8CD-4174-8B1A-7DF615B22EEF}" type="slidenum">
              <a:rPr lang="en-US" smtClean="0"/>
              <a:pPr/>
              <a:t>18</a:t>
            </a:fld>
            <a:endParaRPr lang="en-US"/>
          </a:p>
        </p:txBody>
      </p:sp>
    </p:spTree>
    <p:extLst>
      <p:ext uri="{BB962C8B-B14F-4D97-AF65-F5344CB8AC3E}">
        <p14:creationId xmlns:p14="http://schemas.microsoft.com/office/powerpoint/2010/main" val="4284398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04C68-1249-845F-D9FB-CB55A950F5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F6950-5FD2-5C2D-8CC6-A744CF3E1897}"/>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2C9F2E48-E662-DD1F-29AE-FA64A8BD7E08}"/>
              </a:ext>
            </a:extLst>
          </p:cNvPr>
          <p:cNvSpPr>
            <a:spLocks noGrp="1"/>
          </p:cNvSpPr>
          <p:nvPr>
            <p:ph idx="1"/>
          </p:nvPr>
        </p:nvSpPr>
        <p:spPr>
          <a:xfrm>
            <a:off x="598620" y="1596539"/>
            <a:ext cx="10972800" cy="5039265"/>
          </a:xfrm>
        </p:spPr>
        <p:txBody>
          <a:bodyPr>
            <a:normAutofit/>
          </a:bodyPr>
          <a:lstStyle/>
          <a:p>
            <a:r>
              <a:rPr lang="en-US" dirty="0"/>
              <a:t>Paired-end reads: Illumina</a:t>
            </a:r>
            <a:br>
              <a:rPr lang="en-US" dirty="0"/>
            </a:br>
            <a:br>
              <a:rPr lang="en-US" dirty="0"/>
            </a:br>
            <a:r>
              <a:rPr lang="en-US" dirty="0"/>
              <a:t>5’ direction -&gt;</a:t>
            </a:r>
            <a:br>
              <a:rPr lang="en-US" dirty="0"/>
            </a:br>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&lt;-5’ reverse strand direction</a:t>
            </a:r>
          </a:p>
          <a:p>
            <a:r>
              <a:rPr lang="en-US" dirty="0">
                <a:cs typeface="Courier New" panose="02070309020205020404" pitchFamily="49" charset="0"/>
              </a:rPr>
              <a:t>You get:</a:t>
            </a:r>
            <a:br>
              <a:rPr lang="en-US" dirty="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AGATAGACATA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dirty="0">
                <a:cs typeface="Courier New" panose="02070309020205020404" pitchFamily="49" charset="0"/>
              </a:rPr>
              <a:t>and</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CGATCGAGTGT</a:t>
            </a:r>
            <a:br>
              <a:rPr lang="en-US" b="1" dirty="0">
                <a:latin typeface="Courier New" panose="02070309020205020404" pitchFamily="49" charset="0"/>
                <a:cs typeface="Courier New" panose="02070309020205020404" pitchFamily="49" charset="0"/>
              </a:rPr>
            </a:br>
            <a:endParaRPr lang="en-US" dirty="0">
              <a:cs typeface="Courier New" panose="02070309020205020404" pitchFamily="49" charset="0"/>
            </a:endParaRPr>
          </a:p>
          <a:p>
            <a:endParaRPr lang="en-US" dirty="0"/>
          </a:p>
          <a:p>
            <a:pPr marL="457200" lvl="1" indent="0">
              <a:buNone/>
            </a:pPr>
            <a:endParaRPr lang="en-US" dirty="0"/>
          </a:p>
        </p:txBody>
      </p:sp>
      <p:sp>
        <p:nvSpPr>
          <p:cNvPr id="4" name="Slide Number Placeholder 3">
            <a:extLst>
              <a:ext uri="{FF2B5EF4-FFF2-40B4-BE49-F238E27FC236}">
                <a16:creationId xmlns:a16="http://schemas.microsoft.com/office/drawing/2014/main" id="{C1FBD651-E7FD-C63A-00C2-F8B74D668AA5}"/>
              </a:ext>
            </a:extLst>
          </p:cNvPr>
          <p:cNvSpPr>
            <a:spLocks noGrp="1"/>
          </p:cNvSpPr>
          <p:nvPr>
            <p:ph type="sldNum" sz="quarter" idx="12"/>
          </p:nvPr>
        </p:nvSpPr>
        <p:spPr/>
        <p:txBody>
          <a:bodyPr/>
          <a:lstStyle/>
          <a:p>
            <a:fld id="{B82CCC60-E8CD-4174-8B1A-7DF615B22EEF}" type="slidenum">
              <a:rPr lang="en-US" smtClean="0"/>
              <a:pPr/>
              <a:t>19</a:t>
            </a:fld>
            <a:endParaRPr lang="en-US"/>
          </a:p>
        </p:txBody>
      </p:sp>
    </p:spTree>
    <p:extLst>
      <p:ext uri="{BB962C8B-B14F-4D97-AF65-F5344CB8AC3E}">
        <p14:creationId xmlns:p14="http://schemas.microsoft.com/office/powerpoint/2010/main" val="14398689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Current DNA sequencing technologies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20</a:t>
            </a:fld>
            <a:endParaRPr lang="en-US"/>
          </a:p>
        </p:txBody>
      </p:sp>
      <p:sp>
        <p:nvSpPr>
          <p:cNvPr id="7" name="Rectangle 3">
            <a:extLst>
              <a:ext uri="{FF2B5EF4-FFF2-40B4-BE49-F238E27FC236}">
                <a16:creationId xmlns:a16="http://schemas.microsoft.com/office/drawing/2014/main" id="{63CC3267-8713-4997-9CAA-BBB2CF4B50A4}"/>
              </a:ext>
            </a:extLst>
          </p:cNvPr>
          <p:cNvSpPr>
            <a:spLocks noGrp="1" noChangeArrowheads="1"/>
          </p:cNvSpPr>
          <p:nvPr>
            <p:ph idx="1"/>
          </p:nvPr>
        </p:nvSpPr>
        <p:spPr>
          <a:xfrm>
            <a:off x="1056735" y="1901950"/>
            <a:ext cx="10689350" cy="5410200"/>
          </a:xfrm>
        </p:spPr>
        <p:txBody>
          <a:bodyPr>
            <a:normAutofit/>
          </a:bodyPr>
          <a:lstStyle/>
          <a:p>
            <a:pPr eaLnBrk="1" hangingPunct="1">
              <a:lnSpc>
                <a:spcPct val="90000"/>
              </a:lnSpc>
              <a:defRPr/>
            </a:pPr>
            <a:r>
              <a:rPr lang="en-US" sz="2800" u="sng" dirty="0"/>
              <a:t>Short Reads: Illumina</a:t>
            </a:r>
          </a:p>
          <a:p>
            <a:pPr lvl="1" eaLnBrk="1" hangingPunct="1">
              <a:lnSpc>
                <a:spcPct val="90000"/>
              </a:lnSpc>
              <a:buFont typeface="Wingdings" pitchFamily="2" charset="2"/>
              <a:buNone/>
              <a:defRPr/>
            </a:pPr>
            <a:r>
              <a:rPr lang="en-US" sz="2400" dirty="0">
                <a:sym typeface="Wingdings" pitchFamily="2" charset="2"/>
              </a:rPr>
              <a:t> </a:t>
            </a:r>
            <a:r>
              <a:rPr lang="en-US" sz="2400" dirty="0"/>
              <a:t>Cheap: as low as $1K for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Accurate: ~1% error rate</a:t>
            </a:r>
          </a:p>
          <a:p>
            <a:pPr lvl="1" eaLnBrk="1" hangingPunct="1">
              <a:lnSpc>
                <a:spcPct val="90000"/>
              </a:lnSpc>
              <a:buFont typeface="Wingdings" pitchFamily="2" charset="2"/>
              <a:buNone/>
              <a:defRPr/>
            </a:pPr>
            <a:r>
              <a:rPr lang="en-US" sz="2400" dirty="0">
                <a:sym typeface="Wingdings" pitchFamily="2" charset="2"/>
              </a:rPr>
              <a:t> Only</a:t>
            </a:r>
            <a:r>
              <a:rPr lang="en-US" sz="2400" dirty="0"/>
              <a:t> 150 to 300 bp reads, paired ends of 300-800bp fragments</a:t>
            </a:r>
            <a:br>
              <a:rPr lang="en-US" sz="2400" dirty="0"/>
            </a:br>
            <a:endParaRPr lang="en-US" sz="2400" dirty="0"/>
          </a:p>
          <a:p>
            <a:pPr eaLnBrk="1" hangingPunct="1">
              <a:lnSpc>
                <a:spcPct val="90000"/>
              </a:lnSpc>
              <a:defRPr/>
            </a:pPr>
            <a:r>
              <a:rPr lang="en-US" sz="2800" u="sng" dirty="0"/>
              <a:t>Long Reads: Oxford Nanopore and PacBio </a:t>
            </a:r>
            <a:r>
              <a:rPr lang="en-US" u="sng" dirty="0"/>
              <a:t>HiFi</a:t>
            </a:r>
            <a:endParaRPr lang="en-US" sz="2800" u="sng" dirty="0"/>
          </a:p>
          <a:p>
            <a:pPr lvl="1">
              <a:lnSpc>
                <a:spcPct val="90000"/>
              </a:lnSpc>
              <a:buNone/>
              <a:defRPr/>
            </a:pPr>
            <a:r>
              <a:rPr lang="en-US" sz="2400" dirty="0">
                <a:sym typeface="Wingdings" pitchFamily="2" charset="2"/>
              </a:rPr>
              <a:t> Ine</a:t>
            </a:r>
            <a:r>
              <a:rPr lang="en-US" sz="2400" dirty="0"/>
              <a:t>xpensive: $2-5k for a </a:t>
            </a:r>
            <a:r>
              <a:rPr lang="en-US" sz="2400" i="1" dirty="0"/>
              <a:t>de novo </a:t>
            </a:r>
            <a:r>
              <a:rPr lang="en-US" sz="2400" dirty="0"/>
              <a:t>human genome</a:t>
            </a:r>
          </a:p>
          <a:p>
            <a:pPr lvl="1">
              <a:lnSpc>
                <a:spcPct val="90000"/>
              </a:lnSpc>
              <a:buNone/>
              <a:defRPr/>
            </a:pPr>
            <a:r>
              <a:rPr lang="en-US" sz="2400" dirty="0">
                <a:sym typeface="Wingdings" pitchFamily="2" charset="2"/>
              </a:rPr>
              <a:t> </a:t>
            </a:r>
            <a:r>
              <a:rPr lang="en-US" sz="2400" dirty="0"/>
              <a:t>We get on average long 10-500Kbp reads</a:t>
            </a:r>
          </a:p>
          <a:p>
            <a:pPr lvl="1">
              <a:lnSpc>
                <a:spcPct val="90000"/>
              </a:lnSpc>
              <a:buNone/>
              <a:defRPr/>
            </a:pPr>
            <a:r>
              <a:rPr lang="en-US" sz="2400" dirty="0">
                <a:sym typeface="Wingdings" pitchFamily="2" charset="2"/>
              </a:rPr>
              <a:t> High error rate: ~3-7% for ONT, &lt;1% error rate for HiFi</a:t>
            </a:r>
            <a:endParaRPr lang="en-US" sz="2400" dirty="0"/>
          </a:p>
          <a:p>
            <a:pPr lvl="1" eaLnBrk="1" hangingPunct="1">
              <a:lnSpc>
                <a:spcPct val="90000"/>
              </a:lnSpc>
              <a:buNone/>
              <a:defRPr/>
            </a:pPr>
            <a:endParaRPr lang="en-US" sz="2400" dirty="0"/>
          </a:p>
          <a:p>
            <a:pPr eaLnBrk="1" hangingPunct="1">
              <a:lnSpc>
                <a:spcPct val="90000"/>
              </a:lnSpc>
              <a:defRPr/>
            </a:pPr>
            <a:endParaRPr lang="en-US" sz="2800" dirty="0"/>
          </a:p>
        </p:txBody>
      </p:sp>
    </p:spTree>
    <p:extLst>
      <p:ext uri="{BB962C8B-B14F-4D97-AF65-F5344CB8AC3E}">
        <p14:creationId xmlns:p14="http://schemas.microsoft.com/office/powerpoint/2010/main" val="125719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Repeat regions cause mistakes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21</a:t>
            </a:fld>
            <a:endParaRPr lang="en-US"/>
          </a:p>
        </p:txBody>
      </p:sp>
      <p:sp>
        <p:nvSpPr>
          <p:cNvPr id="7" name="Line 38">
            <a:extLst>
              <a:ext uri="{FF2B5EF4-FFF2-40B4-BE49-F238E27FC236}">
                <a16:creationId xmlns:a16="http://schemas.microsoft.com/office/drawing/2014/main" id="{0BF4681C-216C-4CCE-991A-78601E4CBD28}"/>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8B357437-4DA2-4E2E-B578-49936F0FD9FB}"/>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057C525C-49EC-45FC-AB4D-23A3B5674845}"/>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044DE586-5071-4F10-B063-DFC6A0E5958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49DE7835-7352-4E6B-8C66-DD027FDBA507}"/>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DD80223E-0643-4A89-B647-F1F036242EA5}"/>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82593F8E-58B8-4F56-AB17-FAE9D0441BC8}"/>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14" name="Group 9">
            <a:extLst>
              <a:ext uri="{FF2B5EF4-FFF2-40B4-BE49-F238E27FC236}">
                <a16:creationId xmlns:a16="http://schemas.microsoft.com/office/drawing/2014/main" id="{55953275-43FB-49D3-A55C-32E2AF9DD835}"/>
              </a:ext>
            </a:extLst>
          </p:cNvPr>
          <p:cNvGrpSpPr>
            <a:grpSpLocks/>
          </p:cNvGrpSpPr>
          <p:nvPr/>
        </p:nvGrpSpPr>
        <p:grpSpPr bwMode="auto">
          <a:xfrm>
            <a:off x="2054045" y="3527146"/>
            <a:ext cx="2743200" cy="152400"/>
            <a:chOff x="624" y="2208"/>
            <a:chExt cx="1728" cy="96"/>
          </a:xfrm>
        </p:grpSpPr>
        <p:sp>
          <p:nvSpPr>
            <p:cNvPr id="15" name="Line 10">
              <a:extLst>
                <a:ext uri="{FF2B5EF4-FFF2-40B4-BE49-F238E27FC236}">
                  <a16:creationId xmlns:a16="http://schemas.microsoft.com/office/drawing/2014/main" id="{9D1D29B0-E12C-4270-8A93-E34BF775BE9B}"/>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Line 11">
              <a:extLst>
                <a:ext uri="{FF2B5EF4-FFF2-40B4-BE49-F238E27FC236}">
                  <a16:creationId xmlns:a16="http://schemas.microsoft.com/office/drawing/2014/main" id="{8B9E08C3-C78E-466F-B06A-43420B0DD62D}"/>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Line 12">
              <a:extLst>
                <a:ext uri="{FF2B5EF4-FFF2-40B4-BE49-F238E27FC236}">
                  <a16:creationId xmlns:a16="http://schemas.microsoft.com/office/drawing/2014/main" id="{D06B97E0-B050-445F-B4BE-AA4199188193}"/>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13">
              <a:extLst>
                <a:ext uri="{FF2B5EF4-FFF2-40B4-BE49-F238E27FC236}">
                  <a16:creationId xmlns:a16="http://schemas.microsoft.com/office/drawing/2014/main" id="{92E53289-C0D7-46DC-8A96-5EF9B90FF24D}"/>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14">
              <a:extLst>
                <a:ext uri="{FF2B5EF4-FFF2-40B4-BE49-F238E27FC236}">
                  <a16:creationId xmlns:a16="http://schemas.microsoft.com/office/drawing/2014/main" id="{CE5CAE08-2588-4247-9AAC-E4D2EB7148F1}"/>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0" name="Line 15">
              <a:extLst>
                <a:ext uri="{FF2B5EF4-FFF2-40B4-BE49-F238E27FC236}">
                  <a16:creationId xmlns:a16="http://schemas.microsoft.com/office/drawing/2014/main" id="{ADC83BF8-B581-4422-A088-EDBD84323CD6}"/>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 name="Line 16">
              <a:extLst>
                <a:ext uri="{FF2B5EF4-FFF2-40B4-BE49-F238E27FC236}">
                  <a16:creationId xmlns:a16="http://schemas.microsoft.com/office/drawing/2014/main" id="{2A178F42-845B-406C-9CBC-715B6147A599}"/>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22" name="Group 17">
            <a:extLst>
              <a:ext uri="{FF2B5EF4-FFF2-40B4-BE49-F238E27FC236}">
                <a16:creationId xmlns:a16="http://schemas.microsoft.com/office/drawing/2014/main" id="{4792BA97-09E0-4F2B-80F4-04ADA3D3E3D8}"/>
              </a:ext>
            </a:extLst>
          </p:cNvPr>
          <p:cNvGrpSpPr>
            <a:grpSpLocks/>
          </p:cNvGrpSpPr>
          <p:nvPr/>
        </p:nvGrpSpPr>
        <p:grpSpPr bwMode="auto">
          <a:xfrm>
            <a:off x="4416245" y="3527146"/>
            <a:ext cx="2133600" cy="152400"/>
            <a:chOff x="2112" y="2208"/>
            <a:chExt cx="1344" cy="96"/>
          </a:xfrm>
        </p:grpSpPr>
        <p:sp>
          <p:nvSpPr>
            <p:cNvPr id="23" name="Line 18">
              <a:extLst>
                <a:ext uri="{FF2B5EF4-FFF2-40B4-BE49-F238E27FC236}">
                  <a16:creationId xmlns:a16="http://schemas.microsoft.com/office/drawing/2014/main" id="{1BDCF5FF-C38A-4ECF-BF0F-2FAD313094A2}"/>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4" name="Line 19">
              <a:extLst>
                <a:ext uri="{FF2B5EF4-FFF2-40B4-BE49-F238E27FC236}">
                  <a16:creationId xmlns:a16="http://schemas.microsoft.com/office/drawing/2014/main" id="{EAEDB3B8-8D22-4688-8235-9DF407C83DDC}"/>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Line 20">
              <a:extLst>
                <a:ext uri="{FF2B5EF4-FFF2-40B4-BE49-F238E27FC236}">
                  <a16:creationId xmlns:a16="http://schemas.microsoft.com/office/drawing/2014/main" id="{7608BCD4-D162-4A93-B48E-5157CC4EDE8C}"/>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 name="Line 21">
              <a:extLst>
                <a:ext uri="{FF2B5EF4-FFF2-40B4-BE49-F238E27FC236}">
                  <a16:creationId xmlns:a16="http://schemas.microsoft.com/office/drawing/2014/main" id="{282EDD10-C1ED-446C-B209-DED3A0841052}"/>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 name="Line 22">
              <a:extLst>
                <a:ext uri="{FF2B5EF4-FFF2-40B4-BE49-F238E27FC236}">
                  <a16:creationId xmlns:a16="http://schemas.microsoft.com/office/drawing/2014/main" id="{675E27E7-2C84-4BD2-AE11-3FBCFE172951}"/>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 name="Line 23">
              <a:extLst>
                <a:ext uri="{FF2B5EF4-FFF2-40B4-BE49-F238E27FC236}">
                  <a16:creationId xmlns:a16="http://schemas.microsoft.com/office/drawing/2014/main" id="{01F49BF3-24A7-441D-BD35-75AE12303000}"/>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24">
              <a:extLst>
                <a:ext uri="{FF2B5EF4-FFF2-40B4-BE49-F238E27FC236}">
                  <a16:creationId xmlns:a16="http://schemas.microsoft.com/office/drawing/2014/main" id="{3E69E1B2-B4DC-48E1-8038-6A3ED2E99383}"/>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30" name="Group 25">
            <a:extLst>
              <a:ext uri="{FF2B5EF4-FFF2-40B4-BE49-F238E27FC236}">
                <a16:creationId xmlns:a16="http://schemas.microsoft.com/office/drawing/2014/main" id="{5141FF4C-7128-4607-9FC3-22051B79A50C}"/>
              </a:ext>
            </a:extLst>
          </p:cNvPr>
          <p:cNvGrpSpPr>
            <a:grpSpLocks/>
          </p:cNvGrpSpPr>
          <p:nvPr/>
        </p:nvGrpSpPr>
        <p:grpSpPr bwMode="auto">
          <a:xfrm>
            <a:off x="6245045" y="3450946"/>
            <a:ext cx="3276600" cy="228600"/>
            <a:chOff x="3264" y="2160"/>
            <a:chExt cx="2064" cy="144"/>
          </a:xfrm>
        </p:grpSpPr>
        <p:sp>
          <p:nvSpPr>
            <p:cNvPr id="31" name="Line 26">
              <a:extLst>
                <a:ext uri="{FF2B5EF4-FFF2-40B4-BE49-F238E27FC236}">
                  <a16:creationId xmlns:a16="http://schemas.microsoft.com/office/drawing/2014/main" id="{2919A293-939E-4650-89D3-53E206116562}"/>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27">
              <a:extLst>
                <a:ext uri="{FF2B5EF4-FFF2-40B4-BE49-F238E27FC236}">
                  <a16:creationId xmlns:a16="http://schemas.microsoft.com/office/drawing/2014/main" id="{D57152A8-49C5-4D58-B4DA-4C659BCEF344}"/>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Line 28">
              <a:extLst>
                <a:ext uri="{FF2B5EF4-FFF2-40B4-BE49-F238E27FC236}">
                  <a16:creationId xmlns:a16="http://schemas.microsoft.com/office/drawing/2014/main" id="{5B974226-B455-422E-A8F5-8B2D62334C77}"/>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4" name="Line 29">
              <a:extLst>
                <a:ext uri="{FF2B5EF4-FFF2-40B4-BE49-F238E27FC236}">
                  <a16:creationId xmlns:a16="http://schemas.microsoft.com/office/drawing/2014/main" id="{B7D2FBE6-33B6-42BC-BA20-2D6B574AEE9E}"/>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5" name="Line 30">
              <a:extLst>
                <a:ext uri="{FF2B5EF4-FFF2-40B4-BE49-F238E27FC236}">
                  <a16:creationId xmlns:a16="http://schemas.microsoft.com/office/drawing/2014/main" id="{39CE081C-84A6-48FE-92B3-41E4045B1A8D}"/>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6" name="Line 31">
              <a:extLst>
                <a:ext uri="{FF2B5EF4-FFF2-40B4-BE49-F238E27FC236}">
                  <a16:creationId xmlns:a16="http://schemas.microsoft.com/office/drawing/2014/main" id="{61DCBD6A-6A4B-41B8-BDD5-8533D22C291F}"/>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7" name="Line 32">
              <a:extLst>
                <a:ext uri="{FF2B5EF4-FFF2-40B4-BE49-F238E27FC236}">
                  <a16:creationId xmlns:a16="http://schemas.microsoft.com/office/drawing/2014/main" id="{44097C2C-B0D0-44DE-B8C1-F105E7803827}"/>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Line 33">
              <a:extLst>
                <a:ext uri="{FF2B5EF4-FFF2-40B4-BE49-F238E27FC236}">
                  <a16:creationId xmlns:a16="http://schemas.microsoft.com/office/drawing/2014/main" id="{174F5BB8-B18B-4F35-8C53-3EAFD6078416}"/>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9" name="Line 34">
              <a:extLst>
                <a:ext uri="{FF2B5EF4-FFF2-40B4-BE49-F238E27FC236}">
                  <a16:creationId xmlns:a16="http://schemas.microsoft.com/office/drawing/2014/main" id="{51509FED-C68E-407B-8958-F8491049C824}"/>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0" name="Line 35">
              <a:extLst>
                <a:ext uri="{FF2B5EF4-FFF2-40B4-BE49-F238E27FC236}">
                  <a16:creationId xmlns:a16="http://schemas.microsoft.com/office/drawing/2014/main" id="{E19049FF-76DD-40E0-8702-4164617C192F}"/>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41" name="Line 36">
            <a:extLst>
              <a:ext uri="{FF2B5EF4-FFF2-40B4-BE49-F238E27FC236}">
                <a16:creationId xmlns:a16="http://schemas.microsoft.com/office/drawing/2014/main" id="{8D00D421-EA88-4DE3-8129-4E0AFA30B459}"/>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FA1FB302-C6B8-4D2B-879B-20D8978EBF25}"/>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87B5EE79-9835-4C75-B909-17FF0068BE05}"/>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44" name="Group 41">
            <a:extLst>
              <a:ext uri="{FF2B5EF4-FFF2-40B4-BE49-F238E27FC236}">
                <a16:creationId xmlns:a16="http://schemas.microsoft.com/office/drawing/2014/main" id="{1EFFBE78-4160-4CD5-A5F4-322C85F9E7F7}"/>
              </a:ext>
            </a:extLst>
          </p:cNvPr>
          <p:cNvGrpSpPr>
            <a:grpSpLocks/>
          </p:cNvGrpSpPr>
          <p:nvPr/>
        </p:nvGrpSpPr>
        <p:grpSpPr bwMode="auto">
          <a:xfrm>
            <a:off x="2054045" y="3527146"/>
            <a:ext cx="2743200" cy="152400"/>
            <a:chOff x="624" y="2208"/>
            <a:chExt cx="1728" cy="96"/>
          </a:xfrm>
        </p:grpSpPr>
        <p:sp>
          <p:nvSpPr>
            <p:cNvPr id="45" name="Line 42">
              <a:extLst>
                <a:ext uri="{FF2B5EF4-FFF2-40B4-BE49-F238E27FC236}">
                  <a16:creationId xmlns:a16="http://schemas.microsoft.com/office/drawing/2014/main" id="{46930E3F-CBD9-4BF2-B946-32C69EFBA7E0}"/>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95BCBA5B-7864-4FEF-8250-C9FCF282C4F6}"/>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F0D4B4EC-3E72-47BF-A3F1-55E49CC3A320}"/>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45">
              <a:extLst>
                <a:ext uri="{FF2B5EF4-FFF2-40B4-BE49-F238E27FC236}">
                  <a16:creationId xmlns:a16="http://schemas.microsoft.com/office/drawing/2014/main" id="{A2BD9E8A-ABDD-4B45-A84D-2EFF7B1068C3}"/>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9" name="Line 46">
              <a:extLst>
                <a:ext uri="{FF2B5EF4-FFF2-40B4-BE49-F238E27FC236}">
                  <a16:creationId xmlns:a16="http://schemas.microsoft.com/office/drawing/2014/main" id="{F0412969-5E4D-4A4B-B9C8-0EBAA73B7365}"/>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0" name="Line 47">
              <a:extLst>
                <a:ext uri="{FF2B5EF4-FFF2-40B4-BE49-F238E27FC236}">
                  <a16:creationId xmlns:a16="http://schemas.microsoft.com/office/drawing/2014/main" id="{E7B4DBA8-D9CB-47E0-9E20-1677D4FF0E63}"/>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48">
              <a:extLst>
                <a:ext uri="{FF2B5EF4-FFF2-40B4-BE49-F238E27FC236}">
                  <a16:creationId xmlns:a16="http://schemas.microsoft.com/office/drawing/2014/main" id="{ECE655D1-2699-4334-A2D8-763891DF5C22}"/>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52" name="Group 49">
            <a:extLst>
              <a:ext uri="{FF2B5EF4-FFF2-40B4-BE49-F238E27FC236}">
                <a16:creationId xmlns:a16="http://schemas.microsoft.com/office/drawing/2014/main" id="{CC1BF781-971A-40ED-831E-AA1C84B16F13}"/>
              </a:ext>
            </a:extLst>
          </p:cNvPr>
          <p:cNvGrpSpPr>
            <a:grpSpLocks/>
          </p:cNvGrpSpPr>
          <p:nvPr/>
        </p:nvGrpSpPr>
        <p:grpSpPr bwMode="auto">
          <a:xfrm>
            <a:off x="6245045" y="3450946"/>
            <a:ext cx="3276600" cy="228600"/>
            <a:chOff x="3264" y="2160"/>
            <a:chExt cx="2064" cy="144"/>
          </a:xfrm>
        </p:grpSpPr>
        <p:sp>
          <p:nvSpPr>
            <p:cNvPr id="53" name="Line 50">
              <a:extLst>
                <a:ext uri="{FF2B5EF4-FFF2-40B4-BE49-F238E27FC236}">
                  <a16:creationId xmlns:a16="http://schemas.microsoft.com/office/drawing/2014/main" id="{DC3197F1-569E-4AF7-A0EE-8859D4266E5B}"/>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4" name="Line 51">
              <a:extLst>
                <a:ext uri="{FF2B5EF4-FFF2-40B4-BE49-F238E27FC236}">
                  <a16:creationId xmlns:a16="http://schemas.microsoft.com/office/drawing/2014/main" id="{2015051D-B10B-49D4-B957-37162AB8DFB1}"/>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5" name="Line 52">
              <a:extLst>
                <a:ext uri="{FF2B5EF4-FFF2-40B4-BE49-F238E27FC236}">
                  <a16:creationId xmlns:a16="http://schemas.microsoft.com/office/drawing/2014/main" id="{F3D122AA-0B61-47FF-9F1A-602C992D2181}"/>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53">
              <a:extLst>
                <a:ext uri="{FF2B5EF4-FFF2-40B4-BE49-F238E27FC236}">
                  <a16:creationId xmlns:a16="http://schemas.microsoft.com/office/drawing/2014/main" id="{F5B38FC7-3CFD-44CF-84DE-353D27678BE7}"/>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54">
              <a:extLst>
                <a:ext uri="{FF2B5EF4-FFF2-40B4-BE49-F238E27FC236}">
                  <a16:creationId xmlns:a16="http://schemas.microsoft.com/office/drawing/2014/main" id="{9EEA7956-5B73-4720-A75B-F427A8FA0B3F}"/>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55">
              <a:extLst>
                <a:ext uri="{FF2B5EF4-FFF2-40B4-BE49-F238E27FC236}">
                  <a16:creationId xmlns:a16="http://schemas.microsoft.com/office/drawing/2014/main" id="{A351C404-C0F7-4BBD-BF52-C99BDD6BE168}"/>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56">
              <a:extLst>
                <a:ext uri="{FF2B5EF4-FFF2-40B4-BE49-F238E27FC236}">
                  <a16:creationId xmlns:a16="http://schemas.microsoft.com/office/drawing/2014/main" id="{86E19AAF-6EF5-4FEA-8DE1-24666D49C8BE}"/>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57">
              <a:extLst>
                <a:ext uri="{FF2B5EF4-FFF2-40B4-BE49-F238E27FC236}">
                  <a16:creationId xmlns:a16="http://schemas.microsoft.com/office/drawing/2014/main" id="{122BF23A-6C51-41B1-8290-25F5746323CE}"/>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 name="Line 58">
              <a:extLst>
                <a:ext uri="{FF2B5EF4-FFF2-40B4-BE49-F238E27FC236}">
                  <a16:creationId xmlns:a16="http://schemas.microsoft.com/office/drawing/2014/main" id="{A586DAC7-EEEB-49B9-BD8F-8F62249630A2}"/>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Line 59">
              <a:extLst>
                <a:ext uri="{FF2B5EF4-FFF2-40B4-BE49-F238E27FC236}">
                  <a16:creationId xmlns:a16="http://schemas.microsoft.com/office/drawing/2014/main" id="{5C0C2DDE-0EAC-4880-BF60-B08FBB1EFEDE}"/>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63" name="Line 60">
            <a:extLst>
              <a:ext uri="{FF2B5EF4-FFF2-40B4-BE49-F238E27FC236}">
                <a16:creationId xmlns:a16="http://schemas.microsoft.com/office/drawing/2014/main" id="{86A8D2B4-E880-4585-8918-7F1E20693A2B}"/>
              </a:ext>
            </a:extLst>
          </p:cNvPr>
          <p:cNvSpPr>
            <a:spLocks noChangeShapeType="1"/>
          </p:cNvSpPr>
          <p:nvPr/>
        </p:nvSpPr>
        <p:spPr bwMode="auto">
          <a:xfrm>
            <a:off x="3273245" y="52035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Line 61">
            <a:extLst>
              <a:ext uri="{FF2B5EF4-FFF2-40B4-BE49-F238E27FC236}">
                <a16:creationId xmlns:a16="http://schemas.microsoft.com/office/drawing/2014/main" id="{FAB93629-3E76-4C50-B34B-BAC7161CE8BB}"/>
              </a:ext>
            </a:extLst>
          </p:cNvPr>
          <p:cNvSpPr>
            <a:spLocks noChangeShapeType="1"/>
          </p:cNvSpPr>
          <p:nvPr/>
        </p:nvSpPr>
        <p:spPr bwMode="auto">
          <a:xfrm>
            <a:off x="6092645" y="52035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5" name="Line 62">
            <a:extLst>
              <a:ext uri="{FF2B5EF4-FFF2-40B4-BE49-F238E27FC236}">
                <a16:creationId xmlns:a16="http://schemas.microsoft.com/office/drawing/2014/main" id="{AB4A4147-470D-4536-AE4E-EDD43F5D5CA1}"/>
              </a:ext>
            </a:extLst>
          </p:cNvPr>
          <p:cNvSpPr>
            <a:spLocks noChangeShapeType="1"/>
          </p:cNvSpPr>
          <p:nvPr/>
        </p:nvSpPr>
        <p:spPr bwMode="auto">
          <a:xfrm flipV="1">
            <a:off x="4873445" y="5203546"/>
            <a:ext cx="12192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6" name="Text Box 63">
            <a:extLst>
              <a:ext uri="{FF2B5EF4-FFF2-40B4-BE49-F238E27FC236}">
                <a16:creationId xmlns:a16="http://schemas.microsoft.com/office/drawing/2014/main" id="{9768E41A-B366-47A7-B279-8283AC5FBD44}"/>
              </a:ext>
            </a:extLst>
          </p:cNvPr>
          <p:cNvSpPr txBox="1">
            <a:spLocks noChangeArrowheads="1"/>
          </p:cNvSpPr>
          <p:nvPr/>
        </p:nvSpPr>
        <p:spPr bwMode="auto">
          <a:xfrm>
            <a:off x="3806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67" name="Text Box 64">
            <a:extLst>
              <a:ext uri="{FF2B5EF4-FFF2-40B4-BE49-F238E27FC236}">
                <a16:creationId xmlns:a16="http://schemas.microsoft.com/office/drawing/2014/main" id="{B6897430-D447-47A6-A0C2-D0768AED90C8}"/>
              </a:ext>
            </a:extLst>
          </p:cNvPr>
          <p:cNvSpPr txBox="1">
            <a:spLocks noChangeArrowheads="1"/>
          </p:cNvSpPr>
          <p:nvPr/>
        </p:nvSpPr>
        <p:spPr bwMode="auto">
          <a:xfrm>
            <a:off x="51782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68" name="Text Box 65">
            <a:extLst>
              <a:ext uri="{FF2B5EF4-FFF2-40B4-BE49-F238E27FC236}">
                <a16:creationId xmlns:a16="http://schemas.microsoft.com/office/drawing/2014/main" id="{E8A70AC7-C06F-48D5-B576-9824BD20DE8A}"/>
              </a:ext>
            </a:extLst>
          </p:cNvPr>
          <p:cNvSpPr txBox="1">
            <a:spLocks noChangeArrowheads="1"/>
          </p:cNvSpPr>
          <p:nvPr/>
        </p:nvSpPr>
        <p:spPr bwMode="auto">
          <a:xfrm>
            <a:off x="6854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69" name="Group 66">
            <a:extLst>
              <a:ext uri="{FF2B5EF4-FFF2-40B4-BE49-F238E27FC236}">
                <a16:creationId xmlns:a16="http://schemas.microsoft.com/office/drawing/2014/main" id="{C17CE37F-B228-463C-BD27-FA6560023F9B}"/>
              </a:ext>
            </a:extLst>
          </p:cNvPr>
          <p:cNvGrpSpPr>
            <a:grpSpLocks/>
          </p:cNvGrpSpPr>
          <p:nvPr/>
        </p:nvGrpSpPr>
        <p:grpSpPr bwMode="auto">
          <a:xfrm>
            <a:off x="4416245" y="3527146"/>
            <a:ext cx="2133600" cy="152400"/>
            <a:chOff x="2112" y="2208"/>
            <a:chExt cx="1344" cy="96"/>
          </a:xfrm>
        </p:grpSpPr>
        <p:sp>
          <p:nvSpPr>
            <p:cNvPr id="70" name="Line 67">
              <a:extLst>
                <a:ext uri="{FF2B5EF4-FFF2-40B4-BE49-F238E27FC236}">
                  <a16:creationId xmlns:a16="http://schemas.microsoft.com/office/drawing/2014/main" id="{0BD2DC4B-63B2-4CEC-B2FB-0FD28A8204C6}"/>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 name="Line 68">
              <a:extLst>
                <a:ext uri="{FF2B5EF4-FFF2-40B4-BE49-F238E27FC236}">
                  <a16:creationId xmlns:a16="http://schemas.microsoft.com/office/drawing/2014/main" id="{6A37ADCF-C103-43BF-93B7-54EFFA26369B}"/>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Line 69">
              <a:extLst>
                <a:ext uri="{FF2B5EF4-FFF2-40B4-BE49-F238E27FC236}">
                  <a16:creationId xmlns:a16="http://schemas.microsoft.com/office/drawing/2014/main" id="{FFFC9E14-09D1-4CEB-9157-921822DC925A}"/>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Line 70">
              <a:extLst>
                <a:ext uri="{FF2B5EF4-FFF2-40B4-BE49-F238E27FC236}">
                  <a16:creationId xmlns:a16="http://schemas.microsoft.com/office/drawing/2014/main" id="{867FCBD3-F6EC-4223-B2A4-BB22A271EC44}"/>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Line 71">
              <a:extLst>
                <a:ext uri="{FF2B5EF4-FFF2-40B4-BE49-F238E27FC236}">
                  <a16:creationId xmlns:a16="http://schemas.microsoft.com/office/drawing/2014/main" id="{2C74D31E-65D2-45FA-8043-68FF525884F8}"/>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Line 72">
              <a:extLst>
                <a:ext uri="{FF2B5EF4-FFF2-40B4-BE49-F238E27FC236}">
                  <a16:creationId xmlns:a16="http://schemas.microsoft.com/office/drawing/2014/main" id="{5B460D12-39C0-4EEC-A736-20F673EDE383}"/>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6" name="Line 73">
              <a:extLst>
                <a:ext uri="{FF2B5EF4-FFF2-40B4-BE49-F238E27FC236}">
                  <a16:creationId xmlns:a16="http://schemas.microsoft.com/office/drawing/2014/main" id="{84BB9C08-AEB3-4BDC-929F-D9C1DCE9914A}"/>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196543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path" presetSubtype="0" accel="50000" decel="50000" fill="hold" nodeType="clickEffect">
                                  <p:stCondLst>
                                    <p:cond delay="0"/>
                                  </p:stCondLst>
                                  <p:childTnLst>
                                    <p:animMotion origin="layout" path="M 4.16667E-7 -2.96296E-6 L 0.1 0.18889 " pathEditMode="relative" rAng="0" ptsTypes="AA">
                                      <p:cBhvr>
                                        <p:cTn id="6" dur="2000" fill="hold"/>
                                        <p:tgtEl>
                                          <p:spTgt spid="14"/>
                                        </p:tgtEl>
                                        <p:attrNameLst>
                                          <p:attrName>ppt_x</p:attrName>
                                          <p:attrName>ppt_y</p:attrName>
                                        </p:attrNameLst>
                                      </p:cBhvr>
                                      <p:rCtr x="5000" y="9444"/>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0375 -0.00741 L -0.1 0.1868 " pathEditMode="relative" rAng="0" ptsTypes="AA">
                                      <p:cBhvr>
                                        <p:cTn id="10" dur="2000" fill="hold"/>
                                        <p:tgtEl>
                                          <p:spTgt spid="30"/>
                                        </p:tgtEl>
                                        <p:attrNameLst>
                                          <p:attrName>ppt_x</p:attrName>
                                          <p:attrName>ppt_y</p:attrName>
                                        </p:attrNameLst>
                                      </p:cBhvr>
                                      <p:rCtr x="-6875" y="9699"/>
                                    </p:animMotion>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blinds(horizontal)">
                                      <p:cBhvr>
                                        <p:cTn id="15" dur="500"/>
                                        <p:tgtEl>
                                          <p:spTgt spid="63"/>
                                        </p:tgtEl>
                                      </p:cBhvr>
                                    </p:animEffect>
                                  </p:childTnLst>
                                </p:cTn>
                              </p:par>
                              <p:par>
                                <p:cTn id="16" presetID="3" presetClass="entr" presetSubtype="1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blinds(horizontal)">
                                      <p:cBhvr>
                                        <p:cTn id="18" dur="500"/>
                                        <p:tgtEl>
                                          <p:spTgt spid="64"/>
                                        </p:tgtEl>
                                      </p:cBhvr>
                                    </p:animEffect>
                                  </p:childTnLst>
                                </p:cTn>
                              </p:par>
                              <p:par>
                                <p:cTn id="19" presetID="3" presetClass="entr" presetSubtype="1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blinds(horizontal)">
                                      <p:cBhvr>
                                        <p:cTn id="21" dur="500"/>
                                        <p:tgtEl>
                                          <p:spTgt spid="65"/>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blinds(horizontal)">
                                      <p:cBhvr>
                                        <p:cTn id="24" dur="500"/>
                                        <p:tgtEl>
                                          <p:spTgt spid="66"/>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animEffect transition="in" filter="blinds(horizontal)">
                                      <p:cBhvr>
                                        <p:cTn id="27" dur="500"/>
                                        <p:tgtEl>
                                          <p:spTgt spid="67"/>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blinds(horizontal)">
                                      <p:cBhvr>
                                        <p:cTn id="30"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8A3AF-8A14-AC93-0E3C-6D6E62FC7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881D8-3E26-A68B-E1F3-9BC8F097903C}"/>
              </a:ext>
            </a:extLst>
          </p:cNvPr>
          <p:cNvSpPr>
            <a:spLocks noGrp="1"/>
          </p:cNvSpPr>
          <p:nvPr>
            <p:ph type="title"/>
          </p:nvPr>
        </p:nvSpPr>
        <p:spPr/>
        <p:txBody>
          <a:bodyPr>
            <a:normAutofit fontScale="90000"/>
          </a:bodyPr>
          <a:lstStyle/>
          <a:p>
            <a:r>
              <a:rPr lang="en-US" dirty="0"/>
              <a:t>Long reads help avoid mistakes</a:t>
            </a:r>
          </a:p>
        </p:txBody>
      </p:sp>
      <p:sp>
        <p:nvSpPr>
          <p:cNvPr id="4" name="Slide Number Placeholder 3">
            <a:extLst>
              <a:ext uri="{FF2B5EF4-FFF2-40B4-BE49-F238E27FC236}">
                <a16:creationId xmlns:a16="http://schemas.microsoft.com/office/drawing/2014/main" id="{9D3D7324-67F1-CE32-3ABB-7B4F4E75ABBD}"/>
              </a:ext>
            </a:extLst>
          </p:cNvPr>
          <p:cNvSpPr>
            <a:spLocks noGrp="1"/>
          </p:cNvSpPr>
          <p:nvPr>
            <p:ph type="sldNum" sz="quarter" idx="12"/>
          </p:nvPr>
        </p:nvSpPr>
        <p:spPr/>
        <p:txBody>
          <a:bodyPr/>
          <a:lstStyle/>
          <a:p>
            <a:fld id="{B82CCC60-E8CD-4174-8B1A-7DF615B22EEF}" type="slidenum">
              <a:rPr lang="en-US" smtClean="0"/>
              <a:pPr/>
              <a:t>22</a:t>
            </a:fld>
            <a:endParaRPr lang="en-US"/>
          </a:p>
        </p:txBody>
      </p:sp>
      <p:sp>
        <p:nvSpPr>
          <p:cNvPr id="7" name="Line 38">
            <a:extLst>
              <a:ext uri="{FF2B5EF4-FFF2-40B4-BE49-F238E27FC236}">
                <a16:creationId xmlns:a16="http://schemas.microsoft.com/office/drawing/2014/main" id="{557043B5-6A9F-9C36-5396-D03C2E44D4EC}"/>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72F8D5E0-9FBF-225E-1684-FECA0AC8921F}"/>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D53CDCCA-5B02-8FC5-0159-F11D53726644}"/>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D0259C26-55F3-0A89-C879-26119A94DAD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2B88799D-73A8-A80F-A1B6-70E12D6328D2}"/>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710CDF8A-4E2D-D5E9-C417-0B9EFFBD3CDD}"/>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9FF8AB77-EC6C-50F8-8579-6ADBEA813236}"/>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sp>
        <p:nvSpPr>
          <p:cNvPr id="41" name="Line 36">
            <a:extLst>
              <a:ext uri="{FF2B5EF4-FFF2-40B4-BE49-F238E27FC236}">
                <a16:creationId xmlns:a16="http://schemas.microsoft.com/office/drawing/2014/main" id="{969395CB-422A-F738-9394-51892C55BBA0}"/>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DD1DDF51-EB23-109C-871E-6A40DDE8D9F8}"/>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3999099A-B3B4-51BF-327F-9B2059B03F12}"/>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42">
            <a:extLst>
              <a:ext uri="{FF2B5EF4-FFF2-40B4-BE49-F238E27FC236}">
                <a16:creationId xmlns:a16="http://schemas.microsoft.com/office/drawing/2014/main" id="{5874C009-00C3-46CA-249E-F1EE47E777F7}"/>
              </a:ext>
            </a:extLst>
          </p:cNvPr>
          <p:cNvSpPr>
            <a:spLocks noChangeShapeType="1"/>
          </p:cNvSpPr>
          <p:nvPr/>
        </p:nvSpPr>
        <p:spPr bwMode="auto">
          <a:xfrm>
            <a:off x="2054045" y="3581705"/>
            <a:ext cx="327843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743FF068-0568-E1BB-0EE6-CF4152831699}"/>
              </a:ext>
            </a:extLst>
          </p:cNvPr>
          <p:cNvSpPr>
            <a:spLocks noChangeShapeType="1"/>
          </p:cNvSpPr>
          <p:nvPr/>
        </p:nvSpPr>
        <p:spPr bwMode="auto">
          <a:xfrm flipV="1">
            <a:off x="4542592" y="3429000"/>
            <a:ext cx="3385868" cy="2629"/>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2480C189-09F8-60AD-D208-622440F1E9E0}"/>
              </a:ext>
            </a:extLst>
          </p:cNvPr>
          <p:cNvSpPr>
            <a:spLocks noChangeShapeType="1"/>
          </p:cNvSpPr>
          <p:nvPr/>
        </p:nvSpPr>
        <p:spPr bwMode="auto">
          <a:xfrm flipV="1">
            <a:off x="6706819" y="3284925"/>
            <a:ext cx="2814825" cy="263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685316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E23D-B15D-17C1-53D3-CE149316115B}"/>
              </a:ext>
            </a:extLst>
          </p:cNvPr>
          <p:cNvSpPr>
            <a:spLocks noGrp="1"/>
          </p:cNvSpPr>
          <p:nvPr>
            <p:ph type="title"/>
          </p:nvPr>
        </p:nvSpPr>
        <p:spPr/>
        <p:txBody>
          <a:bodyPr>
            <a:normAutofit fontScale="90000"/>
          </a:bodyPr>
          <a:lstStyle/>
          <a:p>
            <a:r>
              <a:rPr lang="en-US" dirty="0"/>
              <a:t>Sequencing data formats</a:t>
            </a:r>
          </a:p>
        </p:txBody>
      </p:sp>
      <p:sp>
        <p:nvSpPr>
          <p:cNvPr id="3" name="Content Placeholder 2">
            <a:extLst>
              <a:ext uri="{FF2B5EF4-FFF2-40B4-BE49-F238E27FC236}">
                <a16:creationId xmlns:a16="http://schemas.microsoft.com/office/drawing/2014/main" id="{51E43666-5AB0-55BB-94F7-4C5D50574084}"/>
              </a:ext>
            </a:extLst>
          </p:cNvPr>
          <p:cNvSpPr>
            <a:spLocks noGrp="1"/>
          </p:cNvSpPr>
          <p:nvPr>
            <p:ph idx="1"/>
          </p:nvPr>
        </p:nvSpPr>
        <p:spPr>
          <a:xfrm>
            <a:off x="597472" y="2221711"/>
            <a:ext cx="10972800" cy="3918803"/>
          </a:xfrm>
        </p:spPr>
        <p:txBody>
          <a:bodyPr/>
          <a:lstStyle/>
          <a:p>
            <a:r>
              <a:rPr lang="en-US" dirty="0"/>
              <a:t>FASTA -- sequence with optional quality scores in a separate file</a:t>
            </a:r>
          </a:p>
          <a:p>
            <a:r>
              <a:rPr lang="en-US" dirty="0"/>
              <a:t>FASTQ -- sequence with quality scores</a:t>
            </a:r>
          </a:p>
          <a:p>
            <a:r>
              <a:rPr lang="en-US" dirty="0"/>
              <a:t>SAM/BAM -- sequence with quality scores and optional alignments to a genome</a:t>
            </a:r>
          </a:p>
        </p:txBody>
      </p:sp>
      <p:sp>
        <p:nvSpPr>
          <p:cNvPr id="4" name="Slide Number Placeholder 3">
            <a:extLst>
              <a:ext uri="{FF2B5EF4-FFF2-40B4-BE49-F238E27FC236}">
                <a16:creationId xmlns:a16="http://schemas.microsoft.com/office/drawing/2014/main" id="{1AEDAE9F-AAAB-A8FE-BB9D-762F025E1EED}"/>
              </a:ext>
            </a:extLst>
          </p:cNvPr>
          <p:cNvSpPr>
            <a:spLocks noGrp="1"/>
          </p:cNvSpPr>
          <p:nvPr>
            <p:ph type="sldNum" sz="quarter" idx="12"/>
          </p:nvPr>
        </p:nvSpPr>
        <p:spPr/>
        <p:txBody>
          <a:bodyPr/>
          <a:lstStyle/>
          <a:p>
            <a:fld id="{B82CCC60-E8CD-4174-8B1A-7DF615B22EEF}" type="slidenum">
              <a:rPr lang="en-US" smtClean="0"/>
              <a:pPr/>
              <a:t>23</a:t>
            </a:fld>
            <a:endParaRPr lang="en-US"/>
          </a:p>
        </p:txBody>
      </p:sp>
    </p:spTree>
    <p:extLst>
      <p:ext uri="{BB962C8B-B14F-4D97-AF65-F5344CB8AC3E}">
        <p14:creationId xmlns:p14="http://schemas.microsoft.com/office/powerpoint/2010/main" val="4043277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E56B5-2E3E-F172-C0D1-C4FD0DBB1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B9335C-434E-E5C3-E3F5-A11C153D770A}"/>
              </a:ext>
            </a:extLst>
          </p:cNvPr>
          <p:cNvSpPr>
            <a:spLocks noGrp="1"/>
          </p:cNvSpPr>
          <p:nvPr>
            <p:ph type="title"/>
          </p:nvPr>
        </p:nvSpPr>
        <p:spPr/>
        <p:txBody>
          <a:bodyPr>
            <a:normAutofit fontScale="90000"/>
          </a:bodyPr>
          <a:lstStyle/>
          <a:p>
            <a:r>
              <a:rPr lang="en-US" dirty="0"/>
              <a:t>Quality score</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16BE5B1-7CEE-85A7-FAD2-FDACAA8028BD}"/>
                  </a:ext>
                </a:extLst>
              </p:cNvPr>
              <p:cNvSpPr>
                <a:spLocks noGrp="1"/>
              </p:cNvSpPr>
              <p:nvPr>
                <p:ph idx="1"/>
              </p:nvPr>
            </p:nvSpPr>
            <p:spPr>
              <a:xfrm>
                <a:off x="838200" y="1825625"/>
                <a:ext cx="10515600" cy="1603375"/>
              </a:xfrm>
            </p:spPr>
            <p:txBody>
              <a:bodyPr>
                <a:normAutofit lnSpcReduction="10000"/>
              </a:bodyPr>
              <a:lstStyle/>
              <a:p>
                <a:r>
                  <a:rPr lang="en-US" dirty="0"/>
                  <a:t>Quality scores </a:t>
                </a:r>
                <a:r>
                  <a:rPr lang="en-US" i="1" dirty="0"/>
                  <a:t>q</a:t>
                </a:r>
                <a:r>
                  <a:rPr lang="en-US" dirty="0"/>
                  <a:t> are logarithmic</a:t>
                </a:r>
              </a:p>
              <a:p>
                <a:pPr marL="457200" lvl="1" indent="0">
                  <a:buNone/>
                </a:pPr>
                <a:endParaRPr lang="en-US" dirty="0"/>
              </a:p>
              <a:p>
                <a:pPr marL="457200" lvl="1" indent="0">
                  <a:buNone/>
                </a:pPr>
                <a14:m>
                  <m:oMath xmlns:m="http://schemas.openxmlformats.org/officeDocument/2006/math">
                    <m:r>
                      <a:rPr lang="en-US" b="0" i="1" smtClean="0">
                        <a:latin typeface="Cambria Math" panose="02040503050406030204" pitchFamily="18" charset="0"/>
                      </a:rPr>
                      <m:t>𝑃𝑟𝑜𝑏𝑎𝑏𝑖𝑙𝑖𝑡𝑦</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𝑒𝑟𝑟𝑜𝑟</m:t>
                    </m:r>
                    <m:r>
                      <a:rPr lang="en-US" b="0" i="1" smtClean="0">
                        <a:latin typeface="Cambria Math" panose="02040503050406030204" pitchFamily="18" charset="0"/>
                      </a:rPr>
                      <m:t>  </m:t>
                    </m:r>
                    <m:r>
                      <a:rPr lang="en-US" b="0" i="1" smtClean="0">
                        <a:latin typeface="Cambria Math" panose="02040503050406030204" pitchFamily="18" charset="0"/>
                      </a:rPr>
                      <m:t>𝑃</m:t>
                    </m:r>
                    <m:r>
                      <a:rPr lang="pt-BR" i="1" smtClean="0">
                        <a:latin typeface="Cambria Math" panose="02040503050406030204" pitchFamily="18" charset="0"/>
                      </a:rPr>
                      <m:t>=</m:t>
                    </m:r>
                    <m:sSup>
                      <m:sSupPr>
                        <m:ctrlPr>
                          <a:rPr lang="pt-BR" i="1" smtClean="0">
                            <a:latin typeface="Cambria Math" panose="02040503050406030204" pitchFamily="18" charset="0"/>
                          </a:rPr>
                        </m:ctrlPr>
                      </m:sSupPr>
                      <m:e>
                        <m:r>
                          <a:rPr lang="en-US" b="0" i="1" smtClean="0">
                            <a:latin typeface="Cambria Math" panose="02040503050406030204" pitchFamily="18" charset="0"/>
                          </a:rPr>
                          <m:t>10 </m:t>
                        </m:r>
                      </m:e>
                      <m: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𝑞</m:t>
                            </m:r>
                          </m:num>
                          <m:den>
                            <m:r>
                              <a:rPr lang="en-US" b="0" i="1" smtClean="0">
                                <a:latin typeface="Cambria Math" panose="02040503050406030204" pitchFamily="18" charset="0"/>
                              </a:rPr>
                              <m:t>10</m:t>
                            </m:r>
                          </m:den>
                        </m:f>
                      </m:sup>
                    </m:sSup>
                  </m:oMath>
                </a14:m>
                <a:r>
                  <a:rPr lang="en-US" dirty="0"/>
                  <a:t> or</a:t>
                </a:r>
                <a:r>
                  <a:rPr lang="en-US" b="0" dirty="0"/>
                  <a:t> </a:t>
                </a:r>
                <a14:m>
                  <m:oMath xmlns:m="http://schemas.openxmlformats.org/officeDocument/2006/math">
                    <m:r>
                      <a:rPr lang="en-US" b="0" i="1" smtClean="0">
                        <a:latin typeface="Cambria Math" panose="02040503050406030204" pitchFamily="18" charset="0"/>
                      </a:rPr>
                      <m:t>𝑞</m:t>
                    </m:r>
                    <m:r>
                      <a:rPr lang="pt-BR" i="1" smtClean="0">
                        <a:latin typeface="Cambria Math" panose="02040503050406030204" pitchFamily="18" charset="0"/>
                      </a:rPr>
                      <m:t>=</m:t>
                    </m:r>
                    <m:r>
                      <a:rPr lang="en-US" b="0" i="1" smtClean="0">
                        <a:latin typeface="Cambria Math" panose="02040503050406030204" pitchFamily="18" charset="0"/>
                      </a:rPr>
                      <m:t>−10 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𝑙𝑜𝑔</m:t>
                        </m:r>
                      </m:e>
                      <m:sub>
                        <m:r>
                          <a:rPr lang="en-US" b="0" i="1" smtClean="0">
                            <a:latin typeface="Cambria Math" panose="02040503050406030204" pitchFamily="18" charset="0"/>
                          </a:rPr>
                          <m:t>10</m:t>
                        </m:r>
                      </m:sub>
                    </m:sSub>
                    <m:r>
                      <a:rPr lang="en-US" b="0" i="1" smtClean="0">
                        <a:latin typeface="Cambria Math" panose="02040503050406030204" pitchFamily="18" charset="0"/>
                      </a:rPr>
                      <m:t>𝑃</m:t>
                    </m:r>
                  </m:oMath>
                </a14:m>
                <a:endParaRPr lang="en-US" dirty="0"/>
              </a:p>
              <a:p>
                <a:endParaRPr lang="en-US" dirty="0"/>
              </a:p>
            </p:txBody>
          </p:sp>
        </mc:Choice>
        <mc:Fallback xmlns="">
          <p:sp>
            <p:nvSpPr>
              <p:cNvPr id="5" name="Content Placeholder 4">
                <a:extLst>
                  <a:ext uri="{FF2B5EF4-FFF2-40B4-BE49-F238E27FC236}">
                    <a16:creationId xmlns:a16="http://schemas.microsoft.com/office/drawing/2014/main" id="{B16BE5B1-7CEE-85A7-FAD2-FDACAA8028BD}"/>
                  </a:ext>
                </a:extLst>
              </p:cNvPr>
              <p:cNvSpPr>
                <a:spLocks noGrp="1" noRot="1" noChangeAspect="1" noMove="1" noResize="1" noEditPoints="1" noAdjustHandles="1" noChangeArrowheads="1" noChangeShapeType="1" noTextEdit="1"/>
              </p:cNvSpPr>
              <p:nvPr>
                <p:ph idx="1"/>
              </p:nvPr>
            </p:nvSpPr>
            <p:spPr>
              <a:xfrm>
                <a:off x="838200" y="1825625"/>
                <a:ext cx="10515600" cy="1603375"/>
              </a:xfrm>
              <a:blipFill>
                <a:blip r:embed="rId2"/>
                <a:stretch>
                  <a:fillRect l="-1043" t="-6061" b="-833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B7F4AD84-188B-52EF-04B5-CFD4B0D6A0E1}"/>
              </a:ext>
            </a:extLst>
          </p:cNvPr>
          <p:cNvPicPr>
            <a:picLocks noChangeAspect="1"/>
          </p:cNvPicPr>
          <p:nvPr/>
        </p:nvPicPr>
        <p:blipFill>
          <a:blip r:embed="rId3"/>
          <a:stretch>
            <a:fillRect/>
          </a:stretch>
        </p:blipFill>
        <p:spPr>
          <a:xfrm>
            <a:off x="1024052" y="3563936"/>
            <a:ext cx="8872301" cy="2943613"/>
          </a:xfrm>
          <a:prstGeom prst="rect">
            <a:avLst/>
          </a:prstGeom>
        </p:spPr>
      </p:pic>
      <p:sp>
        <p:nvSpPr>
          <p:cNvPr id="8" name="TextBox 7">
            <a:extLst>
              <a:ext uri="{FF2B5EF4-FFF2-40B4-BE49-F238E27FC236}">
                <a16:creationId xmlns:a16="http://schemas.microsoft.com/office/drawing/2014/main" id="{8571BCB9-59C4-A8CB-2931-49839EC2AB1C}"/>
              </a:ext>
            </a:extLst>
          </p:cNvPr>
          <p:cNvSpPr txBox="1"/>
          <p:nvPr/>
        </p:nvSpPr>
        <p:spPr>
          <a:xfrm>
            <a:off x="1024052" y="6507549"/>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429206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2ECF5-9FBB-0AB1-79C1-47B57026F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9FFFBA-C2EA-9911-3EC3-BC60E5F11726}"/>
              </a:ext>
            </a:extLst>
          </p:cNvPr>
          <p:cNvSpPr>
            <a:spLocks noGrp="1"/>
          </p:cNvSpPr>
          <p:nvPr>
            <p:ph type="title"/>
          </p:nvPr>
        </p:nvSpPr>
        <p:spPr/>
        <p:txBody>
          <a:bodyPr>
            <a:normAutofit fontScale="90000"/>
          </a:bodyPr>
          <a:lstStyle/>
          <a:p>
            <a:r>
              <a:rPr lang="en-US" dirty="0"/>
              <a:t>Phred33 vs Phred64 encoding</a:t>
            </a:r>
          </a:p>
        </p:txBody>
      </p:sp>
      <p:sp>
        <p:nvSpPr>
          <p:cNvPr id="5" name="Content Placeholder 4">
            <a:extLst>
              <a:ext uri="{FF2B5EF4-FFF2-40B4-BE49-F238E27FC236}">
                <a16:creationId xmlns:a16="http://schemas.microsoft.com/office/drawing/2014/main" id="{A4A3B709-27A8-4CA9-3A3B-1275390270AB}"/>
              </a:ext>
            </a:extLst>
          </p:cNvPr>
          <p:cNvSpPr>
            <a:spLocks noGrp="1"/>
          </p:cNvSpPr>
          <p:nvPr>
            <p:ph idx="1"/>
          </p:nvPr>
        </p:nvSpPr>
        <p:spPr>
          <a:xfrm>
            <a:off x="606981" y="1575194"/>
            <a:ext cx="10515600" cy="1603375"/>
          </a:xfrm>
        </p:spPr>
        <p:txBody>
          <a:bodyPr>
            <a:normAutofit fontScale="92500" lnSpcReduction="20000"/>
          </a:bodyPr>
          <a:lstStyle/>
          <a:p>
            <a:r>
              <a:rPr lang="en-US" b="1" dirty="0"/>
              <a:t>Phred</a:t>
            </a:r>
            <a:r>
              <a:rPr lang="en-US" dirty="0"/>
              <a:t> (</a:t>
            </a:r>
            <a:r>
              <a:rPr lang="en-US" b="1" dirty="0">
                <a:hlinkClick r:id="rId2" tooltip="Philip Palmer Green"/>
              </a:rPr>
              <a:t>Ph</a:t>
            </a:r>
            <a:r>
              <a:rPr lang="en-US" dirty="0">
                <a:hlinkClick r:id="rId2" tooltip="Philip Palmer Green"/>
              </a:rPr>
              <a:t>il</a:t>
            </a:r>
            <a:r>
              <a:rPr lang="en-US" dirty="0"/>
              <a:t>'s </a:t>
            </a:r>
            <a:r>
              <a:rPr lang="en-US" b="1" dirty="0"/>
              <a:t>Re</a:t>
            </a:r>
            <a:r>
              <a:rPr lang="en-US" dirty="0"/>
              <a:t>ad </a:t>
            </a:r>
            <a:r>
              <a:rPr lang="en-US" b="1" dirty="0"/>
              <a:t>Ed</a:t>
            </a:r>
            <a:r>
              <a:rPr lang="en-US" dirty="0"/>
              <a:t>itor</a:t>
            </a:r>
            <a:r>
              <a:rPr lang="en-US" baseline="30000" dirty="0">
                <a:hlinkClick r:id="rId3"/>
              </a:rPr>
              <a:t>[1]</a:t>
            </a:r>
            <a:r>
              <a:rPr lang="en-US" dirty="0"/>
              <a:t>) -- the name of the first program to compute quality scores in Sanger sequencing data by Phil Green</a:t>
            </a:r>
          </a:p>
          <a:p>
            <a:r>
              <a:rPr lang="en-US" dirty="0"/>
              <a:t>Quality scores </a:t>
            </a:r>
            <a:r>
              <a:rPr lang="en-US" i="1" dirty="0"/>
              <a:t>q</a:t>
            </a:r>
            <a:r>
              <a:rPr lang="en-US" dirty="0"/>
              <a:t> are encoded with characters</a:t>
            </a:r>
          </a:p>
          <a:p>
            <a:r>
              <a:rPr lang="en-US" dirty="0"/>
              <a:t>Offset may differ – most common now is 33 (Phred33)</a:t>
            </a:r>
          </a:p>
          <a:p>
            <a:endParaRPr lang="en-US" dirty="0"/>
          </a:p>
        </p:txBody>
      </p:sp>
      <p:pic>
        <p:nvPicPr>
          <p:cNvPr id="6" name="Picture 5">
            <a:extLst>
              <a:ext uri="{FF2B5EF4-FFF2-40B4-BE49-F238E27FC236}">
                <a16:creationId xmlns:a16="http://schemas.microsoft.com/office/drawing/2014/main" id="{A669E05C-B699-20E6-C57E-25E29DEE32DD}"/>
              </a:ext>
            </a:extLst>
          </p:cNvPr>
          <p:cNvPicPr>
            <a:picLocks noChangeAspect="1"/>
          </p:cNvPicPr>
          <p:nvPr/>
        </p:nvPicPr>
        <p:blipFill>
          <a:blip r:embed="rId4"/>
          <a:stretch>
            <a:fillRect/>
          </a:stretch>
        </p:blipFill>
        <p:spPr>
          <a:xfrm>
            <a:off x="804774" y="3108200"/>
            <a:ext cx="10060673" cy="3108176"/>
          </a:xfrm>
          <a:prstGeom prst="rect">
            <a:avLst/>
          </a:prstGeom>
        </p:spPr>
      </p:pic>
      <p:sp>
        <p:nvSpPr>
          <p:cNvPr id="7" name="TextBox 6">
            <a:extLst>
              <a:ext uri="{FF2B5EF4-FFF2-40B4-BE49-F238E27FC236}">
                <a16:creationId xmlns:a16="http://schemas.microsoft.com/office/drawing/2014/main" id="{F8954909-9244-853B-8AF9-889145BE6641}"/>
              </a:ext>
            </a:extLst>
          </p:cNvPr>
          <p:cNvSpPr txBox="1"/>
          <p:nvPr/>
        </p:nvSpPr>
        <p:spPr>
          <a:xfrm>
            <a:off x="1128951" y="6167843"/>
            <a:ext cx="6757812" cy="369332"/>
          </a:xfrm>
          <a:prstGeom prst="rect">
            <a:avLst/>
          </a:prstGeom>
          <a:noFill/>
        </p:spPr>
        <p:txBody>
          <a:bodyPr wrap="none" rtlCol="0">
            <a:spAutoFit/>
          </a:bodyPr>
          <a:lstStyle/>
          <a:p>
            <a:r>
              <a:rPr lang="en-US"/>
              <a:t>https://learn.gencore.bio.nyu.edu/ngs-file-formats/quality-scores/</a:t>
            </a:r>
            <a:endParaRPr lang="en-US" dirty="0"/>
          </a:p>
        </p:txBody>
      </p:sp>
    </p:spTree>
    <p:extLst>
      <p:ext uri="{BB962C8B-B14F-4D97-AF65-F5344CB8AC3E}">
        <p14:creationId xmlns:p14="http://schemas.microsoft.com/office/powerpoint/2010/main" val="3617288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3D0A-A457-96B4-CE8E-A6C2FCE2CB23}"/>
              </a:ext>
            </a:extLst>
          </p:cNvPr>
          <p:cNvSpPr>
            <a:spLocks noGrp="1"/>
          </p:cNvSpPr>
          <p:nvPr>
            <p:ph type="title"/>
          </p:nvPr>
        </p:nvSpPr>
        <p:spPr/>
        <p:txBody>
          <a:bodyPr>
            <a:normAutofit fontScale="90000"/>
          </a:bodyPr>
          <a:lstStyle/>
          <a:p>
            <a:r>
              <a:rPr lang="en-US" dirty="0"/>
              <a:t>Fasta format</a:t>
            </a:r>
          </a:p>
        </p:txBody>
      </p:sp>
      <p:sp>
        <p:nvSpPr>
          <p:cNvPr id="3" name="Content Placeholder 2">
            <a:extLst>
              <a:ext uri="{FF2B5EF4-FFF2-40B4-BE49-F238E27FC236}">
                <a16:creationId xmlns:a16="http://schemas.microsoft.com/office/drawing/2014/main" id="{8220ECCC-E0B8-F323-BCA8-8D2A4518AAAF}"/>
              </a:ext>
            </a:extLst>
          </p:cNvPr>
          <p:cNvSpPr>
            <a:spLocks noGrp="1"/>
          </p:cNvSpPr>
          <p:nvPr>
            <p:ph idx="1"/>
          </p:nvPr>
        </p:nvSpPr>
        <p:spPr/>
        <p:txBody>
          <a:bodyPr/>
          <a:lstStyle/>
          <a:p>
            <a:r>
              <a:rPr lang="en-US" dirty="0"/>
              <a:t>Header line:</a:t>
            </a:r>
            <a:br>
              <a:rPr lang="en-US" dirty="0"/>
            </a:br>
            <a:r>
              <a:rPr lang="en-US" dirty="0"/>
              <a:t>&gt;</a:t>
            </a:r>
            <a:r>
              <a:rPr lang="en-US" dirty="0" err="1"/>
              <a:t>seq_name</a:t>
            </a:r>
            <a:r>
              <a:rPr lang="en-US" dirty="0"/>
              <a:t> attribute1 attribute2</a:t>
            </a:r>
          </a:p>
          <a:p>
            <a:r>
              <a:rPr lang="en-US" dirty="0"/>
              <a:t>Sequence, each line no longer than 80 characters (convention):</a:t>
            </a:r>
            <a:br>
              <a:rPr lang="en-US" dirty="0"/>
            </a:br>
            <a:r>
              <a:rPr lang="en-US" b="1" dirty="0">
                <a:latin typeface="Courier New" panose="02070309020205020404" pitchFamily="49" charset="0"/>
                <a:cs typeface="Courier New" panose="02070309020205020404" pitchFamily="49" charset="0"/>
              </a:rPr>
              <a:t>AGCATAGACATATAGCAT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AGATAGATCAGATAG</a:t>
            </a:r>
          </a:p>
          <a:p>
            <a:r>
              <a:rPr lang="en-US" dirty="0">
                <a:cs typeface="Courier New" panose="02070309020205020404" pitchFamily="49" charset="0"/>
              </a:rPr>
              <a:t>Optional accompanying file of quality scores</a:t>
            </a:r>
          </a:p>
        </p:txBody>
      </p:sp>
      <p:sp>
        <p:nvSpPr>
          <p:cNvPr id="4" name="Slide Number Placeholder 3">
            <a:extLst>
              <a:ext uri="{FF2B5EF4-FFF2-40B4-BE49-F238E27FC236}">
                <a16:creationId xmlns:a16="http://schemas.microsoft.com/office/drawing/2014/main" id="{55A33690-5C0B-9D7D-8E85-05EDDEF96C59}"/>
              </a:ext>
            </a:extLst>
          </p:cNvPr>
          <p:cNvSpPr>
            <a:spLocks noGrp="1"/>
          </p:cNvSpPr>
          <p:nvPr>
            <p:ph type="sldNum" sz="quarter" idx="12"/>
          </p:nvPr>
        </p:nvSpPr>
        <p:spPr/>
        <p:txBody>
          <a:bodyPr/>
          <a:lstStyle/>
          <a:p>
            <a:fld id="{B82CCC60-E8CD-4174-8B1A-7DF615B22EEF}" type="slidenum">
              <a:rPr lang="en-US" smtClean="0"/>
              <a:pPr/>
              <a:t>26</a:t>
            </a:fld>
            <a:endParaRPr lang="en-US"/>
          </a:p>
        </p:txBody>
      </p:sp>
    </p:spTree>
    <p:extLst>
      <p:ext uri="{BB962C8B-B14F-4D97-AF65-F5344CB8AC3E}">
        <p14:creationId xmlns:p14="http://schemas.microsoft.com/office/powerpoint/2010/main" val="2295762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CED73-BA2E-08CC-2536-4F4929FBC210}"/>
              </a:ext>
            </a:extLst>
          </p:cNvPr>
          <p:cNvSpPr>
            <a:spLocks noGrp="1"/>
          </p:cNvSpPr>
          <p:nvPr>
            <p:ph type="title"/>
          </p:nvPr>
        </p:nvSpPr>
        <p:spPr/>
        <p:txBody>
          <a:bodyPr>
            <a:normAutofit fontScale="90000"/>
          </a:bodyPr>
          <a:lstStyle/>
          <a:p>
            <a:r>
              <a:rPr lang="en-US" dirty="0"/>
              <a:t>Example fasta format</a:t>
            </a:r>
          </a:p>
        </p:txBody>
      </p:sp>
      <p:sp>
        <p:nvSpPr>
          <p:cNvPr id="3" name="Content Placeholder 2">
            <a:extLst>
              <a:ext uri="{FF2B5EF4-FFF2-40B4-BE49-F238E27FC236}">
                <a16:creationId xmlns:a16="http://schemas.microsoft.com/office/drawing/2014/main" id="{B9B4AE2F-09EC-4169-C031-981CCEBEC5D7}"/>
              </a:ext>
            </a:extLst>
          </p:cNvPr>
          <p:cNvSpPr>
            <a:spLocks noGrp="1"/>
          </p:cNvSpPr>
          <p:nvPr>
            <p:ph idx="1"/>
          </p:nvPr>
        </p:nvSpPr>
        <p:spPr/>
        <p:txBody>
          <a:bodyPr/>
          <a:lstStyle/>
          <a:p>
            <a:pPr marL="0" indent="0">
              <a:buNone/>
            </a:pPr>
            <a:r>
              <a:rPr lang="en-US" dirty="0"/>
              <a:t>&gt;sequence1 tag1=value1</a:t>
            </a:r>
          </a:p>
          <a:p>
            <a:pPr marL="0" indent="0">
              <a:buNone/>
            </a:pPr>
            <a:r>
              <a:rPr lang="en-US" dirty="0"/>
              <a:t>AGATAGATACAGATCAG</a:t>
            </a:r>
          </a:p>
          <a:p>
            <a:pPr marL="0" indent="0">
              <a:buNone/>
            </a:pPr>
            <a:r>
              <a:rPr lang="en-US" dirty="0"/>
              <a:t>&gt;sequence2 tag1=value1</a:t>
            </a:r>
          </a:p>
          <a:p>
            <a:pPr marL="0" indent="0">
              <a:buNone/>
            </a:pPr>
            <a:r>
              <a:rPr lang="en-US" dirty="0"/>
              <a:t>AAGAATCATACACAAA</a:t>
            </a:r>
          </a:p>
        </p:txBody>
      </p:sp>
      <p:sp>
        <p:nvSpPr>
          <p:cNvPr id="4" name="Slide Number Placeholder 3">
            <a:extLst>
              <a:ext uri="{FF2B5EF4-FFF2-40B4-BE49-F238E27FC236}">
                <a16:creationId xmlns:a16="http://schemas.microsoft.com/office/drawing/2014/main" id="{8863C274-D290-0C5C-2B30-71E6E529B2DA}"/>
              </a:ext>
            </a:extLst>
          </p:cNvPr>
          <p:cNvSpPr>
            <a:spLocks noGrp="1"/>
          </p:cNvSpPr>
          <p:nvPr>
            <p:ph type="sldNum" sz="quarter" idx="12"/>
          </p:nvPr>
        </p:nvSpPr>
        <p:spPr/>
        <p:txBody>
          <a:bodyPr/>
          <a:lstStyle/>
          <a:p>
            <a:fld id="{B82CCC60-E8CD-4174-8B1A-7DF615B22EEF}" type="slidenum">
              <a:rPr lang="en-US" smtClean="0"/>
              <a:pPr/>
              <a:t>27</a:t>
            </a:fld>
            <a:endParaRPr lang="en-US"/>
          </a:p>
        </p:txBody>
      </p:sp>
    </p:spTree>
    <p:extLst>
      <p:ext uri="{BB962C8B-B14F-4D97-AF65-F5344CB8AC3E}">
        <p14:creationId xmlns:p14="http://schemas.microsoft.com/office/powerpoint/2010/main" val="34605665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C7A7-9B7D-72F2-B7D5-C584EDE0EB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7FAB7E-52D9-A226-87CC-090FD655C70C}"/>
              </a:ext>
            </a:extLst>
          </p:cNvPr>
          <p:cNvSpPr>
            <a:spLocks noGrp="1"/>
          </p:cNvSpPr>
          <p:nvPr>
            <p:ph type="title"/>
          </p:nvPr>
        </p:nvSpPr>
        <p:spPr/>
        <p:txBody>
          <a:bodyPr>
            <a:normAutofit fontScale="90000"/>
          </a:bodyPr>
          <a:lstStyle/>
          <a:p>
            <a:r>
              <a:rPr lang="en-US" dirty="0" err="1"/>
              <a:t>Fastq</a:t>
            </a:r>
            <a:r>
              <a:rPr lang="en-US" dirty="0"/>
              <a:t> format</a:t>
            </a:r>
          </a:p>
        </p:txBody>
      </p:sp>
      <p:sp>
        <p:nvSpPr>
          <p:cNvPr id="5" name="Content Placeholder 4">
            <a:extLst>
              <a:ext uri="{FF2B5EF4-FFF2-40B4-BE49-F238E27FC236}">
                <a16:creationId xmlns:a16="http://schemas.microsoft.com/office/drawing/2014/main" id="{4CCE1F73-EB74-E96A-1F09-4459B16325BA}"/>
              </a:ext>
            </a:extLst>
          </p:cNvPr>
          <p:cNvSpPr>
            <a:spLocks noGrp="1"/>
          </p:cNvSpPr>
          <p:nvPr>
            <p:ph idx="1"/>
          </p:nvPr>
        </p:nvSpPr>
        <p:spPr>
          <a:xfrm>
            <a:off x="598620" y="1596540"/>
            <a:ext cx="10972800" cy="5191970"/>
          </a:xfrm>
        </p:spPr>
        <p:txBody>
          <a:bodyPr>
            <a:normAutofit fontScale="92500" lnSpcReduction="20000"/>
          </a:bodyPr>
          <a:lstStyle/>
          <a:p>
            <a:r>
              <a:rPr lang="en-US" sz="3100" dirty="0"/>
              <a:t>Each sequence definition starts with “@”, read name immediately follows</a:t>
            </a:r>
          </a:p>
          <a:p>
            <a:pPr lvl="1"/>
            <a:r>
              <a:rPr lang="en-US" sz="3100"/>
              <a:t>^@ </a:t>
            </a:r>
            <a:r>
              <a:rPr lang="en-US" sz="3100" dirty="0"/>
              <a:t>line may contain more space-separated fields</a:t>
            </a:r>
          </a:p>
          <a:p>
            <a:endParaRPr lang="en-US" sz="3100" dirty="0"/>
          </a:p>
          <a:p>
            <a:r>
              <a:rPr lang="en-US" sz="3100" dirty="0"/>
              <a:t>Next set of lines is the sequence (ACGTN), no limit on the line length</a:t>
            </a:r>
          </a:p>
          <a:p>
            <a:endParaRPr lang="en-US" sz="3100" dirty="0"/>
          </a:p>
          <a:p>
            <a:r>
              <a:rPr lang="en-US" sz="3100" dirty="0"/>
              <a:t>New line starting with “+” ends sequence; read name may be duplicated after the “+”</a:t>
            </a:r>
          </a:p>
          <a:p>
            <a:endParaRPr lang="en-US" sz="3100" dirty="0"/>
          </a:p>
          <a:p>
            <a:r>
              <a:rPr lang="en-US" sz="3100" dirty="0"/>
              <a:t>Quality scores follow.  Number of characters equal to the number of letters in the sequence</a:t>
            </a:r>
          </a:p>
          <a:p>
            <a:pPr lvl="1"/>
            <a:r>
              <a:rPr lang="en-US" sz="3100" dirty="0"/>
              <a:t>“@” symbol may appear in the quality scores!!!</a:t>
            </a:r>
          </a:p>
          <a:p>
            <a:endParaRPr lang="en-US" dirty="0"/>
          </a:p>
        </p:txBody>
      </p:sp>
    </p:spTree>
    <p:extLst>
      <p:ext uri="{BB962C8B-B14F-4D97-AF65-F5344CB8AC3E}">
        <p14:creationId xmlns:p14="http://schemas.microsoft.com/office/powerpoint/2010/main" val="2020580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C3CA-B3C4-89BC-229C-994C18C1B45B}"/>
              </a:ext>
            </a:extLst>
          </p:cNvPr>
          <p:cNvSpPr>
            <a:spLocks noGrp="1"/>
          </p:cNvSpPr>
          <p:nvPr>
            <p:ph type="title"/>
          </p:nvPr>
        </p:nvSpPr>
        <p:spPr/>
        <p:txBody>
          <a:bodyPr>
            <a:normAutofit fontScale="90000"/>
          </a:bodyPr>
          <a:lstStyle/>
          <a:p>
            <a:r>
              <a:rPr lang="en-US" dirty="0"/>
              <a:t>Example </a:t>
            </a:r>
            <a:r>
              <a:rPr lang="en-US" dirty="0" err="1"/>
              <a:t>fastq</a:t>
            </a:r>
            <a:r>
              <a:rPr lang="en-US" dirty="0"/>
              <a:t> format</a:t>
            </a:r>
          </a:p>
        </p:txBody>
      </p:sp>
      <p:sp>
        <p:nvSpPr>
          <p:cNvPr id="3" name="Content Placeholder 2">
            <a:extLst>
              <a:ext uri="{FF2B5EF4-FFF2-40B4-BE49-F238E27FC236}">
                <a16:creationId xmlns:a16="http://schemas.microsoft.com/office/drawing/2014/main" id="{EE051A9E-1A61-372A-DF4C-B8459544A710}"/>
              </a:ext>
            </a:extLst>
          </p:cNvPr>
          <p:cNvSpPr>
            <a:spLocks noGrp="1"/>
          </p:cNvSpPr>
          <p:nvPr>
            <p:ph idx="1"/>
          </p:nvPr>
        </p:nvSpPr>
        <p:spPr>
          <a:xfrm>
            <a:off x="613457" y="1423686"/>
            <a:ext cx="10984375" cy="5150734"/>
          </a:xfrm>
        </p:spPr>
        <p:txBody>
          <a:bodyPr>
            <a:normAutofit/>
          </a:bodyPr>
          <a:lstStyle/>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@read1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NAGCATGACATAGAC</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D@JNDKJNDKSSSNS</a:t>
            </a:r>
          </a:p>
          <a:p>
            <a:pPr marL="0" indent="0">
              <a:buNone/>
            </a:pPr>
            <a:r>
              <a:rPr lang="en-US" dirty="0">
                <a:latin typeface="Consolas" panose="020B0609020204030204" pitchFamily="49" charset="0"/>
              </a:rPr>
              <a:t>@read2 property=value </a:t>
            </a:r>
            <a:r>
              <a:rPr lang="en-US" dirty="0" err="1">
                <a:latin typeface="Consolas" panose="020B0609020204030204" pitchFamily="49" charset="0"/>
              </a:rPr>
              <a:t>someotherstuff</a:t>
            </a:r>
            <a:endParaRPr lang="en-US" dirty="0">
              <a:latin typeface="Consolas" panose="020B0609020204030204" pitchFamily="49" charset="0"/>
            </a:endParaRPr>
          </a:p>
          <a:p>
            <a:pPr marL="0" indent="0">
              <a:buNone/>
            </a:pPr>
            <a:r>
              <a:rPr lang="en-US" dirty="0">
                <a:latin typeface="Consolas" panose="020B0609020204030204" pitchFamily="49" charset="0"/>
              </a:rPr>
              <a:t>NGAGATCATGACTAG</a:t>
            </a:r>
          </a:p>
          <a:p>
            <a:pPr marL="0" indent="0">
              <a:buNone/>
            </a:pPr>
            <a:r>
              <a:rPr lang="en-US" dirty="0">
                <a:latin typeface="Consolas" panose="020B0609020204030204" pitchFamily="49" charset="0"/>
              </a:rPr>
              <a:t>+</a:t>
            </a:r>
          </a:p>
          <a:p>
            <a:pPr marL="0" indent="0">
              <a:buNone/>
            </a:pPr>
            <a:r>
              <a:rPr lang="en-US" dirty="0">
                <a:latin typeface="Consolas" panose="020B0609020204030204" pitchFamily="49" charset="0"/>
              </a:rPr>
              <a:t>KIDBDHBJSHAJHS3</a:t>
            </a:r>
          </a:p>
          <a:p>
            <a:pPr marL="0" indent="0">
              <a:buNone/>
            </a:pPr>
            <a:endParaRPr lang="en-US" dirty="0"/>
          </a:p>
        </p:txBody>
      </p:sp>
    </p:spTree>
    <p:extLst>
      <p:ext uri="{BB962C8B-B14F-4D97-AF65-F5344CB8AC3E}">
        <p14:creationId xmlns:p14="http://schemas.microsoft.com/office/powerpoint/2010/main" val="27016096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F382D2E-359B-7BA9-E7C9-8E93FFA7693B}"/>
              </a:ext>
            </a:extLst>
          </p:cNvPr>
          <p:cNvPicPr>
            <a:picLocks noChangeAspect="1"/>
          </p:cNvPicPr>
          <p:nvPr/>
        </p:nvPicPr>
        <p:blipFill>
          <a:blip r:embed="rId2"/>
          <a:stretch>
            <a:fillRect/>
          </a:stretch>
        </p:blipFill>
        <p:spPr>
          <a:xfrm>
            <a:off x="193634" y="2720449"/>
            <a:ext cx="11460174" cy="3772426"/>
          </a:xfrm>
          <a:prstGeom prst="rect">
            <a:avLst/>
          </a:prstGeom>
        </p:spPr>
      </p:pic>
    </p:spTree>
    <p:extLst>
      <p:ext uri="{BB962C8B-B14F-4D97-AF65-F5344CB8AC3E}">
        <p14:creationId xmlns:p14="http://schemas.microsoft.com/office/powerpoint/2010/main" val="10571414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29B8D-FE68-3D2A-95BD-379A514D8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6EA62-F0ED-F6B9-1261-43404885458D}"/>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611F65BD-836B-7F8D-93CB-C56A4CA5FBD9}"/>
              </a:ext>
            </a:extLst>
          </p:cNvPr>
          <p:cNvSpPr>
            <a:spLocks noGrp="1"/>
          </p:cNvSpPr>
          <p:nvPr>
            <p:ph idx="1"/>
          </p:nvPr>
        </p:nvSpPr>
        <p:spPr>
          <a:xfrm>
            <a:off x="827220" y="159654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440E925A-892E-B96A-00D4-0069CD5E6CFB}"/>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EBFF3D46-F312-4D7A-2428-E800AD577CDE}"/>
              </a:ext>
            </a:extLst>
          </p:cNvPr>
          <p:cNvSpPr/>
          <p:nvPr/>
        </p:nvSpPr>
        <p:spPr>
          <a:xfrm>
            <a:off x="598620" y="3123590"/>
            <a:ext cx="8856890" cy="3054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BE2D6B-AB66-86FA-FD8B-9345280C0970}"/>
              </a:ext>
            </a:extLst>
          </p:cNvPr>
          <p:cNvSpPr/>
          <p:nvPr/>
        </p:nvSpPr>
        <p:spPr>
          <a:xfrm>
            <a:off x="527864" y="5632404"/>
            <a:ext cx="10454695" cy="5452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63647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0CEC0-1AE7-074B-282C-87D6FAED2482}"/>
              </a:ext>
            </a:extLst>
          </p:cNvPr>
          <p:cNvSpPr>
            <a:spLocks noGrp="1"/>
          </p:cNvSpPr>
          <p:nvPr>
            <p:ph type="title"/>
          </p:nvPr>
        </p:nvSpPr>
        <p:spPr/>
        <p:txBody>
          <a:bodyPr>
            <a:normAutofit fontScale="90000"/>
          </a:bodyPr>
          <a:lstStyle/>
          <a:p>
            <a:r>
              <a:rPr lang="en-US" dirty="0"/>
              <a:t>SAM/BAM and samtools</a:t>
            </a:r>
          </a:p>
        </p:txBody>
      </p:sp>
      <p:sp>
        <p:nvSpPr>
          <p:cNvPr id="3" name="Content Placeholder 2">
            <a:extLst>
              <a:ext uri="{FF2B5EF4-FFF2-40B4-BE49-F238E27FC236}">
                <a16:creationId xmlns:a16="http://schemas.microsoft.com/office/drawing/2014/main" id="{7E6800C5-A733-FC80-1F6D-CD59AE818F7C}"/>
              </a:ext>
            </a:extLst>
          </p:cNvPr>
          <p:cNvSpPr>
            <a:spLocks noGrp="1"/>
          </p:cNvSpPr>
          <p:nvPr>
            <p:ph idx="1"/>
          </p:nvPr>
        </p:nvSpPr>
        <p:spPr>
          <a:xfrm>
            <a:off x="838200" y="1825625"/>
            <a:ext cx="10782782" cy="4795094"/>
          </a:xfrm>
        </p:spPr>
        <p:txBody>
          <a:bodyPr>
            <a:normAutofit/>
          </a:bodyPr>
          <a:lstStyle/>
          <a:p>
            <a:r>
              <a:rPr lang="en-US" dirty="0"/>
              <a:t>BAM files are compressed SAM files</a:t>
            </a:r>
          </a:p>
          <a:p>
            <a:r>
              <a:rPr lang="en-US" dirty="0"/>
              <a:t>Use </a:t>
            </a:r>
            <a:r>
              <a:rPr lang="en-US" i="1" dirty="0"/>
              <a:t>samtools</a:t>
            </a:r>
            <a:r>
              <a:rPr lang="en-US" dirty="0"/>
              <a:t> for SAM </a:t>
            </a:r>
            <a:r>
              <a:rPr lang="en-US" dirty="0">
                <a:sym typeface="Wingdings" panose="05000000000000000000" pitchFamily="2" charset="2"/>
              </a:rPr>
              <a:t> BAM conversion:</a:t>
            </a:r>
            <a:endParaRPr lang="en-US" dirty="0"/>
          </a:p>
          <a:p>
            <a:pPr lvl="1"/>
            <a:r>
              <a:rPr lang="en-US" dirty="0"/>
              <a:t>Useful utility to work with SAM/BAM files</a:t>
            </a:r>
          </a:p>
          <a:p>
            <a:pPr lvl="1"/>
            <a:r>
              <a:rPr lang="en-US" dirty="0"/>
              <a:t>To view help type samtools –help</a:t>
            </a:r>
          </a:p>
          <a:p>
            <a:pPr lvl="1"/>
            <a:r>
              <a:rPr lang="en-US" dirty="0"/>
              <a:t>Most frequently used options</a:t>
            </a:r>
          </a:p>
          <a:p>
            <a:pPr lvl="2"/>
            <a:r>
              <a:rPr lang="en-US" i="1" dirty="0"/>
              <a:t>samtools view</a:t>
            </a:r>
          </a:p>
          <a:p>
            <a:pPr lvl="2"/>
            <a:r>
              <a:rPr lang="en-US" i="1" dirty="0"/>
              <a:t>samtools </a:t>
            </a:r>
            <a:r>
              <a:rPr lang="en-US" i="1" dirty="0" err="1"/>
              <a:t>faidx</a:t>
            </a:r>
            <a:r>
              <a:rPr lang="en-US" i="1" dirty="0"/>
              <a:t>/index</a:t>
            </a:r>
          </a:p>
          <a:p>
            <a:pPr lvl="2"/>
            <a:r>
              <a:rPr lang="en-US" i="1" dirty="0"/>
              <a:t>samtools sort </a:t>
            </a:r>
          </a:p>
        </p:txBody>
      </p:sp>
    </p:spTree>
    <p:extLst>
      <p:ext uri="{BB962C8B-B14F-4D97-AF65-F5344CB8AC3E}">
        <p14:creationId xmlns:p14="http://schemas.microsoft.com/office/powerpoint/2010/main" val="7666943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17419-24E6-32CD-3F70-1774472F911D}"/>
              </a:ext>
            </a:extLst>
          </p:cNvPr>
          <p:cNvSpPr>
            <a:spLocks noGrp="1"/>
          </p:cNvSpPr>
          <p:nvPr>
            <p:ph type="title"/>
          </p:nvPr>
        </p:nvSpPr>
        <p:spPr/>
        <p:txBody>
          <a:bodyPr>
            <a:normAutofit fontScale="90000"/>
          </a:bodyPr>
          <a:lstStyle/>
          <a:p>
            <a:r>
              <a:rPr lang="en-US" dirty="0"/>
              <a:t>Lab 1: Convert fastq to fasta</a:t>
            </a:r>
          </a:p>
        </p:txBody>
      </p:sp>
      <p:sp>
        <p:nvSpPr>
          <p:cNvPr id="3" name="Content Placeholder 2">
            <a:extLst>
              <a:ext uri="{FF2B5EF4-FFF2-40B4-BE49-F238E27FC236}">
                <a16:creationId xmlns:a16="http://schemas.microsoft.com/office/drawing/2014/main" id="{425CCDEE-5F86-2947-1AE6-861B5FA3FCC9}"/>
              </a:ext>
            </a:extLst>
          </p:cNvPr>
          <p:cNvSpPr>
            <a:spLocks noGrp="1"/>
          </p:cNvSpPr>
          <p:nvPr>
            <p:ph idx="1"/>
          </p:nvPr>
        </p:nvSpPr>
        <p:spPr>
          <a:xfrm>
            <a:off x="598620" y="1596540"/>
            <a:ext cx="10972800" cy="4759811"/>
          </a:xfrm>
        </p:spPr>
        <p:txBody>
          <a:bodyPr>
            <a:normAutofit lnSpcReduction="10000"/>
          </a:bodyPr>
          <a:lstStyle/>
          <a:p>
            <a:r>
              <a:rPr lang="en-US" dirty="0"/>
              <a:t>Goal:  write a python script that reads a fastq file from stdin, converts it to fasta and outputs to </a:t>
            </a:r>
            <a:r>
              <a:rPr lang="en-US" dirty="0" err="1"/>
              <a:t>stdout</a:t>
            </a:r>
            <a:r>
              <a:rPr lang="en-US" dirty="0"/>
              <a:t>; familiarize yourself with </a:t>
            </a:r>
            <a:r>
              <a:rPr lang="en-US" dirty="0" err="1"/>
              <a:t>GradeScope</a:t>
            </a:r>
            <a:r>
              <a:rPr lang="en-US" dirty="0"/>
              <a:t> </a:t>
            </a:r>
          </a:p>
          <a:p>
            <a:r>
              <a:rPr lang="en-US" dirty="0"/>
              <a:t>There may be one or more than one sequence in the fastq file</a:t>
            </a:r>
          </a:p>
          <a:p>
            <a:r>
              <a:rPr lang="en-US" dirty="0"/>
              <a:t>Name your program </a:t>
            </a:r>
            <a:r>
              <a:rPr lang="en-US" b="1" dirty="0"/>
              <a:t>fastq_to_fasta.py</a:t>
            </a:r>
          </a:p>
          <a:p>
            <a:r>
              <a:rPr lang="en-US" dirty="0"/>
              <a:t>Do not assume that sequence/quality are on a single line. Remember: number of characters in the sequence (before line starting with “+”) specifies how many characters of quality you must read</a:t>
            </a:r>
          </a:p>
          <a:p>
            <a:r>
              <a:rPr lang="en-US" dirty="0"/>
              <a:t>Due date: </a:t>
            </a:r>
            <a:r>
              <a:rPr lang="en-US">
                <a:solidFill>
                  <a:srgbClr val="FF0000"/>
                </a:solidFill>
              </a:rPr>
              <a:t>September 5, </a:t>
            </a:r>
            <a:r>
              <a:rPr lang="en-US" dirty="0">
                <a:solidFill>
                  <a:srgbClr val="FF0000"/>
                </a:solidFill>
              </a:rPr>
              <a:t>8:00pm</a:t>
            </a:r>
            <a:r>
              <a:rPr lang="en-US" dirty="0"/>
              <a:t>.</a:t>
            </a:r>
          </a:p>
          <a:p>
            <a:r>
              <a:rPr lang="en-US" dirty="0"/>
              <a:t>Submit your code to </a:t>
            </a:r>
            <a:r>
              <a:rPr lang="en-US" dirty="0" err="1"/>
              <a:t>GradeScope</a:t>
            </a:r>
            <a:r>
              <a:rPr lang="en-US" dirty="0"/>
              <a:t>, it will be graded automatically right away, you have unlimited submission attempts until due date</a:t>
            </a:r>
          </a:p>
        </p:txBody>
      </p:sp>
      <p:sp>
        <p:nvSpPr>
          <p:cNvPr id="4" name="Slide Number Placeholder 3">
            <a:extLst>
              <a:ext uri="{FF2B5EF4-FFF2-40B4-BE49-F238E27FC236}">
                <a16:creationId xmlns:a16="http://schemas.microsoft.com/office/drawing/2014/main" id="{639749AD-3405-084C-7069-0304F382C15B}"/>
              </a:ext>
            </a:extLst>
          </p:cNvPr>
          <p:cNvSpPr>
            <a:spLocks noGrp="1"/>
          </p:cNvSpPr>
          <p:nvPr>
            <p:ph type="sldNum" sz="quarter" idx="12"/>
          </p:nvPr>
        </p:nvSpPr>
        <p:spPr/>
        <p:txBody>
          <a:bodyPr/>
          <a:lstStyle/>
          <a:p>
            <a:fld id="{B82CCC60-E8CD-4174-8B1A-7DF615B22EEF}" type="slidenum">
              <a:rPr lang="en-US" smtClean="0"/>
              <a:pPr/>
              <a:t>33</a:t>
            </a:fld>
            <a:endParaRPr lang="en-US"/>
          </a:p>
        </p:txBody>
      </p:sp>
    </p:spTree>
    <p:extLst>
      <p:ext uri="{BB962C8B-B14F-4D97-AF65-F5344CB8AC3E}">
        <p14:creationId xmlns:p14="http://schemas.microsoft.com/office/powerpoint/2010/main" val="20888573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0826" y="1749245"/>
            <a:ext cx="9075425" cy="1198665"/>
          </a:xfrm>
        </p:spPr>
        <p:txBody>
          <a:bodyPr>
            <a:normAutofit fontScale="77500" lnSpcReduction="20000"/>
          </a:bodyPr>
          <a:lstStyle/>
          <a:p>
            <a:r>
              <a:rPr lang="en-US" dirty="0"/>
              <a:t>FLAG field – 11 bits represented as decimal number</a:t>
            </a:r>
          </a:p>
          <a:p>
            <a:pPr lvl="1"/>
            <a:r>
              <a:rPr lang="en-US" dirty="0"/>
              <a:t>Most often used are 0 and 16</a:t>
            </a:r>
          </a:p>
          <a:p>
            <a:pPr lvl="1"/>
            <a:r>
              <a:rPr lang="en-US" dirty="0"/>
              <a:t>Conversion 000000010000</a:t>
            </a:r>
            <a:r>
              <a:rPr lang="en-US" baseline="-25000" dirty="0"/>
              <a:t>2</a:t>
            </a:r>
            <a:r>
              <a:rPr lang="en-US" dirty="0"/>
              <a:t> = 16, 010000010101</a:t>
            </a:r>
            <a:r>
              <a:rPr lang="en-US" baseline="-25000" dirty="0"/>
              <a:t>2</a:t>
            </a:r>
            <a:r>
              <a:rPr lang="en-US" dirty="0"/>
              <a:t> = 1024+16+4+1=1045</a:t>
            </a:r>
          </a:p>
          <a:p>
            <a:pPr lvl="1"/>
            <a:endParaRPr lang="en-US" dirty="0"/>
          </a:p>
          <a:p>
            <a:endParaRPr lang="en-US" dirty="0"/>
          </a:p>
        </p:txBody>
      </p:sp>
      <p:pic>
        <p:nvPicPr>
          <p:cNvPr id="4" name="Picture 3">
            <a:extLst>
              <a:ext uri="{FF2B5EF4-FFF2-40B4-BE49-F238E27FC236}">
                <a16:creationId xmlns:a16="http://schemas.microsoft.com/office/drawing/2014/main" id="{ABA5D542-7332-9542-95D9-9365FDB5444C}"/>
              </a:ext>
            </a:extLst>
          </p:cNvPr>
          <p:cNvPicPr>
            <a:picLocks noChangeAspect="1"/>
          </p:cNvPicPr>
          <p:nvPr/>
        </p:nvPicPr>
        <p:blipFill>
          <a:blip r:embed="rId2"/>
          <a:stretch>
            <a:fillRect/>
          </a:stretch>
        </p:blipFill>
        <p:spPr>
          <a:xfrm>
            <a:off x="838200" y="2792373"/>
            <a:ext cx="9669224" cy="3991532"/>
          </a:xfrm>
          <a:prstGeom prst="rect">
            <a:avLst/>
          </a:prstGeom>
        </p:spPr>
      </p:pic>
    </p:spTree>
    <p:extLst>
      <p:ext uri="{BB962C8B-B14F-4D97-AF65-F5344CB8AC3E}">
        <p14:creationId xmlns:p14="http://schemas.microsoft.com/office/powerpoint/2010/main" val="376118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BD630-5568-5317-6062-65F8EA6C46E3}"/>
              </a:ext>
            </a:extLst>
          </p:cNvPr>
          <p:cNvSpPr>
            <a:spLocks noGrp="1"/>
          </p:cNvSpPr>
          <p:nvPr>
            <p:ph type="title"/>
          </p:nvPr>
        </p:nvSpPr>
        <p:spPr>
          <a:xfrm>
            <a:off x="246822" y="336078"/>
            <a:ext cx="5849178" cy="802347"/>
          </a:xfrm>
        </p:spPr>
        <p:txBody>
          <a:bodyPr>
            <a:normAutofit fontScale="90000"/>
          </a:bodyPr>
          <a:lstStyle/>
          <a:p>
            <a:r>
              <a:rPr lang="en-US" dirty="0"/>
              <a:t>National Center for Biotechnology Information</a:t>
            </a:r>
          </a:p>
        </p:txBody>
      </p:sp>
      <p:sp>
        <p:nvSpPr>
          <p:cNvPr id="3" name="Content Placeholder 2">
            <a:extLst>
              <a:ext uri="{FF2B5EF4-FFF2-40B4-BE49-F238E27FC236}">
                <a16:creationId xmlns:a16="http://schemas.microsoft.com/office/drawing/2014/main" id="{07B1A15F-8799-7DD9-7CC9-16364B8D37B1}"/>
              </a:ext>
            </a:extLst>
          </p:cNvPr>
          <p:cNvSpPr>
            <a:spLocks noGrp="1"/>
          </p:cNvSpPr>
          <p:nvPr>
            <p:ph idx="1"/>
          </p:nvPr>
        </p:nvSpPr>
        <p:spPr>
          <a:xfrm>
            <a:off x="246822" y="1690688"/>
            <a:ext cx="4843780" cy="4351338"/>
          </a:xfrm>
        </p:spPr>
        <p:txBody>
          <a:bodyPr>
            <a:normAutofit fontScale="85000" lnSpcReduction="20000"/>
          </a:bodyPr>
          <a:lstStyle/>
          <a:p>
            <a:r>
              <a:rPr lang="en-US" dirty="0"/>
              <a:t>National Center for Biotechnology Information (NCBI) hosts multiple databases:</a:t>
            </a:r>
          </a:p>
          <a:p>
            <a:pPr lvl="1"/>
            <a:r>
              <a:rPr lang="en-US" b="1" dirty="0"/>
              <a:t>GenBank</a:t>
            </a:r>
            <a:r>
              <a:rPr lang="en-US" dirty="0"/>
              <a:t>:  repository of draft genomes</a:t>
            </a:r>
          </a:p>
          <a:p>
            <a:pPr lvl="1"/>
            <a:r>
              <a:rPr lang="en-US" b="1" dirty="0"/>
              <a:t>RefSeq</a:t>
            </a:r>
            <a:r>
              <a:rPr lang="en-US" dirty="0"/>
              <a:t>: repository of high quality genomes</a:t>
            </a:r>
          </a:p>
          <a:p>
            <a:pPr lvl="1"/>
            <a:r>
              <a:rPr lang="en-US" dirty="0"/>
              <a:t>Sequence Read Archive or the </a:t>
            </a:r>
            <a:r>
              <a:rPr lang="en-US" b="1" dirty="0"/>
              <a:t>SRA</a:t>
            </a:r>
            <a:r>
              <a:rPr lang="en-US" dirty="0"/>
              <a:t>: the biggest repository of the sequencing data</a:t>
            </a:r>
          </a:p>
          <a:p>
            <a:pPr lvl="1"/>
            <a:r>
              <a:rPr lang="en-US" dirty="0"/>
              <a:t>And many others (genes, proteins, literature, clinical trials, </a:t>
            </a:r>
            <a:r>
              <a:rPr lang="en-US" dirty="0" err="1"/>
              <a:t>etc</a:t>
            </a:r>
            <a:r>
              <a:rPr lang="en-US" dirty="0"/>
              <a:t> …)</a:t>
            </a:r>
          </a:p>
        </p:txBody>
      </p:sp>
      <p:pic>
        <p:nvPicPr>
          <p:cNvPr id="5" name="Picture 4">
            <a:extLst>
              <a:ext uri="{FF2B5EF4-FFF2-40B4-BE49-F238E27FC236}">
                <a16:creationId xmlns:a16="http://schemas.microsoft.com/office/drawing/2014/main" id="{716C99BC-3572-796C-C6AA-3D133BAF0744}"/>
              </a:ext>
            </a:extLst>
          </p:cNvPr>
          <p:cNvPicPr>
            <a:picLocks noChangeAspect="1"/>
          </p:cNvPicPr>
          <p:nvPr/>
        </p:nvPicPr>
        <p:blipFill>
          <a:blip r:embed="rId2"/>
          <a:stretch>
            <a:fillRect/>
          </a:stretch>
        </p:blipFill>
        <p:spPr>
          <a:xfrm>
            <a:off x="5090602" y="1690688"/>
            <a:ext cx="6968876" cy="4234181"/>
          </a:xfrm>
          <a:prstGeom prst="rect">
            <a:avLst/>
          </a:prstGeom>
        </p:spPr>
      </p:pic>
    </p:spTree>
    <p:extLst>
      <p:ext uri="{BB962C8B-B14F-4D97-AF65-F5344CB8AC3E}">
        <p14:creationId xmlns:p14="http://schemas.microsoft.com/office/powerpoint/2010/main" val="32724878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30AE-DEFD-F1ED-765D-430E0A6A9D25}"/>
              </a:ext>
            </a:extLst>
          </p:cNvPr>
          <p:cNvSpPr>
            <a:spLocks noGrp="1"/>
          </p:cNvSpPr>
          <p:nvPr>
            <p:ph type="title"/>
          </p:nvPr>
        </p:nvSpPr>
        <p:spPr/>
        <p:txBody>
          <a:bodyPr>
            <a:normAutofit fontScale="90000"/>
          </a:bodyPr>
          <a:lstStyle/>
          <a:p>
            <a:r>
              <a:rPr lang="en-US" dirty="0"/>
              <a:t>Finding information at NCBI</a:t>
            </a:r>
          </a:p>
        </p:txBody>
      </p:sp>
      <p:pic>
        <p:nvPicPr>
          <p:cNvPr id="5" name="Picture 4">
            <a:extLst>
              <a:ext uri="{FF2B5EF4-FFF2-40B4-BE49-F238E27FC236}">
                <a16:creationId xmlns:a16="http://schemas.microsoft.com/office/drawing/2014/main" id="{36749C20-BA32-279C-12BD-63D0868E9865}"/>
              </a:ext>
            </a:extLst>
          </p:cNvPr>
          <p:cNvPicPr>
            <a:picLocks noChangeAspect="1"/>
          </p:cNvPicPr>
          <p:nvPr/>
        </p:nvPicPr>
        <p:blipFill>
          <a:blip r:embed="rId2"/>
          <a:stretch>
            <a:fillRect/>
          </a:stretch>
        </p:blipFill>
        <p:spPr>
          <a:xfrm>
            <a:off x="218066" y="2142945"/>
            <a:ext cx="11517332" cy="2572109"/>
          </a:xfrm>
          <a:prstGeom prst="rect">
            <a:avLst/>
          </a:prstGeom>
        </p:spPr>
      </p:pic>
    </p:spTree>
    <p:extLst>
      <p:ext uri="{BB962C8B-B14F-4D97-AF65-F5344CB8AC3E}">
        <p14:creationId xmlns:p14="http://schemas.microsoft.com/office/powerpoint/2010/main" val="8768050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C54F-D123-9FFD-B337-B24B47EDC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0286FE-BC17-9551-AD71-763E5B689C49}"/>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D72C672A-A98F-60B5-E62F-6DD5CB5EF0B4}"/>
              </a:ext>
            </a:extLst>
          </p:cNvPr>
          <p:cNvPicPr>
            <a:picLocks noChangeAspect="1"/>
          </p:cNvPicPr>
          <p:nvPr/>
        </p:nvPicPr>
        <p:blipFill>
          <a:blip r:embed="rId2"/>
          <a:stretch>
            <a:fillRect/>
          </a:stretch>
        </p:blipFill>
        <p:spPr>
          <a:xfrm>
            <a:off x="1922584" y="1152327"/>
            <a:ext cx="7579971" cy="5705673"/>
          </a:xfrm>
          <a:prstGeom prst="rect">
            <a:avLst/>
          </a:prstGeom>
        </p:spPr>
      </p:pic>
    </p:spTree>
    <p:extLst>
      <p:ext uri="{BB962C8B-B14F-4D97-AF65-F5344CB8AC3E}">
        <p14:creationId xmlns:p14="http://schemas.microsoft.com/office/powerpoint/2010/main" val="1456950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A8731-0013-CB34-EE8A-B1BAE38272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8A2470-1231-0685-15BB-D384E18AE24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96C92FD1-389A-5297-FF28-BE25A1138080}"/>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1034B549-A6ED-81C5-EAD8-153F533AA3C1}"/>
              </a:ext>
            </a:extLst>
          </p:cNvPr>
          <p:cNvSpPr/>
          <p:nvPr/>
        </p:nvSpPr>
        <p:spPr>
          <a:xfrm>
            <a:off x="2184935" y="4822257"/>
            <a:ext cx="2021305"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34695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31E08-712F-6B96-E087-9BB06A54D9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8377DD6-CF46-C4E7-FB4F-9C8E0B915DB9}"/>
              </a:ext>
            </a:extLst>
          </p:cNvPr>
          <p:cNvPicPr>
            <a:picLocks noChangeAspect="1"/>
          </p:cNvPicPr>
          <p:nvPr/>
        </p:nvPicPr>
        <p:blipFill>
          <a:blip r:embed="rId2"/>
          <a:stretch>
            <a:fillRect/>
          </a:stretch>
        </p:blipFill>
        <p:spPr>
          <a:xfrm>
            <a:off x="1463041" y="881967"/>
            <a:ext cx="8864335" cy="5976033"/>
          </a:xfrm>
          <a:prstGeom prst="rect">
            <a:avLst/>
          </a:prstGeom>
        </p:spPr>
      </p:pic>
      <p:sp>
        <p:nvSpPr>
          <p:cNvPr id="2" name="Title 1">
            <a:extLst>
              <a:ext uri="{FF2B5EF4-FFF2-40B4-BE49-F238E27FC236}">
                <a16:creationId xmlns:a16="http://schemas.microsoft.com/office/drawing/2014/main" id="{04CFABAC-FB10-C7DD-581A-178DE0E7A699}"/>
              </a:ext>
            </a:extLst>
          </p:cNvPr>
          <p:cNvSpPr>
            <a:spLocks noGrp="1"/>
          </p:cNvSpPr>
          <p:nvPr>
            <p:ph type="title"/>
          </p:nvPr>
        </p:nvSpPr>
        <p:spPr>
          <a:xfrm>
            <a:off x="838200" y="46038"/>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5B823866-4334-00AF-63A0-C90B867B33E6}"/>
              </a:ext>
            </a:extLst>
          </p:cNvPr>
          <p:cNvSpPr/>
          <p:nvPr/>
        </p:nvSpPr>
        <p:spPr>
          <a:xfrm>
            <a:off x="2243384" y="5495780"/>
            <a:ext cx="715282" cy="39488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307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54709-9D6C-74C1-9825-D064554A933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C7C5A8-D5F4-323F-C448-7EBF1818F8E6}"/>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67E5096-1339-0149-700B-685FA370C240}"/>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9D8130BE-A478-4EBB-7D30-24480A0D4A3E}"/>
              </a:ext>
            </a:extLst>
          </p:cNvPr>
          <p:cNvSpPr/>
          <p:nvPr/>
        </p:nvSpPr>
        <p:spPr>
          <a:xfrm>
            <a:off x="501476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6870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80821-A0D0-7382-6A9B-34C795A1C73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B0C8B6A-654C-4F8B-CA26-319AC5C78D22}"/>
              </a:ext>
            </a:extLst>
          </p:cNvPr>
          <p:cNvPicPr>
            <a:picLocks noChangeAspect="1"/>
          </p:cNvPicPr>
          <p:nvPr/>
        </p:nvPicPr>
        <p:blipFill>
          <a:blip r:embed="rId2"/>
          <a:stretch>
            <a:fillRect/>
          </a:stretch>
        </p:blipFill>
        <p:spPr>
          <a:xfrm>
            <a:off x="838200" y="1532319"/>
            <a:ext cx="9173855" cy="5182323"/>
          </a:xfrm>
          <a:prstGeom prst="rect">
            <a:avLst/>
          </a:prstGeom>
        </p:spPr>
      </p:pic>
      <p:sp>
        <p:nvSpPr>
          <p:cNvPr id="2" name="Title 1">
            <a:extLst>
              <a:ext uri="{FF2B5EF4-FFF2-40B4-BE49-F238E27FC236}">
                <a16:creationId xmlns:a16="http://schemas.microsoft.com/office/drawing/2014/main" id="{4D95F086-82EC-4EBE-939E-98D65C56BB45}"/>
              </a:ext>
            </a:extLst>
          </p:cNvPr>
          <p:cNvSpPr>
            <a:spLocks noGrp="1"/>
          </p:cNvSpPr>
          <p:nvPr>
            <p:ph type="title"/>
          </p:nvPr>
        </p:nvSpPr>
        <p:spPr/>
        <p:txBody>
          <a:bodyPr>
            <a:normAutofit fontScale="90000"/>
          </a:bodyPr>
          <a:lstStyle/>
          <a:p>
            <a:r>
              <a:rPr lang="en-US" dirty="0"/>
              <a:t>Finding information at </a:t>
            </a:r>
            <a:r>
              <a:rPr lang="en-US" dirty="0" err="1"/>
              <a:t>NCBI:GenBank</a:t>
            </a:r>
            <a:r>
              <a:rPr lang="en-US" dirty="0"/>
              <a:t>/RefSeq</a:t>
            </a:r>
          </a:p>
        </p:txBody>
      </p:sp>
      <p:sp>
        <p:nvSpPr>
          <p:cNvPr id="3" name="TextBox 2">
            <a:extLst>
              <a:ext uri="{FF2B5EF4-FFF2-40B4-BE49-F238E27FC236}">
                <a16:creationId xmlns:a16="http://schemas.microsoft.com/office/drawing/2014/main" id="{6AF7E0AB-E8E1-1781-0DCA-A251F8A4908D}"/>
              </a:ext>
            </a:extLst>
          </p:cNvPr>
          <p:cNvSpPr txBox="1"/>
          <p:nvPr/>
        </p:nvSpPr>
        <p:spPr>
          <a:xfrm>
            <a:off x="6597446" y="3303638"/>
            <a:ext cx="4156694" cy="2031325"/>
          </a:xfrm>
          <a:prstGeom prst="rect">
            <a:avLst/>
          </a:prstGeom>
          <a:noFill/>
        </p:spPr>
        <p:txBody>
          <a:bodyPr wrap="square" rtlCol="0">
            <a:spAutoFit/>
          </a:bodyPr>
          <a:lstStyle/>
          <a:p>
            <a:r>
              <a:rPr lang="en-US" dirty="0"/>
              <a:t>Right-click on the link and choose “Copy link”</a:t>
            </a:r>
          </a:p>
          <a:p>
            <a:endParaRPr lang="en-US" dirty="0"/>
          </a:p>
          <a:p>
            <a:r>
              <a:rPr lang="en-US" dirty="0"/>
              <a:t>Then go to your terminal and type </a:t>
            </a:r>
            <a:r>
              <a:rPr lang="en-US" dirty="0" err="1"/>
              <a:t>wget</a:t>
            </a:r>
            <a:r>
              <a:rPr lang="en-US" dirty="0"/>
              <a:t> and paste the link:</a:t>
            </a:r>
          </a:p>
          <a:p>
            <a:endParaRPr lang="en-US" dirty="0"/>
          </a:p>
          <a:p>
            <a:r>
              <a:rPr lang="en-US" dirty="0" err="1"/>
              <a:t>wget</a:t>
            </a:r>
            <a:r>
              <a:rPr lang="en-US" dirty="0"/>
              <a:t> </a:t>
            </a:r>
            <a:r>
              <a:rPr lang="en-US" dirty="0" err="1"/>
              <a:t>paste_the_link_here</a:t>
            </a:r>
            <a:endParaRPr lang="en-US" dirty="0"/>
          </a:p>
        </p:txBody>
      </p:sp>
    </p:spTree>
    <p:extLst>
      <p:ext uri="{BB962C8B-B14F-4D97-AF65-F5344CB8AC3E}">
        <p14:creationId xmlns:p14="http://schemas.microsoft.com/office/powerpoint/2010/main" val="27057122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C4F91-B837-09C4-B1FB-D1E02E8D04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FBB14AC-5308-EB21-2703-44C3F3C290A5}"/>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848332C3-8217-7D62-5214-9A07F22116C2}"/>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E8872B2C-60E3-C460-5C3B-B7310B5FB6AB}"/>
              </a:ext>
            </a:extLst>
          </p:cNvPr>
          <p:cNvSpPr/>
          <p:nvPr/>
        </p:nvSpPr>
        <p:spPr>
          <a:xfrm>
            <a:off x="3205212" y="3710210"/>
            <a:ext cx="596768" cy="2425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89101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86214-ABA1-2359-8DED-B7BA619E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C0D0D-FFF4-EE0B-C3FB-3AE8BC574DEE}"/>
              </a:ext>
            </a:extLst>
          </p:cNvPr>
          <p:cNvSpPr>
            <a:spLocks noGrp="1"/>
          </p:cNvSpPr>
          <p:nvPr>
            <p:ph type="title"/>
          </p:nvPr>
        </p:nvSpPr>
        <p:spPr>
          <a:xfrm>
            <a:off x="838200" y="0"/>
            <a:ext cx="10515600" cy="1325563"/>
          </a:xfrm>
        </p:spPr>
        <p:txBody>
          <a:bodyPr/>
          <a:lstStyle/>
          <a:p>
            <a:r>
              <a:rPr lang="en-US" dirty="0"/>
              <a:t>Finding information at </a:t>
            </a:r>
            <a:r>
              <a:rPr lang="en-US" dirty="0" err="1"/>
              <a:t>NCBI:GenBank</a:t>
            </a:r>
            <a:r>
              <a:rPr lang="en-US" dirty="0"/>
              <a:t>/RefSeq</a:t>
            </a:r>
          </a:p>
        </p:txBody>
      </p:sp>
      <p:pic>
        <p:nvPicPr>
          <p:cNvPr id="5" name="Picture 4">
            <a:extLst>
              <a:ext uri="{FF2B5EF4-FFF2-40B4-BE49-F238E27FC236}">
                <a16:creationId xmlns:a16="http://schemas.microsoft.com/office/drawing/2014/main" id="{890FB72E-7C96-D110-C2C4-144854C6B941}"/>
              </a:ext>
            </a:extLst>
          </p:cNvPr>
          <p:cNvPicPr>
            <a:picLocks noChangeAspect="1"/>
          </p:cNvPicPr>
          <p:nvPr/>
        </p:nvPicPr>
        <p:blipFill>
          <a:blip r:embed="rId2"/>
          <a:stretch>
            <a:fillRect/>
          </a:stretch>
        </p:blipFill>
        <p:spPr>
          <a:xfrm>
            <a:off x="838200" y="1191695"/>
            <a:ext cx="7074296" cy="5666305"/>
          </a:xfrm>
          <a:prstGeom prst="rect">
            <a:avLst/>
          </a:prstGeom>
        </p:spPr>
      </p:pic>
    </p:spTree>
    <p:extLst>
      <p:ext uri="{BB962C8B-B14F-4D97-AF65-F5344CB8AC3E}">
        <p14:creationId xmlns:p14="http://schemas.microsoft.com/office/powerpoint/2010/main" val="31085495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BA25E-9179-C903-9036-FA6AC0BDD34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B737F84-A7F4-ED5E-8C2C-44E4E7CB0C4C}"/>
              </a:ext>
            </a:extLst>
          </p:cNvPr>
          <p:cNvPicPr>
            <a:picLocks noChangeAspect="1"/>
          </p:cNvPicPr>
          <p:nvPr/>
        </p:nvPicPr>
        <p:blipFill>
          <a:blip r:embed="rId2"/>
          <a:stretch>
            <a:fillRect/>
          </a:stretch>
        </p:blipFill>
        <p:spPr>
          <a:xfrm>
            <a:off x="2704699" y="1047484"/>
            <a:ext cx="8274227" cy="5810516"/>
          </a:xfrm>
          <a:prstGeom prst="rect">
            <a:avLst/>
          </a:prstGeom>
        </p:spPr>
      </p:pic>
      <p:sp>
        <p:nvSpPr>
          <p:cNvPr id="2" name="Title 1">
            <a:extLst>
              <a:ext uri="{FF2B5EF4-FFF2-40B4-BE49-F238E27FC236}">
                <a16:creationId xmlns:a16="http://schemas.microsoft.com/office/drawing/2014/main" id="{4F3FF5ED-886A-5507-3EE8-4F86C2AEEED5}"/>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D52E205C-3C39-434D-153E-1679E29ED3FD}"/>
              </a:ext>
            </a:extLst>
          </p:cNvPr>
          <p:cNvSpPr/>
          <p:nvPr/>
        </p:nvSpPr>
        <p:spPr>
          <a:xfrm>
            <a:off x="7517329" y="4124096"/>
            <a:ext cx="596768" cy="6019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05472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952A-C249-6998-9016-D01BE521698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65C9D-F98A-F6DA-6994-636F8304EF3B}"/>
              </a:ext>
            </a:extLst>
          </p:cNvPr>
          <p:cNvPicPr>
            <a:picLocks noChangeAspect="1"/>
          </p:cNvPicPr>
          <p:nvPr/>
        </p:nvPicPr>
        <p:blipFill>
          <a:blip r:embed="rId2"/>
          <a:stretch>
            <a:fillRect/>
          </a:stretch>
        </p:blipFill>
        <p:spPr>
          <a:xfrm>
            <a:off x="2685448" y="1001742"/>
            <a:ext cx="8228658" cy="5856257"/>
          </a:xfrm>
          <a:prstGeom prst="rect">
            <a:avLst/>
          </a:prstGeom>
        </p:spPr>
      </p:pic>
      <p:sp>
        <p:nvSpPr>
          <p:cNvPr id="2" name="Title 1">
            <a:extLst>
              <a:ext uri="{FF2B5EF4-FFF2-40B4-BE49-F238E27FC236}">
                <a16:creationId xmlns:a16="http://schemas.microsoft.com/office/drawing/2014/main" id="{D095E68E-7A7D-50BC-54B9-7FB8C8634F1F}"/>
              </a:ext>
            </a:extLst>
          </p:cNvPr>
          <p:cNvSpPr>
            <a:spLocks noGrp="1"/>
          </p:cNvSpPr>
          <p:nvPr>
            <p:ph type="title"/>
          </p:nvPr>
        </p:nvSpPr>
        <p:spPr>
          <a:xfrm>
            <a:off x="838200" y="87333"/>
            <a:ext cx="10515600" cy="1325563"/>
          </a:xfrm>
        </p:spPr>
        <p:txBody>
          <a:bodyPr/>
          <a:lstStyle/>
          <a:p>
            <a:r>
              <a:rPr lang="en-US" dirty="0"/>
              <a:t>Finding information at </a:t>
            </a:r>
            <a:r>
              <a:rPr lang="en-US" dirty="0" err="1"/>
              <a:t>NCBI:GenBank</a:t>
            </a:r>
            <a:r>
              <a:rPr lang="en-US" dirty="0"/>
              <a:t>/RefSeq</a:t>
            </a:r>
          </a:p>
        </p:txBody>
      </p:sp>
      <p:sp>
        <p:nvSpPr>
          <p:cNvPr id="6" name="Oval 5">
            <a:extLst>
              <a:ext uri="{FF2B5EF4-FFF2-40B4-BE49-F238E27FC236}">
                <a16:creationId xmlns:a16="http://schemas.microsoft.com/office/drawing/2014/main" id="{7E121A6F-FE36-B09A-C9DD-F5B3FFE6BE69}"/>
              </a:ext>
            </a:extLst>
          </p:cNvPr>
          <p:cNvSpPr/>
          <p:nvPr/>
        </p:nvSpPr>
        <p:spPr>
          <a:xfrm>
            <a:off x="7517328" y="5082138"/>
            <a:ext cx="1989223" cy="40426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5512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50E2B-EFC9-6F76-C19E-BEB450F19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CF337-93DC-90B2-DDA6-23BA092860BA}"/>
              </a:ext>
            </a:extLst>
          </p:cNvPr>
          <p:cNvSpPr>
            <a:spLocks noGrp="1"/>
          </p:cNvSpPr>
          <p:nvPr>
            <p:ph type="title"/>
          </p:nvPr>
        </p:nvSpPr>
        <p:spPr>
          <a:xfrm>
            <a:off x="870155" y="0"/>
            <a:ext cx="10515600" cy="1325563"/>
          </a:xfrm>
        </p:spPr>
        <p:txBody>
          <a:bodyPr/>
          <a:lstStyle/>
          <a:p>
            <a:r>
              <a:rPr lang="en-US" dirty="0"/>
              <a:t>Finding information at NCBI</a:t>
            </a:r>
          </a:p>
        </p:txBody>
      </p:sp>
      <p:pic>
        <p:nvPicPr>
          <p:cNvPr id="5" name="Picture 4">
            <a:extLst>
              <a:ext uri="{FF2B5EF4-FFF2-40B4-BE49-F238E27FC236}">
                <a16:creationId xmlns:a16="http://schemas.microsoft.com/office/drawing/2014/main" id="{3DC0B8B3-AB55-620D-51C4-BA1E2EB5B5BF}"/>
              </a:ext>
            </a:extLst>
          </p:cNvPr>
          <p:cNvPicPr>
            <a:picLocks noChangeAspect="1"/>
          </p:cNvPicPr>
          <p:nvPr/>
        </p:nvPicPr>
        <p:blipFill>
          <a:blip r:embed="rId2"/>
          <a:stretch>
            <a:fillRect/>
          </a:stretch>
        </p:blipFill>
        <p:spPr>
          <a:xfrm>
            <a:off x="1922584" y="1152327"/>
            <a:ext cx="7579971" cy="5705673"/>
          </a:xfrm>
          <a:prstGeom prst="rect">
            <a:avLst/>
          </a:prstGeom>
        </p:spPr>
      </p:pic>
      <p:sp>
        <p:nvSpPr>
          <p:cNvPr id="3" name="Oval 2">
            <a:extLst>
              <a:ext uri="{FF2B5EF4-FFF2-40B4-BE49-F238E27FC236}">
                <a16:creationId xmlns:a16="http://schemas.microsoft.com/office/drawing/2014/main" id="{CDE8FF6E-1E27-312E-A4AA-23CB8865371C}"/>
              </a:ext>
            </a:extLst>
          </p:cNvPr>
          <p:cNvSpPr/>
          <p:nvPr/>
        </p:nvSpPr>
        <p:spPr>
          <a:xfrm>
            <a:off x="2252313" y="6006164"/>
            <a:ext cx="2348564" cy="38501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4945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141EF-6BB9-B23D-CB93-38E78C443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6A6EB5-5715-229F-F801-F84E41C25102}"/>
              </a:ext>
            </a:extLst>
          </p:cNvPr>
          <p:cNvSpPr>
            <a:spLocks noGrp="1"/>
          </p:cNvSpPr>
          <p:nvPr>
            <p:ph type="title"/>
          </p:nvPr>
        </p:nvSpPr>
        <p:spPr/>
        <p:txBody>
          <a:bodyPr>
            <a:normAutofit fontScale="90000"/>
          </a:bodyPr>
          <a:lstStyle/>
          <a:p>
            <a:r>
              <a:rPr lang="en-US" dirty="0"/>
              <a:t>Finding information at NCBI:SRA</a:t>
            </a:r>
          </a:p>
        </p:txBody>
      </p:sp>
      <p:pic>
        <p:nvPicPr>
          <p:cNvPr id="7" name="Picture 6">
            <a:extLst>
              <a:ext uri="{FF2B5EF4-FFF2-40B4-BE49-F238E27FC236}">
                <a16:creationId xmlns:a16="http://schemas.microsoft.com/office/drawing/2014/main" id="{107A1B0D-B7B7-1112-0E9F-9CFC2B7FFC4C}"/>
              </a:ext>
            </a:extLst>
          </p:cNvPr>
          <p:cNvPicPr>
            <a:picLocks noChangeAspect="1"/>
          </p:cNvPicPr>
          <p:nvPr/>
        </p:nvPicPr>
        <p:blipFill>
          <a:blip r:embed="rId2"/>
          <a:stretch>
            <a:fillRect/>
          </a:stretch>
        </p:blipFill>
        <p:spPr>
          <a:xfrm>
            <a:off x="509286" y="1270722"/>
            <a:ext cx="7810656" cy="5587278"/>
          </a:xfrm>
          <a:prstGeom prst="rect">
            <a:avLst/>
          </a:prstGeom>
        </p:spPr>
      </p:pic>
    </p:spTree>
    <p:extLst>
      <p:ext uri="{BB962C8B-B14F-4D97-AF65-F5344CB8AC3E}">
        <p14:creationId xmlns:p14="http://schemas.microsoft.com/office/powerpoint/2010/main" val="1148085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F38AF-3490-19F6-2FB0-7C6EB9FD5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41F1C-4F6D-021A-4163-379DDAEE1516}"/>
              </a:ext>
            </a:extLst>
          </p:cNvPr>
          <p:cNvSpPr>
            <a:spLocks noGrp="1"/>
          </p:cNvSpPr>
          <p:nvPr>
            <p:ph type="title"/>
          </p:nvPr>
        </p:nvSpPr>
        <p:spPr/>
        <p:txBody>
          <a:bodyPr>
            <a:normAutofit fontScale="90000"/>
          </a:bodyPr>
          <a:lstStyle/>
          <a:p>
            <a:r>
              <a:rPr lang="en-US" dirty="0"/>
              <a:t>Finding information at NCBI:SRA</a:t>
            </a:r>
          </a:p>
        </p:txBody>
      </p:sp>
      <p:pic>
        <p:nvPicPr>
          <p:cNvPr id="4" name="Picture 3">
            <a:extLst>
              <a:ext uri="{FF2B5EF4-FFF2-40B4-BE49-F238E27FC236}">
                <a16:creationId xmlns:a16="http://schemas.microsoft.com/office/drawing/2014/main" id="{92B94F8A-9B17-E719-73A0-0E896BA495FA}"/>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C8B643CA-3921-8D7F-DCDB-F4D903BA76D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58856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A8D36-59D4-CC4F-682A-C317B7193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A16BC5-CFD8-20A7-082B-759158F0E204}"/>
              </a:ext>
            </a:extLst>
          </p:cNvPr>
          <p:cNvSpPr>
            <a:spLocks noGrp="1"/>
          </p:cNvSpPr>
          <p:nvPr>
            <p:ph type="title"/>
          </p:nvPr>
        </p:nvSpPr>
        <p:spPr>
          <a:xfrm>
            <a:off x="293210" y="248424"/>
            <a:ext cx="6108200" cy="890001"/>
          </a:xfrm>
        </p:spPr>
        <p:txBody>
          <a:bodyPr>
            <a:normAutofit fontScale="90000"/>
          </a:bodyPr>
          <a:lstStyle/>
          <a:p>
            <a:r>
              <a:rPr lang="en-US" dirty="0"/>
              <a:t>Downloading data from NCBI SRA: small sets</a:t>
            </a:r>
          </a:p>
        </p:txBody>
      </p:sp>
      <p:pic>
        <p:nvPicPr>
          <p:cNvPr id="6" name="Picture 5">
            <a:extLst>
              <a:ext uri="{FF2B5EF4-FFF2-40B4-BE49-F238E27FC236}">
                <a16:creationId xmlns:a16="http://schemas.microsoft.com/office/drawing/2014/main" id="{43F1CB35-29C7-1D37-5BFB-EA108B6D3834}"/>
              </a:ext>
            </a:extLst>
          </p:cNvPr>
          <p:cNvPicPr>
            <a:picLocks noChangeAspect="1"/>
          </p:cNvPicPr>
          <p:nvPr/>
        </p:nvPicPr>
        <p:blipFill>
          <a:blip r:embed="rId2"/>
          <a:stretch>
            <a:fillRect/>
          </a:stretch>
        </p:blipFill>
        <p:spPr>
          <a:xfrm>
            <a:off x="838200" y="1374185"/>
            <a:ext cx="5977006" cy="5483815"/>
          </a:xfrm>
          <a:prstGeom prst="rect">
            <a:avLst/>
          </a:prstGeom>
        </p:spPr>
      </p:pic>
      <p:sp>
        <p:nvSpPr>
          <p:cNvPr id="7" name="Content Placeholder 2">
            <a:extLst>
              <a:ext uri="{FF2B5EF4-FFF2-40B4-BE49-F238E27FC236}">
                <a16:creationId xmlns:a16="http://schemas.microsoft.com/office/drawing/2014/main" id="{63CC1BA8-4EB9-0A2D-3E75-EDDAFCFBCA5B}"/>
              </a:ext>
            </a:extLst>
          </p:cNvPr>
          <p:cNvSpPr>
            <a:spLocks noGrp="1"/>
          </p:cNvSpPr>
          <p:nvPr>
            <p:ph idx="1"/>
          </p:nvPr>
        </p:nvSpPr>
        <p:spPr>
          <a:xfrm>
            <a:off x="7036904" y="1374185"/>
            <a:ext cx="4850296" cy="5291658"/>
          </a:xfrm>
        </p:spPr>
        <p:txBody>
          <a:bodyPr/>
          <a:lstStyle/>
          <a:p>
            <a:r>
              <a:rPr lang="en-US" dirty="0"/>
              <a:t>Using GUI at NCBI is the easiest way to download </a:t>
            </a:r>
            <a:r>
              <a:rPr lang="en-US" i="1" u="sng" dirty="0"/>
              <a:t>small</a:t>
            </a:r>
            <a:r>
              <a:rPr lang="en-US" dirty="0"/>
              <a:t> data sets</a:t>
            </a:r>
          </a:p>
          <a:p>
            <a:endParaRPr lang="en-US" dirty="0"/>
          </a:p>
          <a:p>
            <a:r>
              <a:rPr lang="en-US" dirty="0"/>
              <a:t>For most data you have to use NCBI SRA toolkit</a:t>
            </a:r>
          </a:p>
          <a:p>
            <a:endParaRPr lang="en-US" dirty="0"/>
          </a:p>
        </p:txBody>
      </p:sp>
    </p:spTree>
    <p:extLst>
      <p:ext uri="{BB962C8B-B14F-4D97-AF65-F5344CB8AC3E}">
        <p14:creationId xmlns:p14="http://schemas.microsoft.com/office/powerpoint/2010/main" val="24264943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60C1-ACCA-6E3A-6513-88158CFEDF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D38D85-A784-2341-84D1-3DE5A776DD4D}"/>
              </a:ext>
            </a:extLst>
          </p:cNvPr>
          <p:cNvSpPr>
            <a:spLocks noGrp="1"/>
          </p:cNvSpPr>
          <p:nvPr>
            <p:ph type="title"/>
          </p:nvPr>
        </p:nvSpPr>
        <p:spPr/>
        <p:txBody>
          <a:bodyPr>
            <a:normAutofit fontScale="90000"/>
          </a:bodyPr>
          <a:lstStyle/>
          <a:p>
            <a:r>
              <a:rPr lang="en-US" dirty="0"/>
              <a:t>Downloading data from NCBI SRA</a:t>
            </a:r>
          </a:p>
        </p:txBody>
      </p:sp>
      <p:pic>
        <p:nvPicPr>
          <p:cNvPr id="4" name="Picture 3">
            <a:extLst>
              <a:ext uri="{FF2B5EF4-FFF2-40B4-BE49-F238E27FC236}">
                <a16:creationId xmlns:a16="http://schemas.microsoft.com/office/drawing/2014/main" id="{01129253-50B7-ADB4-F708-36FCD07E3720}"/>
              </a:ext>
            </a:extLst>
          </p:cNvPr>
          <p:cNvPicPr>
            <a:picLocks noChangeAspect="1"/>
          </p:cNvPicPr>
          <p:nvPr/>
        </p:nvPicPr>
        <p:blipFill>
          <a:blip r:embed="rId2"/>
          <a:stretch>
            <a:fillRect/>
          </a:stretch>
        </p:blipFill>
        <p:spPr>
          <a:xfrm>
            <a:off x="838200" y="1292787"/>
            <a:ext cx="6533387" cy="5565213"/>
          </a:xfrm>
          <a:prstGeom prst="rect">
            <a:avLst/>
          </a:prstGeom>
        </p:spPr>
      </p:pic>
      <p:sp>
        <p:nvSpPr>
          <p:cNvPr id="5" name="Oval 4">
            <a:extLst>
              <a:ext uri="{FF2B5EF4-FFF2-40B4-BE49-F238E27FC236}">
                <a16:creationId xmlns:a16="http://schemas.microsoft.com/office/drawing/2014/main" id="{D6F25B4E-4DA0-3E13-DAFB-199C5AB51E8B}"/>
              </a:ext>
            </a:extLst>
          </p:cNvPr>
          <p:cNvSpPr/>
          <p:nvPr/>
        </p:nvSpPr>
        <p:spPr>
          <a:xfrm>
            <a:off x="297522" y="6215083"/>
            <a:ext cx="2504326" cy="2777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34981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37C6-B491-FA46-A113-93E8779E0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8BD6B-EEC6-E171-B18C-1B4C3E864108}"/>
              </a:ext>
            </a:extLst>
          </p:cNvPr>
          <p:cNvSpPr>
            <a:spLocks noGrp="1"/>
          </p:cNvSpPr>
          <p:nvPr>
            <p:ph type="title"/>
          </p:nvPr>
        </p:nvSpPr>
        <p:spPr>
          <a:xfrm>
            <a:off x="293210" y="374900"/>
            <a:ext cx="10972800" cy="458115"/>
          </a:xfrm>
        </p:spPr>
        <p:txBody>
          <a:bodyPr>
            <a:normAutofit fontScale="90000"/>
          </a:bodyPr>
          <a:lstStyle/>
          <a:p>
            <a:r>
              <a:rPr lang="en-US" dirty="0"/>
              <a:t>Using fastq-dump (part of </a:t>
            </a:r>
            <a:r>
              <a:rPr lang="en-US" dirty="0" err="1"/>
              <a:t>sratoolkit</a:t>
            </a:r>
            <a:r>
              <a:rPr lang="en-US" dirty="0"/>
              <a:t>)</a:t>
            </a:r>
          </a:p>
        </p:txBody>
      </p:sp>
      <p:sp>
        <p:nvSpPr>
          <p:cNvPr id="3" name="Content Placeholder 2">
            <a:extLst>
              <a:ext uri="{FF2B5EF4-FFF2-40B4-BE49-F238E27FC236}">
                <a16:creationId xmlns:a16="http://schemas.microsoft.com/office/drawing/2014/main" id="{C5D4E390-F9CE-F057-E341-C3B79C05DE55}"/>
              </a:ext>
            </a:extLst>
          </p:cNvPr>
          <p:cNvSpPr>
            <a:spLocks noGrp="1"/>
          </p:cNvSpPr>
          <p:nvPr>
            <p:ph idx="1"/>
          </p:nvPr>
        </p:nvSpPr>
        <p:spPr>
          <a:xfrm>
            <a:off x="105877" y="1540042"/>
            <a:ext cx="10571273" cy="4943058"/>
          </a:xfrm>
        </p:spPr>
        <p:txBody>
          <a:bodyPr>
            <a:noAutofit/>
          </a:bodyPr>
          <a:lstStyle/>
          <a:p>
            <a:endParaRPr lang="en-US" sz="2400" i="1" dirty="0"/>
          </a:p>
          <a:p>
            <a:r>
              <a:rPr lang="en-US" sz="2400" i="1" dirty="0" err="1"/>
              <a:t>sratoolkit</a:t>
            </a:r>
            <a:r>
              <a:rPr lang="en-US" sz="2400" i="1" dirty="0"/>
              <a:t> </a:t>
            </a:r>
            <a:r>
              <a:rPr lang="en-US" sz="2400" dirty="0"/>
              <a:t>is available from NCBI</a:t>
            </a:r>
          </a:p>
          <a:p>
            <a:r>
              <a:rPr lang="en-US" sz="2400" i="1" dirty="0"/>
              <a:t>fastq-dump </a:t>
            </a:r>
            <a:r>
              <a:rPr lang="en-US" sz="2400" dirty="0"/>
              <a:t>is used to get data from NCBI SRA</a:t>
            </a:r>
          </a:p>
          <a:p>
            <a:r>
              <a:rPr lang="en-US" sz="2400" dirty="0"/>
              <a:t>fastq-dump </a:t>
            </a:r>
            <a:r>
              <a:rPr lang="en-US" sz="2400" dirty="0">
                <a:solidFill>
                  <a:srgbClr val="FF0000"/>
                </a:solidFill>
              </a:rPr>
              <a:t>--split-3 </a:t>
            </a:r>
            <a:r>
              <a:rPr lang="en-US" sz="2400" dirty="0"/>
              <a:t>SRRXXXXXXXX</a:t>
            </a:r>
          </a:p>
          <a:p>
            <a:pPr marL="0" indent="0">
              <a:buNone/>
            </a:pPr>
            <a:endParaRPr lang="en-US" sz="2400" dirty="0"/>
          </a:p>
          <a:p>
            <a:pPr marL="0" indent="0">
              <a:buNone/>
            </a:pPr>
            <a:r>
              <a:rPr lang="en-US" sz="2400" dirty="0"/>
              <a:t>Produces files: </a:t>
            </a:r>
          </a:p>
          <a:p>
            <a:pPr marL="0" indent="0">
              <a:buNone/>
            </a:pPr>
            <a:r>
              <a:rPr lang="en-US" sz="2400" dirty="0"/>
              <a:t>	SRRXXXXXXXX_1.fastq – Illumina paired end forward reads</a:t>
            </a:r>
          </a:p>
          <a:p>
            <a:pPr marL="0" indent="0">
              <a:buNone/>
            </a:pPr>
            <a:r>
              <a:rPr lang="en-US" sz="2400" dirty="0"/>
              <a:t>	SRRXXXXXXXX_2.fastq and/or – Illumina paired end reverse reads</a:t>
            </a:r>
          </a:p>
          <a:p>
            <a:pPr marL="0" indent="0">
              <a:buNone/>
            </a:pPr>
            <a:r>
              <a:rPr lang="en-US" sz="2400" dirty="0"/>
              <a:t>	</a:t>
            </a:r>
            <a:r>
              <a:rPr lang="en-US" sz="2400" dirty="0" err="1"/>
              <a:t>SRRXXXXXXXX.fastq</a:t>
            </a:r>
            <a:r>
              <a:rPr lang="en-US" sz="2400" dirty="0"/>
              <a:t> – single-end reads</a:t>
            </a:r>
          </a:p>
          <a:p>
            <a:pPr marL="457200" lvl="1" indent="0">
              <a:buNone/>
            </a:pPr>
            <a:endParaRPr lang="en-US" sz="1600" dirty="0"/>
          </a:p>
        </p:txBody>
      </p:sp>
    </p:spTree>
    <p:extLst>
      <p:ext uri="{BB962C8B-B14F-4D97-AF65-F5344CB8AC3E}">
        <p14:creationId xmlns:p14="http://schemas.microsoft.com/office/powerpoint/2010/main" val="40988802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E8048-853D-750E-31B1-9792C522E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27AD-2A84-2B14-5AEE-2D5A9B63A4B6}"/>
              </a:ext>
            </a:extLst>
          </p:cNvPr>
          <p:cNvSpPr>
            <a:spLocks noGrp="1"/>
          </p:cNvSpPr>
          <p:nvPr>
            <p:ph type="title"/>
          </p:nvPr>
        </p:nvSpPr>
        <p:spPr/>
        <p:txBody>
          <a:bodyPr>
            <a:normAutofit fontScale="90000"/>
          </a:bodyPr>
          <a:lstStyle/>
          <a:p>
            <a:r>
              <a:rPr lang="en-US" dirty="0"/>
              <a:t>Coverage</a:t>
            </a:r>
          </a:p>
        </p:txBody>
      </p:sp>
      <p:sp>
        <p:nvSpPr>
          <p:cNvPr id="3" name="Content Placeholder 2">
            <a:extLst>
              <a:ext uri="{FF2B5EF4-FFF2-40B4-BE49-F238E27FC236}">
                <a16:creationId xmlns:a16="http://schemas.microsoft.com/office/drawing/2014/main" id="{645D79CF-5916-9E01-4001-3B0D9D86EF62}"/>
              </a:ext>
            </a:extLst>
          </p:cNvPr>
          <p:cNvSpPr>
            <a:spLocks noGrp="1"/>
          </p:cNvSpPr>
          <p:nvPr>
            <p:ph idx="1"/>
          </p:nvPr>
        </p:nvSpPr>
        <p:spPr>
          <a:xfrm>
            <a:off x="598620" y="1596540"/>
            <a:ext cx="10972800" cy="4581150"/>
          </a:xfrm>
        </p:spPr>
        <p:txBody>
          <a:bodyPr/>
          <a:lstStyle/>
          <a:p>
            <a:r>
              <a:rPr lang="en-US" dirty="0"/>
              <a:t>Coverage refers to redundancy in sequencing data</a:t>
            </a:r>
          </a:p>
          <a:p>
            <a:endParaRPr lang="en-US" dirty="0"/>
          </a:p>
          <a:p>
            <a:pPr marL="0" indent="0">
              <a:buNone/>
            </a:pPr>
            <a:endParaRPr lang="en-US" dirty="0"/>
          </a:p>
          <a:p>
            <a:pPr marL="0" indent="0">
              <a:buNone/>
            </a:pPr>
            <a:endParaRPr lang="en-US" dirty="0"/>
          </a:p>
          <a:p>
            <a:r>
              <a:rPr lang="en-US" dirty="0"/>
              <a:t>Commonly expressed as &lt;number&gt;x, such as 20x, 30x, etc.</a:t>
            </a:r>
          </a:p>
          <a:p>
            <a:r>
              <a:rPr lang="en-US" dirty="0"/>
              <a:t>For paired reads one can compute coverage by reads and coverage by fragments</a:t>
            </a:r>
          </a:p>
        </p:txBody>
      </p:sp>
      <p:sp>
        <p:nvSpPr>
          <p:cNvPr id="4" name="Slide Number Placeholder 3">
            <a:extLst>
              <a:ext uri="{FF2B5EF4-FFF2-40B4-BE49-F238E27FC236}">
                <a16:creationId xmlns:a16="http://schemas.microsoft.com/office/drawing/2014/main" id="{60D94EA5-3C41-BDF0-1BAC-61FF965F00FF}"/>
              </a:ext>
            </a:extLst>
          </p:cNvPr>
          <p:cNvSpPr>
            <a:spLocks noGrp="1"/>
          </p:cNvSpPr>
          <p:nvPr>
            <p:ph type="sldNum" sz="quarter" idx="12"/>
          </p:nvPr>
        </p:nvSpPr>
        <p:spPr/>
        <p:txBody>
          <a:bodyPr/>
          <a:lstStyle/>
          <a:p>
            <a:fld id="{B82CCC60-E8CD-4174-8B1A-7DF615B22EEF}" type="slidenum">
              <a:rPr lang="en-US" smtClean="0"/>
              <a:pPr/>
              <a:t>52</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3B42-F3B3-057A-4515-B6C4F28F87A2}"/>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pt-BR" sz="280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dirty="0"/>
              </a:p>
            </p:txBody>
          </p:sp>
        </mc:Choice>
        <mc:Fallback xmlns="">
          <p:sp>
            <p:nvSpPr>
              <p:cNvPr id="5" name="TextBox 4">
                <a:extLst>
                  <a:ext uri="{FF2B5EF4-FFF2-40B4-BE49-F238E27FC236}">
                    <a16:creationId xmlns:a16="http://schemas.microsoft.com/office/drawing/2014/main" id="{273A9656-DBFE-E5C5-498B-48FA624C49E0}"/>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7769C53-BB5D-04DE-ECE6-CE28B6B650F7}"/>
              </a:ext>
            </a:extLst>
          </p:cNvPr>
          <p:cNvSpPr txBox="1"/>
          <p:nvPr/>
        </p:nvSpPr>
        <p:spPr>
          <a:xfrm>
            <a:off x="2657881" y="5620689"/>
            <a:ext cx="6096000" cy="646331"/>
          </a:xfrm>
          <a:prstGeom prst="rect">
            <a:avLst/>
          </a:prstGeom>
          <a:noFill/>
        </p:spPr>
        <p:txBody>
          <a:bodyPr wrap="square">
            <a:spAutoFit/>
          </a:bodyPr>
          <a:lstStyle/>
          <a:p>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endParaRPr lang="en-US" dirty="0"/>
          </a:p>
        </p:txBody>
      </p:sp>
      <p:sp>
        <p:nvSpPr>
          <p:cNvPr id="8" name="Left Brace 7">
            <a:extLst>
              <a:ext uri="{FF2B5EF4-FFF2-40B4-BE49-F238E27FC236}">
                <a16:creationId xmlns:a16="http://schemas.microsoft.com/office/drawing/2014/main" id="{91AEFE09-0CE7-6350-1F6B-4EA50667C292}"/>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6AEB04B-813C-B78A-DACF-D61D2A6B021E}"/>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16AB4AA-D522-DD8C-B59F-DE246C01678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0586CB9-174D-AE6A-2287-4B440CDE326D}"/>
              </a:ext>
            </a:extLst>
          </p:cNvPr>
          <p:cNvSpPr txBox="1"/>
          <p:nvPr/>
        </p:nvSpPr>
        <p:spPr>
          <a:xfrm>
            <a:off x="3197865" y="5226913"/>
            <a:ext cx="609654" cy="369332"/>
          </a:xfrm>
          <a:prstGeom prst="rect">
            <a:avLst/>
          </a:prstGeom>
          <a:noFill/>
        </p:spPr>
        <p:txBody>
          <a:bodyPr wrap="none" rtlCol="0">
            <a:spAutoFit/>
          </a:bodyPr>
          <a:lstStyle/>
          <a:p>
            <a:r>
              <a:rPr lang="en-US" dirty="0"/>
              <a:t>read</a:t>
            </a:r>
          </a:p>
        </p:txBody>
      </p:sp>
      <p:sp>
        <p:nvSpPr>
          <p:cNvPr id="12" name="TextBox 11">
            <a:extLst>
              <a:ext uri="{FF2B5EF4-FFF2-40B4-BE49-F238E27FC236}">
                <a16:creationId xmlns:a16="http://schemas.microsoft.com/office/drawing/2014/main" id="{00328291-4CAF-3A97-F263-6E4FF2D93458}"/>
              </a:ext>
            </a:extLst>
          </p:cNvPr>
          <p:cNvSpPr txBox="1"/>
          <p:nvPr/>
        </p:nvSpPr>
        <p:spPr>
          <a:xfrm>
            <a:off x="6478345" y="6273425"/>
            <a:ext cx="609654" cy="369332"/>
          </a:xfrm>
          <a:prstGeom prst="rect">
            <a:avLst/>
          </a:prstGeom>
          <a:noFill/>
        </p:spPr>
        <p:txBody>
          <a:bodyPr wrap="none" rtlCol="0">
            <a:spAutoFit/>
          </a:bodyPr>
          <a:lstStyle/>
          <a:p>
            <a:r>
              <a:rPr lang="en-US" dirty="0"/>
              <a:t>read</a:t>
            </a:r>
          </a:p>
        </p:txBody>
      </p:sp>
      <p:sp>
        <p:nvSpPr>
          <p:cNvPr id="13" name="TextBox 12">
            <a:extLst>
              <a:ext uri="{FF2B5EF4-FFF2-40B4-BE49-F238E27FC236}">
                <a16:creationId xmlns:a16="http://schemas.microsoft.com/office/drawing/2014/main" id="{9E5AE8E9-56B8-E3E4-4BD8-99BD31DEFAE2}"/>
              </a:ext>
            </a:extLst>
          </p:cNvPr>
          <p:cNvSpPr txBox="1"/>
          <p:nvPr/>
        </p:nvSpPr>
        <p:spPr>
          <a:xfrm>
            <a:off x="4208401" y="4803406"/>
            <a:ext cx="1891415" cy="369332"/>
          </a:xfrm>
          <a:prstGeom prst="rect">
            <a:avLst/>
          </a:prstGeom>
          <a:noFill/>
        </p:spPr>
        <p:txBody>
          <a:bodyPr wrap="none" rtlCol="0">
            <a:spAutoFit/>
          </a:bodyPr>
          <a:lstStyle/>
          <a:p>
            <a:r>
              <a:rPr lang="en-US" dirty="0"/>
              <a:t>fragment or insert</a:t>
            </a:r>
          </a:p>
        </p:txBody>
      </p:sp>
    </p:spTree>
    <p:extLst>
      <p:ext uri="{BB962C8B-B14F-4D97-AF65-F5344CB8AC3E}">
        <p14:creationId xmlns:p14="http://schemas.microsoft.com/office/powerpoint/2010/main" val="421224020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r>
              <a:rPr lang="en-US" dirty="0"/>
              <a:t>How much coverage is sufficient?</a:t>
            </a:r>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a:xfrm>
            <a:off x="598620" y="1596540"/>
            <a:ext cx="10972800" cy="4886560"/>
          </a:xfrm>
        </p:spPr>
        <p:txBody>
          <a:bodyPr>
            <a:normAutofit/>
          </a:bodyPr>
          <a:lstStyle/>
          <a:p>
            <a:r>
              <a:rPr lang="en-US" dirty="0"/>
              <a:t>It depends… on read lengths</a:t>
            </a:r>
          </a:p>
          <a:p>
            <a:r>
              <a:rPr lang="en-US" dirty="0"/>
              <a:t>1x is enough if read length == chromosome length</a:t>
            </a:r>
          </a:p>
          <a:p>
            <a:r>
              <a:rPr lang="en-US" dirty="0"/>
              <a:t>In general read length &lt;&lt; chromosome length</a:t>
            </a:r>
          </a:p>
          <a:p>
            <a:r>
              <a:rPr lang="en-US" dirty="0"/>
              <a:t>Problem: assume fixed read length &lt;&lt; chromosome length</a:t>
            </a:r>
          </a:p>
          <a:p>
            <a:pPr lvl="1"/>
            <a:r>
              <a:rPr lang="en-US" dirty="0"/>
              <a:t>What is the probability of a gap?</a:t>
            </a:r>
          </a:p>
          <a:p>
            <a:pPr lvl="1"/>
            <a:r>
              <a:rPr lang="en-US" dirty="0"/>
              <a:t>Use Poisson distribution!</a:t>
            </a:r>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53</a:t>
            </a:fld>
            <a:endParaRPr lang="en-US"/>
          </a:p>
        </p:txBody>
      </p:sp>
    </p:spTree>
    <p:extLst>
      <p:ext uri="{BB962C8B-B14F-4D97-AF65-F5344CB8AC3E}">
        <p14:creationId xmlns:p14="http://schemas.microsoft.com/office/powerpoint/2010/main" val="37648737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F9DE-D844-088B-EFB7-D7DE8020733F}"/>
              </a:ext>
            </a:extLst>
          </p:cNvPr>
          <p:cNvSpPr>
            <a:spLocks noGrp="1"/>
          </p:cNvSpPr>
          <p:nvPr>
            <p:ph type="title"/>
          </p:nvPr>
        </p:nvSpPr>
        <p:spPr/>
        <p:txBody>
          <a:bodyPr>
            <a:normAutofit fontScale="90000"/>
          </a:bodyPr>
          <a:lstStyle/>
          <a:p>
            <a:r>
              <a:rPr lang="en-US" dirty="0"/>
              <a:t>Poisson distribution</a:t>
            </a:r>
          </a:p>
        </p:txBody>
      </p:sp>
      <p:sp>
        <p:nvSpPr>
          <p:cNvPr id="3" name="Content Placeholder 2">
            <a:extLst>
              <a:ext uri="{FF2B5EF4-FFF2-40B4-BE49-F238E27FC236}">
                <a16:creationId xmlns:a16="http://schemas.microsoft.com/office/drawing/2014/main" id="{50212E8C-C4AC-857C-A008-5457C95B60EC}"/>
              </a:ext>
            </a:extLst>
          </p:cNvPr>
          <p:cNvSpPr>
            <a:spLocks noGrp="1"/>
          </p:cNvSpPr>
          <p:nvPr>
            <p:ph idx="1"/>
          </p:nvPr>
        </p:nvSpPr>
        <p:spPr>
          <a:xfrm>
            <a:off x="598620" y="1596540"/>
            <a:ext cx="10972800" cy="5124936"/>
          </a:xfrm>
        </p:spPr>
        <p:txBody>
          <a:bodyPr/>
          <a:lstStyle/>
          <a:p>
            <a:r>
              <a:rPr lang="en-US" dirty="0"/>
              <a:t>The Poisson distribution is a discrete probability distribution that expresses the probability of a given number of events occurring in a fixed interval of time if these events occur with a known constant mean rate and independently of the time since the last event. </a:t>
            </a:r>
          </a:p>
          <a:p>
            <a:r>
              <a:rPr lang="en-US" dirty="0"/>
              <a:t>The Poisson distribution is also the limit of a binomial distribution, for which the probability of success for each trial equals λ divided by the number of trials, as the number of trials approaches infinity </a:t>
            </a:r>
          </a:p>
          <a:p>
            <a:endParaRPr lang="en-US" dirty="0"/>
          </a:p>
          <a:p>
            <a:endParaRPr lang="en-US" dirty="0"/>
          </a:p>
        </p:txBody>
      </p:sp>
      <p:sp>
        <p:nvSpPr>
          <p:cNvPr id="4" name="Slide Number Placeholder 3">
            <a:extLst>
              <a:ext uri="{FF2B5EF4-FFF2-40B4-BE49-F238E27FC236}">
                <a16:creationId xmlns:a16="http://schemas.microsoft.com/office/drawing/2014/main" id="{186CF8B3-F765-E6BE-76BA-714892B32D03}"/>
              </a:ext>
            </a:extLst>
          </p:cNvPr>
          <p:cNvSpPr>
            <a:spLocks noGrp="1"/>
          </p:cNvSpPr>
          <p:nvPr>
            <p:ph type="sldNum" sz="quarter" idx="12"/>
          </p:nvPr>
        </p:nvSpPr>
        <p:spPr/>
        <p:txBody>
          <a:bodyPr/>
          <a:lstStyle/>
          <a:p>
            <a:fld id="{B82CCC60-E8CD-4174-8B1A-7DF615B22EEF}" type="slidenum">
              <a:rPr lang="en-US" smtClean="0"/>
              <a:pPr/>
              <a:t>54</a:t>
            </a:fld>
            <a:endParaRPr lang="en-US"/>
          </a:p>
        </p:txBody>
      </p:sp>
      <p:pic>
        <p:nvPicPr>
          <p:cNvPr id="6" name="Picture 5">
            <a:extLst>
              <a:ext uri="{FF2B5EF4-FFF2-40B4-BE49-F238E27FC236}">
                <a16:creationId xmlns:a16="http://schemas.microsoft.com/office/drawing/2014/main" id="{D13DB2E8-C207-68E8-8D45-81F44FFDB25C}"/>
              </a:ext>
            </a:extLst>
          </p:cNvPr>
          <p:cNvPicPr>
            <a:picLocks noChangeAspect="1"/>
          </p:cNvPicPr>
          <p:nvPr/>
        </p:nvPicPr>
        <p:blipFill>
          <a:blip r:embed="rId2"/>
          <a:stretch>
            <a:fillRect/>
          </a:stretch>
        </p:blipFill>
        <p:spPr>
          <a:xfrm>
            <a:off x="3805425" y="4963678"/>
            <a:ext cx="3991532" cy="1724266"/>
          </a:xfrm>
          <a:prstGeom prst="rect">
            <a:avLst/>
          </a:prstGeom>
        </p:spPr>
      </p:pic>
    </p:spTree>
    <p:extLst>
      <p:ext uri="{BB962C8B-B14F-4D97-AF65-F5344CB8AC3E}">
        <p14:creationId xmlns:p14="http://schemas.microsoft.com/office/powerpoint/2010/main" val="8392538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F05B-22D4-255A-5907-D8318D8634FB}"/>
              </a:ext>
            </a:extLst>
          </p:cNvPr>
          <p:cNvSpPr>
            <a:spLocks noGrp="1"/>
          </p:cNvSpPr>
          <p:nvPr>
            <p:ph type="title"/>
          </p:nvPr>
        </p:nvSpPr>
        <p:spPr/>
        <p:txBody>
          <a:bodyPr>
            <a:normAutofit fontScale="90000"/>
          </a:bodyPr>
          <a:lstStyle/>
          <a:p>
            <a:r>
              <a:rPr lang="en-US" dirty="0"/>
              <a:t>Poisson distribution and coverage</a:t>
            </a:r>
          </a:p>
        </p:txBody>
      </p:sp>
      <p:sp>
        <p:nvSpPr>
          <p:cNvPr id="3" name="Content Placeholder 2">
            <a:extLst>
              <a:ext uri="{FF2B5EF4-FFF2-40B4-BE49-F238E27FC236}">
                <a16:creationId xmlns:a16="http://schemas.microsoft.com/office/drawing/2014/main" id="{DCCAA216-92B3-942D-5052-57C60C862699}"/>
              </a:ext>
            </a:extLst>
          </p:cNvPr>
          <p:cNvSpPr>
            <a:spLocks noGrp="1"/>
          </p:cNvSpPr>
          <p:nvPr>
            <p:ph idx="1"/>
          </p:nvPr>
        </p:nvSpPr>
        <p:spPr>
          <a:xfrm>
            <a:off x="598620" y="1596541"/>
            <a:ext cx="10972800" cy="4580540"/>
          </a:xfrm>
        </p:spPr>
        <p:txBody>
          <a:bodyPr>
            <a:normAutofit fontScale="85000" lnSpcReduction="20000"/>
          </a:bodyPr>
          <a:lstStyle/>
          <a:p>
            <a:r>
              <a:rPr lang="en-US" dirty="0"/>
              <a:t>Let:</a:t>
            </a:r>
          </a:p>
          <a:p>
            <a:pPr lvl="1"/>
            <a:r>
              <a:rPr lang="en-US" i="1" dirty="0"/>
              <a:t>G</a:t>
            </a:r>
            <a:r>
              <a:rPr lang="en-US" dirty="0"/>
              <a:t> genome length (in bp) </a:t>
            </a:r>
          </a:p>
          <a:p>
            <a:pPr lvl="1"/>
            <a:r>
              <a:rPr lang="en-US" i="1" dirty="0"/>
              <a:t>L</a:t>
            </a:r>
            <a:r>
              <a:rPr lang="en-US" dirty="0"/>
              <a:t>  read average length (</a:t>
            </a:r>
            <a:r>
              <a:rPr lang="en-US" i="1" dirty="0"/>
              <a:t>L&lt;&lt;G</a:t>
            </a:r>
            <a:r>
              <a:rPr lang="en-US" dirty="0"/>
              <a:t>)</a:t>
            </a:r>
          </a:p>
          <a:p>
            <a:pPr lvl="1"/>
            <a:r>
              <a:rPr lang="en-US" i="1" dirty="0"/>
              <a:t>N</a:t>
            </a:r>
            <a:r>
              <a:rPr lang="en-US" dirty="0"/>
              <a:t> number of reads</a:t>
            </a:r>
          </a:p>
          <a:p>
            <a:r>
              <a:rPr lang="en-US" dirty="0"/>
              <a:t>Then:</a:t>
            </a:r>
          </a:p>
          <a:p>
            <a:pPr lvl="1"/>
            <a:r>
              <a:rPr lang="en-US" i="1" dirty="0"/>
              <a:t>λ</a:t>
            </a:r>
            <a:r>
              <a:rPr lang="en-US" dirty="0"/>
              <a:t>, sequencing redundancy = </a:t>
            </a:r>
            <a:r>
              <a:rPr lang="en-US" i="1" dirty="0"/>
              <a:t>N*L/G</a:t>
            </a:r>
          </a:p>
          <a:p>
            <a:pPr lvl="1"/>
            <a:r>
              <a:rPr lang="en-US" i="1" dirty="0"/>
              <a:t>x  </a:t>
            </a:r>
            <a:r>
              <a:rPr lang="en-US" dirty="0"/>
              <a:t>is the number of short reads covering a given site on the genome </a:t>
            </a:r>
          </a:p>
          <a:p>
            <a:r>
              <a:rPr lang="en-US" dirty="0"/>
              <a:t>For a given base on the genome for each read </a:t>
            </a:r>
            <a:r>
              <a:rPr lang="en-US" i="1" dirty="0"/>
              <a:t>Prob(base covered)=L/G</a:t>
            </a:r>
            <a:r>
              <a:rPr lang="en-US" dirty="0"/>
              <a:t> </a:t>
            </a:r>
            <a:r>
              <a:rPr lang="en-US" i="1" dirty="0"/>
              <a:t>&lt;&lt; 1</a:t>
            </a:r>
            <a:r>
              <a:rPr lang="en-US" dirty="0"/>
              <a:t>; number of attempts (reads): </a:t>
            </a:r>
            <a:r>
              <a:rPr lang="en-US" i="1" dirty="0"/>
              <a:t>N</a:t>
            </a:r>
            <a:r>
              <a:rPr lang="en-US" dirty="0"/>
              <a:t> &gt;&gt; </a:t>
            </a:r>
            <a:r>
              <a:rPr lang="en-US" i="1" dirty="0"/>
              <a:t>1</a:t>
            </a:r>
            <a:r>
              <a:rPr lang="en-US" dirty="0"/>
              <a:t>. </a:t>
            </a:r>
          </a:p>
          <a:p>
            <a:r>
              <a:rPr lang="en-US" b="1" dirty="0"/>
              <a:t>Genome coverage</a:t>
            </a:r>
            <a:r>
              <a:rPr lang="en-US" i="1" dirty="0"/>
              <a:t> λ = NL/G </a:t>
            </a:r>
            <a:r>
              <a:rPr lang="en-US" dirty="0"/>
              <a:t>is </a:t>
            </a:r>
            <a:r>
              <a:rPr lang="en-US" i="1" dirty="0"/>
              <a:t>O(1)</a:t>
            </a:r>
            <a:r>
              <a:rPr lang="en-US" dirty="0"/>
              <a:t>.</a:t>
            </a:r>
            <a:br>
              <a:rPr lang="en-US" dirty="0"/>
            </a:br>
            <a:br>
              <a:rPr lang="en-US" dirty="0"/>
            </a:br>
            <a:r>
              <a:rPr lang="en-US" dirty="0"/>
              <a:t>      </a:t>
            </a:r>
            <a:r>
              <a:rPr lang="en-US" i="1" dirty="0"/>
              <a:t>x=2                x=4                            x=0</a:t>
            </a:r>
          </a:p>
        </p:txBody>
      </p:sp>
      <p:sp>
        <p:nvSpPr>
          <p:cNvPr id="4" name="Slide Number Placeholder 3">
            <a:extLst>
              <a:ext uri="{FF2B5EF4-FFF2-40B4-BE49-F238E27FC236}">
                <a16:creationId xmlns:a16="http://schemas.microsoft.com/office/drawing/2014/main" id="{C7D9AFAC-0560-7A57-5772-70C755D38EDA}"/>
              </a:ext>
            </a:extLst>
          </p:cNvPr>
          <p:cNvSpPr>
            <a:spLocks noGrp="1"/>
          </p:cNvSpPr>
          <p:nvPr>
            <p:ph type="sldNum" sz="quarter" idx="12"/>
          </p:nvPr>
        </p:nvSpPr>
        <p:spPr/>
        <p:txBody>
          <a:bodyPr/>
          <a:lstStyle/>
          <a:p>
            <a:fld id="{B82CCC60-E8CD-4174-8B1A-7DF615B22EEF}" type="slidenum">
              <a:rPr lang="en-US" smtClean="0"/>
              <a:pPr/>
              <a:t>55</a:t>
            </a:fld>
            <a:endParaRPr lang="en-US"/>
          </a:p>
        </p:txBody>
      </p:sp>
      <p:cxnSp>
        <p:nvCxnSpPr>
          <p:cNvPr id="6" name="Straight Connector 5">
            <a:extLst>
              <a:ext uri="{FF2B5EF4-FFF2-40B4-BE49-F238E27FC236}">
                <a16:creationId xmlns:a16="http://schemas.microsoft.com/office/drawing/2014/main" id="{BDAE5EFB-4EDB-5824-E205-FA9B70D8C74E}"/>
              </a:ext>
            </a:extLst>
          </p:cNvPr>
          <p:cNvCxnSpPr/>
          <p:nvPr/>
        </p:nvCxnSpPr>
        <p:spPr>
          <a:xfrm>
            <a:off x="1362145" y="648310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8DFEC4B-4C05-6A85-AE84-81F3099F9DCB}"/>
              </a:ext>
            </a:extLst>
          </p:cNvPr>
          <p:cNvCxnSpPr>
            <a:cxnSpLocks/>
          </p:cNvCxnSpPr>
          <p:nvPr/>
        </p:nvCxnSpPr>
        <p:spPr>
          <a:xfrm>
            <a:off x="1362145"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71B9835-6433-51DC-1161-D1623CB29893}"/>
              </a:ext>
            </a:extLst>
          </p:cNvPr>
          <p:cNvCxnSpPr>
            <a:cxnSpLocks/>
          </p:cNvCxnSpPr>
          <p:nvPr/>
        </p:nvCxnSpPr>
        <p:spPr>
          <a:xfrm>
            <a:off x="1514545"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83C02FD-AB58-7FD4-2AE6-42EB9ED0FCAB}"/>
              </a:ext>
            </a:extLst>
          </p:cNvPr>
          <p:cNvCxnSpPr>
            <a:cxnSpLocks/>
          </p:cNvCxnSpPr>
          <p:nvPr/>
        </p:nvCxnSpPr>
        <p:spPr>
          <a:xfrm>
            <a:off x="2737100" y="58728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4408ED2-D266-657E-9ED7-E1AC5166CE09}"/>
              </a:ext>
            </a:extLst>
          </p:cNvPr>
          <p:cNvCxnSpPr>
            <a:cxnSpLocks/>
          </p:cNvCxnSpPr>
          <p:nvPr/>
        </p:nvCxnSpPr>
        <p:spPr>
          <a:xfrm>
            <a:off x="2889500"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E5959B0-B57C-B2DA-8334-D6FE343366C2}"/>
              </a:ext>
            </a:extLst>
          </p:cNvPr>
          <p:cNvCxnSpPr>
            <a:cxnSpLocks/>
          </p:cNvCxnSpPr>
          <p:nvPr/>
        </p:nvCxnSpPr>
        <p:spPr>
          <a:xfrm>
            <a:off x="3041900"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3607628-10BF-14A9-DA8F-092623546B51}"/>
              </a:ext>
            </a:extLst>
          </p:cNvPr>
          <p:cNvCxnSpPr>
            <a:cxnSpLocks/>
          </p:cNvCxnSpPr>
          <p:nvPr/>
        </p:nvCxnSpPr>
        <p:spPr>
          <a:xfrm>
            <a:off x="3041900" y="6330090"/>
            <a:ext cx="7629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87B495D-1F97-7CC3-F13D-E762C4C82C8A}"/>
              </a:ext>
            </a:extLst>
          </p:cNvPr>
          <p:cNvCxnSpPr>
            <a:cxnSpLocks/>
          </p:cNvCxnSpPr>
          <p:nvPr/>
        </p:nvCxnSpPr>
        <p:spPr>
          <a:xfrm>
            <a:off x="4263540"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D648214-214B-CBB4-8EA7-732003DA5689}"/>
              </a:ext>
            </a:extLst>
          </p:cNvPr>
          <p:cNvCxnSpPr>
            <a:cxnSpLocks/>
          </p:cNvCxnSpPr>
          <p:nvPr/>
        </p:nvCxnSpPr>
        <p:spPr>
          <a:xfrm>
            <a:off x="4568797"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902D25-14C6-DCEC-FA8A-136917B1D098}"/>
              </a:ext>
            </a:extLst>
          </p:cNvPr>
          <p:cNvCxnSpPr>
            <a:cxnSpLocks/>
          </p:cNvCxnSpPr>
          <p:nvPr/>
        </p:nvCxnSpPr>
        <p:spPr>
          <a:xfrm>
            <a:off x="5705768"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CE8FCE4-7026-1F5B-D75F-164C16D12E3A}"/>
              </a:ext>
            </a:extLst>
          </p:cNvPr>
          <p:cNvCxnSpPr>
            <a:cxnSpLocks/>
          </p:cNvCxnSpPr>
          <p:nvPr/>
        </p:nvCxnSpPr>
        <p:spPr>
          <a:xfrm>
            <a:off x="5858168"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1E40C-D100-C2B2-43A1-C2D59AF77A66}"/>
              </a:ext>
            </a:extLst>
          </p:cNvPr>
          <p:cNvCxnSpPr>
            <a:cxnSpLocks/>
          </p:cNvCxnSpPr>
          <p:nvPr/>
        </p:nvCxnSpPr>
        <p:spPr>
          <a:xfrm>
            <a:off x="6010568"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85D9CE8-F4E3-AAED-AE4A-3C41743307AA}"/>
              </a:ext>
            </a:extLst>
          </p:cNvPr>
          <p:cNvCxnSpPr/>
          <p:nvPr/>
        </p:nvCxnSpPr>
        <p:spPr>
          <a:xfrm>
            <a:off x="5485180" y="5872890"/>
            <a:ext cx="0" cy="84858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8390FE-05BE-7AF3-982E-71B032DA8997}"/>
              </a:ext>
            </a:extLst>
          </p:cNvPr>
          <p:cNvCxnSpPr>
            <a:cxnSpLocks/>
          </p:cNvCxnSpPr>
          <p:nvPr/>
        </p:nvCxnSpPr>
        <p:spPr>
          <a:xfrm>
            <a:off x="3194605" y="5734704"/>
            <a:ext cx="0" cy="900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03E9742-EBA9-D5E2-A3CA-564C1A321E76}"/>
              </a:ext>
            </a:extLst>
          </p:cNvPr>
          <p:cNvCxnSpPr>
            <a:cxnSpLocks/>
          </p:cNvCxnSpPr>
          <p:nvPr/>
        </p:nvCxnSpPr>
        <p:spPr>
          <a:xfrm>
            <a:off x="1667555" y="5734704"/>
            <a:ext cx="0" cy="90049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52537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554-A8C6-0277-1A84-D1F722AC7F41}"/>
              </a:ext>
            </a:extLst>
          </p:cNvPr>
          <p:cNvSpPr>
            <a:spLocks noGrp="1"/>
          </p:cNvSpPr>
          <p:nvPr>
            <p:ph type="title"/>
          </p:nvPr>
        </p:nvSpPr>
        <p:spPr/>
        <p:txBody>
          <a:bodyPr>
            <a:normAutofit fontScale="90000"/>
          </a:bodyPr>
          <a:lstStyle/>
          <a:p>
            <a:r>
              <a:rPr lang="en-US" dirty="0"/>
              <a:t>Fraction of the genome covered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0384F2-9789-CBBD-01D4-DDCF083991F5}"/>
                  </a:ext>
                </a:extLst>
              </p:cNvPr>
              <p:cNvSpPr>
                <a:spLocks noGrp="1"/>
              </p:cNvSpPr>
              <p:nvPr>
                <p:ph idx="1"/>
              </p:nvPr>
            </p:nvSpPr>
            <p:spPr/>
            <p:txBody>
              <a:bodyPr>
                <a:normAutofit/>
              </a:bodyPr>
              <a:lstStyle/>
              <a:p>
                <a:r>
                  <a:rPr lang="en-US" dirty="0"/>
                  <a:t>It is always easier in probability computations to compute the probability of something NOT happening!</a:t>
                </a:r>
                <a:br>
                  <a:rPr lang="en-US" dirty="0"/>
                </a:br>
                <a:endParaRPr lang="en-US" dirty="0"/>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𝑃</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br>
                  <a:rPr lang="en-US" i="1" dirty="0"/>
                </a:br>
                <a:endParaRPr lang="en-US" i="1" dirty="0"/>
              </a:p>
              <a:p>
                <a:r>
                  <a:rPr lang="en-US" dirty="0"/>
                  <a:t>Total genome length covered: </a:t>
                </a:r>
                <a:br>
                  <a:rPr lang="en-US" dirty="0"/>
                </a:b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𝐺</m:t>
                        </m:r>
                        <m:r>
                          <a:rPr lang="en-US" b="0" i="1" smtClean="0">
                            <a:latin typeface="Cambria Math" panose="02040503050406030204" pitchFamily="18" charset="0"/>
                          </a:rPr>
                          <m:t>∗</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𝐺</m:t>
                        </m:r>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r>
                      <a:rPr lang="en-US" b="0" i="1" dirty="0"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BC0384F2-9789-CBBD-01D4-DDCF083991F5}"/>
                  </a:ext>
                </a:extLst>
              </p:cNvPr>
              <p:cNvSpPr>
                <a:spLocks noGrp="1" noRot="1" noChangeAspect="1" noMove="1" noResize="1" noEditPoints="1" noAdjustHandles="1" noChangeArrowheads="1" noChangeShapeType="1" noTextEdit="1"/>
              </p:cNvSpPr>
              <p:nvPr>
                <p:ph idx="1"/>
              </p:nvPr>
            </p:nvSpPr>
            <p:spPr>
              <a:blipFill>
                <a:blip r:embed="rId2"/>
                <a:stretch>
                  <a:fillRect l="-1000" t="-1555"/>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AB4324D-9F5A-7E7B-0C60-C2D62C5B95E4}"/>
              </a:ext>
            </a:extLst>
          </p:cNvPr>
          <p:cNvSpPr>
            <a:spLocks noGrp="1"/>
          </p:cNvSpPr>
          <p:nvPr>
            <p:ph type="sldNum" sz="quarter" idx="12"/>
          </p:nvPr>
        </p:nvSpPr>
        <p:spPr/>
        <p:txBody>
          <a:bodyPr/>
          <a:lstStyle/>
          <a:p>
            <a:fld id="{B82CCC60-E8CD-4174-8B1A-7DF615B22EEF}" type="slidenum">
              <a:rPr lang="en-US" smtClean="0"/>
              <a:pPr/>
              <a:t>56</a:t>
            </a:fld>
            <a:endParaRPr lang="en-US"/>
          </a:p>
        </p:txBody>
      </p:sp>
      <p:pic>
        <p:nvPicPr>
          <p:cNvPr id="5" name="Picture 4">
            <a:extLst>
              <a:ext uri="{FF2B5EF4-FFF2-40B4-BE49-F238E27FC236}">
                <a16:creationId xmlns:a16="http://schemas.microsoft.com/office/drawing/2014/main" id="{CCFDB7FE-3B6C-978E-F57D-4A8E86567B1F}"/>
              </a:ext>
            </a:extLst>
          </p:cNvPr>
          <p:cNvPicPr>
            <a:picLocks noChangeAspect="1"/>
          </p:cNvPicPr>
          <p:nvPr/>
        </p:nvPicPr>
        <p:blipFill>
          <a:blip r:embed="rId3"/>
          <a:stretch>
            <a:fillRect/>
          </a:stretch>
        </p:blipFill>
        <p:spPr>
          <a:xfrm>
            <a:off x="7622511" y="2512770"/>
            <a:ext cx="3991532" cy="1724266"/>
          </a:xfrm>
          <a:prstGeom prst="rect">
            <a:avLst/>
          </a:prstGeom>
        </p:spPr>
      </p:pic>
    </p:spTree>
    <p:extLst>
      <p:ext uri="{BB962C8B-B14F-4D97-AF65-F5344CB8AC3E}">
        <p14:creationId xmlns:p14="http://schemas.microsoft.com/office/powerpoint/2010/main" val="14136039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715A2-54A9-599A-BDBF-6D55AA14E560}"/>
              </a:ext>
            </a:extLst>
          </p:cNvPr>
          <p:cNvSpPr>
            <a:spLocks noGrp="1"/>
          </p:cNvSpPr>
          <p:nvPr>
            <p:ph type="title"/>
          </p:nvPr>
        </p:nvSpPr>
        <p:spPr/>
        <p:txBody>
          <a:bodyPr>
            <a:normAutofit fontScale="90000"/>
          </a:bodyPr>
          <a:lstStyle/>
          <a:p>
            <a:r>
              <a:rPr lang="en-US" dirty="0"/>
              <a:t>Number of contigs and average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E394BD-B129-877C-C744-20B897AE4FDE}"/>
                  </a:ext>
                </a:extLst>
              </p:cNvPr>
              <p:cNvSpPr>
                <a:spLocks noGrp="1"/>
              </p:cNvSpPr>
              <p:nvPr>
                <p:ph idx="1"/>
              </p:nvPr>
            </p:nvSpPr>
            <p:spPr>
              <a:xfrm>
                <a:off x="598620" y="1596540"/>
                <a:ext cx="10972800" cy="4886559"/>
              </a:xfrm>
            </p:spPr>
            <p:txBody>
              <a:bodyPr>
                <a:normAutofit lnSpcReduction="10000"/>
              </a:bodyPr>
              <a:lstStyle/>
              <a:p>
                <a:r>
                  <a:rPr lang="en-US" dirty="0"/>
                  <a:t>Probability that a given read is the right end of a contig = coverage of the base right after the read is zero: </a:t>
                </a:r>
                <a:br>
                  <a:rPr lang="en-US" dirty="0"/>
                </a:b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i="1" dirty="0"/>
              </a:p>
              <a:p>
                <a:r>
                  <a:rPr lang="en-US" dirty="0"/>
                  <a:t>Number of contigs is:</a:t>
                </a:r>
                <a:br>
                  <a:rPr lang="en-US" dirty="0"/>
                </a:b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𝑛𝑢𝑚𝑏𝑒𝑟</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𝑟𝑒𝑎𝑑𝑠</m:t>
                        </m:r>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dirty="0"/>
              </a:p>
              <a:p>
                <a:r>
                  <a:rPr lang="en-US" dirty="0"/>
                  <a:t>Average contig length is proportion of genome covered/number of contigs:</a:t>
                </a:r>
                <a:br>
                  <a:rPr lang="en-US" dirty="0"/>
                </a:br>
                <a14:m>
                  <m:oMath xmlns:m="http://schemas.openxmlformats.org/officeDocument/2006/math">
                    <m:r>
                      <a:rPr lang="en-US" i="1">
                        <a:latin typeface="Cambria Math" panose="02040503050406030204" pitchFamily="18" charset="0"/>
                      </a:rPr>
                      <m:t>𝐶</m:t>
                    </m:r>
                    <m:r>
                      <a:rPr lang="en-US" i="1">
                        <a:latin typeface="Cambria Math" panose="02040503050406030204" pitchFamily="18" charset="0"/>
                      </a:rPr>
                      <m:t>=</m:t>
                    </m:r>
                    <m:r>
                      <a:rPr lang="en-US" b="0" i="1" smtClean="0">
                        <a:latin typeface="Cambria Math" panose="02040503050406030204" pitchFamily="18" charset="0"/>
                      </a:rPr>
                      <m:t>𝐺</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num>
                      <m:den>
                        <m:r>
                          <m:rPr>
                            <m:nor/>
                          </m:rPr>
                          <a:rPr lang="en-US" b="0" i="1" dirty="0" smtClean="0">
                            <a:latin typeface="Cambria Math" panose="02040503050406030204" pitchFamily="18" charset="0"/>
                          </a:rPr>
                          <m:t>N</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b="0" i="1" smtClean="0">
                                <a:latin typeface="Cambria Math" panose="02040503050406030204" pitchFamily="18" charset="0"/>
                              </a:rPr>
                              <m:t>−</m:t>
                            </m:r>
                            <m:r>
                              <m:rPr>
                                <m:nor/>
                              </m:rPr>
                              <a:rPr lang="en-US" i="1" dirty="0"/>
                              <m:t>λ</m:t>
                            </m:r>
                          </m:sup>
                        </m:sSup>
                      </m:den>
                    </m:f>
                    <m:r>
                      <a:rPr lang="en-US" b="0" i="1" dirty="0" smtClean="0">
                        <a:latin typeface="Cambria Math" panose="02040503050406030204" pitchFamily="18" charset="0"/>
                      </a:rPr>
                      <m:t>=</m:t>
                    </m:r>
                    <m:r>
                      <a:rPr lang="en-US" b="0" i="1" dirty="0" smtClean="0">
                        <a:latin typeface="Cambria Math" panose="02040503050406030204" pitchFamily="18" charset="0"/>
                      </a:rPr>
                      <m:t>𝐿</m:t>
                    </m:r>
                    <m:f>
                      <m:fPr>
                        <m:ctrlPr>
                          <a:rPr lang="en-US" b="0" i="1" dirty="0" smtClean="0">
                            <a:latin typeface="Cambria Math" panose="02040503050406030204" pitchFamily="18" charset="0"/>
                          </a:rPr>
                        </m:ctrlPr>
                      </m:fPr>
                      <m:num>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r>
                          <a:rPr lang="en-US" i="1" dirty="0">
                            <a:latin typeface="Cambria Math" panose="02040503050406030204" pitchFamily="18" charset="0"/>
                          </a:rPr>
                          <m:t>−1)</m:t>
                        </m:r>
                      </m:num>
                      <m:den>
                        <m:r>
                          <m:rPr>
                            <m:nor/>
                          </m:rPr>
                          <a:rPr lang="en-US" i="1" dirty="0"/>
                          <m:t>λ</m:t>
                        </m:r>
                      </m:den>
                    </m:f>
                    <m:r>
                      <a:rPr lang="en-US" i="1">
                        <a:latin typeface="Cambria Math" panose="02040503050406030204" pitchFamily="18" charset="0"/>
                      </a:rPr>
                      <m:t>,</m:t>
                    </m:r>
                  </m:oMath>
                </a14:m>
                <a:endParaRPr lang="en-US" dirty="0"/>
              </a:p>
              <a:p>
                <a:r>
                  <a:rPr lang="en-US" dirty="0"/>
                  <a:t>For sufficiently large </a:t>
                </a:r>
                <a:r>
                  <a:rPr lang="en-US" i="1" dirty="0"/>
                  <a:t>λ, </a:t>
                </a:r>
                <a14:m>
                  <m:oMath xmlns:m="http://schemas.openxmlformats.org/officeDocument/2006/math">
                    <m:r>
                      <a:rPr lang="en-US" i="1">
                        <a:latin typeface="Cambria Math" panose="02040503050406030204" pitchFamily="18" charset="0"/>
                      </a:rPr>
                      <m:t>𝐶</m:t>
                    </m:r>
                    <m:r>
                      <a:rPr lang="en-US" i="1"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𝐿</m:t>
                    </m:r>
                    <m:f>
                      <m:fPr>
                        <m:ctrlPr>
                          <a:rPr lang="en-US" i="1" dirty="0">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num>
                      <m:den>
                        <m:r>
                          <m:rPr>
                            <m:nor/>
                          </m:rPr>
                          <a:rPr lang="en-US" i="1" dirty="0"/>
                          <m:t>λ</m:t>
                        </m:r>
                      </m:den>
                    </m:f>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3E394BD-B129-877C-C744-20B897AE4FDE}"/>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1000" t="-2120" b="-112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71BF5F6-B203-71DC-96D2-AF338A942FC9}"/>
              </a:ext>
            </a:extLst>
          </p:cNvPr>
          <p:cNvSpPr>
            <a:spLocks noGrp="1"/>
          </p:cNvSpPr>
          <p:nvPr>
            <p:ph type="sldNum" sz="quarter" idx="12"/>
          </p:nvPr>
        </p:nvSpPr>
        <p:spPr/>
        <p:txBody>
          <a:bodyPr/>
          <a:lstStyle/>
          <a:p>
            <a:fld id="{B82CCC60-E8CD-4174-8B1A-7DF615B22EEF}" type="slidenum">
              <a:rPr lang="en-US" smtClean="0"/>
              <a:pPr/>
              <a:t>57</a:t>
            </a:fld>
            <a:endParaRPr lang="en-US"/>
          </a:p>
        </p:txBody>
      </p:sp>
      <p:pic>
        <p:nvPicPr>
          <p:cNvPr id="5" name="Picture 4">
            <a:extLst>
              <a:ext uri="{FF2B5EF4-FFF2-40B4-BE49-F238E27FC236}">
                <a16:creationId xmlns:a16="http://schemas.microsoft.com/office/drawing/2014/main" id="{3F50F2FE-88FB-12C8-AEE6-550820950659}"/>
              </a:ext>
            </a:extLst>
          </p:cNvPr>
          <p:cNvPicPr>
            <a:picLocks noChangeAspect="1"/>
          </p:cNvPicPr>
          <p:nvPr/>
        </p:nvPicPr>
        <p:blipFill>
          <a:blip r:embed="rId3"/>
          <a:stretch>
            <a:fillRect/>
          </a:stretch>
        </p:blipFill>
        <p:spPr>
          <a:xfrm>
            <a:off x="8200468" y="2207360"/>
            <a:ext cx="3991532" cy="1724266"/>
          </a:xfrm>
          <a:prstGeom prst="rect">
            <a:avLst/>
          </a:prstGeom>
        </p:spPr>
      </p:pic>
    </p:spTree>
    <p:extLst>
      <p:ext uri="{BB962C8B-B14F-4D97-AF65-F5344CB8AC3E}">
        <p14:creationId xmlns:p14="http://schemas.microsoft.com/office/powerpoint/2010/main" val="7211803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E492C-2BBB-1798-1FFE-2A8A226B85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6FE828-2859-2593-2B3F-6CF9B2ACC138}"/>
              </a:ext>
            </a:extLst>
          </p:cNvPr>
          <p:cNvSpPr>
            <a:spLocks noGrp="1"/>
          </p:cNvSpPr>
          <p:nvPr>
            <p:ph type="title"/>
          </p:nvPr>
        </p:nvSpPr>
        <p:spPr/>
        <p:txBody>
          <a:bodyPr>
            <a:normAutofit fontScale="90000"/>
          </a:bodyPr>
          <a:lstStyle/>
          <a:p>
            <a:r>
              <a:rPr lang="en-US" dirty="0"/>
              <a:t>Real life correction to contig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6C0A1E-F940-8A8B-DDFA-02DF5FFD5D21}"/>
                  </a:ext>
                </a:extLst>
              </p:cNvPr>
              <p:cNvSpPr>
                <a:spLocks noGrp="1"/>
              </p:cNvSpPr>
              <p:nvPr>
                <p:ph idx="1"/>
              </p:nvPr>
            </p:nvSpPr>
            <p:spPr>
              <a:xfrm>
                <a:off x="598620" y="1596540"/>
                <a:ext cx="10972800" cy="4886559"/>
              </a:xfrm>
            </p:spPr>
            <p:txBody>
              <a:bodyPr>
                <a:normAutofit lnSpcReduction="10000"/>
              </a:bodyPr>
              <a:lstStyle/>
              <a:p>
                <a:r>
                  <a:rPr lang="en-US" dirty="0"/>
                  <a:t>In reality a minimum overlap </a:t>
                </a:r>
                <a:r>
                  <a:rPr lang="en-US" i="1" dirty="0"/>
                  <a:t>O</a:t>
                </a:r>
                <a:r>
                  <a:rPr lang="en-US" dirty="0"/>
                  <a:t> is required to continue a contig.   Let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𝑂</m:t>
                        </m:r>
                      </m:num>
                      <m:den>
                        <m:r>
                          <a:rPr lang="en-US" i="1">
                            <a:latin typeface="Cambria Math" panose="02040503050406030204" pitchFamily="18" charset="0"/>
                            <a:ea typeface="Cambria Math" panose="02040503050406030204" pitchFamily="18" charset="0"/>
                          </a:rPr>
                          <m:t>𝐿</m:t>
                        </m:r>
                      </m:den>
                    </m:f>
                    <m:r>
                      <a:rPr lang="en-US" i="1">
                        <a:latin typeface="Cambria Math" panose="02040503050406030204" pitchFamily="18" charset="0"/>
                        <a:ea typeface="Cambria Math" panose="02040503050406030204" pitchFamily="18" charset="0"/>
                      </a:rPr>
                      <m:t> </m:t>
                    </m:r>
                  </m:oMath>
                </a14:m>
                <a:r>
                  <a:rPr lang="en-US" dirty="0"/>
                  <a:t>. Our coverage </a:t>
                </a:r>
                <a14:m>
                  <m:oMath xmlns:m="http://schemas.openxmlformats.org/officeDocument/2006/math">
                    <m:r>
                      <m:rPr>
                        <m:nor/>
                      </m:rPr>
                      <a:rPr lang="en-US" i="1" dirty="0"/>
                      <m:t>λ</m:t>
                    </m:r>
                    <m:r>
                      <a:rPr lang="en-US" i="1" dirty="0">
                        <a:latin typeface="Cambria Math" panose="02040503050406030204" pitchFamily="18" charset="0"/>
                      </a:rPr>
                      <m:t> </m:t>
                    </m:r>
                  </m:oMath>
                </a14:m>
                <a:r>
                  <a:rPr lang="en-US" dirty="0"/>
                  <a:t>gets replaced by “effective” coverage </a:t>
                </a:r>
                <a14:m>
                  <m:oMath xmlns:m="http://schemas.openxmlformats.org/officeDocument/2006/math">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oMath>
                </a14:m>
                <a:r>
                  <a:rPr lang="en-US" dirty="0"/>
                  <a:t>. Then expected number of contigs becomes:</a:t>
                </a: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smtClean="0"/>
                          <m:t>λ</m:t>
                        </m:r>
                      </m:sup>
                    </m:sSup>
                  </m:oMath>
                </a14:m>
                <a:endParaRPr lang="en-US" dirty="0"/>
              </a:p>
              <a:p>
                <a:r>
                  <a:rPr lang="en-US" dirty="0"/>
                  <a:t>Corrected formula for average contig size (remember </a:t>
                </a:r>
                <a:r>
                  <a:rPr lang="en-US" i="1" dirty="0"/>
                  <a:t>λ = NL/G )</a:t>
                </a:r>
                <a:r>
                  <a:rPr lang="en-US" dirty="0"/>
                  <a:t>:</a:t>
                </a:r>
              </a:p>
              <a:p>
                <a:pPr marL="0" indent="0">
                  <a:buNone/>
                </a:pPr>
                <a:br>
                  <a:rPr lang="en-US" dirty="0"/>
                </a:br>
                <a14:m>
                  <m:oMath xmlns:m="http://schemas.openxmlformats.org/officeDocument/2006/math">
                    <m:r>
                      <a:rPr lang="en-US" b="0" i="1" smtClean="0">
                        <a:latin typeface="Cambria Math" panose="02040503050406030204" pitchFamily="18" charset="0"/>
                      </a:rPr>
                      <m:t>𝐶</m:t>
                    </m:r>
                    <m:r>
                      <a:rPr lang="en-US" i="1" smtClean="0">
                        <a:latin typeface="Cambria Math" panose="02040503050406030204" pitchFamily="18" charset="0"/>
                      </a:rPr>
                      <m:t>=</m:t>
                    </m:r>
                    <m:f>
                      <m:fPr>
                        <m:ctrlPr>
                          <a:rPr lang="en-US" i="1" smtClean="0">
                            <a:latin typeface="Cambria Math" panose="02040503050406030204" pitchFamily="18" charset="0"/>
                          </a:rPr>
                        </m:ctrlPr>
                      </m:fPr>
                      <m:num>
                        <m:sSup>
                          <m:sSupPr>
                            <m:ctrlPr>
                              <a:rPr lang="en-US" i="1" smtClean="0">
                                <a:latin typeface="Cambria Math" panose="02040503050406030204" pitchFamily="18" charset="0"/>
                              </a:rPr>
                            </m:ctrlPr>
                          </m:sSupPr>
                          <m:e>
                            <m:r>
                              <a:rPr lang="en-US" b="0" i="1" smtClean="0">
                                <a:latin typeface="Cambria Math" panose="02040503050406030204" pitchFamily="18" charset="0"/>
                              </a:rPr>
                              <m:t>𝐺</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𝑒</m:t>
                            </m:r>
                          </m:e>
                          <m:sup>
                            <m: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dirty="0">
                            <a:latin typeface="Cambria Math" panose="02040503050406030204" pitchFamily="18" charset="0"/>
                          </a:rPr>
                          <m:t>)</m:t>
                        </m:r>
                        <m:r>
                          <a:rPr lang="en-US" b="0" i="1" dirty="0" smtClean="0">
                            <a:latin typeface="Cambria Math" panose="02040503050406030204" pitchFamily="18" charset="0"/>
                          </a:rPr>
                          <m:t>+</m:t>
                        </m:r>
                        <m:r>
                          <a:rPr lang="en-US" b="0" i="1" dirty="0" smtClean="0">
                            <a:latin typeface="Cambria Math" panose="02040503050406030204" pitchFamily="18" charset="0"/>
                          </a:rPr>
                          <m:t>𝑂</m:t>
                        </m:r>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num>
                      <m:den>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den>
                    </m:f>
                    <m:r>
                      <a:rPr lang="en-US" b="0" i="0" smtClean="0">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b="0" i="1" dirty="0" smtClean="0">
                            <a:latin typeface="Cambria Math" panose="02040503050406030204" pitchFamily="18" charset="0"/>
                          </a:rPr>
                          <m:t>−1</m:t>
                        </m:r>
                        <m:r>
                          <a:rPr lang="en-US" i="1" dirty="0">
                            <a:latin typeface="Cambria Math" panose="02040503050406030204" pitchFamily="18" charset="0"/>
                          </a:rPr>
                          <m:t>)</m:t>
                        </m:r>
                      </m:num>
                      <m:den>
                        <m:r>
                          <a:rPr lang="en-US" b="0" i="1" dirty="0" smtClean="0">
                            <a:latin typeface="Cambria Math" panose="02040503050406030204" pitchFamily="18" charset="0"/>
                          </a:rPr>
                          <m:t>𝑁</m:t>
                        </m:r>
                      </m:den>
                    </m:f>
                    <m:r>
                      <a:rPr lang="en-US" b="0" i="1" dirty="0" smtClean="0">
                        <a:latin typeface="Cambria Math" panose="02040503050406030204" pitchFamily="18" charset="0"/>
                      </a:rPr>
                      <m:t>+</m:t>
                    </m:r>
                    <m:r>
                      <a:rPr lang="en-US" i="1" dirty="0">
                        <a:latin typeface="Cambria Math" panose="02040503050406030204" pitchFamily="18" charset="0"/>
                      </a:rPr>
                      <m:t>𝐿</m:t>
                    </m:r>
                    <m:r>
                      <a:rPr lang="el-GR" i="1" dirty="0">
                        <a:latin typeface="Cambria Math" panose="02040503050406030204" pitchFamily="18" charset="0"/>
                        <a:ea typeface="Cambria Math" panose="02040503050406030204" pitchFamily="18" charset="0"/>
                      </a:rPr>
                      <m:t>𝜌</m:t>
                    </m:r>
                  </m:oMath>
                </a14:m>
                <a:r>
                  <a:rPr lang="en-US" b="0" dirty="0"/>
                  <a:t>=</a:t>
                </a:r>
                <a:r>
                  <a:rPr lang="en-US" dirty="0"/>
                  <a:t> </a:t>
                </a:r>
                <a14:m>
                  <m:oMath xmlns:m="http://schemas.openxmlformats.org/officeDocument/2006/math">
                    <m:r>
                      <a:rPr lang="en-US" i="1">
                        <a:latin typeface="Cambria Math" panose="02040503050406030204" pitchFamily="18" charset="0"/>
                      </a:rPr>
                      <m:t>𝐿</m:t>
                    </m:r>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a:latin typeface="Cambria Math" panose="02040503050406030204" pitchFamily="18" charset="0"/>
                              </a:rPr>
                              <m:t>−1</m:t>
                            </m:r>
                          </m:num>
                          <m:den>
                            <m:r>
                              <m:rPr>
                                <m:nor/>
                              </m:rPr>
                              <a:rPr lang="en-US" i="1" dirty="0"/>
                              <m:t>λ</m:t>
                            </m:r>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𝜌</m:t>
                        </m:r>
                      </m:e>
                    </m:d>
                  </m:oMath>
                </a14:m>
                <a:endParaRPr lang="en-US" b="0" dirty="0"/>
              </a:p>
              <a:p>
                <a:pPr marL="0" indent="0">
                  <a:buNone/>
                </a:pPr>
                <a:endParaRPr lang="en-US" dirty="0"/>
              </a:p>
              <a:p>
                <a:r>
                  <a:rPr lang="en-US" dirty="0"/>
                  <a:t>What happens when </a:t>
                </a:r>
                <a14:m>
                  <m:oMath xmlns:m="http://schemas.openxmlformats.org/officeDocument/2006/math">
                    <m:r>
                      <a:rPr lang="en-US" i="1" smtClean="0">
                        <a:latin typeface="Cambria Math" panose="02040503050406030204" pitchFamily="18" charset="0"/>
                        <a:ea typeface="Cambria Math" panose="02040503050406030204" pitchFamily="18" charset="0"/>
                      </a:rPr>
                      <m:t>𝜌</m:t>
                    </m:r>
                    <m:r>
                      <a:rPr lang="en-US" i="1" smtClean="0">
                        <a:latin typeface="Cambria Math" panose="02040503050406030204" pitchFamily="18" charset="0"/>
                        <a:ea typeface="Cambria Math" panose="02040503050406030204" pitchFamily="18" charset="0"/>
                      </a:rPr>
                      <m:t>→1</m:t>
                    </m:r>
                  </m:oMath>
                </a14:m>
                <a:r>
                  <a:rPr lang="en-US" dirty="0"/>
                  <a:t>, or when</a:t>
                </a:r>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→0</m:t>
                    </m:r>
                  </m:oMath>
                </a14:m>
                <a:r>
                  <a:rPr lang="en-US" i="1" dirty="0"/>
                  <a:t>  </a:t>
                </a:r>
                <a:r>
                  <a:rPr lang="en-US" dirty="0"/>
                  <a:t>?</a:t>
                </a:r>
              </a:p>
            </p:txBody>
          </p:sp>
        </mc:Choice>
        <mc:Fallback xmlns="">
          <p:sp>
            <p:nvSpPr>
              <p:cNvPr id="3" name="Content Placeholder 2">
                <a:extLst>
                  <a:ext uri="{FF2B5EF4-FFF2-40B4-BE49-F238E27FC236}">
                    <a16:creationId xmlns:a16="http://schemas.microsoft.com/office/drawing/2014/main" id="{7A6C0A1E-F940-8A8B-DDFA-02DF5FFD5D21}"/>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1000" t="-212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0D0638E-C7F1-E1B1-7CB6-792B40B9B424}"/>
              </a:ext>
            </a:extLst>
          </p:cNvPr>
          <p:cNvSpPr>
            <a:spLocks noGrp="1"/>
          </p:cNvSpPr>
          <p:nvPr>
            <p:ph type="sldNum" sz="quarter" idx="12"/>
          </p:nvPr>
        </p:nvSpPr>
        <p:spPr/>
        <p:txBody>
          <a:bodyPr/>
          <a:lstStyle/>
          <a:p>
            <a:fld id="{B82CCC60-E8CD-4174-8B1A-7DF615B22EEF}" type="slidenum">
              <a:rPr lang="en-US" smtClean="0"/>
              <a:pPr/>
              <a:t>58</a:t>
            </a:fld>
            <a:endParaRPr lang="en-US"/>
          </a:p>
        </p:txBody>
      </p:sp>
    </p:spTree>
    <p:extLst>
      <p:ext uri="{BB962C8B-B14F-4D97-AF65-F5344CB8AC3E}">
        <p14:creationId xmlns:p14="http://schemas.microsoft.com/office/powerpoint/2010/main" val="8607614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endParaRPr lang="en-US"/>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59</a:t>
            </a:fld>
            <a:endParaRPr lang="en-US"/>
          </a:p>
        </p:txBody>
      </p:sp>
    </p:spTree>
    <p:extLst>
      <p:ext uri="{BB962C8B-B14F-4D97-AF65-F5344CB8AC3E}">
        <p14:creationId xmlns:p14="http://schemas.microsoft.com/office/powerpoint/2010/main" val="32752390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Overview</a:t>
            </a:r>
          </a:p>
        </p:txBody>
      </p:sp>
      <p:grpSp>
        <p:nvGrpSpPr>
          <p:cNvPr id="6" name="Group 5">
            <a:extLst>
              <a:ext uri="{FF2B5EF4-FFF2-40B4-BE49-F238E27FC236}">
                <a16:creationId xmlns:a16="http://schemas.microsoft.com/office/drawing/2014/main" id="{12F90E23-1B3A-42CF-9767-88548BB4707E}"/>
              </a:ext>
            </a:extLst>
          </p:cNvPr>
          <p:cNvGrpSpPr/>
          <p:nvPr/>
        </p:nvGrpSpPr>
        <p:grpSpPr>
          <a:xfrm>
            <a:off x="635893" y="2026644"/>
            <a:ext cx="2006573" cy="1905000"/>
            <a:chOff x="685800" y="2819400"/>
            <a:chExt cx="3036888" cy="3279775"/>
          </a:xfrm>
        </p:grpSpPr>
        <p:sp>
          <p:nvSpPr>
            <p:cNvPr id="7" name="Freeform 3">
              <a:extLst>
                <a:ext uri="{FF2B5EF4-FFF2-40B4-BE49-F238E27FC236}">
                  <a16:creationId xmlns:a16="http://schemas.microsoft.com/office/drawing/2014/main" id="{D8AC61E0-17BD-4AD6-A53C-4C383313931C}"/>
                </a:ext>
              </a:extLst>
            </p:cNvPr>
            <p:cNvSpPr>
              <a:spLocks/>
            </p:cNvSpPr>
            <p:nvPr/>
          </p:nvSpPr>
          <p:spPr bwMode="auto">
            <a:xfrm>
              <a:off x="1752600" y="2819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Freeform 4">
              <a:extLst>
                <a:ext uri="{FF2B5EF4-FFF2-40B4-BE49-F238E27FC236}">
                  <a16:creationId xmlns:a16="http://schemas.microsoft.com/office/drawing/2014/main" id="{525243E6-3A13-4886-A439-5A8E03012BCE}"/>
                </a:ext>
              </a:extLst>
            </p:cNvPr>
            <p:cNvSpPr>
              <a:spLocks/>
            </p:cNvSpPr>
            <p:nvPr/>
          </p:nvSpPr>
          <p:spPr bwMode="auto">
            <a:xfrm>
              <a:off x="685800" y="41148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Freeform 5">
              <a:extLst>
                <a:ext uri="{FF2B5EF4-FFF2-40B4-BE49-F238E27FC236}">
                  <a16:creationId xmlns:a16="http://schemas.microsoft.com/office/drawing/2014/main" id="{CD597AB0-302F-47D4-823A-85B64AD9765C}"/>
                </a:ext>
              </a:extLst>
            </p:cNvPr>
            <p:cNvSpPr>
              <a:spLocks/>
            </p:cNvSpPr>
            <p:nvPr/>
          </p:nvSpPr>
          <p:spPr bwMode="auto">
            <a:xfrm>
              <a:off x="2209800" y="4343400"/>
              <a:ext cx="1512888" cy="1755775"/>
            </a:xfrm>
            <a:custGeom>
              <a:avLst/>
              <a:gdLst>
                <a:gd name="T0" fmla="*/ 370 w 953"/>
                <a:gd name="T1" fmla="*/ 457 h 1106"/>
                <a:gd name="T2" fmla="*/ 296 w 953"/>
                <a:gd name="T3" fmla="*/ 413 h 1106"/>
                <a:gd name="T4" fmla="*/ 540 w 953"/>
                <a:gd name="T5" fmla="*/ 214 h 1106"/>
                <a:gd name="T6" fmla="*/ 665 w 953"/>
                <a:gd name="T7" fmla="*/ 465 h 1106"/>
                <a:gd name="T8" fmla="*/ 392 w 953"/>
                <a:gd name="T9" fmla="*/ 398 h 1106"/>
                <a:gd name="T10" fmla="*/ 414 w 953"/>
                <a:gd name="T11" fmla="*/ 243 h 1106"/>
                <a:gd name="T12" fmla="*/ 621 w 953"/>
                <a:gd name="T13" fmla="*/ 133 h 1106"/>
                <a:gd name="T14" fmla="*/ 709 w 953"/>
                <a:gd name="T15" fmla="*/ 265 h 1106"/>
                <a:gd name="T16" fmla="*/ 532 w 953"/>
                <a:gd name="T17" fmla="*/ 421 h 1106"/>
                <a:gd name="T18" fmla="*/ 362 w 953"/>
                <a:gd name="T19" fmla="*/ 258 h 1106"/>
                <a:gd name="T20" fmla="*/ 185 w 953"/>
                <a:gd name="T21" fmla="*/ 133 h 1106"/>
                <a:gd name="T22" fmla="*/ 444 w 953"/>
                <a:gd name="T23" fmla="*/ 369 h 1106"/>
                <a:gd name="T24" fmla="*/ 458 w 953"/>
                <a:gd name="T25" fmla="*/ 199 h 1106"/>
                <a:gd name="T26" fmla="*/ 414 w 953"/>
                <a:gd name="T27" fmla="*/ 133 h 1106"/>
                <a:gd name="T28" fmla="*/ 650 w 953"/>
                <a:gd name="T29" fmla="*/ 66 h 1106"/>
                <a:gd name="T30" fmla="*/ 665 w 953"/>
                <a:gd name="T31" fmla="*/ 236 h 1106"/>
                <a:gd name="T32" fmla="*/ 444 w 953"/>
                <a:gd name="T33" fmla="*/ 288 h 1106"/>
                <a:gd name="T34" fmla="*/ 259 w 953"/>
                <a:gd name="T35" fmla="*/ 376 h 1106"/>
                <a:gd name="T36" fmla="*/ 207 w 953"/>
                <a:gd name="T37" fmla="*/ 472 h 1106"/>
                <a:gd name="T38" fmla="*/ 252 w 953"/>
                <a:gd name="T39" fmla="*/ 716 h 1106"/>
                <a:gd name="T40" fmla="*/ 429 w 953"/>
                <a:gd name="T41" fmla="*/ 937 h 1106"/>
                <a:gd name="T42" fmla="*/ 333 w 953"/>
                <a:gd name="T43" fmla="*/ 1070 h 1106"/>
                <a:gd name="T44" fmla="*/ 362 w 953"/>
                <a:gd name="T45" fmla="*/ 841 h 1106"/>
                <a:gd name="T46" fmla="*/ 576 w 953"/>
                <a:gd name="T47" fmla="*/ 745 h 1106"/>
                <a:gd name="T48" fmla="*/ 709 w 953"/>
                <a:gd name="T49" fmla="*/ 731 h 1106"/>
                <a:gd name="T50" fmla="*/ 458 w 953"/>
                <a:gd name="T51" fmla="*/ 657 h 1106"/>
                <a:gd name="T52" fmla="*/ 473 w 953"/>
                <a:gd name="T53" fmla="*/ 450 h 1106"/>
                <a:gd name="T54" fmla="*/ 636 w 953"/>
                <a:gd name="T55" fmla="*/ 531 h 1106"/>
                <a:gd name="T56" fmla="*/ 370 w 953"/>
                <a:gd name="T57" fmla="*/ 649 h 1106"/>
                <a:gd name="T58" fmla="*/ 185 w 953"/>
                <a:gd name="T59" fmla="*/ 450 h 1106"/>
                <a:gd name="T60" fmla="*/ 37 w 953"/>
                <a:gd name="T61" fmla="*/ 590 h 1106"/>
                <a:gd name="T62" fmla="*/ 0 w 953"/>
                <a:gd name="T63" fmla="*/ 709 h 1106"/>
                <a:gd name="T64" fmla="*/ 170 w 953"/>
                <a:gd name="T65" fmla="*/ 886 h 1106"/>
                <a:gd name="T66" fmla="*/ 311 w 953"/>
                <a:gd name="T67" fmla="*/ 819 h 1106"/>
                <a:gd name="T68" fmla="*/ 613 w 953"/>
                <a:gd name="T69" fmla="*/ 627 h 1106"/>
                <a:gd name="T70" fmla="*/ 783 w 953"/>
                <a:gd name="T71" fmla="*/ 443 h 1106"/>
                <a:gd name="T72" fmla="*/ 754 w 953"/>
                <a:gd name="T73" fmla="*/ 620 h 1106"/>
                <a:gd name="T74" fmla="*/ 924 w 953"/>
                <a:gd name="T75" fmla="*/ 613 h 1106"/>
                <a:gd name="T76" fmla="*/ 946 w 953"/>
                <a:gd name="T77" fmla="*/ 428 h 1106"/>
                <a:gd name="T78" fmla="*/ 768 w 953"/>
                <a:gd name="T79" fmla="*/ 406 h 1106"/>
                <a:gd name="T80" fmla="*/ 724 w 953"/>
                <a:gd name="T81" fmla="*/ 155 h 1106"/>
                <a:gd name="T82" fmla="*/ 562 w 953"/>
                <a:gd name="T83" fmla="*/ 96 h 1106"/>
                <a:gd name="T84" fmla="*/ 495 w 953"/>
                <a:gd name="T85" fmla="*/ 391 h 1106"/>
                <a:gd name="T86" fmla="*/ 517 w 953"/>
                <a:gd name="T87" fmla="*/ 553 h 1106"/>
                <a:gd name="T88" fmla="*/ 325 w 953"/>
                <a:gd name="T89" fmla="*/ 576 h 1106"/>
                <a:gd name="T90" fmla="*/ 303 w 953"/>
                <a:gd name="T91" fmla="*/ 398 h 1106"/>
                <a:gd name="T92" fmla="*/ 399 w 953"/>
                <a:gd name="T93" fmla="*/ 280 h 1106"/>
                <a:gd name="T94" fmla="*/ 599 w 953"/>
                <a:gd name="T95" fmla="*/ 273 h 1106"/>
                <a:gd name="T96" fmla="*/ 495 w 953"/>
                <a:gd name="T97" fmla="*/ 524 h 1106"/>
                <a:gd name="T98" fmla="*/ 274 w 953"/>
                <a:gd name="T99" fmla="*/ 347 h 1106"/>
                <a:gd name="T100" fmla="*/ 466 w 953"/>
                <a:gd name="T101" fmla="*/ 325 h 1106"/>
                <a:gd name="T102" fmla="*/ 133 w 953"/>
                <a:gd name="T103" fmla="*/ 457 h 1106"/>
                <a:gd name="T104" fmla="*/ 82 w 953"/>
                <a:gd name="T105" fmla="*/ 753 h 1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53" h="1106">
                  <a:moveTo>
                    <a:pt x="495" y="517"/>
                  </a:moveTo>
                  <a:cubicBezTo>
                    <a:pt x="456" y="497"/>
                    <a:pt x="407" y="480"/>
                    <a:pt x="370" y="457"/>
                  </a:cubicBezTo>
                  <a:cubicBezTo>
                    <a:pt x="321" y="426"/>
                    <a:pt x="360" y="441"/>
                    <a:pt x="318" y="428"/>
                  </a:cubicBezTo>
                  <a:cubicBezTo>
                    <a:pt x="311" y="423"/>
                    <a:pt x="296" y="422"/>
                    <a:pt x="296" y="413"/>
                  </a:cubicBezTo>
                  <a:cubicBezTo>
                    <a:pt x="290" y="259"/>
                    <a:pt x="289" y="225"/>
                    <a:pt x="414" y="206"/>
                  </a:cubicBezTo>
                  <a:cubicBezTo>
                    <a:pt x="456" y="209"/>
                    <a:pt x="501" y="199"/>
                    <a:pt x="540" y="214"/>
                  </a:cubicBezTo>
                  <a:cubicBezTo>
                    <a:pt x="604" y="239"/>
                    <a:pt x="621" y="325"/>
                    <a:pt x="665" y="369"/>
                  </a:cubicBezTo>
                  <a:cubicBezTo>
                    <a:pt x="673" y="401"/>
                    <a:pt x="683" y="431"/>
                    <a:pt x="665" y="465"/>
                  </a:cubicBezTo>
                  <a:cubicBezTo>
                    <a:pt x="663" y="470"/>
                    <a:pt x="617" y="484"/>
                    <a:pt x="606" y="487"/>
                  </a:cubicBezTo>
                  <a:cubicBezTo>
                    <a:pt x="426" y="479"/>
                    <a:pt x="450" y="514"/>
                    <a:pt x="392" y="398"/>
                  </a:cubicBezTo>
                  <a:cubicBezTo>
                    <a:pt x="381" y="347"/>
                    <a:pt x="375" y="339"/>
                    <a:pt x="392" y="273"/>
                  </a:cubicBezTo>
                  <a:cubicBezTo>
                    <a:pt x="395" y="261"/>
                    <a:pt x="406" y="252"/>
                    <a:pt x="414" y="243"/>
                  </a:cubicBezTo>
                  <a:cubicBezTo>
                    <a:pt x="451" y="202"/>
                    <a:pt x="487" y="143"/>
                    <a:pt x="540" y="125"/>
                  </a:cubicBezTo>
                  <a:cubicBezTo>
                    <a:pt x="567" y="128"/>
                    <a:pt x="595" y="124"/>
                    <a:pt x="621" y="133"/>
                  </a:cubicBezTo>
                  <a:cubicBezTo>
                    <a:pt x="632" y="137"/>
                    <a:pt x="636" y="152"/>
                    <a:pt x="643" y="162"/>
                  </a:cubicBezTo>
                  <a:cubicBezTo>
                    <a:pt x="668" y="197"/>
                    <a:pt x="696" y="223"/>
                    <a:pt x="709" y="265"/>
                  </a:cubicBezTo>
                  <a:cubicBezTo>
                    <a:pt x="702" y="371"/>
                    <a:pt x="715" y="385"/>
                    <a:pt x="636" y="435"/>
                  </a:cubicBezTo>
                  <a:cubicBezTo>
                    <a:pt x="601" y="430"/>
                    <a:pt x="566" y="430"/>
                    <a:pt x="532" y="421"/>
                  </a:cubicBezTo>
                  <a:cubicBezTo>
                    <a:pt x="520" y="418"/>
                    <a:pt x="513" y="405"/>
                    <a:pt x="503" y="398"/>
                  </a:cubicBezTo>
                  <a:cubicBezTo>
                    <a:pt x="444" y="358"/>
                    <a:pt x="403" y="318"/>
                    <a:pt x="362" y="258"/>
                  </a:cubicBezTo>
                  <a:cubicBezTo>
                    <a:pt x="341" y="190"/>
                    <a:pt x="403" y="90"/>
                    <a:pt x="325" y="66"/>
                  </a:cubicBezTo>
                  <a:cubicBezTo>
                    <a:pt x="236" y="73"/>
                    <a:pt x="221" y="61"/>
                    <a:pt x="185" y="133"/>
                  </a:cubicBezTo>
                  <a:cubicBezTo>
                    <a:pt x="142" y="310"/>
                    <a:pt x="201" y="371"/>
                    <a:pt x="340" y="428"/>
                  </a:cubicBezTo>
                  <a:cubicBezTo>
                    <a:pt x="398" y="420"/>
                    <a:pt x="409" y="413"/>
                    <a:pt x="444" y="369"/>
                  </a:cubicBezTo>
                  <a:cubicBezTo>
                    <a:pt x="462" y="313"/>
                    <a:pt x="455" y="340"/>
                    <a:pt x="466" y="288"/>
                  </a:cubicBezTo>
                  <a:cubicBezTo>
                    <a:pt x="463" y="258"/>
                    <a:pt x="466" y="228"/>
                    <a:pt x="458" y="199"/>
                  </a:cubicBezTo>
                  <a:cubicBezTo>
                    <a:pt x="453" y="182"/>
                    <a:pt x="439" y="170"/>
                    <a:pt x="429" y="155"/>
                  </a:cubicBezTo>
                  <a:cubicBezTo>
                    <a:pt x="424" y="148"/>
                    <a:pt x="414" y="133"/>
                    <a:pt x="414" y="133"/>
                  </a:cubicBezTo>
                  <a:cubicBezTo>
                    <a:pt x="398" y="51"/>
                    <a:pt x="432" y="12"/>
                    <a:pt x="510" y="0"/>
                  </a:cubicBezTo>
                  <a:cubicBezTo>
                    <a:pt x="607" y="14"/>
                    <a:pt x="602" y="3"/>
                    <a:pt x="650" y="66"/>
                  </a:cubicBezTo>
                  <a:cubicBezTo>
                    <a:pt x="658" y="88"/>
                    <a:pt x="672" y="133"/>
                    <a:pt x="672" y="133"/>
                  </a:cubicBezTo>
                  <a:cubicBezTo>
                    <a:pt x="670" y="167"/>
                    <a:pt x="673" y="202"/>
                    <a:pt x="665" y="236"/>
                  </a:cubicBezTo>
                  <a:cubicBezTo>
                    <a:pt x="661" y="253"/>
                    <a:pt x="636" y="262"/>
                    <a:pt x="621" y="265"/>
                  </a:cubicBezTo>
                  <a:cubicBezTo>
                    <a:pt x="563" y="276"/>
                    <a:pt x="503" y="282"/>
                    <a:pt x="444" y="288"/>
                  </a:cubicBezTo>
                  <a:cubicBezTo>
                    <a:pt x="398" y="302"/>
                    <a:pt x="351" y="310"/>
                    <a:pt x="311" y="339"/>
                  </a:cubicBezTo>
                  <a:cubicBezTo>
                    <a:pt x="294" y="351"/>
                    <a:pt x="259" y="376"/>
                    <a:pt x="259" y="376"/>
                  </a:cubicBezTo>
                  <a:cubicBezTo>
                    <a:pt x="244" y="423"/>
                    <a:pt x="264" y="372"/>
                    <a:pt x="229" y="421"/>
                  </a:cubicBezTo>
                  <a:cubicBezTo>
                    <a:pt x="220" y="433"/>
                    <a:pt x="212" y="457"/>
                    <a:pt x="207" y="472"/>
                  </a:cubicBezTo>
                  <a:cubicBezTo>
                    <a:pt x="210" y="531"/>
                    <a:pt x="211" y="590"/>
                    <a:pt x="215" y="649"/>
                  </a:cubicBezTo>
                  <a:cubicBezTo>
                    <a:pt x="217" y="674"/>
                    <a:pt x="252" y="716"/>
                    <a:pt x="252" y="716"/>
                  </a:cubicBezTo>
                  <a:cubicBezTo>
                    <a:pt x="271" y="776"/>
                    <a:pt x="327" y="840"/>
                    <a:pt x="384" y="864"/>
                  </a:cubicBezTo>
                  <a:cubicBezTo>
                    <a:pt x="420" y="917"/>
                    <a:pt x="406" y="892"/>
                    <a:pt x="429" y="937"/>
                  </a:cubicBezTo>
                  <a:cubicBezTo>
                    <a:pt x="440" y="982"/>
                    <a:pt x="458" y="1048"/>
                    <a:pt x="421" y="1085"/>
                  </a:cubicBezTo>
                  <a:cubicBezTo>
                    <a:pt x="400" y="1106"/>
                    <a:pt x="362" y="1075"/>
                    <a:pt x="333" y="1070"/>
                  </a:cubicBezTo>
                  <a:cubicBezTo>
                    <a:pt x="295" y="1042"/>
                    <a:pt x="290" y="1028"/>
                    <a:pt x="281" y="982"/>
                  </a:cubicBezTo>
                  <a:cubicBezTo>
                    <a:pt x="288" y="887"/>
                    <a:pt x="277" y="872"/>
                    <a:pt x="362" y="841"/>
                  </a:cubicBezTo>
                  <a:cubicBezTo>
                    <a:pt x="392" y="819"/>
                    <a:pt x="412" y="819"/>
                    <a:pt x="444" y="805"/>
                  </a:cubicBezTo>
                  <a:cubicBezTo>
                    <a:pt x="490" y="784"/>
                    <a:pt x="527" y="756"/>
                    <a:pt x="576" y="745"/>
                  </a:cubicBezTo>
                  <a:cubicBezTo>
                    <a:pt x="591" y="738"/>
                    <a:pt x="619" y="723"/>
                    <a:pt x="636" y="723"/>
                  </a:cubicBezTo>
                  <a:cubicBezTo>
                    <a:pt x="660" y="723"/>
                    <a:pt x="733" y="731"/>
                    <a:pt x="709" y="731"/>
                  </a:cubicBezTo>
                  <a:cubicBezTo>
                    <a:pt x="670" y="731"/>
                    <a:pt x="630" y="726"/>
                    <a:pt x="591" y="723"/>
                  </a:cubicBezTo>
                  <a:cubicBezTo>
                    <a:pt x="539" y="709"/>
                    <a:pt x="504" y="685"/>
                    <a:pt x="458" y="657"/>
                  </a:cubicBezTo>
                  <a:cubicBezTo>
                    <a:pt x="439" y="628"/>
                    <a:pt x="422" y="618"/>
                    <a:pt x="414" y="583"/>
                  </a:cubicBezTo>
                  <a:cubicBezTo>
                    <a:pt x="423" y="526"/>
                    <a:pt x="413" y="469"/>
                    <a:pt x="473" y="450"/>
                  </a:cubicBezTo>
                  <a:cubicBezTo>
                    <a:pt x="517" y="418"/>
                    <a:pt x="528" y="421"/>
                    <a:pt x="584" y="428"/>
                  </a:cubicBezTo>
                  <a:cubicBezTo>
                    <a:pt x="624" y="455"/>
                    <a:pt x="621" y="489"/>
                    <a:pt x="636" y="531"/>
                  </a:cubicBezTo>
                  <a:cubicBezTo>
                    <a:pt x="605" y="624"/>
                    <a:pt x="565" y="652"/>
                    <a:pt x="466" y="664"/>
                  </a:cubicBezTo>
                  <a:cubicBezTo>
                    <a:pt x="434" y="659"/>
                    <a:pt x="400" y="660"/>
                    <a:pt x="370" y="649"/>
                  </a:cubicBezTo>
                  <a:cubicBezTo>
                    <a:pt x="327" y="633"/>
                    <a:pt x="220" y="550"/>
                    <a:pt x="192" y="509"/>
                  </a:cubicBezTo>
                  <a:cubicBezTo>
                    <a:pt x="190" y="489"/>
                    <a:pt x="199" y="464"/>
                    <a:pt x="185" y="450"/>
                  </a:cubicBezTo>
                  <a:cubicBezTo>
                    <a:pt x="176" y="441"/>
                    <a:pt x="159" y="457"/>
                    <a:pt x="148" y="465"/>
                  </a:cubicBezTo>
                  <a:cubicBezTo>
                    <a:pt x="105" y="496"/>
                    <a:pt x="61" y="544"/>
                    <a:pt x="37" y="590"/>
                  </a:cubicBezTo>
                  <a:cubicBezTo>
                    <a:pt x="31" y="616"/>
                    <a:pt x="24" y="639"/>
                    <a:pt x="15" y="664"/>
                  </a:cubicBezTo>
                  <a:cubicBezTo>
                    <a:pt x="10" y="679"/>
                    <a:pt x="0" y="709"/>
                    <a:pt x="0" y="709"/>
                  </a:cubicBezTo>
                  <a:cubicBezTo>
                    <a:pt x="5" y="741"/>
                    <a:pt x="7" y="774"/>
                    <a:pt x="15" y="805"/>
                  </a:cubicBezTo>
                  <a:cubicBezTo>
                    <a:pt x="31" y="866"/>
                    <a:pt x="124" y="873"/>
                    <a:pt x="170" y="886"/>
                  </a:cubicBezTo>
                  <a:cubicBezTo>
                    <a:pt x="205" y="883"/>
                    <a:pt x="243" y="893"/>
                    <a:pt x="274" y="878"/>
                  </a:cubicBezTo>
                  <a:cubicBezTo>
                    <a:pt x="295" y="868"/>
                    <a:pt x="299" y="839"/>
                    <a:pt x="311" y="819"/>
                  </a:cubicBezTo>
                  <a:cubicBezTo>
                    <a:pt x="319" y="807"/>
                    <a:pt x="333" y="782"/>
                    <a:pt x="333" y="782"/>
                  </a:cubicBezTo>
                  <a:cubicBezTo>
                    <a:pt x="354" y="648"/>
                    <a:pt x="501" y="636"/>
                    <a:pt x="613" y="627"/>
                  </a:cubicBezTo>
                  <a:cubicBezTo>
                    <a:pt x="735" y="632"/>
                    <a:pt x="786" y="650"/>
                    <a:pt x="887" y="627"/>
                  </a:cubicBezTo>
                  <a:cubicBezTo>
                    <a:pt x="950" y="527"/>
                    <a:pt x="853" y="487"/>
                    <a:pt x="783" y="443"/>
                  </a:cubicBezTo>
                  <a:cubicBezTo>
                    <a:pt x="709" y="457"/>
                    <a:pt x="730" y="486"/>
                    <a:pt x="739" y="568"/>
                  </a:cubicBezTo>
                  <a:cubicBezTo>
                    <a:pt x="739" y="572"/>
                    <a:pt x="749" y="614"/>
                    <a:pt x="754" y="620"/>
                  </a:cubicBezTo>
                  <a:cubicBezTo>
                    <a:pt x="776" y="647"/>
                    <a:pt x="825" y="640"/>
                    <a:pt x="850" y="642"/>
                  </a:cubicBezTo>
                  <a:cubicBezTo>
                    <a:pt x="877" y="633"/>
                    <a:pt x="895" y="620"/>
                    <a:pt x="924" y="613"/>
                  </a:cubicBezTo>
                  <a:cubicBezTo>
                    <a:pt x="937" y="599"/>
                    <a:pt x="953" y="589"/>
                    <a:pt x="953" y="568"/>
                  </a:cubicBezTo>
                  <a:cubicBezTo>
                    <a:pt x="953" y="521"/>
                    <a:pt x="950" y="475"/>
                    <a:pt x="946" y="428"/>
                  </a:cubicBezTo>
                  <a:cubicBezTo>
                    <a:pt x="939" y="352"/>
                    <a:pt x="843" y="316"/>
                    <a:pt x="791" y="280"/>
                  </a:cubicBezTo>
                  <a:cubicBezTo>
                    <a:pt x="746" y="348"/>
                    <a:pt x="759" y="307"/>
                    <a:pt x="768" y="406"/>
                  </a:cubicBezTo>
                  <a:cubicBezTo>
                    <a:pt x="813" y="398"/>
                    <a:pt x="826" y="398"/>
                    <a:pt x="850" y="361"/>
                  </a:cubicBezTo>
                  <a:cubicBezTo>
                    <a:pt x="870" y="258"/>
                    <a:pt x="818" y="194"/>
                    <a:pt x="724" y="155"/>
                  </a:cubicBezTo>
                  <a:cubicBezTo>
                    <a:pt x="580" y="94"/>
                    <a:pt x="682" y="133"/>
                    <a:pt x="606" y="110"/>
                  </a:cubicBezTo>
                  <a:cubicBezTo>
                    <a:pt x="591" y="106"/>
                    <a:pt x="562" y="96"/>
                    <a:pt x="562" y="96"/>
                  </a:cubicBezTo>
                  <a:cubicBezTo>
                    <a:pt x="527" y="147"/>
                    <a:pt x="503" y="158"/>
                    <a:pt x="488" y="221"/>
                  </a:cubicBezTo>
                  <a:cubicBezTo>
                    <a:pt x="490" y="278"/>
                    <a:pt x="485" y="335"/>
                    <a:pt x="495" y="391"/>
                  </a:cubicBezTo>
                  <a:cubicBezTo>
                    <a:pt x="500" y="421"/>
                    <a:pt x="552" y="447"/>
                    <a:pt x="569" y="472"/>
                  </a:cubicBezTo>
                  <a:cubicBezTo>
                    <a:pt x="560" y="518"/>
                    <a:pt x="554" y="526"/>
                    <a:pt x="517" y="553"/>
                  </a:cubicBezTo>
                  <a:cubicBezTo>
                    <a:pt x="495" y="588"/>
                    <a:pt x="471" y="585"/>
                    <a:pt x="436" y="598"/>
                  </a:cubicBezTo>
                  <a:cubicBezTo>
                    <a:pt x="398" y="592"/>
                    <a:pt x="363" y="583"/>
                    <a:pt x="325" y="576"/>
                  </a:cubicBezTo>
                  <a:cubicBezTo>
                    <a:pt x="313" y="556"/>
                    <a:pt x="285" y="540"/>
                    <a:pt x="288" y="517"/>
                  </a:cubicBezTo>
                  <a:cubicBezTo>
                    <a:pt x="293" y="477"/>
                    <a:pt x="293" y="437"/>
                    <a:pt x="303" y="398"/>
                  </a:cubicBezTo>
                  <a:cubicBezTo>
                    <a:pt x="306" y="386"/>
                    <a:pt x="319" y="379"/>
                    <a:pt x="325" y="369"/>
                  </a:cubicBezTo>
                  <a:cubicBezTo>
                    <a:pt x="346" y="336"/>
                    <a:pt x="359" y="297"/>
                    <a:pt x="399" y="280"/>
                  </a:cubicBezTo>
                  <a:cubicBezTo>
                    <a:pt x="427" y="268"/>
                    <a:pt x="459" y="267"/>
                    <a:pt x="488" y="258"/>
                  </a:cubicBezTo>
                  <a:cubicBezTo>
                    <a:pt x="525" y="263"/>
                    <a:pt x="565" y="257"/>
                    <a:pt x="599" y="273"/>
                  </a:cubicBezTo>
                  <a:cubicBezTo>
                    <a:pt x="613" y="280"/>
                    <a:pt x="613" y="317"/>
                    <a:pt x="613" y="317"/>
                  </a:cubicBezTo>
                  <a:cubicBezTo>
                    <a:pt x="606" y="407"/>
                    <a:pt x="596" y="501"/>
                    <a:pt x="495" y="524"/>
                  </a:cubicBezTo>
                  <a:cubicBezTo>
                    <a:pt x="456" y="519"/>
                    <a:pt x="415" y="519"/>
                    <a:pt x="377" y="509"/>
                  </a:cubicBezTo>
                  <a:cubicBezTo>
                    <a:pt x="338" y="499"/>
                    <a:pt x="286" y="384"/>
                    <a:pt x="274" y="347"/>
                  </a:cubicBezTo>
                  <a:cubicBezTo>
                    <a:pt x="302" y="273"/>
                    <a:pt x="299" y="268"/>
                    <a:pt x="370" y="251"/>
                  </a:cubicBezTo>
                  <a:cubicBezTo>
                    <a:pt x="462" y="260"/>
                    <a:pt x="449" y="245"/>
                    <a:pt x="466" y="325"/>
                  </a:cubicBezTo>
                  <a:cubicBezTo>
                    <a:pt x="452" y="396"/>
                    <a:pt x="441" y="488"/>
                    <a:pt x="362" y="517"/>
                  </a:cubicBezTo>
                  <a:cubicBezTo>
                    <a:pt x="271" y="509"/>
                    <a:pt x="184" y="535"/>
                    <a:pt x="133" y="457"/>
                  </a:cubicBezTo>
                  <a:cubicBezTo>
                    <a:pt x="128" y="536"/>
                    <a:pt x="121" y="604"/>
                    <a:pt x="104" y="679"/>
                  </a:cubicBezTo>
                  <a:cubicBezTo>
                    <a:pt x="100" y="695"/>
                    <a:pt x="96" y="753"/>
                    <a:pt x="82" y="75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0" name="Text Box 6">
            <a:extLst>
              <a:ext uri="{FF2B5EF4-FFF2-40B4-BE49-F238E27FC236}">
                <a16:creationId xmlns:a16="http://schemas.microsoft.com/office/drawing/2014/main" id="{CC167EB0-4440-470F-BCA1-52D72E8A335F}"/>
              </a:ext>
            </a:extLst>
          </p:cNvPr>
          <p:cNvSpPr txBox="1">
            <a:spLocks noChangeArrowheads="1"/>
          </p:cNvSpPr>
          <p:nvPr/>
        </p:nvSpPr>
        <p:spPr bwMode="auto">
          <a:xfrm>
            <a:off x="349135" y="1559223"/>
            <a:ext cx="2698865" cy="727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latin typeface="+mn-lt"/>
              </a:rPr>
              <a:t>Multiple copies of DNA</a:t>
            </a:r>
            <a:endParaRPr lang="ru-RU" sz="2000" dirty="0">
              <a:latin typeface="+mn-lt"/>
            </a:endParaRPr>
          </a:p>
        </p:txBody>
      </p:sp>
      <p:sp>
        <p:nvSpPr>
          <p:cNvPr id="12" name="Text Box 6">
            <a:extLst>
              <a:ext uri="{FF2B5EF4-FFF2-40B4-BE49-F238E27FC236}">
                <a16:creationId xmlns:a16="http://schemas.microsoft.com/office/drawing/2014/main" id="{29E56DD2-04C6-4E82-8D8A-5B38CE32AA38}"/>
              </a:ext>
            </a:extLst>
          </p:cNvPr>
          <p:cNvSpPr txBox="1">
            <a:spLocks noChangeArrowheads="1"/>
          </p:cNvSpPr>
          <p:nvPr/>
        </p:nvSpPr>
        <p:spPr bwMode="auto">
          <a:xfrm>
            <a:off x="3058940" y="1955965"/>
            <a:ext cx="9144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Shred &amp;</a:t>
            </a:r>
          </a:p>
          <a:p>
            <a:pPr eaLnBrk="1" hangingPunct="1"/>
            <a:r>
              <a:rPr lang="en-US" sz="2000" dirty="0">
                <a:solidFill>
                  <a:schemeClr val="accent2">
                    <a:lumMod val="75000"/>
                  </a:schemeClr>
                </a:solidFill>
                <a:latin typeface="+mn-lt"/>
              </a:rPr>
              <a:t>(Size select)</a:t>
            </a:r>
            <a:endParaRPr lang="ru-RU" sz="2000" dirty="0">
              <a:solidFill>
                <a:schemeClr val="accent2">
                  <a:lumMod val="75000"/>
                </a:schemeClr>
              </a:solidFill>
              <a:latin typeface="+mn-lt"/>
            </a:endParaRPr>
          </a:p>
        </p:txBody>
      </p:sp>
      <p:sp>
        <p:nvSpPr>
          <p:cNvPr id="13" name="Text Box 8">
            <a:extLst>
              <a:ext uri="{FF2B5EF4-FFF2-40B4-BE49-F238E27FC236}">
                <a16:creationId xmlns:a16="http://schemas.microsoft.com/office/drawing/2014/main" id="{DB3A7127-EAF5-4488-9CCE-66B243003DD5}"/>
              </a:ext>
            </a:extLst>
          </p:cNvPr>
          <p:cNvSpPr txBox="1">
            <a:spLocks noChangeArrowheads="1"/>
          </p:cNvSpPr>
          <p:nvPr/>
        </p:nvSpPr>
        <p:spPr bwMode="auto">
          <a:xfrm>
            <a:off x="4065369" y="1565894"/>
            <a:ext cx="24384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b="1" dirty="0">
                <a:solidFill>
                  <a:schemeClr val="accent2"/>
                </a:solidFill>
                <a:latin typeface="+mn-lt"/>
              </a:rPr>
              <a:t>Fragments</a:t>
            </a:r>
            <a:r>
              <a:rPr lang="en-US" sz="2000" dirty="0">
                <a:latin typeface="+mn-lt"/>
              </a:rPr>
              <a:t> of </a:t>
            </a:r>
          </a:p>
          <a:p>
            <a:pPr eaLnBrk="1" hangingPunct="1"/>
            <a:r>
              <a:rPr lang="en-US" sz="2000" dirty="0">
                <a:latin typeface="+mn-lt"/>
              </a:rPr>
              <a:t>150 - </a:t>
            </a:r>
            <a:r>
              <a:rPr lang="en-US" sz="2000" dirty="0"/>
              <a:t>&gt;5</a:t>
            </a:r>
            <a:r>
              <a:rPr lang="en-US" sz="2000" dirty="0">
                <a:latin typeface="+mn-lt"/>
              </a:rPr>
              <a:t>00,000 bases</a:t>
            </a:r>
            <a:endParaRPr lang="ru-RU" sz="2000" dirty="0">
              <a:latin typeface="+mn-lt"/>
            </a:endParaRPr>
          </a:p>
        </p:txBody>
      </p:sp>
      <p:grpSp>
        <p:nvGrpSpPr>
          <p:cNvPr id="14" name="Group 13">
            <a:extLst>
              <a:ext uri="{FF2B5EF4-FFF2-40B4-BE49-F238E27FC236}">
                <a16:creationId xmlns:a16="http://schemas.microsoft.com/office/drawing/2014/main" id="{949BDD16-1AAE-4723-9882-E9E93378992B}"/>
              </a:ext>
            </a:extLst>
          </p:cNvPr>
          <p:cNvGrpSpPr/>
          <p:nvPr/>
        </p:nvGrpSpPr>
        <p:grpSpPr>
          <a:xfrm>
            <a:off x="4139129" y="2425443"/>
            <a:ext cx="735231" cy="461666"/>
            <a:chOff x="4686299" y="2286725"/>
            <a:chExt cx="1828800" cy="1036733"/>
          </a:xfrm>
        </p:grpSpPr>
        <p:sp>
          <p:nvSpPr>
            <p:cNvPr id="15" name="Freeform 9">
              <a:extLst>
                <a:ext uri="{FF2B5EF4-FFF2-40B4-BE49-F238E27FC236}">
                  <a16:creationId xmlns:a16="http://schemas.microsoft.com/office/drawing/2014/main" id="{8C0AEB4E-2A5C-474D-908C-5B5699BD6EFB}"/>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Freeform 10">
              <a:extLst>
                <a:ext uri="{FF2B5EF4-FFF2-40B4-BE49-F238E27FC236}">
                  <a16:creationId xmlns:a16="http://schemas.microsoft.com/office/drawing/2014/main" id="{513B5C32-533F-4A73-858D-A38929EBD87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Freeform 11">
              <a:extLst>
                <a:ext uri="{FF2B5EF4-FFF2-40B4-BE49-F238E27FC236}">
                  <a16:creationId xmlns:a16="http://schemas.microsoft.com/office/drawing/2014/main" id="{1D715B29-94F9-41BA-9056-71A7E9146853}"/>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Freeform 12">
              <a:extLst>
                <a:ext uri="{FF2B5EF4-FFF2-40B4-BE49-F238E27FC236}">
                  <a16:creationId xmlns:a16="http://schemas.microsoft.com/office/drawing/2014/main" id="{286E66F7-62A1-427B-A371-F1CD3C5B6471}"/>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Freeform 13">
              <a:extLst>
                <a:ext uri="{FF2B5EF4-FFF2-40B4-BE49-F238E27FC236}">
                  <a16:creationId xmlns:a16="http://schemas.microsoft.com/office/drawing/2014/main" id="{CA6438F9-07B8-4FA3-AEEF-1973E7797765}"/>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1" name="Text Box 6">
            <a:extLst>
              <a:ext uri="{FF2B5EF4-FFF2-40B4-BE49-F238E27FC236}">
                <a16:creationId xmlns:a16="http://schemas.microsoft.com/office/drawing/2014/main" id="{4672DD96-E764-4FDB-A9C1-4F23C02B6F75}"/>
              </a:ext>
            </a:extLst>
          </p:cNvPr>
          <p:cNvSpPr txBox="1">
            <a:spLocks noChangeArrowheads="1"/>
          </p:cNvSpPr>
          <p:nvPr/>
        </p:nvSpPr>
        <p:spPr bwMode="auto">
          <a:xfrm>
            <a:off x="7775755" y="1559948"/>
            <a:ext cx="141385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000" dirty="0">
                <a:solidFill>
                  <a:schemeClr val="accent2">
                    <a:lumMod val="75000"/>
                  </a:schemeClr>
                </a:solidFill>
                <a:latin typeface="+mn-lt"/>
              </a:rPr>
              <a:t>Read the Sequences</a:t>
            </a:r>
            <a:endParaRPr lang="ru-RU" sz="2000" dirty="0">
              <a:solidFill>
                <a:schemeClr val="accent2">
                  <a:lumMod val="75000"/>
                </a:schemeClr>
              </a:solidFill>
              <a:latin typeface="+mn-lt"/>
            </a:endParaRPr>
          </a:p>
        </p:txBody>
      </p:sp>
      <p:pic>
        <p:nvPicPr>
          <p:cNvPr id="24" name="Picture 23">
            <a:extLst>
              <a:ext uri="{FF2B5EF4-FFF2-40B4-BE49-F238E27FC236}">
                <a16:creationId xmlns:a16="http://schemas.microsoft.com/office/drawing/2014/main" id="{7356A49D-6A47-4979-9EF6-365B43998639}"/>
              </a:ext>
            </a:extLst>
          </p:cNvPr>
          <p:cNvPicPr>
            <a:picLocks noChangeAspect="1"/>
          </p:cNvPicPr>
          <p:nvPr/>
        </p:nvPicPr>
        <p:blipFill>
          <a:blip r:embed="rId2"/>
          <a:stretch>
            <a:fillRect/>
          </a:stretch>
        </p:blipFill>
        <p:spPr>
          <a:xfrm>
            <a:off x="6819900" y="2122686"/>
            <a:ext cx="1793966" cy="1554023"/>
          </a:xfrm>
          <a:prstGeom prst="rect">
            <a:avLst/>
          </a:prstGeom>
        </p:spPr>
      </p:pic>
      <p:pic>
        <p:nvPicPr>
          <p:cNvPr id="25" name="Picture 24">
            <a:extLst>
              <a:ext uri="{FF2B5EF4-FFF2-40B4-BE49-F238E27FC236}">
                <a16:creationId xmlns:a16="http://schemas.microsoft.com/office/drawing/2014/main" id="{B0405C9E-286D-46ED-B23F-B6C23EC69B49}"/>
              </a:ext>
            </a:extLst>
          </p:cNvPr>
          <p:cNvPicPr>
            <a:picLocks noChangeAspect="1"/>
          </p:cNvPicPr>
          <p:nvPr/>
        </p:nvPicPr>
        <p:blipFill>
          <a:blip r:embed="rId3"/>
          <a:stretch>
            <a:fillRect/>
          </a:stretch>
        </p:blipFill>
        <p:spPr>
          <a:xfrm>
            <a:off x="8724001" y="2222719"/>
            <a:ext cx="1000336" cy="1485647"/>
          </a:xfrm>
          <a:prstGeom prst="rect">
            <a:avLst/>
          </a:prstGeom>
        </p:spPr>
      </p:pic>
      <p:pic>
        <p:nvPicPr>
          <p:cNvPr id="26" name="Picture 25">
            <a:extLst>
              <a:ext uri="{FF2B5EF4-FFF2-40B4-BE49-F238E27FC236}">
                <a16:creationId xmlns:a16="http://schemas.microsoft.com/office/drawing/2014/main" id="{D9C58C7F-B403-47B0-AF2D-09840C342F39}"/>
              </a:ext>
            </a:extLst>
          </p:cNvPr>
          <p:cNvPicPr>
            <a:picLocks noChangeAspect="1"/>
          </p:cNvPicPr>
          <p:nvPr/>
        </p:nvPicPr>
        <p:blipFill>
          <a:blip r:embed="rId4"/>
          <a:stretch>
            <a:fillRect/>
          </a:stretch>
        </p:blipFill>
        <p:spPr>
          <a:xfrm>
            <a:off x="7317640" y="3676709"/>
            <a:ext cx="2047479" cy="892701"/>
          </a:xfrm>
          <a:prstGeom prst="rect">
            <a:avLst/>
          </a:prstGeom>
        </p:spPr>
      </p:pic>
      <p:sp>
        <p:nvSpPr>
          <p:cNvPr id="28" name="Text Box 8">
            <a:extLst>
              <a:ext uri="{FF2B5EF4-FFF2-40B4-BE49-F238E27FC236}">
                <a16:creationId xmlns:a16="http://schemas.microsoft.com/office/drawing/2014/main" id="{C858C111-0E34-4F50-BF12-D715D7CA804A}"/>
              </a:ext>
            </a:extLst>
          </p:cNvPr>
          <p:cNvSpPr txBox="1">
            <a:spLocks noChangeArrowheads="1"/>
          </p:cNvSpPr>
          <p:nvPr/>
        </p:nvSpPr>
        <p:spPr bwMode="auto">
          <a:xfrm>
            <a:off x="67076" y="4460203"/>
            <a:ext cx="454473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Pairs of Reads </a:t>
            </a:r>
            <a:r>
              <a:rPr lang="en-US" sz="2400" dirty="0">
                <a:latin typeface="+mn-lt"/>
              </a:rPr>
              <a:t>of ~150-250 bp each</a:t>
            </a:r>
            <a:endParaRPr lang="ru-RU" sz="2400" dirty="0">
              <a:latin typeface="+mn-lt"/>
            </a:endParaRPr>
          </a:p>
        </p:txBody>
      </p:sp>
      <p:sp>
        <p:nvSpPr>
          <p:cNvPr id="30" name="Line 15">
            <a:extLst>
              <a:ext uri="{FF2B5EF4-FFF2-40B4-BE49-F238E27FC236}">
                <a16:creationId xmlns:a16="http://schemas.microsoft.com/office/drawing/2014/main" id="{1C2C48C5-9A35-40DD-93CC-7E0AF42F5A04}"/>
              </a:ext>
            </a:extLst>
          </p:cNvPr>
          <p:cNvSpPr>
            <a:spLocks noChangeShapeType="1"/>
          </p:cNvSpPr>
          <p:nvPr/>
        </p:nvSpPr>
        <p:spPr bwMode="auto">
          <a:xfrm>
            <a:off x="242831" y="5644823"/>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 name="Line 16">
            <a:extLst>
              <a:ext uri="{FF2B5EF4-FFF2-40B4-BE49-F238E27FC236}">
                <a16:creationId xmlns:a16="http://schemas.microsoft.com/office/drawing/2014/main" id="{00B4899F-A2A7-4294-B48C-C35D4D2ADE06}"/>
              </a:ext>
            </a:extLst>
          </p:cNvPr>
          <p:cNvSpPr>
            <a:spLocks noChangeShapeType="1"/>
          </p:cNvSpPr>
          <p:nvPr/>
        </p:nvSpPr>
        <p:spPr bwMode="auto">
          <a:xfrm>
            <a:off x="5955924" y="5436907"/>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18">
            <a:extLst>
              <a:ext uri="{FF2B5EF4-FFF2-40B4-BE49-F238E27FC236}">
                <a16:creationId xmlns:a16="http://schemas.microsoft.com/office/drawing/2014/main" id="{32099E3E-6C8D-43A3-A785-EE401ABACDCF}"/>
              </a:ext>
            </a:extLst>
          </p:cNvPr>
          <p:cNvSpPr>
            <a:spLocks noChangeShapeType="1"/>
          </p:cNvSpPr>
          <p:nvPr/>
        </p:nvSpPr>
        <p:spPr bwMode="auto">
          <a:xfrm flipH="1">
            <a:off x="896940" y="5302868"/>
            <a:ext cx="2286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Text Box 20">
            <a:extLst>
              <a:ext uri="{FF2B5EF4-FFF2-40B4-BE49-F238E27FC236}">
                <a16:creationId xmlns:a16="http://schemas.microsoft.com/office/drawing/2014/main" id="{D2517CFA-6326-4D48-85A4-AE10B0941F7A}"/>
              </a:ext>
            </a:extLst>
          </p:cNvPr>
          <p:cNvSpPr txBox="1">
            <a:spLocks noChangeArrowheads="1"/>
          </p:cNvSpPr>
          <p:nvPr/>
        </p:nvSpPr>
        <p:spPr bwMode="auto">
          <a:xfrm>
            <a:off x="173040" y="4959023"/>
            <a:ext cx="1905000" cy="366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lang="en-US" dirty="0">
                <a:latin typeface="Arial" charset="0"/>
              </a:rPr>
              <a:t>CAAGCTGAT...</a:t>
            </a:r>
            <a:endParaRPr lang="ru-RU" dirty="0">
              <a:latin typeface="Arial" charset="0"/>
            </a:endParaRPr>
          </a:p>
        </p:txBody>
      </p:sp>
      <p:sp>
        <p:nvSpPr>
          <p:cNvPr id="36" name="Text Box 28">
            <a:extLst>
              <a:ext uri="{FF2B5EF4-FFF2-40B4-BE49-F238E27FC236}">
                <a16:creationId xmlns:a16="http://schemas.microsoft.com/office/drawing/2014/main" id="{764B039F-B56B-43F6-9E38-90A0EEF4AA6A}"/>
              </a:ext>
            </a:extLst>
          </p:cNvPr>
          <p:cNvSpPr txBox="1">
            <a:spLocks noChangeArrowheads="1"/>
          </p:cNvSpPr>
          <p:nvPr/>
        </p:nvSpPr>
        <p:spPr bwMode="auto">
          <a:xfrm>
            <a:off x="2142658" y="4959023"/>
            <a:ext cx="1981200" cy="366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lang="en-US" dirty="0">
                <a:latin typeface="Arial" charset="0"/>
              </a:rPr>
              <a:t>…GTTTGGAAC</a:t>
            </a:r>
            <a:endParaRPr lang="ru-RU" dirty="0">
              <a:latin typeface="Arial" charset="0"/>
            </a:endParaRPr>
          </a:p>
        </p:txBody>
      </p:sp>
      <p:sp>
        <p:nvSpPr>
          <p:cNvPr id="37" name="Line 29">
            <a:extLst>
              <a:ext uri="{FF2B5EF4-FFF2-40B4-BE49-F238E27FC236}">
                <a16:creationId xmlns:a16="http://schemas.microsoft.com/office/drawing/2014/main" id="{5DFFB47C-1870-48EB-BCFF-7F5E530C8C11}"/>
              </a:ext>
            </a:extLst>
          </p:cNvPr>
          <p:cNvSpPr>
            <a:spLocks noChangeShapeType="1"/>
          </p:cNvSpPr>
          <p:nvPr/>
        </p:nvSpPr>
        <p:spPr bwMode="auto">
          <a:xfrm flipH="1">
            <a:off x="2438480" y="5304501"/>
            <a:ext cx="228600" cy="3048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Text Box 8">
            <a:extLst>
              <a:ext uri="{FF2B5EF4-FFF2-40B4-BE49-F238E27FC236}">
                <a16:creationId xmlns:a16="http://schemas.microsoft.com/office/drawing/2014/main" id="{84697B48-3949-4E03-A706-D681F61834E1}"/>
              </a:ext>
            </a:extLst>
          </p:cNvPr>
          <p:cNvSpPr txBox="1">
            <a:spLocks noChangeArrowheads="1"/>
          </p:cNvSpPr>
          <p:nvPr/>
        </p:nvSpPr>
        <p:spPr bwMode="auto">
          <a:xfrm>
            <a:off x="349135" y="5832746"/>
            <a:ext cx="42626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b="1" dirty="0">
                <a:latin typeface="+mn-lt"/>
              </a:rPr>
              <a:t>OR</a:t>
            </a:r>
            <a:r>
              <a:rPr lang="en-US" sz="2400" b="1" dirty="0">
                <a:solidFill>
                  <a:schemeClr val="accent2"/>
                </a:solidFill>
                <a:latin typeface="+mn-lt"/>
              </a:rPr>
              <a:t> </a:t>
            </a:r>
            <a:r>
              <a:rPr lang="en-US" sz="2400" dirty="0">
                <a:solidFill>
                  <a:schemeClr val="accent2"/>
                </a:solidFill>
                <a:latin typeface="+mn-lt"/>
              </a:rPr>
              <a:t>Long reads </a:t>
            </a:r>
            <a:r>
              <a:rPr lang="en-US" sz="2400" dirty="0">
                <a:latin typeface="+mn-lt"/>
              </a:rPr>
              <a:t>10+ kb each </a:t>
            </a:r>
            <a:endParaRPr lang="ru-RU" sz="2400" dirty="0">
              <a:latin typeface="+mn-lt"/>
            </a:endParaRPr>
          </a:p>
        </p:txBody>
      </p:sp>
      <p:sp>
        <p:nvSpPr>
          <p:cNvPr id="39" name="Line 15">
            <a:extLst>
              <a:ext uri="{FF2B5EF4-FFF2-40B4-BE49-F238E27FC236}">
                <a16:creationId xmlns:a16="http://schemas.microsoft.com/office/drawing/2014/main" id="{7E012C5F-57E8-440A-90E9-A7E5A5483342}"/>
              </a:ext>
            </a:extLst>
          </p:cNvPr>
          <p:cNvSpPr>
            <a:spLocks noChangeShapeType="1"/>
          </p:cNvSpPr>
          <p:nvPr/>
        </p:nvSpPr>
        <p:spPr bwMode="auto">
          <a:xfrm flipV="1">
            <a:off x="214593" y="6471163"/>
            <a:ext cx="3743537" cy="2329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1" name="Text Box 8">
            <a:extLst>
              <a:ext uri="{FF2B5EF4-FFF2-40B4-BE49-F238E27FC236}">
                <a16:creationId xmlns:a16="http://schemas.microsoft.com/office/drawing/2014/main" id="{30731F6C-C5EF-4BC5-A2C9-6CAC29C04F97}"/>
              </a:ext>
            </a:extLst>
          </p:cNvPr>
          <p:cNvSpPr txBox="1">
            <a:spLocks noChangeArrowheads="1"/>
          </p:cNvSpPr>
          <p:nvPr/>
        </p:nvSpPr>
        <p:spPr bwMode="auto">
          <a:xfrm>
            <a:off x="5664704" y="4686904"/>
            <a:ext cx="22887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Contig assembly</a:t>
            </a:r>
            <a:endParaRPr lang="ru-RU" sz="2400" dirty="0">
              <a:latin typeface="+mn-lt"/>
            </a:endParaRPr>
          </a:p>
        </p:txBody>
      </p:sp>
      <p:sp>
        <p:nvSpPr>
          <p:cNvPr id="42" name="Line 15">
            <a:extLst>
              <a:ext uri="{FF2B5EF4-FFF2-40B4-BE49-F238E27FC236}">
                <a16:creationId xmlns:a16="http://schemas.microsoft.com/office/drawing/2014/main" id="{9272DC99-D818-45AA-9F67-5C29C0EE16B6}"/>
              </a:ext>
            </a:extLst>
          </p:cNvPr>
          <p:cNvSpPr>
            <a:spLocks noChangeShapeType="1"/>
          </p:cNvSpPr>
          <p:nvPr/>
        </p:nvSpPr>
        <p:spPr bwMode="auto">
          <a:xfrm>
            <a:off x="4885671" y="5436907"/>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15">
            <a:extLst>
              <a:ext uri="{FF2B5EF4-FFF2-40B4-BE49-F238E27FC236}">
                <a16:creationId xmlns:a16="http://schemas.microsoft.com/office/drawing/2014/main" id="{A38B4BAA-8BFC-4013-8A46-32D04D62CBD6}"/>
              </a:ext>
            </a:extLst>
          </p:cNvPr>
          <p:cNvSpPr>
            <a:spLocks noChangeShapeType="1"/>
          </p:cNvSpPr>
          <p:nvPr/>
        </p:nvSpPr>
        <p:spPr bwMode="auto">
          <a:xfrm>
            <a:off x="5331104" y="5607668"/>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4" name="Line 15">
            <a:extLst>
              <a:ext uri="{FF2B5EF4-FFF2-40B4-BE49-F238E27FC236}">
                <a16:creationId xmlns:a16="http://schemas.microsoft.com/office/drawing/2014/main" id="{7F672CF5-E344-4AAB-9353-B9000998C802}"/>
              </a:ext>
            </a:extLst>
          </p:cNvPr>
          <p:cNvSpPr>
            <a:spLocks noChangeShapeType="1"/>
          </p:cNvSpPr>
          <p:nvPr/>
        </p:nvSpPr>
        <p:spPr bwMode="auto">
          <a:xfrm>
            <a:off x="5664704" y="5753101"/>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15">
            <a:extLst>
              <a:ext uri="{FF2B5EF4-FFF2-40B4-BE49-F238E27FC236}">
                <a16:creationId xmlns:a16="http://schemas.microsoft.com/office/drawing/2014/main" id="{5C553C5D-C204-4A7D-8689-1EF5FBD03109}"/>
              </a:ext>
            </a:extLst>
          </p:cNvPr>
          <p:cNvSpPr>
            <a:spLocks noChangeShapeType="1"/>
          </p:cNvSpPr>
          <p:nvPr/>
        </p:nvSpPr>
        <p:spPr bwMode="auto">
          <a:xfrm>
            <a:off x="5879724" y="5929885"/>
            <a:ext cx="994053" cy="0"/>
          </a:xfrm>
          <a:prstGeom prst="line">
            <a:avLst/>
          </a:prstGeom>
          <a:noFill/>
          <a:ln w="63500">
            <a:solidFill>
              <a:schemeClr val="accent2">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16">
            <a:extLst>
              <a:ext uri="{FF2B5EF4-FFF2-40B4-BE49-F238E27FC236}">
                <a16:creationId xmlns:a16="http://schemas.microsoft.com/office/drawing/2014/main" id="{39A65613-5359-408B-897D-6880361099FE}"/>
              </a:ext>
            </a:extLst>
          </p:cNvPr>
          <p:cNvSpPr>
            <a:spLocks noChangeShapeType="1"/>
          </p:cNvSpPr>
          <p:nvPr/>
        </p:nvSpPr>
        <p:spPr bwMode="auto">
          <a:xfrm>
            <a:off x="1840570" y="5644823"/>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16">
            <a:extLst>
              <a:ext uri="{FF2B5EF4-FFF2-40B4-BE49-F238E27FC236}">
                <a16:creationId xmlns:a16="http://schemas.microsoft.com/office/drawing/2014/main" id="{59E56334-0A15-44A4-BE95-A2448170C2AE}"/>
              </a:ext>
            </a:extLst>
          </p:cNvPr>
          <p:cNvSpPr>
            <a:spLocks noChangeShapeType="1"/>
          </p:cNvSpPr>
          <p:nvPr/>
        </p:nvSpPr>
        <p:spPr bwMode="auto">
          <a:xfrm>
            <a:off x="7281012" y="5596698"/>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2" name="Line 16">
            <a:extLst>
              <a:ext uri="{FF2B5EF4-FFF2-40B4-BE49-F238E27FC236}">
                <a16:creationId xmlns:a16="http://schemas.microsoft.com/office/drawing/2014/main" id="{AE6F0D3E-873E-489F-A26A-F6B369DFF778}"/>
              </a:ext>
            </a:extLst>
          </p:cNvPr>
          <p:cNvSpPr>
            <a:spLocks noChangeShapeType="1"/>
          </p:cNvSpPr>
          <p:nvPr/>
        </p:nvSpPr>
        <p:spPr bwMode="auto">
          <a:xfrm>
            <a:off x="6891785" y="5737063"/>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3" name="Line 16">
            <a:extLst>
              <a:ext uri="{FF2B5EF4-FFF2-40B4-BE49-F238E27FC236}">
                <a16:creationId xmlns:a16="http://schemas.microsoft.com/office/drawing/2014/main" id="{3CF556AB-69E4-42FE-9790-145146B6C382}"/>
              </a:ext>
            </a:extLst>
          </p:cNvPr>
          <p:cNvSpPr>
            <a:spLocks noChangeShapeType="1"/>
          </p:cNvSpPr>
          <p:nvPr/>
        </p:nvSpPr>
        <p:spPr bwMode="auto">
          <a:xfrm>
            <a:off x="7203897" y="5929885"/>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15">
            <a:extLst>
              <a:ext uri="{FF2B5EF4-FFF2-40B4-BE49-F238E27FC236}">
                <a16:creationId xmlns:a16="http://schemas.microsoft.com/office/drawing/2014/main" id="{E6252246-7BEA-4DBD-B633-34AC032C81E2}"/>
              </a:ext>
            </a:extLst>
          </p:cNvPr>
          <p:cNvSpPr>
            <a:spLocks noChangeShapeType="1"/>
          </p:cNvSpPr>
          <p:nvPr/>
        </p:nvSpPr>
        <p:spPr bwMode="auto">
          <a:xfrm flipV="1">
            <a:off x="4889024" y="6129959"/>
            <a:ext cx="2849099" cy="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16">
            <a:extLst>
              <a:ext uri="{FF2B5EF4-FFF2-40B4-BE49-F238E27FC236}">
                <a16:creationId xmlns:a16="http://schemas.microsoft.com/office/drawing/2014/main" id="{A6D855AB-A837-4273-AD11-62F5840072E6}"/>
              </a:ext>
            </a:extLst>
          </p:cNvPr>
          <p:cNvSpPr>
            <a:spLocks noChangeShapeType="1"/>
          </p:cNvSpPr>
          <p:nvPr/>
        </p:nvSpPr>
        <p:spPr bwMode="auto">
          <a:xfrm>
            <a:off x="7738123" y="5436907"/>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16">
            <a:extLst>
              <a:ext uri="{FF2B5EF4-FFF2-40B4-BE49-F238E27FC236}">
                <a16:creationId xmlns:a16="http://schemas.microsoft.com/office/drawing/2014/main" id="{9DB6D835-2B5E-49BD-8215-233CBB2E1F4F}"/>
              </a:ext>
            </a:extLst>
          </p:cNvPr>
          <p:cNvSpPr>
            <a:spLocks noChangeShapeType="1"/>
          </p:cNvSpPr>
          <p:nvPr/>
        </p:nvSpPr>
        <p:spPr bwMode="auto">
          <a:xfrm>
            <a:off x="7870561" y="5772116"/>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16">
            <a:extLst>
              <a:ext uri="{FF2B5EF4-FFF2-40B4-BE49-F238E27FC236}">
                <a16:creationId xmlns:a16="http://schemas.microsoft.com/office/drawing/2014/main" id="{4C1B0106-583A-4E42-BB57-18AD479EFA94}"/>
              </a:ext>
            </a:extLst>
          </p:cNvPr>
          <p:cNvSpPr>
            <a:spLocks noChangeShapeType="1"/>
          </p:cNvSpPr>
          <p:nvPr/>
        </p:nvSpPr>
        <p:spPr bwMode="auto">
          <a:xfrm>
            <a:off x="4902704" y="5860905"/>
            <a:ext cx="762000" cy="0"/>
          </a:xfrm>
          <a:prstGeom prst="line">
            <a:avLst/>
          </a:prstGeom>
          <a:noFill/>
          <a:ln w="63500">
            <a:solidFill>
              <a:schemeClr val="accent2">
                <a:lumMod val="75000"/>
              </a:schemeClr>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15">
            <a:extLst>
              <a:ext uri="{FF2B5EF4-FFF2-40B4-BE49-F238E27FC236}">
                <a16:creationId xmlns:a16="http://schemas.microsoft.com/office/drawing/2014/main" id="{496FD92A-E48E-4A7D-B788-3E4BB3DDB2E5}"/>
              </a:ext>
            </a:extLst>
          </p:cNvPr>
          <p:cNvSpPr>
            <a:spLocks noChangeShapeType="1"/>
          </p:cNvSpPr>
          <p:nvPr/>
        </p:nvSpPr>
        <p:spPr bwMode="auto">
          <a:xfrm flipV="1">
            <a:off x="5879724" y="6294411"/>
            <a:ext cx="2849099" cy="0"/>
          </a:xfrm>
          <a:prstGeom prst="line">
            <a:avLst/>
          </a:prstGeom>
          <a:noFill/>
          <a:ln w="63500">
            <a:solidFill>
              <a:schemeClr val="accent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Text Box 8">
            <a:extLst>
              <a:ext uri="{FF2B5EF4-FFF2-40B4-BE49-F238E27FC236}">
                <a16:creationId xmlns:a16="http://schemas.microsoft.com/office/drawing/2014/main" id="{DB538735-E122-4574-B059-E486CB1586AA}"/>
              </a:ext>
            </a:extLst>
          </p:cNvPr>
          <p:cNvSpPr txBox="1">
            <a:spLocks noChangeArrowheads="1"/>
          </p:cNvSpPr>
          <p:nvPr/>
        </p:nvSpPr>
        <p:spPr bwMode="auto">
          <a:xfrm>
            <a:off x="10174248" y="3773487"/>
            <a:ext cx="184708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en-US" sz="2400" dirty="0">
                <a:solidFill>
                  <a:schemeClr val="accent2"/>
                </a:solidFill>
                <a:latin typeface="+mn-lt"/>
              </a:rPr>
              <a:t>Scaffolding</a:t>
            </a:r>
            <a:endParaRPr lang="ru-RU" sz="2400" dirty="0">
              <a:latin typeface="+mn-lt"/>
            </a:endParaRPr>
          </a:p>
        </p:txBody>
      </p:sp>
      <p:sp>
        <p:nvSpPr>
          <p:cNvPr id="63" name="Rectangle 62">
            <a:extLst>
              <a:ext uri="{FF2B5EF4-FFF2-40B4-BE49-F238E27FC236}">
                <a16:creationId xmlns:a16="http://schemas.microsoft.com/office/drawing/2014/main" id="{BB24EDED-BF8C-4779-B16D-14547E7ED8FB}"/>
              </a:ext>
            </a:extLst>
          </p:cNvPr>
          <p:cNvSpPr/>
          <p:nvPr/>
        </p:nvSpPr>
        <p:spPr>
          <a:xfrm>
            <a:off x="9381422" y="6375675"/>
            <a:ext cx="2595985" cy="400110"/>
          </a:xfrm>
          <a:prstGeom prst="rect">
            <a:avLst/>
          </a:prstGeom>
        </p:spPr>
        <p:txBody>
          <a:bodyPr wrap="square">
            <a:spAutoFit/>
          </a:bodyPr>
          <a:lstStyle/>
          <a:p>
            <a:r>
              <a:rPr lang="en-US" sz="1000" dirty="0"/>
              <a:t>Image Courtesy: National Human Genome Research Institute</a:t>
            </a:r>
          </a:p>
        </p:txBody>
      </p:sp>
      <p:pic>
        <p:nvPicPr>
          <p:cNvPr id="65" name="Picture 64" descr="A close up of a device&#10;&#10;Description automatically generated">
            <a:extLst>
              <a:ext uri="{FF2B5EF4-FFF2-40B4-BE49-F238E27FC236}">
                <a16:creationId xmlns:a16="http://schemas.microsoft.com/office/drawing/2014/main" id="{50A9DBDE-ADD7-47F4-B1E9-7FC59255198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724337" y="4187184"/>
            <a:ext cx="1981200" cy="2132043"/>
          </a:xfrm>
          <a:prstGeom prst="rect">
            <a:avLst/>
          </a:prstGeom>
        </p:spPr>
      </p:pic>
      <p:sp>
        <p:nvSpPr>
          <p:cNvPr id="66" name="Slide Number Placeholder 65">
            <a:extLst>
              <a:ext uri="{FF2B5EF4-FFF2-40B4-BE49-F238E27FC236}">
                <a16:creationId xmlns:a16="http://schemas.microsoft.com/office/drawing/2014/main" id="{46441986-2651-49B3-8763-35B0909FA53B}"/>
              </a:ext>
            </a:extLst>
          </p:cNvPr>
          <p:cNvSpPr>
            <a:spLocks noGrp="1"/>
          </p:cNvSpPr>
          <p:nvPr>
            <p:ph type="sldNum" sz="quarter" idx="12"/>
          </p:nvPr>
        </p:nvSpPr>
        <p:spPr/>
        <p:txBody>
          <a:bodyPr/>
          <a:lstStyle/>
          <a:p>
            <a:fld id="{B82CCC60-E8CD-4174-8B1A-7DF615B22EEF}" type="slidenum">
              <a:rPr lang="en-US" smtClean="0"/>
              <a:pPr/>
              <a:t>60</a:t>
            </a:fld>
            <a:endParaRPr lang="en-US"/>
          </a:p>
        </p:txBody>
      </p:sp>
      <p:grpSp>
        <p:nvGrpSpPr>
          <p:cNvPr id="54" name="Group 53">
            <a:extLst>
              <a:ext uri="{FF2B5EF4-FFF2-40B4-BE49-F238E27FC236}">
                <a16:creationId xmlns:a16="http://schemas.microsoft.com/office/drawing/2014/main" id="{01117D80-1E28-40C9-8AC5-9D71028A548E}"/>
              </a:ext>
            </a:extLst>
          </p:cNvPr>
          <p:cNvGrpSpPr/>
          <p:nvPr/>
        </p:nvGrpSpPr>
        <p:grpSpPr>
          <a:xfrm>
            <a:off x="4963488" y="2302809"/>
            <a:ext cx="735231" cy="461666"/>
            <a:chOff x="4686299" y="2286725"/>
            <a:chExt cx="1828800" cy="1036733"/>
          </a:xfrm>
        </p:grpSpPr>
        <p:sp>
          <p:nvSpPr>
            <p:cNvPr id="55" name="Freeform 9">
              <a:extLst>
                <a:ext uri="{FF2B5EF4-FFF2-40B4-BE49-F238E27FC236}">
                  <a16:creationId xmlns:a16="http://schemas.microsoft.com/office/drawing/2014/main" id="{10B1F963-908F-438A-B282-CB5BDDC7AEAD}"/>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Freeform 10">
              <a:extLst>
                <a:ext uri="{FF2B5EF4-FFF2-40B4-BE49-F238E27FC236}">
                  <a16:creationId xmlns:a16="http://schemas.microsoft.com/office/drawing/2014/main" id="{D7E14C7B-1D44-473A-B3E3-31A48558648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7" name="Freeform 11">
              <a:extLst>
                <a:ext uri="{FF2B5EF4-FFF2-40B4-BE49-F238E27FC236}">
                  <a16:creationId xmlns:a16="http://schemas.microsoft.com/office/drawing/2014/main" id="{8657AB65-6E3B-4B0D-8868-E33AC40E7B65}"/>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8" name="Freeform 12">
              <a:extLst>
                <a:ext uri="{FF2B5EF4-FFF2-40B4-BE49-F238E27FC236}">
                  <a16:creationId xmlns:a16="http://schemas.microsoft.com/office/drawing/2014/main" id="{63CB08DA-B54D-4840-86ED-140B0617D93D}"/>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9" name="Freeform 13">
              <a:extLst>
                <a:ext uri="{FF2B5EF4-FFF2-40B4-BE49-F238E27FC236}">
                  <a16:creationId xmlns:a16="http://schemas.microsoft.com/office/drawing/2014/main" id="{3DE16499-8F52-4EE3-B2E3-71E4238F8F9D}"/>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0" name="Group 69">
            <a:extLst>
              <a:ext uri="{FF2B5EF4-FFF2-40B4-BE49-F238E27FC236}">
                <a16:creationId xmlns:a16="http://schemas.microsoft.com/office/drawing/2014/main" id="{25B6672D-458D-48C3-8BD1-C21726B925E1}"/>
              </a:ext>
            </a:extLst>
          </p:cNvPr>
          <p:cNvGrpSpPr/>
          <p:nvPr/>
        </p:nvGrpSpPr>
        <p:grpSpPr>
          <a:xfrm>
            <a:off x="4687801" y="2986901"/>
            <a:ext cx="735231" cy="461666"/>
            <a:chOff x="4686299" y="2286725"/>
            <a:chExt cx="1828800" cy="1036733"/>
          </a:xfrm>
        </p:grpSpPr>
        <p:sp>
          <p:nvSpPr>
            <p:cNvPr id="71" name="Freeform 9">
              <a:extLst>
                <a:ext uri="{FF2B5EF4-FFF2-40B4-BE49-F238E27FC236}">
                  <a16:creationId xmlns:a16="http://schemas.microsoft.com/office/drawing/2014/main" id="{12BD92A3-668C-475E-A82F-B82B5508E315}"/>
                </a:ext>
              </a:extLst>
            </p:cNvPr>
            <p:cNvSpPr>
              <a:spLocks/>
            </p:cNvSpPr>
            <p:nvPr/>
          </p:nvSpPr>
          <p:spPr bwMode="auto">
            <a:xfrm>
              <a:off x="4967287" y="2286725"/>
              <a:ext cx="1266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Freeform 10">
              <a:extLst>
                <a:ext uri="{FF2B5EF4-FFF2-40B4-BE49-F238E27FC236}">
                  <a16:creationId xmlns:a16="http://schemas.microsoft.com/office/drawing/2014/main" id="{A5E5486D-4390-4E7A-8AF3-6ECF97D267D4}"/>
                </a:ext>
              </a:extLst>
            </p:cNvPr>
            <p:cNvSpPr>
              <a:spLocks/>
            </p:cNvSpPr>
            <p:nvPr/>
          </p:nvSpPr>
          <p:spPr bwMode="auto">
            <a:xfrm>
              <a:off x="4776786" y="2583420"/>
              <a:ext cx="1647825"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Freeform 11">
              <a:extLst>
                <a:ext uri="{FF2B5EF4-FFF2-40B4-BE49-F238E27FC236}">
                  <a16:creationId xmlns:a16="http://schemas.microsoft.com/office/drawing/2014/main" id="{ADD0F1AF-D0AB-4610-84C9-898E5CACD299}"/>
                </a:ext>
              </a:extLst>
            </p:cNvPr>
            <p:cNvSpPr>
              <a:spLocks/>
            </p:cNvSpPr>
            <p:nvPr/>
          </p:nvSpPr>
          <p:spPr bwMode="auto">
            <a:xfrm>
              <a:off x="4847544" y="2800491"/>
              <a:ext cx="1419225" cy="90488"/>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Freeform 12">
              <a:extLst>
                <a:ext uri="{FF2B5EF4-FFF2-40B4-BE49-F238E27FC236}">
                  <a16:creationId xmlns:a16="http://schemas.microsoft.com/office/drawing/2014/main" id="{41960A7D-184A-43DD-A31F-FFCCF6A98391}"/>
                </a:ext>
              </a:extLst>
            </p:cNvPr>
            <p:cNvSpPr>
              <a:spLocks/>
            </p:cNvSpPr>
            <p:nvPr/>
          </p:nvSpPr>
          <p:spPr bwMode="auto">
            <a:xfrm>
              <a:off x="4686299" y="2996686"/>
              <a:ext cx="1828800" cy="76200"/>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Freeform 13">
              <a:extLst>
                <a:ext uri="{FF2B5EF4-FFF2-40B4-BE49-F238E27FC236}">
                  <a16:creationId xmlns:a16="http://schemas.microsoft.com/office/drawing/2014/main" id="{B1300FCA-521C-4B1E-AEFF-B8DDCF9ED486}"/>
                </a:ext>
              </a:extLst>
            </p:cNvPr>
            <p:cNvSpPr>
              <a:spLocks/>
            </p:cNvSpPr>
            <p:nvPr/>
          </p:nvSpPr>
          <p:spPr bwMode="auto">
            <a:xfrm>
              <a:off x="4847544" y="3277739"/>
              <a:ext cx="1617208" cy="45719"/>
            </a:xfrm>
            <a:custGeom>
              <a:avLst/>
              <a:gdLst>
                <a:gd name="T0" fmla="*/ 0 w 1758"/>
                <a:gd name="T1" fmla="*/ 8 h 57"/>
                <a:gd name="T2" fmla="*/ 717 w 1758"/>
                <a:gd name="T3" fmla="*/ 0 h 57"/>
                <a:gd name="T4" fmla="*/ 887 w 1758"/>
                <a:gd name="T5" fmla="*/ 8 h 57"/>
                <a:gd name="T6" fmla="*/ 916 w 1758"/>
                <a:gd name="T7" fmla="*/ 23 h 57"/>
                <a:gd name="T8" fmla="*/ 1012 w 1758"/>
                <a:gd name="T9" fmla="*/ 37 h 57"/>
                <a:gd name="T10" fmla="*/ 1219 w 1758"/>
                <a:gd name="T11" fmla="*/ 0 h 57"/>
                <a:gd name="T12" fmla="*/ 1551 w 1758"/>
                <a:gd name="T13" fmla="*/ 23 h 57"/>
                <a:gd name="T14" fmla="*/ 1758 w 1758"/>
                <a:gd name="T15" fmla="*/ 23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58" h="57">
                  <a:moveTo>
                    <a:pt x="0" y="8"/>
                  </a:moveTo>
                  <a:cubicBezTo>
                    <a:pt x="195" y="13"/>
                    <a:pt x="560" y="57"/>
                    <a:pt x="717" y="0"/>
                  </a:cubicBezTo>
                  <a:cubicBezTo>
                    <a:pt x="774" y="3"/>
                    <a:pt x="831" y="1"/>
                    <a:pt x="887" y="8"/>
                  </a:cubicBezTo>
                  <a:cubicBezTo>
                    <a:pt x="898" y="9"/>
                    <a:pt x="906" y="19"/>
                    <a:pt x="916" y="23"/>
                  </a:cubicBezTo>
                  <a:cubicBezTo>
                    <a:pt x="941" y="32"/>
                    <a:pt x="994" y="35"/>
                    <a:pt x="1012" y="37"/>
                  </a:cubicBezTo>
                  <a:cubicBezTo>
                    <a:pt x="1183" y="28"/>
                    <a:pt x="1116" y="37"/>
                    <a:pt x="1219" y="0"/>
                  </a:cubicBezTo>
                  <a:cubicBezTo>
                    <a:pt x="1338" y="10"/>
                    <a:pt x="1423" y="18"/>
                    <a:pt x="1551" y="23"/>
                  </a:cubicBezTo>
                  <a:cubicBezTo>
                    <a:pt x="1602" y="39"/>
                    <a:pt x="1711" y="23"/>
                    <a:pt x="1758" y="23"/>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Arrow: Right 2">
            <a:extLst>
              <a:ext uri="{FF2B5EF4-FFF2-40B4-BE49-F238E27FC236}">
                <a16:creationId xmlns:a16="http://schemas.microsoft.com/office/drawing/2014/main" id="{2080085F-E827-4C77-9683-F5BAF2731573}"/>
              </a:ext>
            </a:extLst>
          </p:cNvPr>
          <p:cNvSpPr/>
          <p:nvPr/>
        </p:nvSpPr>
        <p:spPr>
          <a:xfrm>
            <a:off x="3099958" y="3288694"/>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6" name="Arrow: Right 75">
            <a:extLst>
              <a:ext uri="{FF2B5EF4-FFF2-40B4-BE49-F238E27FC236}">
                <a16:creationId xmlns:a16="http://schemas.microsoft.com/office/drawing/2014/main" id="{6AC58326-BF67-42F6-A917-D6554BED4BD4}"/>
              </a:ext>
            </a:extLst>
          </p:cNvPr>
          <p:cNvSpPr/>
          <p:nvPr/>
        </p:nvSpPr>
        <p:spPr>
          <a:xfrm>
            <a:off x="5918880" y="2864051"/>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7" name="Arrow: Right 76">
            <a:extLst>
              <a:ext uri="{FF2B5EF4-FFF2-40B4-BE49-F238E27FC236}">
                <a16:creationId xmlns:a16="http://schemas.microsoft.com/office/drawing/2014/main" id="{23BF0DA4-752B-45CD-86FE-4E165A272836}"/>
              </a:ext>
            </a:extLst>
          </p:cNvPr>
          <p:cNvSpPr/>
          <p:nvPr/>
        </p:nvSpPr>
        <p:spPr>
          <a:xfrm>
            <a:off x="10096314" y="2790573"/>
            <a:ext cx="763525"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8" name="Arrow: Right 77">
            <a:extLst>
              <a:ext uri="{FF2B5EF4-FFF2-40B4-BE49-F238E27FC236}">
                <a16:creationId xmlns:a16="http://schemas.microsoft.com/office/drawing/2014/main" id="{8343303B-8638-472F-AB5E-B9EA26EC79C7}"/>
              </a:ext>
            </a:extLst>
          </p:cNvPr>
          <p:cNvSpPr/>
          <p:nvPr/>
        </p:nvSpPr>
        <p:spPr>
          <a:xfrm>
            <a:off x="4065369" y="5663124"/>
            <a:ext cx="591930"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9" name="Arrow: Right 78">
            <a:extLst>
              <a:ext uri="{FF2B5EF4-FFF2-40B4-BE49-F238E27FC236}">
                <a16:creationId xmlns:a16="http://schemas.microsoft.com/office/drawing/2014/main" id="{25207FB3-1923-48E6-9BAA-98EEB05BCE1F}"/>
              </a:ext>
            </a:extLst>
          </p:cNvPr>
          <p:cNvSpPr/>
          <p:nvPr/>
        </p:nvSpPr>
        <p:spPr>
          <a:xfrm>
            <a:off x="8918495" y="5609577"/>
            <a:ext cx="542222" cy="254971"/>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44D8DA92-E6E7-4CC4-959D-E6907730B2C1}"/>
              </a:ext>
            </a:extLst>
          </p:cNvPr>
          <p:cNvPicPr>
            <a:picLocks noChangeAspect="1"/>
          </p:cNvPicPr>
          <p:nvPr/>
        </p:nvPicPr>
        <p:blipFill>
          <a:blip r:embed="rId2"/>
          <a:stretch>
            <a:fillRect/>
          </a:stretch>
        </p:blipFill>
        <p:spPr>
          <a:xfrm>
            <a:off x="6972300" y="2275086"/>
            <a:ext cx="1793966" cy="1554023"/>
          </a:xfrm>
          <a:prstGeom prst="rect">
            <a:avLst/>
          </a:prstGeom>
        </p:spPr>
      </p:pic>
      <p:pic>
        <p:nvPicPr>
          <p:cNvPr id="81" name="Picture 80">
            <a:extLst>
              <a:ext uri="{FF2B5EF4-FFF2-40B4-BE49-F238E27FC236}">
                <a16:creationId xmlns:a16="http://schemas.microsoft.com/office/drawing/2014/main" id="{3F3F7F6A-AA68-4405-8FEA-0FD6E2E8351E}"/>
              </a:ext>
            </a:extLst>
          </p:cNvPr>
          <p:cNvPicPr>
            <a:picLocks noChangeAspect="1"/>
          </p:cNvPicPr>
          <p:nvPr/>
        </p:nvPicPr>
        <p:blipFill>
          <a:blip r:embed="rId4"/>
          <a:stretch>
            <a:fillRect/>
          </a:stretch>
        </p:blipFill>
        <p:spPr>
          <a:xfrm>
            <a:off x="7470040" y="3829109"/>
            <a:ext cx="2047479" cy="892701"/>
          </a:xfrm>
          <a:prstGeom prst="rect">
            <a:avLst/>
          </a:prstGeom>
        </p:spPr>
      </p:pic>
    </p:spTree>
    <p:extLst>
      <p:ext uri="{BB962C8B-B14F-4D97-AF65-F5344CB8AC3E}">
        <p14:creationId xmlns:p14="http://schemas.microsoft.com/office/powerpoint/2010/main" val="13142673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Repeat regions cause mistakes</a:t>
            </a:r>
          </a:p>
        </p:txBody>
      </p:sp>
      <p:sp>
        <p:nvSpPr>
          <p:cNvPr id="4" name="Slide Number Placeholder 3">
            <a:extLst>
              <a:ext uri="{FF2B5EF4-FFF2-40B4-BE49-F238E27FC236}">
                <a16:creationId xmlns:a16="http://schemas.microsoft.com/office/drawing/2014/main" id="{BCA34BE0-BD77-4B6B-9720-35840D9D8317}"/>
              </a:ext>
            </a:extLst>
          </p:cNvPr>
          <p:cNvSpPr>
            <a:spLocks noGrp="1"/>
          </p:cNvSpPr>
          <p:nvPr>
            <p:ph type="sldNum" sz="quarter" idx="12"/>
          </p:nvPr>
        </p:nvSpPr>
        <p:spPr/>
        <p:txBody>
          <a:bodyPr/>
          <a:lstStyle/>
          <a:p>
            <a:fld id="{B82CCC60-E8CD-4174-8B1A-7DF615B22EEF}" type="slidenum">
              <a:rPr lang="en-US" smtClean="0"/>
              <a:pPr/>
              <a:t>61</a:t>
            </a:fld>
            <a:endParaRPr lang="en-US"/>
          </a:p>
        </p:txBody>
      </p:sp>
      <p:sp>
        <p:nvSpPr>
          <p:cNvPr id="7" name="Line 38">
            <a:extLst>
              <a:ext uri="{FF2B5EF4-FFF2-40B4-BE49-F238E27FC236}">
                <a16:creationId xmlns:a16="http://schemas.microsoft.com/office/drawing/2014/main" id="{0BF4681C-216C-4CCE-991A-78601E4CBD28}"/>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8B357437-4DA2-4E2E-B578-49936F0FD9FB}"/>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057C525C-49EC-45FC-AB4D-23A3B5674845}"/>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044DE586-5071-4F10-B063-DFC6A0E5958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49DE7835-7352-4E6B-8C66-DD027FDBA507}"/>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DD80223E-0643-4A89-B647-F1F036242EA5}"/>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82593F8E-58B8-4F56-AB17-FAE9D0441BC8}"/>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14" name="Group 9">
            <a:extLst>
              <a:ext uri="{FF2B5EF4-FFF2-40B4-BE49-F238E27FC236}">
                <a16:creationId xmlns:a16="http://schemas.microsoft.com/office/drawing/2014/main" id="{55953275-43FB-49D3-A55C-32E2AF9DD835}"/>
              </a:ext>
            </a:extLst>
          </p:cNvPr>
          <p:cNvGrpSpPr>
            <a:grpSpLocks/>
          </p:cNvGrpSpPr>
          <p:nvPr/>
        </p:nvGrpSpPr>
        <p:grpSpPr bwMode="auto">
          <a:xfrm>
            <a:off x="2054045" y="3527146"/>
            <a:ext cx="2743200" cy="152400"/>
            <a:chOff x="624" y="2208"/>
            <a:chExt cx="1728" cy="96"/>
          </a:xfrm>
        </p:grpSpPr>
        <p:sp>
          <p:nvSpPr>
            <p:cNvPr id="15" name="Line 10">
              <a:extLst>
                <a:ext uri="{FF2B5EF4-FFF2-40B4-BE49-F238E27FC236}">
                  <a16:creationId xmlns:a16="http://schemas.microsoft.com/office/drawing/2014/main" id="{9D1D29B0-E12C-4270-8A93-E34BF775BE9B}"/>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Line 11">
              <a:extLst>
                <a:ext uri="{FF2B5EF4-FFF2-40B4-BE49-F238E27FC236}">
                  <a16:creationId xmlns:a16="http://schemas.microsoft.com/office/drawing/2014/main" id="{8B9E08C3-C78E-466F-B06A-43420B0DD62D}"/>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Line 12">
              <a:extLst>
                <a:ext uri="{FF2B5EF4-FFF2-40B4-BE49-F238E27FC236}">
                  <a16:creationId xmlns:a16="http://schemas.microsoft.com/office/drawing/2014/main" id="{D06B97E0-B050-445F-B4BE-AA4199188193}"/>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13">
              <a:extLst>
                <a:ext uri="{FF2B5EF4-FFF2-40B4-BE49-F238E27FC236}">
                  <a16:creationId xmlns:a16="http://schemas.microsoft.com/office/drawing/2014/main" id="{92E53289-C0D7-46DC-8A96-5EF9B90FF24D}"/>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14">
              <a:extLst>
                <a:ext uri="{FF2B5EF4-FFF2-40B4-BE49-F238E27FC236}">
                  <a16:creationId xmlns:a16="http://schemas.microsoft.com/office/drawing/2014/main" id="{CE5CAE08-2588-4247-9AAC-E4D2EB7148F1}"/>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0" name="Line 15">
              <a:extLst>
                <a:ext uri="{FF2B5EF4-FFF2-40B4-BE49-F238E27FC236}">
                  <a16:creationId xmlns:a16="http://schemas.microsoft.com/office/drawing/2014/main" id="{ADC83BF8-B581-4422-A088-EDBD84323CD6}"/>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 name="Line 16">
              <a:extLst>
                <a:ext uri="{FF2B5EF4-FFF2-40B4-BE49-F238E27FC236}">
                  <a16:creationId xmlns:a16="http://schemas.microsoft.com/office/drawing/2014/main" id="{2A178F42-845B-406C-9CBC-715B6147A599}"/>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22" name="Group 17">
            <a:extLst>
              <a:ext uri="{FF2B5EF4-FFF2-40B4-BE49-F238E27FC236}">
                <a16:creationId xmlns:a16="http://schemas.microsoft.com/office/drawing/2014/main" id="{4792BA97-09E0-4F2B-80F4-04ADA3D3E3D8}"/>
              </a:ext>
            </a:extLst>
          </p:cNvPr>
          <p:cNvGrpSpPr>
            <a:grpSpLocks/>
          </p:cNvGrpSpPr>
          <p:nvPr/>
        </p:nvGrpSpPr>
        <p:grpSpPr bwMode="auto">
          <a:xfrm>
            <a:off x="4416245" y="3527146"/>
            <a:ext cx="2133600" cy="152400"/>
            <a:chOff x="2112" y="2208"/>
            <a:chExt cx="1344" cy="96"/>
          </a:xfrm>
        </p:grpSpPr>
        <p:sp>
          <p:nvSpPr>
            <p:cNvPr id="23" name="Line 18">
              <a:extLst>
                <a:ext uri="{FF2B5EF4-FFF2-40B4-BE49-F238E27FC236}">
                  <a16:creationId xmlns:a16="http://schemas.microsoft.com/office/drawing/2014/main" id="{1BDCF5FF-C38A-4ECF-BF0F-2FAD313094A2}"/>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4" name="Line 19">
              <a:extLst>
                <a:ext uri="{FF2B5EF4-FFF2-40B4-BE49-F238E27FC236}">
                  <a16:creationId xmlns:a16="http://schemas.microsoft.com/office/drawing/2014/main" id="{EAEDB3B8-8D22-4688-8235-9DF407C83DDC}"/>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Line 20">
              <a:extLst>
                <a:ext uri="{FF2B5EF4-FFF2-40B4-BE49-F238E27FC236}">
                  <a16:creationId xmlns:a16="http://schemas.microsoft.com/office/drawing/2014/main" id="{7608BCD4-D162-4A93-B48E-5157CC4EDE8C}"/>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 name="Line 21">
              <a:extLst>
                <a:ext uri="{FF2B5EF4-FFF2-40B4-BE49-F238E27FC236}">
                  <a16:creationId xmlns:a16="http://schemas.microsoft.com/office/drawing/2014/main" id="{282EDD10-C1ED-446C-B209-DED3A0841052}"/>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 name="Line 22">
              <a:extLst>
                <a:ext uri="{FF2B5EF4-FFF2-40B4-BE49-F238E27FC236}">
                  <a16:creationId xmlns:a16="http://schemas.microsoft.com/office/drawing/2014/main" id="{675E27E7-2C84-4BD2-AE11-3FBCFE172951}"/>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 name="Line 23">
              <a:extLst>
                <a:ext uri="{FF2B5EF4-FFF2-40B4-BE49-F238E27FC236}">
                  <a16:creationId xmlns:a16="http://schemas.microsoft.com/office/drawing/2014/main" id="{01F49BF3-24A7-441D-BD35-75AE12303000}"/>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24">
              <a:extLst>
                <a:ext uri="{FF2B5EF4-FFF2-40B4-BE49-F238E27FC236}">
                  <a16:creationId xmlns:a16="http://schemas.microsoft.com/office/drawing/2014/main" id="{3E69E1B2-B4DC-48E1-8038-6A3ED2E99383}"/>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30" name="Group 25">
            <a:extLst>
              <a:ext uri="{FF2B5EF4-FFF2-40B4-BE49-F238E27FC236}">
                <a16:creationId xmlns:a16="http://schemas.microsoft.com/office/drawing/2014/main" id="{5141FF4C-7128-4607-9FC3-22051B79A50C}"/>
              </a:ext>
            </a:extLst>
          </p:cNvPr>
          <p:cNvGrpSpPr>
            <a:grpSpLocks/>
          </p:cNvGrpSpPr>
          <p:nvPr/>
        </p:nvGrpSpPr>
        <p:grpSpPr bwMode="auto">
          <a:xfrm>
            <a:off x="6245045" y="3450946"/>
            <a:ext cx="3276600" cy="228600"/>
            <a:chOff x="3264" y="2160"/>
            <a:chExt cx="2064" cy="144"/>
          </a:xfrm>
        </p:grpSpPr>
        <p:sp>
          <p:nvSpPr>
            <p:cNvPr id="31" name="Line 26">
              <a:extLst>
                <a:ext uri="{FF2B5EF4-FFF2-40B4-BE49-F238E27FC236}">
                  <a16:creationId xmlns:a16="http://schemas.microsoft.com/office/drawing/2014/main" id="{2919A293-939E-4650-89D3-53E206116562}"/>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Line 27">
              <a:extLst>
                <a:ext uri="{FF2B5EF4-FFF2-40B4-BE49-F238E27FC236}">
                  <a16:creationId xmlns:a16="http://schemas.microsoft.com/office/drawing/2014/main" id="{D57152A8-49C5-4D58-B4DA-4C659BCEF344}"/>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 name="Line 28">
              <a:extLst>
                <a:ext uri="{FF2B5EF4-FFF2-40B4-BE49-F238E27FC236}">
                  <a16:creationId xmlns:a16="http://schemas.microsoft.com/office/drawing/2014/main" id="{5B974226-B455-422E-A8F5-8B2D62334C77}"/>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4" name="Line 29">
              <a:extLst>
                <a:ext uri="{FF2B5EF4-FFF2-40B4-BE49-F238E27FC236}">
                  <a16:creationId xmlns:a16="http://schemas.microsoft.com/office/drawing/2014/main" id="{B7D2FBE6-33B6-42BC-BA20-2D6B574AEE9E}"/>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5" name="Line 30">
              <a:extLst>
                <a:ext uri="{FF2B5EF4-FFF2-40B4-BE49-F238E27FC236}">
                  <a16:creationId xmlns:a16="http://schemas.microsoft.com/office/drawing/2014/main" id="{39CE081C-84A6-48FE-92B3-41E4045B1A8D}"/>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6" name="Line 31">
              <a:extLst>
                <a:ext uri="{FF2B5EF4-FFF2-40B4-BE49-F238E27FC236}">
                  <a16:creationId xmlns:a16="http://schemas.microsoft.com/office/drawing/2014/main" id="{61DCBD6A-6A4B-41B8-BDD5-8533D22C291F}"/>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7" name="Line 32">
              <a:extLst>
                <a:ext uri="{FF2B5EF4-FFF2-40B4-BE49-F238E27FC236}">
                  <a16:creationId xmlns:a16="http://schemas.microsoft.com/office/drawing/2014/main" id="{44097C2C-B0D0-44DE-B8C1-F105E7803827}"/>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8" name="Line 33">
              <a:extLst>
                <a:ext uri="{FF2B5EF4-FFF2-40B4-BE49-F238E27FC236}">
                  <a16:creationId xmlns:a16="http://schemas.microsoft.com/office/drawing/2014/main" id="{174F5BB8-B18B-4F35-8C53-3EAFD6078416}"/>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9" name="Line 34">
              <a:extLst>
                <a:ext uri="{FF2B5EF4-FFF2-40B4-BE49-F238E27FC236}">
                  <a16:creationId xmlns:a16="http://schemas.microsoft.com/office/drawing/2014/main" id="{51509FED-C68E-407B-8958-F8491049C824}"/>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0" name="Line 35">
              <a:extLst>
                <a:ext uri="{FF2B5EF4-FFF2-40B4-BE49-F238E27FC236}">
                  <a16:creationId xmlns:a16="http://schemas.microsoft.com/office/drawing/2014/main" id="{E19049FF-76DD-40E0-8702-4164617C192F}"/>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41" name="Line 36">
            <a:extLst>
              <a:ext uri="{FF2B5EF4-FFF2-40B4-BE49-F238E27FC236}">
                <a16:creationId xmlns:a16="http://schemas.microsoft.com/office/drawing/2014/main" id="{8D00D421-EA88-4DE3-8129-4E0AFA30B459}"/>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FA1FB302-C6B8-4D2B-879B-20D8978EBF25}"/>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87B5EE79-9835-4C75-B909-17FF0068BE05}"/>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44" name="Group 41">
            <a:extLst>
              <a:ext uri="{FF2B5EF4-FFF2-40B4-BE49-F238E27FC236}">
                <a16:creationId xmlns:a16="http://schemas.microsoft.com/office/drawing/2014/main" id="{1EFFBE78-4160-4CD5-A5F4-322C85F9E7F7}"/>
              </a:ext>
            </a:extLst>
          </p:cNvPr>
          <p:cNvGrpSpPr>
            <a:grpSpLocks/>
          </p:cNvGrpSpPr>
          <p:nvPr/>
        </p:nvGrpSpPr>
        <p:grpSpPr bwMode="auto">
          <a:xfrm>
            <a:off x="2054045" y="3527146"/>
            <a:ext cx="2743200" cy="152400"/>
            <a:chOff x="624" y="2208"/>
            <a:chExt cx="1728" cy="96"/>
          </a:xfrm>
        </p:grpSpPr>
        <p:sp>
          <p:nvSpPr>
            <p:cNvPr id="45" name="Line 42">
              <a:extLst>
                <a:ext uri="{FF2B5EF4-FFF2-40B4-BE49-F238E27FC236}">
                  <a16:creationId xmlns:a16="http://schemas.microsoft.com/office/drawing/2014/main" id="{46930E3F-CBD9-4BF2-B946-32C69EFBA7E0}"/>
                </a:ext>
              </a:extLst>
            </p:cNvPr>
            <p:cNvSpPr>
              <a:spLocks noChangeShapeType="1"/>
            </p:cNvSpPr>
            <p:nvPr/>
          </p:nvSpPr>
          <p:spPr bwMode="auto">
            <a:xfrm>
              <a:off x="62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95BCBA5B-7864-4FEF-8250-C9FCF282C4F6}"/>
                </a:ext>
              </a:extLst>
            </p:cNvPr>
            <p:cNvSpPr>
              <a:spLocks noChangeShapeType="1"/>
            </p:cNvSpPr>
            <p:nvPr/>
          </p:nvSpPr>
          <p:spPr bwMode="auto">
            <a:xfrm>
              <a:off x="91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F0D4B4EC-3E72-47BF-A3F1-55E49CC3A320}"/>
                </a:ext>
              </a:extLst>
            </p:cNvPr>
            <p:cNvSpPr>
              <a:spLocks noChangeShapeType="1"/>
            </p:cNvSpPr>
            <p:nvPr/>
          </p:nvSpPr>
          <p:spPr bwMode="auto">
            <a:xfrm>
              <a:off x="1104"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8" name="Line 45">
              <a:extLst>
                <a:ext uri="{FF2B5EF4-FFF2-40B4-BE49-F238E27FC236}">
                  <a16:creationId xmlns:a16="http://schemas.microsoft.com/office/drawing/2014/main" id="{A2BD9E8A-ABDD-4B45-A84D-2EFF7B1068C3}"/>
                </a:ext>
              </a:extLst>
            </p:cNvPr>
            <p:cNvSpPr>
              <a:spLocks noChangeShapeType="1"/>
            </p:cNvSpPr>
            <p:nvPr/>
          </p:nvSpPr>
          <p:spPr bwMode="auto">
            <a:xfrm>
              <a:off x="1392" y="2256"/>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9" name="Line 46">
              <a:extLst>
                <a:ext uri="{FF2B5EF4-FFF2-40B4-BE49-F238E27FC236}">
                  <a16:creationId xmlns:a16="http://schemas.microsoft.com/office/drawing/2014/main" id="{F0412969-5E4D-4A4B-B9C8-0EBAA73B7365}"/>
                </a:ext>
              </a:extLst>
            </p:cNvPr>
            <p:cNvSpPr>
              <a:spLocks noChangeShapeType="1"/>
            </p:cNvSpPr>
            <p:nvPr/>
          </p:nvSpPr>
          <p:spPr bwMode="auto">
            <a:xfrm>
              <a:off x="1680" y="2208"/>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0" name="Line 47">
              <a:extLst>
                <a:ext uri="{FF2B5EF4-FFF2-40B4-BE49-F238E27FC236}">
                  <a16:creationId xmlns:a16="http://schemas.microsoft.com/office/drawing/2014/main" id="{E7B4DBA8-D9CB-47E0-9E20-1677D4FF0E63}"/>
                </a:ext>
              </a:extLst>
            </p:cNvPr>
            <p:cNvSpPr>
              <a:spLocks noChangeShapeType="1"/>
            </p:cNvSpPr>
            <p:nvPr/>
          </p:nvSpPr>
          <p:spPr bwMode="auto">
            <a:xfrm>
              <a:off x="1968" y="2256"/>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 name="Line 48">
              <a:extLst>
                <a:ext uri="{FF2B5EF4-FFF2-40B4-BE49-F238E27FC236}">
                  <a16:creationId xmlns:a16="http://schemas.microsoft.com/office/drawing/2014/main" id="{ECE655D1-2699-4334-A2D8-763891DF5C22}"/>
                </a:ext>
              </a:extLst>
            </p:cNvPr>
            <p:cNvSpPr>
              <a:spLocks noChangeShapeType="1"/>
            </p:cNvSpPr>
            <p:nvPr/>
          </p:nvSpPr>
          <p:spPr bwMode="auto">
            <a:xfrm>
              <a:off x="1632"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52" name="Group 49">
            <a:extLst>
              <a:ext uri="{FF2B5EF4-FFF2-40B4-BE49-F238E27FC236}">
                <a16:creationId xmlns:a16="http://schemas.microsoft.com/office/drawing/2014/main" id="{CC1BF781-971A-40ED-831E-AA1C84B16F13}"/>
              </a:ext>
            </a:extLst>
          </p:cNvPr>
          <p:cNvGrpSpPr>
            <a:grpSpLocks/>
          </p:cNvGrpSpPr>
          <p:nvPr/>
        </p:nvGrpSpPr>
        <p:grpSpPr bwMode="auto">
          <a:xfrm>
            <a:off x="6245045" y="3450946"/>
            <a:ext cx="3276600" cy="228600"/>
            <a:chOff x="3264" y="2160"/>
            <a:chExt cx="2064" cy="144"/>
          </a:xfrm>
        </p:grpSpPr>
        <p:sp>
          <p:nvSpPr>
            <p:cNvPr id="53" name="Line 50">
              <a:extLst>
                <a:ext uri="{FF2B5EF4-FFF2-40B4-BE49-F238E27FC236}">
                  <a16:creationId xmlns:a16="http://schemas.microsoft.com/office/drawing/2014/main" id="{DC3197F1-569E-4AF7-A0EE-8859D4266E5B}"/>
                </a:ext>
              </a:extLst>
            </p:cNvPr>
            <p:cNvSpPr>
              <a:spLocks noChangeShapeType="1"/>
            </p:cNvSpPr>
            <p:nvPr/>
          </p:nvSpPr>
          <p:spPr bwMode="auto">
            <a:xfrm>
              <a:off x="3264" y="2160"/>
              <a:ext cx="384"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4" name="Line 51">
              <a:extLst>
                <a:ext uri="{FF2B5EF4-FFF2-40B4-BE49-F238E27FC236}">
                  <a16:creationId xmlns:a16="http://schemas.microsoft.com/office/drawing/2014/main" id="{2015051D-B10B-49D4-B957-37162AB8DFB1}"/>
                </a:ext>
              </a:extLst>
            </p:cNvPr>
            <p:cNvSpPr>
              <a:spLocks noChangeShapeType="1"/>
            </p:cNvSpPr>
            <p:nvPr/>
          </p:nvSpPr>
          <p:spPr bwMode="auto">
            <a:xfrm>
              <a:off x="3600" y="2304"/>
              <a:ext cx="336"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5" name="Line 52">
              <a:extLst>
                <a:ext uri="{FF2B5EF4-FFF2-40B4-BE49-F238E27FC236}">
                  <a16:creationId xmlns:a16="http://schemas.microsoft.com/office/drawing/2014/main" id="{F3D122AA-0B61-47FF-9F1A-602C992D2181}"/>
                </a:ext>
              </a:extLst>
            </p:cNvPr>
            <p:cNvSpPr>
              <a:spLocks noChangeShapeType="1"/>
            </p:cNvSpPr>
            <p:nvPr/>
          </p:nvSpPr>
          <p:spPr bwMode="auto">
            <a:xfrm>
              <a:off x="3936" y="2208"/>
              <a:ext cx="288"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6" name="Line 53">
              <a:extLst>
                <a:ext uri="{FF2B5EF4-FFF2-40B4-BE49-F238E27FC236}">
                  <a16:creationId xmlns:a16="http://schemas.microsoft.com/office/drawing/2014/main" id="{F5B38FC7-3CFD-44CF-84DE-353D27678BE7}"/>
                </a:ext>
              </a:extLst>
            </p:cNvPr>
            <p:cNvSpPr>
              <a:spLocks noChangeShapeType="1"/>
            </p:cNvSpPr>
            <p:nvPr/>
          </p:nvSpPr>
          <p:spPr bwMode="auto">
            <a:xfrm>
              <a:off x="3984"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7" name="Line 54">
              <a:extLst>
                <a:ext uri="{FF2B5EF4-FFF2-40B4-BE49-F238E27FC236}">
                  <a16:creationId xmlns:a16="http://schemas.microsoft.com/office/drawing/2014/main" id="{9EEA7956-5B73-4720-A75B-F427A8FA0B3F}"/>
                </a:ext>
              </a:extLst>
            </p:cNvPr>
            <p:cNvSpPr>
              <a:spLocks noChangeShapeType="1"/>
            </p:cNvSpPr>
            <p:nvPr/>
          </p:nvSpPr>
          <p:spPr bwMode="auto">
            <a:xfrm>
              <a:off x="4752"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8" name="Line 55">
              <a:extLst>
                <a:ext uri="{FF2B5EF4-FFF2-40B4-BE49-F238E27FC236}">
                  <a16:creationId xmlns:a16="http://schemas.microsoft.com/office/drawing/2014/main" id="{A351C404-C0F7-4BBD-BF52-C99BDD6BE168}"/>
                </a:ext>
              </a:extLst>
            </p:cNvPr>
            <p:cNvSpPr>
              <a:spLocks noChangeShapeType="1"/>
            </p:cNvSpPr>
            <p:nvPr/>
          </p:nvSpPr>
          <p:spPr bwMode="auto">
            <a:xfrm>
              <a:off x="451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9" name="Line 56">
              <a:extLst>
                <a:ext uri="{FF2B5EF4-FFF2-40B4-BE49-F238E27FC236}">
                  <a16:creationId xmlns:a16="http://schemas.microsoft.com/office/drawing/2014/main" id="{86E19AAF-6EF5-4FEA-8DE1-24666D49C8BE}"/>
                </a:ext>
              </a:extLst>
            </p:cNvPr>
            <p:cNvSpPr>
              <a:spLocks noChangeShapeType="1"/>
            </p:cNvSpPr>
            <p:nvPr/>
          </p:nvSpPr>
          <p:spPr bwMode="auto">
            <a:xfrm>
              <a:off x="422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0" name="Line 57">
              <a:extLst>
                <a:ext uri="{FF2B5EF4-FFF2-40B4-BE49-F238E27FC236}">
                  <a16:creationId xmlns:a16="http://schemas.microsoft.com/office/drawing/2014/main" id="{122BF23A-6C51-41B1-8290-25F5746323CE}"/>
                </a:ext>
              </a:extLst>
            </p:cNvPr>
            <p:cNvSpPr>
              <a:spLocks noChangeShapeType="1"/>
            </p:cNvSpPr>
            <p:nvPr/>
          </p:nvSpPr>
          <p:spPr bwMode="auto">
            <a:xfrm>
              <a:off x="4944"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 name="Line 58">
              <a:extLst>
                <a:ext uri="{FF2B5EF4-FFF2-40B4-BE49-F238E27FC236}">
                  <a16:creationId xmlns:a16="http://schemas.microsoft.com/office/drawing/2014/main" id="{A586DAC7-EEEB-49B9-BD8F-8F62249630A2}"/>
                </a:ext>
              </a:extLst>
            </p:cNvPr>
            <p:cNvSpPr>
              <a:spLocks noChangeShapeType="1"/>
            </p:cNvSpPr>
            <p:nvPr/>
          </p:nvSpPr>
          <p:spPr bwMode="auto">
            <a:xfrm>
              <a:off x="3936" y="2304"/>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2" name="Line 59">
              <a:extLst>
                <a:ext uri="{FF2B5EF4-FFF2-40B4-BE49-F238E27FC236}">
                  <a16:creationId xmlns:a16="http://schemas.microsoft.com/office/drawing/2014/main" id="{5C0C2DDE-0EAC-4880-BF60-B08FBB1EFEDE}"/>
                </a:ext>
              </a:extLst>
            </p:cNvPr>
            <p:cNvSpPr>
              <a:spLocks noChangeShapeType="1"/>
            </p:cNvSpPr>
            <p:nvPr/>
          </p:nvSpPr>
          <p:spPr bwMode="auto">
            <a:xfrm>
              <a:off x="3696"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63" name="Line 60">
            <a:extLst>
              <a:ext uri="{FF2B5EF4-FFF2-40B4-BE49-F238E27FC236}">
                <a16:creationId xmlns:a16="http://schemas.microsoft.com/office/drawing/2014/main" id="{86A8D2B4-E880-4585-8918-7F1E20693A2B}"/>
              </a:ext>
            </a:extLst>
          </p:cNvPr>
          <p:cNvSpPr>
            <a:spLocks noChangeShapeType="1"/>
          </p:cNvSpPr>
          <p:nvPr/>
        </p:nvSpPr>
        <p:spPr bwMode="auto">
          <a:xfrm>
            <a:off x="3273245" y="52035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4" name="Line 61">
            <a:extLst>
              <a:ext uri="{FF2B5EF4-FFF2-40B4-BE49-F238E27FC236}">
                <a16:creationId xmlns:a16="http://schemas.microsoft.com/office/drawing/2014/main" id="{FAB93629-3E76-4C50-B34B-BAC7161CE8BB}"/>
              </a:ext>
            </a:extLst>
          </p:cNvPr>
          <p:cNvSpPr>
            <a:spLocks noChangeShapeType="1"/>
          </p:cNvSpPr>
          <p:nvPr/>
        </p:nvSpPr>
        <p:spPr bwMode="auto">
          <a:xfrm>
            <a:off x="6092645" y="52035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5" name="Line 62">
            <a:extLst>
              <a:ext uri="{FF2B5EF4-FFF2-40B4-BE49-F238E27FC236}">
                <a16:creationId xmlns:a16="http://schemas.microsoft.com/office/drawing/2014/main" id="{AB4A4147-470D-4536-AE4E-EDD43F5D5CA1}"/>
              </a:ext>
            </a:extLst>
          </p:cNvPr>
          <p:cNvSpPr>
            <a:spLocks noChangeShapeType="1"/>
          </p:cNvSpPr>
          <p:nvPr/>
        </p:nvSpPr>
        <p:spPr bwMode="auto">
          <a:xfrm flipV="1">
            <a:off x="4873445" y="5203546"/>
            <a:ext cx="12192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6" name="Text Box 63">
            <a:extLst>
              <a:ext uri="{FF2B5EF4-FFF2-40B4-BE49-F238E27FC236}">
                <a16:creationId xmlns:a16="http://schemas.microsoft.com/office/drawing/2014/main" id="{9768E41A-B366-47A7-B279-8283AC5FBD44}"/>
              </a:ext>
            </a:extLst>
          </p:cNvPr>
          <p:cNvSpPr txBox="1">
            <a:spLocks noChangeArrowheads="1"/>
          </p:cNvSpPr>
          <p:nvPr/>
        </p:nvSpPr>
        <p:spPr bwMode="auto">
          <a:xfrm>
            <a:off x="3806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67" name="Text Box 64">
            <a:extLst>
              <a:ext uri="{FF2B5EF4-FFF2-40B4-BE49-F238E27FC236}">
                <a16:creationId xmlns:a16="http://schemas.microsoft.com/office/drawing/2014/main" id="{B6897430-D447-47A6-A0C2-D0768AED90C8}"/>
              </a:ext>
            </a:extLst>
          </p:cNvPr>
          <p:cNvSpPr txBox="1">
            <a:spLocks noChangeArrowheads="1"/>
          </p:cNvSpPr>
          <p:nvPr/>
        </p:nvSpPr>
        <p:spPr bwMode="auto">
          <a:xfrm>
            <a:off x="51782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68" name="Text Box 65">
            <a:extLst>
              <a:ext uri="{FF2B5EF4-FFF2-40B4-BE49-F238E27FC236}">
                <a16:creationId xmlns:a16="http://schemas.microsoft.com/office/drawing/2014/main" id="{E8A70AC7-C06F-48D5-B576-9824BD20DE8A}"/>
              </a:ext>
            </a:extLst>
          </p:cNvPr>
          <p:cNvSpPr txBox="1">
            <a:spLocks noChangeArrowheads="1"/>
          </p:cNvSpPr>
          <p:nvPr/>
        </p:nvSpPr>
        <p:spPr bwMode="auto">
          <a:xfrm>
            <a:off x="6854645" y="52797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grpSp>
        <p:nvGrpSpPr>
          <p:cNvPr id="69" name="Group 66">
            <a:extLst>
              <a:ext uri="{FF2B5EF4-FFF2-40B4-BE49-F238E27FC236}">
                <a16:creationId xmlns:a16="http://schemas.microsoft.com/office/drawing/2014/main" id="{C17CE37F-B228-463C-BD27-FA6560023F9B}"/>
              </a:ext>
            </a:extLst>
          </p:cNvPr>
          <p:cNvGrpSpPr>
            <a:grpSpLocks/>
          </p:cNvGrpSpPr>
          <p:nvPr/>
        </p:nvGrpSpPr>
        <p:grpSpPr bwMode="auto">
          <a:xfrm>
            <a:off x="4416245" y="3527146"/>
            <a:ext cx="2133600" cy="152400"/>
            <a:chOff x="2112" y="2208"/>
            <a:chExt cx="1344" cy="96"/>
          </a:xfrm>
        </p:grpSpPr>
        <p:sp>
          <p:nvSpPr>
            <p:cNvPr id="70" name="Line 67">
              <a:extLst>
                <a:ext uri="{FF2B5EF4-FFF2-40B4-BE49-F238E27FC236}">
                  <a16:creationId xmlns:a16="http://schemas.microsoft.com/office/drawing/2014/main" id="{0BD2DC4B-63B2-4CEC-B2FB-0FD28A8204C6}"/>
                </a:ext>
              </a:extLst>
            </p:cNvPr>
            <p:cNvSpPr>
              <a:spLocks noChangeShapeType="1"/>
            </p:cNvSpPr>
            <p:nvPr/>
          </p:nvSpPr>
          <p:spPr bwMode="auto">
            <a:xfrm>
              <a:off x="2352" y="2208"/>
              <a:ext cx="24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1" name="Line 68">
              <a:extLst>
                <a:ext uri="{FF2B5EF4-FFF2-40B4-BE49-F238E27FC236}">
                  <a16:creationId xmlns:a16="http://schemas.microsoft.com/office/drawing/2014/main" id="{6A37ADCF-C103-43BF-93B7-54EFFA26369B}"/>
                </a:ext>
              </a:extLst>
            </p:cNvPr>
            <p:cNvSpPr>
              <a:spLocks noChangeShapeType="1"/>
            </p:cNvSpPr>
            <p:nvPr/>
          </p:nvSpPr>
          <p:spPr bwMode="auto">
            <a:xfrm>
              <a:off x="2352" y="2304"/>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2" name="Line 69">
              <a:extLst>
                <a:ext uri="{FF2B5EF4-FFF2-40B4-BE49-F238E27FC236}">
                  <a16:creationId xmlns:a16="http://schemas.microsoft.com/office/drawing/2014/main" id="{FFFC9E14-09D1-4CEB-9157-921822DC925A}"/>
                </a:ext>
              </a:extLst>
            </p:cNvPr>
            <p:cNvSpPr>
              <a:spLocks noChangeShapeType="1"/>
            </p:cNvSpPr>
            <p:nvPr/>
          </p:nvSpPr>
          <p:spPr bwMode="auto">
            <a:xfrm>
              <a:off x="2640" y="2256"/>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3" name="Line 70">
              <a:extLst>
                <a:ext uri="{FF2B5EF4-FFF2-40B4-BE49-F238E27FC236}">
                  <a16:creationId xmlns:a16="http://schemas.microsoft.com/office/drawing/2014/main" id="{867FCBD3-F6EC-4223-B2A4-BB22A271EC44}"/>
                </a:ext>
              </a:extLst>
            </p:cNvPr>
            <p:cNvSpPr>
              <a:spLocks noChangeShapeType="1"/>
            </p:cNvSpPr>
            <p:nvPr/>
          </p:nvSpPr>
          <p:spPr bwMode="auto">
            <a:xfrm>
              <a:off x="2832" y="2208"/>
              <a:ext cx="38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4" name="Line 71">
              <a:extLst>
                <a:ext uri="{FF2B5EF4-FFF2-40B4-BE49-F238E27FC236}">
                  <a16:creationId xmlns:a16="http://schemas.microsoft.com/office/drawing/2014/main" id="{2C74D31E-65D2-45FA-8043-68FF525884F8}"/>
                </a:ext>
              </a:extLst>
            </p:cNvPr>
            <p:cNvSpPr>
              <a:spLocks noChangeShapeType="1"/>
            </p:cNvSpPr>
            <p:nvPr/>
          </p:nvSpPr>
          <p:spPr bwMode="auto">
            <a:xfrm>
              <a:off x="3072" y="2256"/>
              <a:ext cx="144"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5" name="Line 72">
              <a:extLst>
                <a:ext uri="{FF2B5EF4-FFF2-40B4-BE49-F238E27FC236}">
                  <a16:creationId xmlns:a16="http://schemas.microsoft.com/office/drawing/2014/main" id="{5B460D12-39C0-4EEC-A736-20F673EDE383}"/>
                </a:ext>
              </a:extLst>
            </p:cNvPr>
            <p:cNvSpPr>
              <a:spLocks noChangeShapeType="1"/>
            </p:cNvSpPr>
            <p:nvPr/>
          </p:nvSpPr>
          <p:spPr bwMode="auto">
            <a:xfrm>
              <a:off x="2112" y="2208"/>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76" name="Line 73">
              <a:extLst>
                <a:ext uri="{FF2B5EF4-FFF2-40B4-BE49-F238E27FC236}">
                  <a16:creationId xmlns:a16="http://schemas.microsoft.com/office/drawing/2014/main" id="{84BB9C08-AEB3-4BDC-929F-D9C1DCE9914A}"/>
                </a:ext>
              </a:extLst>
            </p:cNvPr>
            <p:cNvSpPr>
              <a:spLocks noChangeShapeType="1"/>
            </p:cNvSpPr>
            <p:nvPr/>
          </p:nvSpPr>
          <p:spPr bwMode="auto">
            <a:xfrm>
              <a:off x="3216" y="2256"/>
              <a:ext cx="240" cy="0"/>
            </a:xfrm>
            <a:prstGeom prst="line">
              <a:avLst/>
            </a:prstGeom>
            <a:noFill/>
            <a:ln w="3175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496989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path" presetSubtype="0" accel="50000" decel="50000" fill="hold" nodeType="clickEffect">
                                  <p:stCondLst>
                                    <p:cond delay="0"/>
                                  </p:stCondLst>
                                  <p:childTnLst>
                                    <p:animMotion origin="layout" path="M 4.16667E-7 -2.96296E-6 L 0.1 0.18889 " pathEditMode="relative" rAng="0" ptsTypes="AA">
                                      <p:cBhvr>
                                        <p:cTn id="6" dur="2000" fill="hold"/>
                                        <p:tgtEl>
                                          <p:spTgt spid="14"/>
                                        </p:tgtEl>
                                        <p:attrNameLst>
                                          <p:attrName>ppt_x</p:attrName>
                                          <p:attrName>ppt_y</p:attrName>
                                        </p:attrNameLst>
                                      </p:cBhvr>
                                      <p:rCtr x="5000" y="9444"/>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0375 -0.00741 L -0.1 0.1868 " pathEditMode="relative" rAng="0" ptsTypes="AA">
                                      <p:cBhvr>
                                        <p:cTn id="10" dur="2000" fill="hold"/>
                                        <p:tgtEl>
                                          <p:spTgt spid="30"/>
                                        </p:tgtEl>
                                        <p:attrNameLst>
                                          <p:attrName>ppt_x</p:attrName>
                                          <p:attrName>ppt_y</p:attrName>
                                        </p:attrNameLst>
                                      </p:cBhvr>
                                      <p:rCtr x="-6875" y="9699"/>
                                    </p:animMotion>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blinds(horizontal)">
                                      <p:cBhvr>
                                        <p:cTn id="15" dur="500"/>
                                        <p:tgtEl>
                                          <p:spTgt spid="63"/>
                                        </p:tgtEl>
                                      </p:cBhvr>
                                    </p:animEffect>
                                  </p:childTnLst>
                                </p:cTn>
                              </p:par>
                              <p:par>
                                <p:cTn id="16" presetID="3" presetClass="entr" presetSubtype="1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blinds(horizontal)">
                                      <p:cBhvr>
                                        <p:cTn id="18" dur="500"/>
                                        <p:tgtEl>
                                          <p:spTgt spid="64"/>
                                        </p:tgtEl>
                                      </p:cBhvr>
                                    </p:animEffect>
                                  </p:childTnLst>
                                </p:cTn>
                              </p:par>
                              <p:par>
                                <p:cTn id="19" presetID="3" presetClass="entr" presetSubtype="1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blinds(horizontal)">
                                      <p:cBhvr>
                                        <p:cTn id="21" dur="500"/>
                                        <p:tgtEl>
                                          <p:spTgt spid="65"/>
                                        </p:tgtEl>
                                      </p:cBhvr>
                                    </p:animEffect>
                                  </p:childTnLst>
                                </p:cTn>
                              </p:par>
                              <p:par>
                                <p:cTn id="22" presetID="3" presetClass="entr" presetSubtype="10" fill="hold" grpId="0"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blinds(horizontal)">
                                      <p:cBhvr>
                                        <p:cTn id="24" dur="500"/>
                                        <p:tgtEl>
                                          <p:spTgt spid="66"/>
                                        </p:tgtEl>
                                      </p:cBhvr>
                                    </p:animEffect>
                                  </p:childTnLst>
                                </p:cTn>
                              </p:par>
                              <p:par>
                                <p:cTn id="25" presetID="3" presetClass="entr" presetSubtype="1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animEffect transition="in" filter="blinds(horizontal)">
                                      <p:cBhvr>
                                        <p:cTn id="27" dur="500"/>
                                        <p:tgtEl>
                                          <p:spTgt spid="67"/>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blinds(horizontal)">
                                      <p:cBhvr>
                                        <p:cTn id="30"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8" grpId="0"/>
    </p:bld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6E8A3AF-8A14-AC93-0E3C-6D6E62FC7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881D8-3E26-A68B-E1F3-9BC8F097903C}"/>
              </a:ext>
            </a:extLst>
          </p:cNvPr>
          <p:cNvSpPr>
            <a:spLocks noGrp="1"/>
          </p:cNvSpPr>
          <p:nvPr>
            <p:ph type="title"/>
          </p:nvPr>
        </p:nvSpPr>
        <p:spPr/>
        <p:txBody>
          <a:bodyPr>
            <a:normAutofit fontScale="90000"/>
          </a:bodyPr>
          <a:lstStyle/>
          <a:p>
            <a:r>
              <a:rPr lang="en-US" dirty="0"/>
              <a:t>Long reads help avoid mistakes</a:t>
            </a:r>
          </a:p>
        </p:txBody>
      </p:sp>
      <p:sp>
        <p:nvSpPr>
          <p:cNvPr id="4" name="Slide Number Placeholder 3">
            <a:extLst>
              <a:ext uri="{FF2B5EF4-FFF2-40B4-BE49-F238E27FC236}">
                <a16:creationId xmlns:a16="http://schemas.microsoft.com/office/drawing/2014/main" id="{9D3D7324-67F1-CE32-3ABB-7B4F4E75ABBD}"/>
              </a:ext>
            </a:extLst>
          </p:cNvPr>
          <p:cNvSpPr>
            <a:spLocks noGrp="1"/>
          </p:cNvSpPr>
          <p:nvPr>
            <p:ph type="sldNum" sz="quarter" idx="12"/>
          </p:nvPr>
        </p:nvSpPr>
        <p:spPr/>
        <p:txBody>
          <a:bodyPr/>
          <a:lstStyle/>
          <a:p>
            <a:fld id="{B82CCC60-E8CD-4174-8B1A-7DF615B22EEF}" type="slidenum">
              <a:rPr lang="en-US" smtClean="0"/>
              <a:pPr/>
              <a:t>62</a:t>
            </a:fld>
            <a:endParaRPr lang="en-US"/>
          </a:p>
        </p:txBody>
      </p:sp>
      <p:sp>
        <p:nvSpPr>
          <p:cNvPr id="7" name="Line 38">
            <a:extLst>
              <a:ext uri="{FF2B5EF4-FFF2-40B4-BE49-F238E27FC236}">
                <a16:creationId xmlns:a16="http://schemas.microsoft.com/office/drawing/2014/main" id="{557043B5-6A9F-9C36-5396-D03C2E44D4EC}"/>
              </a:ext>
            </a:extLst>
          </p:cNvPr>
          <p:cNvSpPr>
            <a:spLocks noChangeShapeType="1"/>
          </p:cNvSpPr>
          <p:nvPr/>
        </p:nvSpPr>
        <p:spPr bwMode="auto">
          <a:xfrm>
            <a:off x="36542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40">
            <a:extLst>
              <a:ext uri="{FF2B5EF4-FFF2-40B4-BE49-F238E27FC236}">
                <a16:creationId xmlns:a16="http://schemas.microsoft.com/office/drawing/2014/main" id="{72F8D5E0-9FBF-225E-1684-FECA0AC8921F}"/>
              </a:ext>
            </a:extLst>
          </p:cNvPr>
          <p:cNvSpPr>
            <a:spLocks noChangeShapeType="1"/>
          </p:cNvSpPr>
          <p:nvPr/>
        </p:nvSpPr>
        <p:spPr bwMode="auto">
          <a:xfrm>
            <a:off x="4797245" y="3908146"/>
            <a:ext cx="13716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Text Box 3">
            <a:extLst>
              <a:ext uri="{FF2B5EF4-FFF2-40B4-BE49-F238E27FC236}">
                <a16:creationId xmlns:a16="http://schemas.microsoft.com/office/drawing/2014/main" id="{D53CDCCA-5B02-8FC5-0159-F11D53726644}"/>
              </a:ext>
            </a:extLst>
          </p:cNvPr>
          <p:cNvSpPr txBox="1">
            <a:spLocks noChangeArrowheads="1"/>
          </p:cNvSpPr>
          <p:nvPr/>
        </p:nvSpPr>
        <p:spPr bwMode="auto">
          <a:xfrm>
            <a:off x="26636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A</a:t>
            </a:r>
            <a:endParaRPr lang="ru-RU" altLang="en-US" sz="2400">
              <a:latin typeface="Arial" panose="020B0604020202020204" pitchFamily="34" charset="0"/>
            </a:endParaRPr>
          </a:p>
        </p:txBody>
      </p:sp>
      <p:sp>
        <p:nvSpPr>
          <p:cNvPr id="10" name="Text Box 4">
            <a:extLst>
              <a:ext uri="{FF2B5EF4-FFF2-40B4-BE49-F238E27FC236}">
                <a16:creationId xmlns:a16="http://schemas.microsoft.com/office/drawing/2014/main" id="{D0259C26-55F3-0A89-C879-26119A94DADF}"/>
              </a:ext>
            </a:extLst>
          </p:cNvPr>
          <p:cNvSpPr txBox="1">
            <a:spLocks noChangeArrowheads="1"/>
          </p:cNvSpPr>
          <p:nvPr/>
        </p:nvSpPr>
        <p:spPr bwMode="auto">
          <a:xfrm>
            <a:off x="3959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1" name="Text Box 5">
            <a:extLst>
              <a:ext uri="{FF2B5EF4-FFF2-40B4-BE49-F238E27FC236}">
                <a16:creationId xmlns:a16="http://schemas.microsoft.com/office/drawing/2014/main" id="{2B88799D-73A8-A80F-A1B6-70E12D6328D2}"/>
              </a:ext>
            </a:extLst>
          </p:cNvPr>
          <p:cNvSpPr txBox="1">
            <a:spLocks noChangeArrowheads="1"/>
          </p:cNvSpPr>
          <p:nvPr/>
        </p:nvSpPr>
        <p:spPr bwMode="auto">
          <a:xfrm>
            <a:off x="51782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B</a:t>
            </a:r>
            <a:endParaRPr lang="ru-RU" altLang="en-US" sz="2400">
              <a:latin typeface="Arial" panose="020B0604020202020204" pitchFamily="34" charset="0"/>
            </a:endParaRPr>
          </a:p>
        </p:txBody>
      </p:sp>
      <p:sp>
        <p:nvSpPr>
          <p:cNvPr id="12" name="Text Box 6">
            <a:extLst>
              <a:ext uri="{FF2B5EF4-FFF2-40B4-BE49-F238E27FC236}">
                <a16:creationId xmlns:a16="http://schemas.microsoft.com/office/drawing/2014/main" id="{710CDF8A-4E2D-D5E9-C417-0B9EFFBD3CDD}"/>
              </a:ext>
            </a:extLst>
          </p:cNvPr>
          <p:cNvSpPr txBox="1">
            <a:spLocks noChangeArrowheads="1"/>
          </p:cNvSpPr>
          <p:nvPr/>
        </p:nvSpPr>
        <p:spPr bwMode="auto">
          <a:xfrm>
            <a:off x="65498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R</a:t>
            </a:r>
            <a:endParaRPr lang="ru-RU" altLang="en-US" sz="2400">
              <a:latin typeface="Arial" panose="020B0604020202020204" pitchFamily="34" charset="0"/>
            </a:endParaRPr>
          </a:p>
        </p:txBody>
      </p:sp>
      <p:sp>
        <p:nvSpPr>
          <p:cNvPr id="13" name="Text Box 7">
            <a:extLst>
              <a:ext uri="{FF2B5EF4-FFF2-40B4-BE49-F238E27FC236}">
                <a16:creationId xmlns:a16="http://schemas.microsoft.com/office/drawing/2014/main" id="{9FF8AB77-EC6C-50F8-8579-6ADBEA813236}"/>
              </a:ext>
            </a:extLst>
          </p:cNvPr>
          <p:cNvSpPr txBox="1">
            <a:spLocks noChangeArrowheads="1"/>
          </p:cNvSpPr>
          <p:nvPr/>
        </p:nvSpPr>
        <p:spPr bwMode="auto">
          <a:xfrm>
            <a:off x="8150045" y="3984346"/>
            <a:ext cx="45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spcBef>
                <a:spcPct val="50000"/>
              </a:spcBef>
            </a:pPr>
            <a:r>
              <a:rPr lang="en-US" altLang="en-US" sz="2400">
                <a:latin typeface="Arial" panose="020B0604020202020204" pitchFamily="34" charset="0"/>
              </a:rPr>
              <a:t>C</a:t>
            </a:r>
            <a:endParaRPr lang="ru-RU" altLang="en-US" sz="2400">
              <a:latin typeface="Arial" panose="020B0604020202020204" pitchFamily="34" charset="0"/>
            </a:endParaRPr>
          </a:p>
        </p:txBody>
      </p:sp>
      <p:sp>
        <p:nvSpPr>
          <p:cNvPr id="41" name="Line 36">
            <a:extLst>
              <a:ext uri="{FF2B5EF4-FFF2-40B4-BE49-F238E27FC236}">
                <a16:creationId xmlns:a16="http://schemas.microsoft.com/office/drawing/2014/main" id="{969395CB-422A-F738-9394-51892C55BBA0}"/>
              </a:ext>
            </a:extLst>
          </p:cNvPr>
          <p:cNvSpPr>
            <a:spLocks noChangeShapeType="1"/>
          </p:cNvSpPr>
          <p:nvPr/>
        </p:nvSpPr>
        <p:spPr bwMode="auto">
          <a:xfrm>
            <a:off x="2054045" y="3908146"/>
            <a:ext cx="16002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2" name="Line 37">
            <a:extLst>
              <a:ext uri="{FF2B5EF4-FFF2-40B4-BE49-F238E27FC236}">
                <a16:creationId xmlns:a16="http://schemas.microsoft.com/office/drawing/2014/main" id="{DD1DDF51-EB23-109C-871E-6A40DDE8D9F8}"/>
              </a:ext>
            </a:extLst>
          </p:cNvPr>
          <p:cNvSpPr>
            <a:spLocks noChangeShapeType="1"/>
          </p:cNvSpPr>
          <p:nvPr/>
        </p:nvSpPr>
        <p:spPr bwMode="auto">
          <a:xfrm>
            <a:off x="7311845" y="3908146"/>
            <a:ext cx="2209800" cy="0"/>
          </a:xfrm>
          <a:prstGeom prst="line">
            <a:avLst/>
          </a:prstGeom>
          <a:noFill/>
          <a:ln w="635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 name="Line 39">
            <a:extLst>
              <a:ext uri="{FF2B5EF4-FFF2-40B4-BE49-F238E27FC236}">
                <a16:creationId xmlns:a16="http://schemas.microsoft.com/office/drawing/2014/main" id="{3999099A-B3B4-51BF-327F-9B2059B03F12}"/>
              </a:ext>
            </a:extLst>
          </p:cNvPr>
          <p:cNvSpPr>
            <a:spLocks noChangeShapeType="1"/>
          </p:cNvSpPr>
          <p:nvPr/>
        </p:nvSpPr>
        <p:spPr bwMode="auto">
          <a:xfrm>
            <a:off x="6168845" y="3908146"/>
            <a:ext cx="1143000" cy="0"/>
          </a:xfrm>
          <a:prstGeom prst="line">
            <a:avLst/>
          </a:prstGeom>
          <a:noFill/>
          <a:ln w="635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 name="Line 42">
            <a:extLst>
              <a:ext uri="{FF2B5EF4-FFF2-40B4-BE49-F238E27FC236}">
                <a16:creationId xmlns:a16="http://schemas.microsoft.com/office/drawing/2014/main" id="{5874C009-00C3-46CA-249E-F1EE47E777F7}"/>
              </a:ext>
            </a:extLst>
          </p:cNvPr>
          <p:cNvSpPr>
            <a:spLocks noChangeShapeType="1"/>
          </p:cNvSpPr>
          <p:nvPr/>
        </p:nvSpPr>
        <p:spPr bwMode="auto">
          <a:xfrm>
            <a:off x="2054045" y="3581705"/>
            <a:ext cx="3278430" cy="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 name="Line 43">
            <a:extLst>
              <a:ext uri="{FF2B5EF4-FFF2-40B4-BE49-F238E27FC236}">
                <a16:creationId xmlns:a16="http://schemas.microsoft.com/office/drawing/2014/main" id="{743FF068-0568-E1BB-0EE6-CF4152831699}"/>
              </a:ext>
            </a:extLst>
          </p:cNvPr>
          <p:cNvSpPr>
            <a:spLocks noChangeShapeType="1"/>
          </p:cNvSpPr>
          <p:nvPr/>
        </p:nvSpPr>
        <p:spPr bwMode="auto">
          <a:xfrm flipV="1">
            <a:off x="4542592" y="3429000"/>
            <a:ext cx="3385868" cy="2629"/>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7" name="Line 44">
            <a:extLst>
              <a:ext uri="{FF2B5EF4-FFF2-40B4-BE49-F238E27FC236}">
                <a16:creationId xmlns:a16="http://schemas.microsoft.com/office/drawing/2014/main" id="{2480C189-09F8-60AD-D208-622440F1E9E0}"/>
              </a:ext>
            </a:extLst>
          </p:cNvPr>
          <p:cNvSpPr>
            <a:spLocks noChangeShapeType="1"/>
          </p:cNvSpPr>
          <p:nvPr/>
        </p:nvSpPr>
        <p:spPr bwMode="auto">
          <a:xfrm flipV="1">
            <a:off x="6706819" y="3284925"/>
            <a:ext cx="2814825" cy="2630"/>
          </a:xfrm>
          <a:prstGeom prst="line">
            <a:avLst/>
          </a:prstGeom>
          <a:noFill/>
          <a:ln w="317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802171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2E56B3-3A1E-CFD6-5F5B-8EC5A09BCC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3A0601-ECE3-CA5A-B0E8-3340F7C2772D}"/>
              </a:ext>
            </a:extLst>
          </p:cNvPr>
          <p:cNvSpPr>
            <a:spLocks noGrp="1"/>
          </p:cNvSpPr>
          <p:nvPr>
            <p:ph type="title"/>
          </p:nvPr>
        </p:nvSpPr>
        <p:spPr/>
        <p:txBody>
          <a:bodyPr>
            <a:normAutofit fontScale="90000"/>
          </a:bodyPr>
          <a:lstStyle/>
          <a:p>
            <a:r>
              <a:rPr lang="en-US" dirty="0"/>
              <a:t>Types of sequencing reads</a:t>
            </a:r>
          </a:p>
        </p:txBody>
      </p:sp>
      <p:sp>
        <p:nvSpPr>
          <p:cNvPr id="3" name="Content Placeholder 2">
            <a:extLst>
              <a:ext uri="{FF2B5EF4-FFF2-40B4-BE49-F238E27FC236}">
                <a16:creationId xmlns:a16="http://schemas.microsoft.com/office/drawing/2014/main" id="{4D7408DF-5EAD-F0A6-0F69-2EA50B975E8F}"/>
              </a:ext>
            </a:extLst>
          </p:cNvPr>
          <p:cNvSpPr>
            <a:spLocks noGrp="1"/>
          </p:cNvSpPr>
          <p:nvPr>
            <p:ph idx="1"/>
          </p:nvPr>
        </p:nvSpPr>
        <p:spPr>
          <a:xfrm>
            <a:off x="598620" y="1596540"/>
            <a:ext cx="10972800" cy="1807235"/>
          </a:xfrm>
        </p:spPr>
        <p:txBody>
          <a:bodyPr>
            <a:normAutofit/>
          </a:bodyPr>
          <a:lstStyle/>
          <a:p>
            <a:r>
              <a:rPr lang="en-US" dirty="0"/>
              <a:t>Proximity ligation or Hi-C libraries</a:t>
            </a:r>
          </a:p>
          <a:p>
            <a:pPr lvl="1"/>
            <a:r>
              <a:rPr lang="en-US" dirty="0"/>
              <a:t>Sequenced with paired-end Illumina</a:t>
            </a:r>
          </a:p>
          <a:p>
            <a:pPr lvl="1"/>
            <a:endParaRPr lang="en-US" dirty="0"/>
          </a:p>
        </p:txBody>
      </p:sp>
      <p:sp>
        <p:nvSpPr>
          <p:cNvPr id="4" name="Slide Number Placeholder 3">
            <a:extLst>
              <a:ext uri="{FF2B5EF4-FFF2-40B4-BE49-F238E27FC236}">
                <a16:creationId xmlns:a16="http://schemas.microsoft.com/office/drawing/2014/main" id="{04103DD5-549F-1D56-785D-A310F7E47EB9}"/>
              </a:ext>
            </a:extLst>
          </p:cNvPr>
          <p:cNvSpPr>
            <a:spLocks noGrp="1"/>
          </p:cNvSpPr>
          <p:nvPr>
            <p:ph type="sldNum" sz="quarter" idx="12"/>
          </p:nvPr>
        </p:nvSpPr>
        <p:spPr/>
        <p:txBody>
          <a:bodyPr/>
          <a:lstStyle/>
          <a:p>
            <a:fld id="{B82CCC60-E8CD-4174-8B1A-7DF615B22EEF}" type="slidenum">
              <a:rPr lang="en-US" smtClean="0"/>
              <a:pPr/>
              <a:t>63</a:t>
            </a:fld>
            <a:endParaRPr lang="en-US"/>
          </a:p>
        </p:txBody>
      </p:sp>
      <p:pic>
        <p:nvPicPr>
          <p:cNvPr id="5" name="Picture 4">
            <a:extLst>
              <a:ext uri="{FF2B5EF4-FFF2-40B4-BE49-F238E27FC236}">
                <a16:creationId xmlns:a16="http://schemas.microsoft.com/office/drawing/2014/main" id="{BF679A4C-87A3-1946-6AEB-E4008AE6FC90}"/>
              </a:ext>
            </a:extLst>
          </p:cNvPr>
          <p:cNvPicPr>
            <a:picLocks noChangeAspect="1"/>
          </p:cNvPicPr>
          <p:nvPr/>
        </p:nvPicPr>
        <p:blipFill>
          <a:blip r:embed="rId2"/>
          <a:stretch>
            <a:fillRect/>
          </a:stretch>
        </p:blipFill>
        <p:spPr>
          <a:xfrm>
            <a:off x="3041900" y="3221213"/>
            <a:ext cx="6727923" cy="2579037"/>
          </a:xfrm>
          <a:prstGeom prst="rect">
            <a:avLst/>
          </a:prstGeom>
        </p:spPr>
      </p:pic>
      <p:sp>
        <p:nvSpPr>
          <p:cNvPr id="6" name="TextBox 5">
            <a:extLst>
              <a:ext uri="{FF2B5EF4-FFF2-40B4-BE49-F238E27FC236}">
                <a16:creationId xmlns:a16="http://schemas.microsoft.com/office/drawing/2014/main" id="{56C1CF9B-798C-1881-7DBF-8ABF7A6359A3}"/>
              </a:ext>
            </a:extLst>
          </p:cNvPr>
          <p:cNvSpPr txBox="1"/>
          <p:nvPr/>
        </p:nvSpPr>
        <p:spPr>
          <a:xfrm>
            <a:off x="1022136" y="5800250"/>
            <a:ext cx="8747687" cy="738664"/>
          </a:xfrm>
          <a:prstGeom prst="rect">
            <a:avLst/>
          </a:prstGeom>
          <a:noFill/>
        </p:spPr>
        <p:txBody>
          <a:bodyPr wrap="square" rtlCol="0">
            <a:spAutoFit/>
          </a:bodyPr>
          <a:lstStyle/>
          <a:p>
            <a:r>
              <a:rPr lang="en-US" sz="1400" dirty="0"/>
              <a:t>Images from: Van </a:t>
            </a:r>
            <a:r>
              <a:rPr lang="en-US" sz="1400" dirty="0" err="1"/>
              <a:t>Berkum</a:t>
            </a:r>
            <a:r>
              <a:rPr lang="en-US" sz="1400" dirty="0"/>
              <a:t> NL, Lieberman-Aiden E, Williams L, </a:t>
            </a:r>
            <a:r>
              <a:rPr lang="en-US" sz="1400" dirty="0" err="1"/>
              <a:t>Imakaev</a:t>
            </a:r>
            <a:r>
              <a:rPr lang="en-US" sz="1400" dirty="0"/>
              <a:t> M, </a:t>
            </a:r>
            <a:r>
              <a:rPr lang="en-US" sz="1400" dirty="0" err="1"/>
              <a:t>Gnirke</a:t>
            </a:r>
            <a:r>
              <a:rPr lang="en-US" sz="1400" dirty="0"/>
              <a:t> A, </a:t>
            </a:r>
            <a:r>
              <a:rPr lang="en-US" sz="1400" dirty="0" err="1"/>
              <a:t>Mirny</a:t>
            </a:r>
            <a:r>
              <a:rPr lang="en-US" sz="1400" dirty="0"/>
              <a:t> LA, Dekker J, Lander ES. Hi-C: a method to study the three-dimensional architecture of genomes. Journal of visualized experiments: </a:t>
            </a:r>
            <a:r>
              <a:rPr lang="en-US" sz="1400" dirty="0" err="1"/>
              <a:t>JoVE</a:t>
            </a:r>
            <a:r>
              <a:rPr lang="en-US" sz="1400" dirty="0"/>
              <a:t>. 2010(39).</a:t>
            </a:r>
          </a:p>
        </p:txBody>
      </p:sp>
      <p:pic>
        <p:nvPicPr>
          <p:cNvPr id="7" name="Picture 6">
            <a:extLst>
              <a:ext uri="{FF2B5EF4-FFF2-40B4-BE49-F238E27FC236}">
                <a16:creationId xmlns:a16="http://schemas.microsoft.com/office/drawing/2014/main" id="{56568E82-6581-88A7-87D8-1A27C11FC61A}"/>
              </a:ext>
            </a:extLst>
          </p:cNvPr>
          <p:cNvPicPr>
            <a:picLocks noChangeAspect="1"/>
          </p:cNvPicPr>
          <p:nvPr/>
        </p:nvPicPr>
        <p:blipFill rotWithShape="1">
          <a:blip r:embed="rId3"/>
          <a:srcRect l="9639" b="1659"/>
          <a:stretch/>
        </p:blipFill>
        <p:spPr>
          <a:xfrm>
            <a:off x="1109421" y="3696288"/>
            <a:ext cx="1519609" cy="1479196"/>
          </a:xfrm>
          <a:prstGeom prst="rect">
            <a:avLst/>
          </a:prstGeom>
        </p:spPr>
      </p:pic>
      <p:sp>
        <p:nvSpPr>
          <p:cNvPr id="8" name="Arrow: Right 7">
            <a:extLst>
              <a:ext uri="{FF2B5EF4-FFF2-40B4-BE49-F238E27FC236}">
                <a16:creationId xmlns:a16="http://schemas.microsoft.com/office/drawing/2014/main" id="{97B52045-EF40-EC51-8089-A9E28EDBA4EB}"/>
              </a:ext>
            </a:extLst>
          </p:cNvPr>
          <p:cNvSpPr/>
          <p:nvPr/>
        </p:nvSpPr>
        <p:spPr>
          <a:xfrm>
            <a:off x="2696342" y="4423447"/>
            <a:ext cx="278246" cy="1745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40695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19A80-DEE3-11ED-0BBA-06971B497C05}"/>
              </a:ext>
            </a:extLst>
          </p:cNvPr>
          <p:cNvSpPr>
            <a:spLocks noGrp="1"/>
          </p:cNvSpPr>
          <p:nvPr>
            <p:ph type="title"/>
          </p:nvPr>
        </p:nvSpPr>
        <p:spPr/>
        <p:txBody>
          <a:bodyPr>
            <a:normAutofit fontScale="90000"/>
          </a:bodyPr>
          <a:lstStyle/>
          <a:p>
            <a:r>
              <a:rPr lang="en-US" dirty="0"/>
              <a:t>Coverage</a:t>
            </a:r>
          </a:p>
        </p:txBody>
      </p:sp>
      <p:sp>
        <p:nvSpPr>
          <p:cNvPr id="3" name="Content Placeholder 2">
            <a:extLst>
              <a:ext uri="{FF2B5EF4-FFF2-40B4-BE49-F238E27FC236}">
                <a16:creationId xmlns:a16="http://schemas.microsoft.com/office/drawing/2014/main" id="{74AF87CA-3AD8-3DF7-8817-83A106DB1868}"/>
              </a:ext>
            </a:extLst>
          </p:cNvPr>
          <p:cNvSpPr>
            <a:spLocks noGrp="1"/>
          </p:cNvSpPr>
          <p:nvPr>
            <p:ph idx="1"/>
          </p:nvPr>
        </p:nvSpPr>
        <p:spPr>
          <a:xfrm>
            <a:off x="598620" y="1596540"/>
            <a:ext cx="10972800" cy="4581150"/>
          </a:xfrm>
        </p:spPr>
        <p:txBody>
          <a:bodyPr/>
          <a:lstStyle/>
          <a:p>
            <a:r>
              <a:rPr lang="en-US" dirty="0"/>
              <a:t>Coverage refers to redundancy in sequencing data</a:t>
            </a:r>
          </a:p>
          <a:p>
            <a:endParaRPr lang="en-US" dirty="0"/>
          </a:p>
          <a:p>
            <a:pPr marL="0" indent="0">
              <a:buNone/>
            </a:pPr>
            <a:endParaRPr lang="en-US" dirty="0"/>
          </a:p>
          <a:p>
            <a:pPr marL="0" indent="0">
              <a:buNone/>
            </a:pPr>
            <a:endParaRPr lang="en-US" dirty="0"/>
          </a:p>
          <a:p>
            <a:r>
              <a:rPr lang="en-US" dirty="0"/>
              <a:t>Commonly expressed as &lt;number&gt;x, such as 20x, 30x, etc.</a:t>
            </a:r>
          </a:p>
          <a:p>
            <a:r>
              <a:rPr lang="en-US" dirty="0"/>
              <a:t>For paired reads one can compute coverage by reads and coverage by fragments</a:t>
            </a:r>
          </a:p>
        </p:txBody>
      </p:sp>
      <p:sp>
        <p:nvSpPr>
          <p:cNvPr id="4" name="Slide Number Placeholder 3">
            <a:extLst>
              <a:ext uri="{FF2B5EF4-FFF2-40B4-BE49-F238E27FC236}">
                <a16:creationId xmlns:a16="http://schemas.microsoft.com/office/drawing/2014/main" id="{BF71E63A-3D50-CEAD-75C4-C2A2CB8E0E8A}"/>
              </a:ext>
            </a:extLst>
          </p:cNvPr>
          <p:cNvSpPr>
            <a:spLocks noGrp="1"/>
          </p:cNvSpPr>
          <p:nvPr>
            <p:ph type="sldNum" sz="quarter" idx="12"/>
          </p:nvPr>
        </p:nvSpPr>
        <p:spPr/>
        <p:txBody>
          <a:bodyPr/>
          <a:lstStyle/>
          <a:p>
            <a:fld id="{B82CCC60-E8CD-4174-8B1A-7DF615B22EEF}" type="slidenum">
              <a:rPr lang="en-US" smtClean="0"/>
              <a:pPr/>
              <a:t>64</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73A9656-DBFE-E5C5-498B-48FA624C49E0}"/>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pt-BR" sz="280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dirty="0"/>
              </a:p>
            </p:txBody>
          </p:sp>
        </mc:Choice>
        <mc:Fallback xmlns="">
          <p:sp>
            <p:nvSpPr>
              <p:cNvPr id="5" name="TextBox 4">
                <a:extLst>
                  <a:ext uri="{FF2B5EF4-FFF2-40B4-BE49-F238E27FC236}">
                    <a16:creationId xmlns:a16="http://schemas.microsoft.com/office/drawing/2014/main" id="{273A9656-DBFE-E5C5-498B-48FA624C49E0}"/>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FBCD581B-2002-877D-E331-B25CB9A41BBF}"/>
              </a:ext>
            </a:extLst>
          </p:cNvPr>
          <p:cNvSpPr txBox="1"/>
          <p:nvPr/>
        </p:nvSpPr>
        <p:spPr>
          <a:xfrm>
            <a:off x="2657881" y="5620689"/>
            <a:ext cx="6096000" cy="646331"/>
          </a:xfrm>
          <a:prstGeom prst="rect">
            <a:avLst/>
          </a:prstGeom>
          <a:noFill/>
        </p:spPr>
        <p:txBody>
          <a:bodyPr wrap="square">
            <a:spAutoFit/>
          </a:bodyPr>
          <a:lstStyle/>
          <a:p>
            <a:r>
              <a:rPr lang="en-US" b="1" dirty="0">
                <a:solidFill>
                  <a:srgbClr val="00B050"/>
                </a:solidFill>
                <a:latin typeface="Courier New" panose="02070309020205020404" pitchFamily="49" charset="0"/>
                <a:cs typeface="Courier New" panose="02070309020205020404" pitchFamily="49" charset="0"/>
              </a:rPr>
              <a:t>AGATAGACATA</a:t>
            </a:r>
            <a:r>
              <a:rPr lang="en-US" b="1" dirty="0">
                <a:latin typeface="Courier New" panose="02070309020205020404" pitchFamily="49" charset="0"/>
                <a:cs typeface="Courier New" panose="02070309020205020404" pitchFamily="49" charset="0"/>
              </a:rPr>
              <a:t>GACATAGACAGATACACTCGATCG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TCTATCTGTATCTGTATCTGTCTA</a:t>
            </a:r>
            <a:r>
              <a:rPr lang="en-US" b="1" dirty="0">
                <a:solidFill>
                  <a:srgbClr val="00B050"/>
                </a:solidFill>
                <a:latin typeface="Courier New" panose="02070309020205020404" pitchFamily="49" charset="0"/>
                <a:cs typeface="Courier New" panose="02070309020205020404" pitchFamily="49" charset="0"/>
              </a:rPr>
              <a:t>TGTGAGCTAGC</a:t>
            </a:r>
            <a:endParaRPr lang="en-US" dirty="0"/>
          </a:p>
        </p:txBody>
      </p:sp>
      <p:sp>
        <p:nvSpPr>
          <p:cNvPr id="8" name="Left Brace 7">
            <a:extLst>
              <a:ext uri="{FF2B5EF4-FFF2-40B4-BE49-F238E27FC236}">
                <a16:creationId xmlns:a16="http://schemas.microsoft.com/office/drawing/2014/main" id="{752CD054-8EBA-5F1F-AE2A-84D2BC9F2A84}"/>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B840AA88-FA32-29E5-0291-A68278E7A18D}"/>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47F31FE-94E4-39B7-0672-8135E2B5526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3C75F75-91CB-E414-4580-24BFE64BC68B}"/>
              </a:ext>
            </a:extLst>
          </p:cNvPr>
          <p:cNvSpPr txBox="1"/>
          <p:nvPr/>
        </p:nvSpPr>
        <p:spPr>
          <a:xfrm>
            <a:off x="3197865" y="5226913"/>
            <a:ext cx="609654" cy="369332"/>
          </a:xfrm>
          <a:prstGeom prst="rect">
            <a:avLst/>
          </a:prstGeom>
          <a:noFill/>
        </p:spPr>
        <p:txBody>
          <a:bodyPr wrap="none" rtlCol="0">
            <a:spAutoFit/>
          </a:bodyPr>
          <a:lstStyle/>
          <a:p>
            <a:r>
              <a:rPr lang="en-US" dirty="0"/>
              <a:t>read</a:t>
            </a:r>
          </a:p>
        </p:txBody>
      </p:sp>
      <p:sp>
        <p:nvSpPr>
          <p:cNvPr id="12" name="TextBox 11">
            <a:extLst>
              <a:ext uri="{FF2B5EF4-FFF2-40B4-BE49-F238E27FC236}">
                <a16:creationId xmlns:a16="http://schemas.microsoft.com/office/drawing/2014/main" id="{D20018FA-C769-2D8E-345E-AA87B68DC879}"/>
              </a:ext>
            </a:extLst>
          </p:cNvPr>
          <p:cNvSpPr txBox="1"/>
          <p:nvPr/>
        </p:nvSpPr>
        <p:spPr>
          <a:xfrm>
            <a:off x="6478345" y="6273425"/>
            <a:ext cx="609654" cy="369332"/>
          </a:xfrm>
          <a:prstGeom prst="rect">
            <a:avLst/>
          </a:prstGeom>
          <a:noFill/>
        </p:spPr>
        <p:txBody>
          <a:bodyPr wrap="none" rtlCol="0">
            <a:spAutoFit/>
          </a:bodyPr>
          <a:lstStyle/>
          <a:p>
            <a:r>
              <a:rPr lang="en-US" dirty="0"/>
              <a:t>read</a:t>
            </a:r>
          </a:p>
        </p:txBody>
      </p:sp>
      <p:sp>
        <p:nvSpPr>
          <p:cNvPr id="13" name="TextBox 12">
            <a:extLst>
              <a:ext uri="{FF2B5EF4-FFF2-40B4-BE49-F238E27FC236}">
                <a16:creationId xmlns:a16="http://schemas.microsoft.com/office/drawing/2014/main" id="{EDD9DB94-0449-E0D4-8A96-2C22C9C276EF}"/>
              </a:ext>
            </a:extLst>
          </p:cNvPr>
          <p:cNvSpPr txBox="1"/>
          <p:nvPr/>
        </p:nvSpPr>
        <p:spPr>
          <a:xfrm>
            <a:off x="4208401" y="4803406"/>
            <a:ext cx="1891415" cy="369332"/>
          </a:xfrm>
          <a:prstGeom prst="rect">
            <a:avLst/>
          </a:prstGeom>
          <a:noFill/>
        </p:spPr>
        <p:txBody>
          <a:bodyPr wrap="none" rtlCol="0">
            <a:spAutoFit/>
          </a:bodyPr>
          <a:lstStyle/>
          <a:p>
            <a:r>
              <a:rPr lang="en-US" dirty="0"/>
              <a:t>fragment or insert</a:t>
            </a:r>
          </a:p>
        </p:txBody>
      </p:sp>
    </p:spTree>
    <p:extLst>
      <p:ext uri="{BB962C8B-B14F-4D97-AF65-F5344CB8AC3E}">
        <p14:creationId xmlns:p14="http://schemas.microsoft.com/office/powerpoint/2010/main" val="38128875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14034-77D8-022E-B2A3-D14410BC1C97}"/>
              </a:ext>
            </a:extLst>
          </p:cNvPr>
          <p:cNvSpPr>
            <a:spLocks noGrp="1"/>
          </p:cNvSpPr>
          <p:nvPr>
            <p:ph type="title"/>
          </p:nvPr>
        </p:nvSpPr>
        <p:spPr/>
        <p:txBody>
          <a:bodyPr>
            <a:normAutofit fontScale="90000"/>
          </a:bodyPr>
          <a:lstStyle/>
          <a:p>
            <a:r>
              <a:rPr lang="en-US" dirty="0"/>
              <a:t>Choosing the right sequencing strategy</a:t>
            </a:r>
          </a:p>
        </p:txBody>
      </p:sp>
      <p:sp>
        <p:nvSpPr>
          <p:cNvPr id="3" name="Content Placeholder 2">
            <a:extLst>
              <a:ext uri="{FF2B5EF4-FFF2-40B4-BE49-F238E27FC236}">
                <a16:creationId xmlns:a16="http://schemas.microsoft.com/office/drawing/2014/main" id="{F5550D82-A995-BF41-1C15-0A803F5DE1B0}"/>
              </a:ext>
            </a:extLst>
          </p:cNvPr>
          <p:cNvSpPr>
            <a:spLocks noGrp="1"/>
          </p:cNvSpPr>
          <p:nvPr>
            <p:ph idx="1"/>
          </p:nvPr>
        </p:nvSpPr>
        <p:spPr>
          <a:xfrm>
            <a:off x="598620" y="1596540"/>
            <a:ext cx="10972800" cy="4886560"/>
          </a:xfrm>
        </p:spPr>
        <p:txBody>
          <a:bodyPr>
            <a:normAutofit/>
          </a:bodyPr>
          <a:lstStyle/>
          <a:p>
            <a:r>
              <a:rPr lang="en-US" dirty="0"/>
              <a:t>The right sequencing strategy depends on your budget and availability of sequencing services</a:t>
            </a:r>
          </a:p>
          <a:p>
            <a:r>
              <a:rPr lang="en-US" dirty="0"/>
              <a:t>The simplest strategy: get 20-30x genome coverage with PacBio HiFi reads</a:t>
            </a:r>
          </a:p>
          <a:p>
            <a:r>
              <a:rPr lang="en-US" dirty="0"/>
              <a:t>Alternative strategy: get 30-40x genome coverage with Oxford Nanopore reads + 30-50x coverage with Illumina reads</a:t>
            </a:r>
          </a:p>
          <a:p>
            <a:pPr lvl="1"/>
            <a:r>
              <a:rPr lang="en-US" dirty="0"/>
              <a:t>Perform hybrid assembly</a:t>
            </a:r>
          </a:p>
          <a:p>
            <a:pPr lvl="1"/>
            <a:r>
              <a:rPr lang="en-US" dirty="0"/>
              <a:t>Assemble ONT reads and then polish with Illumina</a:t>
            </a:r>
          </a:p>
          <a:p>
            <a:r>
              <a:rPr lang="en-US" dirty="0"/>
              <a:t>For chromosome-sized scaffolds you may need </a:t>
            </a:r>
            <a:r>
              <a:rPr lang="en-US" dirty="0" err="1"/>
              <a:t>HiC</a:t>
            </a:r>
            <a:r>
              <a:rPr lang="en-US" dirty="0"/>
              <a:t> reads</a:t>
            </a:r>
          </a:p>
        </p:txBody>
      </p:sp>
      <p:sp>
        <p:nvSpPr>
          <p:cNvPr id="4" name="Slide Number Placeholder 3">
            <a:extLst>
              <a:ext uri="{FF2B5EF4-FFF2-40B4-BE49-F238E27FC236}">
                <a16:creationId xmlns:a16="http://schemas.microsoft.com/office/drawing/2014/main" id="{DE842988-3176-633E-3FFF-D38CBE6FFE00}"/>
              </a:ext>
            </a:extLst>
          </p:cNvPr>
          <p:cNvSpPr>
            <a:spLocks noGrp="1"/>
          </p:cNvSpPr>
          <p:nvPr>
            <p:ph type="sldNum" sz="quarter" idx="12"/>
          </p:nvPr>
        </p:nvSpPr>
        <p:spPr/>
        <p:txBody>
          <a:bodyPr/>
          <a:lstStyle/>
          <a:p>
            <a:fld id="{B82CCC60-E8CD-4174-8B1A-7DF615B22EEF}" type="slidenum">
              <a:rPr lang="en-US" smtClean="0"/>
              <a:pPr/>
              <a:t>65</a:t>
            </a:fld>
            <a:endParaRPr lang="en-US"/>
          </a:p>
        </p:txBody>
      </p:sp>
    </p:spTree>
    <p:extLst>
      <p:ext uri="{BB962C8B-B14F-4D97-AF65-F5344CB8AC3E}">
        <p14:creationId xmlns:p14="http://schemas.microsoft.com/office/powerpoint/2010/main" val="592540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DD977-6EE8-9D89-B3CF-756386D5A8B4}"/>
              </a:ext>
            </a:extLst>
          </p:cNvPr>
          <p:cNvSpPr>
            <a:spLocks noGrp="1"/>
          </p:cNvSpPr>
          <p:nvPr>
            <p:ph type="title"/>
          </p:nvPr>
        </p:nvSpPr>
        <p:spPr/>
        <p:txBody>
          <a:bodyPr>
            <a:normAutofit fontScale="90000"/>
          </a:bodyPr>
          <a:lstStyle/>
          <a:p>
            <a:r>
              <a:rPr lang="en-US" dirty="0"/>
              <a:t>General genome assembly paradigms</a:t>
            </a:r>
          </a:p>
        </p:txBody>
      </p:sp>
      <p:sp>
        <p:nvSpPr>
          <p:cNvPr id="3" name="Content Placeholder 2">
            <a:extLst>
              <a:ext uri="{FF2B5EF4-FFF2-40B4-BE49-F238E27FC236}">
                <a16:creationId xmlns:a16="http://schemas.microsoft.com/office/drawing/2014/main" id="{CF45A9EB-82AE-BB09-E9ED-90F86F12A45E}"/>
              </a:ext>
            </a:extLst>
          </p:cNvPr>
          <p:cNvSpPr>
            <a:spLocks noGrp="1"/>
          </p:cNvSpPr>
          <p:nvPr>
            <p:ph idx="1"/>
          </p:nvPr>
        </p:nvSpPr>
        <p:spPr>
          <a:xfrm>
            <a:off x="598620" y="1787987"/>
            <a:ext cx="10972800" cy="1641014"/>
          </a:xfrm>
        </p:spPr>
        <p:txBody>
          <a:bodyPr>
            <a:normAutofit fontScale="92500"/>
          </a:bodyPr>
          <a:lstStyle/>
          <a:p>
            <a:r>
              <a:rPr lang="en-US" dirty="0"/>
              <a:t>Overlap – compute overlaps between reads based on sequence alignments</a:t>
            </a:r>
          </a:p>
          <a:p>
            <a:r>
              <a:rPr lang="en-US" dirty="0"/>
              <a:t>Layout – produce a graph of overlapping reads, find linear paths</a:t>
            </a:r>
          </a:p>
          <a:p>
            <a:r>
              <a:rPr lang="en-US" dirty="0"/>
              <a:t>Consensus – generate contig sequences</a:t>
            </a:r>
          </a:p>
        </p:txBody>
      </p:sp>
      <p:sp>
        <p:nvSpPr>
          <p:cNvPr id="4" name="Slide Number Placeholder 3">
            <a:extLst>
              <a:ext uri="{FF2B5EF4-FFF2-40B4-BE49-F238E27FC236}">
                <a16:creationId xmlns:a16="http://schemas.microsoft.com/office/drawing/2014/main" id="{ADF78F64-ED1E-2680-64C7-C2BBA56F05B7}"/>
              </a:ext>
            </a:extLst>
          </p:cNvPr>
          <p:cNvSpPr>
            <a:spLocks noGrp="1"/>
          </p:cNvSpPr>
          <p:nvPr>
            <p:ph type="sldNum" sz="quarter" idx="12"/>
          </p:nvPr>
        </p:nvSpPr>
        <p:spPr/>
        <p:txBody>
          <a:bodyPr/>
          <a:lstStyle/>
          <a:p>
            <a:fld id="{B82CCC60-E8CD-4174-8B1A-7DF615B22EEF}" type="slidenum">
              <a:rPr lang="en-US" smtClean="0"/>
              <a:pPr/>
              <a:t>66</a:t>
            </a:fld>
            <a:endParaRPr lang="en-US"/>
          </a:p>
        </p:txBody>
      </p:sp>
      <p:pic>
        <p:nvPicPr>
          <p:cNvPr id="6" name="Picture 5">
            <a:extLst>
              <a:ext uri="{FF2B5EF4-FFF2-40B4-BE49-F238E27FC236}">
                <a16:creationId xmlns:a16="http://schemas.microsoft.com/office/drawing/2014/main" id="{E6035770-7805-C415-05BF-3CEB5066A3AE}"/>
              </a:ext>
            </a:extLst>
          </p:cNvPr>
          <p:cNvPicPr>
            <a:picLocks noChangeAspect="1"/>
          </p:cNvPicPr>
          <p:nvPr/>
        </p:nvPicPr>
        <p:blipFill>
          <a:blip r:embed="rId2"/>
          <a:stretch>
            <a:fillRect/>
          </a:stretch>
        </p:blipFill>
        <p:spPr>
          <a:xfrm>
            <a:off x="904030" y="3230597"/>
            <a:ext cx="9469171" cy="3677163"/>
          </a:xfrm>
          <a:prstGeom prst="rect">
            <a:avLst/>
          </a:prstGeom>
        </p:spPr>
      </p:pic>
      <p:sp>
        <p:nvSpPr>
          <p:cNvPr id="7" name="Rectangle 6">
            <a:extLst>
              <a:ext uri="{FF2B5EF4-FFF2-40B4-BE49-F238E27FC236}">
                <a16:creationId xmlns:a16="http://schemas.microsoft.com/office/drawing/2014/main" id="{ADF4ED00-9BC0-3ACF-C7D1-E05150A5391D}"/>
              </a:ext>
            </a:extLst>
          </p:cNvPr>
          <p:cNvSpPr/>
          <p:nvPr/>
        </p:nvSpPr>
        <p:spPr>
          <a:xfrm>
            <a:off x="904030" y="3581705"/>
            <a:ext cx="763525"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1A21602-2F0D-7CC9-7E91-0D74D52C85B3}"/>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44C91C7-C900-0B04-5E1F-796CAE63A6CB}"/>
              </a:ext>
            </a:extLst>
          </p:cNvPr>
          <p:cNvSpPr txBox="1"/>
          <p:nvPr/>
        </p:nvSpPr>
        <p:spPr>
          <a:xfrm>
            <a:off x="8831976" y="6368011"/>
            <a:ext cx="2254528" cy="369332"/>
          </a:xfrm>
          <a:prstGeom prst="rect">
            <a:avLst/>
          </a:prstGeom>
          <a:noFill/>
        </p:spPr>
        <p:txBody>
          <a:bodyPr wrap="none" rtlCol="0">
            <a:spAutoFit/>
          </a:bodyPr>
          <a:lstStyle/>
          <a:p>
            <a:r>
              <a:rPr lang="en-US" dirty="0"/>
              <a:t>Chaisson et al., (2015)</a:t>
            </a:r>
          </a:p>
        </p:txBody>
      </p:sp>
    </p:spTree>
    <p:extLst>
      <p:ext uri="{BB962C8B-B14F-4D97-AF65-F5344CB8AC3E}">
        <p14:creationId xmlns:p14="http://schemas.microsoft.com/office/powerpoint/2010/main" val="42333096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826F81-C0D3-FA5A-B14B-5B2BD1635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FF7279-AF34-7671-2C30-1F8CDF1A031B}"/>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F5524EB8-D864-A4F1-14CF-2B13AFC2C8F0}"/>
              </a:ext>
            </a:extLst>
          </p:cNvPr>
          <p:cNvSpPr>
            <a:spLocks noGrp="1"/>
          </p:cNvSpPr>
          <p:nvPr>
            <p:ph idx="1"/>
          </p:nvPr>
        </p:nvSpPr>
        <p:spPr>
          <a:xfrm>
            <a:off x="598620" y="1787986"/>
            <a:ext cx="10972800" cy="4389704"/>
          </a:xfrm>
        </p:spPr>
        <p:txBody>
          <a:bodyPr>
            <a:normAutofit fontScale="70000" lnSpcReduction="20000"/>
          </a:bodyPr>
          <a:lstStyle/>
          <a:p>
            <a:r>
              <a:rPr lang="en-US" dirty="0"/>
              <a:t>Break reads into overlapping k-</a:t>
            </a:r>
            <a:r>
              <a:rPr lang="en-US" dirty="0" err="1"/>
              <a:t>mers</a:t>
            </a:r>
            <a:r>
              <a:rPr lang="en-US" dirty="0"/>
              <a:t> of fixed length K</a:t>
            </a:r>
          </a:p>
          <a:p>
            <a:pPr lvl="1"/>
            <a:r>
              <a:rPr lang="en-US" dirty="0" err="1"/>
              <a:t>e.g</a:t>
            </a:r>
            <a:r>
              <a:rPr lang="en-US" dirty="0"/>
              <a:t> K=5</a:t>
            </a:r>
            <a:br>
              <a:rPr lang="en-US" dirty="0"/>
            </a:br>
            <a:r>
              <a:rPr lang="en-US" b="1" dirty="0">
                <a:latin typeface="Courier New" panose="02070309020205020404" pitchFamily="49" charset="0"/>
                <a:cs typeface="Courier New" panose="02070309020205020404" pitchFamily="49" charset="0"/>
              </a:rPr>
              <a:t>AGACATAGAC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AGACA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GACAT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ACATA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CATAG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ATAGA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TAGAC</a:t>
            </a:r>
          </a:p>
          <a:p>
            <a:r>
              <a:rPr lang="en-US" dirty="0">
                <a:cs typeface="Courier New" panose="02070309020205020404" pitchFamily="49" charset="0"/>
              </a:rPr>
              <a:t>Count all </a:t>
            </a:r>
            <a:r>
              <a:rPr lang="en-US" dirty="0" err="1">
                <a:cs typeface="Courier New" panose="02070309020205020404" pitchFamily="49" charset="0"/>
              </a:rPr>
              <a:t>kmers</a:t>
            </a:r>
            <a:r>
              <a:rPr lang="en-US" dirty="0">
                <a:cs typeface="Courier New" panose="02070309020205020404" pitchFamily="49" charset="0"/>
              </a:rPr>
              <a:t> in the reads, build a table of </a:t>
            </a:r>
            <a:r>
              <a:rPr lang="en-US" dirty="0" err="1">
                <a:cs typeface="Courier New" panose="02070309020205020404" pitchFamily="49" charset="0"/>
              </a:rPr>
              <a:t>kmer</a:t>
            </a:r>
            <a:r>
              <a:rPr lang="en-US" dirty="0">
                <a:cs typeface="Courier New" panose="02070309020205020404" pitchFamily="49" charset="0"/>
              </a:rPr>
              <a:t>-count</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5</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GACAT 20</a:t>
            </a:r>
          </a:p>
          <a:p>
            <a:endParaRPr lang="en-US" dirty="0">
              <a:cs typeface="Courier New" panose="02070309020205020404" pitchFamily="49" charset="0"/>
            </a:endParaRPr>
          </a:p>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p>
          <a:p>
            <a:r>
              <a:rPr lang="en-US" dirty="0">
                <a:cs typeface="Courier New" panose="02070309020205020404" pitchFamily="49" charset="0"/>
              </a:rPr>
              <a:t>Look for a linear paths through the graph</a:t>
            </a:r>
            <a:r>
              <a:rPr lang="en-US" b="1" dirty="0">
                <a:latin typeface="Courier New" panose="02070309020205020404" pitchFamily="49" charset="0"/>
                <a:cs typeface="Courier New" panose="02070309020205020404" pitchFamily="49" charset="0"/>
              </a:rPr>
              <a:t>  </a:t>
            </a:r>
          </a:p>
          <a:p>
            <a:pPr marL="457200" lvl="1" indent="0">
              <a:buNone/>
            </a:pPr>
            <a:endParaRPr lang="en-US" dirty="0"/>
          </a:p>
        </p:txBody>
      </p:sp>
      <p:sp>
        <p:nvSpPr>
          <p:cNvPr id="4" name="Slide Number Placeholder 3">
            <a:extLst>
              <a:ext uri="{FF2B5EF4-FFF2-40B4-BE49-F238E27FC236}">
                <a16:creationId xmlns:a16="http://schemas.microsoft.com/office/drawing/2014/main" id="{5012469A-ACAE-78EB-26B7-6C6BF83B8DC0}"/>
              </a:ext>
            </a:extLst>
          </p:cNvPr>
          <p:cNvSpPr>
            <a:spLocks noGrp="1"/>
          </p:cNvSpPr>
          <p:nvPr>
            <p:ph type="sldNum" sz="quarter" idx="12"/>
          </p:nvPr>
        </p:nvSpPr>
        <p:spPr/>
        <p:txBody>
          <a:bodyPr/>
          <a:lstStyle/>
          <a:p>
            <a:fld id="{B82CCC60-E8CD-4174-8B1A-7DF615B22EEF}" type="slidenum">
              <a:rPr lang="en-US" smtClean="0"/>
              <a:pPr/>
              <a:t>67</a:t>
            </a:fld>
            <a:endParaRPr lang="en-US"/>
          </a:p>
        </p:txBody>
      </p:sp>
      <p:sp>
        <p:nvSpPr>
          <p:cNvPr id="8" name="Rectangle 7">
            <a:extLst>
              <a:ext uri="{FF2B5EF4-FFF2-40B4-BE49-F238E27FC236}">
                <a16:creationId xmlns:a16="http://schemas.microsoft.com/office/drawing/2014/main" id="{C1C709E8-A71C-82F0-8670-9491683826C2}"/>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98053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FA2784-D1AF-232C-7EE5-6D3CDE4AF4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4B5A2-D3AA-0BE7-7CB4-24075236499E}"/>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A69E9641-2D54-149A-3761-4D1E708F8947}"/>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-none</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err="1">
                <a:solidFill>
                  <a:schemeClr val="bg1"/>
                </a:solidFill>
                <a:latin typeface="Courier New" panose="02070309020205020404" pitchFamily="49" charset="0"/>
                <a:cs typeface="Courier New" panose="02070309020205020404" pitchFamily="49" charset="0"/>
              </a:rPr>
              <a:t>none</a:t>
            </a:r>
            <a:r>
              <a:rPr lang="en-US" b="1" dirty="0">
                <a:solidFill>
                  <a:schemeClr val="bg1"/>
                </a:solidFill>
                <a:latin typeface="Courier New" panose="02070309020205020404" pitchFamily="49" charset="0"/>
                <a:cs typeface="Courier New" panose="02070309020205020404" pitchFamily="49" charset="0"/>
              </a:rPr>
              <a:t> C</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C</a:t>
            </a:r>
            <a:r>
              <a:rPr lang="en-US" b="1" dirty="0">
                <a:latin typeface="Courier New" panose="02070309020205020404" pitchFamily="49" charset="0"/>
                <a:cs typeface="Courier New" panose="02070309020205020404" pitchFamily="49" charset="0"/>
              </a:rPr>
              <a:t> 5</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G     </a:t>
            </a:r>
            <a:r>
              <a:rPr lang="en-US" b="1" dirty="0" err="1">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10</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15 T</a:t>
            </a:r>
            <a:r>
              <a:rPr lang="en-US" b="1" dirty="0">
                <a:latin typeface="Courier New" panose="02070309020205020404" pitchFamily="49" charset="0"/>
                <a:cs typeface="Courier New" panose="02070309020205020404" pitchFamily="49" charset="0"/>
              </a:rPr>
              <a:t>     </a:t>
            </a:r>
            <a:r>
              <a:rPr lang="en-US" b="1" dirty="0" err="1">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-none</a:t>
            </a: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EC8ACFE7-13D5-AEDD-067B-2790D3517691}"/>
              </a:ext>
            </a:extLst>
          </p:cNvPr>
          <p:cNvSpPr>
            <a:spLocks noGrp="1"/>
          </p:cNvSpPr>
          <p:nvPr>
            <p:ph type="sldNum" sz="quarter" idx="12"/>
          </p:nvPr>
        </p:nvSpPr>
        <p:spPr/>
        <p:txBody>
          <a:bodyPr/>
          <a:lstStyle/>
          <a:p>
            <a:fld id="{B82CCC60-E8CD-4174-8B1A-7DF615B22EEF}" type="slidenum">
              <a:rPr lang="en-US" smtClean="0"/>
              <a:pPr/>
              <a:t>68</a:t>
            </a:fld>
            <a:endParaRPr lang="en-US"/>
          </a:p>
        </p:txBody>
      </p:sp>
      <p:sp>
        <p:nvSpPr>
          <p:cNvPr id="8" name="Rectangle 7">
            <a:extLst>
              <a:ext uri="{FF2B5EF4-FFF2-40B4-BE49-F238E27FC236}">
                <a16:creationId xmlns:a16="http://schemas.microsoft.com/office/drawing/2014/main" id="{A3FB68D5-6DAF-1CA7-3CC0-C4EE61C2BFB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0741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711F1F-55A4-2922-C733-FCA004FE25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4C55B-E271-79DB-2624-AF209A48FA6D}"/>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1B4E86E-FFB3-6D98-728D-52FD2EEFDA8F}"/>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GACA</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solidFill>
                  <a:srgbClr val="FF0000"/>
                </a:solidFill>
                <a:latin typeface="Courier New" panose="02070309020205020404" pitchFamily="49" charset="0"/>
                <a:cs typeface="Courier New" panose="02070309020205020404" pitchFamily="49" charset="0"/>
              </a:rPr>
            </a:br>
            <a:r>
              <a:rPr lang="en-US" b="1" dirty="0">
                <a:solidFill>
                  <a:srgbClr val="FF0000"/>
                </a:solidFill>
                <a:latin typeface="Courier New" panose="02070309020205020404" pitchFamily="49" charset="0"/>
                <a:cs typeface="Courier New" panose="02070309020205020404" pitchFamily="49" charset="0"/>
              </a:rPr>
              <a:t>                            GACA</a:t>
            </a:r>
            <a:r>
              <a:rPr lang="en-US" b="1" dirty="0">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91350D6-9B46-641C-AA34-295F877B9A3F}"/>
              </a:ext>
            </a:extLst>
          </p:cNvPr>
          <p:cNvSpPr>
            <a:spLocks noGrp="1"/>
          </p:cNvSpPr>
          <p:nvPr>
            <p:ph type="sldNum" sz="quarter" idx="12"/>
          </p:nvPr>
        </p:nvSpPr>
        <p:spPr/>
        <p:txBody>
          <a:bodyPr/>
          <a:lstStyle/>
          <a:p>
            <a:fld id="{B82CCC60-E8CD-4174-8B1A-7DF615B22EEF}" type="slidenum">
              <a:rPr lang="en-US" smtClean="0"/>
              <a:pPr/>
              <a:t>69</a:t>
            </a:fld>
            <a:endParaRPr lang="en-US"/>
          </a:p>
        </p:txBody>
      </p:sp>
      <p:sp>
        <p:nvSpPr>
          <p:cNvPr id="8" name="Rectangle 7">
            <a:extLst>
              <a:ext uri="{FF2B5EF4-FFF2-40B4-BE49-F238E27FC236}">
                <a16:creationId xmlns:a16="http://schemas.microsoft.com/office/drawing/2014/main" id="{83CFE40A-C156-BD9D-9E9F-E5A7E8B3149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B922313-FE72-539C-A196-FBBC3C57F084}"/>
              </a:ext>
            </a:extLst>
          </p:cNvPr>
          <p:cNvCxnSpPr/>
          <p:nvPr/>
        </p:nvCxnSpPr>
        <p:spPr>
          <a:xfrm flipV="1">
            <a:off x="6248705" y="342900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AD8978-1D40-786D-2803-F9BDC491C34B}"/>
              </a:ext>
            </a:extLst>
          </p:cNvPr>
          <p:cNvCxnSpPr>
            <a:cxnSpLocks/>
          </p:cNvCxnSpPr>
          <p:nvPr/>
        </p:nvCxnSpPr>
        <p:spPr>
          <a:xfrm>
            <a:off x="6248705"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8042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235B961-0E49-69BD-B55F-405C43168D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02CB-75F6-0791-2719-2E3B82AE5AC9}"/>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A9A7CB8-7845-D670-3A75-C8D5266CD882}"/>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none </a:t>
            </a:r>
            <a:r>
              <a:rPr lang="en-US" b="1" dirty="0">
                <a:solidFill>
                  <a:srgbClr val="00B050"/>
                </a:solidFill>
                <a:latin typeface="Courier New" panose="02070309020205020404" pitchFamily="49" charset="0"/>
                <a:cs typeface="Courier New" panose="02070309020205020404" pitchFamily="49" charset="0"/>
              </a:rPr>
              <a:t>G</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15 </a:t>
            </a:r>
            <a:r>
              <a:rPr lang="en-US" b="1" dirty="0">
                <a:solidFill>
                  <a:srgbClr val="00B05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522D713C-A3B4-8EDE-D04B-D078C5820225}"/>
              </a:ext>
            </a:extLst>
          </p:cNvPr>
          <p:cNvSpPr>
            <a:spLocks noGrp="1"/>
          </p:cNvSpPr>
          <p:nvPr>
            <p:ph type="sldNum" sz="quarter" idx="12"/>
          </p:nvPr>
        </p:nvSpPr>
        <p:spPr/>
        <p:txBody>
          <a:bodyPr/>
          <a:lstStyle/>
          <a:p>
            <a:fld id="{B82CCC60-E8CD-4174-8B1A-7DF615B22EEF}" type="slidenum">
              <a:rPr lang="en-US" smtClean="0"/>
              <a:pPr/>
              <a:t>70</a:t>
            </a:fld>
            <a:endParaRPr lang="en-US"/>
          </a:p>
        </p:txBody>
      </p:sp>
      <p:sp>
        <p:nvSpPr>
          <p:cNvPr id="8" name="Rectangle 7">
            <a:extLst>
              <a:ext uri="{FF2B5EF4-FFF2-40B4-BE49-F238E27FC236}">
                <a16:creationId xmlns:a16="http://schemas.microsoft.com/office/drawing/2014/main" id="{A7BD51C9-FC86-2C2F-B8DD-BE70A249F183}"/>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32D26F9-6987-B9D1-9FDE-48F837756241}"/>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0E3BA5A-BE33-42AC-5AE6-308EF3008D2B}"/>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033611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5AC0EA3-3246-3BCD-E7F0-A18DD1874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14460-8AF6-DCCA-F327-079A70A82293}"/>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B416C881-2F85-4121-2E4F-080F9FEA57AC}"/>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T</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AGAC</a:t>
            </a:r>
            <a:r>
              <a:rPr lang="en-US" b="1" dirty="0">
                <a:solidFill>
                  <a:schemeClr val="tx1"/>
                </a:solidFill>
                <a:latin typeface="Courier New" panose="02070309020205020404" pitchFamily="49" charset="0"/>
                <a:cs typeface="Courier New" panose="02070309020205020404" pitchFamily="49" charset="0"/>
              </a:rPr>
              <a:t>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C63DE90E-4C53-0541-F51F-0624DABBB6A2}"/>
              </a:ext>
            </a:extLst>
          </p:cNvPr>
          <p:cNvSpPr>
            <a:spLocks noGrp="1"/>
          </p:cNvSpPr>
          <p:nvPr>
            <p:ph type="sldNum" sz="quarter" idx="12"/>
          </p:nvPr>
        </p:nvSpPr>
        <p:spPr/>
        <p:txBody>
          <a:bodyPr/>
          <a:lstStyle/>
          <a:p>
            <a:fld id="{B82CCC60-E8CD-4174-8B1A-7DF615B22EEF}" type="slidenum">
              <a:rPr lang="en-US" smtClean="0"/>
              <a:pPr/>
              <a:t>71</a:t>
            </a:fld>
            <a:endParaRPr lang="en-US"/>
          </a:p>
        </p:txBody>
      </p:sp>
      <p:sp>
        <p:nvSpPr>
          <p:cNvPr id="8" name="Rectangle 7">
            <a:extLst>
              <a:ext uri="{FF2B5EF4-FFF2-40B4-BE49-F238E27FC236}">
                <a16:creationId xmlns:a16="http://schemas.microsoft.com/office/drawing/2014/main" id="{CD4C1F54-F6EE-25E7-D4E3-9C3A3943FA5C}"/>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09659B81-0923-BB9E-922E-BDA747B76E0A}"/>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0715F69-82B7-C0EF-9DE4-A45C4E85F357}"/>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87A064B-0EEC-FD29-63AE-62D9DC418F40}"/>
              </a:ext>
            </a:extLst>
          </p:cNvPr>
          <p:cNvCxnSpPr>
            <a:cxnSpLocks/>
          </p:cNvCxnSpPr>
          <p:nvPr/>
        </p:nvCxnSpPr>
        <p:spPr>
          <a:xfrm flipH="1" flipV="1">
            <a:off x="4263540" y="3734410"/>
            <a:ext cx="458115" cy="36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66922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B15B7B-30BB-09EF-595D-08573FA8C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80799-2C19-59EB-CD2A-1A2A884C57B5}"/>
              </a:ext>
            </a:extLst>
          </p:cNvPr>
          <p:cNvSpPr>
            <a:spLocks noGrp="1"/>
          </p:cNvSpPr>
          <p:nvPr>
            <p:ph type="title"/>
          </p:nvPr>
        </p:nvSpPr>
        <p:spPr/>
        <p:txBody>
          <a:bodyPr>
            <a:normAutofit fontScale="90000"/>
          </a:bodyPr>
          <a:lstStyle/>
          <a:p>
            <a:r>
              <a:rPr lang="en-US" dirty="0"/>
              <a:t>DeBruijn graph</a:t>
            </a:r>
          </a:p>
        </p:txBody>
      </p:sp>
      <p:sp>
        <p:nvSpPr>
          <p:cNvPr id="3" name="Content Placeholder 2">
            <a:extLst>
              <a:ext uri="{FF2B5EF4-FFF2-40B4-BE49-F238E27FC236}">
                <a16:creationId xmlns:a16="http://schemas.microsoft.com/office/drawing/2014/main" id="{9EEF0D06-0254-9815-07E6-B888484821B3}"/>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Build k-mer graph, k-</a:t>
            </a:r>
            <a:r>
              <a:rPr lang="en-US" dirty="0" err="1">
                <a:cs typeface="Courier New" panose="02070309020205020404" pitchFamily="49" charset="0"/>
              </a:rPr>
              <a:t>mers</a:t>
            </a:r>
            <a:r>
              <a:rPr lang="en-US" dirty="0">
                <a:cs typeface="Courier New" panose="02070309020205020404" pitchFamily="49" charset="0"/>
              </a:rPr>
              <a:t> are nodes and k-1 exact overlaps are edges</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continuations in both directions</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GACAC</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TAGAC   AGACA</a:t>
            </a:r>
            <a:br>
              <a:rPr lang="en-US" b="1" dirty="0">
                <a:solidFill>
                  <a:schemeClr val="tx1"/>
                </a:solidFill>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r>
              <a:rPr lang="en-US" b="1" dirty="0">
                <a:latin typeface="Courier New" panose="02070309020205020404" pitchFamily="49" charset="0"/>
                <a:cs typeface="Courier New" panose="02070309020205020404" pitchFamily="49" charset="0"/>
              </a:rPr>
              <a:t>         GAGAG</a:t>
            </a:r>
            <a:br>
              <a:rPr lang="en-US" b="1" dirty="0">
                <a:latin typeface="Courier New" panose="02070309020205020404" pitchFamily="49" charset="0"/>
                <a:cs typeface="Courier New" panose="02070309020205020404" pitchFamily="49" charset="0"/>
              </a:rPr>
            </a:b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endParaRPr lang="en-US" dirty="0">
              <a:cs typeface="Courier New" panose="02070309020205020404" pitchFamily="49" charset="0"/>
            </a:endParaRPr>
          </a:p>
          <a:p>
            <a:r>
              <a:rPr lang="en-US" dirty="0">
                <a:cs typeface="Courier New" panose="02070309020205020404" pitchFamily="49" charset="0"/>
              </a:rPr>
              <a:t>Look for a path that visits all nodes (some nodes several times)</a:t>
            </a:r>
          </a:p>
        </p:txBody>
      </p:sp>
      <p:sp>
        <p:nvSpPr>
          <p:cNvPr id="4" name="Slide Number Placeholder 3">
            <a:extLst>
              <a:ext uri="{FF2B5EF4-FFF2-40B4-BE49-F238E27FC236}">
                <a16:creationId xmlns:a16="http://schemas.microsoft.com/office/drawing/2014/main" id="{AABA2F6F-7072-9374-2D3E-A99B56C92937}"/>
              </a:ext>
            </a:extLst>
          </p:cNvPr>
          <p:cNvSpPr>
            <a:spLocks noGrp="1"/>
          </p:cNvSpPr>
          <p:nvPr>
            <p:ph type="sldNum" sz="quarter" idx="12"/>
          </p:nvPr>
        </p:nvSpPr>
        <p:spPr/>
        <p:txBody>
          <a:bodyPr/>
          <a:lstStyle/>
          <a:p>
            <a:fld id="{B82CCC60-E8CD-4174-8B1A-7DF615B22EEF}" type="slidenum">
              <a:rPr lang="en-US" smtClean="0"/>
              <a:pPr/>
              <a:t>72</a:t>
            </a:fld>
            <a:endParaRPr lang="en-US"/>
          </a:p>
        </p:txBody>
      </p:sp>
      <p:sp>
        <p:nvSpPr>
          <p:cNvPr id="8" name="Rectangle 7">
            <a:extLst>
              <a:ext uri="{FF2B5EF4-FFF2-40B4-BE49-F238E27FC236}">
                <a16:creationId xmlns:a16="http://schemas.microsoft.com/office/drawing/2014/main" id="{DB1A138C-4170-84B5-D331-83FD35F06331}"/>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430412C3-52D2-19E6-394D-6A34FCDF5767}"/>
              </a:ext>
            </a:extLst>
          </p:cNvPr>
          <p:cNvCxnSpPr/>
          <p:nvPr/>
        </p:nvCxnSpPr>
        <p:spPr>
          <a:xfrm flipV="1">
            <a:off x="6096000" y="3432629"/>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768D5FAC-0A49-6F03-7FF3-AD7832E4A51B}"/>
              </a:ext>
            </a:extLst>
          </p:cNvPr>
          <p:cNvCxnSpPr>
            <a:cxnSpLocks/>
          </p:cNvCxnSpPr>
          <p:nvPr/>
        </p:nvCxnSpPr>
        <p:spPr>
          <a:xfrm>
            <a:off x="6085020"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F1AFCB3F-EA95-F388-66F4-CCB9EFD4AD99}"/>
              </a:ext>
            </a:extLst>
          </p:cNvPr>
          <p:cNvCxnSpPr>
            <a:cxnSpLocks/>
          </p:cNvCxnSpPr>
          <p:nvPr/>
        </p:nvCxnSpPr>
        <p:spPr>
          <a:xfrm flipH="1" flipV="1">
            <a:off x="4263540" y="3734410"/>
            <a:ext cx="458115" cy="36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805636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48116F-A8CD-9BFC-F1FC-7ADBEF6195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BC65CD-BCBF-C537-A500-865E0AAFA46C}"/>
              </a:ext>
            </a:extLst>
          </p:cNvPr>
          <p:cNvSpPr>
            <a:spLocks noGrp="1"/>
          </p:cNvSpPr>
          <p:nvPr>
            <p:ph type="title"/>
          </p:nvPr>
        </p:nvSpPr>
        <p:spPr/>
        <p:txBody>
          <a:bodyPr>
            <a:normAutofit fontScale="90000"/>
          </a:bodyPr>
          <a:lstStyle/>
          <a:p>
            <a:r>
              <a:rPr lang="en-US" dirty="0"/>
              <a:t>DeBruijn graph</a:t>
            </a:r>
          </a:p>
        </p:txBody>
      </p:sp>
      <p:sp>
        <p:nvSpPr>
          <p:cNvPr id="4" name="Slide Number Placeholder 3">
            <a:extLst>
              <a:ext uri="{FF2B5EF4-FFF2-40B4-BE49-F238E27FC236}">
                <a16:creationId xmlns:a16="http://schemas.microsoft.com/office/drawing/2014/main" id="{E4524916-7A57-BAF8-EEF5-A742CBBD5844}"/>
              </a:ext>
            </a:extLst>
          </p:cNvPr>
          <p:cNvSpPr>
            <a:spLocks noGrp="1"/>
          </p:cNvSpPr>
          <p:nvPr>
            <p:ph type="sldNum" sz="quarter" idx="12"/>
          </p:nvPr>
        </p:nvSpPr>
        <p:spPr/>
        <p:txBody>
          <a:bodyPr/>
          <a:lstStyle/>
          <a:p>
            <a:fld id="{B82CCC60-E8CD-4174-8B1A-7DF615B22EEF}" type="slidenum">
              <a:rPr lang="en-US" smtClean="0"/>
              <a:pPr/>
              <a:t>73</a:t>
            </a:fld>
            <a:endParaRPr lang="en-US"/>
          </a:p>
        </p:txBody>
      </p:sp>
      <p:sp>
        <p:nvSpPr>
          <p:cNvPr id="8" name="Rectangle 7">
            <a:extLst>
              <a:ext uri="{FF2B5EF4-FFF2-40B4-BE49-F238E27FC236}">
                <a16:creationId xmlns:a16="http://schemas.microsoft.com/office/drawing/2014/main" id="{D312410D-8104-98B2-72EB-F002184E9098}"/>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EF17D2C-E771-F40B-7460-24B88D97CA7F}"/>
              </a:ext>
            </a:extLst>
          </p:cNvPr>
          <p:cNvPicPr>
            <a:picLocks noChangeAspect="1"/>
          </p:cNvPicPr>
          <p:nvPr/>
        </p:nvPicPr>
        <p:blipFill>
          <a:blip r:embed="rId2"/>
          <a:stretch>
            <a:fillRect/>
          </a:stretch>
        </p:blipFill>
        <p:spPr>
          <a:xfrm>
            <a:off x="1362145" y="2927183"/>
            <a:ext cx="8983329" cy="3391373"/>
          </a:xfrm>
          <a:prstGeom prst="rect">
            <a:avLst/>
          </a:prstGeom>
        </p:spPr>
      </p:pic>
      <p:pic>
        <p:nvPicPr>
          <p:cNvPr id="11" name="Picture 10">
            <a:extLst>
              <a:ext uri="{FF2B5EF4-FFF2-40B4-BE49-F238E27FC236}">
                <a16:creationId xmlns:a16="http://schemas.microsoft.com/office/drawing/2014/main" id="{60688B68-349E-5B1B-065E-41FDABDEE7F0}"/>
              </a:ext>
            </a:extLst>
          </p:cNvPr>
          <p:cNvPicPr>
            <a:picLocks noChangeAspect="1"/>
          </p:cNvPicPr>
          <p:nvPr/>
        </p:nvPicPr>
        <p:blipFill>
          <a:blip r:embed="rId3"/>
          <a:stretch>
            <a:fillRect/>
          </a:stretch>
        </p:blipFill>
        <p:spPr>
          <a:xfrm>
            <a:off x="1209440" y="1901950"/>
            <a:ext cx="9602540" cy="447737"/>
          </a:xfrm>
          <a:prstGeom prst="rect">
            <a:avLst/>
          </a:prstGeom>
        </p:spPr>
      </p:pic>
      <p:sp>
        <p:nvSpPr>
          <p:cNvPr id="12" name="TextBox 11">
            <a:extLst>
              <a:ext uri="{FF2B5EF4-FFF2-40B4-BE49-F238E27FC236}">
                <a16:creationId xmlns:a16="http://schemas.microsoft.com/office/drawing/2014/main" id="{DA353B36-72B7-F04C-7F1C-951BE49C77FF}"/>
              </a:ext>
            </a:extLst>
          </p:cNvPr>
          <p:cNvSpPr txBox="1"/>
          <p:nvPr/>
        </p:nvSpPr>
        <p:spPr>
          <a:xfrm>
            <a:off x="8831976" y="6368011"/>
            <a:ext cx="2254528" cy="369332"/>
          </a:xfrm>
          <a:prstGeom prst="rect">
            <a:avLst/>
          </a:prstGeom>
          <a:noFill/>
        </p:spPr>
        <p:txBody>
          <a:bodyPr wrap="none" rtlCol="0">
            <a:spAutoFit/>
          </a:bodyPr>
          <a:lstStyle/>
          <a:p>
            <a:r>
              <a:rPr lang="en-US" dirty="0"/>
              <a:t>Chaisson et al., (2015)</a:t>
            </a:r>
          </a:p>
        </p:txBody>
      </p:sp>
    </p:spTree>
    <p:extLst>
      <p:ext uri="{BB962C8B-B14F-4D97-AF65-F5344CB8AC3E}">
        <p14:creationId xmlns:p14="http://schemas.microsoft.com/office/powerpoint/2010/main" val="399510993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FC4F355-79E8-A53C-8FD3-C92E51492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E37CB-3599-C444-B2BC-5B81F7FC83D3}"/>
              </a:ext>
            </a:extLst>
          </p:cNvPr>
          <p:cNvSpPr>
            <a:spLocks noGrp="1"/>
          </p:cNvSpPr>
          <p:nvPr>
            <p:ph type="title"/>
          </p:nvPr>
        </p:nvSpPr>
        <p:spPr/>
        <p:txBody>
          <a:bodyPr>
            <a:normAutofit fontScale="90000"/>
          </a:bodyPr>
          <a:lstStyle/>
          <a:p>
            <a:r>
              <a:rPr lang="en-US" dirty="0"/>
              <a:t>Assembly polishing</a:t>
            </a:r>
          </a:p>
        </p:txBody>
      </p:sp>
      <p:sp>
        <p:nvSpPr>
          <p:cNvPr id="3" name="Content Placeholder 2">
            <a:extLst>
              <a:ext uri="{FF2B5EF4-FFF2-40B4-BE49-F238E27FC236}">
                <a16:creationId xmlns:a16="http://schemas.microsoft.com/office/drawing/2014/main" id="{3B8CBF49-97FA-4C33-797C-DC50CE438754}"/>
              </a:ext>
            </a:extLst>
          </p:cNvPr>
          <p:cNvSpPr>
            <a:spLocks noGrp="1"/>
          </p:cNvSpPr>
          <p:nvPr>
            <p:ph idx="1"/>
          </p:nvPr>
        </p:nvSpPr>
        <p:spPr>
          <a:xfrm>
            <a:off x="598620" y="1682211"/>
            <a:ext cx="10972800" cy="5039265"/>
          </a:xfrm>
        </p:spPr>
        <p:txBody>
          <a:bodyPr>
            <a:normAutofit fontScale="92500" lnSpcReduction="20000"/>
          </a:bodyPr>
          <a:lstStyle/>
          <a:p>
            <a:r>
              <a:rPr lang="en-US" dirty="0"/>
              <a:t>Contig sequence produced by assemblers contains errors, especially if  ONT data was used:</a:t>
            </a:r>
            <a:br>
              <a:rPr lang="en-US" dirty="0"/>
            </a:br>
            <a:r>
              <a:rPr lang="en-US" b="1" dirty="0">
                <a:latin typeface="Courier New" panose="02070309020205020404" pitchFamily="49" charset="0"/>
                <a:cs typeface="Courier New" panose="02070309020205020404" pitchFamily="49" charset="0"/>
              </a:rPr>
              <a:t>AGACA</a:t>
            </a:r>
            <a:r>
              <a:rPr lang="en-US" b="1" dirty="0">
                <a:solidFill>
                  <a:srgbClr val="FF000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AGACGA*AGAC</a:t>
            </a:r>
            <a:r>
              <a:rPr lang="en-US" b="1" dirty="0">
                <a:solidFill>
                  <a:srgbClr val="FF000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TAGGTA</a:t>
            </a:r>
          </a:p>
          <a:p>
            <a:endParaRPr lang="en-US" b="1"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We can fix errors by using low error reads (Illumina or </a:t>
            </a:r>
            <a:r>
              <a:rPr lang="en-US" dirty="0" err="1">
                <a:cs typeface="Courier New" panose="02070309020205020404" pitchFamily="49" charset="0"/>
              </a:rPr>
              <a:t>hifi</a:t>
            </a:r>
            <a:r>
              <a:rPr lang="en-US" dirty="0">
                <a:cs typeface="Courier New" panose="02070309020205020404" pitchFamily="49" charset="0"/>
              </a:rPr>
              <a:t>):</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a:t>
            </a:r>
            <a:r>
              <a:rPr lang="en-US" b="1" dirty="0">
                <a:solidFill>
                  <a:srgbClr val="FF000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AGACGA*AGAC</a:t>
            </a:r>
            <a:r>
              <a:rPr lang="en-US" b="1" dirty="0">
                <a:solidFill>
                  <a:srgbClr val="FF000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TAGGTA</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AGAC</a:t>
            </a:r>
            <a:r>
              <a:rPr lang="en-US" b="1" dirty="0">
                <a:solidFill>
                  <a:srgbClr val="FF000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TAGGTA </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a:t>
            </a:r>
          </a:p>
          <a:p>
            <a:pPr marL="0" indent="0">
              <a:buNone/>
            </a:pPr>
            <a:endParaRPr lang="en-US" b="1" dirty="0">
              <a:solidFill>
                <a:srgbClr val="00B050"/>
              </a:solidFill>
              <a:latin typeface="Courier New" panose="02070309020205020404" pitchFamily="49" charset="0"/>
              <a:cs typeface="Courier New" panose="02070309020205020404" pitchFamily="49" charset="0"/>
            </a:endParaRPr>
          </a:p>
          <a:p>
            <a:r>
              <a:rPr lang="en-US" dirty="0">
                <a:cs typeface="Courier New" panose="02070309020205020404" pitchFamily="49" charset="0"/>
              </a:rPr>
              <a:t>This is called </a:t>
            </a:r>
            <a:r>
              <a:rPr lang="en-US" i="1" dirty="0">
                <a:cs typeface="Courier New" panose="02070309020205020404" pitchFamily="49" charset="0"/>
              </a:rPr>
              <a:t>polishing</a:t>
            </a:r>
            <a:endParaRPr lang="en-US" i="1" dirty="0"/>
          </a:p>
        </p:txBody>
      </p:sp>
      <p:sp>
        <p:nvSpPr>
          <p:cNvPr id="4" name="Slide Number Placeholder 3">
            <a:extLst>
              <a:ext uri="{FF2B5EF4-FFF2-40B4-BE49-F238E27FC236}">
                <a16:creationId xmlns:a16="http://schemas.microsoft.com/office/drawing/2014/main" id="{96C09444-F5AB-0BA7-3E12-DEBA9B8DA097}"/>
              </a:ext>
            </a:extLst>
          </p:cNvPr>
          <p:cNvSpPr>
            <a:spLocks noGrp="1"/>
          </p:cNvSpPr>
          <p:nvPr>
            <p:ph type="sldNum" sz="quarter" idx="12"/>
          </p:nvPr>
        </p:nvSpPr>
        <p:spPr/>
        <p:txBody>
          <a:bodyPr/>
          <a:lstStyle/>
          <a:p>
            <a:fld id="{B82CCC60-E8CD-4174-8B1A-7DF615B22EEF}" type="slidenum">
              <a:rPr lang="en-US" smtClean="0"/>
              <a:pPr/>
              <a:t>74</a:t>
            </a:fld>
            <a:endParaRPr lang="en-US"/>
          </a:p>
        </p:txBody>
      </p:sp>
    </p:spTree>
    <p:extLst>
      <p:ext uri="{BB962C8B-B14F-4D97-AF65-F5344CB8AC3E}">
        <p14:creationId xmlns:p14="http://schemas.microsoft.com/office/powerpoint/2010/main" val="35407395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9B9EA24-C3A4-A878-2C73-E236424759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19DBC-38FF-8DC1-B604-5200FCA01962}"/>
              </a:ext>
            </a:extLst>
          </p:cNvPr>
          <p:cNvSpPr>
            <a:spLocks noGrp="1"/>
          </p:cNvSpPr>
          <p:nvPr>
            <p:ph type="title"/>
          </p:nvPr>
        </p:nvSpPr>
        <p:spPr/>
        <p:txBody>
          <a:bodyPr>
            <a:normAutofit fontScale="90000"/>
          </a:bodyPr>
          <a:lstStyle/>
          <a:p>
            <a:r>
              <a:rPr lang="en-US" dirty="0" err="1"/>
              <a:t>Scaffoldng</a:t>
            </a:r>
            <a:endParaRPr lang="en-US" dirty="0"/>
          </a:p>
        </p:txBody>
      </p:sp>
      <p:sp>
        <p:nvSpPr>
          <p:cNvPr id="4" name="Slide Number Placeholder 3">
            <a:extLst>
              <a:ext uri="{FF2B5EF4-FFF2-40B4-BE49-F238E27FC236}">
                <a16:creationId xmlns:a16="http://schemas.microsoft.com/office/drawing/2014/main" id="{398E7E09-2870-EB94-CAD7-37A4FE62640B}"/>
              </a:ext>
            </a:extLst>
          </p:cNvPr>
          <p:cNvSpPr>
            <a:spLocks noGrp="1"/>
          </p:cNvSpPr>
          <p:nvPr>
            <p:ph type="sldNum" sz="quarter" idx="12"/>
          </p:nvPr>
        </p:nvSpPr>
        <p:spPr/>
        <p:txBody>
          <a:bodyPr/>
          <a:lstStyle/>
          <a:p>
            <a:fld id="{B82CCC60-E8CD-4174-8B1A-7DF615B22EEF}" type="slidenum">
              <a:rPr lang="en-US" smtClean="0"/>
              <a:pPr/>
              <a:t>75</a:t>
            </a:fld>
            <a:endParaRPr lang="en-US"/>
          </a:p>
        </p:txBody>
      </p:sp>
      <p:sp>
        <p:nvSpPr>
          <p:cNvPr id="6" name="Content Placeholder 5">
            <a:extLst>
              <a:ext uri="{FF2B5EF4-FFF2-40B4-BE49-F238E27FC236}">
                <a16:creationId xmlns:a16="http://schemas.microsoft.com/office/drawing/2014/main" id="{49FBDE18-75DD-F1AA-611E-243DEDB7219C}"/>
              </a:ext>
            </a:extLst>
          </p:cNvPr>
          <p:cNvSpPr>
            <a:spLocks noGrp="1"/>
          </p:cNvSpPr>
          <p:nvPr>
            <p:ph idx="1"/>
          </p:nvPr>
        </p:nvSpPr>
        <p:spPr>
          <a:xfrm>
            <a:off x="598620" y="1596540"/>
            <a:ext cx="10972800" cy="2514425"/>
          </a:xfrm>
        </p:spPr>
        <p:txBody>
          <a:bodyPr>
            <a:normAutofit fontScale="92500" lnSpcReduction="20000"/>
          </a:bodyPr>
          <a:lstStyle/>
          <a:p>
            <a:r>
              <a:rPr lang="en-US" i="1" dirty="0"/>
              <a:t>Scaffolding</a:t>
            </a:r>
            <a:r>
              <a:rPr lang="en-US" dirty="0"/>
              <a:t> refers to a process of building </a:t>
            </a:r>
            <a:r>
              <a:rPr lang="en-US" i="1" dirty="0"/>
              <a:t>scaffolds</a:t>
            </a:r>
            <a:r>
              <a:rPr lang="en-US" dirty="0"/>
              <a:t> – ordered and oriented sets of contigs</a:t>
            </a:r>
          </a:p>
          <a:p>
            <a:r>
              <a:rPr lang="en-US" dirty="0"/>
              <a:t>We can use:</a:t>
            </a:r>
          </a:p>
          <a:p>
            <a:pPr lvl="1"/>
            <a:r>
              <a:rPr lang="en-US" dirty="0"/>
              <a:t>Additional long reads</a:t>
            </a:r>
          </a:p>
          <a:p>
            <a:pPr lvl="1"/>
            <a:r>
              <a:rPr lang="en-US" dirty="0"/>
              <a:t>Paired end reads</a:t>
            </a:r>
          </a:p>
          <a:p>
            <a:pPr lvl="1"/>
            <a:r>
              <a:rPr lang="en-US" dirty="0" err="1"/>
              <a:t>HiC</a:t>
            </a:r>
            <a:r>
              <a:rPr lang="en-US" dirty="0"/>
              <a:t> reads</a:t>
            </a:r>
          </a:p>
        </p:txBody>
      </p:sp>
      <p:pic>
        <p:nvPicPr>
          <p:cNvPr id="7" name="Picture 6">
            <a:extLst>
              <a:ext uri="{FF2B5EF4-FFF2-40B4-BE49-F238E27FC236}">
                <a16:creationId xmlns:a16="http://schemas.microsoft.com/office/drawing/2014/main" id="{4435613F-BD64-342C-6FB2-6192DD312230}"/>
              </a:ext>
            </a:extLst>
          </p:cNvPr>
          <p:cNvPicPr>
            <a:picLocks noChangeAspect="1"/>
          </p:cNvPicPr>
          <p:nvPr/>
        </p:nvPicPr>
        <p:blipFill>
          <a:blip r:embed="rId2"/>
          <a:stretch>
            <a:fillRect/>
          </a:stretch>
        </p:blipFill>
        <p:spPr>
          <a:xfrm>
            <a:off x="860753" y="3996488"/>
            <a:ext cx="9602540" cy="447737"/>
          </a:xfrm>
          <a:prstGeom prst="rect">
            <a:avLst/>
          </a:prstGeom>
        </p:spPr>
      </p:pic>
      <p:pic>
        <p:nvPicPr>
          <p:cNvPr id="9" name="Picture 8">
            <a:extLst>
              <a:ext uri="{FF2B5EF4-FFF2-40B4-BE49-F238E27FC236}">
                <a16:creationId xmlns:a16="http://schemas.microsoft.com/office/drawing/2014/main" id="{22DB42CE-C737-298F-3A0B-77DB474BC7C4}"/>
              </a:ext>
            </a:extLst>
          </p:cNvPr>
          <p:cNvPicPr>
            <a:picLocks noChangeAspect="1"/>
          </p:cNvPicPr>
          <p:nvPr/>
        </p:nvPicPr>
        <p:blipFill>
          <a:blip r:embed="rId3"/>
          <a:stretch>
            <a:fillRect/>
          </a:stretch>
        </p:blipFill>
        <p:spPr>
          <a:xfrm>
            <a:off x="1209440" y="4988846"/>
            <a:ext cx="8869013" cy="857370"/>
          </a:xfrm>
          <a:prstGeom prst="rect">
            <a:avLst/>
          </a:prstGeom>
        </p:spPr>
      </p:pic>
      <p:cxnSp>
        <p:nvCxnSpPr>
          <p:cNvPr id="13" name="Straight Connector 12">
            <a:extLst>
              <a:ext uri="{FF2B5EF4-FFF2-40B4-BE49-F238E27FC236}">
                <a16:creationId xmlns:a16="http://schemas.microsoft.com/office/drawing/2014/main" id="{E0DC5825-6963-970A-89D6-BE32B1A94FD2}"/>
              </a:ext>
            </a:extLst>
          </p:cNvPr>
          <p:cNvCxnSpPr/>
          <p:nvPr/>
        </p:nvCxnSpPr>
        <p:spPr>
          <a:xfrm>
            <a:off x="2583785" y="5075787"/>
            <a:ext cx="916230"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A911D1C-1CAD-DC64-6FD5-37B114A7F065}"/>
              </a:ext>
            </a:extLst>
          </p:cNvPr>
          <p:cNvCxnSpPr/>
          <p:nvPr/>
        </p:nvCxnSpPr>
        <p:spPr>
          <a:xfrm>
            <a:off x="7470345" y="5381197"/>
            <a:ext cx="916230" cy="0"/>
          </a:xfrm>
          <a:prstGeom prst="line">
            <a:avLst/>
          </a:prstGeom>
          <a:ln w="34925"/>
        </p:spPr>
        <p:style>
          <a:lnRef idx="1">
            <a:schemeClr val="accent4"/>
          </a:lnRef>
          <a:fillRef idx="0">
            <a:schemeClr val="accent4"/>
          </a:fillRef>
          <a:effectRef idx="0">
            <a:schemeClr val="accent4"/>
          </a:effectRef>
          <a:fontRef idx="minor">
            <a:schemeClr val="tx1"/>
          </a:fontRef>
        </p:style>
      </p:cxnSp>
      <p:sp>
        <p:nvSpPr>
          <p:cNvPr id="16" name="Freeform: Shape 15">
            <a:extLst>
              <a:ext uri="{FF2B5EF4-FFF2-40B4-BE49-F238E27FC236}">
                <a16:creationId xmlns:a16="http://schemas.microsoft.com/office/drawing/2014/main" id="{E7E07476-FA1A-A9F0-9F51-C4483A8109DA}"/>
              </a:ext>
            </a:extLst>
          </p:cNvPr>
          <p:cNvSpPr/>
          <p:nvPr/>
        </p:nvSpPr>
        <p:spPr>
          <a:xfrm>
            <a:off x="3022021" y="4525504"/>
            <a:ext cx="5044141" cy="843037"/>
          </a:xfrm>
          <a:custGeom>
            <a:avLst/>
            <a:gdLst>
              <a:gd name="connsiteX0" fmla="*/ 0 w 5044141"/>
              <a:gd name="connsiteY0" fmla="*/ 526284 h 843037"/>
              <a:gd name="connsiteX1" fmla="*/ 2904565 w 5044141"/>
              <a:gd name="connsiteY1" fmla="*/ 6332 h 843037"/>
              <a:gd name="connsiteX2" fmla="*/ 5044141 w 5044141"/>
              <a:gd name="connsiteY2" fmla="*/ 843037 h 843037"/>
            </a:gdLst>
            <a:ahLst/>
            <a:cxnLst>
              <a:cxn ang="0">
                <a:pos x="connsiteX0" y="connsiteY0"/>
              </a:cxn>
              <a:cxn ang="0">
                <a:pos x="connsiteX1" y="connsiteY1"/>
              </a:cxn>
              <a:cxn ang="0">
                <a:pos x="connsiteX2" y="connsiteY2"/>
              </a:cxn>
            </a:cxnLst>
            <a:rect l="l" t="t" r="r" b="b"/>
            <a:pathLst>
              <a:path w="5044141" h="843037">
                <a:moveTo>
                  <a:pt x="0" y="526284"/>
                </a:moveTo>
                <a:cubicBezTo>
                  <a:pt x="1031937" y="239912"/>
                  <a:pt x="2063875" y="-46460"/>
                  <a:pt x="2904565" y="6332"/>
                </a:cubicBezTo>
                <a:cubicBezTo>
                  <a:pt x="3745255" y="59124"/>
                  <a:pt x="4677584" y="664739"/>
                  <a:pt x="5044141" y="843037"/>
                </a:cubicBezTo>
              </a:path>
            </a:pathLst>
          </a:cu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94623FE0-A3B9-B128-385B-CFB2E35C9081}"/>
              </a:ext>
            </a:extLst>
          </p:cNvPr>
          <p:cNvPicPr>
            <a:picLocks noChangeAspect="1"/>
          </p:cNvPicPr>
          <p:nvPr/>
        </p:nvPicPr>
        <p:blipFill>
          <a:blip r:embed="rId4"/>
          <a:stretch>
            <a:fillRect/>
          </a:stretch>
        </p:blipFill>
        <p:spPr>
          <a:xfrm>
            <a:off x="6096000" y="6290810"/>
            <a:ext cx="3696216" cy="200053"/>
          </a:xfrm>
          <a:prstGeom prst="rect">
            <a:avLst/>
          </a:prstGeom>
        </p:spPr>
      </p:pic>
      <p:pic>
        <p:nvPicPr>
          <p:cNvPr id="22" name="Picture 21">
            <a:extLst>
              <a:ext uri="{FF2B5EF4-FFF2-40B4-BE49-F238E27FC236}">
                <a16:creationId xmlns:a16="http://schemas.microsoft.com/office/drawing/2014/main" id="{922757DD-687D-FBED-AB7C-604B487806FD}"/>
              </a:ext>
            </a:extLst>
          </p:cNvPr>
          <p:cNvPicPr>
            <a:picLocks noChangeAspect="1"/>
          </p:cNvPicPr>
          <p:nvPr/>
        </p:nvPicPr>
        <p:blipFill>
          <a:blip r:embed="rId5"/>
          <a:stretch>
            <a:fillRect/>
          </a:stretch>
        </p:blipFill>
        <p:spPr>
          <a:xfrm>
            <a:off x="1313438" y="6297975"/>
            <a:ext cx="4067743" cy="200053"/>
          </a:xfrm>
          <a:prstGeom prst="rect">
            <a:avLst/>
          </a:prstGeom>
        </p:spPr>
      </p:pic>
      <p:sp>
        <p:nvSpPr>
          <p:cNvPr id="23" name="TextBox 22">
            <a:extLst>
              <a:ext uri="{FF2B5EF4-FFF2-40B4-BE49-F238E27FC236}">
                <a16:creationId xmlns:a16="http://schemas.microsoft.com/office/drawing/2014/main" id="{40FA1F44-56AF-A58D-74E0-7E6E444F88F5}"/>
              </a:ext>
            </a:extLst>
          </p:cNvPr>
          <p:cNvSpPr txBox="1"/>
          <p:nvPr/>
        </p:nvSpPr>
        <p:spPr>
          <a:xfrm>
            <a:off x="5199059" y="6206170"/>
            <a:ext cx="1079142" cy="369332"/>
          </a:xfrm>
          <a:prstGeom prst="rect">
            <a:avLst/>
          </a:prstGeom>
          <a:noFill/>
        </p:spPr>
        <p:txBody>
          <a:bodyPr wrap="none" rtlCol="0">
            <a:spAutoFit/>
          </a:bodyPr>
          <a:lstStyle/>
          <a:p>
            <a:r>
              <a:rPr lang="en-US" dirty="0"/>
              <a:t>NNNNNN</a:t>
            </a:r>
          </a:p>
        </p:txBody>
      </p:sp>
      <p:sp>
        <p:nvSpPr>
          <p:cNvPr id="24" name="TextBox 23">
            <a:extLst>
              <a:ext uri="{FF2B5EF4-FFF2-40B4-BE49-F238E27FC236}">
                <a16:creationId xmlns:a16="http://schemas.microsoft.com/office/drawing/2014/main" id="{F8A41DEE-D620-DBE9-4162-239D3EE210AE}"/>
              </a:ext>
            </a:extLst>
          </p:cNvPr>
          <p:cNvSpPr txBox="1"/>
          <p:nvPr/>
        </p:nvSpPr>
        <p:spPr>
          <a:xfrm>
            <a:off x="5198980" y="5984797"/>
            <a:ext cx="926087" cy="369332"/>
          </a:xfrm>
          <a:prstGeom prst="rect">
            <a:avLst/>
          </a:prstGeom>
          <a:noFill/>
        </p:spPr>
        <p:txBody>
          <a:bodyPr wrap="none" rtlCol="0">
            <a:spAutoFit/>
          </a:bodyPr>
          <a:lstStyle/>
          <a:p>
            <a:r>
              <a:rPr lang="en-US" dirty="0"/>
              <a:t>Scaffold</a:t>
            </a:r>
          </a:p>
        </p:txBody>
      </p:sp>
    </p:spTree>
    <p:extLst>
      <p:ext uri="{BB962C8B-B14F-4D97-AF65-F5344CB8AC3E}">
        <p14:creationId xmlns:p14="http://schemas.microsoft.com/office/powerpoint/2010/main" val="13455755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A9D65-5E74-4096-FCCE-0AFE90FEADB0}"/>
              </a:ext>
            </a:extLst>
          </p:cNvPr>
          <p:cNvSpPr>
            <a:spLocks noGrp="1"/>
          </p:cNvSpPr>
          <p:nvPr>
            <p:ph type="title"/>
          </p:nvPr>
        </p:nvSpPr>
        <p:spPr/>
        <p:txBody>
          <a:bodyPr>
            <a:normAutofit fontScale="90000"/>
          </a:bodyPr>
          <a:lstStyle/>
          <a:p>
            <a:r>
              <a:rPr lang="en-US" dirty="0"/>
              <a:t>Evaluating genome assemblies</a:t>
            </a:r>
          </a:p>
        </p:txBody>
      </p:sp>
      <p:sp>
        <p:nvSpPr>
          <p:cNvPr id="3" name="Content Placeholder 2">
            <a:extLst>
              <a:ext uri="{FF2B5EF4-FFF2-40B4-BE49-F238E27FC236}">
                <a16:creationId xmlns:a16="http://schemas.microsoft.com/office/drawing/2014/main" id="{41AFC0A8-DB69-4617-0196-751896668947}"/>
              </a:ext>
            </a:extLst>
          </p:cNvPr>
          <p:cNvSpPr>
            <a:spLocks noGrp="1"/>
          </p:cNvSpPr>
          <p:nvPr>
            <p:ph idx="1"/>
          </p:nvPr>
        </p:nvSpPr>
        <p:spPr>
          <a:xfrm>
            <a:off x="598620" y="1596540"/>
            <a:ext cx="10983780" cy="4886560"/>
          </a:xfrm>
        </p:spPr>
        <p:txBody>
          <a:bodyPr>
            <a:normAutofit/>
          </a:bodyPr>
          <a:lstStyle/>
          <a:p>
            <a:r>
              <a:rPr lang="en-US" dirty="0"/>
              <a:t>Total sequence: is it what is expected?</a:t>
            </a:r>
          </a:p>
          <a:p>
            <a:r>
              <a:rPr lang="en-US" dirty="0"/>
              <a:t>N50 metric: the length of the shortest contig (scaffold) for which longer or equal length contigs (scaffolds) contain at least 50% of the total assembly</a:t>
            </a:r>
            <a:br>
              <a:rPr lang="en-US" dirty="0"/>
            </a:br>
            <a:endParaRPr lang="en-US" dirty="0"/>
          </a:p>
          <a:p>
            <a:endParaRPr lang="en-US" dirty="0"/>
          </a:p>
          <a:p>
            <a:endParaRPr lang="en-US" dirty="0"/>
          </a:p>
          <a:p>
            <a:endParaRPr lang="en-US" dirty="0"/>
          </a:p>
          <a:p>
            <a:r>
              <a:rPr lang="en-US" dirty="0"/>
              <a:t>Consensus quality: can be measured with accurate reads</a:t>
            </a:r>
          </a:p>
          <a:p>
            <a:pPr marL="0" indent="0">
              <a:buNone/>
            </a:pPr>
            <a:endParaRPr lang="en-US" dirty="0"/>
          </a:p>
        </p:txBody>
      </p:sp>
      <p:sp>
        <p:nvSpPr>
          <p:cNvPr id="4" name="Slide Number Placeholder 3">
            <a:extLst>
              <a:ext uri="{FF2B5EF4-FFF2-40B4-BE49-F238E27FC236}">
                <a16:creationId xmlns:a16="http://schemas.microsoft.com/office/drawing/2014/main" id="{99C79175-30EF-A9B8-46AF-E24F821CFBC5}"/>
              </a:ext>
            </a:extLst>
          </p:cNvPr>
          <p:cNvSpPr>
            <a:spLocks noGrp="1"/>
          </p:cNvSpPr>
          <p:nvPr>
            <p:ph type="sldNum" sz="quarter" idx="12"/>
          </p:nvPr>
        </p:nvSpPr>
        <p:spPr/>
        <p:txBody>
          <a:bodyPr/>
          <a:lstStyle/>
          <a:p>
            <a:fld id="{B82CCC60-E8CD-4174-8B1A-7DF615B22EEF}" type="slidenum">
              <a:rPr lang="en-US" smtClean="0"/>
              <a:pPr/>
              <a:t>76</a:t>
            </a:fld>
            <a:endParaRPr lang="en-US"/>
          </a:p>
        </p:txBody>
      </p:sp>
      <p:pic>
        <p:nvPicPr>
          <p:cNvPr id="6" name="Picture 5">
            <a:extLst>
              <a:ext uri="{FF2B5EF4-FFF2-40B4-BE49-F238E27FC236}">
                <a16:creationId xmlns:a16="http://schemas.microsoft.com/office/drawing/2014/main" id="{0861BEC8-5D46-B6BF-022A-2933302C0F72}"/>
              </a:ext>
            </a:extLst>
          </p:cNvPr>
          <p:cNvPicPr>
            <a:picLocks noChangeAspect="1"/>
          </p:cNvPicPr>
          <p:nvPr/>
        </p:nvPicPr>
        <p:blipFill>
          <a:blip r:embed="rId2"/>
          <a:stretch>
            <a:fillRect/>
          </a:stretch>
        </p:blipFill>
        <p:spPr>
          <a:xfrm>
            <a:off x="1056735" y="3440355"/>
            <a:ext cx="6163535" cy="1905266"/>
          </a:xfrm>
          <a:prstGeom prst="rect">
            <a:avLst/>
          </a:prstGeom>
        </p:spPr>
      </p:pic>
      <p:sp>
        <p:nvSpPr>
          <p:cNvPr id="7" name="TextBox 6">
            <a:extLst>
              <a:ext uri="{FF2B5EF4-FFF2-40B4-BE49-F238E27FC236}">
                <a16:creationId xmlns:a16="http://schemas.microsoft.com/office/drawing/2014/main" id="{EB10CDC3-E268-801B-8E36-C2BCDE635662}"/>
              </a:ext>
            </a:extLst>
          </p:cNvPr>
          <p:cNvSpPr txBox="1"/>
          <p:nvPr/>
        </p:nvSpPr>
        <p:spPr>
          <a:xfrm>
            <a:off x="7552078" y="4208322"/>
            <a:ext cx="3698513" cy="369332"/>
          </a:xfrm>
          <a:prstGeom prst="rect">
            <a:avLst/>
          </a:prstGeom>
          <a:noFill/>
        </p:spPr>
        <p:txBody>
          <a:bodyPr wrap="none" rtlCol="0">
            <a:spAutoFit/>
          </a:bodyPr>
          <a:lstStyle/>
          <a:p>
            <a:r>
              <a:rPr lang="en-US" dirty="0"/>
              <a:t>Image credit: molecularecologist.com</a:t>
            </a:r>
          </a:p>
        </p:txBody>
      </p:sp>
    </p:spTree>
    <p:extLst>
      <p:ext uri="{BB962C8B-B14F-4D97-AF65-F5344CB8AC3E}">
        <p14:creationId xmlns:p14="http://schemas.microsoft.com/office/powerpoint/2010/main" val="2240065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6115-0F50-D62F-6736-FB3DAE5B5E74}"/>
              </a:ext>
            </a:extLst>
          </p:cNvPr>
          <p:cNvSpPr>
            <a:spLocks noGrp="1"/>
          </p:cNvSpPr>
          <p:nvPr>
            <p:ph type="title"/>
          </p:nvPr>
        </p:nvSpPr>
        <p:spPr/>
        <p:txBody>
          <a:bodyPr>
            <a:normAutofit fontScale="90000"/>
          </a:bodyPr>
          <a:lstStyle/>
          <a:p>
            <a:r>
              <a:rPr lang="en-US" dirty="0"/>
              <a:t>Genome assemblers</a:t>
            </a:r>
          </a:p>
        </p:txBody>
      </p:sp>
      <p:sp>
        <p:nvSpPr>
          <p:cNvPr id="3" name="Content Placeholder 2">
            <a:extLst>
              <a:ext uri="{FF2B5EF4-FFF2-40B4-BE49-F238E27FC236}">
                <a16:creationId xmlns:a16="http://schemas.microsoft.com/office/drawing/2014/main" id="{DD9FA874-AAAE-2124-EC2E-057DB25523B2}"/>
              </a:ext>
            </a:extLst>
          </p:cNvPr>
          <p:cNvSpPr>
            <a:spLocks noGrp="1"/>
          </p:cNvSpPr>
          <p:nvPr>
            <p:ph idx="1"/>
          </p:nvPr>
        </p:nvSpPr>
        <p:spPr>
          <a:xfrm>
            <a:off x="598620" y="1596540"/>
            <a:ext cx="10972800" cy="4581150"/>
          </a:xfrm>
        </p:spPr>
        <p:txBody>
          <a:bodyPr>
            <a:normAutofit lnSpcReduction="10000"/>
          </a:bodyPr>
          <a:lstStyle/>
          <a:p>
            <a:r>
              <a:rPr lang="en-US" dirty="0"/>
              <a:t>Hifiasm -- for PacBio </a:t>
            </a:r>
            <a:r>
              <a:rPr lang="en-US" dirty="0" err="1"/>
              <a:t>hifi</a:t>
            </a:r>
            <a:r>
              <a:rPr lang="en-US" dirty="0"/>
              <a:t>, can use </a:t>
            </a:r>
            <a:r>
              <a:rPr lang="en-US" dirty="0" err="1"/>
              <a:t>HiC</a:t>
            </a:r>
            <a:r>
              <a:rPr lang="en-US" dirty="0"/>
              <a:t> to resolve haplotypes, uses string graph, a variant of the OLC strategy</a:t>
            </a:r>
            <a:br>
              <a:rPr lang="en-US" dirty="0"/>
            </a:br>
            <a:endParaRPr lang="en-US" dirty="0"/>
          </a:p>
          <a:p>
            <a:r>
              <a:rPr lang="en-US" dirty="0"/>
              <a:t>Flye -- for Oxford Nanopore (and PacBio </a:t>
            </a:r>
            <a:r>
              <a:rPr lang="en-US" dirty="0" err="1"/>
              <a:t>hifi</a:t>
            </a:r>
            <a:r>
              <a:rPr lang="en-US" dirty="0"/>
              <a:t>), uses string graph</a:t>
            </a:r>
            <a:br>
              <a:rPr lang="en-US" dirty="0"/>
            </a:br>
            <a:endParaRPr lang="en-US" dirty="0"/>
          </a:p>
          <a:p>
            <a:r>
              <a:rPr lang="en-US" dirty="0"/>
              <a:t>MaSuRCA -- for hybrid data sets – uses both </a:t>
            </a:r>
            <a:r>
              <a:rPr lang="en-US" dirty="0" err="1"/>
              <a:t>DeBrujn</a:t>
            </a:r>
            <a:r>
              <a:rPr lang="en-US" dirty="0"/>
              <a:t> and OLC</a:t>
            </a:r>
          </a:p>
          <a:p>
            <a:pPr lvl="1"/>
            <a:r>
              <a:rPr lang="en-US" dirty="0"/>
              <a:t>POLCA – polishing assemblies with Illumina reads</a:t>
            </a:r>
          </a:p>
          <a:p>
            <a:pPr lvl="1"/>
            <a:r>
              <a:rPr lang="en-US" dirty="0"/>
              <a:t>SAMBA – scaffolding assemblies with ONT reads</a:t>
            </a:r>
          </a:p>
          <a:p>
            <a:endParaRPr lang="en-US" dirty="0"/>
          </a:p>
          <a:p>
            <a:r>
              <a:rPr lang="en-US" dirty="0" err="1"/>
              <a:t>YaHS</a:t>
            </a:r>
            <a:r>
              <a:rPr lang="en-US" dirty="0"/>
              <a:t> – for scaffolding assemblies with </a:t>
            </a:r>
            <a:r>
              <a:rPr lang="en-US" dirty="0" err="1"/>
              <a:t>HiC</a:t>
            </a:r>
            <a:r>
              <a:rPr lang="en-US" dirty="0"/>
              <a:t> reads</a:t>
            </a:r>
          </a:p>
        </p:txBody>
      </p:sp>
      <p:sp>
        <p:nvSpPr>
          <p:cNvPr id="4" name="Slide Number Placeholder 3">
            <a:extLst>
              <a:ext uri="{FF2B5EF4-FFF2-40B4-BE49-F238E27FC236}">
                <a16:creationId xmlns:a16="http://schemas.microsoft.com/office/drawing/2014/main" id="{D3A3E570-2FE0-33CD-F954-80F2F3A818CA}"/>
              </a:ext>
            </a:extLst>
          </p:cNvPr>
          <p:cNvSpPr>
            <a:spLocks noGrp="1"/>
          </p:cNvSpPr>
          <p:nvPr>
            <p:ph type="sldNum" sz="quarter" idx="12"/>
          </p:nvPr>
        </p:nvSpPr>
        <p:spPr/>
        <p:txBody>
          <a:bodyPr/>
          <a:lstStyle/>
          <a:p>
            <a:fld id="{B82CCC60-E8CD-4174-8B1A-7DF615B22EEF}" type="slidenum">
              <a:rPr lang="en-US" smtClean="0"/>
              <a:pPr/>
              <a:t>77</a:t>
            </a:fld>
            <a:endParaRPr lang="en-US"/>
          </a:p>
        </p:txBody>
      </p:sp>
    </p:spTree>
    <p:extLst>
      <p:ext uri="{BB962C8B-B14F-4D97-AF65-F5344CB8AC3E}">
        <p14:creationId xmlns:p14="http://schemas.microsoft.com/office/powerpoint/2010/main" val="807348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17FC4-7C1C-968A-44AC-C58DEE41010F}"/>
              </a:ext>
            </a:extLst>
          </p:cNvPr>
          <p:cNvSpPr>
            <a:spLocks noGrp="1"/>
          </p:cNvSpPr>
          <p:nvPr>
            <p:ph type="title"/>
          </p:nvPr>
        </p:nvSpPr>
        <p:spPr/>
        <p:txBody>
          <a:bodyPr>
            <a:normAutofit fontScale="90000"/>
          </a:bodyPr>
          <a:lstStyle/>
          <a:p>
            <a:r>
              <a:rPr lang="en-US" dirty="0"/>
              <a:t>MaSuRCA</a:t>
            </a:r>
          </a:p>
        </p:txBody>
      </p:sp>
      <p:sp>
        <p:nvSpPr>
          <p:cNvPr id="3" name="Content Placeholder 2">
            <a:extLst>
              <a:ext uri="{FF2B5EF4-FFF2-40B4-BE49-F238E27FC236}">
                <a16:creationId xmlns:a16="http://schemas.microsoft.com/office/drawing/2014/main" id="{0DEF9AF3-03F5-D56B-127F-B73F7D045EB4}"/>
              </a:ext>
            </a:extLst>
          </p:cNvPr>
          <p:cNvSpPr>
            <a:spLocks noGrp="1"/>
          </p:cNvSpPr>
          <p:nvPr>
            <p:ph idx="1"/>
          </p:nvPr>
        </p:nvSpPr>
        <p:spPr/>
        <p:txBody>
          <a:bodyPr/>
          <a:lstStyle/>
          <a:p>
            <a:r>
              <a:rPr lang="en-US" dirty="0"/>
              <a:t>Originally designed for short Illumina reads</a:t>
            </a:r>
          </a:p>
          <a:p>
            <a:r>
              <a:rPr lang="en-US" dirty="0"/>
              <a:t>Enables hybrid assembly, ONT + Illumina, or PacBio CLR + Illumina</a:t>
            </a:r>
          </a:p>
          <a:p>
            <a:r>
              <a:rPr lang="en-US" dirty="0"/>
              <a:t>Additional tools:</a:t>
            </a:r>
          </a:p>
          <a:p>
            <a:pPr lvl="1"/>
            <a:r>
              <a:rPr lang="en-US" dirty="0"/>
              <a:t>POLCA</a:t>
            </a:r>
          </a:p>
          <a:p>
            <a:pPr lvl="1"/>
            <a:r>
              <a:rPr lang="en-US" dirty="0"/>
              <a:t>SAMBA</a:t>
            </a:r>
          </a:p>
          <a:p>
            <a:pPr lvl="1"/>
            <a:r>
              <a:rPr lang="en-US" dirty="0" err="1"/>
              <a:t>ufasta</a:t>
            </a:r>
            <a:endParaRPr lang="en-US" dirty="0"/>
          </a:p>
          <a:p>
            <a:r>
              <a:rPr lang="en-US" i="1" dirty="0"/>
              <a:t>module load </a:t>
            </a:r>
            <a:r>
              <a:rPr lang="en-US" i="1" dirty="0" err="1"/>
              <a:t>masurca</a:t>
            </a:r>
            <a:endParaRPr lang="en-US" i="1" dirty="0"/>
          </a:p>
        </p:txBody>
      </p:sp>
      <p:sp>
        <p:nvSpPr>
          <p:cNvPr id="4" name="Slide Number Placeholder 3">
            <a:extLst>
              <a:ext uri="{FF2B5EF4-FFF2-40B4-BE49-F238E27FC236}">
                <a16:creationId xmlns:a16="http://schemas.microsoft.com/office/drawing/2014/main" id="{395C86BF-3F62-9644-B674-B2489F5AE436}"/>
              </a:ext>
            </a:extLst>
          </p:cNvPr>
          <p:cNvSpPr>
            <a:spLocks noGrp="1"/>
          </p:cNvSpPr>
          <p:nvPr>
            <p:ph type="sldNum" sz="quarter" idx="12"/>
          </p:nvPr>
        </p:nvSpPr>
        <p:spPr/>
        <p:txBody>
          <a:bodyPr/>
          <a:lstStyle/>
          <a:p>
            <a:fld id="{B82CCC60-E8CD-4174-8B1A-7DF615B22EEF}" type="slidenum">
              <a:rPr lang="en-US" smtClean="0"/>
              <a:pPr/>
              <a:t>78</a:t>
            </a:fld>
            <a:endParaRPr lang="en-US"/>
          </a:p>
        </p:txBody>
      </p:sp>
    </p:spTree>
    <p:extLst>
      <p:ext uri="{BB962C8B-B14F-4D97-AF65-F5344CB8AC3E}">
        <p14:creationId xmlns:p14="http://schemas.microsoft.com/office/powerpoint/2010/main" val="3130437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82504E-6505-F7CA-6A06-D019C1E1D0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CB27-A22A-8717-7E25-1405E07A8AB9}"/>
              </a:ext>
            </a:extLst>
          </p:cNvPr>
          <p:cNvSpPr>
            <a:spLocks noGrp="1"/>
          </p:cNvSpPr>
          <p:nvPr>
            <p:ph type="title"/>
          </p:nvPr>
        </p:nvSpPr>
        <p:spPr/>
        <p:txBody>
          <a:bodyPr>
            <a:normAutofit fontScale="90000"/>
          </a:bodyPr>
          <a:lstStyle/>
          <a:p>
            <a:r>
              <a:rPr lang="en-US" dirty="0"/>
              <a:t>MaSuRCA - POLCA</a:t>
            </a:r>
          </a:p>
        </p:txBody>
      </p:sp>
      <p:sp>
        <p:nvSpPr>
          <p:cNvPr id="3" name="Content Placeholder 2">
            <a:extLst>
              <a:ext uri="{FF2B5EF4-FFF2-40B4-BE49-F238E27FC236}">
                <a16:creationId xmlns:a16="http://schemas.microsoft.com/office/drawing/2014/main" id="{E6DE42EB-0430-C773-8742-0536B3339AFA}"/>
              </a:ext>
            </a:extLst>
          </p:cNvPr>
          <p:cNvSpPr>
            <a:spLocks noGrp="1"/>
          </p:cNvSpPr>
          <p:nvPr>
            <p:ph idx="1"/>
          </p:nvPr>
        </p:nvSpPr>
        <p:spPr/>
        <p:txBody>
          <a:bodyPr/>
          <a:lstStyle/>
          <a:p>
            <a:r>
              <a:rPr lang="en-US" dirty="0"/>
              <a:t>Polishing tool to fix errors in contigs</a:t>
            </a:r>
          </a:p>
          <a:p>
            <a:r>
              <a:rPr lang="en-US" dirty="0"/>
              <a:t>Can be used for variant calling (convenient!)</a:t>
            </a:r>
          </a:p>
          <a:p>
            <a:r>
              <a:rPr lang="en-US" dirty="0"/>
              <a:t>Evaluate contig sequence quality</a:t>
            </a:r>
          </a:p>
          <a:p>
            <a:r>
              <a:rPr lang="en-US" dirty="0"/>
              <a:t>Usage:</a:t>
            </a:r>
          </a:p>
        </p:txBody>
      </p:sp>
      <p:sp>
        <p:nvSpPr>
          <p:cNvPr id="4" name="Slide Number Placeholder 3">
            <a:extLst>
              <a:ext uri="{FF2B5EF4-FFF2-40B4-BE49-F238E27FC236}">
                <a16:creationId xmlns:a16="http://schemas.microsoft.com/office/drawing/2014/main" id="{6393CB11-0716-EA22-15D5-5D6A2F745764}"/>
              </a:ext>
            </a:extLst>
          </p:cNvPr>
          <p:cNvSpPr>
            <a:spLocks noGrp="1"/>
          </p:cNvSpPr>
          <p:nvPr>
            <p:ph type="sldNum" sz="quarter" idx="12"/>
          </p:nvPr>
        </p:nvSpPr>
        <p:spPr/>
        <p:txBody>
          <a:bodyPr/>
          <a:lstStyle/>
          <a:p>
            <a:fld id="{B82CCC60-E8CD-4174-8B1A-7DF615B22EEF}" type="slidenum">
              <a:rPr lang="en-US" smtClean="0"/>
              <a:pPr/>
              <a:t>79</a:t>
            </a:fld>
            <a:endParaRPr lang="en-US"/>
          </a:p>
        </p:txBody>
      </p:sp>
      <p:pic>
        <p:nvPicPr>
          <p:cNvPr id="6" name="Picture 5">
            <a:extLst>
              <a:ext uri="{FF2B5EF4-FFF2-40B4-BE49-F238E27FC236}">
                <a16:creationId xmlns:a16="http://schemas.microsoft.com/office/drawing/2014/main" id="{B35B6371-42B2-53CC-7E67-C06DDAE83C82}"/>
              </a:ext>
            </a:extLst>
          </p:cNvPr>
          <p:cNvPicPr>
            <a:picLocks noChangeAspect="1"/>
          </p:cNvPicPr>
          <p:nvPr/>
        </p:nvPicPr>
        <p:blipFill>
          <a:blip r:embed="rId2"/>
          <a:stretch>
            <a:fillRect/>
          </a:stretch>
        </p:blipFill>
        <p:spPr>
          <a:xfrm>
            <a:off x="904030" y="3734410"/>
            <a:ext cx="8890828" cy="2443280"/>
          </a:xfrm>
          <a:prstGeom prst="rect">
            <a:avLst/>
          </a:prstGeom>
        </p:spPr>
      </p:pic>
    </p:spTree>
    <p:extLst>
      <p:ext uri="{BB962C8B-B14F-4D97-AF65-F5344CB8AC3E}">
        <p14:creationId xmlns:p14="http://schemas.microsoft.com/office/powerpoint/2010/main" val="22612128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1F9E28-7920-B26B-613D-E2B5F17AA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C5E98A-BB50-71BF-324B-EADDF86E41AA}"/>
              </a:ext>
            </a:extLst>
          </p:cNvPr>
          <p:cNvSpPr>
            <a:spLocks noGrp="1"/>
          </p:cNvSpPr>
          <p:nvPr>
            <p:ph type="title"/>
          </p:nvPr>
        </p:nvSpPr>
        <p:spPr/>
        <p:txBody>
          <a:bodyPr>
            <a:normAutofit fontScale="90000"/>
          </a:bodyPr>
          <a:lstStyle/>
          <a:p>
            <a:r>
              <a:rPr lang="en-US" dirty="0"/>
              <a:t>MaSuRCA - SAMBA</a:t>
            </a:r>
          </a:p>
        </p:txBody>
      </p:sp>
      <p:sp>
        <p:nvSpPr>
          <p:cNvPr id="3" name="Content Placeholder 2">
            <a:extLst>
              <a:ext uri="{FF2B5EF4-FFF2-40B4-BE49-F238E27FC236}">
                <a16:creationId xmlns:a16="http://schemas.microsoft.com/office/drawing/2014/main" id="{B74B13B3-F8A8-BE95-6200-6900F2243FA7}"/>
              </a:ext>
            </a:extLst>
          </p:cNvPr>
          <p:cNvSpPr>
            <a:spLocks noGrp="1"/>
          </p:cNvSpPr>
          <p:nvPr>
            <p:ph idx="1"/>
          </p:nvPr>
        </p:nvSpPr>
        <p:spPr/>
        <p:txBody>
          <a:bodyPr/>
          <a:lstStyle/>
          <a:p>
            <a:r>
              <a:rPr lang="en-US" dirty="0"/>
              <a:t>Scaffolding tool to improve contig sizes with long reads (ONT/PacBio)</a:t>
            </a:r>
          </a:p>
          <a:p>
            <a:r>
              <a:rPr lang="en-US" dirty="0"/>
              <a:t>Can be used to improve assemblies with additional data without complete re-assembly</a:t>
            </a:r>
          </a:p>
          <a:p>
            <a:r>
              <a:rPr lang="en-US" dirty="0"/>
              <a:t>Can be used to close gaps in scaffolds</a:t>
            </a:r>
          </a:p>
          <a:p>
            <a:r>
              <a:rPr lang="en-US" dirty="0"/>
              <a:t>Usage:</a:t>
            </a:r>
          </a:p>
        </p:txBody>
      </p:sp>
      <p:sp>
        <p:nvSpPr>
          <p:cNvPr id="4" name="Slide Number Placeholder 3">
            <a:extLst>
              <a:ext uri="{FF2B5EF4-FFF2-40B4-BE49-F238E27FC236}">
                <a16:creationId xmlns:a16="http://schemas.microsoft.com/office/drawing/2014/main" id="{318BD591-7944-CC49-40A5-972A3CD0ED74}"/>
              </a:ext>
            </a:extLst>
          </p:cNvPr>
          <p:cNvSpPr>
            <a:spLocks noGrp="1"/>
          </p:cNvSpPr>
          <p:nvPr>
            <p:ph type="sldNum" sz="quarter" idx="12"/>
          </p:nvPr>
        </p:nvSpPr>
        <p:spPr/>
        <p:txBody>
          <a:bodyPr/>
          <a:lstStyle/>
          <a:p>
            <a:fld id="{B82CCC60-E8CD-4174-8B1A-7DF615B22EEF}" type="slidenum">
              <a:rPr lang="en-US" smtClean="0"/>
              <a:pPr/>
              <a:t>80</a:t>
            </a:fld>
            <a:endParaRPr lang="en-US"/>
          </a:p>
        </p:txBody>
      </p:sp>
      <p:pic>
        <p:nvPicPr>
          <p:cNvPr id="6" name="Picture 5">
            <a:extLst>
              <a:ext uri="{FF2B5EF4-FFF2-40B4-BE49-F238E27FC236}">
                <a16:creationId xmlns:a16="http://schemas.microsoft.com/office/drawing/2014/main" id="{E2443E7E-F0A8-5772-7E9B-AB9C3EFCEC76}"/>
              </a:ext>
            </a:extLst>
          </p:cNvPr>
          <p:cNvPicPr>
            <a:picLocks noChangeAspect="1"/>
          </p:cNvPicPr>
          <p:nvPr/>
        </p:nvPicPr>
        <p:blipFill>
          <a:blip r:embed="rId2"/>
          <a:stretch>
            <a:fillRect/>
          </a:stretch>
        </p:blipFill>
        <p:spPr>
          <a:xfrm>
            <a:off x="624310" y="4192524"/>
            <a:ext cx="8678495" cy="2236381"/>
          </a:xfrm>
          <a:prstGeom prst="rect">
            <a:avLst/>
          </a:prstGeom>
        </p:spPr>
      </p:pic>
    </p:spTree>
    <p:extLst>
      <p:ext uri="{BB962C8B-B14F-4D97-AF65-F5344CB8AC3E}">
        <p14:creationId xmlns:p14="http://schemas.microsoft.com/office/powerpoint/2010/main" val="284138339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B658C5-82A1-ED97-F13F-4782C17E8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E1F05-1087-A066-3213-9B8F5B0994AC}"/>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82D0780D-7A63-C844-4BBA-6ACDD0624672}"/>
              </a:ext>
            </a:extLst>
          </p:cNvPr>
          <p:cNvSpPr>
            <a:spLocks noGrp="1"/>
          </p:cNvSpPr>
          <p:nvPr>
            <p:ph idx="1"/>
          </p:nvPr>
        </p:nvSpPr>
        <p:spPr>
          <a:xfrm>
            <a:off x="598620" y="1596540"/>
            <a:ext cx="10972800" cy="4759811"/>
          </a:xfrm>
        </p:spPr>
        <p:txBody>
          <a:bodyPr>
            <a:normAutofit/>
          </a:bodyPr>
          <a:lstStyle/>
          <a:p>
            <a:r>
              <a:rPr lang="en-US" dirty="0"/>
              <a:t>Multi-purpose tool to work with fasta files</a:t>
            </a:r>
          </a:p>
          <a:p>
            <a:pPr lvl="1"/>
            <a:r>
              <a:rPr lang="en-US" dirty="0"/>
              <a:t>Extract records by name, random sample</a:t>
            </a:r>
          </a:p>
          <a:p>
            <a:pPr lvl="1"/>
            <a:r>
              <a:rPr lang="en-US" dirty="0"/>
              <a:t>Reverse complement</a:t>
            </a:r>
          </a:p>
          <a:p>
            <a:pPr lvl="1"/>
            <a:r>
              <a:rPr lang="en-US" dirty="0"/>
              <a:t>Format</a:t>
            </a:r>
          </a:p>
          <a:p>
            <a:pPr lvl="1"/>
            <a:r>
              <a:rPr lang="en-US" dirty="0"/>
              <a:t>Compute statistics</a:t>
            </a:r>
          </a:p>
          <a:p>
            <a:pPr lvl="2"/>
            <a:r>
              <a:rPr lang="en-US" dirty="0"/>
              <a:t>N50</a:t>
            </a:r>
          </a:p>
          <a:p>
            <a:pPr lvl="2"/>
            <a:r>
              <a:rPr lang="en-US" dirty="0"/>
              <a:t>Averages</a:t>
            </a:r>
          </a:p>
          <a:p>
            <a:pPr lvl="2"/>
            <a:r>
              <a:rPr lang="en-US" dirty="0"/>
              <a:t>E-size</a:t>
            </a:r>
          </a:p>
          <a:p>
            <a:pPr lvl="2"/>
            <a:r>
              <a:rPr lang="en-US" dirty="0"/>
              <a:t>Count</a:t>
            </a:r>
          </a:p>
        </p:txBody>
      </p:sp>
      <p:sp>
        <p:nvSpPr>
          <p:cNvPr id="4" name="Slide Number Placeholder 3">
            <a:extLst>
              <a:ext uri="{FF2B5EF4-FFF2-40B4-BE49-F238E27FC236}">
                <a16:creationId xmlns:a16="http://schemas.microsoft.com/office/drawing/2014/main" id="{89AE7922-E559-2F26-BCD9-10D4C10C75A4}"/>
              </a:ext>
            </a:extLst>
          </p:cNvPr>
          <p:cNvSpPr>
            <a:spLocks noGrp="1"/>
          </p:cNvSpPr>
          <p:nvPr>
            <p:ph type="sldNum" sz="quarter" idx="12"/>
          </p:nvPr>
        </p:nvSpPr>
        <p:spPr/>
        <p:txBody>
          <a:bodyPr/>
          <a:lstStyle/>
          <a:p>
            <a:fld id="{B82CCC60-E8CD-4174-8B1A-7DF615B22EEF}" type="slidenum">
              <a:rPr lang="en-US" smtClean="0"/>
              <a:pPr/>
              <a:t>81</a:t>
            </a:fld>
            <a:endParaRPr lang="en-US"/>
          </a:p>
        </p:txBody>
      </p:sp>
    </p:spTree>
    <p:extLst>
      <p:ext uri="{BB962C8B-B14F-4D97-AF65-F5344CB8AC3E}">
        <p14:creationId xmlns:p14="http://schemas.microsoft.com/office/powerpoint/2010/main" val="23877583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DA334B-A614-B0CE-8F16-D587B767F1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0B750-A63F-0C07-48C2-E5AB74057312}"/>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4E2DD974-5558-9BEA-50E1-AA1C2F69782F}"/>
              </a:ext>
            </a:extLst>
          </p:cNvPr>
          <p:cNvSpPr>
            <a:spLocks noGrp="1"/>
          </p:cNvSpPr>
          <p:nvPr>
            <p:ph idx="1"/>
          </p:nvPr>
        </p:nvSpPr>
        <p:spPr>
          <a:xfrm>
            <a:off x="598620" y="1596540"/>
            <a:ext cx="10689350" cy="4759811"/>
          </a:xfrm>
        </p:spPr>
        <p:txBody>
          <a:bodyPr>
            <a:normAutofit/>
          </a:bodyPr>
          <a:lstStyle/>
          <a:p>
            <a:r>
              <a:rPr lang="en-US" dirty="0" err="1"/>
              <a:t>ufasta</a:t>
            </a:r>
            <a:r>
              <a:rPr lang="en-US" dirty="0"/>
              <a:t> can take input from file or pipe</a:t>
            </a:r>
          </a:p>
          <a:p>
            <a:r>
              <a:rPr lang="en-US" dirty="0" err="1"/>
              <a:t>ufasta</a:t>
            </a:r>
            <a:r>
              <a:rPr lang="en-US" dirty="0"/>
              <a:t> usage:</a:t>
            </a:r>
          </a:p>
          <a:p>
            <a:pPr lvl="1"/>
            <a:r>
              <a:rPr lang="en-US" dirty="0" err="1"/>
              <a:t>ufasta</a:t>
            </a:r>
            <a:r>
              <a:rPr lang="en-US" dirty="0"/>
              <a:t> n50 -a, –NXX, –S, –C</a:t>
            </a:r>
          </a:p>
          <a:p>
            <a:pPr lvl="1"/>
            <a:r>
              <a:rPr lang="en-US" dirty="0" err="1"/>
              <a:t>ufasta</a:t>
            </a:r>
            <a:r>
              <a:rPr lang="en-US" dirty="0"/>
              <a:t> extract  -f names.txt, –n </a:t>
            </a:r>
            <a:r>
              <a:rPr lang="en-US" dirty="0" err="1"/>
              <a:t>single_name</a:t>
            </a:r>
            <a:r>
              <a:rPr lang="en-US" dirty="0"/>
              <a:t>, -v</a:t>
            </a:r>
          </a:p>
          <a:p>
            <a:pPr lvl="1"/>
            <a:r>
              <a:rPr lang="en-US" dirty="0" err="1"/>
              <a:t>ufasta</a:t>
            </a:r>
            <a:r>
              <a:rPr lang="en-US" dirty="0"/>
              <a:t> format</a:t>
            </a:r>
          </a:p>
          <a:p>
            <a:pPr lvl="1"/>
            <a:r>
              <a:rPr lang="en-US" dirty="0" err="1"/>
              <a:t>ufasta</a:t>
            </a:r>
            <a:r>
              <a:rPr lang="en-US" dirty="0"/>
              <a:t> one</a:t>
            </a:r>
          </a:p>
          <a:p>
            <a:pPr lvl="1"/>
            <a:r>
              <a:rPr lang="en-US" dirty="0" err="1"/>
              <a:t>ufasta</a:t>
            </a:r>
            <a:r>
              <a:rPr lang="en-US" dirty="0"/>
              <a:t> </a:t>
            </a:r>
            <a:r>
              <a:rPr lang="en-US" dirty="0" err="1"/>
              <a:t>rc</a:t>
            </a:r>
            <a:r>
              <a:rPr lang="en-US" dirty="0"/>
              <a:t> </a:t>
            </a:r>
          </a:p>
        </p:txBody>
      </p:sp>
      <p:sp>
        <p:nvSpPr>
          <p:cNvPr id="4" name="Slide Number Placeholder 3">
            <a:extLst>
              <a:ext uri="{FF2B5EF4-FFF2-40B4-BE49-F238E27FC236}">
                <a16:creationId xmlns:a16="http://schemas.microsoft.com/office/drawing/2014/main" id="{C849F6B1-694D-E2D7-05A5-E0C9A9D9730E}"/>
              </a:ext>
            </a:extLst>
          </p:cNvPr>
          <p:cNvSpPr>
            <a:spLocks noGrp="1"/>
          </p:cNvSpPr>
          <p:nvPr>
            <p:ph type="sldNum" sz="quarter" idx="12"/>
          </p:nvPr>
        </p:nvSpPr>
        <p:spPr/>
        <p:txBody>
          <a:bodyPr/>
          <a:lstStyle/>
          <a:p>
            <a:fld id="{B82CCC60-E8CD-4174-8B1A-7DF615B22EEF}" type="slidenum">
              <a:rPr lang="en-US" smtClean="0"/>
              <a:pPr/>
              <a:t>82</a:t>
            </a:fld>
            <a:endParaRPr lang="en-US"/>
          </a:p>
        </p:txBody>
      </p:sp>
    </p:spTree>
    <p:extLst>
      <p:ext uri="{BB962C8B-B14F-4D97-AF65-F5344CB8AC3E}">
        <p14:creationId xmlns:p14="http://schemas.microsoft.com/office/powerpoint/2010/main" val="7375972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BE74B-A428-28FE-E5F8-7B3C05105D8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DBE60FA5-F728-B4B6-3C61-1584C6FEF3CF}"/>
              </a:ext>
            </a:extLst>
          </p:cNvPr>
          <p:cNvSpPr>
            <a:spLocks noGrp="1"/>
          </p:cNvSpPr>
          <p:nvPr>
            <p:ph idx="1"/>
          </p:nvPr>
        </p:nvSpPr>
        <p:spPr>
          <a:xfrm>
            <a:off x="598620" y="1596540"/>
            <a:ext cx="10972800" cy="4275740"/>
          </a:xfrm>
        </p:spPr>
        <p:txBody>
          <a:bodyPr>
            <a:normAutofit/>
          </a:bodyPr>
          <a:lstStyle/>
          <a:p>
            <a:r>
              <a:rPr lang="en-US" dirty="0"/>
              <a:t>Used for PacBio HiFi data</a:t>
            </a:r>
          </a:p>
          <a:p>
            <a:r>
              <a:rPr lang="en-US" dirty="0"/>
              <a:t>Can do haplotype-resolved assemblies with </a:t>
            </a:r>
            <a:r>
              <a:rPr lang="en-US" dirty="0" err="1"/>
              <a:t>HiC</a:t>
            </a:r>
            <a:r>
              <a:rPr lang="en-US" dirty="0"/>
              <a:t> data</a:t>
            </a:r>
          </a:p>
          <a:p>
            <a:r>
              <a:rPr lang="en-US" dirty="0"/>
              <a:t>Fast and accurate</a:t>
            </a:r>
          </a:p>
          <a:p>
            <a:r>
              <a:rPr lang="en-US" dirty="0"/>
              <a:t>Error corrects reads, uses </a:t>
            </a:r>
            <a:r>
              <a:rPr lang="en-US" u="sng" dirty="0"/>
              <a:t>string graph </a:t>
            </a:r>
            <a:r>
              <a:rPr lang="en-US" dirty="0"/>
              <a:t>with </a:t>
            </a:r>
            <a:r>
              <a:rPr lang="en-US" u="sng" dirty="0"/>
              <a:t>exact</a:t>
            </a:r>
            <a:r>
              <a:rPr lang="en-US" dirty="0"/>
              <a:t> overlaps</a:t>
            </a:r>
          </a:p>
          <a:p>
            <a:r>
              <a:rPr lang="en-US" dirty="0"/>
              <a:t>Basic usage:</a:t>
            </a:r>
            <a:br>
              <a:rPr lang="en-US" dirty="0"/>
            </a:br>
            <a:r>
              <a:rPr lang="en-US" i="1" dirty="0"/>
              <a:t>hifiasm --primary -t 16 </a:t>
            </a:r>
            <a:r>
              <a:rPr lang="en-US" i="1" dirty="0" err="1"/>
              <a:t>reads.fastq</a:t>
            </a:r>
            <a:endParaRPr lang="en-US" i="1" dirty="0"/>
          </a:p>
        </p:txBody>
      </p:sp>
      <p:sp>
        <p:nvSpPr>
          <p:cNvPr id="4" name="Slide Number Placeholder 3">
            <a:extLst>
              <a:ext uri="{FF2B5EF4-FFF2-40B4-BE49-F238E27FC236}">
                <a16:creationId xmlns:a16="http://schemas.microsoft.com/office/drawing/2014/main" id="{A083E592-4012-AB02-C176-0BFDA040F613}"/>
              </a:ext>
            </a:extLst>
          </p:cNvPr>
          <p:cNvSpPr>
            <a:spLocks noGrp="1"/>
          </p:cNvSpPr>
          <p:nvPr>
            <p:ph type="sldNum" sz="quarter" idx="12"/>
          </p:nvPr>
        </p:nvSpPr>
        <p:spPr/>
        <p:txBody>
          <a:bodyPr/>
          <a:lstStyle/>
          <a:p>
            <a:fld id="{B82CCC60-E8CD-4174-8B1A-7DF615B22EEF}" type="slidenum">
              <a:rPr lang="en-US" smtClean="0"/>
              <a:pPr/>
              <a:t>83</a:t>
            </a:fld>
            <a:endParaRPr lang="en-US"/>
          </a:p>
        </p:txBody>
      </p:sp>
    </p:spTree>
    <p:extLst>
      <p:ext uri="{BB962C8B-B14F-4D97-AF65-F5344CB8AC3E}">
        <p14:creationId xmlns:p14="http://schemas.microsoft.com/office/powerpoint/2010/main" val="19022301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F8E610-3FA2-97C4-3599-8468B9F8C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114DB0-15EB-E215-928C-A6FCD8F6177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29852C52-35D2-591B-95C4-DC56CB1B2231}"/>
              </a:ext>
            </a:extLst>
          </p:cNvPr>
          <p:cNvSpPr>
            <a:spLocks noGrp="1"/>
          </p:cNvSpPr>
          <p:nvPr>
            <p:ph idx="1"/>
          </p:nvPr>
        </p:nvSpPr>
        <p:spPr>
          <a:xfrm>
            <a:off x="598620" y="1596540"/>
            <a:ext cx="10972800" cy="2595985"/>
          </a:xfrm>
        </p:spPr>
        <p:txBody>
          <a:bodyPr/>
          <a:lstStyle/>
          <a:p>
            <a:r>
              <a:rPr lang="en-US" dirty="0"/>
              <a:t>Outputs:</a:t>
            </a:r>
          </a:p>
        </p:txBody>
      </p:sp>
      <p:sp>
        <p:nvSpPr>
          <p:cNvPr id="4" name="Slide Number Placeholder 3">
            <a:extLst>
              <a:ext uri="{FF2B5EF4-FFF2-40B4-BE49-F238E27FC236}">
                <a16:creationId xmlns:a16="http://schemas.microsoft.com/office/drawing/2014/main" id="{0802EB12-2FC2-4174-3282-BBE34359ACA6}"/>
              </a:ext>
            </a:extLst>
          </p:cNvPr>
          <p:cNvSpPr>
            <a:spLocks noGrp="1"/>
          </p:cNvSpPr>
          <p:nvPr>
            <p:ph type="sldNum" sz="quarter" idx="12"/>
          </p:nvPr>
        </p:nvSpPr>
        <p:spPr/>
        <p:txBody>
          <a:bodyPr/>
          <a:lstStyle/>
          <a:p>
            <a:fld id="{B82CCC60-E8CD-4174-8B1A-7DF615B22EEF}" type="slidenum">
              <a:rPr lang="en-US" smtClean="0"/>
              <a:pPr/>
              <a:t>84</a:t>
            </a:fld>
            <a:endParaRPr lang="en-US"/>
          </a:p>
        </p:txBody>
      </p:sp>
      <p:pic>
        <p:nvPicPr>
          <p:cNvPr id="6" name="Picture 5">
            <a:extLst>
              <a:ext uri="{FF2B5EF4-FFF2-40B4-BE49-F238E27FC236}">
                <a16:creationId xmlns:a16="http://schemas.microsoft.com/office/drawing/2014/main" id="{ABA90C41-B0D5-436C-A56D-0A09265B4C49}"/>
              </a:ext>
            </a:extLst>
          </p:cNvPr>
          <p:cNvPicPr>
            <a:picLocks noChangeAspect="1"/>
          </p:cNvPicPr>
          <p:nvPr/>
        </p:nvPicPr>
        <p:blipFill>
          <a:blip r:embed="rId2"/>
          <a:stretch>
            <a:fillRect/>
          </a:stretch>
        </p:blipFill>
        <p:spPr>
          <a:xfrm>
            <a:off x="1820260" y="2512770"/>
            <a:ext cx="8230749" cy="3191320"/>
          </a:xfrm>
          <a:prstGeom prst="rect">
            <a:avLst/>
          </a:prstGeom>
        </p:spPr>
      </p:pic>
    </p:spTree>
    <p:extLst>
      <p:ext uri="{BB962C8B-B14F-4D97-AF65-F5344CB8AC3E}">
        <p14:creationId xmlns:p14="http://schemas.microsoft.com/office/powerpoint/2010/main" val="200609025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43D8683-D711-337E-490F-FF33F3B08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55F030-D597-5453-3A31-EBE3015F3ACA}"/>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5F05547B-A3E4-A7B7-B8AC-A79ED9863477}"/>
              </a:ext>
            </a:extLst>
          </p:cNvPr>
          <p:cNvSpPr>
            <a:spLocks noGrp="1"/>
          </p:cNvSpPr>
          <p:nvPr>
            <p:ph type="sldNum" sz="quarter" idx="12"/>
          </p:nvPr>
        </p:nvSpPr>
        <p:spPr/>
        <p:txBody>
          <a:bodyPr/>
          <a:lstStyle/>
          <a:p>
            <a:fld id="{B82CCC60-E8CD-4174-8B1A-7DF615B22EEF}" type="slidenum">
              <a:rPr lang="en-US" smtClean="0"/>
              <a:pPr/>
              <a:t>85</a:t>
            </a:fld>
            <a:endParaRPr lang="en-US"/>
          </a:p>
        </p:txBody>
      </p:sp>
      <p:pic>
        <p:nvPicPr>
          <p:cNvPr id="6" name="Picture 5">
            <a:extLst>
              <a:ext uri="{FF2B5EF4-FFF2-40B4-BE49-F238E27FC236}">
                <a16:creationId xmlns:a16="http://schemas.microsoft.com/office/drawing/2014/main" id="{C05876CB-D166-FCCF-B5A9-0BF7CCD8ECBF}"/>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EDB2CA98-D01C-F27C-B8BD-3C14181060DE}"/>
              </a:ext>
            </a:extLst>
          </p:cNvPr>
          <p:cNvSpPr/>
          <p:nvPr/>
        </p:nvSpPr>
        <p:spPr>
          <a:xfrm>
            <a:off x="315685" y="5108755"/>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1EF4625-05CA-1B8E-8FCF-9BBA56EFA5EE}"/>
              </a:ext>
            </a:extLst>
          </p:cNvPr>
          <p:cNvSpPr txBox="1"/>
          <p:nvPr/>
        </p:nvSpPr>
        <p:spPr>
          <a:xfrm>
            <a:off x="5027065" y="5108755"/>
            <a:ext cx="7024430" cy="646331"/>
          </a:xfrm>
          <a:prstGeom prst="rect">
            <a:avLst/>
          </a:prstGeom>
          <a:noFill/>
        </p:spPr>
        <p:txBody>
          <a:bodyPr wrap="square" rtlCol="0">
            <a:spAutoFit/>
          </a:bodyPr>
          <a:lstStyle/>
          <a:p>
            <a:r>
              <a:rPr lang="en-US" dirty="0"/>
              <a:t>Overlaps and error corrected reads; computing these files takes the most time.  You can keep them to quickly rerun with different parameters.</a:t>
            </a:r>
          </a:p>
        </p:txBody>
      </p:sp>
    </p:spTree>
    <p:extLst>
      <p:ext uri="{BB962C8B-B14F-4D97-AF65-F5344CB8AC3E}">
        <p14:creationId xmlns:p14="http://schemas.microsoft.com/office/powerpoint/2010/main" val="219473852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792ABE-F3A3-B77B-EACE-3E0589158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FB460-5047-D552-EDC7-23654A272FFF}"/>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7B78B686-8DDB-21DA-C02C-004B812E943D}"/>
              </a:ext>
            </a:extLst>
          </p:cNvPr>
          <p:cNvSpPr>
            <a:spLocks noGrp="1"/>
          </p:cNvSpPr>
          <p:nvPr>
            <p:ph type="sldNum" sz="quarter" idx="12"/>
          </p:nvPr>
        </p:nvSpPr>
        <p:spPr/>
        <p:txBody>
          <a:bodyPr/>
          <a:lstStyle/>
          <a:p>
            <a:fld id="{B82CCC60-E8CD-4174-8B1A-7DF615B22EEF}" type="slidenum">
              <a:rPr lang="en-US" smtClean="0"/>
              <a:pPr/>
              <a:t>86</a:t>
            </a:fld>
            <a:endParaRPr lang="en-US"/>
          </a:p>
        </p:txBody>
      </p:sp>
      <p:pic>
        <p:nvPicPr>
          <p:cNvPr id="6" name="Picture 5">
            <a:extLst>
              <a:ext uri="{FF2B5EF4-FFF2-40B4-BE49-F238E27FC236}">
                <a16:creationId xmlns:a16="http://schemas.microsoft.com/office/drawing/2014/main" id="{B2113DD4-24C1-A18B-75A9-CAA29B9A7F0D}"/>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3BCD45F8-29FF-6369-8C80-401E4ABEF658}"/>
              </a:ext>
            </a:extLst>
          </p:cNvPr>
          <p:cNvSpPr/>
          <p:nvPr/>
        </p:nvSpPr>
        <p:spPr>
          <a:xfrm>
            <a:off x="217115" y="444281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379AED9-562D-766D-4209-CE869B863BBE}"/>
              </a:ext>
            </a:extLst>
          </p:cNvPr>
          <p:cNvSpPr txBox="1"/>
          <p:nvPr/>
        </p:nvSpPr>
        <p:spPr>
          <a:xfrm>
            <a:off x="5004590" y="4555123"/>
            <a:ext cx="6436085" cy="369332"/>
          </a:xfrm>
          <a:prstGeom prst="rect">
            <a:avLst/>
          </a:prstGeom>
          <a:noFill/>
        </p:spPr>
        <p:txBody>
          <a:bodyPr wrap="square" rtlCol="0">
            <a:spAutoFit/>
          </a:bodyPr>
          <a:lstStyle/>
          <a:p>
            <a:r>
              <a:rPr lang="en-US" dirty="0"/>
              <a:t>Raw uniquely assemble-able contigs (unitigs), with small bubbles</a:t>
            </a:r>
          </a:p>
        </p:txBody>
      </p:sp>
      <p:sp>
        <p:nvSpPr>
          <p:cNvPr id="3" name="Oval 2">
            <a:extLst>
              <a:ext uri="{FF2B5EF4-FFF2-40B4-BE49-F238E27FC236}">
                <a16:creationId xmlns:a16="http://schemas.microsoft.com/office/drawing/2014/main" id="{4EF8A318-8E3E-CD80-4EA4-2AB4FBD594A4}"/>
              </a:ext>
            </a:extLst>
          </p:cNvPr>
          <p:cNvSpPr/>
          <p:nvPr/>
        </p:nvSpPr>
        <p:spPr>
          <a:xfrm>
            <a:off x="5384575" y="329584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02C61271-6553-52D0-D8B7-837FF4E04E8A}"/>
              </a:ext>
            </a:extLst>
          </p:cNvPr>
          <p:cNvCxnSpPr>
            <a:cxnSpLocks/>
            <a:stCxn id="3" idx="6"/>
            <a:endCxn id="11" idx="2"/>
          </p:cNvCxnSpPr>
          <p:nvPr/>
        </p:nvCxnSpPr>
        <p:spPr>
          <a:xfrm flipV="1">
            <a:off x="5689985" y="344824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40E0EA1A-8CFD-EF9F-503E-D63757A34D82}"/>
              </a:ext>
            </a:extLst>
          </p:cNvPr>
          <p:cNvSpPr/>
          <p:nvPr/>
        </p:nvSpPr>
        <p:spPr>
          <a:xfrm>
            <a:off x="6148405" y="329553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A677334-14C6-7F9F-E102-767F8062CA82}"/>
              </a:ext>
            </a:extLst>
          </p:cNvPr>
          <p:cNvSpPr/>
          <p:nvPr/>
        </p:nvSpPr>
        <p:spPr>
          <a:xfrm>
            <a:off x="7024078" y="279030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2A055F87-00F6-558A-0045-659A125145C2}"/>
              </a:ext>
            </a:extLst>
          </p:cNvPr>
          <p:cNvCxnSpPr>
            <a:cxnSpLocks/>
            <a:stCxn id="13" idx="6"/>
            <a:endCxn id="15" idx="2"/>
          </p:cNvCxnSpPr>
          <p:nvPr/>
        </p:nvCxnSpPr>
        <p:spPr>
          <a:xfrm flipV="1">
            <a:off x="7329488" y="294270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87659D89-6D6E-34CF-5B38-14680252864A}"/>
              </a:ext>
            </a:extLst>
          </p:cNvPr>
          <p:cNvSpPr/>
          <p:nvPr/>
        </p:nvSpPr>
        <p:spPr>
          <a:xfrm>
            <a:off x="778790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672B6F1D-F1C7-7312-A1ED-FA98F4FFC1E0}"/>
              </a:ext>
            </a:extLst>
          </p:cNvPr>
          <p:cNvCxnSpPr>
            <a:cxnSpLocks/>
            <a:stCxn id="11" idx="6"/>
            <a:endCxn id="13" idx="2"/>
          </p:cNvCxnSpPr>
          <p:nvPr/>
        </p:nvCxnSpPr>
        <p:spPr>
          <a:xfrm flipV="1">
            <a:off x="6453815" y="2943013"/>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ED34186-4BA8-81AB-BCA9-5134242F6143}"/>
              </a:ext>
            </a:extLst>
          </p:cNvPr>
          <p:cNvCxnSpPr>
            <a:cxnSpLocks/>
            <a:stCxn id="15" idx="6"/>
            <a:endCxn id="21" idx="2"/>
          </p:cNvCxnSpPr>
          <p:nvPr/>
        </p:nvCxnSpPr>
        <p:spPr>
          <a:xfrm>
            <a:off x="8093318" y="294270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4BFDF58-868C-7D61-ABF5-5AF5C5DCBF5E}"/>
              </a:ext>
            </a:extLst>
          </p:cNvPr>
          <p:cNvSpPr/>
          <p:nvPr/>
        </p:nvSpPr>
        <p:spPr>
          <a:xfrm>
            <a:off x="855173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926444A4-B704-93C4-FCD7-EFAADAC5B909}"/>
              </a:ext>
            </a:extLst>
          </p:cNvPr>
          <p:cNvSpPr/>
          <p:nvPr/>
        </p:nvSpPr>
        <p:spPr>
          <a:xfrm>
            <a:off x="933706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6242F500-6B68-0721-BADC-56FB9EEBC392}"/>
              </a:ext>
            </a:extLst>
          </p:cNvPr>
          <p:cNvCxnSpPr>
            <a:cxnSpLocks/>
            <a:stCxn id="22" idx="6"/>
            <a:endCxn id="24" idx="2"/>
          </p:cNvCxnSpPr>
          <p:nvPr/>
        </p:nvCxnSpPr>
        <p:spPr>
          <a:xfrm>
            <a:off x="9642477" y="344722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CA469DFD-A060-BED5-3857-F980467D84D2}"/>
              </a:ext>
            </a:extLst>
          </p:cNvPr>
          <p:cNvSpPr/>
          <p:nvPr/>
        </p:nvSpPr>
        <p:spPr>
          <a:xfrm>
            <a:off x="1010089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AABDA362-229E-1098-8262-A7229D2DF26D}"/>
              </a:ext>
            </a:extLst>
          </p:cNvPr>
          <p:cNvCxnSpPr>
            <a:cxnSpLocks/>
            <a:stCxn id="21" idx="6"/>
            <a:endCxn id="22" idx="1"/>
          </p:cNvCxnSpPr>
          <p:nvPr/>
        </p:nvCxnSpPr>
        <p:spPr>
          <a:xfrm>
            <a:off x="8857148" y="2942708"/>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77CD1DF-A4EE-31AE-95F3-9724BE21A5DD}"/>
              </a:ext>
            </a:extLst>
          </p:cNvPr>
          <p:cNvCxnSpPr>
            <a:cxnSpLocks/>
            <a:stCxn id="24" idx="7"/>
            <a:endCxn id="31" idx="2"/>
          </p:cNvCxnSpPr>
          <p:nvPr/>
        </p:nvCxnSpPr>
        <p:spPr>
          <a:xfrm flipV="1">
            <a:off x="10361581" y="2791235"/>
            <a:ext cx="431056" cy="5480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D30A4FC4-BD3A-E74D-F1E4-3C59D1D19312}"/>
              </a:ext>
            </a:extLst>
          </p:cNvPr>
          <p:cNvSpPr/>
          <p:nvPr/>
        </p:nvSpPr>
        <p:spPr>
          <a:xfrm>
            <a:off x="10792637" y="2638530"/>
            <a:ext cx="305410" cy="305410"/>
          </a:xfrm>
          <a:prstGeom prst="ellipse">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28B4B3B7-06B1-051C-0B89-F328691CE638}"/>
              </a:ext>
            </a:extLst>
          </p:cNvPr>
          <p:cNvCxnSpPr>
            <a:cxnSpLocks/>
            <a:stCxn id="31" idx="6"/>
            <a:endCxn id="40" idx="1"/>
          </p:cNvCxnSpPr>
          <p:nvPr/>
        </p:nvCxnSpPr>
        <p:spPr>
          <a:xfrm>
            <a:off x="11098047" y="2791235"/>
            <a:ext cx="509011" cy="54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46E51A-2CF9-4708-4E6F-99334EE74A82}"/>
              </a:ext>
            </a:extLst>
          </p:cNvPr>
          <p:cNvSpPr/>
          <p:nvPr/>
        </p:nvSpPr>
        <p:spPr>
          <a:xfrm>
            <a:off x="10798502" y="329214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B50E02C7-C6A5-25C3-B308-4EDDB7DC191A}"/>
              </a:ext>
            </a:extLst>
          </p:cNvPr>
          <p:cNvCxnSpPr>
            <a:cxnSpLocks/>
            <a:stCxn id="38" idx="6"/>
            <a:endCxn id="40" idx="2"/>
          </p:cNvCxnSpPr>
          <p:nvPr/>
        </p:nvCxnSpPr>
        <p:spPr>
          <a:xfrm flipV="1">
            <a:off x="11103912" y="3444542"/>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FE4F9D7-3E75-EB4D-F0BB-FE1558B1CC1A}"/>
              </a:ext>
            </a:extLst>
          </p:cNvPr>
          <p:cNvSpPr/>
          <p:nvPr/>
        </p:nvSpPr>
        <p:spPr>
          <a:xfrm>
            <a:off x="11562332" y="329183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9C22DB4F-B527-F568-53D8-96900C4CC703}"/>
              </a:ext>
            </a:extLst>
          </p:cNvPr>
          <p:cNvCxnSpPr>
            <a:cxnSpLocks/>
            <a:stCxn id="24" idx="6"/>
            <a:endCxn id="38" idx="2"/>
          </p:cNvCxnSpPr>
          <p:nvPr/>
        </p:nvCxnSpPr>
        <p:spPr>
          <a:xfrm flipV="1">
            <a:off x="10406307" y="3444847"/>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A956DB17-98EA-F226-E73A-A7BE139B7442}"/>
              </a:ext>
            </a:extLst>
          </p:cNvPr>
          <p:cNvSpPr/>
          <p:nvPr/>
        </p:nvSpPr>
        <p:spPr>
          <a:xfrm>
            <a:off x="7024078" y="377919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F222D47D-5803-60E6-9EA9-F455EC05766C}"/>
              </a:ext>
            </a:extLst>
          </p:cNvPr>
          <p:cNvCxnSpPr>
            <a:cxnSpLocks/>
            <a:stCxn id="57" idx="6"/>
            <a:endCxn id="59" idx="2"/>
          </p:cNvCxnSpPr>
          <p:nvPr/>
        </p:nvCxnSpPr>
        <p:spPr>
          <a:xfrm flipV="1">
            <a:off x="7329488" y="39315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B9E5C0A2-F78B-6C8C-0716-FF6F06FA0E79}"/>
              </a:ext>
            </a:extLst>
          </p:cNvPr>
          <p:cNvSpPr/>
          <p:nvPr/>
        </p:nvSpPr>
        <p:spPr>
          <a:xfrm>
            <a:off x="778790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B19D70A0-5C0A-203D-5215-A786CAD18528}"/>
              </a:ext>
            </a:extLst>
          </p:cNvPr>
          <p:cNvCxnSpPr>
            <a:cxnSpLocks/>
            <a:stCxn id="59" idx="6"/>
            <a:endCxn id="61" idx="2"/>
          </p:cNvCxnSpPr>
          <p:nvPr/>
        </p:nvCxnSpPr>
        <p:spPr>
          <a:xfrm>
            <a:off x="8093318" y="39315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C2546AB4-BA72-5E27-0DDC-054FC938F9E4}"/>
              </a:ext>
            </a:extLst>
          </p:cNvPr>
          <p:cNvSpPr/>
          <p:nvPr/>
        </p:nvSpPr>
        <p:spPr>
          <a:xfrm>
            <a:off x="855173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451D2558-DD0A-0457-584C-77343914EF80}"/>
              </a:ext>
            </a:extLst>
          </p:cNvPr>
          <p:cNvCxnSpPr>
            <a:cxnSpLocks/>
            <a:stCxn id="11" idx="6"/>
            <a:endCxn id="57" idx="2"/>
          </p:cNvCxnSpPr>
          <p:nvPr/>
        </p:nvCxnSpPr>
        <p:spPr>
          <a:xfrm>
            <a:off x="6453815" y="3448243"/>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BCF5279-9861-DC74-370A-5C9C4B0390E2}"/>
              </a:ext>
            </a:extLst>
          </p:cNvPr>
          <p:cNvCxnSpPr>
            <a:cxnSpLocks/>
            <a:stCxn id="61" idx="6"/>
            <a:endCxn id="22" idx="3"/>
          </p:cNvCxnSpPr>
          <p:nvPr/>
        </p:nvCxnSpPr>
        <p:spPr>
          <a:xfrm flipV="1">
            <a:off x="8857148" y="3555207"/>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03269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4775C9-87E4-CF42-C7D1-53A6DEF8E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F2F2C-D38C-F267-7F24-FA081BBCC2E3}"/>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AFE679F5-E27A-D299-A57A-CE623FC23254}"/>
              </a:ext>
            </a:extLst>
          </p:cNvPr>
          <p:cNvSpPr>
            <a:spLocks noGrp="1"/>
          </p:cNvSpPr>
          <p:nvPr>
            <p:ph type="sldNum" sz="quarter" idx="12"/>
          </p:nvPr>
        </p:nvSpPr>
        <p:spPr/>
        <p:txBody>
          <a:bodyPr/>
          <a:lstStyle/>
          <a:p>
            <a:fld id="{B82CCC60-E8CD-4174-8B1A-7DF615B22EEF}" type="slidenum">
              <a:rPr lang="en-US" smtClean="0"/>
              <a:pPr/>
              <a:t>87</a:t>
            </a:fld>
            <a:endParaRPr lang="en-US"/>
          </a:p>
        </p:txBody>
      </p:sp>
      <p:pic>
        <p:nvPicPr>
          <p:cNvPr id="6" name="Picture 5">
            <a:extLst>
              <a:ext uri="{FF2B5EF4-FFF2-40B4-BE49-F238E27FC236}">
                <a16:creationId xmlns:a16="http://schemas.microsoft.com/office/drawing/2014/main" id="{1045D359-F60E-E219-1AB2-0CFBAA7F2A4C}"/>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502FC8D1-E00F-959F-3E8B-35019B22BA93}"/>
              </a:ext>
            </a:extLst>
          </p:cNvPr>
          <p:cNvSpPr/>
          <p:nvPr/>
        </p:nvSpPr>
        <p:spPr>
          <a:xfrm>
            <a:off x="180575" y="381483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AFF534F-AC34-A677-B59A-26DE54E9583C}"/>
              </a:ext>
            </a:extLst>
          </p:cNvPr>
          <p:cNvSpPr txBox="1"/>
          <p:nvPr/>
        </p:nvSpPr>
        <p:spPr>
          <a:xfrm>
            <a:off x="5051425" y="3804253"/>
            <a:ext cx="6436085" cy="646331"/>
          </a:xfrm>
          <a:prstGeom prst="rect">
            <a:avLst/>
          </a:prstGeom>
          <a:noFill/>
        </p:spPr>
        <p:txBody>
          <a:bodyPr wrap="square" rtlCol="0">
            <a:spAutoFit/>
          </a:bodyPr>
          <a:lstStyle/>
          <a:p>
            <a:r>
              <a:rPr lang="en-US" dirty="0"/>
              <a:t>Primary uniquely assemble-able contigs (unitigs), without small bubbles</a:t>
            </a:r>
          </a:p>
        </p:txBody>
      </p:sp>
      <p:sp>
        <p:nvSpPr>
          <p:cNvPr id="3" name="Oval 2">
            <a:extLst>
              <a:ext uri="{FF2B5EF4-FFF2-40B4-BE49-F238E27FC236}">
                <a16:creationId xmlns:a16="http://schemas.microsoft.com/office/drawing/2014/main" id="{55917B6A-72E9-1B5C-C330-E9C32C7ABEF7}"/>
              </a:ext>
            </a:extLst>
          </p:cNvPr>
          <p:cNvSpPr/>
          <p:nvPr/>
        </p:nvSpPr>
        <p:spPr>
          <a:xfrm>
            <a:off x="5265027" y="245142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0F4821B-4162-E15C-5EDD-370D51442ABB}"/>
              </a:ext>
            </a:extLst>
          </p:cNvPr>
          <p:cNvCxnSpPr>
            <a:cxnSpLocks/>
            <a:stCxn id="3" idx="6"/>
            <a:endCxn id="11" idx="2"/>
          </p:cNvCxnSpPr>
          <p:nvPr/>
        </p:nvCxnSpPr>
        <p:spPr>
          <a:xfrm flipV="1">
            <a:off x="5570437" y="260382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CC8A2166-44E0-2205-CDD9-C4A450FBE74D}"/>
              </a:ext>
            </a:extLst>
          </p:cNvPr>
          <p:cNvSpPr/>
          <p:nvPr/>
        </p:nvSpPr>
        <p:spPr>
          <a:xfrm>
            <a:off x="6028857" y="24511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9DA65F7-2137-BDE7-7620-3C7721BE0244}"/>
              </a:ext>
            </a:extLst>
          </p:cNvPr>
          <p:cNvSpPr/>
          <p:nvPr/>
        </p:nvSpPr>
        <p:spPr>
          <a:xfrm>
            <a:off x="6904530" y="194589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B4FD712-F40E-ED26-0FEE-2D058C59B198}"/>
              </a:ext>
            </a:extLst>
          </p:cNvPr>
          <p:cNvCxnSpPr>
            <a:cxnSpLocks/>
            <a:stCxn id="13" idx="6"/>
            <a:endCxn id="15" idx="2"/>
          </p:cNvCxnSpPr>
          <p:nvPr/>
        </p:nvCxnSpPr>
        <p:spPr>
          <a:xfrm flipV="1">
            <a:off x="7209940" y="20982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E833CC3F-AC6E-7A96-2764-B9877A3E8F1A}"/>
              </a:ext>
            </a:extLst>
          </p:cNvPr>
          <p:cNvSpPr/>
          <p:nvPr/>
        </p:nvSpPr>
        <p:spPr>
          <a:xfrm>
            <a:off x="766836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A6B287ED-408E-BC5E-484B-B0B53655DCE0}"/>
              </a:ext>
            </a:extLst>
          </p:cNvPr>
          <p:cNvCxnSpPr>
            <a:cxnSpLocks/>
            <a:stCxn id="11" idx="6"/>
            <a:endCxn id="13" idx="2"/>
          </p:cNvCxnSpPr>
          <p:nvPr/>
        </p:nvCxnSpPr>
        <p:spPr>
          <a:xfrm flipV="1">
            <a:off x="6334267" y="2098598"/>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D29C9A3-82A5-F538-C044-0959BBA87527}"/>
              </a:ext>
            </a:extLst>
          </p:cNvPr>
          <p:cNvCxnSpPr>
            <a:cxnSpLocks/>
            <a:stCxn id="15" idx="6"/>
            <a:endCxn id="21" idx="2"/>
          </p:cNvCxnSpPr>
          <p:nvPr/>
        </p:nvCxnSpPr>
        <p:spPr>
          <a:xfrm>
            <a:off x="7973770" y="20982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4D0082D4-F781-B3AC-BE77-D45D1ED42AEA}"/>
              </a:ext>
            </a:extLst>
          </p:cNvPr>
          <p:cNvSpPr/>
          <p:nvPr/>
        </p:nvSpPr>
        <p:spPr>
          <a:xfrm>
            <a:off x="843219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CA21F71-949B-A3AC-6962-661596E157C7}"/>
              </a:ext>
            </a:extLst>
          </p:cNvPr>
          <p:cNvSpPr/>
          <p:nvPr/>
        </p:nvSpPr>
        <p:spPr>
          <a:xfrm>
            <a:off x="921751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2C0206A5-43E8-B0EF-CFCD-73492BA83CF7}"/>
              </a:ext>
            </a:extLst>
          </p:cNvPr>
          <p:cNvCxnSpPr>
            <a:cxnSpLocks/>
            <a:stCxn id="22" idx="6"/>
            <a:endCxn id="24" idx="2"/>
          </p:cNvCxnSpPr>
          <p:nvPr/>
        </p:nvCxnSpPr>
        <p:spPr>
          <a:xfrm>
            <a:off x="9522929" y="260281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24D2E01B-4C97-FA65-EE2A-DF08016C3CEE}"/>
              </a:ext>
            </a:extLst>
          </p:cNvPr>
          <p:cNvSpPr/>
          <p:nvPr/>
        </p:nvSpPr>
        <p:spPr>
          <a:xfrm>
            <a:off x="998134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474C7D3D-4BA0-9172-0379-3DD2FD2CED57}"/>
              </a:ext>
            </a:extLst>
          </p:cNvPr>
          <p:cNvCxnSpPr>
            <a:cxnSpLocks/>
            <a:stCxn id="21" idx="6"/>
            <a:endCxn id="22" idx="1"/>
          </p:cNvCxnSpPr>
          <p:nvPr/>
        </p:nvCxnSpPr>
        <p:spPr>
          <a:xfrm>
            <a:off x="8737600" y="2098293"/>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CE9E522B-AB38-A2A5-2362-59A10A04CF8F}"/>
              </a:ext>
            </a:extLst>
          </p:cNvPr>
          <p:cNvSpPr/>
          <p:nvPr/>
        </p:nvSpPr>
        <p:spPr>
          <a:xfrm>
            <a:off x="10678954" y="244772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C87707B0-808E-9544-9476-811BB04651A4}"/>
              </a:ext>
            </a:extLst>
          </p:cNvPr>
          <p:cNvCxnSpPr>
            <a:cxnSpLocks/>
            <a:stCxn id="38" idx="6"/>
            <a:endCxn id="40" idx="2"/>
          </p:cNvCxnSpPr>
          <p:nvPr/>
        </p:nvCxnSpPr>
        <p:spPr>
          <a:xfrm flipV="1">
            <a:off x="10984364" y="2600127"/>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E32AA99B-8267-2508-45B0-1883A4491923}"/>
              </a:ext>
            </a:extLst>
          </p:cNvPr>
          <p:cNvSpPr/>
          <p:nvPr/>
        </p:nvSpPr>
        <p:spPr>
          <a:xfrm>
            <a:off x="11442784" y="244742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14C048A5-3A1B-385E-AB93-9D90244BF339}"/>
              </a:ext>
            </a:extLst>
          </p:cNvPr>
          <p:cNvCxnSpPr>
            <a:cxnSpLocks/>
            <a:stCxn id="24" idx="6"/>
            <a:endCxn id="38" idx="2"/>
          </p:cNvCxnSpPr>
          <p:nvPr/>
        </p:nvCxnSpPr>
        <p:spPr>
          <a:xfrm flipV="1">
            <a:off x="10286759" y="2600432"/>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105D1FA4-340E-9835-E15E-9723D7FECE1D}"/>
              </a:ext>
            </a:extLst>
          </p:cNvPr>
          <p:cNvSpPr/>
          <p:nvPr/>
        </p:nvSpPr>
        <p:spPr>
          <a:xfrm>
            <a:off x="6904530" y="293477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48CEB683-8D51-3B4C-413B-0FDA26D5625F}"/>
              </a:ext>
            </a:extLst>
          </p:cNvPr>
          <p:cNvCxnSpPr>
            <a:cxnSpLocks/>
            <a:stCxn id="57" idx="6"/>
            <a:endCxn id="59" idx="2"/>
          </p:cNvCxnSpPr>
          <p:nvPr/>
        </p:nvCxnSpPr>
        <p:spPr>
          <a:xfrm flipV="1">
            <a:off x="7209940" y="308717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1CD10F58-EA3F-1BDD-A30E-C94C52BF4B58}"/>
              </a:ext>
            </a:extLst>
          </p:cNvPr>
          <p:cNvSpPr/>
          <p:nvPr/>
        </p:nvSpPr>
        <p:spPr>
          <a:xfrm>
            <a:off x="766836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79F88EDD-928A-7CE0-B6FC-DA80B2322DFF}"/>
              </a:ext>
            </a:extLst>
          </p:cNvPr>
          <p:cNvCxnSpPr>
            <a:cxnSpLocks/>
            <a:stCxn id="59" idx="6"/>
            <a:endCxn id="61" idx="2"/>
          </p:cNvCxnSpPr>
          <p:nvPr/>
        </p:nvCxnSpPr>
        <p:spPr>
          <a:xfrm>
            <a:off x="7973770" y="308717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1871C2D4-F77D-AA90-45F9-700DD9C2B32B}"/>
              </a:ext>
            </a:extLst>
          </p:cNvPr>
          <p:cNvSpPr/>
          <p:nvPr/>
        </p:nvSpPr>
        <p:spPr>
          <a:xfrm>
            <a:off x="843219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36667515-4095-0EB5-899F-F821DC921EA5}"/>
              </a:ext>
            </a:extLst>
          </p:cNvPr>
          <p:cNvCxnSpPr>
            <a:cxnSpLocks/>
            <a:stCxn id="11" idx="6"/>
            <a:endCxn id="57" idx="2"/>
          </p:cNvCxnSpPr>
          <p:nvPr/>
        </p:nvCxnSpPr>
        <p:spPr>
          <a:xfrm>
            <a:off x="6334267" y="2603828"/>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AE281F2-D865-8F11-F556-1ABDF0F56BD9}"/>
              </a:ext>
            </a:extLst>
          </p:cNvPr>
          <p:cNvCxnSpPr>
            <a:cxnSpLocks/>
            <a:stCxn id="61" idx="6"/>
            <a:endCxn id="22" idx="3"/>
          </p:cNvCxnSpPr>
          <p:nvPr/>
        </p:nvCxnSpPr>
        <p:spPr>
          <a:xfrm flipV="1">
            <a:off x="8737600" y="2710792"/>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28224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0E335B-BFEB-D265-EB77-F17964E0E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171D3B-4ABD-6BFC-403B-88D1CF48A164}"/>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88C9E737-C961-4A05-2DFD-C413484B537A}"/>
              </a:ext>
            </a:extLst>
          </p:cNvPr>
          <p:cNvSpPr>
            <a:spLocks noGrp="1"/>
          </p:cNvSpPr>
          <p:nvPr>
            <p:ph type="sldNum" sz="quarter" idx="12"/>
          </p:nvPr>
        </p:nvSpPr>
        <p:spPr/>
        <p:txBody>
          <a:bodyPr/>
          <a:lstStyle/>
          <a:p>
            <a:fld id="{B82CCC60-E8CD-4174-8B1A-7DF615B22EEF}" type="slidenum">
              <a:rPr lang="en-US" smtClean="0"/>
              <a:pPr/>
              <a:t>88</a:t>
            </a:fld>
            <a:endParaRPr lang="en-US"/>
          </a:p>
        </p:txBody>
      </p:sp>
      <p:pic>
        <p:nvPicPr>
          <p:cNvPr id="6" name="Picture 5">
            <a:extLst>
              <a:ext uri="{FF2B5EF4-FFF2-40B4-BE49-F238E27FC236}">
                <a16:creationId xmlns:a16="http://schemas.microsoft.com/office/drawing/2014/main" id="{BF9DB445-05BC-2FA6-D711-E4264ACDD2C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DA106439-8D2F-0B11-93EC-86C253652B7A}"/>
              </a:ext>
            </a:extLst>
          </p:cNvPr>
          <p:cNvSpPr/>
          <p:nvPr/>
        </p:nvSpPr>
        <p:spPr>
          <a:xfrm>
            <a:off x="145219" y="3179168"/>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0ACEFF3-67A7-0D82-D4AA-3E1F8767F905}"/>
              </a:ext>
            </a:extLst>
          </p:cNvPr>
          <p:cNvSpPr txBox="1"/>
          <p:nvPr/>
        </p:nvSpPr>
        <p:spPr>
          <a:xfrm>
            <a:off x="4859039" y="3244334"/>
            <a:ext cx="6436085" cy="369332"/>
          </a:xfrm>
          <a:prstGeom prst="rect">
            <a:avLst/>
          </a:prstGeom>
          <a:noFill/>
        </p:spPr>
        <p:txBody>
          <a:bodyPr wrap="square" rtlCol="0">
            <a:spAutoFit/>
          </a:bodyPr>
          <a:lstStyle/>
          <a:p>
            <a:r>
              <a:rPr lang="en-US" dirty="0"/>
              <a:t>Primary contigs</a:t>
            </a:r>
          </a:p>
        </p:txBody>
      </p:sp>
      <p:sp>
        <p:nvSpPr>
          <p:cNvPr id="3" name="Oval 2">
            <a:extLst>
              <a:ext uri="{FF2B5EF4-FFF2-40B4-BE49-F238E27FC236}">
                <a16:creationId xmlns:a16="http://schemas.microsoft.com/office/drawing/2014/main" id="{96A70278-9556-2AF1-1CA2-8E376912063F}"/>
              </a:ext>
            </a:extLst>
          </p:cNvPr>
          <p:cNvSpPr/>
          <p:nvPr/>
        </p:nvSpPr>
        <p:spPr>
          <a:xfrm>
            <a:off x="5220022" y="457375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78C561-FFCE-82F3-C597-FCCE5FFF5FA3}"/>
              </a:ext>
            </a:extLst>
          </p:cNvPr>
          <p:cNvCxnSpPr>
            <a:cxnSpLocks/>
            <a:stCxn id="3" idx="6"/>
            <a:endCxn id="11" idx="2"/>
          </p:cNvCxnSpPr>
          <p:nvPr/>
        </p:nvCxnSpPr>
        <p:spPr>
          <a:xfrm flipV="1">
            <a:off x="5525432" y="472615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94E0315-EBD5-627C-26EC-2C738C7B6A21}"/>
              </a:ext>
            </a:extLst>
          </p:cNvPr>
          <p:cNvSpPr/>
          <p:nvPr/>
        </p:nvSpPr>
        <p:spPr>
          <a:xfrm>
            <a:off x="5983852" y="4573449"/>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345CE63-5C46-066A-7F79-DFA54B2AEEA9}"/>
              </a:ext>
            </a:extLst>
          </p:cNvPr>
          <p:cNvSpPr/>
          <p:nvPr/>
        </p:nvSpPr>
        <p:spPr>
          <a:xfrm>
            <a:off x="6859525" y="4068219"/>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682423EF-22FF-4F06-776A-8A7D985F6B90}"/>
              </a:ext>
            </a:extLst>
          </p:cNvPr>
          <p:cNvCxnSpPr>
            <a:cxnSpLocks/>
            <a:stCxn id="13" idx="6"/>
            <a:endCxn id="15" idx="2"/>
          </p:cNvCxnSpPr>
          <p:nvPr/>
        </p:nvCxnSpPr>
        <p:spPr>
          <a:xfrm flipV="1">
            <a:off x="7164935" y="4220619"/>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54E8C745-12A8-BC89-9858-F6434BFF190D}"/>
              </a:ext>
            </a:extLst>
          </p:cNvPr>
          <p:cNvSpPr/>
          <p:nvPr/>
        </p:nvSpPr>
        <p:spPr>
          <a:xfrm>
            <a:off x="762335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94D12588-3F9E-EC1C-6784-44851500210B}"/>
              </a:ext>
            </a:extLst>
          </p:cNvPr>
          <p:cNvCxnSpPr>
            <a:cxnSpLocks/>
            <a:stCxn id="11" idx="6"/>
            <a:endCxn id="13" idx="2"/>
          </p:cNvCxnSpPr>
          <p:nvPr/>
        </p:nvCxnSpPr>
        <p:spPr>
          <a:xfrm flipV="1">
            <a:off x="6289262" y="4220924"/>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9545F35-7BA5-35C9-5AF6-37CB5479E225}"/>
              </a:ext>
            </a:extLst>
          </p:cNvPr>
          <p:cNvCxnSpPr>
            <a:cxnSpLocks/>
            <a:stCxn id="15" idx="6"/>
            <a:endCxn id="21" idx="2"/>
          </p:cNvCxnSpPr>
          <p:nvPr/>
        </p:nvCxnSpPr>
        <p:spPr>
          <a:xfrm>
            <a:off x="7928765" y="422061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A48D1AB-BF44-B542-019F-6950C9069B2F}"/>
              </a:ext>
            </a:extLst>
          </p:cNvPr>
          <p:cNvSpPr/>
          <p:nvPr/>
        </p:nvSpPr>
        <p:spPr>
          <a:xfrm>
            <a:off x="838718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EDEA56D-ED09-2B99-84F1-790622E19656}"/>
              </a:ext>
            </a:extLst>
          </p:cNvPr>
          <p:cNvSpPr/>
          <p:nvPr/>
        </p:nvSpPr>
        <p:spPr>
          <a:xfrm>
            <a:off x="917251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7FA30830-E475-9C19-BBAD-23FC337524F9}"/>
              </a:ext>
            </a:extLst>
          </p:cNvPr>
          <p:cNvCxnSpPr>
            <a:cxnSpLocks/>
            <a:stCxn id="22" idx="6"/>
            <a:endCxn id="24" idx="2"/>
          </p:cNvCxnSpPr>
          <p:nvPr/>
        </p:nvCxnSpPr>
        <p:spPr>
          <a:xfrm>
            <a:off x="9477924" y="472513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5661B9F6-8DE9-FBD0-8024-14BBCF1354AA}"/>
              </a:ext>
            </a:extLst>
          </p:cNvPr>
          <p:cNvSpPr/>
          <p:nvPr/>
        </p:nvSpPr>
        <p:spPr>
          <a:xfrm>
            <a:off x="993634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FEEAA8C-A025-1A00-2C63-334DF13D7FA8}"/>
              </a:ext>
            </a:extLst>
          </p:cNvPr>
          <p:cNvCxnSpPr>
            <a:cxnSpLocks/>
            <a:stCxn id="21" idx="6"/>
            <a:endCxn id="22" idx="1"/>
          </p:cNvCxnSpPr>
          <p:nvPr/>
        </p:nvCxnSpPr>
        <p:spPr>
          <a:xfrm>
            <a:off x="8692595" y="4220619"/>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D290CD16-95D9-F2FC-3794-BDC605F2DFF7}"/>
              </a:ext>
            </a:extLst>
          </p:cNvPr>
          <p:cNvSpPr/>
          <p:nvPr/>
        </p:nvSpPr>
        <p:spPr>
          <a:xfrm>
            <a:off x="10633949" y="457005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78C74FC2-CA8F-37E9-DA71-2996A4D5D011}"/>
              </a:ext>
            </a:extLst>
          </p:cNvPr>
          <p:cNvCxnSpPr>
            <a:cxnSpLocks/>
            <a:stCxn id="38" idx="6"/>
            <a:endCxn id="40" idx="2"/>
          </p:cNvCxnSpPr>
          <p:nvPr/>
        </p:nvCxnSpPr>
        <p:spPr>
          <a:xfrm flipV="1">
            <a:off x="10939359" y="472245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EC3B1F2-D3BE-8F52-0A81-4A05ED6C139E}"/>
              </a:ext>
            </a:extLst>
          </p:cNvPr>
          <p:cNvSpPr/>
          <p:nvPr/>
        </p:nvSpPr>
        <p:spPr>
          <a:xfrm>
            <a:off x="11397779" y="456974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D4A909F4-6E71-F8C7-FAE0-479CF2F7B37E}"/>
              </a:ext>
            </a:extLst>
          </p:cNvPr>
          <p:cNvCxnSpPr>
            <a:cxnSpLocks/>
            <a:stCxn id="24" idx="6"/>
            <a:endCxn id="38" idx="2"/>
          </p:cNvCxnSpPr>
          <p:nvPr/>
        </p:nvCxnSpPr>
        <p:spPr>
          <a:xfrm flipV="1">
            <a:off x="10241754" y="4722758"/>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860053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F753AD2-E59A-BE05-9776-1E0BADB885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864825-474D-A48F-38D4-7FE31BE872E6}"/>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928B1E80-C636-80A7-ACBB-0A559C1031E4}"/>
              </a:ext>
            </a:extLst>
          </p:cNvPr>
          <p:cNvSpPr>
            <a:spLocks noGrp="1"/>
          </p:cNvSpPr>
          <p:nvPr>
            <p:ph type="sldNum" sz="quarter" idx="12"/>
          </p:nvPr>
        </p:nvSpPr>
        <p:spPr/>
        <p:txBody>
          <a:bodyPr/>
          <a:lstStyle/>
          <a:p>
            <a:fld id="{B82CCC60-E8CD-4174-8B1A-7DF615B22EEF}" type="slidenum">
              <a:rPr lang="en-US" smtClean="0"/>
              <a:pPr/>
              <a:t>89</a:t>
            </a:fld>
            <a:endParaRPr lang="en-US"/>
          </a:p>
        </p:txBody>
      </p:sp>
      <p:pic>
        <p:nvPicPr>
          <p:cNvPr id="6" name="Picture 5">
            <a:extLst>
              <a:ext uri="{FF2B5EF4-FFF2-40B4-BE49-F238E27FC236}">
                <a16:creationId xmlns:a16="http://schemas.microsoft.com/office/drawing/2014/main" id="{D5C379A9-00E6-237F-E52B-F774610E854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636B717A-4ACA-E3D9-5320-C5081688B392}"/>
              </a:ext>
            </a:extLst>
          </p:cNvPr>
          <p:cNvSpPr/>
          <p:nvPr/>
        </p:nvSpPr>
        <p:spPr>
          <a:xfrm>
            <a:off x="162980" y="254880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EF8CA92-5CF1-17A5-621B-14370E9CB40D}"/>
              </a:ext>
            </a:extLst>
          </p:cNvPr>
          <p:cNvSpPr txBox="1"/>
          <p:nvPr/>
        </p:nvSpPr>
        <p:spPr>
          <a:xfrm>
            <a:off x="4859039" y="2618540"/>
            <a:ext cx="6436085" cy="369332"/>
          </a:xfrm>
          <a:prstGeom prst="rect">
            <a:avLst/>
          </a:prstGeom>
          <a:noFill/>
        </p:spPr>
        <p:txBody>
          <a:bodyPr wrap="square" rtlCol="0">
            <a:spAutoFit/>
          </a:bodyPr>
          <a:lstStyle/>
          <a:p>
            <a:r>
              <a:rPr lang="en-US" dirty="0"/>
              <a:t>Alternative contigs</a:t>
            </a:r>
          </a:p>
        </p:txBody>
      </p:sp>
      <p:sp>
        <p:nvSpPr>
          <p:cNvPr id="57" name="Oval 56">
            <a:extLst>
              <a:ext uri="{FF2B5EF4-FFF2-40B4-BE49-F238E27FC236}">
                <a16:creationId xmlns:a16="http://schemas.microsoft.com/office/drawing/2014/main" id="{2D280F74-FCA0-57E3-AF2F-9A614B7C0930}"/>
              </a:ext>
            </a:extLst>
          </p:cNvPr>
          <p:cNvSpPr/>
          <p:nvPr/>
        </p:nvSpPr>
        <p:spPr>
          <a:xfrm>
            <a:off x="6859525" y="5057104"/>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BC39C4DB-9C04-952A-8DC0-B5C482BF6B8F}"/>
              </a:ext>
            </a:extLst>
          </p:cNvPr>
          <p:cNvCxnSpPr>
            <a:cxnSpLocks/>
            <a:stCxn id="57" idx="6"/>
            <a:endCxn id="59" idx="2"/>
          </p:cNvCxnSpPr>
          <p:nvPr/>
        </p:nvCxnSpPr>
        <p:spPr>
          <a:xfrm flipV="1">
            <a:off x="7164935" y="520950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FAA9FAD3-9E56-FA7B-D550-B37F83112FC7}"/>
              </a:ext>
            </a:extLst>
          </p:cNvPr>
          <p:cNvSpPr/>
          <p:nvPr/>
        </p:nvSpPr>
        <p:spPr>
          <a:xfrm>
            <a:off x="762335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1FCF36EE-1C79-B2F2-1428-9218B48398AE}"/>
              </a:ext>
            </a:extLst>
          </p:cNvPr>
          <p:cNvCxnSpPr>
            <a:cxnSpLocks/>
            <a:stCxn id="59" idx="6"/>
            <a:endCxn id="61" idx="2"/>
          </p:cNvCxnSpPr>
          <p:nvPr/>
        </p:nvCxnSpPr>
        <p:spPr>
          <a:xfrm>
            <a:off x="7928765" y="5209504"/>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9F2B60BC-4EEC-88C2-0998-A68BA45603E9}"/>
              </a:ext>
            </a:extLst>
          </p:cNvPr>
          <p:cNvSpPr/>
          <p:nvPr/>
        </p:nvSpPr>
        <p:spPr>
          <a:xfrm>
            <a:off x="838718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2881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670B826-2FFE-DB5D-6EDC-2C07DB1100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3E703A-9280-F7A2-D7FD-D271DC4349DF}"/>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331EE89A-446A-526D-63DB-C3DD19AE21A3}"/>
              </a:ext>
            </a:extLst>
          </p:cNvPr>
          <p:cNvSpPr>
            <a:spLocks noGrp="1"/>
          </p:cNvSpPr>
          <p:nvPr>
            <p:ph idx="1"/>
          </p:nvPr>
        </p:nvSpPr>
        <p:spPr>
          <a:xfrm>
            <a:off x="598620" y="1596540"/>
            <a:ext cx="10972800" cy="2595985"/>
          </a:xfrm>
        </p:spPr>
        <p:txBody>
          <a:bodyPr/>
          <a:lstStyle/>
          <a:p>
            <a:r>
              <a:rPr lang="en-US" dirty="0"/>
              <a:t>Use </a:t>
            </a:r>
            <a:r>
              <a:rPr lang="en-US" i="1" dirty="0" err="1"/>
              <a:t>gfatools</a:t>
            </a:r>
            <a:r>
              <a:rPr lang="en-US" dirty="0"/>
              <a:t> to convert </a:t>
            </a:r>
            <a:r>
              <a:rPr lang="en-US" dirty="0" err="1"/>
              <a:t>gfa</a:t>
            </a:r>
            <a:r>
              <a:rPr lang="en-US" dirty="0"/>
              <a:t> to fasta</a:t>
            </a:r>
          </a:p>
          <a:p>
            <a:pPr lvl="1"/>
            <a:r>
              <a:rPr lang="en-US" i="1" dirty="0"/>
              <a:t>module load </a:t>
            </a:r>
            <a:r>
              <a:rPr lang="en-US" i="1" dirty="0" err="1"/>
              <a:t>gfatools</a:t>
            </a:r>
            <a:endParaRPr lang="en-US" i="1" dirty="0"/>
          </a:p>
          <a:p>
            <a:pPr lvl="1"/>
            <a:r>
              <a:rPr lang="en-US" i="1" dirty="0" err="1"/>
              <a:t>gfatools</a:t>
            </a:r>
            <a:r>
              <a:rPr lang="en-US" i="1" dirty="0"/>
              <a:t> gfa2fa </a:t>
            </a:r>
            <a:r>
              <a:rPr lang="en-US" i="1" dirty="0" err="1"/>
              <a:t>hifiasm.gfa</a:t>
            </a:r>
            <a:r>
              <a:rPr lang="en-US" i="1" dirty="0"/>
              <a:t> &gt; </a:t>
            </a:r>
            <a:r>
              <a:rPr lang="en-US" i="1" dirty="0" err="1"/>
              <a:t>hifiasm.fa</a:t>
            </a:r>
            <a:endParaRPr lang="en-US" i="1" dirty="0"/>
          </a:p>
        </p:txBody>
      </p:sp>
      <p:sp>
        <p:nvSpPr>
          <p:cNvPr id="4" name="Slide Number Placeholder 3">
            <a:extLst>
              <a:ext uri="{FF2B5EF4-FFF2-40B4-BE49-F238E27FC236}">
                <a16:creationId xmlns:a16="http://schemas.microsoft.com/office/drawing/2014/main" id="{8F1B4B6A-EBAF-BF7D-4932-FF442FDF6412}"/>
              </a:ext>
            </a:extLst>
          </p:cNvPr>
          <p:cNvSpPr>
            <a:spLocks noGrp="1"/>
          </p:cNvSpPr>
          <p:nvPr>
            <p:ph type="sldNum" sz="quarter" idx="12"/>
          </p:nvPr>
        </p:nvSpPr>
        <p:spPr/>
        <p:txBody>
          <a:bodyPr/>
          <a:lstStyle/>
          <a:p>
            <a:fld id="{B82CCC60-E8CD-4174-8B1A-7DF615B22EEF}" type="slidenum">
              <a:rPr lang="en-US" smtClean="0"/>
              <a:pPr/>
              <a:t>90</a:t>
            </a:fld>
            <a:endParaRPr lang="en-US"/>
          </a:p>
        </p:txBody>
      </p:sp>
    </p:spTree>
    <p:extLst>
      <p:ext uri="{BB962C8B-B14F-4D97-AF65-F5344CB8AC3E}">
        <p14:creationId xmlns:p14="http://schemas.microsoft.com/office/powerpoint/2010/main" val="32291569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BE0221-713D-0DFF-AE02-87D26FE5D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1C643-56A1-D575-4F58-F9C978C810D4}"/>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E5A54DE-09DC-09AF-662C-571E3B7298A2}"/>
              </a:ext>
            </a:extLst>
          </p:cNvPr>
          <p:cNvSpPr>
            <a:spLocks noGrp="1"/>
          </p:cNvSpPr>
          <p:nvPr>
            <p:ph idx="1"/>
          </p:nvPr>
        </p:nvSpPr>
        <p:spPr>
          <a:xfrm>
            <a:off x="598620" y="1596540"/>
            <a:ext cx="10972800" cy="4123035"/>
          </a:xfrm>
        </p:spPr>
        <p:txBody>
          <a:bodyPr>
            <a:normAutofit/>
          </a:bodyPr>
          <a:lstStyle/>
          <a:p>
            <a:r>
              <a:rPr lang="en-US" dirty="0"/>
              <a:t>Assembly of Oxford nanopore reads (and others)</a:t>
            </a:r>
          </a:p>
          <a:p>
            <a:r>
              <a:rPr lang="en-US" dirty="0"/>
              <a:t>Not haplotype-aware</a:t>
            </a:r>
          </a:p>
          <a:p>
            <a:r>
              <a:rPr lang="en-US" dirty="0"/>
              <a:t>Can assemble metagenomic data sets</a:t>
            </a:r>
          </a:p>
          <a:p>
            <a:r>
              <a:rPr lang="en-US" i="1" dirty="0"/>
              <a:t>module load </a:t>
            </a:r>
            <a:r>
              <a:rPr lang="en-US" i="1" dirty="0" err="1"/>
              <a:t>flye</a:t>
            </a:r>
            <a:endParaRPr lang="en-US" i="1" dirty="0"/>
          </a:p>
          <a:p>
            <a:r>
              <a:rPr lang="en-US" dirty="0"/>
              <a:t>Basic usage for 200Mb (</a:t>
            </a:r>
            <a:r>
              <a:rPr lang="en-US" dirty="0" err="1"/>
              <a:t>est</a:t>
            </a:r>
            <a:r>
              <a:rPr lang="en-US" dirty="0"/>
              <a:t>) genome:</a:t>
            </a:r>
            <a:br>
              <a:rPr lang="en-US" dirty="0"/>
            </a:br>
            <a:br>
              <a:rPr lang="en-US" dirty="0"/>
            </a:br>
            <a:r>
              <a:rPr lang="en-US" i="1" dirty="0" err="1"/>
              <a:t>flye</a:t>
            </a:r>
            <a:r>
              <a:rPr lang="en-US" i="1" dirty="0"/>
              <a:t> -t 16 --nano-raw </a:t>
            </a:r>
            <a:r>
              <a:rPr lang="en-US" i="1" dirty="0" err="1"/>
              <a:t>reads.fastq</a:t>
            </a:r>
            <a:r>
              <a:rPr lang="en-US" i="1" dirty="0"/>
              <a:t> -g 200M</a:t>
            </a:r>
          </a:p>
          <a:p>
            <a:endParaRPr lang="en-US" i="1" dirty="0"/>
          </a:p>
        </p:txBody>
      </p:sp>
      <p:sp>
        <p:nvSpPr>
          <p:cNvPr id="4" name="Slide Number Placeholder 3">
            <a:extLst>
              <a:ext uri="{FF2B5EF4-FFF2-40B4-BE49-F238E27FC236}">
                <a16:creationId xmlns:a16="http://schemas.microsoft.com/office/drawing/2014/main" id="{834DA69E-370F-94A4-DC35-0A9CADCE876C}"/>
              </a:ext>
            </a:extLst>
          </p:cNvPr>
          <p:cNvSpPr>
            <a:spLocks noGrp="1"/>
          </p:cNvSpPr>
          <p:nvPr>
            <p:ph type="sldNum" sz="quarter" idx="12"/>
          </p:nvPr>
        </p:nvSpPr>
        <p:spPr/>
        <p:txBody>
          <a:bodyPr/>
          <a:lstStyle/>
          <a:p>
            <a:fld id="{B82CCC60-E8CD-4174-8B1A-7DF615B22EEF}" type="slidenum">
              <a:rPr lang="en-US" smtClean="0"/>
              <a:pPr/>
              <a:t>91</a:t>
            </a:fld>
            <a:endParaRPr lang="en-US"/>
          </a:p>
        </p:txBody>
      </p:sp>
    </p:spTree>
    <p:extLst>
      <p:ext uri="{BB962C8B-B14F-4D97-AF65-F5344CB8AC3E}">
        <p14:creationId xmlns:p14="http://schemas.microsoft.com/office/powerpoint/2010/main" val="12015667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B7E56D-3CFA-8BE5-FD32-092527DEC9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04BD26-A514-D692-4BDB-45E3EF371D9C}"/>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B9E90D8-2DDB-FDD0-3A5C-575767AB4D7E}"/>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3BFCE319-5488-A351-0C63-6F39E3B6A164}"/>
              </a:ext>
            </a:extLst>
          </p:cNvPr>
          <p:cNvSpPr>
            <a:spLocks noGrp="1"/>
          </p:cNvSpPr>
          <p:nvPr>
            <p:ph type="sldNum" sz="quarter" idx="12"/>
          </p:nvPr>
        </p:nvSpPr>
        <p:spPr/>
        <p:txBody>
          <a:bodyPr/>
          <a:lstStyle/>
          <a:p>
            <a:fld id="{B82CCC60-E8CD-4174-8B1A-7DF615B22EEF}" type="slidenum">
              <a:rPr lang="en-US" smtClean="0"/>
              <a:pPr/>
              <a:t>92</a:t>
            </a:fld>
            <a:endParaRPr lang="en-US"/>
          </a:p>
        </p:txBody>
      </p:sp>
      <p:pic>
        <p:nvPicPr>
          <p:cNvPr id="6" name="Picture 5">
            <a:extLst>
              <a:ext uri="{FF2B5EF4-FFF2-40B4-BE49-F238E27FC236}">
                <a16:creationId xmlns:a16="http://schemas.microsoft.com/office/drawing/2014/main" id="{B8B08E8F-1AC0-1532-8E6A-0C37173BF336}"/>
              </a:ext>
            </a:extLst>
          </p:cNvPr>
          <p:cNvPicPr>
            <a:picLocks noChangeAspect="1"/>
          </p:cNvPicPr>
          <p:nvPr/>
        </p:nvPicPr>
        <p:blipFill>
          <a:blip r:embed="rId2"/>
          <a:stretch>
            <a:fillRect/>
          </a:stretch>
        </p:blipFill>
        <p:spPr>
          <a:xfrm>
            <a:off x="904030" y="2207360"/>
            <a:ext cx="7259063" cy="2257740"/>
          </a:xfrm>
          <a:prstGeom prst="rect">
            <a:avLst/>
          </a:prstGeom>
        </p:spPr>
      </p:pic>
      <p:sp>
        <p:nvSpPr>
          <p:cNvPr id="7" name="Rectangle 6">
            <a:extLst>
              <a:ext uri="{FF2B5EF4-FFF2-40B4-BE49-F238E27FC236}">
                <a16:creationId xmlns:a16="http://schemas.microsoft.com/office/drawing/2014/main" id="{BE3B4FB1-0B84-10D0-BB85-69B2241A0BDB}"/>
              </a:ext>
            </a:extLst>
          </p:cNvPr>
          <p:cNvSpPr/>
          <p:nvPr/>
        </p:nvSpPr>
        <p:spPr>
          <a:xfrm flipV="1">
            <a:off x="5332475" y="2360064"/>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FB8EEEE-B696-889F-A402-971E9B77E1E9}"/>
              </a:ext>
            </a:extLst>
          </p:cNvPr>
          <p:cNvSpPr txBox="1"/>
          <p:nvPr/>
        </p:nvSpPr>
        <p:spPr>
          <a:xfrm>
            <a:off x="8069927" y="2319235"/>
            <a:ext cx="3501493" cy="369332"/>
          </a:xfrm>
          <a:prstGeom prst="rect">
            <a:avLst/>
          </a:prstGeom>
          <a:noFill/>
        </p:spPr>
        <p:txBody>
          <a:bodyPr wrap="square" rtlCol="0">
            <a:spAutoFit/>
          </a:bodyPr>
          <a:lstStyle/>
          <a:p>
            <a:r>
              <a:rPr lang="en-US" dirty="0"/>
              <a:t>Assembled scaffolds</a:t>
            </a:r>
          </a:p>
        </p:txBody>
      </p:sp>
      <p:sp>
        <p:nvSpPr>
          <p:cNvPr id="9" name="Rectangle 8">
            <a:extLst>
              <a:ext uri="{FF2B5EF4-FFF2-40B4-BE49-F238E27FC236}">
                <a16:creationId xmlns:a16="http://schemas.microsoft.com/office/drawing/2014/main" id="{BAD2E1F7-18AD-FFA2-BF7E-D98EA719AE36}"/>
              </a:ext>
            </a:extLst>
          </p:cNvPr>
          <p:cNvSpPr/>
          <p:nvPr/>
        </p:nvSpPr>
        <p:spPr>
          <a:xfrm flipV="1">
            <a:off x="5332474" y="3183525"/>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420F743-4F5B-366E-8B89-EAF6302F71A9}"/>
              </a:ext>
            </a:extLst>
          </p:cNvPr>
          <p:cNvSpPr txBox="1"/>
          <p:nvPr/>
        </p:nvSpPr>
        <p:spPr>
          <a:xfrm>
            <a:off x="7317640" y="3140677"/>
            <a:ext cx="4581149" cy="369332"/>
          </a:xfrm>
          <a:prstGeom prst="rect">
            <a:avLst/>
          </a:prstGeom>
          <a:noFill/>
        </p:spPr>
        <p:txBody>
          <a:bodyPr wrap="square" rtlCol="0">
            <a:spAutoFit/>
          </a:bodyPr>
          <a:lstStyle/>
          <a:p>
            <a:r>
              <a:rPr lang="en-US" dirty="0"/>
              <a:t>Assembly log, information about the assembly</a:t>
            </a:r>
          </a:p>
        </p:txBody>
      </p:sp>
    </p:spTree>
    <p:extLst>
      <p:ext uri="{BB962C8B-B14F-4D97-AF65-F5344CB8AC3E}">
        <p14:creationId xmlns:p14="http://schemas.microsoft.com/office/powerpoint/2010/main" val="197876293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D85640-9B25-67FA-6005-5740E2FAA6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CD9984-87C0-BF01-FF51-4D453F7F497A}"/>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E60533BE-7AAD-0A0D-A079-A6138E7EBDBF}"/>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D5C11638-49B2-B50F-EA1D-280ED3E27DE5}"/>
              </a:ext>
            </a:extLst>
          </p:cNvPr>
          <p:cNvSpPr>
            <a:spLocks noGrp="1"/>
          </p:cNvSpPr>
          <p:nvPr>
            <p:ph type="sldNum" sz="quarter" idx="12"/>
          </p:nvPr>
        </p:nvSpPr>
        <p:spPr/>
        <p:txBody>
          <a:bodyPr/>
          <a:lstStyle/>
          <a:p>
            <a:fld id="{B82CCC60-E8CD-4174-8B1A-7DF615B22EEF}" type="slidenum">
              <a:rPr lang="en-US" smtClean="0"/>
              <a:pPr/>
              <a:t>93</a:t>
            </a:fld>
            <a:endParaRPr lang="en-US"/>
          </a:p>
        </p:txBody>
      </p:sp>
      <p:pic>
        <p:nvPicPr>
          <p:cNvPr id="6" name="Picture 5">
            <a:extLst>
              <a:ext uri="{FF2B5EF4-FFF2-40B4-BE49-F238E27FC236}">
                <a16:creationId xmlns:a16="http://schemas.microsoft.com/office/drawing/2014/main" id="{654B2187-48C2-8DDB-DB48-E138FC306BEC}"/>
              </a:ext>
            </a:extLst>
          </p:cNvPr>
          <p:cNvPicPr>
            <a:picLocks noChangeAspect="1"/>
          </p:cNvPicPr>
          <p:nvPr/>
        </p:nvPicPr>
        <p:blipFill>
          <a:blip r:embed="rId2"/>
          <a:stretch>
            <a:fillRect/>
          </a:stretch>
        </p:blipFill>
        <p:spPr>
          <a:xfrm>
            <a:off x="904030" y="2207360"/>
            <a:ext cx="7259063" cy="2257740"/>
          </a:xfrm>
          <a:prstGeom prst="rect">
            <a:avLst/>
          </a:prstGeom>
        </p:spPr>
      </p:pic>
      <p:sp>
        <p:nvSpPr>
          <p:cNvPr id="7" name="Rectangle 6">
            <a:extLst>
              <a:ext uri="{FF2B5EF4-FFF2-40B4-BE49-F238E27FC236}">
                <a16:creationId xmlns:a16="http://schemas.microsoft.com/office/drawing/2014/main" id="{A94B7FBD-7FDF-845B-9E0D-6BB53A28E732}"/>
              </a:ext>
            </a:extLst>
          </p:cNvPr>
          <p:cNvSpPr/>
          <p:nvPr/>
        </p:nvSpPr>
        <p:spPr>
          <a:xfrm flipV="1">
            <a:off x="5332475" y="2360064"/>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0F68E6F-D9F8-78E7-5C30-C4591086DEA0}"/>
              </a:ext>
            </a:extLst>
          </p:cNvPr>
          <p:cNvSpPr txBox="1"/>
          <p:nvPr/>
        </p:nvSpPr>
        <p:spPr>
          <a:xfrm>
            <a:off x="8069927" y="2319235"/>
            <a:ext cx="3501493" cy="369332"/>
          </a:xfrm>
          <a:prstGeom prst="rect">
            <a:avLst/>
          </a:prstGeom>
          <a:noFill/>
        </p:spPr>
        <p:txBody>
          <a:bodyPr wrap="square" rtlCol="0">
            <a:spAutoFit/>
          </a:bodyPr>
          <a:lstStyle/>
          <a:p>
            <a:r>
              <a:rPr lang="en-US" dirty="0"/>
              <a:t>Assembled scaffolds</a:t>
            </a:r>
          </a:p>
        </p:txBody>
      </p:sp>
      <p:sp>
        <p:nvSpPr>
          <p:cNvPr id="9" name="Rectangle 8">
            <a:extLst>
              <a:ext uri="{FF2B5EF4-FFF2-40B4-BE49-F238E27FC236}">
                <a16:creationId xmlns:a16="http://schemas.microsoft.com/office/drawing/2014/main" id="{4042B159-5DC1-22EC-DA65-E74DD3BCBF49}"/>
              </a:ext>
            </a:extLst>
          </p:cNvPr>
          <p:cNvSpPr/>
          <p:nvPr/>
        </p:nvSpPr>
        <p:spPr>
          <a:xfrm flipV="1">
            <a:off x="5332474" y="3183525"/>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44AD6B1-0320-6F62-3A67-5626673E4A65}"/>
              </a:ext>
            </a:extLst>
          </p:cNvPr>
          <p:cNvSpPr txBox="1"/>
          <p:nvPr/>
        </p:nvSpPr>
        <p:spPr>
          <a:xfrm>
            <a:off x="7317640" y="3140677"/>
            <a:ext cx="4581149" cy="369332"/>
          </a:xfrm>
          <a:prstGeom prst="rect">
            <a:avLst/>
          </a:prstGeom>
          <a:noFill/>
        </p:spPr>
        <p:txBody>
          <a:bodyPr wrap="square" rtlCol="0">
            <a:spAutoFit/>
          </a:bodyPr>
          <a:lstStyle/>
          <a:p>
            <a:r>
              <a:rPr lang="en-US" dirty="0"/>
              <a:t>Assembly log, information about the assembly</a:t>
            </a:r>
          </a:p>
        </p:txBody>
      </p:sp>
    </p:spTree>
    <p:extLst>
      <p:ext uri="{BB962C8B-B14F-4D97-AF65-F5344CB8AC3E}">
        <p14:creationId xmlns:p14="http://schemas.microsoft.com/office/powerpoint/2010/main" val="129034499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5F4DA3-C174-34A9-BF8B-D2BEAA94F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65719-B8D4-63E7-55C5-5DB9995D8A6F}"/>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3509A8C9-7E77-55EA-B1B2-F3DCFF43F5EC}"/>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FBC4E6EF-AE2D-82D8-FD7E-421645386234}"/>
              </a:ext>
            </a:extLst>
          </p:cNvPr>
          <p:cNvSpPr>
            <a:spLocks noGrp="1"/>
          </p:cNvSpPr>
          <p:nvPr>
            <p:ph type="sldNum" sz="quarter" idx="12"/>
          </p:nvPr>
        </p:nvSpPr>
        <p:spPr/>
        <p:txBody>
          <a:bodyPr/>
          <a:lstStyle/>
          <a:p>
            <a:fld id="{B82CCC60-E8CD-4174-8B1A-7DF615B22EEF}" type="slidenum">
              <a:rPr lang="en-US" smtClean="0"/>
              <a:pPr/>
              <a:t>94</a:t>
            </a:fld>
            <a:endParaRPr lang="en-US"/>
          </a:p>
        </p:txBody>
      </p:sp>
      <p:pic>
        <p:nvPicPr>
          <p:cNvPr id="13" name="Picture 12">
            <a:extLst>
              <a:ext uri="{FF2B5EF4-FFF2-40B4-BE49-F238E27FC236}">
                <a16:creationId xmlns:a16="http://schemas.microsoft.com/office/drawing/2014/main" id="{96ABB6D6-0DBC-7AFF-EFDB-45130A21E932}"/>
              </a:ext>
            </a:extLst>
          </p:cNvPr>
          <p:cNvPicPr>
            <a:picLocks noChangeAspect="1"/>
          </p:cNvPicPr>
          <p:nvPr/>
        </p:nvPicPr>
        <p:blipFill>
          <a:blip r:embed="rId2"/>
          <a:stretch>
            <a:fillRect/>
          </a:stretch>
        </p:blipFill>
        <p:spPr>
          <a:xfrm>
            <a:off x="851755" y="2281077"/>
            <a:ext cx="10488489" cy="2295845"/>
          </a:xfrm>
          <a:prstGeom prst="rect">
            <a:avLst/>
          </a:prstGeom>
        </p:spPr>
      </p:pic>
    </p:spTree>
    <p:extLst>
      <p:ext uri="{BB962C8B-B14F-4D97-AF65-F5344CB8AC3E}">
        <p14:creationId xmlns:p14="http://schemas.microsoft.com/office/powerpoint/2010/main" val="121076621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CC49B-AFE3-CAA7-98FA-710CBA73F0C4}"/>
              </a:ext>
            </a:extLst>
          </p:cNvPr>
          <p:cNvSpPr>
            <a:spLocks noGrp="1"/>
          </p:cNvSpPr>
          <p:nvPr>
            <p:ph type="title"/>
          </p:nvPr>
        </p:nvSpPr>
        <p:spPr/>
        <p:txBody>
          <a:bodyPr>
            <a:normAutofit fontScale="90000"/>
          </a:bodyPr>
          <a:lstStyle/>
          <a:p>
            <a:r>
              <a:rPr lang="en-US" dirty="0"/>
              <a:t>Interactive shell in </a:t>
            </a:r>
            <a:r>
              <a:rPr lang="en-US" dirty="0" err="1"/>
              <a:t>Boqueron</a:t>
            </a:r>
            <a:endParaRPr lang="en-US" dirty="0"/>
          </a:p>
        </p:txBody>
      </p:sp>
      <p:sp>
        <p:nvSpPr>
          <p:cNvPr id="3" name="Content Placeholder 2">
            <a:extLst>
              <a:ext uri="{FF2B5EF4-FFF2-40B4-BE49-F238E27FC236}">
                <a16:creationId xmlns:a16="http://schemas.microsoft.com/office/drawing/2014/main" id="{9083063C-CBE6-2A65-9282-C93B93F79438}"/>
              </a:ext>
            </a:extLst>
          </p:cNvPr>
          <p:cNvSpPr>
            <a:spLocks noGrp="1"/>
          </p:cNvSpPr>
          <p:nvPr>
            <p:ph idx="1"/>
          </p:nvPr>
        </p:nvSpPr>
        <p:spPr/>
        <p:txBody>
          <a:bodyPr/>
          <a:lstStyle/>
          <a:p>
            <a:r>
              <a:rPr lang="en-US" dirty="0"/>
              <a:t>It is convenient to use an interactive shell</a:t>
            </a:r>
          </a:p>
          <a:p>
            <a:pPr lvl="1"/>
            <a:r>
              <a:rPr lang="en-US" i="1" dirty="0" err="1"/>
              <a:t>srun</a:t>
            </a:r>
            <a:r>
              <a:rPr lang="en-US" i="1" dirty="0"/>
              <a:t> --mem 16000MB --</a:t>
            </a:r>
            <a:r>
              <a:rPr lang="en-US" i="1" dirty="0" err="1"/>
              <a:t>pty</a:t>
            </a:r>
            <a:r>
              <a:rPr lang="en-US" i="1" dirty="0"/>
              <a:t> bash</a:t>
            </a:r>
          </a:p>
          <a:p>
            <a:pPr lvl="1"/>
            <a:r>
              <a:rPr lang="en-US" dirty="0"/>
              <a:t>Gives you an interactive shell with 16GB of RAM</a:t>
            </a:r>
          </a:p>
          <a:p>
            <a:endParaRPr lang="en-US" dirty="0"/>
          </a:p>
          <a:p>
            <a:r>
              <a:rPr lang="en-US" dirty="0"/>
              <a:t>Home directory ~/ is read-only</a:t>
            </a:r>
          </a:p>
          <a:p>
            <a:endParaRPr lang="en-US" dirty="0"/>
          </a:p>
          <a:p>
            <a:r>
              <a:rPr lang="en-US" dirty="0"/>
              <a:t>You can use /work/</a:t>
            </a:r>
            <a:r>
              <a:rPr lang="en-US" dirty="0" err="1"/>
              <a:t>rna</a:t>
            </a:r>
            <a:r>
              <a:rPr lang="en-US" dirty="0"/>
              <a:t>-seq-workshop/</a:t>
            </a:r>
            <a:r>
              <a:rPr lang="en-US" dirty="0" err="1"/>
              <a:t>your_user_name</a:t>
            </a:r>
            <a:r>
              <a:rPr lang="en-US" dirty="0"/>
              <a:t>/</a:t>
            </a:r>
          </a:p>
          <a:p>
            <a:endParaRPr lang="en-US" dirty="0"/>
          </a:p>
        </p:txBody>
      </p:sp>
      <p:sp>
        <p:nvSpPr>
          <p:cNvPr id="4" name="Slide Number Placeholder 3">
            <a:extLst>
              <a:ext uri="{FF2B5EF4-FFF2-40B4-BE49-F238E27FC236}">
                <a16:creationId xmlns:a16="http://schemas.microsoft.com/office/drawing/2014/main" id="{FCC9ABDA-F2E5-1EDA-27F1-7D1B16E78E26}"/>
              </a:ext>
            </a:extLst>
          </p:cNvPr>
          <p:cNvSpPr>
            <a:spLocks noGrp="1"/>
          </p:cNvSpPr>
          <p:nvPr>
            <p:ph type="sldNum" sz="quarter" idx="12"/>
          </p:nvPr>
        </p:nvSpPr>
        <p:spPr/>
        <p:txBody>
          <a:bodyPr/>
          <a:lstStyle/>
          <a:p>
            <a:fld id="{B82CCC60-E8CD-4174-8B1A-7DF615B22EEF}" type="slidenum">
              <a:rPr lang="en-US" smtClean="0"/>
              <a:pPr/>
              <a:t>95</a:t>
            </a:fld>
            <a:endParaRPr lang="en-US"/>
          </a:p>
        </p:txBody>
      </p:sp>
    </p:spTree>
    <p:extLst>
      <p:ext uri="{BB962C8B-B14F-4D97-AF65-F5344CB8AC3E}">
        <p14:creationId xmlns:p14="http://schemas.microsoft.com/office/powerpoint/2010/main" val="13818582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3CE3E-92D8-FF22-35FB-5A3629D286E5}"/>
              </a:ext>
            </a:extLst>
          </p:cNvPr>
          <p:cNvSpPr>
            <a:spLocks noGrp="1"/>
          </p:cNvSpPr>
          <p:nvPr>
            <p:ph type="title"/>
          </p:nvPr>
        </p:nvSpPr>
        <p:spPr/>
        <p:txBody>
          <a:bodyPr>
            <a:normAutofit fontScale="90000"/>
          </a:bodyPr>
          <a:lstStyle/>
          <a:p>
            <a:r>
              <a:rPr lang="en-US" dirty="0"/>
              <a:t>In-class exercise: genome assembly</a:t>
            </a:r>
          </a:p>
        </p:txBody>
      </p:sp>
      <p:sp>
        <p:nvSpPr>
          <p:cNvPr id="3" name="Content Placeholder 2">
            <a:extLst>
              <a:ext uri="{FF2B5EF4-FFF2-40B4-BE49-F238E27FC236}">
                <a16:creationId xmlns:a16="http://schemas.microsoft.com/office/drawing/2014/main" id="{B4B93D2F-10C8-91BA-19AD-42DE857486B7}"/>
              </a:ext>
            </a:extLst>
          </p:cNvPr>
          <p:cNvSpPr>
            <a:spLocks noGrp="1"/>
          </p:cNvSpPr>
          <p:nvPr>
            <p:ph idx="1"/>
          </p:nvPr>
        </p:nvSpPr>
        <p:spPr>
          <a:xfrm>
            <a:off x="598620" y="1596540"/>
            <a:ext cx="10972800" cy="4886560"/>
          </a:xfrm>
        </p:spPr>
        <p:txBody>
          <a:bodyPr>
            <a:normAutofit fontScale="77500" lnSpcReduction="20000"/>
          </a:bodyPr>
          <a:lstStyle/>
          <a:p>
            <a:r>
              <a:rPr lang="en-US" dirty="0"/>
              <a:t>Use reads provided by PacBio (</a:t>
            </a:r>
            <a:r>
              <a:rPr lang="en-US" dirty="0" err="1"/>
              <a:t>Hifi</a:t>
            </a:r>
            <a:r>
              <a:rPr lang="en-US" dirty="0"/>
              <a:t>) for </a:t>
            </a:r>
            <a:r>
              <a:rPr lang="en-US" i="1" dirty="0"/>
              <a:t>H. pylori</a:t>
            </a:r>
          </a:p>
          <a:p>
            <a:endParaRPr lang="en-US" dirty="0"/>
          </a:p>
          <a:p>
            <a:r>
              <a:rPr lang="en-US" dirty="0"/>
              <a:t>Run hifiasm, get fasta with gfa2fa</a:t>
            </a:r>
          </a:p>
          <a:p>
            <a:endParaRPr lang="en-US" dirty="0"/>
          </a:p>
          <a:p>
            <a:r>
              <a:rPr lang="en-US" dirty="0"/>
              <a:t>Run </a:t>
            </a:r>
            <a:r>
              <a:rPr lang="en-US" dirty="0" err="1"/>
              <a:t>flye</a:t>
            </a:r>
            <a:endParaRPr lang="en-US" dirty="0"/>
          </a:p>
          <a:p>
            <a:endParaRPr lang="en-US" dirty="0"/>
          </a:p>
          <a:p>
            <a:r>
              <a:rPr lang="en-US" dirty="0"/>
              <a:t>Align the two assemblies with nucmer, followed by delta-filter </a:t>
            </a:r>
            <a:r>
              <a:rPr lang="en-US"/>
              <a:t>-1. Are </a:t>
            </a:r>
            <a:r>
              <a:rPr lang="en-US" dirty="0"/>
              <a:t>they the same?</a:t>
            </a:r>
          </a:p>
          <a:p>
            <a:endParaRPr lang="en-US" dirty="0"/>
          </a:p>
          <a:p>
            <a:r>
              <a:rPr lang="en-US" dirty="0"/>
              <a:t>Use nucmer </a:t>
            </a:r>
            <a:r>
              <a:rPr lang="en-US" i="1" dirty="0"/>
              <a:t>show-aligns</a:t>
            </a:r>
            <a:r>
              <a:rPr lang="en-US" dirty="0"/>
              <a:t> to visualize the differences</a:t>
            </a:r>
            <a:br>
              <a:rPr lang="en-US" dirty="0"/>
            </a:br>
            <a:br>
              <a:rPr lang="en-US" dirty="0"/>
            </a:br>
            <a:r>
              <a:rPr lang="en-US" i="1" dirty="0"/>
              <a:t>show-aligns </a:t>
            </a:r>
            <a:r>
              <a:rPr lang="en-US" i="1" dirty="0" err="1"/>
              <a:t>out.delta</a:t>
            </a:r>
            <a:r>
              <a:rPr lang="en-US" i="1" dirty="0"/>
              <a:t> sequence1 sequence2 | less</a:t>
            </a:r>
            <a:br>
              <a:rPr lang="en-US" i="1" dirty="0"/>
            </a:br>
            <a:endParaRPr lang="en-US" i="1" dirty="0"/>
          </a:p>
          <a:p>
            <a:r>
              <a:rPr lang="en-US" dirty="0"/>
              <a:t>Look for ‘^’ character for differences:</a:t>
            </a:r>
            <a:br>
              <a:rPr lang="en-US" dirty="0"/>
            </a:br>
            <a:r>
              <a:rPr lang="en-US" i="1" dirty="0"/>
              <a:t>type /\^[Enter] in less</a:t>
            </a:r>
          </a:p>
        </p:txBody>
      </p:sp>
      <p:sp>
        <p:nvSpPr>
          <p:cNvPr id="4" name="Slide Number Placeholder 3">
            <a:extLst>
              <a:ext uri="{FF2B5EF4-FFF2-40B4-BE49-F238E27FC236}">
                <a16:creationId xmlns:a16="http://schemas.microsoft.com/office/drawing/2014/main" id="{39BCD5D2-AAB9-227B-278A-C1E8D1D91697}"/>
              </a:ext>
            </a:extLst>
          </p:cNvPr>
          <p:cNvSpPr>
            <a:spLocks noGrp="1"/>
          </p:cNvSpPr>
          <p:nvPr>
            <p:ph type="sldNum" sz="quarter" idx="12"/>
          </p:nvPr>
        </p:nvSpPr>
        <p:spPr/>
        <p:txBody>
          <a:bodyPr/>
          <a:lstStyle/>
          <a:p>
            <a:fld id="{B82CCC60-E8CD-4174-8B1A-7DF615B22EEF}" type="slidenum">
              <a:rPr lang="en-US" smtClean="0"/>
              <a:pPr/>
              <a:t>96</a:t>
            </a:fld>
            <a:endParaRPr lang="en-US"/>
          </a:p>
        </p:txBody>
      </p:sp>
    </p:spTree>
    <p:extLst>
      <p:ext uri="{BB962C8B-B14F-4D97-AF65-F5344CB8AC3E}">
        <p14:creationId xmlns:p14="http://schemas.microsoft.com/office/powerpoint/2010/main" val="21180702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8604</TotalTime>
  <Words>3793</Words>
  <Application>Microsoft Office PowerPoint</Application>
  <PresentationFormat>Widescreen</PresentationFormat>
  <Paragraphs>575</Paragraphs>
  <Slides>96</Slides>
  <Notes>0</Notes>
  <HiddenSlides>38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96</vt:i4>
      </vt:variant>
    </vt:vector>
  </HeadingPairs>
  <TitlesOfParts>
    <vt:vector size="104" baseType="lpstr">
      <vt:lpstr>Arial</vt:lpstr>
      <vt:lpstr>Calibri</vt:lpstr>
      <vt:lpstr>Cambria Math</vt:lpstr>
      <vt:lpstr>Consolas</vt:lpstr>
      <vt:lpstr>Courier New</vt:lpstr>
      <vt:lpstr>Trebuchet MS</vt:lpstr>
      <vt:lpstr>Wingdings</vt:lpstr>
      <vt:lpstr>Office Theme</vt:lpstr>
      <vt:lpstr>PowerPoint Presentation</vt:lpstr>
      <vt:lpstr>PowerPoint Presentation</vt:lpstr>
      <vt:lpstr>Introduction to the course</vt:lpstr>
      <vt:lpstr>More on the grades</vt:lpstr>
      <vt:lpstr>Reading list and presentations</vt:lpstr>
      <vt:lpstr>Concepts we will learn</vt:lpstr>
      <vt:lpstr>Computing facility</vt:lpstr>
      <vt:lpstr>What is DNA?</vt:lpstr>
      <vt:lpstr>Nucleotide: Phosphate, Base and Pentose sugar</vt:lpstr>
      <vt:lpstr>Nucleotide: Phosphate, Base and Pentose sugar</vt:lpstr>
      <vt:lpstr>DNA replication</vt:lpstr>
      <vt:lpstr>Complementary strands</vt:lpstr>
      <vt:lpstr>DNA extraction</vt:lpstr>
      <vt:lpstr>DNA Extraction -Video</vt:lpstr>
      <vt:lpstr>Library preparation</vt:lpstr>
      <vt:lpstr>DNA sequencing overview</vt:lpstr>
      <vt:lpstr>DNA sequencing data: (pairs of) reads</vt:lpstr>
      <vt:lpstr>Types of sequencing reads</vt:lpstr>
      <vt:lpstr>Types of sequencing reads</vt:lpstr>
      <vt:lpstr>Current DNA sequencing technologies</vt:lpstr>
      <vt:lpstr>Repeat regions cause mistakes</vt:lpstr>
      <vt:lpstr>Long reads help avoid mistakes</vt:lpstr>
      <vt:lpstr>Sequencing data formats</vt:lpstr>
      <vt:lpstr>Quality score</vt:lpstr>
      <vt:lpstr>Phred33 vs Phred64 encoding</vt:lpstr>
      <vt:lpstr>Fasta format</vt:lpstr>
      <vt:lpstr>Example fasta format</vt:lpstr>
      <vt:lpstr>Fastq format</vt:lpstr>
      <vt:lpstr>Example fastq format</vt:lpstr>
      <vt:lpstr>SAM format</vt:lpstr>
      <vt:lpstr>SAM format</vt:lpstr>
      <vt:lpstr>SAM/BAM and samtools</vt:lpstr>
      <vt:lpstr>Lab 1: Convert fastq to fasta</vt:lpstr>
      <vt:lpstr>SAM format</vt:lpstr>
      <vt:lpstr>National Center for Biotechnology Information</vt:lpstr>
      <vt:lpstr>Finding information at NCBI</vt:lpstr>
      <vt:lpstr>Finding information at NCBI</vt:lpstr>
      <vt:lpstr>Finding information at NCBI</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NCBI:GenBank/RefSeq</vt:lpstr>
      <vt:lpstr>Finding information at NCBI</vt:lpstr>
      <vt:lpstr>Finding information at NCBI:SRA</vt:lpstr>
      <vt:lpstr>Finding information at NCBI:SRA</vt:lpstr>
      <vt:lpstr>Downloading data from NCBI SRA: small sets</vt:lpstr>
      <vt:lpstr>Downloading data from NCBI SRA</vt:lpstr>
      <vt:lpstr>Using fastq-dump (part of sratoolkit)</vt:lpstr>
      <vt:lpstr>Coverage</vt:lpstr>
      <vt:lpstr>How much coverage is sufficient?</vt:lpstr>
      <vt:lpstr>Poisson distribution</vt:lpstr>
      <vt:lpstr>Poisson distribution and coverage</vt:lpstr>
      <vt:lpstr>Fraction of the genome covered</vt:lpstr>
      <vt:lpstr>Number of contigs and average length</vt:lpstr>
      <vt:lpstr>Real life correction to contig length</vt:lpstr>
      <vt:lpstr>PowerPoint Presentation</vt:lpstr>
      <vt:lpstr>Overview</vt:lpstr>
      <vt:lpstr>Repeat regions cause mistakes</vt:lpstr>
      <vt:lpstr>Long reads help avoid mistakes</vt:lpstr>
      <vt:lpstr>Types of sequencing reads</vt:lpstr>
      <vt:lpstr>Coverage</vt:lpstr>
      <vt:lpstr>Choosing the right sequencing strategy</vt:lpstr>
      <vt:lpstr>General genome assembly paradigms</vt:lpstr>
      <vt:lpstr>DeBruijn graph</vt:lpstr>
      <vt:lpstr>DeBruijn graph</vt:lpstr>
      <vt:lpstr>DeBruijn graph</vt:lpstr>
      <vt:lpstr>DeBruijn graph</vt:lpstr>
      <vt:lpstr>DeBruijn graph</vt:lpstr>
      <vt:lpstr>DeBruijn graph</vt:lpstr>
      <vt:lpstr>DeBruijn graph</vt:lpstr>
      <vt:lpstr>Assembly polishing</vt:lpstr>
      <vt:lpstr>Scaffoldng</vt:lpstr>
      <vt:lpstr>Evaluating genome assemblies</vt:lpstr>
      <vt:lpstr>Genome assemblers</vt:lpstr>
      <vt:lpstr>MaSuRCA</vt:lpstr>
      <vt:lpstr>MaSuRCA - POLCA</vt:lpstr>
      <vt:lpstr>MaSuRCA - SAMBA</vt:lpstr>
      <vt:lpstr>MaSuRCA - ufasta</vt:lpstr>
      <vt:lpstr>MaSuRCA - ufasta</vt:lpstr>
      <vt:lpstr>Hifiasm</vt:lpstr>
      <vt:lpstr>Hifiasm</vt:lpstr>
      <vt:lpstr>Hifiasm</vt:lpstr>
      <vt:lpstr>Hifiasm</vt:lpstr>
      <vt:lpstr>Hifiasm</vt:lpstr>
      <vt:lpstr>Hifiasm</vt:lpstr>
      <vt:lpstr>Hifiasm</vt:lpstr>
      <vt:lpstr>Hifiasm</vt:lpstr>
      <vt:lpstr>Flye</vt:lpstr>
      <vt:lpstr>Flye</vt:lpstr>
      <vt:lpstr>Flye</vt:lpstr>
      <vt:lpstr>Flye</vt:lpstr>
      <vt:lpstr>Interactive shell in Boqueron</vt:lpstr>
      <vt:lpstr>In-class exercise: genome assembly</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Aleksey Zimin</cp:lastModifiedBy>
  <cp:revision>31</cp:revision>
  <dcterms:created xsi:type="dcterms:W3CDTF">2013-08-21T19:17:07Z</dcterms:created>
  <dcterms:modified xsi:type="dcterms:W3CDTF">2026-01-21T15:20:24Z</dcterms:modified>
</cp:coreProperties>
</file>