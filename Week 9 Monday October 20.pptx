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805" r:id="rId2"/>
    <p:sldId id="811" r:id="rId3"/>
    <p:sldId id="817" r:id="rId4"/>
    <p:sldId id="812" r:id="rId5"/>
    <p:sldId id="588" r:id="rId6"/>
    <p:sldId id="802" r:id="rId7"/>
    <p:sldId id="270" r:id="rId8"/>
    <p:sldId id="80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8B1C"/>
    <a:srgbClr val="BE0260"/>
    <a:srgbClr val="D0005E"/>
    <a:srgbClr val="018ACF"/>
    <a:srgbClr val="D09622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41" autoAdjust="0"/>
    <p:restoredTop sz="93721" autoAdjust="0"/>
  </p:normalViewPr>
  <p:slideViewPr>
    <p:cSldViewPr snapToGrid="0">
      <p:cViewPr varScale="1">
        <p:scale>
          <a:sx n="97" d="100"/>
          <a:sy n="97" d="100"/>
        </p:scale>
        <p:origin x="7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ksey Zimin" userId="7f2637d0bc515791" providerId="LiveId" clId="{8553A319-8433-4677-8F80-E28D63617D4C}"/>
    <pc:docChg chg="delSld">
      <pc:chgData name="Aleksey Zimin" userId="7f2637d0bc515791" providerId="LiveId" clId="{8553A319-8433-4677-8F80-E28D63617D4C}" dt="2025-10-20T13:51:38.921" v="1" actId="47"/>
      <pc:docMkLst>
        <pc:docMk/>
      </pc:docMkLst>
      <pc:sldChg chg="del">
        <pc:chgData name="Aleksey Zimin" userId="7f2637d0bc515791" providerId="LiveId" clId="{8553A319-8433-4677-8F80-E28D63617D4C}" dt="2025-10-20T13:51:38.921" v="1" actId="47"/>
        <pc:sldMkLst>
          <pc:docMk/>
          <pc:sldMk cId="208986471" sldId="258"/>
        </pc:sldMkLst>
      </pc:sldChg>
      <pc:sldChg chg="del">
        <pc:chgData name="Aleksey Zimin" userId="7f2637d0bc515791" providerId="LiveId" clId="{8553A319-8433-4677-8F80-E28D63617D4C}" dt="2025-10-20T13:51:38.921" v="1" actId="47"/>
        <pc:sldMkLst>
          <pc:docMk/>
          <pc:sldMk cId="1095696619" sldId="266"/>
        </pc:sldMkLst>
      </pc:sldChg>
      <pc:sldChg chg="del">
        <pc:chgData name="Aleksey Zimin" userId="7f2637d0bc515791" providerId="LiveId" clId="{8553A319-8433-4677-8F80-E28D63617D4C}" dt="2025-10-20T13:51:23.605" v="0" actId="47"/>
        <pc:sldMkLst>
          <pc:docMk/>
          <pc:sldMk cId="1052403946" sldId="272"/>
        </pc:sldMkLst>
      </pc:sldChg>
      <pc:sldChg chg="del">
        <pc:chgData name="Aleksey Zimin" userId="7f2637d0bc515791" providerId="LiveId" clId="{8553A319-8433-4677-8F80-E28D63617D4C}" dt="2025-10-20T13:51:38.921" v="1" actId="47"/>
        <pc:sldMkLst>
          <pc:docMk/>
          <pc:sldMk cId="285272752" sldId="399"/>
        </pc:sldMkLst>
      </pc:sldChg>
      <pc:sldChg chg="del">
        <pc:chgData name="Aleksey Zimin" userId="7f2637d0bc515791" providerId="LiveId" clId="{8553A319-8433-4677-8F80-E28D63617D4C}" dt="2025-10-20T13:51:38.921" v="1" actId="47"/>
        <pc:sldMkLst>
          <pc:docMk/>
          <pc:sldMk cId="582660925" sldId="557"/>
        </pc:sldMkLst>
      </pc:sldChg>
      <pc:sldChg chg="del">
        <pc:chgData name="Aleksey Zimin" userId="7f2637d0bc515791" providerId="LiveId" clId="{8553A319-8433-4677-8F80-E28D63617D4C}" dt="2025-10-20T13:51:38.921" v="1" actId="47"/>
        <pc:sldMkLst>
          <pc:docMk/>
          <pc:sldMk cId="897960614" sldId="559"/>
        </pc:sldMkLst>
      </pc:sldChg>
      <pc:sldChg chg="del">
        <pc:chgData name="Aleksey Zimin" userId="7f2637d0bc515791" providerId="LiveId" clId="{8553A319-8433-4677-8F80-E28D63617D4C}" dt="2025-10-20T13:51:38.921" v="1" actId="47"/>
        <pc:sldMkLst>
          <pc:docMk/>
          <pc:sldMk cId="2016871750" sldId="560"/>
        </pc:sldMkLst>
      </pc:sldChg>
      <pc:sldChg chg="del">
        <pc:chgData name="Aleksey Zimin" userId="7f2637d0bc515791" providerId="LiveId" clId="{8553A319-8433-4677-8F80-E28D63617D4C}" dt="2025-10-20T13:51:38.921" v="1" actId="47"/>
        <pc:sldMkLst>
          <pc:docMk/>
          <pc:sldMk cId="2724807813" sldId="803"/>
        </pc:sldMkLst>
      </pc:sldChg>
      <pc:sldChg chg="del">
        <pc:chgData name="Aleksey Zimin" userId="7f2637d0bc515791" providerId="LiveId" clId="{8553A319-8433-4677-8F80-E28D63617D4C}" dt="2025-10-20T13:51:38.921" v="1" actId="47"/>
        <pc:sldMkLst>
          <pc:docMk/>
          <pc:sldMk cId="1749372544" sldId="813"/>
        </pc:sldMkLst>
      </pc:sldChg>
      <pc:sldChg chg="del">
        <pc:chgData name="Aleksey Zimin" userId="7f2637d0bc515791" providerId="LiveId" clId="{8553A319-8433-4677-8F80-E28D63617D4C}" dt="2025-10-20T13:51:38.921" v="1" actId="47"/>
        <pc:sldMkLst>
          <pc:docMk/>
          <pc:sldMk cId="2465518171" sldId="814"/>
        </pc:sldMkLst>
      </pc:sldChg>
      <pc:sldChg chg="del">
        <pc:chgData name="Aleksey Zimin" userId="7f2637d0bc515791" providerId="LiveId" clId="{8553A319-8433-4677-8F80-E28D63617D4C}" dt="2025-10-20T13:51:38.921" v="1" actId="47"/>
        <pc:sldMkLst>
          <pc:docMk/>
          <pc:sldMk cId="2408950623" sldId="815"/>
        </pc:sldMkLst>
      </pc:sldChg>
      <pc:sldChg chg="del">
        <pc:chgData name="Aleksey Zimin" userId="7f2637d0bc515791" providerId="LiveId" clId="{8553A319-8433-4677-8F80-E28D63617D4C}" dt="2025-10-20T13:51:38.921" v="1" actId="47"/>
        <pc:sldMkLst>
          <pc:docMk/>
          <pc:sldMk cId="2474178406" sldId="816"/>
        </pc:sldMkLst>
      </pc:sldChg>
      <pc:sldChg chg="del">
        <pc:chgData name="Aleksey Zimin" userId="7f2637d0bc515791" providerId="LiveId" clId="{8553A319-8433-4677-8F80-E28D63617D4C}" dt="2025-10-20T13:51:38.921" v="1" actId="47"/>
        <pc:sldMkLst>
          <pc:docMk/>
          <pc:sldMk cId="2666247001" sldId="818"/>
        </pc:sldMkLst>
      </pc:sldChg>
      <pc:sldChg chg="del">
        <pc:chgData name="Aleksey Zimin" userId="7f2637d0bc515791" providerId="LiveId" clId="{8553A319-8433-4677-8F80-E28D63617D4C}" dt="2025-10-20T13:51:38.921" v="1" actId="47"/>
        <pc:sldMkLst>
          <pc:docMk/>
          <pc:sldMk cId="1171435911" sldId="819"/>
        </pc:sldMkLst>
      </pc:sldChg>
      <pc:sldChg chg="del">
        <pc:chgData name="Aleksey Zimin" userId="7f2637d0bc515791" providerId="LiveId" clId="{8553A319-8433-4677-8F80-E28D63617D4C}" dt="2025-10-20T13:51:38.921" v="1" actId="47"/>
        <pc:sldMkLst>
          <pc:docMk/>
          <pc:sldMk cId="2031816790" sldId="820"/>
        </pc:sldMkLst>
      </pc:sldChg>
      <pc:sldChg chg="del">
        <pc:chgData name="Aleksey Zimin" userId="7f2637d0bc515791" providerId="LiveId" clId="{8553A319-8433-4677-8F80-E28D63617D4C}" dt="2025-10-20T13:51:38.921" v="1" actId="47"/>
        <pc:sldMkLst>
          <pc:docMk/>
          <pc:sldMk cId="2178426597" sldId="821"/>
        </pc:sldMkLst>
      </pc:sldChg>
      <pc:sldChg chg="del">
        <pc:chgData name="Aleksey Zimin" userId="7f2637d0bc515791" providerId="LiveId" clId="{8553A319-8433-4677-8F80-E28D63617D4C}" dt="2025-10-20T13:51:38.921" v="1" actId="47"/>
        <pc:sldMkLst>
          <pc:docMk/>
          <pc:sldMk cId="4009283481" sldId="822"/>
        </pc:sldMkLst>
      </pc:sldChg>
      <pc:sldChg chg="del">
        <pc:chgData name="Aleksey Zimin" userId="7f2637d0bc515791" providerId="LiveId" clId="{8553A319-8433-4677-8F80-E28D63617D4C}" dt="2025-10-20T13:51:38.921" v="1" actId="47"/>
        <pc:sldMkLst>
          <pc:docMk/>
          <pc:sldMk cId="2068933949" sldId="823"/>
        </pc:sldMkLst>
      </pc:sldChg>
      <pc:sldChg chg="del">
        <pc:chgData name="Aleksey Zimin" userId="7f2637d0bc515791" providerId="LiveId" clId="{8553A319-8433-4677-8F80-E28D63617D4C}" dt="2025-10-20T13:51:38.921" v="1" actId="47"/>
        <pc:sldMkLst>
          <pc:docMk/>
          <pc:sldMk cId="1248438669" sldId="824"/>
        </pc:sldMkLst>
      </pc:sldChg>
      <pc:sldChg chg="del">
        <pc:chgData name="Aleksey Zimin" userId="7f2637d0bc515791" providerId="LiveId" clId="{8553A319-8433-4677-8F80-E28D63617D4C}" dt="2025-10-20T13:51:38.921" v="1" actId="47"/>
        <pc:sldMkLst>
          <pc:docMk/>
          <pc:sldMk cId="2622166328" sldId="825"/>
        </pc:sldMkLst>
      </pc:sldChg>
      <pc:sldChg chg="del">
        <pc:chgData name="Aleksey Zimin" userId="7f2637d0bc515791" providerId="LiveId" clId="{8553A319-8433-4677-8F80-E28D63617D4C}" dt="2025-10-20T13:51:38.921" v="1" actId="47"/>
        <pc:sldMkLst>
          <pc:docMk/>
          <pc:sldMk cId="2174087718" sldId="826"/>
        </pc:sldMkLst>
      </pc:sldChg>
      <pc:sldChg chg="del">
        <pc:chgData name="Aleksey Zimin" userId="7f2637d0bc515791" providerId="LiveId" clId="{8553A319-8433-4677-8F80-E28D63617D4C}" dt="2025-10-20T13:51:38.921" v="1" actId="47"/>
        <pc:sldMkLst>
          <pc:docMk/>
          <pc:sldMk cId="14013305" sldId="827"/>
        </pc:sldMkLst>
      </pc:sldChg>
      <pc:sldChg chg="del">
        <pc:chgData name="Aleksey Zimin" userId="7f2637d0bc515791" providerId="LiveId" clId="{8553A319-8433-4677-8F80-E28D63617D4C}" dt="2025-10-20T13:51:38.921" v="1" actId="47"/>
        <pc:sldMkLst>
          <pc:docMk/>
          <pc:sldMk cId="2055598344" sldId="828"/>
        </pc:sldMkLst>
      </pc:sldChg>
      <pc:sldChg chg="del">
        <pc:chgData name="Aleksey Zimin" userId="7f2637d0bc515791" providerId="LiveId" clId="{8553A319-8433-4677-8F80-E28D63617D4C}" dt="2025-10-20T13:51:38.921" v="1" actId="47"/>
        <pc:sldMkLst>
          <pc:docMk/>
          <pc:sldMk cId="4181278750" sldId="829"/>
        </pc:sldMkLst>
      </pc:sldChg>
      <pc:sldChg chg="del">
        <pc:chgData name="Aleksey Zimin" userId="7f2637d0bc515791" providerId="LiveId" clId="{8553A319-8433-4677-8F80-E28D63617D4C}" dt="2025-10-20T13:51:38.921" v="1" actId="47"/>
        <pc:sldMkLst>
          <pc:docMk/>
          <pc:sldMk cId="2374436574" sldId="83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C61B90-1233-4265-A8E1-4CB85DE126FB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13FD6-7C7B-4426-BFC4-490AC0CFB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977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8620" y="1138426"/>
            <a:ext cx="10363200" cy="137434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38293" y="4650641"/>
            <a:ext cx="8534400" cy="1374345"/>
          </a:xfrm>
        </p:spPr>
        <p:txBody>
          <a:bodyPr>
            <a:normAutofit/>
          </a:bodyPr>
          <a:lstStyle>
            <a:lvl1pPr marL="0" indent="0" algn="r">
              <a:buNone/>
              <a:defRPr sz="26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</a:t>
            </a:r>
          </a:p>
          <a:p>
            <a:r>
              <a:rPr lang="en-US" dirty="0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73EFF-6084-460D-96FA-2FA787A98816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680310"/>
            <a:ext cx="10972800" cy="45811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3918803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F86A1-0F17-41D8-9FFA-9520AF33BFC6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1081" y="527605"/>
            <a:ext cx="9354927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D0005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1082" y="1138425"/>
            <a:ext cx="9354927" cy="4275740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692F4-087A-4F4C-9829-F340F0646973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80BFE-E826-4B70-BF6B-3710B05194AF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182DA-5425-42F9-BDB8-0DBDA15B981E}" type="datetime1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527605"/>
            <a:ext cx="10972800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620" y="1596539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620" y="2226402"/>
            <a:ext cx="5386917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2388" y="1596539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2388" y="2226402"/>
            <a:ext cx="5389033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B7164-C7F7-495E-9D5F-43BBDEBECF81}" type="datetime1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C5AB8-78AA-4DA3-952F-F5057D2DAAA5}" type="datetime1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CB869-D2D8-4282-A525-D63712C1B900}" type="datetime1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8CF58-29B0-4D31-BE55-D9C1F05848B7}" type="datetime1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92F8-B2BD-4E07-9A92-E5080B238DFA}" type="datetime1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8673-6F42-4090-A040-176AF0E6DEAE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5288-B7FB-4510-97B0-C840A6671DDD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6584950" y="1574800"/>
            <a:ext cx="4762500" cy="464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44550" y="1574800"/>
            <a:ext cx="5111750" cy="4648200"/>
          </a:xfrm>
          <a:prstGeom prst="rect">
            <a:avLst/>
          </a:prstGeom>
        </p:spPr>
        <p:txBody>
          <a:bodyPr/>
          <a:lstStyle>
            <a:lvl1pPr marL="279400" indent="-279400">
              <a:spcBef>
                <a:spcPts val="2250"/>
              </a:spcBef>
              <a:defRPr sz="1900"/>
            </a:lvl1pPr>
            <a:lvl2pPr marL="558800" indent="-279400">
              <a:spcBef>
                <a:spcPts val="2250"/>
              </a:spcBef>
              <a:defRPr sz="1900"/>
            </a:lvl2pPr>
            <a:lvl3pPr marL="838200" indent="-279400">
              <a:spcBef>
                <a:spcPts val="2250"/>
              </a:spcBef>
              <a:defRPr sz="1900"/>
            </a:lvl3pPr>
            <a:lvl4pPr marL="1117600" indent="-279400">
              <a:spcBef>
                <a:spcPts val="2250"/>
              </a:spcBef>
              <a:defRPr sz="1900"/>
            </a:lvl4pPr>
            <a:lvl5pPr marL="1397000" indent="-279400">
              <a:spcBef>
                <a:spcPts val="2250"/>
              </a:spcBef>
              <a:defRPr sz="19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939126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6072081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844550" y="889000"/>
            <a:ext cx="10502900" cy="5080000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1pPr>
            <a:lvl2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2pPr>
            <a:lvl3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3pPr>
            <a:lvl4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4pPr>
            <a:lvl5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394271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8395F-151A-4402-98B5-C84E535B9AEF}" type="datetime1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5" r:id="rId13"/>
    <p:sldLayoutId id="2147483666" r:id="rId14"/>
    <p:sldLayoutId id="2147483667" r:id="rId1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28ED-23E7-0DD9-698A-54638488F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Splicing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D4F4A-7104-01C8-D998-62D6074CE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5908058" cy="512493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Spliceosome includes five so-called ‘small nuclear ribonucleoproteins’ (snRNPs, often pronounced ‘snurps’) and numerous associated proteins. </a:t>
            </a:r>
          </a:p>
          <a:p>
            <a:r>
              <a:rPr lang="en-US" dirty="0"/>
              <a:t>The snRNPs contain RNA that is rich in Uracil, the RNA base that replaces DNA’s Thymine, and they are named – perhaps unimaginatively – U1, U2, U4, U5 and U6</a:t>
            </a:r>
          </a:p>
          <a:p>
            <a:r>
              <a:rPr lang="en-US" dirty="0"/>
              <a:t>Spliceosome determines the start and end of an intron by detecting DNA patterns around donor (typically GT) and acceptor (typically AG) sites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578F2D-FE73-DD43-722C-B83D9DA54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45E3C6-EDDB-976B-129A-CF96D9008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861" y="1138425"/>
            <a:ext cx="5308139" cy="5426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923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CA422-EB5B-6C9F-83F4-CCA5AC38E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Splice site patterns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F78B9-9182-E692-99AF-1FA2D9B1C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03D917-D8B8-7316-1BC8-4876A096C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217" y="2006518"/>
            <a:ext cx="8437459" cy="40913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966AE1-796E-6EAE-1517-76D18A951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494" y="2128063"/>
            <a:ext cx="3307736" cy="39016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3AD03D-16BF-6442-AF61-6D82FBBDE1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7989" y="760138"/>
            <a:ext cx="3894011" cy="12242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AC7C38F-A22A-D105-3E87-477459DC8AFD}"/>
              </a:ext>
            </a:extLst>
          </p:cNvPr>
          <p:cNvSpPr txBox="1"/>
          <p:nvPr/>
        </p:nvSpPr>
        <p:spPr>
          <a:xfrm>
            <a:off x="931164" y="1651700"/>
            <a:ext cx="1223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Donor (GT)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9F0EAD-576D-79AD-537E-10C7899ACCEE}"/>
              </a:ext>
            </a:extLst>
          </p:cNvPr>
          <p:cNvSpPr txBox="1"/>
          <p:nvPr/>
        </p:nvSpPr>
        <p:spPr>
          <a:xfrm>
            <a:off x="6178078" y="1626138"/>
            <a:ext cx="1497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Acceptor (AG)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937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67589-113F-2548-FBFC-71A5452DF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620" y="680310"/>
            <a:ext cx="6208580" cy="458115"/>
          </a:xfrm>
        </p:spPr>
        <p:txBody>
          <a:bodyPr>
            <a:normAutofit fontScale="90000"/>
          </a:bodyPr>
          <a:lstStyle/>
          <a:p>
            <a:r>
              <a:rPr lang="en-US" dirty="0"/>
              <a:t>What goes wrong in transcription and translation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EA890-4A86-8457-7BFC-1175253D1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6281151" cy="500746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Biochemical processes are not exact</a:t>
            </a:r>
          </a:p>
          <a:p>
            <a:r>
              <a:rPr lang="en-US" dirty="0"/>
              <a:t>RNA polymerase recognizes promoter sites imperfectly</a:t>
            </a:r>
          </a:p>
          <a:p>
            <a:r>
              <a:rPr lang="en-US" dirty="0"/>
              <a:t>More than 50% of the </a:t>
            </a:r>
            <a:r>
              <a:rPr lang="en-US" i="1" dirty="0"/>
              <a:t>distinct</a:t>
            </a:r>
            <a:r>
              <a:rPr lang="en-US" dirty="0"/>
              <a:t> transcripts are produced in error -- “transcriptional noise”</a:t>
            </a:r>
          </a:p>
          <a:p>
            <a:pPr lvl="1"/>
            <a:r>
              <a:rPr lang="en-US" dirty="0"/>
              <a:t>Small portion of overall transcripts</a:t>
            </a:r>
          </a:p>
          <a:p>
            <a:pPr lvl="1"/>
            <a:r>
              <a:rPr lang="en-US" dirty="0"/>
              <a:t>Generally expressed at a low level</a:t>
            </a:r>
          </a:p>
          <a:p>
            <a:pPr lvl="1"/>
            <a:r>
              <a:rPr lang="en-US" dirty="0"/>
              <a:t>Never coding, recycled in cytoplasm</a:t>
            </a:r>
          </a:p>
          <a:p>
            <a:r>
              <a:rPr lang="en-US" dirty="0"/>
              <a:t>Introns are sometimes spliced </a:t>
            </a:r>
            <a:r>
              <a:rPr lang="en-US" dirty="0" err="1"/>
              <a:t>imperfecty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This is called </a:t>
            </a:r>
            <a:r>
              <a:rPr lang="en-US" i="1" dirty="0"/>
              <a:t>intron retention</a:t>
            </a:r>
          </a:p>
          <a:p>
            <a:r>
              <a:rPr lang="en-US" dirty="0"/>
              <a:t>Splicing errors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71F59-E2CB-986E-41EF-C38922BC9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873D58-11C8-2E09-26E6-9A2DA93B03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75" b="72154"/>
          <a:stretch>
            <a:fillRect/>
          </a:stretch>
        </p:blipFill>
        <p:spPr>
          <a:xfrm>
            <a:off x="7486847" y="1334193"/>
            <a:ext cx="4541669" cy="9518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1E62DA-FBE6-9523-F824-E555CB4C80A4}"/>
              </a:ext>
            </a:extLst>
          </p:cNvPr>
          <p:cNvSpPr txBox="1"/>
          <p:nvPr/>
        </p:nvSpPr>
        <p:spPr>
          <a:xfrm>
            <a:off x="8007795" y="5643550"/>
            <a:ext cx="2858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credit: Khan Academy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5C77CA-A8DD-57E2-4967-C0606D24C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7018" y="2629469"/>
            <a:ext cx="4361326" cy="212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555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F8FF3-9727-1B00-58BE-3C2A68A1F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Transcription levels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DE8F8-5AA7-852B-3D94-B9D4E154C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Transcription levels vary </a:t>
            </a:r>
            <a:r>
              <a:rPr lang="en-US" i="1" dirty="0"/>
              <a:t>a lot </a:t>
            </a:r>
            <a:r>
              <a:rPr lang="en-US" dirty="0"/>
              <a:t>for individual genes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79D49-AC9E-1653-F78D-7D4A77555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189AD1-763A-5286-C04B-8CDEB95F5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440" y="2346777"/>
            <a:ext cx="8840434" cy="32675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B3491C-3B61-2DEA-EC0D-47B03663C29B}"/>
              </a:ext>
            </a:extLst>
          </p:cNvPr>
          <p:cNvSpPr txBox="1"/>
          <p:nvPr/>
        </p:nvSpPr>
        <p:spPr>
          <a:xfrm>
            <a:off x="7868993" y="6488668"/>
            <a:ext cx="2858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credit: Khan Academy</a:t>
            </a:r>
          </a:p>
        </p:txBody>
      </p:sp>
    </p:spTree>
    <p:extLst>
      <p:ext uri="{BB962C8B-B14F-4D97-AF65-F5344CB8AC3E}">
        <p14:creationId xmlns:p14="http://schemas.microsoft.com/office/powerpoint/2010/main" val="2608576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672995B-4320-43AF-3DB5-9B70D4398B1C}"/>
              </a:ext>
            </a:extLst>
          </p:cNvPr>
          <p:cNvSpPr/>
          <p:nvPr/>
        </p:nvSpPr>
        <p:spPr>
          <a:xfrm>
            <a:off x="2623087" y="4006386"/>
            <a:ext cx="1902373" cy="19706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00BFE1-98C9-C0EF-A1F9-99C03FE9B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Transcript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A931E-3F3A-E6D9-8B63-643D1877C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512493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Transcripts are sequences of exons after the introns are </a:t>
            </a:r>
            <a:r>
              <a:rPr lang="en-US" i="1" dirty="0"/>
              <a:t>spliced out:</a:t>
            </a:r>
            <a:br>
              <a:rPr lang="en-US" i="1" dirty="0"/>
            </a:br>
            <a:r>
              <a:rPr lang="en-US" i="1" dirty="0"/>
              <a:t>                                          </a:t>
            </a:r>
            <a:r>
              <a:rPr lang="en-US" dirty="0"/>
              <a:t>genome</a:t>
            </a:r>
            <a:br>
              <a:rPr lang="en-US" i="1" dirty="0"/>
            </a:br>
            <a:br>
              <a:rPr lang="en-US" i="1" dirty="0"/>
            </a:br>
            <a:r>
              <a:rPr lang="en-US" dirty="0"/>
              <a:t>                      exon1                        exon2        exon3</a:t>
            </a:r>
            <a:br>
              <a:rPr lang="en-US" dirty="0"/>
            </a:br>
            <a:r>
              <a:rPr lang="en-US" dirty="0"/>
              <a:t>                                         transcript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                          exon1            exon2   exon3</a:t>
            </a:r>
          </a:p>
          <a:p>
            <a:r>
              <a:rPr lang="en-US" i="1" dirty="0"/>
              <a:t>UTRs </a:t>
            </a:r>
            <a:r>
              <a:rPr lang="en-US" dirty="0"/>
              <a:t>are </a:t>
            </a:r>
            <a:r>
              <a:rPr lang="en-US" dirty="0" err="1"/>
              <a:t>UnTRanslated</a:t>
            </a:r>
            <a:r>
              <a:rPr lang="en-US" dirty="0"/>
              <a:t> sequences before and after the </a:t>
            </a:r>
            <a:r>
              <a:rPr lang="en-US" i="1" dirty="0"/>
              <a:t>protein coding region</a:t>
            </a:r>
          </a:p>
          <a:p>
            <a:r>
              <a:rPr lang="en-US" dirty="0"/>
              <a:t>Protein </a:t>
            </a:r>
            <a:r>
              <a:rPr lang="en-US" dirty="0" err="1"/>
              <a:t>CoDing</a:t>
            </a:r>
            <a:r>
              <a:rPr lang="en-US" dirty="0"/>
              <a:t> Sequence (CDS) starts with a start codon (ATG) and ends with a stop (TAG, TAA, or TGA) for eukaryotic genomes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EE634-7018-6907-7FC6-1759CF015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A3AEA9-0D11-BDD0-0CEA-0C975E6AA3B2}"/>
              </a:ext>
            </a:extLst>
          </p:cNvPr>
          <p:cNvSpPr/>
          <p:nvPr/>
        </p:nvSpPr>
        <p:spPr>
          <a:xfrm>
            <a:off x="1997842" y="2524981"/>
            <a:ext cx="6739758" cy="197069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08E98A-85C2-5F08-85DA-F58133609335}"/>
              </a:ext>
            </a:extLst>
          </p:cNvPr>
          <p:cNvSpPr/>
          <p:nvPr/>
        </p:nvSpPr>
        <p:spPr>
          <a:xfrm>
            <a:off x="2423509" y="2524981"/>
            <a:ext cx="1902373" cy="19706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A67893-9E07-2182-D438-6D9F091C65A9}"/>
              </a:ext>
            </a:extLst>
          </p:cNvPr>
          <p:cNvSpPr/>
          <p:nvPr/>
        </p:nvSpPr>
        <p:spPr>
          <a:xfrm>
            <a:off x="5129924" y="2524980"/>
            <a:ext cx="1902373" cy="19706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90BDE4-42B5-42A5-6F41-4040F4C3FF9C}"/>
              </a:ext>
            </a:extLst>
          </p:cNvPr>
          <p:cNvSpPr/>
          <p:nvPr/>
        </p:nvSpPr>
        <p:spPr>
          <a:xfrm>
            <a:off x="7239000" y="2524979"/>
            <a:ext cx="597340" cy="19706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92C141B-9640-9021-525E-B5BB7309DF96}"/>
              </a:ext>
            </a:extLst>
          </p:cNvPr>
          <p:cNvGrpSpPr/>
          <p:nvPr/>
        </p:nvGrpSpPr>
        <p:grpSpPr>
          <a:xfrm>
            <a:off x="3128160" y="2454236"/>
            <a:ext cx="1197722" cy="338554"/>
            <a:chOff x="3128160" y="2647615"/>
            <a:chExt cx="1197722" cy="33855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D96EA1D-0343-9789-0127-985F2C43418B}"/>
                </a:ext>
              </a:extLst>
            </p:cNvPr>
            <p:cNvSpPr/>
            <p:nvPr/>
          </p:nvSpPr>
          <p:spPr>
            <a:xfrm>
              <a:off x="3161862" y="2718358"/>
              <a:ext cx="1164020" cy="19706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E5D04C0-D82A-5EAE-17E9-6226229A2587}"/>
                </a:ext>
              </a:extLst>
            </p:cNvPr>
            <p:cNvSpPr txBox="1"/>
            <p:nvPr/>
          </p:nvSpPr>
          <p:spPr>
            <a:xfrm>
              <a:off x="3128160" y="2647615"/>
              <a:ext cx="6516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ATG…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09C6338-EF7E-A116-4FC3-C3F16F0962D5}"/>
              </a:ext>
            </a:extLst>
          </p:cNvPr>
          <p:cNvGrpSpPr/>
          <p:nvPr/>
        </p:nvGrpSpPr>
        <p:grpSpPr>
          <a:xfrm>
            <a:off x="5129924" y="2454236"/>
            <a:ext cx="1223098" cy="338554"/>
            <a:chOff x="5129924" y="2647615"/>
            <a:chExt cx="1223098" cy="33855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5BB529-416D-94BA-C9D4-069CEBECD7FF}"/>
                </a:ext>
              </a:extLst>
            </p:cNvPr>
            <p:cNvSpPr/>
            <p:nvPr/>
          </p:nvSpPr>
          <p:spPr>
            <a:xfrm>
              <a:off x="5129924" y="2718358"/>
              <a:ext cx="1164020" cy="19706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CCDAF76-5233-937D-C62C-3066F02893C9}"/>
                </a:ext>
              </a:extLst>
            </p:cNvPr>
            <p:cNvSpPr txBox="1"/>
            <p:nvPr/>
          </p:nvSpPr>
          <p:spPr>
            <a:xfrm>
              <a:off x="5706691" y="2647615"/>
              <a:ext cx="6463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…TAA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D8FDF01-BA62-58DA-1E5C-4BA25040CB69}"/>
              </a:ext>
            </a:extLst>
          </p:cNvPr>
          <p:cNvSpPr txBox="1"/>
          <p:nvPr/>
        </p:nvSpPr>
        <p:spPr>
          <a:xfrm>
            <a:off x="2630833" y="3939533"/>
            <a:ext cx="7296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5’ UTR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64A231-9B4E-DC09-B996-EFEFC6942B50}"/>
              </a:ext>
            </a:extLst>
          </p:cNvPr>
          <p:cNvSpPr txBox="1"/>
          <p:nvPr/>
        </p:nvSpPr>
        <p:spPr>
          <a:xfrm>
            <a:off x="6356048" y="2454236"/>
            <a:ext cx="7296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3’ UTR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FCC16D-AE72-176C-E68D-F4A908B5A4A5}"/>
              </a:ext>
            </a:extLst>
          </p:cNvPr>
          <p:cNvSpPr txBox="1"/>
          <p:nvPr/>
        </p:nvSpPr>
        <p:spPr>
          <a:xfrm>
            <a:off x="7181981" y="2454236"/>
            <a:ext cx="7296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3’ UTR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CA6243-1E31-1459-5D6C-998843BC7DCD}"/>
              </a:ext>
            </a:extLst>
          </p:cNvPr>
          <p:cNvSpPr/>
          <p:nvPr/>
        </p:nvSpPr>
        <p:spPr>
          <a:xfrm>
            <a:off x="3360520" y="3820594"/>
            <a:ext cx="2344891" cy="526231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0E4B6BA-A9BA-6D45-5BE1-3DDE439AEAF5}"/>
              </a:ext>
            </a:extLst>
          </p:cNvPr>
          <p:cNvGrpSpPr/>
          <p:nvPr/>
        </p:nvGrpSpPr>
        <p:grpSpPr>
          <a:xfrm>
            <a:off x="3343669" y="3939535"/>
            <a:ext cx="1197722" cy="338554"/>
            <a:chOff x="3128160" y="2647615"/>
            <a:chExt cx="1197722" cy="33855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A6205F9-6BE5-0A46-1D66-C86D7D310F84}"/>
                </a:ext>
              </a:extLst>
            </p:cNvPr>
            <p:cNvSpPr/>
            <p:nvPr/>
          </p:nvSpPr>
          <p:spPr>
            <a:xfrm>
              <a:off x="3161862" y="2718358"/>
              <a:ext cx="1164020" cy="19706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CA7537C-419C-A181-9401-396BF1908F97}"/>
                </a:ext>
              </a:extLst>
            </p:cNvPr>
            <p:cNvSpPr txBox="1"/>
            <p:nvPr/>
          </p:nvSpPr>
          <p:spPr>
            <a:xfrm>
              <a:off x="3128160" y="2647615"/>
              <a:ext cx="6516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ATG…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7A53705-28E8-06B3-BB2C-89DDC10DB2C6}"/>
              </a:ext>
            </a:extLst>
          </p:cNvPr>
          <p:cNvGrpSpPr/>
          <p:nvPr/>
        </p:nvGrpSpPr>
        <p:grpSpPr>
          <a:xfrm>
            <a:off x="4541391" y="3939535"/>
            <a:ext cx="1223098" cy="338554"/>
            <a:chOff x="5129924" y="2647615"/>
            <a:chExt cx="1223098" cy="33855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E4DFDDC-657E-BD59-A079-349CA4324627}"/>
                </a:ext>
              </a:extLst>
            </p:cNvPr>
            <p:cNvSpPr/>
            <p:nvPr/>
          </p:nvSpPr>
          <p:spPr>
            <a:xfrm>
              <a:off x="5129924" y="2718358"/>
              <a:ext cx="1164020" cy="19706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E2765A4-4699-F701-7262-FE2DD5B481A5}"/>
                </a:ext>
              </a:extLst>
            </p:cNvPr>
            <p:cNvSpPr txBox="1"/>
            <p:nvPr/>
          </p:nvSpPr>
          <p:spPr>
            <a:xfrm>
              <a:off x="5706691" y="2647615"/>
              <a:ext cx="6463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…TAA</a:t>
              </a: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06EB13B1-A9B1-10AB-5FDD-755D3901D431}"/>
              </a:ext>
            </a:extLst>
          </p:cNvPr>
          <p:cNvSpPr/>
          <p:nvPr/>
        </p:nvSpPr>
        <p:spPr>
          <a:xfrm>
            <a:off x="5706691" y="4010278"/>
            <a:ext cx="597340" cy="19706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13BC6A-E143-0595-228F-E7DA6DD1FD23}"/>
              </a:ext>
            </a:extLst>
          </p:cNvPr>
          <p:cNvSpPr txBox="1"/>
          <p:nvPr/>
        </p:nvSpPr>
        <p:spPr>
          <a:xfrm>
            <a:off x="5649672" y="3939535"/>
            <a:ext cx="7296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3’ UTR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BB965DA-D356-3633-4078-FA95EF69CFFF}"/>
              </a:ext>
            </a:extLst>
          </p:cNvPr>
          <p:cNvSpPr/>
          <p:nvPr/>
        </p:nvSpPr>
        <p:spPr>
          <a:xfrm>
            <a:off x="6293944" y="4010276"/>
            <a:ext cx="597340" cy="19706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DAA8AB-C618-B806-1BF3-A378EEE8DB76}"/>
              </a:ext>
            </a:extLst>
          </p:cNvPr>
          <p:cNvSpPr txBox="1"/>
          <p:nvPr/>
        </p:nvSpPr>
        <p:spPr>
          <a:xfrm>
            <a:off x="6236925" y="3939533"/>
            <a:ext cx="7296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3’ UTR</a:t>
            </a:r>
          </a:p>
        </p:txBody>
      </p:sp>
    </p:spTree>
    <p:extLst>
      <p:ext uri="{BB962C8B-B14F-4D97-AF65-F5344CB8AC3E}">
        <p14:creationId xmlns:p14="http://schemas.microsoft.com/office/powerpoint/2010/main" val="2956323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17A86-9D53-ECE1-10F0-3DFA72F6A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5614F-2141-D805-7003-E447624FF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 is a locus on the genome containing one or more transcripts</a:t>
            </a:r>
          </a:p>
          <a:p>
            <a:r>
              <a:rPr lang="en-US" dirty="0"/>
              <a:t>Multiple transcripts per gene are possible due to </a:t>
            </a:r>
            <a:r>
              <a:rPr lang="en-US" i="1" dirty="0"/>
              <a:t>alternative splicing</a:t>
            </a:r>
            <a:endParaRPr lang="en-US" dirty="0"/>
          </a:p>
          <a:p>
            <a:r>
              <a:rPr lang="en-US" dirty="0"/>
              <a:t>Gene starts at the start of the leftmost transcript and ends at the end of the rightmost transcript.  All transcripts in a gene are on the </a:t>
            </a:r>
            <a:r>
              <a:rPr lang="en-US" i="1" dirty="0"/>
              <a:t>same strand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39648B-9A0A-BF7A-73E5-3A45C1987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30FF6B-7092-2220-A49C-FB2CBF82EEF9}"/>
              </a:ext>
            </a:extLst>
          </p:cNvPr>
          <p:cNvSpPr/>
          <p:nvPr/>
        </p:nvSpPr>
        <p:spPr>
          <a:xfrm>
            <a:off x="1853463" y="4860161"/>
            <a:ext cx="6739758" cy="197069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73F882-CBB7-98ED-2A11-9B4A1C0A0EAA}"/>
              </a:ext>
            </a:extLst>
          </p:cNvPr>
          <p:cNvSpPr/>
          <p:nvPr/>
        </p:nvSpPr>
        <p:spPr>
          <a:xfrm>
            <a:off x="2279130" y="4860161"/>
            <a:ext cx="1902373" cy="19706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exon1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2322F0-D278-A807-962B-33999619E9EA}"/>
              </a:ext>
            </a:extLst>
          </p:cNvPr>
          <p:cNvSpPr/>
          <p:nvPr/>
        </p:nvSpPr>
        <p:spPr>
          <a:xfrm>
            <a:off x="4985545" y="4860160"/>
            <a:ext cx="1237746" cy="19706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exon2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AD7F41-2A7D-89B0-5263-F532AA26F130}"/>
              </a:ext>
            </a:extLst>
          </p:cNvPr>
          <p:cNvSpPr/>
          <p:nvPr/>
        </p:nvSpPr>
        <p:spPr>
          <a:xfrm>
            <a:off x="7624408" y="4860159"/>
            <a:ext cx="749969" cy="19706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exon3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46CB2C-2853-C10D-C9DE-68A5B198AEB9}"/>
              </a:ext>
            </a:extLst>
          </p:cNvPr>
          <p:cNvSpPr/>
          <p:nvPr/>
        </p:nvSpPr>
        <p:spPr>
          <a:xfrm>
            <a:off x="1853463" y="5416808"/>
            <a:ext cx="6739758" cy="197069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AD661C-A63A-1FF2-29AC-5EEE8968E20A}"/>
              </a:ext>
            </a:extLst>
          </p:cNvPr>
          <p:cNvSpPr/>
          <p:nvPr/>
        </p:nvSpPr>
        <p:spPr>
          <a:xfrm>
            <a:off x="2279130" y="5416808"/>
            <a:ext cx="1902373" cy="19706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exon1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3BE20EC-28BF-6FDF-6F9B-DACECBC8AF3A}"/>
              </a:ext>
            </a:extLst>
          </p:cNvPr>
          <p:cNvSpPr/>
          <p:nvPr/>
        </p:nvSpPr>
        <p:spPr>
          <a:xfrm>
            <a:off x="7094621" y="5416806"/>
            <a:ext cx="1029102" cy="18563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exon4</a:t>
            </a:r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9C2D2BE8-FFB2-BAE0-302A-2FB60D1AE5FC}"/>
              </a:ext>
            </a:extLst>
          </p:cNvPr>
          <p:cNvSpPr/>
          <p:nvPr/>
        </p:nvSpPr>
        <p:spPr>
          <a:xfrm rot="16200000">
            <a:off x="5137832" y="1456211"/>
            <a:ext cx="387068" cy="6104473"/>
          </a:xfrm>
          <a:prstGeom prst="rightBrac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706F93-10B3-8526-0062-52EE5F7B81FA}"/>
              </a:ext>
            </a:extLst>
          </p:cNvPr>
          <p:cNvSpPr txBox="1"/>
          <p:nvPr/>
        </p:nvSpPr>
        <p:spPr>
          <a:xfrm>
            <a:off x="8806531" y="4774027"/>
            <a:ext cx="1278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Transcript 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529772-870C-BD1A-034F-8F419F210D7F}"/>
              </a:ext>
            </a:extLst>
          </p:cNvPr>
          <p:cNvSpPr txBox="1"/>
          <p:nvPr/>
        </p:nvSpPr>
        <p:spPr>
          <a:xfrm>
            <a:off x="4985545" y="3901190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3649FE-F8C9-5860-97AF-C3552CCF0AB4}"/>
              </a:ext>
            </a:extLst>
          </p:cNvPr>
          <p:cNvSpPr txBox="1"/>
          <p:nvPr/>
        </p:nvSpPr>
        <p:spPr>
          <a:xfrm>
            <a:off x="8806531" y="5327666"/>
            <a:ext cx="1278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Transcript 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57A1E7-C011-0C69-1103-2BE58041A543}"/>
              </a:ext>
            </a:extLst>
          </p:cNvPr>
          <p:cNvSpPr txBox="1"/>
          <p:nvPr/>
        </p:nvSpPr>
        <p:spPr>
          <a:xfrm>
            <a:off x="4147860" y="4561707"/>
            <a:ext cx="871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intron1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4172B1-9B65-35EF-97ED-D9FE9E848B59}"/>
              </a:ext>
            </a:extLst>
          </p:cNvPr>
          <p:cNvSpPr txBox="1"/>
          <p:nvPr/>
        </p:nvSpPr>
        <p:spPr>
          <a:xfrm>
            <a:off x="6475900" y="4575798"/>
            <a:ext cx="871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intron2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9F4B74-AB40-6101-F89C-30AFDBD85713}"/>
              </a:ext>
            </a:extLst>
          </p:cNvPr>
          <p:cNvSpPr txBox="1"/>
          <p:nvPr/>
        </p:nvSpPr>
        <p:spPr>
          <a:xfrm>
            <a:off x="5160205" y="5141133"/>
            <a:ext cx="871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intron3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2419F4-DFC7-B4F3-2768-C7300EB7FF26}"/>
              </a:ext>
            </a:extLst>
          </p:cNvPr>
          <p:cNvSpPr txBox="1"/>
          <p:nvPr/>
        </p:nvSpPr>
        <p:spPr>
          <a:xfrm>
            <a:off x="4119287" y="4780179"/>
            <a:ext cx="441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9C6854-D304-3E82-D5A3-38BF91300B9E}"/>
              </a:ext>
            </a:extLst>
          </p:cNvPr>
          <p:cNvSpPr txBox="1"/>
          <p:nvPr/>
        </p:nvSpPr>
        <p:spPr>
          <a:xfrm>
            <a:off x="7228331" y="4789078"/>
            <a:ext cx="461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C8003E-43D2-C2F6-E0E0-76FA1557C446}"/>
              </a:ext>
            </a:extLst>
          </p:cNvPr>
          <p:cNvSpPr txBox="1"/>
          <p:nvPr/>
        </p:nvSpPr>
        <p:spPr>
          <a:xfrm>
            <a:off x="4097119" y="5327666"/>
            <a:ext cx="441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33057D-9605-84BD-824F-D388112AAAE9}"/>
              </a:ext>
            </a:extLst>
          </p:cNvPr>
          <p:cNvSpPr txBox="1"/>
          <p:nvPr/>
        </p:nvSpPr>
        <p:spPr>
          <a:xfrm>
            <a:off x="6717303" y="5325799"/>
            <a:ext cx="461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D2467A-3C15-E9D3-9411-24068AB9C379}"/>
              </a:ext>
            </a:extLst>
          </p:cNvPr>
          <p:cNvSpPr txBox="1"/>
          <p:nvPr/>
        </p:nvSpPr>
        <p:spPr>
          <a:xfrm>
            <a:off x="4616706" y="4786127"/>
            <a:ext cx="461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82C4AA2-405D-34FF-9183-08F4B5AD3F85}"/>
              </a:ext>
            </a:extLst>
          </p:cNvPr>
          <p:cNvSpPr txBox="1"/>
          <p:nvPr/>
        </p:nvSpPr>
        <p:spPr>
          <a:xfrm>
            <a:off x="6159295" y="4780179"/>
            <a:ext cx="441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GT</a:t>
            </a:r>
          </a:p>
        </p:txBody>
      </p:sp>
    </p:spTree>
    <p:extLst>
      <p:ext uri="{BB962C8B-B14F-4D97-AF65-F5344CB8AC3E}">
        <p14:creationId xmlns:p14="http://schemas.microsoft.com/office/powerpoint/2010/main" val="494252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Shape 357"/>
          <p:cNvSpPr txBox="1"/>
          <p:nvPr/>
        </p:nvSpPr>
        <p:spPr>
          <a:xfrm>
            <a:off x="180940" y="18979"/>
            <a:ext cx="6862916" cy="11801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9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algn="l" defTabSz="410766" hangingPunct="0"/>
            <a:r>
              <a:rPr sz="3600" b="0" kern="0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rPr>
              <a:t>G</a:t>
            </a:r>
            <a:r>
              <a:rPr lang="en-US" sz="3600" b="0" kern="0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rPr>
              <a:t>FF/GTF</a:t>
            </a:r>
            <a:r>
              <a:rPr sz="3600" b="0" kern="0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rPr>
              <a:t> files provide a map for all known genome features</a:t>
            </a:r>
          </a:p>
        </p:txBody>
      </p:sp>
      <p:graphicFrame>
        <p:nvGraphicFramePr>
          <p:cNvPr id="358" name="Table 358"/>
          <p:cNvGraphicFramePr/>
          <p:nvPr>
            <p:extLst>
              <p:ext uri="{D42A27DB-BD31-4B8C-83A1-F6EECF244321}">
                <p14:modId xmlns:p14="http://schemas.microsoft.com/office/powerpoint/2010/main" val="3199518079"/>
              </p:ext>
            </p:extLst>
          </p:nvPr>
        </p:nvGraphicFramePr>
        <p:xfrm>
          <a:off x="243805" y="2149657"/>
          <a:ext cx="6147561" cy="3763018"/>
        </p:xfrm>
        <a:graphic>
          <a:graphicData uri="http://schemas.openxmlformats.org/drawingml/2006/table">
            <a:tbl>
              <a:tblPr firstRow="1" firstCol="1"/>
              <a:tblGrid>
                <a:gridCol w="9913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 b="1">
                          <a:latin typeface="+mn-lt"/>
                          <a:ea typeface="+mn-ea"/>
                          <a:cs typeface="+mn-cs"/>
                        </a:rPr>
                        <a:t>Column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 b="1"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25400" marR="25400" marT="25400" marB="254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 err="1">
                          <a:sym typeface="Helvetica Neue Medium"/>
                        </a:rPr>
                        <a:t>Seqname</a:t>
                      </a:r>
                      <a:endParaRPr sz="1600">
                        <a:sym typeface="Helvetica Neue Medium"/>
                      </a:endParaRP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600"/>
                        <a:t>Name of chromosome, scaffold or contig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4D4D4D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>
                          <a:sym typeface="Helvetica Neue Medium"/>
                        </a:rPr>
                        <a:t>Source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600" dirty="0"/>
                        <a:t>Name of the data</a:t>
                      </a:r>
                      <a:r>
                        <a:rPr lang="en-US" sz="1600" dirty="0"/>
                        <a:t> </a:t>
                      </a:r>
                      <a:r>
                        <a:rPr sz="1600" dirty="0"/>
                        <a:t>source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4D4D4D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 dirty="0">
                          <a:sym typeface="Helvetica Neue Medium"/>
                        </a:rPr>
                        <a:t>Feature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600"/>
                        <a:t>Feature type (e.g. gene, exon, transcript, CDS, five_prime_UTR)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4D4D4D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>
                          <a:sym typeface="Helvetica Neue Medium"/>
                        </a:rPr>
                        <a:t>Start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600" dirty="0"/>
                        <a:t>Start position of the feature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4D4D4D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>
                          <a:sym typeface="Helvetica Neue Medium"/>
                        </a:rPr>
                        <a:t>End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600"/>
                        <a:t>End position of the feature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4D4D4D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>
                          <a:sym typeface="Helvetica Neue Medium"/>
                        </a:rPr>
                        <a:t>Empty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600"/>
                        <a:t>‘.’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4D4D4D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>
                          <a:sym typeface="Helvetica Neue Medium"/>
                        </a:rPr>
                        <a:t>Strand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600"/>
                        <a:t>Defined as + (forward) or - (reverse)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4D4D4D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>
                          <a:sym typeface="Helvetica Neue Medium"/>
                        </a:rPr>
                        <a:t>Frame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600"/>
                        <a:t>Either ‘0’, ‘1’, or ‘2’ - indicating reading frame by base position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4D4D4D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>
                          <a:sym typeface="Helvetica Neue Medium"/>
                        </a:rPr>
                        <a:t>Attribute</a:t>
                      </a:r>
                    </a:p>
                  </a:txBody>
                  <a:tcPr marL="25400" marR="25400" marT="25400" marB="25400" anchor="ctr" horzOverflow="overflow">
                    <a:lnB w="12700">
                      <a:solidFill>
                        <a:srgbClr val="4D4D4D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600" dirty="0"/>
                        <a:t>A semicolon separated list of other info about the feature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4D4D4D"/>
                      </a:solidFill>
                      <a:miter lim="400000"/>
                    </a:lnR>
                    <a:lnB w="12700">
                      <a:solidFill>
                        <a:srgbClr val="4D4D4D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086458E7-D221-7E7A-B73C-78B2F3AE858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199" b="24212"/>
          <a:stretch/>
        </p:blipFill>
        <p:spPr>
          <a:xfrm>
            <a:off x="6450839" y="1547491"/>
            <a:ext cx="7482545" cy="520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394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E4CD6-2875-FDFF-7915-3B5BC5ED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 representation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CE131A-8F86-E8C2-F884-2B211290AF52}"/>
              </a:ext>
            </a:extLst>
          </p:cNvPr>
          <p:cNvSpPr txBox="1"/>
          <p:nvPr/>
        </p:nvSpPr>
        <p:spPr>
          <a:xfrm>
            <a:off x="1231392" y="1690688"/>
            <a:ext cx="6937248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gene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6989CC-F401-9C7F-BE81-57FCE2113215}"/>
              </a:ext>
            </a:extLst>
          </p:cNvPr>
          <p:cNvSpPr txBox="1"/>
          <p:nvPr/>
        </p:nvSpPr>
        <p:spPr>
          <a:xfrm>
            <a:off x="1243584" y="2724912"/>
            <a:ext cx="6937248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transcript or mRNA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6E6592B-A895-0274-FBE9-7791705A327B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4700016" y="2060020"/>
            <a:ext cx="12192" cy="664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2244EA0-0956-D2AA-7CA8-9A33C6844948}"/>
              </a:ext>
            </a:extLst>
          </p:cNvPr>
          <p:cNvSpPr txBox="1"/>
          <p:nvPr/>
        </p:nvSpPr>
        <p:spPr>
          <a:xfrm>
            <a:off x="2816352" y="3419821"/>
            <a:ext cx="536448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transcript or mRNA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58A096-7FB8-C20C-8676-197D29A15AAC}"/>
              </a:ext>
            </a:extLst>
          </p:cNvPr>
          <p:cNvSpPr txBox="1"/>
          <p:nvPr/>
        </p:nvSpPr>
        <p:spPr>
          <a:xfrm>
            <a:off x="4447032" y="2834860"/>
            <a:ext cx="585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…</a:t>
            </a:r>
          </a:p>
        </p:txBody>
      </p:sp>
      <p:sp>
        <p:nvSpPr>
          <p:cNvPr id="29" name="Arrow: Curved Right 28">
            <a:extLst>
              <a:ext uri="{FF2B5EF4-FFF2-40B4-BE49-F238E27FC236}">
                <a16:creationId xmlns:a16="http://schemas.microsoft.com/office/drawing/2014/main" id="{0370C6CE-81CA-6CCD-65EE-69ADDAC38234}"/>
              </a:ext>
            </a:extLst>
          </p:cNvPr>
          <p:cNvSpPr/>
          <p:nvPr/>
        </p:nvSpPr>
        <p:spPr>
          <a:xfrm>
            <a:off x="170688" y="2909578"/>
            <a:ext cx="975360" cy="1963222"/>
          </a:xfrm>
          <a:prstGeom prst="curvedRightArrow">
            <a:avLst>
              <a:gd name="adj1" fmla="val 7218"/>
              <a:gd name="adj2" fmla="val 1220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4955FC-436E-ABF6-AE14-A372900D7D37}"/>
              </a:ext>
            </a:extLst>
          </p:cNvPr>
          <p:cNvSpPr txBox="1"/>
          <p:nvPr/>
        </p:nvSpPr>
        <p:spPr>
          <a:xfrm>
            <a:off x="1243584" y="4350256"/>
            <a:ext cx="97536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063514-D8A9-C932-48C1-F4561C3CC214}"/>
              </a:ext>
            </a:extLst>
          </p:cNvPr>
          <p:cNvSpPr txBox="1"/>
          <p:nvPr/>
        </p:nvSpPr>
        <p:spPr>
          <a:xfrm>
            <a:off x="2218944" y="4350256"/>
            <a:ext cx="97536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A35B60-FA54-FCB1-742D-B12EE37E77DD}"/>
              </a:ext>
            </a:extLst>
          </p:cNvPr>
          <p:cNvSpPr txBox="1"/>
          <p:nvPr/>
        </p:nvSpPr>
        <p:spPr>
          <a:xfrm>
            <a:off x="3182112" y="4350256"/>
            <a:ext cx="1530096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1BB656-58F9-7621-B1CE-332DF54FEA8E}"/>
              </a:ext>
            </a:extLst>
          </p:cNvPr>
          <p:cNvSpPr txBox="1"/>
          <p:nvPr/>
        </p:nvSpPr>
        <p:spPr>
          <a:xfrm>
            <a:off x="4700016" y="4350256"/>
            <a:ext cx="1347216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EFD9D4C-CA1B-2EDF-A1FE-946CD0FCF595}"/>
              </a:ext>
            </a:extLst>
          </p:cNvPr>
          <p:cNvSpPr txBox="1"/>
          <p:nvPr/>
        </p:nvSpPr>
        <p:spPr>
          <a:xfrm>
            <a:off x="6047232" y="4350256"/>
            <a:ext cx="2121408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3C13542-4436-33FE-8C48-A5674CFAA7D4}"/>
              </a:ext>
            </a:extLst>
          </p:cNvPr>
          <p:cNvSpPr txBox="1"/>
          <p:nvPr/>
        </p:nvSpPr>
        <p:spPr>
          <a:xfrm>
            <a:off x="1231392" y="5015148"/>
            <a:ext cx="97536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5’ UTR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94E4C5-C7A3-E092-294C-0D9DD1F37B42}"/>
              </a:ext>
            </a:extLst>
          </p:cNvPr>
          <p:cNvSpPr txBox="1"/>
          <p:nvPr/>
        </p:nvSpPr>
        <p:spPr>
          <a:xfrm>
            <a:off x="2206752" y="5015148"/>
            <a:ext cx="97536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5’ UTR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F2EB241-1E1B-C811-B334-4FEB236BCD15}"/>
              </a:ext>
            </a:extLst>
          </p:cNvPr>
          <p:cNvSpPr txBox="1"/>
          <p:nvPr/>
        </p:nvSpPr>
        <p:spPr>
          <a:xfrm>
            <a:off x="3169920" y="5015148"/>
            <a:ext cx="89001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5’UTR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BEBE1D-4A2E-4D05-67A7-FFB4902707D7}"/>
              </a:ext>
            </a:extLst>
          </p:cNvPr>
          <p:cNvSpPr txBox="1"/>
          <p:nvPr/>
        </p:nvSpPr>
        <p:spPr>
          <a:xfrm>
            <a:off x="4687824" y="5015148"/>
            <a:ext cx="1359408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CDS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86D510E-FE24-4A85-C78F-9F091043147F}"/>
              </a:ext>
            </a:extLst>
          </p:cNvPr>
          <p:cNvSpPr txBox="1"/>
          <p:nvPr/>
        </p:nvSpPr>
        <p:spPr>
          <a:xfrm>
            <a:off x="6047232" y="5015148"/>
            <a:ext cx="121920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CDS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1FFBC8-C0D0-936E-682D-2BF90662D638}"/>
              </a:ext>
            </a:extLst>
          </p:cNvPr>
          <p:cNvSpPr txBox="1"/>
          <p:nvPr/>
        </p:nvSpPr>
        <p:spPr>
          <a:xfrm>
            <a:off x="7266432" y="5015148"/>
            <a:ext cx="89001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3’ UTR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ACE45AD-F52B-FFC3-1723-E991FA166FCC}"/>
              </a:ext>
            </a:extLst>
          </p:cNvPr>
          <p:cNvSpPr txBox="1"/>
          <p:nvPr/>
        </p:nvSpPr>
        <p:spPr>
          <a:xfrm>
            <a:off x="4059936" y="5015148"/>
            <a:ext cx="627888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CDS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CCF03DF-1787-C9C4-3011-3A1E0B1F5466}"/>
              </a:ext>
            </a:extLst>
          </p:cNvPr>
          <p:cNvCxnSpPr>
            <a:cxnSpLocks/>
          </p:cNvCxnSpPr>
          <p:nvPr/>
        </p:nvCxnSpPr>
        <p:spPr>
          <a:xfrm flipV="1">
            <a:off x="4059936" y="5555552"/>
            <a:ext cx="0" cy="4023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0072C10-6691-3471-5CFE-C3D2214AE3AA}"/>
              </a:ext>
            </a:extLst>
          </p:cNvPr>
          <p:cNvSpPr txBox="1"/>
          <p:nvPr/>
        </p:nvSpPr>
        <p:spPr>
          <a:xfrm>
            <a:off x="3380232" y="6000405"/>
            <a:ext cx="1359408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Start codon (ATG)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6BAFE07-0244-24EF-14C3-2083ABAA9386}"/>
              </a:ext>
            </a:extLst>
          </p:cNvPr>
          <p:cNvCxnSpPr>
            <a:cxnSpLocks/>
          </p:cNvCxnSpPr>
          <p:nvPr/>
        </p:nvCxnSpPr>
        <p:spPr>
          <a:xfrm flipV="1">
            <a:off x="7266432" y="5530747"/>
            <a:ext cx="0" cy="4023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172C458D-7A2E-36C9-00EB-45D4A5F4735D}"/>
              </a:ext>
            </a:extLst>
          </p:cNvPr>
          <p:cNvSpPr txBox="1"/>
          <p:nvPr/>
        </p:nvSpPr>
        <p:spPr>
          <a:xfrm>
            <a:off x="6412991" y="5975600"/>
            <a:ext cx="1743455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Stop codon (TAA,TAG,TGA)</a:t>
            </a:r>
          </a:p>
        </p:txBody>
      </p:sp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1C32671D-0127-95B6-D8BE-06B7F6D818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199" b="24212"/>
          <a:stretch/>
        </p:blipFill>
        <p:spPr>
          <a:xfrm>
            <a:off x="8519160" y="1540660"/>
            <a:ext cx="7482545" cy="498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239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14127</TotalTime>
  <Words>502</Words>
  <Application>Microsoft Office PowerPoint</Application>
  <PresentationFormat>Widescreen</PresentationFormat>
  <Paragraphs>101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Helvetica Neue Medium</vt:lpstr>
      <vt:lpstr>Trebuchet MS</vt:lpstr>
      <vt:lpstr>Office Theme</vt:lpstr>
      <vt:lpstr>Splicing</vt:lpstr>
      <vt:lpstr>Splice site patterns</vt:lpstr>
      <vt:lpstr>What goes wrong in transcription and translation</vt:lpstr>
      <vt:lpstr>Transcription levels</vt:lpstr>
      <vt:lpstr>Transcript</vt:lpstr>
      <vt:lpstr>Gene</vt:lpstr>
      <vt:lpstr>PowerPoint Presentation</vt:lpstr>
      <vt:lpstr>Gene representation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Aleksey Zimin</cp:lastModifiedBy>
  <cp:revision>67</cp:revision>
  <dcterms:created xsi:type="dcterms:W3CDTF">2013-08-21T19:17:07Z</dcterms:created>
  <dcterms:modified xsi:type="dcterms:W3CDTF">2025-10-20T13:51:43Z</dcterms:modified>
</cp:coreProperties>
</file>