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883" r:id="rId2"/>
    <p:sldId id="837" r:id="rId3"/>
    <p:sldId id="838" r:id="rId4"/>
    <p:sldId id="839" r:id="rId5"/>
    <p:sldId id="840" r:id="rId6"/>
    <p:sldId id="842" r:id="rId7"/>
    <p:sldId id="844" r:id="rId8"/>
    <p:sldId id="845" r:id="rId9"/>
    <p:sldId id="843" r:id="rId10"/>
    <p:sldId id="846" r:id="rId11"/>
    <p:sldId id="841" r:id="rId12"/>
    <p:sldId id="85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4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1-04T13:36:37.793" v="1" actId="47"/>
      <pc:docMkLst>
        <pc:docMk/>
      </pc:docMkLst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3644876859" sldId="572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059937519" sldId="811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2068933949" sldId="823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1248438669" sldId="824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2622166328" sldId="825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2174087718" sldId="826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14013305" sldId="827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2055598344" sldId="828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2290969468" sldId="831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1495454639" sldId="832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3625668558" sldId="833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2230780895" sldId="834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664404228" sldId="835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3256696827" sldId="836"/>
        </pc:sldMkLst>
      </pc:sldChg>
      <pc:sldChg chg="del">
        <pc:chgData name="Aleksey Zimin" userId="7f2637d0bc515791" providerId="LiveId" clId="{8553A319-8433-4677-8F80-E28D63617D4C}" dt="2025-11-04T13:36:37.793" v="1" actId="47"/>
        <pc:sldMkLst>
          <pc:docMk/>
          <pc:sldMk cId="1812347551" sldId="850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628352046" sldId="852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688161546" sldId="853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582605635" sldId="854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893015969" sldId="855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155246616" sldId="856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40951592" sldId="857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851234347" sldId="858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509772218" sldId="859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349687225" sldId="860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777305015" sldId="861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443782089" sldId="862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731479648" sldId="863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80240427" sldId="864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634646025" sldId="865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640467478" sldId="866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749512955" sldId="868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007581351" sldId="869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143161316" sldId="870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261130923" sldId="871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415209501" sldId="872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041595195" sldId="873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841664835" sldId="874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749756353" sldId="875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943159719" sldId="876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2131417150" sldId="877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323728444" sldId="878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697097188" sldId="879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972945173" sldId="880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1888440136" sldId="881"/>
        </pc:sldMkLst>
      </pc:sldChg>
      <pc:sldChg chg="del">
        <pc:chgData name="Aleksey Zimin" userId="7f2637d0bc515791" providerId="LiveId" clId="{8553A319-8433-4677-8F80-E28D63617D4C}" dt="2025-11-04T13:36:21.164" v="0" actId="47"/>
        <pc:sldMkLst>
          <pc:docMk/>
          <pc:sldMk cId="702189588" sldId="8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1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F93E5-F2C6-7703-F603-1479BF55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45217-3DBB-69F2-441F-5C61441BB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185C6-F4D9-8DBA-32CD-2B750CF1A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D0F73-5C71-CA5C-7736-330387F70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35789-7209-E4FA-78AE-28CAC595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51DF9-E25B-5888-C2A7-922517CCE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7F188-369C-D6E3-A338-D6B73A25C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C868F-AB89-2C0A-1EB7-F88661B5C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6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cb.jhu.edu/software/stringtie/gff.s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cb.jhu.edu/software/stringtie/gff.s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://ccb.jhu.edu/software/stringtie/gff.s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://ccb.jhu.edu/software/stringtie/gff.s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8D13-8AB2-4BAF-B355-30EA7AC6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Intron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452A-D546-4229-868B-91A050FA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>
            <a:normAutofit/>
          </a:bodyPr>
          <a:lstStyle/>
          <a:p>
            <a:r>
              <a:rPr lang="en-US" dirty="0"/>
              <a:t>Intron chain is the set of numbers corresponding to the start and end exon coordinates for spliced exons</a:t>
            </a:r>
          </a:p>
          <a:p>
            <a:r>
              <a:rPr lang="en-US" dirty="0"/>
              <a:t>Intron chain also records the strand (+, or forward) or (-, or reverse)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Intron chain here is (+) </a:t>
            </a:r>
            <a:r>
              <a:rPr lang="en-US" i="1" dirty="0"/>
              <a:t>i</a:t>
            </a:r>
            <a:r>
              <a:rPr lang="en-US" i="1" baseline="-25000" dirty="0"/>
              <a:t>1</a:t>
            </a:r>
            <a:r>
              <a:rPr lang="en-US" i="1" dirty="0"/>
              <a:t>, i</a:t>
            </a:r>
            <a:r>
              <a:rPr lang="en-US" i="1" baseline="-25000" dirty="0"/>
              <a:t>2</a:t>
            </a:r>
            <a:r>
              <a:rPr lang="en-US" i="1" dirty="0"/>
              <a:t>, i</a:t>
            </a:r>
            <a:r>
              <a:rPr lang="en-US" i="1" baseline="-25000" dirty="0"/>
              <a:t>3</a:t>
            </a:r>
            <a:r>
              <a:rPr lang="en-US" i="1" dirty="0"/>
              <a:t>, i</a:t>
            </a:r>
            <a:r>
              <a:rPr lang="en-US" i="1" baseline="-25000" dirty="0"/>
              <a:t>4</a:t>
            </a:r>
            <a:r>
              <a:rPr lang="en-US" i="1" dirty="0"/>
              <a:t>, i</a:t>
            </a:r>
            <a:r>
              <a:rPr lang="en-US" i="1" baseline="-25000" dirty="0"/>
              <a:t>5</a:t>
            </a:r>
            <a:r>
              <a:rPr lang="en-US" i="1" dirty="0"/>
              <a:t>, i</a:t>
            </a:r>
            <a:r>
              <a:rPr lang="en-US" i="1" baseline="-25000" dirty="0"/>
              <a:t>6 </a:t>
            </a:r>
          </a:p>
          <a:p>
            <a:r>
              <a:rPr lang="en-US" dirty="0"/>
              <a:t>Ignores start and end coordinates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2AAFA-96EF-4CD2-A09C-6C249772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33413DA1-3803-48B5-A522-B44214319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1075" y="4225705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40F004-0300-4440-B8ED-46E57751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483" y="4122395"/>
            <a:ext cx="863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    </a:t>
            </a:r>
            <a:endParaRPr lang="en-US" altLang="en-US" sz="1800" i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10F88-5A96-4E08-AB2A-884216820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496" y="4116045"/>
            <a:ext cx="1090613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 i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BFE141-50F9-429D-827F-2FFD6CE59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645" y="4122395"/>
            <a:ext cx="1138238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262E8-27B6-496D-ABA8-734D04320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683" y="4123983"/>
            <a:ext cx="482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755053-DD41-4A3B-BDDF-10AB3E6AA5BE}"/>
              </a:ext>
            </a:extLst>
          </p:cNvPr>
          <p:cNvCxnSpPr>
            <a:cxnSpLocks/>
          </p:cNvCxnSpPr>
          <p:nvPr/>
        </p:nvCxnSpPr>
        <p:spPr bwMode="auto">
          <a:xfrm flipV="1">
            <a:off x="4123083" y="3727176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EF8DDF-F119-4E65-800E-43534AD46262}"/>
              </a:ext>
            </a:extLst>
          </p:cNvPr>
          <p:cNvCxnSpPr>
            <a:cxnSpLocks/>
          </p:cNvCxnSpPr>
          <p:nvPr/>
        </p:nvCxnSpPr>
        <p:spPr bwMode="auto">
          <a:xfrm flipV="1">
            <a:off x="4478683" y="3727176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CB0433-9DE3-47D1-91E6-212FEC1B97F4}"/>
              </a:ext>
            </a:extLst>
          </p:cNvPr>
          <p:cNvCxnSpPr>
            <a:cxnSpLocks/>
          </p:cNvCxnSpPr>
          <p:nvPr/>
        </p:nvCxnSpPr>
        <p:spPr bwMode="auto">
          <a:xfrm flipV="1">
            <a:off x="5260265" y="3742579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900EE1-70C9-467D-B08A-54ECFC559843}"/>
              </a:ext>
            </a:extLst>
          </p:cNvPr>
          <p:cNvCxnSpPr>
            <a:cxnSpLocks/>
          </p:cNvCxnSpPr>
          <p:nvPr/>
        </p:nvCxnSpPr>
        <p:spPr bwMode="auto">
          <a:xfrm flipV="1">
            <a:off x="4984212" y="3742579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360D02-327F-4D70-8DEB-B4CF35D133A0}"/>
              </a:ext>
            </a:extLst>
          </p:cNvPr>
          <p:cNvCxnSpPr>
            <a:cxnSpLocks/>
          </p:cNvCxnSpPr>
          <p:nvPr/>
        </p:nvCxnSpPr>
        <p:spPr bwMode="auto">
          <a:xfrm flipV="1">
            <a:off x="6368985" y="3742579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36B904-175C-4A9D-A247-838DDD775054}"/>
              </a:ext>
            </a:extLst>
          </p:cNvPr>
          <p:cNvCxnSpPr>
            <a:cxnSpLocks/>
          </p:cNvCxnSpPr>
          <p:nvPr/>
        </p:nvCxnSpPr>
        <p:spPr bwMode="auto">
          <a:xfrm flipV="1">
            <a:off x="7480645" y="3742579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A5711C-7C98-450A-ABF0-EBBC4093156E}"/>
              </a:ext>
            </a:extLst>
          </p:cNvPr>
          <p:cNvSpPr txBox="1"/>
          <p:nvPr/>
        </p:nvSpPr>
        <p:spPr>
          <a:xfrm>
            <a:off x="3954215" y="476184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i</a:t>
            </a:r>
            <a:r>
              <a:rPr lang="en-US" i="1" baseline="-25000" dirty="0">
                <a:latin typeface="+mj-lt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74D4AD-80E7-41FC-94CE-91751FADCA64}"/>
              </a:ext>
            </a:extLst>
          </p:cNvPr>
          <p:cNvSpPr txBox="1"/>
          <p:nvPr/>
        </p:nvSpPr>
        <p:spPr>
          <a:xfrm>
            <a:off x="4324876" y="478899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i</a:t>
            </a:r>
            <a:r>
              <a:rPr lang="en-US" i="1" baseline="-25000" dirty="0">
                <a:latin typeface="+mj-lt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A1987-D9B1-4774-9615-23E138F257F5}"/>
              </a:ext>
            </a:extLst>
          </p:cNvPr>
          <p:cNvSpPr txBox="1"/>
          <p:nvPr/>
        </p:nvSpPr>
        <p:spPr>
          <a:xfrm>
            <a:off x="4826156" y="478899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i</a:t>
            </a:r>
            <a:r>
              <a:rPr lang="en-US" i="1" baseline="-25000" dirty="0">
                <a:latin typeface="+mj-lt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487BDC-E32D-48F8-BD41-F79AC68F0D42}"/>
              </a:ext>
            </a:extLst>
          </p:cNvPr>
          <p:cNvSpPr txBox="1"/>
          <p:nvPr/>
        </p:nvSpPr>
        <p:spPr>
          <a:xfrm>
            <a:off x="5142268" y="479823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i</a:t>
            </a:r>
            <a:r>
              <a:rPr lang="en-US" i="1" baseline="-25000" dirty="0">
                <a:latin typeface="+mj-lt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0FBECE-096C-4C91-A9FC-EB8FF3466D2A}"/>
              </a:ext>
            </a:extLst>
          </p:cNvPr>
          <p:cNvSpPr txBox="1"/>
          <p:nvPr/>
        </p:nvSpPr>
        <p:spPr>
          <a:xfrm>
            <a:off x="6216446" y="474318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i</a:t>
            </a:r>
            <a:r>
              <a:rPr lang="en-US" i="1" baseline="-25000" dirty="0">
                <a:latin typeface="+mj-lt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3F122F-B716-4EFB-A597-89E4779B8C2C}"/>
              </a:ext>
            </a:extLst>
          </p:cNvPr>
          <p:cNvSpPr txBox="1"/>
          <p:nvPr/>
        </p:nvSpPr>
        <p:spPr>
          <a:xfrm>
            <a:off x="7305529" y="476043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i</a:t>
            </a:r>
            <a:r>
              <a:rPr lang="en-US" i="1" baseline="-25000" dirty="0">
                <a:latin typeface="+mj-lt"/>
              </a:rPr>
              <a:t>6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E0697-E5D5-42EB-BF3C-DD1B25506B99}"/>
              </a:ext>
            </a:extLst>
          </p:cNvPr>
          <p:cNvCxnSpPr>
            <a:cxnSpLocks/>
          </p:cNvCxnSpPr>
          <p:nvPr/>
        </p:nvCxnSpPr>
        <p:spPr bwMode="auto">
          <a:xfrm flipV="1">
            <a:off x="3714168" y="3746323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3">
                <a:lumMod val="7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37B75F-06CD-4049-BCAE-7DC44B7503FB}"/>
              </a:ext>
            </a:extLst>
          </p:cNvPr>
          <p:cNvCxnSpPr>
            <a:cxnSpLocks/>
          </p:cNvCxnSpPr>
          <p:nvPr/>
        </p:nvCxnSpPr>
        <p:spPr bwMode="auto">
          <a:xfrm flipV="1">
            <a:off x="8040216" y="3746323"/>
            <a:ext cx="0" cy="10519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3">
                <a:lumMod val="7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0381EE-46C4-48CD-809C-ACFAE6389AF5}"/>
              </a:ext>
            </a:extLst>
          </p:cNvPr>
          <p:cNvSpPr txBox="1"/>
          <p:nvPr/>
        </p:nvSpPr>
        <p:spPr>
          <a:xfrm>
            <a:off x="2552255" y="3436603"/>
            <a:ext cx="1320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Coding start</a:t>
            </a:r>
            <a:endParaRPr lang="en-US" i="1" baseline="-250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13D32-65EF-4C5E-809A-14CC786DE940}"/>
              </a:ext>
            </a:extLst>
          </p:cNvPr>
          <p:cNvSpPr txBox="1"/>
          <p:nvPr/>
        </p:nvSpPr>
        <p:spPr>
          <a:xfrm>
            <a:off x="7718561" y="3409996"/>
            <a:ext cx="1283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Coding stop</a:t>
            </a:r>
            <a:endParaRPr lang="en-US" i="1" baseline="-25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969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F3ED-0C93-A2F0-7C92-D36B9BFB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Nucleotide level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86338-5554-BDC7-9E3F-68C26CBD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08140D2-4393-DBCF-C439-64B39E298A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09728"/>
              </p:ext>
            </p:extLst>
          </p:nvPr>
        </p:nvGraphicFramePr>
        <p:xfrm>
          <a:off x="5497620" y="3980705"/>
          <a:ext cx="1371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61400" imgH="9067800" progId="Equation.3">
                  <p:embed/>
                </p:oleObj>
              </mc:Choice>
              <mc:Fallback>
                <p:oleObj name="Equation" r:id="rId2" imgW="21361400" imgH="90678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08140D2-4393-DBCF-C439-64B39E298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620" y="3980705"/>
                        <a:ext cx="1371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5">
            <a:extLst>
              <a:ext uri="{FF2B5EF4-FFF2-40B4-BE49-F238E27FC236}">
                <a16:creationId xmlns:a16="http://schemas.microsoft.com/office/drawing/2014/main" id="{9B119489-6150-7749-D39C-74A80848E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4895" y="2252662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3AD550BB-08C5-35FF-EA14-0CA67B601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4895" y="2786062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C1B63340-741D-2AC4-F048-F88FE0A61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4895" y="3319462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A34F9-E4D3-B4B8-F5B2-75DC03E3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370" y="2640012"/>
            <a:ext cx="1968500" cy="215900"/>
          </a:xfrm>
          <a:prstGeom prst="rect">
            <a:avLst/>
          </a:prstGeom>
          <a:solidFill>
            <a:srgbClr val="32CC6D"/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41D8E-530A-1AA8-FE30-2786E4B96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970" y="2640012"/>
            <a:ext cx="2425700" cy="215900"/>
          </a:xfrm>
          <a:prstGeom prst="rect">
            <a:avLst/>
          </a:prstGeom>
          <a:solidFill>
            <a:srgbClr val="32CC6D"/>
          </a:solidFill>
          <a:ln w="12700">
            <a:solidFill>
              <a:srgbClr val="33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7C44C-1CEA-BA8A-8B5C-CE9565D79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550" y="3173412"/>
            <a:ext cx="1816100" cy="215900"/>
          </a:xfrm>
          <a:prstGeom prst="rect">
            <a:avLst/>
          </a:prstGeom>
          <a:solidFill>
            <a:srgbClr val="3399FF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C20A2-7437-0169-F5C5-A7895D084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170" y="3173412"/>
            <a:ext cx="1663700" cy="215900"/>
          </a:xfrm>
          <a:prstGeom prst="rect">
            <a:avLst/>
          </a:prstGeom>
          <a:solidFill>
            <a:srgbClr val="3399FF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5916501D-EE00-876C-E64E-77946EC4B9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4420" y="1789112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D01BFB7B-EB1B-8C8B-C78A-67BC6DAB38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6402" y="1773237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8C0B0E1A-AE8D-E75C-C19C-1BA002EDE7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885" y="1773237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1629F53C-C68A-5C71-B189-403048FE94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6857" y="1782762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214A4F89-4FE1-97FD-2A5F-25BB50345D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2470" y="177482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0707ADB7-7EF2-66CB-9113-81A581913F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59527" y="177482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87E45C45-2AC1-6EEC-BFCB-FC353C728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5192" y="1789112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EFA7BE8F-DB28-4940-01B5-120C6565A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61095" y="1798637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D04E150B-FCD5-EEA6-090A-B3A98C1F12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8195" y="1784349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87B7E886-FAE2-23FA-6E5D-75C1C55EEA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67892" y="1779587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130264-E2D1-2F9F-0C83-633F63753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282" y="1766887"/>
            <a:ext cx="59311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TN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658C2-1CB7-E694-5D28-2C029B509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1607" y="1765299"/>
            <a:ext cx="5257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FP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6A05CF-9DCA-AAD3-DA31-B2E4B91DC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282" y="1765299"/>
            <a:ext cx="57708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FN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37644B-B94F-068D-4508-167661606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045" y="1765299"/>
            <a:ext cx="59311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TN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8D5E0E-A63A-7EDD-8097-8693473B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0045" y="1765299"/>
            <a:ext cx="59311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TN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82BE2F-0ED0-FDA6-2F9B-ACCEFABF3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482" y="1765299"/>
            <a:ext cx="54181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TP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D84391-EEFF-6644-8950-1BE424EBC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2882" y="1765299"/>
            <a:ext cx="57708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FN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D3ADC-82DE-578C-AF68-548845F8D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2595" y="1766887"/>
            <a:ext cx="54181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TP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365848-09DE-1A4F-FC7B-771BBB51C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282" y="1765299"/>
            <a:ext cx="57708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</a:rPr>
              <a:t>FN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1ED99B-F761-92B9-52F5-38A658D70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980" y="2344324"/>
            <a:ext cx="128240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0">
                <a:solidFill>
                  <a:schemeClr val="tx1"/>
                </a:solidFill>
              </a:rPr>
              <a:t>REALITY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1C1AA5-0DAD-DA28-08D5-90AE4A0E0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10" y="2912392"/>
            <a:ext cx="152766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0" dirty="0">
                <a:solidFill>
                  <a:schemeClr val="tx1"/>
                </a:solidFill>
              </a:rPr>
              <a:t>ASSEMBLY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42AD3FBA-69E9-140D-5277-0B4DAA596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1744" y="4098923"/>
            <a:ext cx="1641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  <a:latin typeface="Arial" panose="020B0604020202020204" pitchFamily="34" charset="0"/>
              </a:rPr>
              <a:t>Sensitivity: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092B084A-2B9B-9602-179F-D05E62DD4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020" y="4837111"/>
            <a:ext cx="1537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i="0">
                <a:solidFill>
                  <a:schemeClr val="accent2"/>
                </a:solidFill>
                <a:latin typeface="Arial" panose="020B0604020202020204" pitchFamily="34" charset="0"/>
              </a:rPr>
              <a:t>Precision:</a:t>
            </a: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11DEC1A3-B4A4-0879-C10A-32DE733FE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784070"/>
              </p:ext>
            </p:extLst>
          </p:nvPr>
        </p:nvGraphicFramePr>
        <p:xfrm>
          <a:off x="5497620" y="4742458"/>
          <a:ext cx="14017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69300" imgH="9067800" progId="Equation.3">
                  <p:embed/>
                </p:oleObj>
              </mc:Choice>
              <mc:Fallback>
                <p:oleObj name="Equation" r:id="rId4" imgW="21069300" imgH="9067800" progId="Equation.3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11DEC1A3-B4A4-0879-C10A-32DE733FE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620" y="4742458"/>
                        <a:ext cx="140176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103FA3C8-E1B4-100C-8961-052E639E32B5}"/>
              </a:ext>
            </a:extLst>
          </p:cNvPr>
          <p:cNvSpPr/>
          <p:nvPr/>
        </p:nvSpPr>
        <p:spPr bwMode="auto">
          <a:xfrm>
            <a:off x="5362890" y="3969853"/>
            <a:ext cx="433584" cy="6334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CF6AB4-195F-02E5-7512-39560881587C}"/>
              </a:ext>
            </a:extLst>
          </p:cNvPr>
          <p:cNvSpPr/>
          <p:nvPr/>
        </p:nvSpPr>
        <p:spPr bwMode="auto">
          <a:xfrm>
            <a:off x="5362890" y="4963617"/>
            <a:ext cx="433584" cy="6334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625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94C3-FB2C-8400-75BA-0914D37D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Exon level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D89E-82EF-9484-9040-4BD56129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F71E060-F6E4-DAE0-3C5F-CD4651FE1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5500" y="4000500"/>
          <a:ext cx="4241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397900" imgH="9067800" progId="Equation.3">
                  <p:embed/>
                </p:oleObj>
              </mc:Choice>
              <mc:Fallback>
                <p:oleObj name="Equation" r:id="rId2" imgW="59397900" imgH="90678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F71E060-F6E4-DAE0-3C5F-CD4651FE16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4000500"/>
                        <a:ext cx="4241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5">
            <a:extLst>
              <a:ext uri="{FF2B5EF4-FFF2-40B4-BE49-F238E27FC236}">
                <a16:creationId xmlns:a16="http://schemas.microsoft.com/office/drawing/2014/main" id="{F9DE2A99-E157-BE2D-C3E2-D8C59B5E1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895600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7658A801-71B5-F60B-38B6-0AD9AB7AE3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429000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900970-1442-AF2A-8787-DF37EC794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2794000"/>
            <a:ext cx="1068388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352BDD-18A6-A571-5C9F-14BC5AAFC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3327400"/>
            <a:ext cx="863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80545E-7C46-2E7C-0336-CF9A4BD8A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576" y="3321050"/>
            <a:ext cx="1090613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32437-20A2-F4A6-6E46-5921D15D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2514601"/>
            <a:ext cx="128240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0">
                <a:solidFill>
                  <a:schemeClr val="tx1"/>
                </a:solidFill>
              </a:rPr>
              <a:t>REALITY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C2508-B04B-20BF-3802-317C2602C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049589"/>
            <a:ext cx="152766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0" dirty="0">
                <a:solidFill>
                  <a:schemeClr val="tx1"/>
                </a:solidFill>
              </a:rPr>
              <a:t>ASSEMBLY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668C7-8358-E8E8-6C1F-211634FA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2794000"/>
            <a:ext cx="1374775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F96BA4-9EDC-E071-00BF-6C712A27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1" y="2794000"/>
            <a:ext cx="354013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3F2E7B-2F5C-6BD4-EBEC-7335179AB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2794000"/>
            <a:ext cx="1054100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EAB2A2-2055-C259-13E5-150596B1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3327400"/>
            <a:ext cx="1138238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CF3EC3-2AFA-7BA6-D338-596A7CD53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3328988"/>
            <a:ext cx="482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7F7D6F-0C35-EBB4-9B96-F0002FEE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05" y="2019301"/>
            <a:ext cx="862417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400" i="0">
                <a:solidFill>
                  <a:schemeClr val="tx1"/>
                </a:solidFill>
              </a:rPr>
              <a:t>WRONG</a:t>
            </a:r>
            <a:br>
              <a:rPr lang="en-US" altLang="en-US" sz="1400" i="0">
                <a:solidFill>
                  <a:schemeClr val="tx1"/>
                </a:solidFill>
              </a:rPr>
            </a:br>
            <a:r>
              <a:rPr lang="en-US" altLang="en-US" sz="1400" i="0">
                <a:solidFill>
                  <a:schemeClr val="tx1"/>
                </a:solidFill>
              </a:rPr>
              <a:t>EXON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97BA4B-1AF5-6192-2433-737712891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859" y="2019301"/>
            <a:ext cx="1011496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400" i="0">
                <a:solidFill>
                  <a:schemeClr val="tx1"/>
                </a:solidFill>
              </a:rPr>
              <a:t>CORRECT</a:t>
            </a:r>
            <a:br>
              <a:rPr lang="en-US" altLang="en-US" sz="1400" i="0">
                <a:solidFill>
                  <a:schemeClr val="tx1"/>
                </a:solidFill>
              </a:rPr>
            </a:br>
            <a:r>
              <a:rPr lang="en-US" altLang="en-US" sz="1400" i="0">
                <a:solidFill>
                  <a:schemeClr val="tx1"/>
                </a:solidFill>
              </a:rPr>
              <a:t>EXON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53CBA6-4182-F5CF-D660-F15186C10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589" y="2017714"/>
            <a:ext cx="920125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400" i="0">
                <a:solidFill>
                  <a:schemeClr val="tx1"/>
                </a:solidFill>
              </a:rPr>
              <a:t>MISSING</a:t>
            </a:r>
          </a:p>
          <a:p>
            <a:pPr algn="ctr">
              <a:spcBef>
                <a:spcPct val="0"/>
              </a:spcBef>
            </a:pPr>
            <a:r>
              <a:rPr lang="en-US" altLang="en-US" sz="1400" i="0">
                <a:solidFill>
                  <a:schemeClr val="tx1"/>
                </a:solidFill>
              </a:rPr>
              <a:t>EXON</a:t>
            </a: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F2A28321-05C7-0D3B-A159-EACED6A00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4714" y="4876800"/>
          <a:ext cx="44465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611000" imgH="9652000" progId="Equation.3">
                  <p:embed/>
                </p:oleObj>
              </mc:Choice>
              <mc:Fallback>
                <p:oleObj name="Equation" r:id="rId4" imgW="62611000" imgH="9652000" progId="Equation.3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F2A28321-05C7-0D3B-A159-EACED6A00D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4" y="4876800"/>
                        <a:ext cx="444658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95700AC-BF49-3DA3-0541-764B73A77A81}"/>
              </a:ext>
            </a:extLst>
          </p:cNvPr>
          <p:cNvSpPr txBox="1"/>
          <p:nvPr/>
        </p:nvSpPr>
        <p:spPr>
          <a:xfrm>
            <a:off x="2321679" y="4101017"/>
            <a:ext cx="188384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Exon Sensitivity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B23BD-106A-E403-E985-44DD7ACB76EE}"/>
              </a:ext>
            </a:extLst>
          </p:cNvPr>
          <p:cNvSpPr txBox="1"/>
          <p:nvPr/>
        </p:nvSpPr>
        <p:spPr>
          <a:xfrm>
            <a:off x="2543321" y="4991099"/>
            <a:ext cx="174278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Exon Precision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D1F067-38A3-42A8-B046-C3B2932CBEE1}"/>
              </a:ext>
            </a:extLst>
          </p:cNvPr>
          <p:cNvSpPr txBox="1"/>
          <p:nvPr/>
        </p:nvSpPr>
        <p:spPr>
          <a:xfrm>
            <a:off x="2193671" y="6132976"/>
            <a:ext cx="658545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“Junction ends” must match exactly, beginning or end do not!</a:t>
            </a:r>
          </a:p>
        </p:txBody>
      </p:sp>
    </p:spTree>
    <p:extLst>
      <p:ext uri="{BB962C8B-B14F-4D97-AF65-F5344CB8AC3E}">
        <p14:creationId xmlns:p14="http://schemas.microsoft.com/office/powerpoint/2010/main" val="129566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E743-6B97-DF19-1163-F399CCD6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Transcript level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5F47A-B45F-829D-D39C-C03EF582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DAA10519-6B0F-953D-1E9E-111ABFE3E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5978" y="3185324"/>
            <a:ext cx="5877210" cy="789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35242191-2227-5CE1-9EF9-67BC91EEDE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27600" y="3711973"/>
            <a:ext cx="5335588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987CDF5-DFBB-9349-AD88-FAB973504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87" y="3070979"/>
            <a:ext cx="1068388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45971FBE-C5F4-B5E5-B925-C3407294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88" y="3604379"/>
            <a:ext cx="863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F73FD67-CD75-B321-5483-20ECACBF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87" y="3597851"/>
            <a:ext cx="1064935" cy="222427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A6ADA645-8ABE-46FC-3EF4-CC6CB3C82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35" y="2917239"/>
            <a:ext cx="128240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0">
                <a:solidFill>
                  <a:schemeClr val="tx1"/>
                </a:solidFill>
              </a:rPr>
              <a:t>REALITY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E293B32-C143-545F-EDF0-E5B7EF59A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72" y="3314784"/>
            <a:ext cx="152766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0" dirty="0">
                <a:solidFill>
                  <a:schemeClr val="tx1"/>
                </a:solidFill>
              </a:rPr>
              <a:t>ASSEMBLY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C05DCF6F-3007-2B8A-82BE-813547B9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51" y="3070979"/>
            <a:ext cx="1374775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8BF5F5E3-4DDC-79FE-DD8D-E5E8B9CF0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38" y="3070979"/>
            <a:ext cx="354013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63153BB-3358-0A4A-6925-E4263B168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37" y="3070979"/>
            <a:ext cx="1054100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0E5723D-3ADC-B457-77ED-8648F0C09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4950" y="3604379"/>
            <a:ext cx="1138238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3644AFA-D8AC-88CF-97E3-32BEFA0A6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988" y="3605967"/>
            <a:ext cx="482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Line 5">
            <a:extLst>
              <a:ext uri="{FF2B5EF4-FFF2-40B4-BE49-F238E27FC236}">
                <a16:creationId xmlns:a16="http://schemas.microsoft.com/office/drawing/2014/main" id="{8B900F11-F172-4A32-E4B5-1D0038D4E0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5108" y="4131429"/>
            <a:ext cx="607552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3918AA22-CA63-74DD-D01B-953684361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87" y="4009191"/>
            <a:ext cx="1068388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B25B50CE-72CF-980E-C40C-96EB14E58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391" y="4009191"/>
            <a:ext cx="1773535" cy="215546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01D92B7-CEC7-B695-7D31-783F95BA9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38" y="4009191"/>
            <a:ext cx="354013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1E266097-E0A3-BB82-2143-69A86E46A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37" y="4009190"/>
            <a:ext cx="900113" cy="242887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AF66BFF3-34EB-CF65-56E3-A3F6FA4B6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333" y="3062109"/>
            <a:ext cx="1374775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9B3C0F1A-DE86-961D-65B3-79CFE0260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100" y="3070979"/>
            <a:ext cx="1054100" cy="215900"/>
          </a:xfrm>
          <a:prstGeom prst="rect">
            <a:avLst/>
          </a:prstGeom>
          <a:solidFill>
            <a:srgbClr val="32CC6D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75E70169-B8E5-3DBC-3708-691FF2396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363" y="3604379"/>
            <a:ext cx="482600" cy="215900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3BDF2E52-9744-E4A9-B8C9-CE0C02CE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0387" y="4009190"/>
            <a:ext cx="946813" cy="242887"/>
          </a:xfrm>
          <a:prstGeom prst="rect">
            <a:avLst/>
          </a:prstGeom>
          <a:solidFill>
            <a:srgbClr val="3399FF"/>
          </a:solidFill>
          <a:ln w="127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50000"/>
              </a:spcBef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i="1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209EBF1-A251-A0CB-D0B1-A5AD73DDE858}"/>
              </a:ext>
            </a:extLst>
          </p:cNvPr>
          <p:cNvGrpSpPr/>
          <p:nvPr/>
        </p:nvGrpSpPr>
        <p:grpSpPr>
          <a:xfrm>
            <a:off x="2606957" y="2284291"/>
            <a:ext cx="795411" cy="1413049"/>
            <a:chOff x="2250822" y="2142223"/>
            <a:chExt cx="795411" cy="1413049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3FCC78-F719-E73A-876A-9C66932A041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889828" y="2503357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1464E3-2DB7-54B9-614D-7DDC8AEC4C5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07228" y="2503357"/>
              <a:ext cx="0" cy="102852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5952F0A-805B-8212-DB46-D8E41B24A364}"/>
                </a:ext>
              </a:extLst>
            </p:cNvPr>
            <p:cNvCxnSpPr/>
            <p:nvPr/>
          </p:nvCxnSpPr>
          <p:spPr bwMode="auto">
            <a:xfrm>
              <a:off x="2407228" y="2653259"/>
              <a:ext cx="4826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7F24431-462B-C05C-21CD-DF8D6CEB7173}"/>
                </a:ext>
              </a:extLst>
            </p:cNvPr>
            <p:cNvSpPr txBox="1"/>
            <p:nvPr/>
          </p:nvSpPr>
          <p:spPr>
            <a:xfrm>
              <a:off x="2250822" y="2142223"/>
              <a:ext cx="795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&lt; 80%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73D7E0-F0ED-D047-B77A-DFBD8CE1C042}"/>
              </a:ext>
            </a:extLst>
          </p:cNvPr>
          <p:cNvGrpSpPr/>
          <p:nvPr/>
        </p:nvGrpSpPr>
        <p:grpSpPr>
          <a:xfrm>
            <a:off x="2406907" y="3429000"/>
            <a:ext cx="1177512" cy="1148271"/>
            <a:chOff x="2050772" y="3286932"/>
            <a:chExt cx="1177512" cy="114827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89A2503-CDFD-6D9E-96AB-C648EA5291D4}"/>
                </a:ext>
              </a:extLst>
            </p:cNvPr>
            <p:cNvSpPr/>
            <p:nvPr/>
          </p:nvSpPr>
          <p:spPr bwMode="auto">
            <a:xfrm>
              <a:off x="2050772" y="3286932"/>
              <a:ext cx="1065757" cy="702429"/>
            </a:xfrm>
            <a:prstGeom prst="ellips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704CB8E-70EF-CC92-7C26-1F3DBEB374A9}"/>
                </a:ext>
              </a:extLst>
            </p:cNvPr>
            <p:cNvSpPr txBox="1"/>
            <p:nvPr/>
          </p:nvSpPr>
          <p:spPr>
            <a:xfrm>
              <a:off x="2068992" y="4065871"/>
              <a:ext cx="1159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WRONG!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EF14382-EE38-85D7-B50C-7683DD42B5EA}"/>
              </a:ext>
            </a:extLst>
          </p:cNvPr>
          <p:cNvGrpSpPr/>
          <p:nvPr/>
        </p:nvGrpSpPr>
        <p:grpSpPr>
          <a:xfrm>
            <a:off x="10277147" y="3673946"/>
            <a:ext cx="1441998" cy="1303301"/>
            <a:chOff x="9921012" y="3531878"/>
            <a:chExt cx="1441998" cy="130330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8B5F4DC-0C4D-17F5-47C3-03DB5F2B65F0}"/>
                </a:ext>
              </a:extLst>
            </p:cNvPr>
            <p:cNvSpPr/>
            <p:nvPr/>
          </p:nvSpPr>
          <p:spPr bwMode="auto">
            <a:xfrm>
              <a:off x="9921012" y="3531878"/>
              <a:ext cx="1202249" cy="807902"/>
            </a:xfrm>
            <a:prstGeom prst="ellips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66CB5F1-F224-000E-7F20-CD8353AE37B7}"/>
                </a:ext>
              </a:extLst>
            </p:cNvPr>
            <p:cNvSpPr txBox="1"/>
            <p:nvPr/>
          </p:nvSpPr>
          <p:spPr>
            <a:xfrm>
              <a:off x="9972886" y="4465847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CORRECT!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D581B0E-F39C-8252-500E-73FE10ABC687}"/>
              </a:ext>
            </a:extLst>
          </p:cNvPr>
          <p:cNvGrpSpPr/>
          <p:nvPr/>
        </p:nvGrpSpPr>
        <p:grpSpPr>
          <a:xfrm>
            <a:off x="4388873" y="4245373"/>
            <a:ext cx="3799373" cy="762652"/>
            <a:chOff x="4032738" y="4103305"/>
            <a:chExt cx="3799373" cy="76265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6D599A8-FA28-E030-2381-40E5F74B370A}"/>
                </a:ext>
              </a:extLst>
            </p:cNvPr>
            <p:cNvSpPr txBox="1"/>
            <p:nvPr/>
          </p:nvSpPr>
          <p:spPr>
            <a:xfrm>
              <a:off x="4032738" y="4465847"/>
              <a:ext cx="37993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Same </a:t>
              </a:r>
              <a:r>
                <a:rPr lang="en-US" sz="2000" i="1" dirty="0">
                  <a:solidFill>
                    <a:srgbClr val="C00000"/>
                  </a:solidFill>
                </a:rPr>
                <a:t>INTRON CHAIN </a:t>
              </a:r>
              <a:r>
                <a:rPr lang="en-US" sz="2000" dirty="0">
                  <a:solidFill>
                    <a:srgbClr val="C00000"/>
                  </a:solidFill>
                </a:rPr>
                <a:t>=&gt; CORRECT!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AEC8C1D-41BB-339A-10B7-41C1DBAD65CD}"/>
                </a:ext>
              </a:extLst>
            </p:cNvPr>
            <p:cNvCxnSpPr>
              <a:stCxn id="38" idx="0"/>
            </p:cNvCxnSpPr>
            <p:nvPr/>
          </p:nvCxnSpPr>
          <p:spPr bwMode="auto">
            <a:xfrm flipV="1">
              <a:off x="5932425" y="4103305"/>
              <a:ext cx="736023" cy="3625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D92B1C-0D0B-04D3-3A95-17F065D64258}"/>
              </a:ext>
            </a:extLst>
          </p:cNvPr>
          <p:cNvGrpSpPr/>
          <p:nvPr/>
        </p:nvGrpSpPr>
        <p:grpSpPr>
          <a:xfrm>
            <a:off x="5449926" y="2984898"/>
            <a:ext cx="3541711" cy="1054615"/>
            <a:chOff x="5093791" y="2842830"/>
            <a:chExt cx="3541711" cy="1054615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46DFDD2-E524-E8A1-DFAC-268F4D6CF01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093791" y="2845530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4ECAD1-612E-CAB4-3A7F-8778DD2FF22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203452" y="2842830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8987DCA-7A9A-2494-D713-038ADC7E3AE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283011" y="2842830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D594CAE-F56A-8905-BAE6-001E12AC124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581403" y="2842830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70D78E-7405-CC93-D61C-A1ECE17A979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35502" y="2842830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848F8D9-A172-700C-A799-B1A5D531FEB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935416" y="2842830"/>
              <a:ext cx="0" cy="105191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5611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4C79-9850-7711-7E3B-C4D96EF1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gffread</a:t>
            </a:r>
            <a:r>
              <a:rPr lang="en-US" dirty="0"/>
              <a:t>, gffcompare and </a:t>
            </a:r>
            <a:r>
              <a:rPr lang="en-US" dirty="0" err="1"/>
              <a:t>trmap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2250C-AE07-8493-2834-733D818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E458DA-39C3-CF79-0149-E087ED40D845}"/>
              </a:ext>
            </a:extLst>
          </p:cNvPr>
          <p:cNvSpPr/>
          <p:nvPr/>
        </p:nvSpPr>
        <p:spPr bwMode="auto">
          <a:xfrm>
            <a:off x="5533951" y="1683048"/>
            <a:ext cx="1396471" cy="461665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660064-5C7C-3C24-F166-BF315A783486}"/>
              </a:ext>
            </a:extLst>
          </p:cNvPr>
          <p:cNvSpPr/>
          <p:nvPr/>
        </p:nvSpPr>
        <p:spPr>
          <a:xfrm>
            <a:off x="5533951" y="1668387"/>
            <a:ext cx="5283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err="1">
                <a:latin typeface="CourierNewPSMT" panose="02070309020205020404" pitchFamily="49" charset="0"/>
              </a:rPr>
              <a:t>gffread</a:t>
            </a:r>
            <a:r>
              <a:rPr lang="en-US" sz="2400">
                <a:latin typeface="Times" pitchFamily="2" charset="0"/>
              </a:rPr>
              <a:t>, </a:t>
            </a:r>
            <a:r>
              <a:rPr lang="en-US" sz="2400" err="1">
                <a:latin typeface="CourierNewPSMT" panose="02070309020205020404" pitchFamily="49" charset="0"/>
              </a:rPr>
              <a:t>gffcompare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r>
              <a:rPr lang="en-US" sz="2400">
                <a:latin typeface="Times" pitchFamily="2" charset="0"/>
              </a:rPr>
              <a:t>and </a:t>
            </a:r>
            <a:r>
              <a:rPr lang="en-US" sz="2400" err="1">
                <a:latin typeface="CourierNewPSMT" panose="02070309020205020404" pitchFamily="49" charset="0"/>
              </a:rPr>
              <a:t>trmap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EA9615-2B94-2FC8-EB0F-0C7B1378E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29" b="57678"/>
          <a:stretch>
            <a:fillRect/>
          </a:stretch>
        </p:blipFill>
        <p:spPr>
          <a:xfrm>
            <a:off x="118673" y="1777354"/>
            <a:ext cx="5026191" cy="22789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7CD01D-9440-7E42-D382-14CA249446BE}"/>
              </a:ext>
            </a:extLst>
          </p:cNvPr>
          <p:cNvSpPr/>
          <p:nvPr/>
        </p:nvSpPr>
        <p:spPr>
          <a:xfrm>
            <a:off x="5306808" y="2333383"/>
            <a:ext cx="60925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Roboto"/>
              </a:rPr>
              <a:t>- a fast tool for verification, filtering and conversion of the most popular annotation file formats (GTF, GFF3, </a:t>
            </a:r>
            <a:r>
              <a:rPr lang="en-US" sz="1600" dirty="0"/>
              <a:t>BED) </a:t>
            </a:r>
            <a:r>
              <a:rPr lang="en-US" sz="1600" dirty="0">
                <a:solidFill>
                  <a:srgbClr val="333333"/>
                </a:solidFill>
                <a:latin typeface="Roboto"/>
              </a:rPr>
              <a:t>and for quick extraction of transcript sequences from the genome sequence. </a:t>
            </a:r>
            <a:endParaRPr lang="en-US" sz="1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686C2C-AF3D-9B21-3257-99226D2755A9}"/>
              </a:ext>
            </a:extLst>
          </p:cNvPr>
          <p:cNvGrpSpPr/>
          <p:nvPr/>
        </p:nvGrpSpPr>
        <p:grpSpPr>
          <a:xfrm>
            <a:off x="5408759" y="4020470"/>
            <a:ext cx="6399324" cy="559605"/>
            <a:chOff x="5450077" y="2711434"/>
            <a:chExt cx="6399324" cy="55960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BDC114E-981E-07CF-6262-982C8E6D32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166" t="-20686"/>
            <a:stretch/>
          </p:blipFill>
          <p:spPr>
            <a:xfrm>
              <a:off x="5553246" y="3041134"/>
              <a:ext cx="6296155" cy="22990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01A855-1B75-030E-9AB5-65D8D78FA4E4}"/>
                </a:ext>
              </a:extLst>
            </p:cNvPr>
            <p:cNvSpPr txBox="1"/>
            <p:nvPr/>
          </p:nvSpPr>
          <p:spPr>
            <a:xfrm>
              <a:off x="5450077" y="2711434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Batang" panose="02030600000101010101" pitchFamily="18" charset="-127"/>
                  <a:ea typeface="Batang" panose="02030600000101010101" pitchFamily="18" charset="-127"/>
                  <a:cs typeface="Ayuthaya" pitchFamily="2" charset="-34"/>
                </a:rPr>
                <a:t>FASTA: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0BFB6B-1931-FA67-1360-FC562234D293}"/>
              </a:ext>
            </a:extLst>
          </p:cNvPr>
          <p:cNvGrpSpPr/>
          <p:nvPr/>
        </p:nvGrpSpPr>
        <p:grpSpPr>
          <a:xfrm>
            <a:off x="5408758" y="4639807"/>
            <a:ext cx="6249413" cy="369332"/>
            <a:chOff x="5450076" y="3330771"/>
            <a:chExt cx="6249413" cy="3693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B706E4-B2B5-ACCB-FE71-966AFDFD791E}"/>
                </a:ext>
              </a:extLst>
            </p:cNvPr>
            <p:cNvSpPr/>
            <p:nvPr/>
          </p:nvSpPr>
          <p:spPr bwMode="auto">
            <a:xfrm>
              <a:off x="7350120" y="3420301"/>
              <a:ext cx="985267" cy="19027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254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002C0B-CFE7-D04F-641A-275A9767FE3B}"/>
                </a:ext>
              </a:extLst>
            </p:cNvPr>
            <p:cNvSpPr/>
            <p:nvPr/>
          </p:nvSpPr>
          <p:spPr bwMode="auto">
            <a:xfrm>
              <a:off x="8701323" y="3432369"/>
              <a:ext cx="392206" cy="19027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254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44A5C4-7F48-3D34-C2B8-26CE36DB0FE2}"/>
                </a:ext>
              </a:extLst>
            </p:cNvPr>
            <p:cNvSpPr/>
            <p:nvPr/>
          </p:nvSpPr>
          <p:spPr bwMode="auto">
            <a:xfrm>
              <a:off x="9282102" y="3432369"/>
              <a:ext cx="2417387" cy="19027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254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AF5057-14A6-6DB2-180B-5C317311E4FA}"/>
                </a:ext>
              </a:extLst>
            </p:cNvPr>
            <p:cNvSpPr txBox="1"/>
            <p:nvPr/>
          </p:nvSpPr>
          <p:spPr>
            <a:xfrm>
              <a:off x="5450076" y="3330771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Batang" panose="02030600000101010101" pitchFamily="18" charset="-127"/>
                  <a:ea typeface="Batang" panose="02030600000101010101" pitchFamily="18" charset="-127"/>
                  <a:cs typeface="Ayuthaya" pitchFamily="2" charset="-34"/>
                </a:rPr>
                <a:t>GFF/BED: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ABF916-B00C-26C3-4218-351CCE9A2BF4}"/>
              </a:ext>
            </a:extLst>
          </p:cNvPr>
          <p:cNvGrpSpPr/>
          <p:nvPr/>
        </p:nvGrpSpPr>
        <p:grpSpPr>
          <a:xfrm>
            <a:off x="5408758" y="5107350"/>
            <a:ext cx="6525164" cy="1472838"/>
            <a:chOff x="5450076" y="3798314"/>
            <a:chExt cx="6525164" cy="1472838"/>
          </a:xfrm>
        </p:grpSpPr>
        <p:sp>
          <p:nvSpPr>
            <p:cNvPr id="18" name="Notched Right Arrow 17">
              <a:extLst>
                <a:ext uri="{FF2B5EF4-FFF2-40B4-BE49-F238E27FC236}">
                  <a16:creationId xmlns:a16="http://schemas.microsoft.com/office/drawing/2014/main" id="{11E5293E-E7D6-E639-9393-5F65CC6F12E0}"/>
                </a:ext>
              </a:extLst>
            </p:cNvPr>
            <p:cNvSpPr/>
            <p:nvPr/>
          </p:nvSpPr>
          <p:spPr bwMode="auto">
            <a:xfrm rot="5400000">
              <a:off x="6312897" y="3998731"/>
              <a:ext cx="651353" cy="25052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3A44979-E9A0-F08F-6EEF-80AC28373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166" t="-20686"/>
            <a:stretch/>
          </p:blipFill>
          <p:spPr>
            <a:xfrm>
              <a:off x="5553245" y="4701712"/>
              <a:ext cx="6296155" cy="229905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1EE69A6-48B8-7820-43AA-DC515F7776F0}"/>
                </a:ext>
              </a:extLst>
            </p:cNvPr>
            <p:cNvSpPr/>
            <p:nvPr/>
          </p:nvSpPr>
          <p:spPr bwMode="auto">
            <a:xfrm>
              <a:off x="5450076" y="4575690"/>
              <a:ext cx="1872874" cy="6954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4F52CEB-C1E3-432C-DA5B-DAC44A6B257C}"/>
                </a:ext>
              </a:extLst>
            </p:cNvPr>
            <p:cNvSpPr/>
            <p:nvPr/>
          </p:nvSpPr>
          <p:spPr bwMode="auto">
            <a:xfrm>
              <a:off x="8394379" y="4575690"/>
              <a:ext cx="275751" cy="6954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78A6C8-E76E-78C1-0A87-794E6F5CC9FE}"/>
                </a:ext>
              </a:extLst>
            </p:cNvPr>
            <p:cNvSpPr/>
            <p:nvPr/>
          </p:nvSpPr>
          <p:spPr bwMode="auto">
            <a:xfrm>
              <a:off x="9144227" y="4575690"/>
              <a:ext cx="137876" cy="6954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9F9F350-693A-0109-AD58-C169BAF92AB5}"/>
                </a:ext>
              </a:extLst>
            </p:cNvPr>
            <p:cNvSpPr/>
            <p:nvPr/>
          </p:nvSpPr>
          <p:spPr bwMode="auto">
            <a:xfrm>
              <a:off x="11699489" y="4575690"/>
              <a:ext cx="275751" cy="6954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706F39-0865-EBC8-0DB7-7839B0918CEF}"/>
                </a:ext>
              </a:extLst>
            </p:cNvPr>
            <p:cNvSpPr/>
            <p:nvPr/>
          </p:nvSpPr>
          <p:spPr>
            <a:xfrm>
              <a:off x="5450076" y="4643662"/>
              <a:ext cx="15632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err="1">
                  <a:latin typeface="CourierNewPSMT" panose="02070309020205020404" pitchFamily="49" charset="0"/>
                </a:rPr>
                <a:t>gffread</a:t>
              </a:r>
              <a:r>
                <a:rPr lang="en-US">
                  <a:latin typeface="CourierNewPSMT" panose="02070309020205020404" pitchFamily="49" charset="0"/>
                </a:rPr>
                <a:t> -w</a:t>
              </a:r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19B78C28-ED33-6B4E-5F39-F6391E625644}"/>
              </a:ext>
            </a:extLst>
          </p:cNvPr>
          <p:cNvSpPr/>
          <p:nvPr/>
        </p:nvSpPr>
        <p:spPr>
          <a:xfrm>
            <a:off x="258078" y="6124012"/>
            <a:ext cx="4681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hlinkClick r:id="rId4"/>
              </a:rPr>
              <a:t>http://</a:t>
            </a:r>
            <a:r>
              <a:rPr lang="en-US" err="1">
                <a:hlinkClick r:id="rId4"/>
              </a:rPr>
              <a:t>ccb.jhu.edu</a:t>
            </a:r>
            <a:r>
              <a:rPr lang="en-US">
                <a:hlinkClick r:id="rId4"/>
              </a:rPr>
              <a:t>/software/</a:t>
            </a:r>
            <a:r>
              <a:rPr lang="en-US" err="1">
                <a:hlinkClick r:id="rId4"/>
              </a:rPr>
              <a:t>stringtie</a:t>
            </a:r>
            <a:r>
              <a:rPr lang="en-US">
                <a:hlinkClick r:id="rId4"/>
              </a:rPr>
              <a:t>/</a:t>
            </a:r>
            <a:r>
              <a:rPr lang="en-US" err="1">
                <a:hlinkClick r:id="rId4"/>
              </a:rPr>
              <a:t>gff.shtml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0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CC921-0A82-4E07-700B-CA3A1D31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9247-4049-626B-547E-936A795F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gffread</a:t>
            </a:r>
            <a:r>
              <a:rPr lang="en-US" dirty="0"/>
              <a:t>, gffcompare and </a:t>
            </a:r>
            <a:r>
              <a:rPr lang="en-US" dirty="0" err="1"/>
              <a:t>trmap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64313-7C42-0011-4F39-0676D36F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E655D-2509-0700-AB2A-A8C96AF2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9" b="57678"/>
          <a:stretch>
            <a:fillRect/>
          </a:stretch>
        </p:blipFill>
        <p:spPr>
          <a:xfrm>
            <a:off x="118673" y="1777354"/>
            <a:ext cx="5026191" cy="227896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E9D13CA-7192-2117-7A89-322A4908AE08}"/>
              </a:ext>
            </a:extLst>
          </p:cNvPr>
          <p:cNvSpPr/>
          <p:nvPr/>
        </p:nvSpPr>
        <p:spPr>
          <a:xfrm>
            <a:off x="258078" y="6124012"/>
            <a:ext cx="4681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hlinkClick r:id="rId4"/>
              </a:rPr>
              <a:t>http://</a:t>
            </a:r>
            <a:r>
              <a:rPr lang="en-US" err="1">
                <a:hlinkClick r:id="rId4"/>
              </a:rPr>
              <a:t>ccb.jhu.edu</a:t>
            </a:r>
            <a:r>
              <a:rPr lang="en-US">
                <a:hlinkClick r:id="rId4"/>
              </a:rPr>
              <a:t>/software/</a:t>
            </a:r>
            <a:r>
              <a:rPr lang="en-US" err="1">
                <a:hlinkClick r:id="rId4"/>
              </a:rPr>
              <a:t>stringtie</a:t>
            </a:r>
            <a:r>
              <a:rPr lang="en-US">
                <a:hlinkClick r:id="rId4"/>
              </a:rPr>
              <a:t>/</a:t>
            </a:r>
            <a:r>
              <a:rPr lang="en-US" err="1">
                <a:hlinkClick r:id="rId4"/>
              </a:rPr>
              <a:t>gff.shtml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B8BEEE-D118-1BB0-4B2B-1228C69019A7}"/>
              </a:ext>
            </a:extLst>
          </p:cNvPr>
          <p:cNvSpPr/>
          <p:nvPr/>
        </p:nvSpPr>
        <p:spPr bwMode="auto">
          <a:xfrm>
            <a:off x="7810434" y="1234893"/>
            <a:ext cx="2025182" cy="461665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075AED-6713-D693-8EA7-AE963725A664}"/>
              </a:ext>
            </a:extLst>
          </p:cNvPr>
          <p:cNvSpPr/>
          <p:nvPr/>
        </p:nvSpPr>
        <p:spPr>
          <a:xfrm>
            <a:off x="6368894" y="1234893"/>
            <a:ext cx="5283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err="1">
                <a:latin typeface="CourierNewPSMT" panose="02070309020205020404" pitchFamily="49" charset="0"/>
              </a:rPr>
              <a:t>gffread</a:t>
            </a:r>
            <a:r>
              <a:rPr lang="en-US" sz="2400">
                <a:latin typeface="Times" pitchFamily="2" charset="0"/>
              </a:rPr>
              <a:t>, </a:t>
            </a:r>
            <a:r>
              <a:rPr lang="en-US" sz="2400" err="1">
                <a:latin typeface="CourierNewPSMT" panose="02070309020205020404" pitchFamily="49" charset="0"/>
              </a:rPr>
              <a:t>gffcompare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r>
              <a:rPr lang="en-US" sz="2400">
                <a:latin typeface="Times" pitchFamily="2" charset="0"/>
              </a:rPr>
              <a:t>and </a:t>
            </a:r>
            <a:r>
              <a:rPr lang="en-US" sz="2400" err="1">
                <a:latin typeface="CourierNewPSMT" panose="02070309020205020404" pitchFamily="49" charset="0"/>
              </a:rPr>
              <a:t>trmap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endParaRPr lang="en-US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AA9AC5-AA16-E12C-E9CF-D004097D0C21}"/>
              </a:ext>
            </a:extLst>
          </p:cNvPr>
          <p:cNvSpPr/>
          <p:nvPr/>
        </p:nvSpPr>
        <p:spPr>
          <a:xfrm>
            <a:off x="6141751" y="1899889"/>
            <a:ext cx="609250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Roboto"/>
              </a:rPr>
              <a:t>- a tool for merging and tracking transcript structures across multiple samples and comparing them to a reference annotation.</a:t>
            </a:r>
          </a:p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67A7F1-6513-FF5F-4EEE-26C9F3EBB7F2}"/>
              </a:ext>
            </a:extLst>
          </p:cNvPr>
          <p:cNvGrpSpPr/>
          <p:nvPr/>
        </p:nvGrpSpPr>
        <p:grpSpPr>
          <a:xfrm>
            <a:off x="5832271" y="2483318"/>
            <a:ext cx="6313455" cy="3863461"/>
            <a:chOff x="4939809" y="2054246"/>
            <a:chExt cx="7156782" cy="464820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9A5E65B-927C-15FC-EC55-0BC2E0529BE4}"/>
                </a:ext>
              </a:extLst>
            </p:cNvPr>
            <p:cNvSpPr/>
            <p:nvPr/>
          </p:nvSpPr>
          <p:spPr>
            <a:xfrm>
              <a:off x="6795092" y="4264046"/>
              <a:ext cx="3050999" cy="294239"/>
            </a:xfrm>
            <a:prstGeom prst="rect">
              <a:avLst/>
            </a:prstGeom>
            <a:solidFill>
              <a:srgbClr val="FFFF00">
                <a:alpha val="19000"/>
              </a:srgbClr>
            </a:solidFill>
            <a:ln>
              <a:solidFill>
                <a:srgbClr val="FFFF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030D7DD-94E0-0147-2F3D-D227FDC1D109}"/>
                </a:ext>
              </a:extLst>
            </p:cNvPr>
            <p:cNvSpPr/>
            <p:nvPr/>
          </p:nvSpPr>
          <p:spPr>
            <a:xfrm>
              <a:off x="6590939" y="6321446"/>
              <a:ext cx="3164187" cy="294239"/>
            </a:xfrm>
            <a:prstGeom prst="rect">
              <a:avLst/>
            </a:prstGeom>
            <a:solidFill>
              <a:srgbClr val="FFFF00">
                <a:alpha val="19000"/>
              </a:srgbClr>
            </a:solidFill>
            <a:ln>
              <a:solidFill>
                <a:srgbClr val="FFFF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C31CA95-3CF8-7151-2F4F-9AE344F7F34F}"/>
                </a:ext>
              </a:extLst>
            </p:cNvPr>
            <p:cNvSpPr/>
            <p:nvPr/>
          </p:nvSpPr>
          <p:spPr>
            <a:xfrm>
              <a:off x="7341089" y="4325409"/>
              <a:ext cx="1629700" cy="10153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C7B6FC6-A281-2947-BF9D-F0543BE2336D}"/>
                </a:ext>
              </a:extLst>
            </p:cNvPr>
            <p:cNvSpPr/>
            <p:nvPr/>
          </p:nvSpPr>
          <p:spPr>
            <a:xfrm>
              <a:off x="7344899" y="4743169"/>
              <a:ext cx="570520" cy="10153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04934AE-48E2-3EBA-4596-5F2926456152}"/>
                </a:ext>
              </a:extLst>
            </p:cNvPr>
            <p:cNvSpPr/>
            <p:nvPr/>
          </p:nvSpPr>
          <p:spPr>
            <a:xfrm>
              <a:off x="8544069" y="4743169"/>
              <a:ext cx="438150" cy="9906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2B27A70-AF48-B3CB-92A5-D1CCA7A66180}"/>
                </a:ext>
              </a:extLst>
            </p:cNvPr>
            <p:cNvSpPr/>
            <p:nvPr/>
          </p:nvSpPr>
          <p:spPr>
            <a:xfrm>
              <a:off x="8544069" y="3991600"/>
              <a:ext cx="1988820" cy="9906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220BA2A-5555-235D-AA61-A3D50581D80F}"/>
                </a:ext>
              </a:extLst>
            </p:cNvPr>
            <p:cNvSpPr/>
            <p:nvPr/>
          </p:nvSpPr>
          <p:spPr>
            <a:xfrm>
              <a:off x="8544069" y="2902939"/>
              <a:ext cx="1992630" cy="12058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5FC3158-B120-AFC6-529B-22993BFC9A4B}"/>
                </a:ext>
              </a:extLst>
            </p:cNvPr>
            <p:cNvSpPr/>
            <p:nvPr/>
          </p:nvSpPr>
          <p:spPr>
            <a:xfrm>
              <a:off x="7336299" y="2925799"/>
              <a:ext cx="570520" cy="9391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B8B59C6-EC35-8C90-B67A-BF3D743E7B61}"/>
                </a:ext>
              </a:extLst>
            </p:cNvPr>
            <p:cNvSpPr/>
            <p:nvPr/>
          </p:nvSpPr>
          <p:spPr>
            <a:xfrm>
              <a:off x="7336299" y="2419069"/>
              <a:ext cx="570520" cy="9772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4E2F4D8-2B95-BDF2-86B3-37DD7113F8BA}"/>
                </a:ext>
              </a:extLst>
            </p:cNvPr>
            <p:cNvSpPr/>
            <p:nvPr/>
          </p:nvSpPr>
          <p:spPr>
            <a:xfrm>
              <a:off x="8547879" y="2419069"/>
              <a:ext cx="438150" cy="10287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14D7C3A-02D2-D754-86B2-86A06ADF18BF}"/>
                </a:ext>
              </a:extLst>
            </p:cNvPr>
            <p:cNvSpPr/>
            <p:nvPr/>
          </p:nvSpPr>
          <p:spPr>
            <a:xfrm>
              <a:off x="9746231" y="2422879"/>
              <a:ext cx="798088" cy="9906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0F7B75D-B869-7E7A-72A9-C0EDE0B0D644}"/>
                </a:ext>
              </a:extLst>
            </p:cNvPr>
            <p:cNvSpPr/>
            <p:nvPr/>
          </p:nvSpPr>
          <p:spPr>
            <a:xfrm>
              <a:off x="7341089" y="3546829"/>
              <a:ext cx="570520" cy="10153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CA683FD-E6E8-CD42-9068-81D0EBEF8767}"/>
                </a:ext>
              </a:extLst>
            </p:cNvPr>
            <p:cNvSpPr/>
            <p:nvPr/>
          </p:nvSpPr>
          <p:spPr>
            <a:xfrm>
              <a:off x="8544069" y="3554449"/>
              <a:ext cx="438150" cy="9906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B65BF76-EDD2-2C56-54A8-E39F5DAA2786}"/>
                </a:ext>
              </a:extLst>
            </p:cNvPr>
            <p:cNvSpPr/>
            <p:nvPr/>
          </p:nvSpPr>
          <p:spPr>
            <a:xfrm>
              <a:off x="9750041" y="3554449"/>
              <a:ext cx="798088" cy="9906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0B55A50-367B-9BD5-335D-ED279B8B890F}"/>
                </a:ext>
              </a:extLst>
            </p:cNvPr>
            <p:cNvSpPr/>
            <p:nvPr/>
          </p:nvSpPr>
          <p:spPr>
            <a:xfrm>
              <a:off x="7910339" y="2146282"/>
              <a:ext cx="638581" cy="4556164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 w="63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968063E-7D7D-8C24-49D0-995A6C12C15A}"/>
                </a:ext>
              </a:extLst>
            </p:cNvPr>
            <p:cNvSpPr/>
            <p:nvPr/>
          </p:nvSpPr>
          <p:spPr>
            <a:xfrm>
              <a:off x="8974640" y="2120882"/>
              <a:ext cx="780488" cy="4581565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 w="63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51AD9F1-139A-A840-213A-E76B730784DC}"/>
                </a:ext>
              </a:extLst>
            </p:cNvPr>
            <p:cNvSpPr/>
            <p:nvPr/>
          </p:nvSpPr>
          <p:spPr>
            <a:xfrm>
              <a:off x="10535615" y="2078546"/>
              <a:ext cx="780488" cy="4623901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 w="63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5432AF9-6A83-43D5-0A3C-B474AF217620}"/>
                </a:ext>
              </a:extLst>
            </p:cNvPr>
            <p:cNvSpPr/>
            <p:nvPr/>
          </p:nvSpPr>
          <p:spPr>
            <a:xfrm>
              <a:off x="6699843" y="2075328"/>
              <a:ext cx="645547" cy="4627118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 w="63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070A999-C9BC-0545-53E9-2F7B80736188}"/>
                </a:ext>
              </a:extLst>
            </p:cNvPr>
            <p:cNvSpPr/>
            <p:nvPr/>
          </p:nvSpPr>
          <p:spPr>
            <a:xfrm>
              <a:off x="5457831" y="2054246"/>
              <a:ext cx="6600419" cy="202118"/>
            </a:xfrm>
            <a:custGeom>
              <a:avLst/>
              <a:gdLst>
                <a:gd name="connsiteX0" fmla="*/ 0 w 7772400"/>
                <a:gd name="connsiteY0" fmla="*/ 0 h 228600"/>
                <a:gd name="connsiteX1" fmla="*/ 7772400 w 7772400"/>
                <a:gd name="connsiteY1" fmla="*/ 0 h 228600"/>
                <a:gd name="connsiteX2" fmla="*/ 7772400 w 7772400"/>
                <a:gd name="connsiteY2" fmla="*/ 228600 h 228600"/>
                <a:gd name="connsiteX3" fmla="*/ 0 w 7772400"/>
                <a:gd name="connsiteY3" fmla="*/ 228600 h 228600"/>
                <a:gd name="connsiteX4" fmla="*/ 0 w 7772400"/>
                <a:gd name="connsiteY4" fmla="*/ 0 h 228600"/>
                <a:gd name="connsiteX0" fmla="*/ 794 w 7773194"/>
                <a:gd name="connsiteY0" fmla="*/ 0 h 228600"/>
                <a:gd name="connsiteX1" fmla="*/ 7773194 w 7773194"/>
                <a:gd name="connsiteY1" fmla="*/ 0 h 228600"/>
                <a:gd name="connsiteX2" fmla="*/ 7773194 w 7773194"/>
                <a:gd name="connsiteY2" fmla="*/ 228600 h 228600"/>
                <a:gd name="connsiteX3" fmla="*/ 794 w 7773194"/>
                <a:gd name="connsiteY3" fmla="*/ 228600 h 228600"/>
                <a:gd name="connsiteX4" fmla="*/ 74613 w 7773194"/>
                <a:gd name="connsiteY4" fmla="*/ 69056 h 228600"/>
                <a:gd name="connsiteX5" fmla="*/ 794 w 7773194"/>
                <a:gd name="connsiteY5" fmla="*/ 0 h 228600"/>
                <a:gd name="connsiteX0" fmla="*/ 794 w 7773194"/>
                <a:gd name="connsiteY0" fmla="*/ 0 h 228600"/>
                <a:gd name="connsiteX1" fmla="*/ 7773194 w 7773194"/>
                <a:gd name="connsiteY1" fmla="*/ 0 h 228600"/>
                <a:gd name="connsiteX2" fmla="*/ 7773194 w 7773194"/>
                <a:gd name="connsiteY2" fmla="*/ 228600 h 228600"/>
                <a:gd name="connsiteX3" fmla="*/ 794 w 7773194"/>
                <a:gd name="connsiteY3" fmla="*/ 228600 h 228600"/>
                <a:gd name="connsiteX4" fmla="*/ 74613 w 7773194"/>
                <a:gd name="connsiteY4" fmla="*/ 69056 h 228600"/>
                <a:gd name="connsiteX5" fmla="*/ 794 w 7773194"/>
                <a:gd name="connsiteY5" fmla="*/ 0 h 228600"/>
                <a:gd name="connsiteX0" fmla="*/ 0 w 7772400"/>
                <a:gd name="connsiteY0" fmla="*/ 0 h 228600"/>
                <a:gd name="connsiteX1" fmla="*/ 7772400 w 7772400"/>
                <a:gd name="connsiteY1" fmla="*/ 0 h 228600"/>
                <a:gd name="connsiteX2" fmla="*/ 7772400 w 7772400"/>
                <a:gd name="connsiteY2" fmla="*/ 228600 h 228600"/>
                <a:gd name="connsiteX3" fmla="*/ 0 w 7772400"/>
                <a:gd name="connsiteY3" fmla="*/ 228600 h 228600"/>
                <a:gd name="connsiteX4" fmla="*/ 73819 w 7772400"/>
                <a:gd name="connsiteY4" fmla="*/ 69056 h 228600"/>
                <a:gd name="connsiteX5" fmla="*/ 0 w 7772400"/>
                <a:gd name="connsiteY5" fmla="*/ 0 h 228600"/>
                <a:gd name="connsiteX0" fmla="*/ 0 w 7850859"/>
                <a:gd name="connsiteY0" fmla="*/ 0 h 228600"/>
                <a:gd name="connsiteX1" fmla="*/ 7772400 w 7850859"/>
                <a:gd name="connsiteY1" fmla="*/ 0 h 228600"/>
                <a:gd name="connsiteX2" fmla="*/ 7850024 w 7850859"/>
                <a:gd name="connsiteY2" fmla="*/ 69056 h 228600"/>
                <a:gd name="connsiteX3" fmla="*/ 7772400 w 7850859"/>
                <a:gd name="connsiteY3" fmla="*/ 228600 h 228600"/>
                <a:gd name="connsiteX4" fmla="*/ 0 w 7850859"/>
                <a:gd name="connsiteY4" fmla="*/ 228600 h 228600"/>
                <a:gd name="connsiteX5" fmla="*/ 73819 w 7850859"/>
                <a:gd name="connsiteY5" fmla="*/ 69056 h 228600"/>
                <a:gd name="connsiteX6" fmla="*/ 0 w 7850859"/>
                <a:gd name="connsiteY6" fmla="*/ 0 h 228600"/>
                <a:gd name="connsiteX0" fmla="*/ 0 w 7850859"/>
                <a:gd name="connsiteY0" fmla="*/ 0 h 228600"/>
                <a:gd name="connsiteX1" fmla="*/ 7772400 w 7850859"/>
                <a:gd name="connsiteY1" fmla="*/ 0 h 228600"/>
                <a:gd name="connsiteX2" fmla="*/ 7850024 w 7850859"/>
                <a:gd name="connsiteY2" fmla="*/ 69056 h 228600"/>
                <a:gd name="connsiteX3" fmla="*/ 7772400 w 7850859"/>
                <a:gd name="connsiteY3" fmla="*/ 228600 h 228600"/>
                <a:gd name="connsiteX4" fmla="*/ 0 w 7850859"/>
                <a:gd name="connsiteY4" fmla="*/ 228600 h 228600"/>
                <a:gd name="connsiteX5" fmla="*/ 73819 w 7850859"/>
                <a:gd name="connsiteY5" fmla="*/ 69056 h 228600"/>
                <a:gd name="connsiteX6" fmla="*/ 0 w 7850859"/>
                <a:gd name="connsiteY6" fmla="*/ 0 h 228600"/>
                <a:gd name="connsiteX0" fmla="*/ 0 w 7850859"/>
                <a:gd name="connsiteY0" fmla="*/ 0 h 228600"/>
                <a:gd name="connsiteX1" fmla="*/ 7772400 w 7850859"/>
                <a:gd name="connsiteY1" fmla="*/ 0 h 228600"/>
                <a:gd name="connsiteX2" fmla="*/ 7850024 w 7850859"/>
                <a:gd name="connsiteY2" fmla="*/ 69056 h 228600"/>
                <a:gd name="connsiteX3" fmla="*/ 7772400 w 7850859"/>
                <a:gd name="connsiteY3" fmla="*/ 228600 h 228600"/>
                <a:gd name="connsiteX4" fmla="*/ 0 w 7850859"/>
                <a:gd name="connsiteY4" fmla="*/ 228600 h 228600"/>
                <a:gd name="connsiteX5" fmla="*/ 73819 w 7850859"/>
                <a:gd name="connsiteY5" fmla="*/ 69056 h 228600"/>
                <a:gd name="connsiteX6" fmla="*/ 0 w 7850859"/>
                <a:gd name="connsiteY6" fmla="*/ 0 h 228600"/>
                <a:gd name="connsiteX0" fmla="*/ 0 w 7850024"/>
                <a:gd name="connsiteY0" fmla="*/ 0 h 228600"/>
                <a:gd name="connsiteX1" fmla="*/ 7772400 w 7850024"/>
                <a:gd name="connsiteY1" fmla="*/ 0 h 228600"/>
                <a:gd name="connsiteX2" fmla="*/ 7850024 w 7850024"/>
                <a:gd name="connsiteY2" fmla="*/ 69056 h 228600"/>
                <a:gd name="connsiteX3" fmla="*/ 7772400 w 7850024"/>
                <a:gd name="connsiteY3" fmla="*/ 228600 h 228600"/>
                <a:gd name="connsiteX4" fmla="*/ 0 w 7850024"/>
                <a:gd name="connsiteY4" fmla="*/ 228600 h 228600"/>
                <a:gd name="connsiteX5" fmla="*/ 73819 w 7850024"/>
                <a:gd name="connsiteY5" fmla="*/ 69056 h 228600"/>
                <a:gd name="connsiteX6" fmla="*/ 0 w 7850024"/>
                <a:gd name="connsiteY6" fmla="*/ 0 h 228600"/>
                <a:gd name="connsiteX0" fmla="*/ 0 w 7930152"/>
                <a:gd name="connsiteY0" fmla="*/ 0 h 228600"/>
                <a:gd name="connsiteX1" fmla="*/ 7772400 w 7930152"/>
                <a:gd name="connsiteY1" fmla="*/ 0 h 228600"/>
                <a:gd name="connsiteX2" fmla="*/ 7930152 w 7930152"/>
                <a:gd name="connsiteY2" fmla="*/ 69056 h 228600"/>
                <a:gd name="connsiteX3" fmla="*/ 7772400 w 7930152"/>
                <a:gd name="connsiteY3" fmla="*/ 228600 h 228600"/>
                <a:gd name="connsiteX4" fmla="*/ 0 w 7930152"/>
                <a:gd name="connsiteY4" fmla="*/ 228600 h 228600"/>
                <a:gd name="connsiteX5" fmla="*/ 73819 w 7930152"/>
                <a:gd name="connsiteY5" fmla="*/ 69056 h 228600"/>
                <a:gd name="connsiteX6" fmla="*/ 0 w 7930152"/>
                <a:gd name="connsiteY6" fmla="*/ 0 h 228600"/>
                <a:gd name="connsiteX0" fmla="*/ 0 w 7850024"/>
                <a:gd name="connsiteY0" fmla="*/ 0 h 228600"/>
                <a:gd name="connsiteX1" fmla="*/ 7772400 w 7850024"/>
                <a:gd name="connsiteY1" fmla="*/ 0 h 228600"/>
                <a:gd name="connsiteX2" fmla="*/ 7850024 w 7850024"/>
                <a:gd name="connsiteY2" fmla="*/ 69056 h 228600"/>
                <a:gd name="connsiteX3" fmla="*/ 7772400 w 7850024"/>
                <a:gd name="connsiteY3" fmla="*/ 228600 h 228600"/>
                <a:gd name="connsiteX4" fmla="*/ 0 w 7850024"/>
                <a:gd name="connsiteY4" fmla="*/ 228600 h 228600"/>
                <a:gd name="connsiteX5" fmla="*/ 73819 w 7850024"/>
                <a:gd name="connsiteY5" fmla="*/ 69056 h 228600"/>
                <a:gd name="connsiteX6" fmla="*/ 0 w 7850024"/>
                <a:gd name="connsiteY6" fmla="*/ 0 h 228600"/>
                <a:gd name="connsiteX0" fmla="*/ 0 w 7850024"/>
                <a:gd name="connsiteY0" fmla="*/ 0 h 228600"/>
                <a:gd name="connsiteX1" fmla="*/ 7772401 w 7850024"/>
                <a:gd name="connsiteY1" fmla="*/ 0 h 228600"/>
                <a:gd name="connsiteX2" fmla="*/ 7850024 w 7850024"/>
                <a:gd name="connsiteY2" fmla="*/ 69056 h 228600"/>
                <a:gd name="connsiteX3" fmla="*/ 7772400 w 7850024"/>
                <a:gd name="connsiteY3" fmla="*/ 228600 h 228600"/>
                <a:gd name="connsiteX4" fmla="*/ 0 w 7850024"/>
                <a:gd name="connsiteY4" fmla="*/ 228600 h 228600"/>
                <a:gd name="connsiteX5" fmla="*/ 73819 w 7850024"/>
                <a:gd name="connsiteY5" fmla="*/ 69056 h 228600"/>
                <a:gd name="connsiteX6" fmla="*/ 0 w 7850024"/>
                <a:gd name="connsiteY6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50024" h="228600">
                  <a:moveTo>
                    <a:pt x="0" y="0"/>
                  </a:moveTo>
                  <a:lnTo>
                    <a:pt x="7772401" y="0"/>
                  </a:lnTo>
                  <a:lnTo>
                    <a:pt x="7850024" y="69056"/>
                  </a:lnTo>
                  <a:lnTo>
                    <a:pt x="7772400" y="228600"/>
                  </a:lnTo>
                  <a:lnTo>
                    <a:pt x="0" y="228600"/>
                  </a:lnTo>
                  <a:lnTo>
                    <a:pt x="73819" y="69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1BA979-1933-013F-DE82-22DF97C57F65}"/>
                </a:ext>
              </a:extLst>
            </p:cNvPr>
            <p:cNvSpPr/>
            <p:nvPr/>
          </p:nvSpPr>
          <p:spPr>
            <a:xfrm>
              <a:off x="6704130" y="2054246"/>
              <a:ext cx="638581" cy="20854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err="1"/>
                <a:t>exon</a:t>
              </a:r>
              <a:r>
                <a:rPr lang="en-US" sz="1100" b="1"/>
                <a:t> 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794F8C-071A-2D13-5402-AA735F49D43F}"/>
                </a:ext>
              </a:extLst>
            </p:cNvPr>
            <p:cNvSpPr txBox="1"/>
            <p:nvPr/>
          </p:nvSpPr>
          <p:spPr>
            <a:xfrm>
              <a:off x="5017937" y="2456413"/>
              <a:ext cx="15529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008000"/>
                  </a:solidFill>
                </a:rPr>
                <a:t>Reference</a:t>
              </a:r>
            </a:p>
            <a:p>
              <a:pPr algn="ctr"/>
              <a:r>
                <a:rPr lang="en-US" sz="1400">
                  <a:solidFill>
                    <a:srgbClr val="008000"/>
                  </a:solidFill>
                </a:rPr>
                <a:t>transcripts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FE8907E-FF3B-FF1C-91B2-54C6B5963363}"/>
                </a:ext>
              </a:extLst>
            </p:cNvPr>
            <p:cNvSpPr txBox="1"/>
            <p:nvPr/>
          </p:nvSpPr>
          <p:spPr>
            <a:xfrm>
              <a:off x="5290628" y="3434795"/>
              <a:ext cx="9797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</a:rPr>
                <a:t>Sample 1</a:t>
              </a:r>
              <a:endParaRPr lang="en-US" sz="1400">
                <a:solidFill>
                  <a:srgbClr val="0070C0"/>
                </a:solidFill>
              </a:endParaRPr>
            </a:p>
            <a:p>
              <a:pPr algn="ctr"/>
              <a:r>
                <a:rPr lang="ro-RO" sz="1400">
                  <a:solidFill>
                    <a:srgbClr val="0070C0"/>
                  </a:solidFill>
                </a:rPr>
                <a:t>transfrags</a:t>
              </a:r>
              <a:endParaRPr lang="en-US" sz="1400">
                <a:solidFill>
                  <a:srgbClr val="0070C0"/>
                </a:solidFill>
              </a:endParaRPr>
            </a:p>
          </p:txBody>
        </p:sp>
        <p:sp>
          <p:nvSpPr>
            <p:cNvPr id="51" name="Left Brace 50">
              <a:extLst>
                <a:ext uri="{FF2B5EF4-FFF2-40B4-BE49-F238E27FC236}">
                  <a16:creationId xmlns:a16="http://schemas.microsoft.com/office/drawing/2014/main" id="{A2FEF5E8-364F-C906-98D3-52C8CE3ECD8C}"/>
                </a:ext>
              </a:extLst>
            </p:cNvPr>
            <p:cNvSpPr/>
            <p:nvPr/>
          </p:nvSpPr>
          <p:spPr>
            <a:xfrm>
              <a:off x="6298418" y="3273151"/>
              <a:ext cx="204346" cy="841571"/>
            </a:xfrm>
            <a:prstGeom prst="leftBrace">
              <a:avLst>
                <a:gd name="adj1" fmla="val 26920"/>
                <a:gd name="adj2" fmla="val 50000"/>
              </a:avLst>
            </a:prstGeom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4C4E0-657D-8B65-ADE1-C01956249667}"/>
                </a:ext>
              </a:extLst>
            </p:cNvPr>
            <p:cNvSpPr txBox="1"/>
            <p:nvPr/>
          </p:nvSpPr>
          <p:spPr>
            <a:xfrm>
              <a:off x="5290628" y="4371635"/>
              <a:ext cx="9797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Sample 2</a:t>
              </a:r>
            </a:p>
            <a:p>
              <a:pPr algn="ctr"/>
              <a:r>
                <a:rPr lang="ro-RO" sz="1400" dirty="0">
                  <a:solidFill>
                    <a:schemeClr val="accent2">
                      <a:lumMod val="75000"/>
                    </a:schemeClr>
                  </a:solidFill>
                </a:rPr>
                <a:t>transfrags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3" name="Left Brace 52">
              <a:extLst>
                <a:ext uri="{FF2B5EF4-FFF2-40B4-BE49-F238E27FC236}">
                  <a16:creationId xmlns:a16="http://schemas.microsoft.com/office/drawing/2014/main" id="{EDFF5C10-F75D-D83F-3672-656B821A0DFF}"/>
                </a:ext>
              </a:extLst>
            </p:cNvPr>
            <p:cNvSpPr/>
            <p:nvPr/>
          </p:nvSpPr>
          <p:spPr>
            <a:xfrm>
              <a:off x="6298418" y="4290255"/>
              <a:ext cx="213017" cy="610818"/>
            </a:xfrm>
            <a:prstGeom prst="leftBrace">
              <a:avLst>
                <a:gd name="adj1" fmla="val 31567"/>
                <a:gd name="adj2" fmla="val 50000"/>
              </a:avLst>
            </a:prstGeom>
            <a:ln w="25400" cap="rnd">
              <a:solidFill>
                <a:schemeClr val="accent2">
                  <a:lumMod val="75000"/>
                </a:schemeClr>
              </a:solidFill>
              <a:prstDash val="solid"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703B34-DF27-4749-53DB-6A01EA9BCCB4}"/>
                </a:ext>
              </a:extLst>
            </p:cNvPr>
            <p:cNvSpPr/>
            <p:nvPr/>
          </p:nvSpPr>
          <p:spPr>
            <a:xfrm>
              <a:off x="7910339" y="2054246"/>
              <a:ext cx="638581" cy="20854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err="1"/>
                <a:t>exon</a:t>
              </a:r>
              <a:r>
                <a:rPr lang="en-US" sz="1100" b="1"/>
                <a:t> 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7F87D4-54C3-5A80-26A7-1BC65C824053}"/>
                </a:ext>
              </a:extLst>
            </p:cNvPr>
            <p:cNvSpPr/>
            <p:nvPr/>
          </p:nvSpPr>
          <p:spPr>
            <a:xfrm>
              <a:off x="8974639" y="2054246"/>
              <a:ext cx="780488" cy="20854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err="1"/>
                <a:t>exon</a:t>
              </a:r>
              <a:r>
                <a:rPr lang="en-US" sz="1100" b="1"/>
                <a:t> 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05E8102-95E7-ED66-0380-BC7F4AC961D3}"/>
                </a:ext>
              </a:extLst>
            </p:cNvPr>
            <p:cNvSpPr/>
            <p:nvPr/>
          </p:nvSpPr>
          <p:spPr>
            <a:xfrm>
              <a:off x="10535615" y="2054246"/>
              <a:ext cx="780488" cy="20854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err="1"/>
                <a:t>exon</a:t>
              </a:r>
              <a:r>
                <a:rPr lang="en-US" sz="1100" b="1"/>
                <a:t> 4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521E01-B42C-2580-39E0-3E8E3E4B4254}"/>
                </a:ext>
              </a:extLst>
            </p:cNvPr>
            <p:cNvSpPr/>
            <p:nvPr/>
          </p:nvSpPr>
          <p:spPr>
            <a:xfrm>
              <a:off x="8974640" y="4371635"/>
              <a:ext cx="709535" cy="93659"/>
            </a:xfrm>
            <a:prstGeom prst="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25000">
                  <a:srgbClr val="C00000"/>
                </a:gs>
                <a:gs pos="100000">
                  <a:schemeClr val="accent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6C02B0C-E033-15B8-8607-1CE3248D3BEE}"/>
                </a:ext>
              </a:extLst>
            </p:cNvPr>
            <p:cNvSpPr/>
            <p:nvPr/>
          </p:nvSpPr>
          <p:spPr>
            <a:xfrm>
              <a:off x="7912443" y="3604823"/>
              <a:ext cx="636476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930C950-75EA-148A-4977-1FD1BF0541A6}"/>
                </a:ext>
              </a:extLst>
            </p:cNvPr>
            <p:cNvSpPr/>
            <p:nvPr/>
          </p:nvSpPr>
          <p:spPr>
            <a:xfrm>
              <a:off x="6846036" y="4371635"/>
              <a:ext cx="496674" cy="93659"/>
            </a:xfrm>
            <a:prstGeom prst="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25000">
                  <a:srgbClr val="C00000"/>
                </a:gs>
                <a:gs pos="100000">
                  <a:schemeClr val="accent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5678E05-4883-D075-6077-FD19F6A1667E}"/>
                </a:ext>
              </a:extLst>
            </p:cNvPr>
            <p:cNvSpPr/>
            <p:nvPr/>
          </p:nvSpPr>
          <p:spPr>
            <a:xfrm>
              <a:off x="8974639" y="3604823"/>
              <a:ext cx="780488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98F7C6-8C5A-F3C4-B3FB-18DB726B31EE}"/>
                </a:ext>
              </a:extLst>
            </p:cNvPr>
            <p:cNvSpPr/>
            <p:nvPr/>
          </p:nvSpPr>
          <p:spPr>
            <a:xfrm>
              <a:off x="10535616" y="3604823"/>
              <a:ext cx="658591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2775DE4-B806-512E-D4EB-FEE9419063F2}"/>
                </a:ext>
              </a:extLst>
            </p:cNvPr>
            <p:cNvSpPr/>
            <p:nvPr/>
          </p:nvSpPr>
          <p:spPr>
            <a:xfrm>
              <a:off x="8194153" y="4042147"/>
              <a:ext cx="354767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2C8354E-5ADB-252B-979B-585FC6F06161}"/>
                </a:ext>
              </a:extLst>
            </p:cNvPr>
            <p:cNvSpPr/>
            <p:nvPr/>
          </p:nvSpPr>
          <p:spPr>
            <a:xfrm>
              <a:off x="10535615" y="4042147"/>
              <a:ext cx="516684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162DCCD-B05F-E8B9-2310-1940E7DF7226}"/>
                </a:ext>
              </a:extLst>
            </p:cNvPr>
            <p:cNvSpPr/>
            <p:nvPr/>
          </p:nvSpPr>
          <p:spPr>
            <a:xfrm>
              <a:off x="7910340" y="4797356"/>
              <a:ext cx="638581" cy="93659"/>
            </a:xfrm>
            <a:prstGeom prst="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25000">
                  <a:srgbClr val="C00000"/>
                </a:gs>
                <a:gs pos="100000">
                  <a:schemeClr val="accent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606E168-6191-A175-DECB-4587F2DB4E04}"/>
                </a:ext>
              </a:extLst>
            </p:cNvPr>
            <p:cNvSpPr/>
            <p:nvPr/>
          </p:nvSpPr>
          <p:spPr>
            <a:xfrm>
              <a:off x="6795091" y="4797356"/>
              <a:ext cx="547618" cy="93659"/>
            </a:xfrm>
            <a:prstGeom prst="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25000">
                  <a:srgbClr val="C00000"/>
                </a:gs>
                <a:gs pos="100000">
                  <a:schemeClr val="accent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86034A0-5A37-81B2-ACC3-20193FE79471}"/>
                </a:ext>
              </a:extLst>
            </p:cNvPr>
            <p:cNvSpPr/>
            <p:nvPr/>
          </p:nvSpPr>
          <p:spPr>
            <a:xfrm>
              <a:off x="8974640" y="4797356"/>
              <a:ext cx="638581" cy="93659"/>
            </a:xfrm>
            <a:prstGeom prst="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25000">
                  <a:srgbClr val="C00000"/>
                </a:gs>
                <a:gs pos="100000">
                  <a:schemeClr val="accent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Left Brace 66">
              <a:extLst>
                <a:ext uri="{FF2B5EF4-FFF2-40B4-BE49-F238E27FC236}">
                  <a16:creationId xmlns:a16="http://schemas.microsoft.com/office/drawing/2014/main" id="{8F66670E-D1AD-CB9F-3F55-ECBCD220DEF3}"/>
                </a:ext>
              </a:extLst>
            </p:cNvPr>
            <p:cNvSpPr/>
            <p:nvPr/>
          </p:nvSpPr>
          <p:spPr>
            <a:xfrm>
              <a:off x="6298418" y="2366842"/>
              <a:ext cx="204346" cy="747387"/>
            </a:xfrm>
            <a:prstGeom prst="leftBrace">
              <a:avLst>
                <a:gd name="adj1" fmla="val 26920"/>
                <a:gd name="adj2" fmla="val 50000"/>
              </a:avLst>
            </a:prstGeom>
            <a:ln w="25400" cap="rnd">
              <a:solidFill>
                <a:srgbClr val="00B050"/>
              </a:solidFill>
              <a:prstDash val="solid"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8A32A10-9345-D13C-E7F4-307C818333E1}"/>
                </a:ext>
              </a:extLst>
            </p:cNvPr>
            <p:cNvSpPr/>
            <p:nvPr/>
          </p:nvSpPr>
          <p:spPr>
            <a:xfrm>
              <a:off x="7910823" y="2475649"/>
              <a:ext cx="634454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6193081-68D3-F93A-B112-242988B784DC}"/>
                </a:ext>
              </a:extLst>
            </p:cNvPr>
            <p:cNvSpPr/>
            <p:nvPr/>
          </p:nvSpPr>
          <p:spPr>
            <a:xfrm>
              <a:off x="8979189" y="2475649"/>
              <a:ext cx="769229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1F3918B-AB26-4752-D32E-74BA7FBADF03}"/>
                </a:ext>
              </a:extLst>
            </p:cNvPr>
            <p:cNvSpPr/>
            <p:nvPr/>
          </p:nvSpPr>
          <p:spPr>
            <a:xfrm>
              <a:off x="10536299" y="2475649"/>
              <a:ext cx="777432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B7BE5E5-EF79-394F-3B8B-7C391ABD36EB}"/>
                </a:ext>
              </a:extLst>
            </p:cNvPr>
            <p:cNvSpPr/>
            <p:nvPr/>
          </p:nvSpPr>
          <p:spPr>
            <a:xfrm>
              <a:off x="6699844" y="2475649"/>
              <a:ext cx="632255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0F96E96-3B67-B2C3-D534-9AD800BC57CD}"/>
                </a:ext>
              </a:extLst>
            </p:cNvPr>
            <p:cNvSpPr/>
            <p:nvPr/>
          </p:nvSpPr>
          <p:spPr>
            <a:xfrm>
              <a:off x="7906030" y="2972323"/>
              <a:ext cx="634454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7E7978C-0078-2741-9A12-A62E5A3E8DA8}"/>
                </a:ext>
              </a:extLst>
            </p:cNvPr>
            <p:cNvSpPr/>
            <p:nvPr/>
          </p:nvSpPr>
          <p:spPr>
            <a:xfrm>
              <a:off x="10528926" y="2972323"/>
              <a:ext cx="780012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6BDCC5C-5FDB-9C19-D04E-8542B136CB41}"/>
                </a:ext>
              </a:extLst>
            </p:cNvPr>
            <p:cNvSpPr/>
            <p:nvPr/>
          </p:nvSpPr>
          <p:spPr>
            <a:xfrm>
              <a:off x="6699844" y="2972323"/>
              <a:ext cx="639409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25000">
                  <a:srgbClr val="00B05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AFEF34D-0E87-C4BF-F2BB-4D0AEF6F6C7C}"/>
                </a:ext>
              </a:extLst>
            </p:cNvPr>
            <p:cNvSpPr/>
            <p:nvPr/>
          </p:nvSpPr>
          <p:spPr>
            <a:xfrm>
              <a:off x="6936999" y="3327090"/>
              <a:ext cx="700750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13CD7BF-A43A-5340-A420-F7C7C86CF9F4}"/>
                </a:ext>
              </a:extLst>
            </p:cNvPr>
            <p:cNvSpPr txBox="1"/>
            <p:nvPr/>
          </p:nvSpPr>
          <p:spPr>
            <a:xfrm>
              <a:off x="11280342" y="2358737"/>
              <a:ext cx="81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err="1">
                  <a:solidFill>
                    <a:srgbClr val="008000"/>
                  </a:solidFill>
                </a:rPr>
                <a:t>isoform</a:t>
              </a:r>
              <a:r>
                <a:rPr lang="en-US" sz="1200">
                  <a:solidFill>
                    <a:srgbClr val="008000"/>
                  </a:solidFill>
                </a:rPr>
                <a:t> 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80A79AB-3922-6CBA-9AAD-8F707DDD0F3C}"/>
                </a:ext>
              </a:extLst>
            </p:cNvPr>
            <p:cNvSpPr txBox="1"/>
            <p:nvPr/>
          </p:nvSpPr>
          <p:spPr>
            <a:xfrm>
              <a:off x="11280342" y="2870691"/>
              <a:ext cx="81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err="1">
                  <a:solidFill>
                    <a:srgbClr val="008000"/>
                  </a:solidFill>
                </a:rPr>
                <a:t>isoform</a:t>
              </a:r>
              <a:r>
                <a:rPr lang="en-US" sz="1200">
                  <a:solidFill>
                    <a:srgbClr val="008000"/>
                  </a:solidFill>
                </a:rPr>
                <a:t> 2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1E3C8BA-E95B-BE58-728E-0B6216D87EFC}"/>
                </a:ext>
              </a:extLst>
            </p:cNvPr>
            <p:cNvSpPr/>
            <p:nvPr/>
          </p:nvSpPr>
          <p:spPr>
            <a:xfrm>
              <a:off x="9846091" y="3327090"/>
              <a:ext cx="425721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5C05A3D-DE08-D841-6A03-1E65E436746C}"/>
                </a:ext>
              </a:extLst>
            </p:cNvPr>
            <p:cNvSpPr/>
            <p:nvPr/>
          </p:nvSpPr>
          <p:spPr>
            <a:xfrm>
              <a:off x="10616572" y="4571584"/>
              <a:ext cx="496674" cy="110304"/>
            </a:xfrm>
            <a:prstGeom prst="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25000">
                  <a:srgbClr val="C00000"/>
                </a:gs>
                <a:gs pos="100000">
                  <a:schemeClr val="accent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664D6E1-272B-7E2C-E629-46A83CA0DB16}"/>
                </a:ext>
              </a:extLst>
            </p:cNvPr>
            <p:cNvSpPr/>
            <p:nvPr/>
          </p:nvSpPr>
          <p:spPr>
            <a:xfrm>
              <a:off x="6991734" y="3604612"/>
              <a:ext cx="347110" cy="9365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5000">
                  <a:srgbClr val="0070C0"/>
                </a:gs>
                <a:gs pos="100000">
                  <a:schemeClr val="tx2">
                    <a:lumMod val="50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ight Arrow 80">
              <a:extLst>
                <a:ext uri="{FF2B5EF4-FFF2-40B4-BE49-F238E27FC236}">
                  <a16:creationId xmlns:a16="http://schemas.microsoft.com/office/drawing/2014/main" id="{6B734BE7-D881-5F29-801C-9EB38BDDADF6}"/>
                </a:ext>
              </a:extLst>
            </p:cNvPr>
            <p:cNvSpPr/>
            <p:nvPr/>
          </p:nvSpPr>
          <p:spPr>
            <a:xfrm rot="5400000">
              <a:off x="5592228" y="5175620"/>
              <a:ext cx="376550" cy="382205"/>
            </a:xfrm>
            <a:prstGeom prst="rightArrow">
              <a:avLst>
                <a:gd name="adj1" fmla="val 41477"/>
                <a:gd name="adj2" fmla="val 48476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15000000"/>
              </a:lightRig>
            </a:scene3d>
            <a:sp3d>
              <a:bevelT w="4445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B76F169-3CE8-AA2A-37FA-FA6BC14202AE}"/>
                </a:ext>
              </a:extLst>
            </p:cNvPr>
            <p:cNvSpPr/>
            <p:nvPr/>
          </p:nvSpPr>
          <p:spPr>
            <a:xfrm>
              <a:off x="7339330" y="5706622"/>
              <a:ext cx="570520" cy="9772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2578E0C-3211-14DE-20ED-28E909EB74AD}"/>
                </a:ext>
              </a:extLst>
            </p:cNvPr>
            <p:cNvSpPr/>
            <p:nvPr/>
          </p:nvSpPr>
          <p:spPr>
            <a:xfrm>
              <a:off x="8550910" y="5706622"/>
              <a:ext cx="438150" cy="10287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2A569EEB-6A9F-7773-7264-668004C7E332}"/>
                </a:ext>
              </a:extLst>
            </p:cNvPr>
            <p:cNvSpPr/>
            <p:nvPr/>
          </p:nvSpPr>
          <p:spPr>
            <a:xfrm>
              <a:off x="9749262" y="5710432"/>
              <a:ext cx="798088" cy="9906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6262B9E-D00C-7F29-AB5B-CC9E15F695CB}"/>
                </a:ext>
              </a:extLst>
            </p:cNvPr>
            <p:cNvSpPr/>
            <p:nvPr/>
          </p:nvSpPr>
          <p:spPr>
            <a:xfrm>
              <a:off x="7913854" y="5763202"/>
              <a:ext cx="634454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7B8B456-182E-1390-4FDE-B69FC64DEC65}"/>
                </a:ext>
              </a:extLst>
            </p:cNvPr>
            <p:cNvSpPr/>
            <p:nvPr/>
          </p:nvSpPr>
          <p:spPr>
            <a:xfrm>
              <a:off x="8982220" y="5763202"/>
              <a:ext cx="769229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39F2594-426F-3CE3-7B31-69AF77CB8BDA}"/>
                </a:ext>
              </a:extLst>
            </p:cNvPr>
            <p:cNvSpPr/>
            <p:nvPr/>
          </p:nvSpPr>
          <p:spPr>
            <a:xfrm>
              <a:off x="10539330" y="5763202"/>
              <a:ext cx="777432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703A860-11AF-A4DD-3472-CAD9B9C5E860}"/>
                </a:ext>
              </a:extLst>
            </p:cNvPr>
            <p:cNvSpPr/>
            <p:nvPr/>
          </p:nvSpPr>
          <p:spPr>
            <a:xfrm>
              <a:off x="6702875" y="5763202"/>
              <a:ext cx="632255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BB838F19-8F30-1C09-F399-2CC149F2070D}"/>
                </a:ext>
              </a:extLst>
            </p:cNvPr>
            <p:cNvSpPr/>
            <p:nvPr/>
          </p:nvSpPr>
          <p:spPr>
            <a:xfrm>
              <a:off x="7337085" y="6012677"/>
              <a:ext cx="570520" cy="97720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DF01C0E-9B35-DBCC-4E63-2674C00DD779}"/>
                </a:ext>
              </a:extLst>
            </p:cNvPr>
            <p:cNvSpPr/>
            <p:nvPr/>
          </p:nvSpPr>
          <p:spPr>
            <a:xfrm>
              <a:off x="6700630" y="6069257"/>
              <a:ext cx="632255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85C8672E-10B0-7A17-3F90-FD9FC70EA05A}"/>
                </a:ext>
              </a:extLst>
            </p:cNvPr>
            <p:cNvSpPr/>
            <p:nvPr/>
          </p:nvSpPr>
          <p:spPr>
            <a:xfrm>
              <a:off x="8548920" y="6011337"/>
              <a:ext cx="1980006" cy="104748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22990F8-B286-8813-4757-995BE965CA6B}"/>
                </a:ext>
              </a:extLst>
            </p:cNvPr>
            <p:cNvSpPr/>
            <p:nvPr/>
          </p:nvSpPr>
          <p:spPr>
            <a:xfrm>
              <a:off x="7911609" y="6069257"/>
              <a:ext cx="634454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763C6F0-0D93-002C-B562-F86EF6FD2D3D}"/>
                </a:ext>
              </a:extLst>
            </p:cNvPr>
            <p:cNvSpPr/>
            <p:nvPr/>
          </p:nvSpPr>
          <p:spPr>
            <a:xfrm>
              <a:off x="10537085" y="6069257"/>
              <a:ext cx="777432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1BB0917A-FA89-42E0-E9BB-EAB26DB79904}"/>
                </a:ext>
              </a:extLst>
            </p:cNvPr>
            <p:cNvSpPr/>
            <p:nvPr/>
          </p:nvSpPr>
          <p:spPr>
            <a:xfrm>
              <a:off x="7328865" y="6359010"/>
              <a:ext cx="1641924" cy="138519"/>
            </a:xfrm>
            <a:custGeom>
              <a:avLst/>
              <a:gdLst>
                <a:gd name="connsiteX0" fmla="*/ 0 w 606175"/>
                <a:gd name="connsiteY0" fmla="*/ 133564 h 143838"/>
                <a:gd name="connsiteX1" fmla="*/ 328773 w 606175"/>
                <a:gd name="connsiteY1" fmla="*/ 0 h 143838"/>
                <a:gd name="connsiteX2" fmla="*/ 606175 w 606175"/>
                <a:gd name="connsiteY2" fmla="*/ 143838 h 143838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06175"/>
                <a:gd name="connsiteY0" fmla="*/ 132876 h 143150"/>
                <a:gd name="connsiteX1" fmla="*/ 292850 w 606175"/>
                <a:gd name="connsiteY1" fmla="*/ 0 h 143150"/>
                <a:gd name="connsiteX2" fmla="*/ 606175 w 606175"/>
                <a:gd name="connsiteY2" fmla="*/ 143150 h 143150"/>
                <a:gd name="connsiteX0" fmla="*/ 0 w 612706"/>
                <a:gd name="connsiteY0" fmla="*/ 147314 h 147314"/>
                <a:gd name="connsiteX1" fmla="*/ 299381 w 612706"/>
                <a:gd name="connsiteY1" fmla="*/ 0 h 147314"/>
                <a:gd name="connsiteX2" fmla="*/ 612706 w 612706"/>
                <a:gd name="connsiteY2" fmla="*/ 143150 h 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06" h="147314">
                  <a:moveTo>
                    <a:pt x="0" y="147314"/>
                  </a:moveTo>
                  <a:lnTo>
                    <a:pt x="299381" y="0"/>
                  </a:lnTo>
                  <a:lnTo>
                    <a:pt x="612706" y="143150"/>
                  </a:lnTo>
                </a:path>
              </a:pathLst>
            </a:cu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6459A12-1517-9433-F913-45688FE9C168}"/>
                </a:ext>
              </a:extLst>
            </p:cNvPr>
            <p:cNvSpPr/>
            <p:nvPr/>
          </p:nvSpPr>
          <p:spPr>
            <a:xfrm>
              <a:off x="8971755" y="6456388"/>
              <a:ext cx="712420" cy="107777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AD7231A-C4F1-3843-4468-DEAB1C09C615}"/>
                </a:ext>
              </a:extLst>
            </p:cNvPr>
            <p:cNvSpPr/>
            <p:nvPr/>
          </p:nvSpPr>
          <p:spPr>
            <a:xfrm>
              <a:off x="6692410" y="6456388"/>
              <a:ext cx="632255" cy="93659"/>
            </a:xfrm>
            <a:prstGeom prst="rect">
              <a:avLst/>
            </a:pr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2000">
                  <a:schemeClr val="accent4">
                    <a:lumMod val="60000"/>
                    <a:lumOff val="40000"/>
                  </a:schemeClr>
                </a:gs>
                <a:gs pos="60640">
                  <a:schemeClr val="accent4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0"/>
            </a:gradFill>
            <a:ln w="12700">
              <a:solidFill>
                <a:schemeClr val="accent4">
                  <a:lumMod val="50000"/>
                </a:schemeClr>
              </a:solidFill>
            </a:ln>
            <a:effectLst>
              <a:outerShdw blurRad="38100" dist="38100" dir="324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2580302-7AA7-612A-3ECA-B0BA09794564}"/>
                </a:ext>
              </a:extLst>
            </p:cNvPr>
            <p:cNvSpPr txBox="1"/>
            <p:nvPr/>
          </p:nvSpPr>
          <p:spPr>
            <a:xfrm>
              <a:off x="4939809" y="5717811"/>
              <a:ext cx="16578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accent4">
                      <a:lumMod val="50000"/>
                    </a:schemeClr>
                  </a:solidFill>
                </a:rPr>
                <a:t>Merged </a:t>
              </a:r>
            </a:p>
            <a:p>
              <a:pPr algn="ctr"/>
              <a:r>
                <a:rPr lang="en-US" sz="1400">
                  <a:solidFill>
                    <a:schemeClr val="accent4">
                      <a:lumMod val="50000"/>
                    </a:schemeClr>
                  </a:solidFill>
                </a:rPr>
                <a:t>transcripts</a:t>
              </a:r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CF8FC49-B070-A07A-E6EB-15051302B496}"/>
              </a:ext>
            </a:extLst>
          </p:cNvPr>
          <p:cNvCxnSpPr/>
          <p:nvPr/>
        </p:nvCxnSpPr>
        <p:spPr bwMode="auto">
          <a:xfrm>
            <a:off x="7155515" y="2194259"/>
            <a:ext cx="83713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5950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D0474-3339-0808-B189-CF56A888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9DC2-8232-DCD0-02D0-7FFB8895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gffread</a:t>
            </a:r>
            <a:r>
              <a:rPr lang="en-US" dirty="0"/>
              <a:t>, gffcompare and </a:t>
            </a:r>
            <a:r>
              <a:rPr lang="en-US" dirty="0" err="1"/>
              <a:t>trmap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D2F3D-7FB9-1B97-F46E-CFB7B3CD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29995-4DF5-397E-1E99-160A255912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9" b="57678"/>
          <a:stretch>
            <a:fillRect/>
          </a:stretch>
        </p:blipFill>
        <p:spPr>
          <a:xfrm>
            <a:off x="118673" y="1777354"/>
            <a:ext cx="5026191" cy="227896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3C56B6-B3EC-A731-9C38-938922E39DC6}"/>
              </a:ext>
            </a:extLst>
          </p:cNvPr>
          <p:cNvSpPr/>
          <p:nvPr/>
        </p:nvSpPr>
        <p:spPr>
          <a:xfrm>
            <a:off x="258078" y="6124012"/>
            <a:ext cx="4681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hlinkClick r:id="rId4"/>
              </a:rPr>
              <a:t>http://</a:t>
            </a:r>
            <a:r>
              <a:rPr lang="en-US" err="1">
                <a:hlinkClick r:id="rId4"/>
              </a:rPr>
              <a:t>ccb.jhu.edu</a:t>
            </a:r>
            <a:r>
              <a:rPr lang="en-US">
                <a:hlinkClick r:id="rId4"/>
              </a:rPr>
              <a:t>/software/</a:t>
            </a:r>
            <a:r>
              <a:rPr lang="en-US" err="1">
                <a:hlinkClick r:id="rId4"/>
              </a:rPr>
              <a:t>stringtie</a:t>
            </a:r>
            <a:r>
              <a:rPr lang="en-US">
                <a:hlinkClick r:id="rId4"/>
              </a:rPr>
              <a:t>/</a:t>
            </a:r>
            <a:r>
              <a:rPr lang="en-US" err="1">
                <a:hlinkClick r:id="rId4"/>
              </a:rPr>
              <a:t>gff.shtml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25647-49ED-CEC5-E361-21DBF2CEF3FE}"/>
              </a:ext>
            </a:extLst>
          </p:cNvPr>
          <p:cNvSpPr/>
          <p:nvPr/>
        </p:nvSpPr>
        <p:spPr bwMode="auto">
          <a:xfrm>
            <a:off x="7810434" y="1234893"/>
            <a:ext cx="2025182" cy="461665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3288F5-3CCF-17D9-6172-022759A665CA}"/>
              </a:ext>
            </a:extLst>
          </p:cNvPr>
          <p:cNvSpPr/>
          <p:nvPr/>
        </p:nvSpPr>
        <p:spPr>
          <a:xfrm>
            <a:off x="6368894" y="1234893"/>
            <a:ext cx="5283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err="1">
                <a:latin typeface="CourierNewPSMT" panose="02070309020205020404" pitchFamily="49" charset="0"/>
              </a:rPr>
              <a:t>gffread</a:t>
            </a:r>
            <a:r>
              <a:rPr lang="en-US" sz="2400">
                <a:latin typeface="Times" pitchFamily="2" charset="0"/>
              </a:rPr>
              <a:t>, </a:t>
            </a:r>
            <a:r>
              <a:rPr lang="en-US" sz="2400" err="1">
                <a:latin typeface="CourierNewPSMT" panose="02070309020205020404" pitchFamily="49" charset="0"/>
              </a:rPr>
              <a:t>gffcompare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r>
              <a:rPr lang="en-US" sz="2400">
                <a:latin typeface="Times" pitchFamily="2" charset="0"/>
              </a:rPr>
              <a:t>and </a:t>
            </a:r>
            <a:r>
              <a:rPr lang="en-US" sz="2400" err="1">
                <a:latin typeface="CourierNewPSMT" panose="02070309020205020404" pitchFamily="49" charset="0"/>
              </a:rPr>
              <a:t>trmap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endParaRPr lang="en-US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1C424A-345F-F1EB-9E3B-A153C16E39FD}"/>
              </a:ext>
            </a:extLst>
          </p:cNvPr>
          <p:cNvSpPr/>
          <p:nvPr/>
        </p:nvSpPr>
        <p:spPr>
          <a:xfrm>
            <a:off x="6085020" y="1696558"/>
            <a:ext cx="609250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Roboto"/>
              </a:rPr>
              <a:t>- a tool for merging and tracking transcript structures across multiple samples and comparing them to a reference annotation.</a:t>
            </a:r>
          </a:p>
          <a:p>
            <a:endParaRPr lang="en-US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D17FDCC-57AB-6963-5F1C-CE36F0038231}"/>
              </a:ext>
            </a:extLst>
          </p:cNvPr>
          <p:cNvCxnSpPr/>
          <p:nvPr/>
        </p:nvCxnSpPr>
        <p:spPr bwMode="auto">
          <a:xfrm>
            <a:off x="8125668" y="2232760"/>
            <a:ext cx="3899607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CEDCB4B-C6E7-F6C6-0EEC-3B213B1AB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414" y="2367946"/>
            <a:ext cx="5487820" cy="447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9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D997E-3E57-9F4F-83E2-102664A2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19B4-B404-338B-9C44-5FA55A73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gffread</a:t>
            </a:r>
            <a:r>
              <a:rPr lang="en-US" dirty="0"/>
              <a:t>, gffcompare and </a:t>
            </a:r>
            <a:r>
              <a:rPr lang="en-US" dirty="0" err="1"/>
              <a:t>trmap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B70E1-1421-92CB-B1D7-9C725594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5E43E-65C1-2302-4FC8-084E842C65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9" b="57678"/>
          <a:stretch>
            <a:fillRect/>
          </a:stretch>
        </p:blipFill>
        <p:spPr>
          <a:xfrm>
            <a:off x="118673" y="1777354"/>
            <a:ext cx="5026191" cy="227896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C42DB4A-55EF-53F1-9C40-430476C2102D}"/>
              </a:ext>
            </a:extLst>
          </p:cNvPr>
          <p:cNvSpPr/>
          <p:nvPr/>
        </p:nvSpPr>
        <p:spPr>
          <a:xfrm>
            <a:off x="258078" y="6124012"/>
            <a:ext cx="4681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hlinkClick r:id="rId4"/>
              </a:rPr>
              <a:t>http://</a:t>
            </a:r>
            <a:r>
              <a:rPr lang="en-US" err="1">
                <a:hlinkClick r:id="rId4"/>
              </a:rPr>
              <a:t>ccb.jhu.edu</a:t>
            </a:r>
            <a:r>
              <a:rPr lang="en-US">
                <a:hlinkClick r:id="rId4"/>
              </a:rPr>
              <a:t>/software/</a:t>
            </a:r>
            <a:r>
              <a:rPr lang="en-US" err="1">
                <a:hlinkClick r:id="rId4"/>
              </a:rPr>
              <a:t>stringtie</a:t>
            </a:r>
            <a:r>
              <a:rPr lang="en-US">
                <a:hlinkClick r:id="rId4"/>
              </a:rPr>
              <a:t>/</a:t>
            </a:r>
            <a:r>
              <a:rPr lang="en-US" err="1">
                <a:hlinkClick r:id="rId4"/>
              </a:rPr>
              <a:t>gff.shtml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7B0DA-2199-F2C2-B212-FF104D149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414" y="2367946"/>
            <a:ext cx="5487820" cy="44740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398E27-FB31-1EB6-2094-93F4E47C25B8}"/>
              </a:ext>
            </a:extLst>
          </p:cNvPr>
          <p:cNvSpPr/>
          <p:nvPr/>
        </p:nvSpPr>
        <p:spPr>
          <a:xfrm>
            <a:off x="258078" y="4604948"/>
            <a:ext cx="609250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/>
              </a:rPr>
              <a:t>- </a:t>
            </a:r>
            <a:r>
              <a:rPr lang="en-US" sz="1600" dirty="0">
                <a:solidFill>
                  <a:srgbClr val="333333"/>
                </a:solidFill>
                <a:latin typeface="Roboto"/>
              </a:rPr>
              <a:t>designed for large scale overlap analysis of streaming transcript prediction data (millions of transcripts) with a reference annotation data set; it performs detection and classification of all the overlaps found between the streamed transcripts and the reference annotation transcripts.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5D5AD6-AEB0-D06C-EE7D-4D1FB183A394}"/>
              </a:ext>
            </a:extLst>
          </p:cNvPr>
          <p:cNvSpPr/>
          <p:nvPr/>
        </p:nvSpPr>
        <p:spPr bwMode="auto">
          <a:xfrm>
            <a:off x="9978753" y="1449954"/>
            <a:ext cx="1021138" cy="461665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2DC47-BB73-8394-9476-5AED387B7ED5}"/>
              </a:ext>
            </a:extLst>
          </p:cNvPr>
          <p:cNvSpPr/>
          <p:nvPr/>
        </p:nvSpPr>
        <p:spPr>
          <a:xfrm>
            <a:off x="5957414" y="1456223"/>
            <a:ext cx="5283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err="1">
                <a:latin typeface="CourierNewPSMT" panose="02070309020205020404" pitchFamily="49" charset="0"/>
              </a:rPr>
              <a:t>gffread</a:t>
            </a:r>
            <a:r>
              <a:rPr lang="en-US" sz="2400">
                <a:latin typeface="Times" pitchFamily="2" charset="0"/>
              </a:rPr>
              <a:t>, </a:t>
            </a:r>
            <a:r>
              <a:rPr lang="en-US" sz="2400" err="1">
                <a:latin typeface="CourierNewPSMT" panose="02070309020205020404" pitchFamily="49" charset="0"/>
              </a:rPr>
              <a:t>gffcompare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r>
              <a:rPr lang="en-US" sz="2400">
                <a:latin typeface="Times" pitchFamily="2" charset="0"/>
              </a:rPr>
              <a:t>and </a:t>
            </a:r>
            <a:r>
              <a:rPr lang="en-US" sz="2400" err="1">
                <a:latin typeface="CourierNewPSMT" panose="02070309020205020404" pitchFamily="49" charset="0"/>
              </a:rPr>
              <a:t>trmap</a:t>
            </a:r>
            <a:r>
              <a:rPr lang="en-US" sz="2400">
                <a:latin typeface="CourierNewPSMT" panose="02070309020205020404" pitchFamily="49" charset="0"/>
              </a:rPr>
              <a:t>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716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65B9-7DF1-CB73-9847-1CE27607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gffcompare of two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9E54C-DB00-5967-34D3-3E7FF080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4EDAB9-192D-F234-8957-65AFB78D1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519" y="1839486"/>
            <a:ext cx="5890975" cy="4405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C6DBAD-8D55-DFF6-D3B1-69B464698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6" y="1809750"/>
            <a:ext cx="5934985" cy="44349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9D22F1-1A3C-02D4-70F8-8B4EDD8B263E}"/>
              </a:ext>
            </a:extLst>
          </p:cNvPr>
          <p:cNvSpPr/>
          <p:nvPr/>
        </p:nvSpPr>
        <p:spPr bwMode="auto">
          <a:xfrm>
            <a:off x="126496" y="2843561"/>
            <a:ext cx="3988304" cy="345688"/>
          </a:xfrm>
          <a:prstGeom prst="rect">
            <a:avLst/>
          </a:prstGeom>
          <a:solidFill>
            <a:srgbClr val="FFFF66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FFD2DC-526C-8740-637B-361E2130A379}"/>
              </a:ext>
            </a:extLst>
          </p:cNvPr>
          <p:cNvSpPr/>
          <p:nvPr/>
        </p:nvSpPr>
        <p:spPr bwMode="auto">
          <a:xfrm>
            <a:off x="113545" y="4713248"/>
            <a:ext cx="3988304" cy="345688"/>
          </a:xfrm>
          <a:prstGeom prst="rect">
            <a:avLst/>
          </a:prstGeom>
          <a:solidFill>
            <a:srgbClr val="FFFF66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088A7D-5FA8-CA57-5C78-4800EB157B28}"/>
              </a:ext>
            </a:extLst>
          </p:cNvPr>
          <p:cNvSpPr/>
          <p:nvPr/>
        </p:nvSpPr>
        <p:spPr bwMode="auto">
          <a:xfrm>
            <a:off x="6130520" y="2843561"/>
            <a:ext cx="3988304" cy="345688"/>
          </a:xfrm>
          <a:prstGeom prst="rect">
            <a:avLst/>
          </a:prstGeom>
          <a:solidFill>
            <a:srgbClr val="FFFF66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4996AA-6E47-FD61-80EC-CE4CD112BB22}"/>
              </a:ext>
            </a:extLst>
          </p:cNvPr>
          <p:cNvSpPr/>
          <p:nvPr/>
        </p:nvSpPr>
        <p:spPr bwMode="auto">
          <a:xfrm>
            <a:off x="6130520" y="4690946"/>
            <a:ext cx="3988304" cy="345688"/>
          </a:xfrm>
          <a:prstGeom prst="rect">
            <a:avLst/>
          </a:prstGeom>
          <a:solidFill>
            <a:srgbClr val="FFFF66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519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A4B5-3E4D-107B-3EF8-6CCC2639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D66E-FEBE-0048-01CA-FC338FF6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gffcompare of two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6185A-3EB3-0CCA-B4AF-6397E930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822E6-7F95-865D-C2A9-42EE47A0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58236"/>
            <a:ext cx="5865901" cy="43864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E88CF-0C20-B3D2-98B8-615EE0FE1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6" y="1809750"/>
            <a:ext cx="5934985" cy="44349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EF154E-ED16-2673-6C98-50EDA8848679}"/>
              </a:ext>
            </a:extLst>
          </p:cNvPr>
          <p:cNvSpPr/>
          <p:nvPr/>
        </p:nvSpPr>
        <p:spPr bwMode="auto">
          <a:xfrm>
            <a:off x="450832" y="4027217"/>
            <a:ext cx="2638056" cy="500178"/>
          </a:xfrm>
          <a:prstGeom prst="rect">
            <a:avLst/>
          </a:prstGeom>
          <a:solidFill>
            <a:srgbClr val="FFFF66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A55CBB-39B2-B121-2EAD-69832930C156}"/>
              </a:ext>
            </a:extLst>
          </p:cNvPr>
          <p:cNvSpPr/>
          <p:nvPr/>
        </p:nvSpPr>
        <p:spPr bwMode="auto">
          <a:xfrm>
            <a:off x="6440390" y="4027217"/>
            <a:ext cx="2638056" cy="500178"/>
          </a:xfrm>
          <a:prstGeom prst="rect">
            <a:avLst/>
          </a:prstGeom>
          <a:solidFill>
            <a:srgbClr val="FFFF66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111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93AB-6DE7-8285-E0AC-5F1A1819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Ab initio </a:t>
            </a:r>
            <a:r>
              <a:rPr lang="en-US" dirty="0"/>
              <a:t>gene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6C4B-003F-16DC-7AF5-AFA961D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 fontScale="92500"/>
          </a:bodyPr>
          <a:lstStyle/>
          <a:p>
            <a:r>
              <a:rPr lang="en-US" dirty="0"/>
              <a:t>Transcriptome sequencing data does not provide comprehensive picture of expression – not all transcripts are expressed in all cells at the same time:  </a:t>
            </a:r>
          </a:p>
          <a:p>
            <a:pPr lvl="1"/>
            <a:r>
              <a:rPr lang="en-US" dirty="0"/>
              <a:t>Sequence many different cells under many conditions (expensive)</a:t>
            </a:r>
          </a:p>
          <a:p>
            <a:pPr lvl="1"/>
            <a:r>
              <a:rPr lang="en-US" dirty="0"/>
              <a:t>Supplement transcriptome sequencing data with an </a:t>
            </a:r>
            <a:r>
              <a:rPr lang="en-US" i="1" dirty="0"/>
              <a:t>ab initio </a:t>
            </a:r>
            <a:r>
              <a:rPr lang="en-US" dirty="0"/>
              <a:t>gene finding algorithm to find transcripts that a not expressed</a:t>
            </a:r>
          </a:p>
          <a:p>
            <a:r>
              <a:rPr lang="en-US" dirty="0"/>
              <a:t>Assembled transcripts have errors: </a:t>
            </a:r>
          </a:p>
          <a:p>
            <a:pPr lvl="1"/>
            <a:r>
              <a:rPr lang="en-US" dirty="0"/>
              <a:t>Use machine learning algorithms to detect errors in assembled transcripts</a:t>
            </a:r>
          </a:p>
          <a:p>
            <a:r>
              <a:rPr lang="en-US" dirty="0"/>
              <a:t>Machine learning:</a:t>
            </a:r>
          </a:p>
          <a:p>
            <a:pPr lvl="1"/>
            <a:r>
              <a:rPr lang="en-US" dirty="0"/>
              <a:t>Positional Weights/Markov chain/Hidden Markov Models</a:t>
            </a:r>
          </a:p>
          <a:p>
            <a:pPr lvl="1"/>
            <a:r>
              <a:rPr lang="en-US" dirty="0"/>
              <a:t>Convolution Neural Networks?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4308B-AFA2-E9DC-AA64-E27C6EAA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A960-9AED-42DD-A4CE-32DEB70A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AFB0-4CD4-49AE-5635-A884EF4A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18774"/>
          </a:xfrm>
        </p:spPr>
        <p:txBody>
          <a:bodyPr>
            <a:normAutofit/>
          </a:bodyPr>
          <a:lstStyle/>
          <a:p>
            <a:r>
              <a:rPr lang="en-US" dirty="0"/>
              <a:t>Protein coding and non-coding sequences have different patterns of letters</a:t>
            </a:r>
          </a:p>
          <a:p>
            <a:r>
              <a:rPr lang="en-US" dirty="0"/>
              <a:t>Spliceosome does not just cut out introns at GT-AG, it recognizes longer patterns around splice sites</a:t>
            </a:r>
          </a:p>
          <a:p>
            <a:r>
              <a:rPr lang="en-US" dirty="0"/>
              <a:t>We can look for the patterns with </a:t>
            </a:r>
            <a:r>
              <a:rPr lang="en-US" i="1" dirty="0"/>
              <a:t>machine learning </a:t>
            </a:r>
            <a:r>
              <a:rPr lang="en-US" dirty="0"/>
              <a:t>algorithms</a:t>
            </a:r>
          </a:p>
          <a:p>
            <a:r>
              <a:rPr lang="en-US" dirty="0"/>
              <a:t>We can model and test the patterns with:</a:t>
            </a:r>
          </a:p>
          <a:p>
            <a:pPr lvl="1"/>
            <a:r>
              <a:rPr lang="en-US" dirty="0"/>
              <a:t>Positional Probabilities or Positional Weights</a:t>
            </a:r>
          </a:p>
          <a:p>
            <a:pPr lvl="1"/>
            <a:r>
              <a:rPr lang="en-US" dirty="0"/>
              <a:t>Markov chains</a:t>
            </a:r>
          </a:p>
          <a:p>
            <a:pPr lvl="1"/>
            <a:r>
              <a:rPr lang="en-US" dirty="0"/>
              <a:t>Hidden Markov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C02BC-5B68-B2F7-B466-6A9EF3BC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2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14953</TotalTime>
  <Words>554</Words>
  <Application>Microsoft Office PowerPoint</Application>
  <PresentationFormat>Widescreen</PresentationFormat>
  <Paragraphs>116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Batang</vt:lpstr>
      <vt:lpstr>Arial</vt:lpstr>
      <vt:lpstr>Calibri</vt:lpstr>
      <vt:lpstr>CourierNewPSMT</vt:lpstr>
      <vt:lpstr>Roboto</vt:lpstr>
      <vt:lpstr>Times</vt:lpstr>
      <vt:lpstr>Trebuchet MS</vt:lpstr>
      <vt:lpstr>Office Theme</vt:lpstr>
      <vt:lpstr>Equation</vt:lpstr>
      <vt:lpstr>Intron chain</vt:lpstr>
      <vt:lpstr>Nucleotide level accuracy</vt:lpstr>
      <vt:lpstr>Exon level accuracy</vt:lpstr>
      <vt:lpstr>Transcript level accuracy</vt:lpstr>
      <vt:lpstr>gffread, gffcompare and trmap</vt:lpstr>
      <vt:lpstr>gffread, gffcompare and trmap</vt:lpstr>
      <vt:lpstr>gffread, gffcompare and trmap</vt:lpstr>
      <vt:lpstr>gffread, gffcompare and trmap</vt:lpstr>
      <vt:lpstr>gffcompare of two annotations</vt:lpstr>
      <vt:lpstr>gffcompare of two annotations</vt:lpstr>
      <vt:lpstr>Ab initio gene finding</vt:lpstr>
      <vt:lpstr>Machine learning algorithms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83</cp:revision>
  <dcterms:created xsi:type="dcterms:W3CDTF">2013-08-21T19:17:07Z</dcterms:created>
  <dcterms:modified xsi:type="dcterms:W3CDTF">2025-11-04T13:36:40Z</dcterms:modified>
</cp:coreProperties>
</file>