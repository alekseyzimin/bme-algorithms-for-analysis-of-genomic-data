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831" r:id="rId2"/>
    <p:sldId id="824" r:id="rId3"/>
    <p:sldId id="832" r:id="rId4"/>
    <p:sldId id="833" r:id="rId5"/>
    <p:sldId id="834" r:id="rId6"/>
    <p:sldId id="835" r:id="rId7"/>
    <p:sldId id="836" r:id="rId8"/>
    <p:sldId id="837" r:id="rId9"/>
    <p:sldId id="838" r:id="rId10"/>
    <p:sldId id="839" r:id="rId11"/>
    <p:sldId id="84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8B1C"/>
    <a:srgbClr val="BE0260"/>
    <a:srgbClr val="D0005E"/>
    <a:srgbClr val="018ACF"/>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27" autoAdjust="0"/>
    <p:restoredTop sz="93721" autoAdjust="0"/>
  </p:normalViewPr>
  <p:slideViewPr>
    <p:cSldViewPr snapToGrid="0">
      <p:cViewPr varScale="1">
        <p:scale>
          <a:sx n="99" d="100"/>
          <a:sy n="99" d="100"/>
        </p:scale>
        <p:origin x="240" y="84"/>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8553A319-8433-4677-8F80-E28D63617D4C}"/>
    <pc:docChg chg="delSld">
      <pc:chgData name="Aleksey Zimin" userId="7f2637d0bc515791" providerId="LiveId" clId="{8553A319-8433-4677-8F80-E28D63617D4C}" dt="2025-10-29T14:23:28.834" v="1" actId="47"/>
      <pc:docMkLst>
        <pc:docMk/>
      </pc:docMkLst>
      <pc:sldChg chg="del">
        <pc:chgData name="Aleksey Zimin" userId="7f2637d0bc515791" providerId="LiveId" clId="{8553A319-8433-4677-8F80-E28D63617D4C}" dt="2025-10-29T14:23:15.316" v="0" actId="47"/>
        <pc:sldMkLst>
          <pc:docMk/>
          <pc:sldMk cId="1052403946" sldId="272"/>
        </pc:sldMkLst>
      </pc:sldChg>
      <pc:sldChg chg="del">
        <pc:chgData name="Aleksey Zimin" userId="7f2637d0bc515791" providerId="LiveId" clId="{8553A319-8433-4677-8F80-E28D63617D4C}" dt="2025-10-29T14:23:28.834" v="1" actId="47"/>
        <pc:sldMkLst>
          <pc:docMk/>
          <pc:sldMk cId="582660925" sldId="557"/>
        </pc:sldMkLst>
      </pc:sldChg>
      <pc:sldChg chg="del">
        <pc:chgData name="Aleksey Zimin" userId="7f2637d0bc515791" providerId="LiveId" clId="{8553A319-8433-4677-8F80-E28D63617D4C}" dt="2025-10-29T14:23:28.834" v="1" actId="47"/>
        <pc:sldMkLst>
          <pc:docMk/>
          <pc:sldMk cId="897960614" sldId="559"/>
        </pc:sldMkLst>
      </pc:sldChg>
      <pc:sldChg chg="del">
        <pc:chgData name="Aleksey Zimin" userId="7f2637d0bc515791" providerId="LiveId" clId="{8553A319-8433-4677-8F80-E28D63617D4C}" dt="2025-10-29T14:23:28.834" v="1" actId="47"/>
        <pc:sldMkLst>
          <pc:docMk/>
          <pc:sldMk cId="2016871750" sldId="560"/>
        </pc:sldMkLst>
      </pc:sldChg>
      <pc:sldChg chg="del">
        <pc:chgData name="Aleksey Zimin" userId="7f2637d0bc515791" providerId="LiveId" clId="{8553A319-8433-4677-8F80-E28D63617D4C}" dt="2025-10-29T14:23:15.316" v="0" actId="47"/>
        <pc:sldMkLst>
          <pc:docMk/>
          <pc:sldMk cId="3644876859" sldId="572"/>
        </pc:sldMkLst>
      </pc:sldChg>
      <pc:sldChg chg="del">
        <pc:chgData name="Aleksey Zimin" userId="7f2637d0bc515791" providerId="LiveId" clId="{8553A319-8433-4677-8F80-E28D63617D4C}" dt="2025-10-29T14:23:28.834" v="1" actId="47"/>
        <pc:sldMkLst>
          <pc:docMk/>
          <pc:sldMk cId="3059937519" sldId="811"/>
        </pc:sldMkLst>
      </pc:sldChg>
      <pc:sldChg chg="del">
        <pc:chgData name="Aleksey Zimin" userId="7f2637d0bc515791" providerId="LiveId" clId="{8553A319-8433-4677-8F80-E28D63617D4C}" dt="2025-10-29T14:23:15.316" v="0" actId="47"/>
        <pc:sldMkLst>
          <pc:docMk/>
          <pc:sldMk cId="2068933949" sldId="823"/>
        </pc:sldMkLst>
      </pc:sldChg>
      <pc:sldChg chg="del">
        <pc:chgData name="Aleksey Zimin" userId="7f2637d0bc515791" providerId="LiveId" clId="{8553A319-8433-4677-8F80-E28D63617D4C}" dt="2025-10-29T14:23:15.316" v="0" actId="47"/>
        <pc:sldMkLst>
          <pc:docMk/>
          <pc:sldMk cId="2622166328" sldId="825"/>
        </pc:sldMkLst>
      </pc:sldChg>
      <pc:sldChg chg="del">
        <pc:chgData name="Aleksey Zimin" userId="7f2637d0bc515791" providerId="LiveId" clId="{8553A319-8433-4677-8F80-E28D63617D4C}" dt="2025-10-29T14:23:15.316" v="0" actId="47"/>
        <pc:sldMkLst>
          <pc:docMk/>
          <pc:sldMk cId="2174087718" sldId="826"/>
        </pc:sldMkLst>
      </pc:sldChg>
      <pc:sldChg chg="del">
        <pc:chgData name="Aleksey Zimin" userId="7f2637d0bc515791" providerId="LiveId" clId="{8553A319-8433-4677-8F80-E28D63617D4C}" dt="2025-10-29T14:23:15.316" v="0" actId="47"/>
        <pc:sldMkLst>
          <pc:docMk/>
          <pc:sldMk cId="14013305" sldId="827"/>
        </pc:sldMkLst>
      </pc:sldChg>
      <pc:sldChg chg="del">
        <pc:chgData name="Aleksey Zimin" userId="7f2637d0bc515791" providerId="LiveId" clId="{8553A319-8433-4677-8F80-E28D63617D4C}" dt="2025-10-29T14:23:15.316" v="0" actId="47"/>
        <pc:sldMkLst>
          <pc:docMk/>
          <pc:sldMk cId="2055598344" sldId="828"/>
        </pc:sldMkLst>
      </pc:sldChg>
      <pc:sldChg chg="del">
        <pc:chgData name="Aleksey Zimin" userId="7f2637d0bc515791" providerId="LiveId" clId="{8553A319-8433-4677-8F80-E28D63617D4C}" dt="2025-10-29T14:23:28.834" v="1" actId="47"/>
        <pc:sldMkLst>
          <pc:docMk/>
          <pc:sldMk cId="763290966" sldId="841"/>
        </pc:sldMkLst>
      </pc:sldChg>
      <pc:sldChg chg="del">
        <pc:chgData name="Aleksey Zimin" userId="7f2637d0bc515791" providerId="LiveId" clId="{8553A319-8433-4677-8F80-E28D63617D4C}" dt="2025-10-29T14:23:28.834" v="1" actId="47"/>
        <pc:sldMkLst>
          <pc:docMk/>
          <pc:sldMk cId="2459509777" sldId="842"/>
        </pc:sldMkLst>
      </pc:sldChg>
      <pc:sldChg chg="del">
        <pc:chgData name="Aleksey Zimin" userId="7f2637d0bc515791" providerId="LiveId" clId="{8553A319-8433-4677-8F80-E28D63617D4C}" dt="2025-10-29T14:23:28.834" v="1" actId="47"/>
        <pc:sldMkLst>
          <pc:docMk/>
          <pc:sldMk cId="4155191155" sldId="843"/>
        </pc:sldMkLst>
      </pc:sldChg>
      <pc:sldChg chg="del">
        <pc:chgData name="Aleksey Zimin" userId="7f2637d0bc515791" providerId="LiveId" clId="{8553A319-8433-4677-8F80-E28D63617D4C}" dt="2025-10-29T14:23:28.834" v="1" actId="47"/>
        <pc:sldMkLst>
          <pc:docMk/>
          <pc:sldMk cId="1098893626" sldId="844"/>
        </pc:sldMkLst>
      </pc:sldChg>
      <pc:sldChg chg="del">
        <pc:chgData name="Aleksey Zimin" userId="7f2637d0bc515791" providerId="LiveId" clId="{8553A319-8433-4677-8F80-E28D63617D4C}" dt="2025-10-29T14:23:28.834" v="1" actId="47"/>
        <pc:sldMkLst>
          <pc:docMk/>
          <pc:sldMk cId="3967168509" sldId="845"/>
        </pc:sldMkLst>
      </pc:sldChg>
      <pc:sldChg chg="del">
        <pc:chgData name="Aleksey Zimin" userId="7f2637d0bc515791" providerId="LiveId" clId="{8553A319-8433-4677-8F80-E28D63617D4C}" dt="2025-10-29T14:23:28.834" v="1" actId="47"/>
        <pc:sldMkLst>
          <pc:docMk/>
          <pc:sldMk cId="3641111415" sldId="846"/>
        </pc:sldMkLst>
      </pc:sldChg>
      <pc:sldChg chg="del">
        <pc:chgData name="Aleksey Zimin" userId="7f2637d0bc515791" providerId="LiveId" clId="{8553A319-8433-4677-8F80-E28D63617D4C}" dt="2025-10-29T14:23:15.316" v="0" actId="47"/>
        <pc:sldMkLst>
          <pc:docMk/>
          <pc:sldMk cId="1812347551" sldId="850"/>
        </pc:sldMkLst>
      </pc:sldChg>
      <pc:sldChg chg="del">
        <pc:chgData name="Aleksey Zimin" userId="7f2637d0bc515791" providerId="LiveId" clId="{8553A319-8433-4677-8F80-E28D63617D4C}" dt="2025-10-29T14:23:28.834" v="1" actId="47"/>
        <pc:sldMkLst>
          <pc:docMk/>
          <pc:sldMk cId="523482158" sldId="851"/>
        </pc:sldMkLst>
      </pc:sldChg>
      <pc:sldChg chg="del">
        <pc:chgData name="Aleksey Zimin" userId="7f2637d0bc515791" providerId="LiveId" clId="{8553A319-8433-4677-8F80-E28D63617D4C}" dt="2025-10-29T14:23:28.834" v="1" actId="47"/>
        <pc:sldMkLst>
          <pc:docMk/>
          <pc:sldMk cId="2628352046" sldId="852"/>
        </pc:sldMkLst>
      </pc:sldChg>
      <pc:sldChg chg="del">
        <pc:chgData name="Aleksey Zimin" userId="7f2637d0bc515791" providerId="LiveId" clId="{8553A319-8433-4677-8F80-E28D63617D4C}" dt="2025-10-29T14:23:28.834" v="1" actId="47"/>
        <pc:sldMkLst>
          <pc:docMk/>
          <pc:sldMk cId="688161546" sldId="853"/>
        </pc:sldMkLst>
      </pc:sldChg>
      <pc:sldChg chg="del">
        <pc:chgData name="Aleksey Zimin" userId="7f2637d0bc515791" providerId="LiveId" clId="{8553A319-8433-4677-8F80-E28D63617D4C}" dt="2025-10-29T14:23:28.834" v="1" actId="47"/>
        <pc:sldMkLst>
          <pc:docMk/>
          <pc:sldMk cId="1582605635" sldId="854"/>
        </pc:sldMkLst>
      </pc:sldChg>
      <pc:sldChg chg="del">
        <pc:chgData name="Aleksey Zimin" userId="7f2637d0bc515791" providerId="LiveId" clId="{8553A319-8433-4677-8F80-E28D63617D4C}" dt="2025-10-29T14:23:28.834" v="1" actId="47"/>
        <pc:sldMkLst>
          <pc:docMk/>
          <pc:sldMk cId="2893015969" sldId="855"/>
        </pc:sldMkLst>
      </pc:sldChg>
      <pc:sldChg chg="del">
        <pc:chgData name="Aleksey Zimin" userId="7f2637d0bc515791" providerId="LiveId" clId="{8553A319-8433-4677-8F80-E28D63617D4C}" dt="2025-10-29T14:23:28.834" v="1" actId="47"/>
        <pc:sldMkLst>
          <pc:docMk/>
          <pc:sldMk cId="2155246616" sldId="856"/>
        </pc:sldMkLst>
      </pc:sldChg>
      <pc:sldChg chg="del">
        <pc:chgData name="Aleksey Zimin" userId="7f2637d0bc515791" providerId="LiveId" clId="{8553A319-8433-4677-8F80-E28D63617D4C}" dt="2025-10-29T14:23:28.834" v="1" actId="47"/>
        <pc:sldMkLst>
          <pc:docMk/>
          <pc:sldMk cId="140951592" sldId="857"/>
        </pc:sldMkLst>
      </pc:sldChg>
      <pc:sldChg chg="del">
        <pc:chgData name="Aleksey Zimin" userId="7f2637d0bc515791" providerId="LiveId" clId="{8553A319-8433-4677-8F80-E28D63617D4C}" dt="2025-10-29T14:23:28.834" v="1" actId="47"/>
        <pc:sldMkLst>
          <pc:docMk/>
          <pc:sldMk cId="3851234347" sldId="858"/>
        </pc:sldMkLst>
      </pc:sldChg>
      <pc:sldChg chg="del">
        <pc:chgData name="Aleksey Zimin" userId="7f2637d0bc515791" providerId="LiveId" clId="{8553A319-8433-4677-8F80-E28D63617D4C}" dt="2025-10-29T14:23:28.834" v="1" actId="47"/>
        <pc:sldMkLst>
          <pc:docMk/>
          <pc:sldMk cId="2509772218" sldId="859"/>
        </pc:sldMkLst>
      </pc:sldChg>
      <pc:sldChg chg="del">
        <pc:chgData name="Aleksey Zimin" userId="7f2637d0bc515791" providerId="LiveId" clId="{8553A319-8433-4677-8F80-E28D63617D4C}" dt="2025-10-29T14:23:28.834" v="1" actId="47"/>
        <pc:sldMkLst>
          <pc:docMk/>
          <pc:sldMk cId="3349687225" sldId="860"/>
        </pc:sldMkLst>
      </pc:sldChg>
      <pc:sldChg chg="del">
        <pc:chgData name="Aleksey Zimin" userId="7f2637d0bc515791" providerId="LiveId" clId="{8553A319-8433-4677-8F80-E28D63617D4C}" dt="2025-10-29T14:23:28.834" v="1" actId="47"/>
        <pc:sldMkLst>
          <pc:docMk/>
          <pc:sldMk cId="1777305015" sldId="861"/>
        </pc:sldMkLst>
      </pc:sldChg>
      <pc:sldChg chg="del">
        <pc:chgData name="Aleksey Zimin" userId="7f2637d0bc515791" providerId="LiveId" clId="{8553A319-8433-4677-8F80-E28D63617D4C}" dt="2025-10-29T14:23:28.834" v="1" actId="47"/>
        <pc:sldMkLst>
          <pc:docMk/>
          <pc:sldMk cId="3443782089" sldId="862"/>
        </pc:sldMkLst>
      </pc:sldChg>
      <pc:sldChg chg="del">
        <pc:chgData name="Aleksey Zimin" userId="7f2637d0bc515791" providerId="LiveId" clId="{8553A319-8433-4677-8F80-E28D63617D4C}" dt="2025-10-29T14:23:28.834" v="1" actId="47"/>
        <pc:sldMkLst>
          <pc:docMk/>
          <pc:sldMk cId="1731479648" sldId="863"/>
        </pc:sldMkLst>
      </pc:sldChg>
      <pc:sldChg chg="del">
        <pc:chgData name="Aleksey Zimin" userId="7f2637d0bc515791" providerId="LiveId" clId="{8553A319-8433-4677-8F80-E28D63617D4C}" dt="2025-10-29T14:23:28.834" v="1" actId="47"/>
        <pc:sldMkLst>
          <pc:docMk/>
          <pc:sldMk cId="80240427" sldId="864"/>
        </pc:sldMkLst>
      </pc:sldChg>
      <pc:sldChg chg="del">
        <pc:chgData name="Aleksey Zimin" userId="7f2637d0bc515791" providerId="LiveId" clId="{8553A319-8433-4677-8F80-E28D63617D4C}" dt="2025-10-29T14:23:28.834" v="1" actId="47"/>
        <pc:sldMkLst>
          <pc:docMk/>
          <pc:sldMk cId="2634646025" sldId="8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10/29/2025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10/29/2025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10/29/2025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10/29/2025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10/29/2025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hyperlink" Target="http://ccb.jhu.edu/software/stringtie/gff.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BB8C-6D26-E7CE-00B3-168F05C536BC}"/>
              </a:ext>
            </a:extLst>
          </p:cNvPr>
          <p:cNvSpPr>
            <a:spLocks noGrp="1"/>
          </p:cNvSpPr>
          <p:nvPr>
            <p:ph type="title"/>
          </p:nvPr>
        </p:nvSpPr>
        <p:spPr/>
        <p:txBody>
          <a:bodyPr>
            <a:normAutofit fontScale="90000"/>
          </a:bodyPr>
          <a:lstStyle/>
          <a:p>
            <a:r>
              <a:rPr lang="en-US" dirty="0"/>
              <a:t>Evaluating transcript assembly</a:t>
            </a:r>
          </a:p>
        </p:txBody>
      </p:sp>
      <p:sp>
        <p:nvSpPr>
          <p:cNvPr id="3" name="Content Placeholder 2">
            <a:extLst>
              <a:ext uri="{FF2B5EF4-FFF2-40B4-BE49-F238E27FC236}">
                <a16:creationId xmlns:a16="http://schemas.microsoft.com/office/drawing/2014/main" id="{EA47D1B9-170D-520A-C276-39860A1323E0}"/>
              </a:ext>
            </a:extLst>
          </p:cNvPr>
          <p:cNvSpPr>
            <a:spLocks noGrp="1"/>
          </p:cNvSpPr>
          <p:nvPr>
            <p:ph idx="1"/>
          </p:nvPr>
        </p:nvSpPr>
        <p:spPr>
          <a:xfrm>
            <a:off x="598620" y="1596540"/>
            <a:ext cx="10972800" cy="4581150"/>
          </a:xfrm>
        </p:spPr>
        <p:txBody>
          <a:bodyPr>
            <a:normAutofit lnSpcReduction="10000"/>
          </a:bodyPr>
          <a:lstStyle/>
          <a:p>
            <a:r>
              <a:rPr lang="en-US" dirty="0">
                <a:latin typeface="Calibri" panose="020F0502020204030204" pitchFamily="34" charset="0"/>
                <a:cs typeface="Calibri" panose="020F0502020204030204" pitchFamily="34" charset="0"/>
              </a:rPr>
              <a:t>We want to compare the assembly output against a benchmark transcriptome where correct sequences of all transcripts are known.</a:t>
            </a:r>
          </a:p>
          <a:p>
            <a:pPr marL="285750" indent="-285750">
              <a:buFontTx/>
              <a:buChar char="-"/>
            </a:pPr>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Limitations of using a known reference transcriptome</a:t>
            </a:r>
            <a:r>
              <a:rPr lang="en-US" dirty="0">
                <a:latin typeface="Calibri" panose="020F0502020204030204" pitchFamily="34" charset="0"/>
                <a:cs typeface="Calibri" panose="020F0502020204030204" pitchFamily="34" charset="0"/>
              </a:rPr>
              <a:t>:</a:t>
            </a:r>
          </a:p>
          <a:p>
            <a:pPr marL="285750" indent="-285750">
              <a:buFontTx/>
              <a:buChar char="-"/>
            </a:pPr>
            <a:r>
              <a:rPr lang="en-US" dirty="0">
                <a:latin typeface="Calibri" panose="020F0502020204030204" pitchFamily="34" charset="0"/>
                <a:cs typeface="Calibri" panose="020F0502020204030204" pitchFamily="34" charset="0"/>
              </a:rPr>
              <a:t>variability in the transcriptome (e.g. among e.g. cell types) makes  it impossible to determine whether sequences from the reference that are missing from the assembled transcriptome are due to assembly errors, or whether they were not expressed in the library sequenced</a:t>
            </a:r>
          </a:p>
          <a:p>
            <a:pPr marL="285750" indent="-285750">
              <a:buFontTx/>
              <a:buChar char="-"/>
            </a:pPr>
            <a:r>
              <a:rPr lang="en-US" dirty="0">
                <a:latin typeface="Calibri" panose="020F0502020204030204" pitchFamily="34" charset="0"/>
                <a:cs typeface="Calibri" panose="020F0502020204030204" pitchFamily="34" charset="0"/>
              </a:rPr>
              <a:t>transcriptome sequences may also vary between the individual under study and the reference</a:t>
            </a:r>
          </a:p>
        </p:txBody>
      </p:sp>
      <p:sp>
        <p:nvSpPr>
          <p:cNvPr id="4" name="Slide Number Placeholder 3">
            <a:extLst>
              <a:ext uri="{FF2B5EF4-FFF2-40B4-BE49-F238E27FC236}">
                <a16:creationId xmlns:a16="http://schemas.microsoft.com/office/drawing/2014/main" id="{93F364A0-E602-1C0F-ABF0-AD654D7FC850}"/>
              </a:ext>
            </a:extLst>
          </p:cNvPr>
          <p:cNvSpPr>
            <a:spLocks noGrp="1"/>
          </p:cNvSpPr>
          <p:nvPr>
            <p:ph type="sldNum" sz="quarter" idx="12"/>
          </p:nvPr>
        </p:nvSpPr>
        <p:spPr/>
        <p:txBody>
          <a:bodyPr/>
          <a:lstStyle/>
          <a:p>
            <a:fld id="{B82CCC60-E8CD-4174-8B1A-7DF615B22EEF}" type="slidenum">
              <a:rPr lang="en-US" smtClean="0"/>
              <a:pPr/>
              <a:t>1</a:t>
            </a:fld>
            <a:endParaRPr lang="en-US"/>
          </a:p>
        </p:txBody>
      </p:sp>
    </p:spTree>
    <p:extLst>
      <p:ext uri="{BB962C8B-B14F-4D97-AF65-F5344CB8AC3E}">
        <p14:creationId xmlns:p14="http://schemas.microsoft.com/office/powerpoint/2010/main" val="2290969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93CC5-F089-7B6F-131C-C16F6C9FAD69}"/>
              </a:ext>
            </a:extLst>
          </p:cNvPr>
          <p:cNvSpPr>
            <a:spLocks noGrp="1"/>
          </p:cNvSpPr>
          <p:nvPr>
            <p:ph type="title"/>
          </p:nvPr>
        </p:nvSpPr>
        <p:spPr/>
        <p:txBody>
          <a:bodyPr>
            <a:normAutofit fontScale="90000"/>
          </a:bodyPr>
          <a:lstStyle/>
          <a:p>
            <a:r>
              <a:rPr lang="en-US" dirty="0"/>
              <a:t>Common reference annotation databases</a:t>
            </a:r>
          </a:p>
        </p:txBody>
      </p:sp>
      <p:sp>
        <p:nvSpPr>
          <p:cNvPr id="4" name="Slide Number Placeholder 3">
            <a:extLst>
              <a:ext uri="{FF2B5EF4-FFF2-40B4-BE49-F238E27FC236}">
                <a16:creationId xmlns:a16="http://schemas.microsoft.com/office/drawing/2014/main" id="{2B72676A-6BD9-BA95-F734-CAC5B5F11A80}"/>
              </a:ext>
            </a:extLst>
          </p:cNvPr>
          <p:cNvSpPr>
            <a:spLocks noGrp="1"/>
          </p:cNvSpPr>
          <p:nvPr>
            <p:ph type="sldNum" sz="quarter" idx="12"/>
          </p:nvPr>
        </p:nvSpPr>
        <p:spPr/>
        <p:txBody>
          <a:bodyPr/>
          <a:lstStyle/>
          <a:p>
            <a:fld id="{B82CCC60-E8CD-4174-8B1A-7DF615B22EEF}" type="slidenum">
              <a:rPr lang="en-US" smtClean="0"/>
              <a:pPr/>
              <a:t>2</a:t>
            </a:fld>
            <a:endParaRPr lang="en-US"/>
          </a:p>
        </p:txBody>
      </p:sp>
      <p:pic>
        <p:nvPicPr>
          <p:cNvPr id="5" name="Content Placeholder 4">
            <a:extLst>
              <a:ext uri="{FF2B5EF4-FFF2-40B4-BE49-F238E27FC236}">
                <a16:creationId xmlns:a16="http://schemas.microsoft.com/office/drawing/2014/main" id="{5413609A-1B79-8C95-DF04-74C5B41AFF97}"/>
              </a:ext>
            </a:extLst>
          </p:cNvPr>
          <p:cNvPicPr>
            <a:picLocks noGrp="1" noChangeAspect="1"/>
          </p:cNvPicPr>
          <p:nvPr>
            <p:ph idx="1"/>
          </p:nvPr>
        </p:nvPicPr>
        <p:blipFill rotWithShape="1">
          <a:blip r:embed="rId2"/>
          <a:srcRect t="13551" b="3388"/>
          <a:stretch/>
        </p:blipFill>
        <p:spPr>
          <a:xfrm>
            <a:off x="863314" y="1697067"/>
            <a:ext cx="8280685" cy="5160933"/>
          </a:xfrm>
          <a:prstGeom prst="rect">
            <a:avLst/>
          </a:prstGeom>
        </p:spPr>
      </p:pic>
    </p:spTree>
    <p:extLst>
      <p:ext uri="{BB962C8B-B14F-4D97-AF65-F5344CB8AC3E}">
        <p14:creationId xmlns:p14="http://schemas.microsoft.com/office/powerpoint/2010/main" val="1248438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69B54-E036-D6E7-EE36-5CD76AC5F792}"/>
              </a:ext>
            </a:extLst>
          </p:cNvPr>
          <p:cNvSpPr>
            <a:spLocks noGrp="1"/>
          </p:cNvSpPr>
          <p:nvPr>
            <p:ph type="title"/>
          </p:nvPr>
        </p:nvSpPr>
        <p:spPr/>
        <p:txBody>
          <a:bodyPr>
            <a:normAutofit fontScale="90000"/>
          </a:bodyPr>
          <a:lstStyle/>
          <a:p>
            <a:r>
              <a:rPr lang="en-US" dirty="0"/>
              <a:t>Benchmark transcriptome</a:t>
            </a:r>
          </a:p>
        </p:txBody>
      </p:sp>
      <p:sp>
        <p:nvSpPr>
          <p:cNvPr id="3" name="Content Placeholder 2">
            <a:extLst>
              <a:ext uri="{FF2B5EF4-FFF2-40B4-BE49-F238E27FC236}">
                <a16:creationId xmlns:a16="http://schemas.microsoft.com/office/drawing/2014/main" id="{72435F73-7EFD-DF06-380A-5766C516EF3C}"/>
              </a:ext>
            </a:extLst>
          </p:cNvPr>
          <p:cNvSpPr>
            <a:spLocks noGrp="1"/>
          </p:cNvSpPr>
          <p:nvPr>
            <p:ph idx="1"/>
          </p:nvPr>
        </p:nvSpPr>
        <p:spPr>
          <a:xfrm>
            <a:off x="327259" y="1596540"/>
            <a:ext cx="11244161" cy="4948639"/>
          </a:xfrm>
        </p:spPr>
        <p:txBody>
          <a:bodyPr>
            <a:normAutofit fontScale="85000" lnSpcReduction="20000"/>
          </a:bodyPr>
          <a:lstStyle/>
          <a:p>
            <a:r>
              <a:rPr lang="en-US" dirty="0">
                <a:latin typeface="Calibri" panose="020F0502020204030204" pitchFamily="34" charset="0"/>
                <a:cs typeface="Calibri" panose="020F0502020204030204" pitchFamily="34" charset="0"/>
              </a:rPr>
              <a:t>We don’t have RNA-seq data from a transcriptome where all transcript sequences and expression patterns are known =&gt; simulate the sequencing of a given benchmark transcriptome to comprehensively assess all of the assembly errors.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Tools that can generate simulated reads modeling the errors and biases introduced by </a:t>
            </a:r>
          </a:p>
          <a:p>
            <a:pPr marL="285750" indent="-285750">
              <a:buFontTx/>
              <a:buChar char="-"/>
            </a:pPr>
            <a:r>
              <a:rPr lang="en-US" dirty="0">
                <a:latin typeface="Calibri" panose="020F0502020204030204" pitchFamily="34" charset="0"/>
                <a:cs typeface="Calibri" panose="020F0502020204030204" pitchFamily="34" charset="0"/>
              </a:rPr>
              <a:t>short Illumina reads: RSEM, </a:t>
            </a:r>
            <a:r>
              <a:rPr lang="en-US" dirty="0" err="1">
                <a:latin typeface="Calibri" panose="020F0502020204030204" pitchFamily="34" charset="0"/>
                <a:cs typeface="Calibri" panose="020F0502020204030204" pitchFamily="34" charset="0"/>
              </a:rPr>
              <a:t>FluxSimulator</a:t>
            </a:r>
            <a:r>
              <a:rPr lang="en-US" dirty="0">
                <a:latin typeface="Calibri" panose="020F0502020204030204" pitchFamily="34" charset="0"/>
                <a:cs typeface="Calibri" panose="020F0502020204030204" pitchFamily="34" charset="0"/>
              </a:rPr>
              <a:t>, Polyester</a:t>
            </a:r>
          </a:p>
          <a:p>
            <a:pPr marL="285750" indent="-285750">
              <a:buFontTx/>
              <a:buChar char="-"/>
            </a:pPr>
            <a:r>
              <a:rPr lang="en-US" dirty="0">
                <a:latin typeface="Calibri" panose="020F0502020204030204" pitchFamily="34" charset="0"/>
                <a:cs typeface="Calibri" panose="020F0502020204030204" pitchFamily="34" charset="0"/>
              </a:rPr>
              <a:t>long third- generation sequencing reads: PBSIM, Trans-</a:t>
            </a:r>
            <a:r>
              <a:rPr lang="en-US" dirty="0" err="1">
                <a:latin typeface="Calibri" panose="020F0502020204030204" pitchFamily="34" charset="0"/>
                <a:cs typeface="Calibri" panose="020F0502020204030204" pitchFamily="34" charset="0"/>
              </a:rPr>
              <a:t>NanoSim</a:t>
            </a:r>
            <a:r>
              <a:rPr lang="en-US" dirty="0">
                <a:latin typeface="Calibri" panose="020F0502020204030204" pitchFamily="34" charset="0"/>
                <a:cs typeface="Calibri" panose="020F0502020204030204" pitchFamily="34" charset="0"/>
              </a:rPr>
              <a:t> </a:t>
            </a:r>
          </a:p>
          <a:p>
            <a:pPr marL="285750" indent="-285750">
              <a:buFontTx/>
              <a:buChar char="-"/>
            </a:pP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Using simulated RNA-seq data allows the quantification of each of the following categories: </a:t>
            </a:r>
          </a:p>
          <a:p>
            <a:pPr marL="685800" lvl="1"/>
            <a:r>
              <a:rPr lang="en-US" dirty="0">
                <a:latin typeface="Calibri" panose="020F0502020204030204" pitchFamily="34" charset="0"/>
                <a:cs typeface="Calibri" panose="020F0502020204030204" pitchFamily="34" charset="0"/>
              </a:rPr>
              <a:t>correctly assembled sequences (true positives or TPs) </a:t>
            </a:r>
          </a:p>
          <a:p>
            <a:pPr marL="685800" lvl="1"/>
            <a:r>
              <a:rPr lang="en-US" dirty="0">
                <a:latin typeface="Calibri" panose="020F0502020204030204" pitchFamily="34" charset="0"/>
                <a:cs typeface="Calibri" panose="020F0502020204030204" pitchFamily="34" charset="0"/>
              </a:rPr>
              <a:t>sequences that are assembled with errors (false positives or FPs) </a:t>
            </a:r>
          </a:p>
          <a:p>
            <a:pPr marL="685800" lvl="1"/>
            <a:r>
              <a:rPr lang="en-US" dirty="0">
                <a:latin typeface="Calibri" panose="020F0502020204030204" pitchFamily="34" charset="0"/>
                <a:cs typeface="Calibri" panose="020F0502020204030204" pitchFamily="34" charset="0"/>
              </a:rPr>
              <a:t>sequences in the reference that are missing from the assembly (false negatives or FNs) </a:t>
            </a:r>
          </a:p>
          <a:p>
            <a:endParaRPr lang="en-US" dirty="0">
              <a:latin typeface="AdvTT6489ba6c"/>
            </a:endParaRPr>
          </a:p>
          <a:p>
            <a:endParaRPr lang="en-US" dirty="0">
              <a:latin typeface="AdvTT6489ba6c"/>
            </a:endParaRPr>
          </a:p>
          <a:p>
            <a:endParaRPr lang="en-US" dirty="0"/>
          </a:p>
        </p:txBody>
      </p:sp>
      <p:sp>
        <p:nvSpPr>
          <p:cNvPr id="4" name="Slide Number Placeholder 3">
            <a:extLst>
              <a:ext uri="{FF2B5EF4-FFF2-40B4-BE49-F238E27FC236}">
                <a16:creationId xmlns:a16="http://schemas.microsoft.com/office/drawing/2014/main" id="{8A1D15BB-2C5D-8F0F-2D0C-9EB1CE4B67AA}"/>
              </a:ext>
            </a:extLst>
          </p:cNvPr>
          <p:cNvSpPr>
            <a:spLocks noGrp="1"/>
          </p:cNvSpPr>
          <p:nvPr>
            <p:ph type="sldNum" sz="quarter" idx="12"/>
          </p:nvPr>
        </p:nvSpPr>
        <p:spPr/>
        <p:txBody>
          <a:bodyPr/>
          <a:lstStyle/>
          <a:p>
            <a:fld id="{B82CCC60-E8CD-4174-8B1A-7DF615B22EEF}" type="slidenum">
              <a:rPr lang="en-US" smtClean="0"/>
              <a:pPr/>
              <a:t>3</a:t>
            </a:fld>
            <a:endParaRPr lang="en-US"/>
          </a:p>
        </p:txBody>
      </p:sp>
    </p:spTree>
    <p:extLst>
      <p:ext uri="{BB962C8B-B14F-4D97-AF65-F5344CB8AC3E}">
        <p14:creationId xmlns:p14="http://schemas.microsoft.com/office/powerpoint/2010/main" val="1495454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CE6B2-F882-3B21-1A86-9CAA7D15E62B}"/>
              </a:ext>
            </a:extLst>
          </p:cNvPr>
          <p:cNvSpPr>
            <a:spLocks noGrp="1"/>
          </p:cNvSpPr>
          <p:nvPr>
            <p:ph type="title"/>
          </p:nvPr>
        </p:nvSpPr>
        <p:spPr/>
        <p:txBody>
          <a:bodyPr>
            <a:normAutofit fontScale="90000"/>
          </a:bodyPr>
          <a:lstStyle/>
          <a:p>
            <a:r>
              <a:rPr lang="en-US" dirty="0"/>
              <a:t>Transcriptome assembly metrics</a:t>
            </a:r>
          </a:p>
        </p:txBody>
      </p:sp>
      <p:sp>
        <p:nvSpPr>
          <p:cNvPr id="3" name="Content Placeholder 2">
            <a:extLst>
              <a:ext uri="{FF2B5EF4-FFF2-40B4-BE49-F238E27FC236}">
                <a16:creationId xmlns:a16="http://schemas.microsoft.com/office/drawing/2014/main" id="{7002F20C-6A2D-8878-3CD6-8435E306428F}"/>
              </a:ext>
            </a:extLst>
          </p:cNvPr>
          <p:cNvSpPr>
            <a:spLocks noGrp="1"/>
          </p:cNvSpPr>
          <p:nvPr>
            <p:ph idx="1"/>
          </p:nvPr>
        </p:nvSpPr>
        <p:spPr>
          <a:xfrm>
            <a:off x="356135" y="1596540"/>
            <a:ext cx="11215285" cy="5124936"/>
          </a:xfrm>
        </p:spPr>
        <p:txBody>
          <a:bodyPr>
            <a:normAutofit lnSpcReduction="10000"/>
          </a:bodyPr>
          <a:lstStyle/>
          <a:p>
            <a:r>
              <a:rPr lang="en-US" sz="3200" dirty="0">
                <a:latin typeface="AdvTT6489ba6c"/>
              </a:rPr>
              <a:t>P – positive</a:t>
            </a:r>
          </a:p>
          <a:p>
            <a:r>
              <a:rPr lang="en-US" sz="3200" dirty="0">
                <a:latin typeface="AdvTT6489ba6c"/>
              </a:rPr>
              <a:t>N – negative</a:t>
            </a:r>
          </a:p>
          <a:p>
            <a:endParaRPr lang="en-US" dirty="0">
              <a:latin typeface="AdvTT6489ba6c"/>
            </a:endParaRPr>
          </a:p>
          <a:p>
            <a:r>
              <a:rPr lang="en-US" dirty="0">
                <a:latin typeface="AdvTT6489ba6c"/>
                <a:sym typeface="Wingdings" panose="05000000000000000000" pitchFamily="2" charset="2"/>
              </a:rPr>
              <a:t> </a:t>
            </a:r>
            <a:r>
              <a:rPr lang="en-US" dirty="0">
                <a:latin typeface="AdvTT6489ba6c"/>
              </a:rPr>
              <a:t>TP – True Positive, we found correct transcript</a:t>
            </a:r>
          </a:p>
          <a:p>
            <a:r>
              <a:rPr lang="en-US" dirty="0">
                <a:latin typeface="AdvTT6489ba6c"/>
                <a:sym typeface="Wingdings" panose="05000000000000000000" pitchFamily="2" charset="2"/>
              </a:rPr>
              <a:t> </a:t>
            </a:r>
            <a:r>
              <a:rPr lang="en-US" dirty="0">
                <a:latin typeface="AdvTT6489ba6c"/>
              </a:rPr>
              <a:t>TN – True Negative, we did not find transcript where there was none</a:t>
            </a:r>
          </a:p>
          <a:p>
            <a:r>
              <a:rPr lang="en-US" dirty="0">
                <a:latin typeface="AdvTT6489ba6c"/>
                <a:sym typeface="Wingdings" panose="05000000000000000000" pitchFamily="2" charset="2"/>
              </a:rPr>
              <a:t> </a:t>
            </a:r>
            <a:r>
              <a:rPr lang="en-US" dirty="0">
                <a:latin typeface="AdvTT6489ba6c"/>
              </a:rPr>
              <a:t>FP – False Positive, we found transcript where there was none</a:t>
            </a:r>
          </a:p>
          <a:p>
            <a:r>
              <a:rPr lang="en-US" dirty="0">
                <a:latin typeface="AdvTT6489ba6c"/>
                <a:sym typeface="Wingdings" panose="05000000000000000000" pitchFamily="2" charset="2"/>
              </a:rPr>
              <a:t> </a:t>
            </a:r>
            <a:r>
              <a:rPr lang="en-US" dirty="0">
                <a:latin typeface="AdvTT6489ba6c"/>
              </a:rPr>
              <a:t>FN – False Negative, we missed transcript</a:t>
            </a:r>
          </a:p>
          <a:p>
            <a:endParaRPr lang="en-US" sz="3200" dirty="0">
              <a:latin typeface="AdvTT6489ba6c"/>
            </a:endParaRPr>
          </a:p>
          <a:p>
            <a:r>
              <a:rPr lang="en-US" sz="3200" dirty="0">
                <a:latin typeface="AdvTT6489ba6c"/>
              </a:rPr>
              <a:t>P = TP + FN</a:t>
            </a:r>
          </a:p>
          <a:p>
            <a:r>
              <a:rPr lang="en-US" sz="3200" dirty="0">
                <a:latin typeface="AdvTT6489ba6c"/>
              </a:rPr>
              <a:t>N = TN + FP</a:t>
            </a:r>
            <a:endParaRPr lang="en-US" dirty="0">
              <a:latin typeface="AdvTT6489ba6c"/>
            </a:endParaRPr>
          </a:p>
          <a:p>
            <a:endParaRPr lang="en-US" dirty="0"/>
          </a:p>
        </p:txBody>
      </p:sp>
      <p:sp>
        <p:nvSpPr>
          <p:cNvPr id="4" name="Slide Number Placeholder 3">
            <a:extLst>
              <a:ext uri="{FF2B5EF4-FFF2-40B4-BE49-F238E27FC236}">
                <a16:creationId xmlns:a16="http://schemas.microsoft.com/office/drawing/2014/main" id="{F8E564B1-B857-8709-603E-D3E4F0D36F69}"/>
              </a:ext>
            </a:extLst>
          </p:cNvPr>
          <p:cNvSpPr>
            <a:spLocks noGrp="1"/>
          </p:cNvSpPr>
          <p:nvPr>
            <p:ph type="sldNum" sz="quarter" idx="12"/>
          </p:nvPr>
        </p:nvSpPr>
        <p:spPr/>
        <p:txBody>
          <a:bodyPr/>
          <a:lstStyle/>
          <a:p>
            <a:fld id="{B82CCC60-E8CD-4174-8B1A-7DF615B22EEF}" type="slidenum">
              <a:rPr lang="en-US" smtClean="0"/>
              <a:pPr/>
              <a:t>4</a:t>
            </a:fld>
            <a:endParaRPr lang="en-US"/>
          </a:p>
        </p:txBody>
      </p:sp>
    </p:spTree>
    <p:extLst>
      <p:ext uri="{BB962C8B-B14F-4D97-AF65-F5344CB8AC3E}">
        <p14:creationId xmlns:p14="http://schemas.microsoft.com/office/powerpoint/2010/main" val="3625668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1D6E1-3735-EBF6-1705-E84B594E84DC}"/>
              </a:ext>
            </a:extLst>
          </p:cNvPr>
          <p:cNvSpPr>
            <a:spLocks noGrp="1"/>
          </p:cNvSpPr>
          <p:nvPr>
            <p:ph type="title"/>
          </p:nvPr>
        </p:nvSpPr>
        <p:spPr/>
        <p:txBody>
          <a:bodyPr>
            <a:normAutofit fontScale="90000"/>
          </a:bodyPr>
          <a:lstStyle/>
          <a:p>
            <a:r>
              <a:rPr lang="en-US" dirty="0"/>
              <a:t>Assembly metrics based on benchmark</a:t>
            </a:r>
          </a:p>
        </p:txBody>
      </p:sp>
      <p:sp>
        <p:nvSpPr>
          <p:cNvPr id="4" name="Slide Number Placeholder 3">
            <a:extLst>
              <a:ext uri="{FF2B5EF4-FFF2-40B4-BE49-F238E27FC236}">
                <a16:creationId xmlns:a16="http://schemas.microsoft.com/office/drawing/2014/main" id="{E113286E-0EEC-5FEA-0A59-B26D6B5E96C7}"/>
              </a:ext>
            </a:extLst>
          </p:cNvPr>
          <p:cNvSpPr>
            <a:spLocks noGrp="1"/>
          </p:cNvSpPr>
          <p:nvPr>
            <p:ph type="sldNum" sz="quarter" idx="12"/>
          </p:nvPr>
        </p:nvSpPr>
        <p:spPr/>
        <p:txBody>
          <a:bodyPr/>
          <a:lstStyle/>
          <a:p>
            <a:fld id="{B82CCC60-E8CD-4174-8B1A-7DF615B22EEF}" type="slidenum">
              <a:rPr lang="en-US" smtClean="0"/>
              <a:pPr/>
              <a:t>5</a:t>
            </a:fld>
            <a:endParaRPr lang="en-US"/>
          </a:p>
        </p:txBody>
      </p:sp>
      <p:pic>
        <p:nvPicPr>
          <p:cNvPr id="5" name="Picture 4">
            <a:extLst>
              <a:ext uri="{FF2B5EF4-FFF2-40B4-BE49-F238E27FC236}">
                <a16:creationId xmlns:a16="http://schemas.microsoft.com/office/drawing/2014/main" id="{5E0A08B4-3B03-1666-7D11-39FD9AC9952C}"/>
              </a:ext>
            </a:extLst>
          </p:cNvPr>
          <p:cNvPicPr>
            <a:picLocks noChangeAspect="1"/>
          </p:cNvPicPr>
          <p:nvPr/>
        </p:nvPicPr>
        <p:blipFill rotWithShape="1">
          <a:blip r:embed="rId2"/>
          <a:srcRect t="2979"/>
          <a:stretch/>
        </p:blipFill>
        <p:spPr>
          <a:xfrm>
            <a:off x="223405" y="1864663"/>
            <a:ext cx="11745190" cy="4856813"/>
          </a:xfrm>
          <a:prstGeom prst="rect">
            <a:avLst/>
          </a:prstGeom>
        </p:spPr>
      </p:pic>
      <p:sp>
        <p:nvSpPr>
          <p:cNvPr id="6" name="Rectangle 5">
            <a:extLst>
              <a:ext uri="{FF2B5EF4-FFF2-40B4-BE49-F238E27FC236}">
                <a16:creationId xmlns:a16="http://schemas.microsoft.com/office/drawing/2014/main" id="{89B1DDE2-F9EA-BD6D-F6DA-BE187BCA782F}"/>
              </a:ext>
            </a:extLst>
          </p:cNvPr>
          <p:cNvSpPr/>
          <p:nvPr/>
        </p:nvSpPr>
        <p:spPr bwMode="auto">
          <a:xfrm>
            <a:off x="8315422" y="2113890"/>
            <a:ext cx="2105569" cy="1004341"/>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3200" dirty="0">
                <a:latin typeface="AdvTT6489ba6c"/>
              </a:rPr>
              <a:t>P = TP + FN</a:t>
            </a:r>
          </a:p>
          <a:p>
            <a:r>
              <a:rPr lang="en-US" sz="3200" dirty="0">
                <a:latin typeface="AdvTT6489ba6c"/>
              </a:rPr>
              <a:t>N = TN + FP</a:t>
            </a:r>
          </a:p>
        </p:txBody>
      </p:sp>
    </p:spTree>
    <p:extLst>
      <p:ext uri="{BB962C8B-B14F-4D97-AF65-F5344CB8AC3E}">
        <p14:creationId xmlns:p14="http://schemas.microsoft.com/office/powerpoint/2010/main" val="2230780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54682-97AD-1D8D-F2D1-E5F28017AE25}"/>
              </a:ext>
            </a:extLst>
          </p:cNvPr>
          <p:cNvSpPr>
            <a:spLocks noGrp="1"/>
          </p:cNvSpPr>
          <p:nvPr>
            <p:ph type="title"/>
          </p:nvPr>
        </p:nvSpPr>
        <p:spPr/>
        <p:txBody>
          <a:bodyPr>
            <a:normAutofit fontScale="90000"/>
          </a:bodyPr>
          <a:lstStyle/>
          <a:p>
            <a:r>
              <a:rPr lang="en-US" dirty="0"/>
              <a:t>Measures of correctness</a:t>
            </a:r>
          </a:p>
        </p:txBody>
      </p:sp>
      <p:sp>
        <p:nvSpPr>
          <p:cNvPr id="3" name="Content Placeholder 2">
            <a:extLst>
              <a:ext uri="{FF2B5EF4-FFF2-40B4-BE49-F238E27FC236}">
                <a16:creationId xmlns:a16="http://schemas.microsoft.com/office/drawing/2014/main" id="{FF3B533E-098A-AB07-5BD0-A182675FCD3A}"/>
              </a:ext>
            </a:extLst>
          </p:cNvPr>
          <p:cNvSpPr>
            <a:spLocks noGrp="1"/>
          </p:cNvSpPr>
          <p:nvPr>
            <p:ph idx="1"/>
          </p:nvPr>
        </p:nvSpPr>
        <p:spPr>
          <a:xfrm>
            <a:off x="194359" y="1615790"/>
            <a:ext cx="10972800" cy="3918803"/>
          </a:xfrm>
        </p:spPr>
        <p:txBody>
          <a:bodyPr/>
          <a:lstStyle/>
          <a:p>
            <a:r>
              <a:rPr lang="en-US" dirty="0"/>
              <a:t>Sensitivity (Recall), Specificity </a:t>
            </a:r>
            <a:br>
              <a:rPr lang="en-US" dirty="0"/>
            </a:br>
            <a:r>
              <a:rPr lang="en-US" dirty="0"/>
              <a:t>and Precision</a:t>
            </a:r>
          </a:p>
          <a:p>
            <a:r>
              <a:rPr lang="en-US" dirty="0"/>
              <a:t>Image credit: Wikipedia</a:t>
            </a:r>
          </a:p>
        </p:txBody>
      </p:sp>
      <p:sp>
        <p:nvSpPr>
          <p:cNvPr id="4" name="Slide Number Placeholder 3">
            <a:extLst>
              <a:ext uri="{FF2B5EF4-FFF2-40B4-BE49-F238E27FC236}">
                <a16:creationId xmlns:a16="http://schemas.microsoft.com/office/drawing/2014/main" id="{DA292D60-DA5E-14F9-0F07-0CB969D6706D}"/>
              </a:ext>
            </a:extLst>
          </p:cNvPr>
          <p:cNvSpPr>
            <a:spLocks noGrp="1"/>
          </p:cNvSpPr>
          <p:nvPr>
            <p:ph type="sldNum" sz="quarter" idx="12"/>
          </p:nvPr>
        </p:nvSpPr>
        <p:spPr/>
        <p:txBody>
          <a:bodyPr/>
          <a:lstStyle/>
          <a:p>
            <a:fld id="{B82CCC60-E8CD-4174-8B1A-7DF615B22EEF}" type="slidenum">
              <a:rPr lang="en-US" smtClean="0"/>
              <a:pPr/>
              <a:t>6</a:t>
            </a:fld>
            <a:endParaRPr lang="en-US"/>
          </a:p>
        </p:txBody>
      </p:sp>
      <p:pic>
        <p:nvPicPr>
          <p:cNvPr id="5" name="Picture 4">
            <a:extLst>
              <a:ext uri="{FF2B5EF4-FFF2-40B4-BE49-F238E27FC236}">
                <a16:creationId xmlns:a16="http://schemas.microsoft.com/office/drawing/2014/main" id="{F3340996-5475-CEF7-03C4-9CB816CECE89}"/>
              </a:ext>
            </a:extLst>
          </p:cNvPr>
          <p:cNvPicPr>
            <a:picLocks noChangeAspect="1"/>
          </p:cNvPicPr>
          <p:nvPr/>
        </p:nvPicPr>
        <p:blipFill>
          <a:blip r:embed="rId2"/>
          <a:stretch>
            <a:fillRect/>
          </a:stretch>
        </p:blipFill>
        <p:spPr>
          <a:xfrm>
            <a:off x="8653094" y="-13861"/>
            <a:ext cx="3538906" cy="6735337"/>
          </a:xfrm>
          <a:prstGeom prst="rect">
            <a:avLst/>
          </a:prstGeom>
        </p:spPr>
      </p:pic>
      <p:pic>
        <p:nvPicPr>
          <p:cNvPr id="6" name="Picture 5">
            <a:extLst>
              <a:ext uri="{FF2B5EF4-FFF2-40B4-BE49-F238E27FC236}">
                <a16:creationId xmlns:a16="http://schemas.microsoft.com/office/drawing/2014/main" id="{DEA48554-3C2E-C870-63A6-4244E37829CF}"/>
              </a:ext>
            </a:extLst>
          </p:cNvPr>
          <p:cNvPicPr>
            <a:picLocks noChangeAspect="1"/>
          </p:cNvPicPr>
          <p:nvPr/>
        </p:nvPicPr>
        <p:blipFill>
          <a:blip r:embed="rId3"/>
          <a:stretch>
            <a:fillRect/>
          </a:stretch>
        </p:blipFill>
        <p:spPr>
          <a:xfrm>
            <a:off x="5216423" y="-13861"/>
            <a:ext cx="3436671" cy="6858000"/>
          </a:xfrm>
          <a:prstGeom prst="rect">
            <a:avLst/>
          </a:prstGeom>
        </p:spPr>
      </p:pic>
    </p:spTree>
    <p:extLst>
      <p:ext uri="{BB962C8B-B14F-4D97-AF65-F5344CB8AC3E}">
        <p14:creationId xmlns:p14="http://schemas.microsoft.com/office/powerpoint/2010/main" val="664404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32CB-7DC8-E108-E32D-654A3AC76EE4}"/>
              </a:ext>
            </a:extLst>
          </p:cNvPr>
          <p:cNvSpPr>
            <a:spLocks noGrp="1"/>
          </p:cNvSpPr>
          <p:nvPr>
            <p:ph type="title"/>
          </p:nvPr>
        </p:nvSpPr>
        <p:spPr/>
        <p:txBody>
          <a:bodyPr>
            <a:normAutofit fontScale="90000"/>
          </a:bodyPr>
          <a:lstStyle/>
          <a:p>
            <a:r>
              <a:rPr lang="en-US" dirty="0"/>
              <a:t>Sensitivity and Specificity</a:t>
            </a:r>
          </a:p>
        </p:txBody>
      </p:sp>
      <p:sp>
        <p:nvSpPr>
          <p:cNvPr id="4" name="Slide Number Placeholder 3">
            <a:extLst>
              <a:ext uri="{FF2B5EF4-FFF2-40B4-BE49-F238E27FC236}">
                <a16:creationId xmlns:a16="http://schemas.microsoft.com/office/drawing/2014/main" id="{2F6C5A7E-4A1D-EB66-7BAD-92F3F8D03BA0}"/>
              </a:ext>
            </a:extLst>
          </p:cNvPr>
          <p:cNvSpPr>
            <a:spLocks noGrp="1"/>
          </p:cNvSpPr>
          <p:nvPr>
            <p:ph type="sldNum" sz="quarter" idx="12"/>
          </p:nvPr>
        </p:nvSpPr>
        <p:spPr/>
        <p:txBody>
          <a:bodyPr/>
          <a:lstStyle/>
          <a:p>
            <a:fld id="{B82CCC60-E8CD-4174-8B1A-7DF615B22EEF}" type="slidenum">
              <a:rPr lang="en-US" smtClean="0"/>
              <a:pPr/>
              <a:t>7</a:t>
            </a:fld>
            <a:endParaRPr lang="en-US"/>
          </a:p>
        </p:txBody>
      </p:sp>
      <p:pic>
        <p:nvPicPr>
          <p:cNvPr id="5" name="Content Placeholder 4">
            <a:extLst>
              <a:ext uri="{FF2B5EF4-FFF2-40B4-BE49-F238E27FC236}">
                <a16:creationId xmlns:a16="http://schemas.microsoft.com/office/drawing/2014/main" id="{0955CE53-1B01-98F3-BE32-FB789CB90F63}"/>
              </a:ext>
            </a:extLst>
          </p:cNvPr>
          <p:cNvPicPr>
            <a:picLocks noGrp="1" noChangeAspect="1"/>
          </p:cNvPicPr>
          <p:nvPr>
            <p:ph idx="1"/>
          </p:nvPr>
        </p:nvPicPr>
        <p:blipFill>
          <a:blip r:embed="rId2"/>
          <a:stretch>
            <a:fillRect/>
          </a:stretch>
        </p:blipFill>
        <p:spPr>
          <a:xfrm>
            <a:off x="992422" y="2019417"/>
            <a:ext cx="9010650" cy="3400425"/>
          </a:xfrm>
          <a:prstGeom prst="rect">
            <a:avLst/>
          </a:prstGeom>
        </p:spPr>
      </p:pic>
    </p:spTree>
    <p:extLst>
      <p:ext uri="{BB962C8B-B14F-4D97-AF65-F5344CB8AC3E}">
        <p14:creationId xmlns:p14="http://schemas.microsoft.com/office/powerpoint/2010/main" val="3256696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DF3ED-0C93-A2F0-7C92-D36B9BFB1431}"/>
              </a:ext>
            </a:extLst>
          </p:cNvPr>
          <p:cNvSpPr>
            <a:spLocks noGrp="1"/>
          </p:cNvSpPr>
          <p:nvPr>
            <p:ph type="title"/>
          </p:nvPr>
        </p:nvSpPr>
        <p:spPr/>
        <p:txBody>
          <a:bodyPr>
            <a:normAutofit fontScale="90000"/>
          </a:bodyPr>
          <a:lstStyle/>
          <a:p>
            <a:r>
              <a:rPr lang="en-US" dirty="0"/>
              <a:t>Nucleotide level accuracy</a:t>
            </a:r>
          </a:p>
        </p:txBody>
      </p:sp>
      <p:sp>
        <p:nvSpPr>
          <p:cNvPr id="4" name="Slide Number Placeholder 3">
            <a:extLst>
              <a:ext uri="{FF2B5EF4-FFF2-40B4-BE49-F238E27FC236}">
                <a16:creationId xmlns:a16="http://schemas.microsoft.com/office/drawing/2014/main" id="{CCD86338-5554-BDC7-9E3F-68C26CBD76C3}"/>
              </a:ext>
            </a:extLst>
          </p:cNvPr>
          <p:cNvSpPr>
            <a:spLocks noGrp="1"/>
          </p:cNvSpPr>
          <p:nvPr>
            <p:ph type="sldNum" sz="quarter" idx="12"/>
          </p:nvPr>
        </p:nvSpPr>
        <p:spPr/>
        <p:txBody>
          <a:bodyPr/>
          <a:lstStyle/>
          <a:p>
            <a:fld id="{B82CCC60-E8CD-4174-8B1A-7DF615B22EEF}" type="slidenum">
              <a:rPr lang="en-US" smtClean="0"/>
              <a:pPr/>
              <a:t>8</a:t>
            </a:fld>
            <a:endParaRPr lang="en-US"/>
          </a:p>
        </p:txBody>
      </p:sp>
      <p:graphicFrame>
        <p:nvGraphicFramePr>
          <p:cNvPr id="5" name="Object 4">
            <a:extLst>
              <a:ext uri="{FF2B5EF4-FFF2-40B4-BE49-F238E27FC236}">
                <a16:creationId xmlns:a16="http://schemas.microsoft.com/office/drawing/2014/main" id="{208140D2-4393-DBCF-C439-64B39E298A33}"/>
              </a:ext>
            </a:extLst>
          </p:cNvPr>
          <p:cNvGraphicFramePr>
            <a:graphicFrameLocks noChangeAspect="1"/>
          </p:cNvGraphicFramePr>
          <p:nvPr>
            <p:extLst>
              <p:ext uri="{D42A27DB-BD31-4B8C-83A1-F6EECF244321}">
                <p14:modId xmlns:p14="http://schemas.microsoft.com/office/powerpoint/2010/main" val="79109728"/>
              </p:ext>
            </p:extLst>
          </p:nvPr>
        </p:nvGraphicFramePr>
        <p:xfrm>
          <a:off x="5497620" y="3980705"/>
          <a:ext cx="1371600" cy="698500"/>
        </p:xfrm>
        <a:graphic>
          <a:graphicData uri="http://schemas.openxmlformats.org/presentationml/2006/ole">
            <mc:AlternateContent xmlns:mc="http://schemas.openxmlformats.org/markup-compatibility/2006">
              <mc:Choice xmlns:v="urn:schemas-microsoft-com:vml" Requires="v">
                <p:oleObj name="Equation" r:id="rId2" imgW="21361400" imgH="9067800" progId="Equation.3">
                  <p:embed/>
                </p:oleObj>
              </mc:Choice>
              <mc:Fallback>
                <p:oleObj name="Equation" r:id="rId2" imgW="21361400" imgH="9067800" progId="Equation.3">
                  <p:embed/>
                  <p:pic>
                    <p:nvPicPr>
                      <p:cNvPr id="5" name="Object 4">
                        <a:extLst>
                          <a:ext uri="{FF2B5EF4-FFF2-40B4-BE49-F238E27FC236}">
                            <a16:creationId xmlns:a16="http://schemas.microsoft.com/office/drawing/2014/main" id="{208140D2-4393-DBCF-C439-64B39E298A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7620" y="3980705"/>
                        <a:ext cx="1371600" cy="698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5">
            <a:extLst>
              <a:ext uri="{FF2B5EF4-FFF2-40B4-BE49-F238E27FC236}">
                <a16:creationId xmlns:a16="http://schemas.microsoft.com/office/drawing/2014/main" id="{9B119489-6150-7749-D39C-74A80848ED84}"/>
              </a:ext>
            </a:extLst>
          </p:cNvPr>
          <p:cNvSpPr>
            <a:spLocks noChangeShapeType="1"/>
          </p:cNvSpPr>
          <p:nvPr/>
        </p:nvSpPr>
        <p:spPr bwMode="auto">
          <a:xfrm>
            <a:off x="2264895" y="2252662"/>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6">
            <a:extLst>
              <a:ext uri="{FF2B5EF4-FFF2-40B4-BE49-F238E27FC236}">
                <a16:creationId xmlns:a16="http://schemas.microsoft.com/office/drawing/2014/main" id="{3AD550BB-08C5-35FF-EA14-0CA67B6013B1}"/>
              </a:ext>
            </a:extLst>
          </p:cNvPr>
          <p:cNvSpPr>
            <a:spLocks noChangeShapeType="1"/>
          </p:cNvSpPr>
          <p:nvPr/>
        </p:nvSpPr>
        <p:spPr bwMode="auto">
          <a:xfrm>
            <a:off x="2264895" y="2786062"/>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7">
            <a:extLst>
              <a:ext uri="{FF2B5EF4-FFF2-40B4-BE49-F238E27FC236}">
                <a16:creationId xmlns:a16="http://schemas.microsoft.com/office/drawing/2014/main" id="{C1B63340-741D-2AC4-F048-F88FE0A6102A}"/>
              </a:ext>
            </a:extLst>
          </p:cNvPr>
          <p:cNvSpPr>
            <a:spLocks noChangeShapeType="1"/>
          </p:cNvSpPr>
          <p:nvPr/>
        </p:nvSpPr>
        <p:spPr bwMode="auto">
          <a:xfrm>
            <a:off x="2264895" y="3319462"/>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 name="Rectangle 8">
            <a:extLst>
              <a:ext uri="{FF2B5EF4-FFF2-40B4-BE49-F238E27FC236}">
                <a16:creationId xmlns:a16="http://schemas.microsoft.com/office/drawing/2014/main" id="{57DA34F9-E4D3-B4B8-F5B2-75DC03E337F1}"/>
              </a:ext>
            </a:extLst>
          </p:cNvPr>
          <p:cNvSpPr>
            <a:spLocks noChangeArrowheads="1"/>
          </p:cNvSpPr>
          <p:nvPr/>
        </p:nvSpPr>
        <p:spPr bwMode="auto">
          <a:xfrm>
            <a:off x="3271370" y="2640012"/>
            <a:ext cx="1968500" cy="215900"/>
          </a:xfrm>
          <a:prstGeom prst="rect">
            <a:avLst/>
          </a:prstGeom>
          <a:solidFill>
            <a:srgbClr val="32CC6D"/>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0" name="Rectangle 9">
            <a:extLst>
              <a:ext uri="{FF2B5EF4-FFF2-40B4-BE49-F238E27FC236}">
                <a16:creationId xmlns:a16="http://schemas.microsoft.com/office/drawing/2014/main" id="{84A41D8E-530A-1AA8-FE30-2786E4B96090}"/>
              </a:ext>
            </a:extLst>
          </p:cNvPr>
          <p:cNvSpPr>
            <a:spLocks noChangeArrowheads="1"/>
          </p:cNvSpPr>
          <p:nvPr/>
        </p:nvSpPr>
        <p:spPr bwMode="auto">
          <a:xfrm>
            <a:off x="6547970" y="2640012"/>
            <a:ext cx="2425700" cy="215900"/>
          </a:xfrm>
          <a:prstGeom prst="rect">
            <a:avLst/>
          </a:prstGeom>
          <a:solidFill>
            <a:srgbClr val="32CC6D"/>
          </a:solidFill>
          <a:ln w="12700">
            <a:solidFill>
              <a:srgbClr val="33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1" name="Rectangle 10">
            <a:extLst>
              <a:ext uri="{FF2B5EF4-FFF2-40B4-BE49-F238E27FC236}">
                <a16:creationId xmlns:a16="http://schemas.microsoft.com/office/drawing/2014/main" id="{4647C44C-1CEA-BA8A-8B5C-CE9565D792C2}"/>
              </a:ext>
            </a:extLst>
          </p:cNvPr>
          <p:cNvSpPr>
            <a:spLocks noChangeArrowheads="1"/>
          </p:cNvSpPr>
          <p:nvPr/>
        </p:nvSpPr>
        <p:spPr bwMode="auto">
          <a:xfrm>
            <a:off x="3758550" y="3173412"/>
            <a:ext cx="1816100" cy="215900"/>
          </a:xfrm>
          <a:prstGeom prst="rect">
            <a:avLst/>
          </a:prstGeom>
          <a:solidFill>
            <a:srgbClr val="3399FF"/>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2" name="Rectangle 11">
            <a:extLst>
              <a:ext uri="{FF2B5EF4-FFF2-40B4-BE49-F238E27FC236}">
                <a16:creationId xmlns:a16="http://schemas.microsoft.com/office/drawing/2014/main" id="{97EC20A2-7437-0169-F5C5-A7895D084EEB}"/>
              </a:ext>
            </a:extLst>
          </p:cNvPr>
          <p:cNvSpPr>
            <a:spLocks noChangeArrowheads="1"/>
          </p:cNvSpPr>
          <p:nvPr/>
        </p:nvSpPr>
        <p:spPr bwMode="auto">
          <a:xfrm>
            <a:off x="7005170" y="3173412"/>
            <a:ext cx="1663700" cy="215900"/>
          </a:xfrm>
          <a:prstGeom prst="rect">
            <a:avLst/>
          </a:prstGeom>
          <a:solidFill>
            <a:srgbClr val="3399FF"/>
          </a:solidFill>
          <a:ln w="12700">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3" name="Line 12">
            <a:extLst>
              <a:ext uri="{FF2B5EF4-FFF2-40B4-BE49-F238E27FC236}">
                <a16:creationId xmlns:a16="http://schemas.microsoft.com/office/drawing/2014/main" id="{5916501D-EE00-876C-E64E-77946EC4B9F1}"/>
              </a:ext>
            </a:extLst>
          </p:cNvPr>
          <p:cNvSpPr>
            <a:spLocks noChangeShapeType="1"/>
          </p:cNvSpPr>
          <p:nvPr/>
        </p:nvSpPr>
        <p:spPr bwMode="auto">
          <a:xfrm flipV="1">
            <a:off x="2274420" y="1789112"/>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 name="Line 13">
            <a:extLst>
              <a:ext uri="{FF2B5EF4-FFF2-40B4-BE49-F238E27FC236}">
                <a16:creationId xmlns:a16="http://schemas.microsoft.com/office/drawing/2014/main" id="{D01BFB7B-EB1B-8C8B-C78A-67BC6DAB3892}"/>
              </a:ext>
            </a:extLst>
          </p:cNvPr>
          <p:cNvSpPr>
            <a:spLocks noChangeShapeType="1"/>
          </p:cNvSpPr>
          <p:nvPr/>
        </p:nvSpPr>
        <p:spPr bwMode="auto">
          <a:xfrm flipV="1">
            <a:off x="5246402" y="177323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 name="Line 14">
            <a:extLst>
              <a:ext uri="{FF2B5EF4-FFF2-40B4-BE49-F238E27FC236}">
                <a16:creationId xmlns:a16="http://schemas.microsoft.com/office/drawing/2014/main" id="{8C0B0E1A-AE8D-E75C-C19C-1BA002EDE701}"/>
              </a:ext>
            </a:extLst>
          </p:cNvPr>
          <p:cNvSpPr>
            <a:spLocks noChangeShapeType="1"/>
          </p:cNvSpPr>
          <p:nvPr/>
        </p:nvSpPr>
        <p:spPr bwMode="auto">
          <a:xfrm flipV="1">
            <a:off x="5581885" y="177323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Line 15">
            <a:extLst>
              <a:ext uri="{FF2B5EF4-FFF2-40B4-BE49-F238E27FC236}">
                <a16:creationId xmlns:a16="http://schemas.microsoft.com/office/drawing/2014/main" id="{1629F53C-C68A-5C71-B189-403048FE94C6}"/>
              </a:ext>
            </a:extLst>
          </p:cNvPr>
          <p:cNvSpPr>
            <a:spLocks noChangeShapeType="1"/>
          </p:cNvSpPr>
          <p:nvPr/>
        </p:nvSpPr>
        <p:spPr bwMode="auto">
          <a:xfrm flipV="1">
            <a:off x="6536857" y="1782762"/>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16">
            <a:extLst>
              <a:ext uri="{FF2B5EF4-FFF2-40B4-BE49-F238E27FC236}">
                <a16:creationId xmlns:a16="http://schemas.microsoft.com/office/drawing/2014/main" id="{214A4F89-4FE1-97FD-2A5F-25BB50345D7D}"/>
              </a:ext>
            </a:extLst>
          </p:cNvPr>
          <p:cNvSpPr>
            <a:spLocks noChangeShapeType="1"/>
          </p:cNvSpPr>
          <p:nvPr/>
        </p:nvSpPr>
        <p:spPr bwMode="auto">
          <a:xfrm flipV="1">
            <a:off x="6992470" y="1774824"/>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17">
            <a:extLst>
              <a:ext uri="{FF2B5EF4-FFF2-40B4-BE49-F238E27FC236}">
                <a16:creationId xmlns:a16="http://schemas.microsoft.com/office/drawing/2014/main" id="{0707ADB7-7EF2-66CB-9113-81A581913F76}"/>
              </a:ext>
            </a:extLst>
          </p:cNvPr>
          <p:cNvSpPr>
            <a:spLocks noChangeShapeType="1"/>
          </p:cNvSpPr>
          <p:nvPr/>
        </p:nvSpPr>
        <p:spPr bwMode="auto">
          <a:xfrm flipV="1">
            <a:off x="8659527" y="1774824"/>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18">
            <a:extLst>
              <a:ext uri="{FF2B5EF4-FFF2-40B4-BE49-F238E27FC236}">
                <a16:creationId xmlns:a16="http://schemas.microsoft.com/office/drawing/2014/main" id="{87E45C45-2AC1-6EEC-BFCB-FC353C7288FB}"/>
              </a:ext>
            </a:extLst>
          </p:cNvPr>
          <p:cNvSpPr>
            <a:spLocks noChangeShapeType="1"/>
          </p:cNvSpPr>
          <p:nvPr/>
        </p:nvSpPr>
        <p:spPr bwMode="auto">
          <a:xfrm flipV="1">
            <a:off x="8995192" y="1789112"/>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19">
            <a:extLst>
              <a:ext uri="{FF2B5EF4-FFF2-40B4-BE49-F238E27FC236}">
                <a16:creationId xmlns:a16="http://schemas.microsoft.com/office/drawing/2014/main" id="{EFA7BE8F-DB28-4940-01B5-120C6565ABB9}"/>
              </a:ext>
            </a:extLst>
          </p:cNvPr>
          <p:cNvSpPr>
            <a:spLocks noChangeShapeType="1"/>
          </p:cNvSpPr>
          <p:nvPr/>
        </p:nvSpPr>
        <p:spPr bwMode="auto">
          <a:xfrm flipV="1">
            <a:off x="9961095" y="179863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20">
            <a:extLst>
              <a:ext uri="{FF2B5EF4-FFF2-40B4-BE49-F238E27FC236}">
                <a16:creationId xmlns:a16="http://schemas.microsoft.com/office/drawing/2014/main" id="{D04E150B-FCD5-EEA6-090A-B3A98C1F1229}"/>
              </a:ext>
            </a:extLst>
          </p:cNvPr>
          <p:cNvSpPr>
            <a:spLocks noChangeShapeType="1"/>
          </p:cNvSpPr>
          <p:nvPr/>
        </p:nvSpPr>
        <p:spPr bwMode="auto">
          <a:xfrm flipV="1">
            <a:off x="3268195" y="1784349"/>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Line 21">
            <a:extLst>
              <a:ext uri="{FF2B5EF4-FFF2-40B4-BE49-F238E27FC236}">
                <a16:creationId xmlns:a16="http://schemas.microsoft.com/office/drawing/2014/main" id="{87B7E886-FAE2-23FA-6E5D-75C1C55EEA2B}"/>
              </a:ext>
            </a:extLst>
          </p:cNvPr>
          <p:cNvSpPr>
            <a:spLocks noChangeShapeType="1"/>
          </p:cNvSpPr>
          <p:nvPr/>
        </p:nvSpPr>
        <p:spPr bwMode="auto">
          <a:xfrm flipV="1">
            <a:off x="3767892" y="1779587"/>
            <a:ext cx="0" cy="15367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Rectangle 22">
            <a:extLst>
              <a:ext uri="{FF2B5EF4-FFF2-40B4-BE49-F238E27FC236}">
                <a16:creationId xmlns:a16="http://schemas.microsoft.com/office/drawing/2014/main" id="{FC130264-E2D1-2F9F-0C83-633F637537E4}"/>
              </a:ext>
            </a:extLst>
          </p:cNvPr>
          <p:cNvSpPr>
            <a:spLocks noChangeArrowheads="1"/>
          </p:cNvSpPr>
          <p:nvPr/>
        </p:nvSpPr>
        <p:spPr bwMode="auto">
          <a:xfrm>
            <a:off x="2444282" y="1766887"/>
            <a:ext cx="59311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TN</a:t>
            </a:r>
          </a:p>
        </p:txBody>
      </p:sp>
      <p:sp>
        <p:nvSpPr>
          <p:cNvPr id="24" name="Rectangle 23">
            <a:extLst>
              <a:ext uri="{FF2B5EF4-FFF2-40B4-BE49-F238E27FC236}">
                <a16:creationId xmlns:a16="http://schemas.microsoft.com/office/drawing/2014/main" id="{9E1658C2-1CB7-E694-5D28-2C029B509EAD}"/>
              </a:ext>
            </a:extLst>
          </p:cNvPr>
          <p:cNvSpPr>
            <a:spLocks noChangeArrowheads="1"/>
          </p:cNvSpPr>
          <p:nvPr/>
        </p:nvSpPr>
        <p:spPr bwMode="auto">
          <a:xfrm>
            <a:off x="5171607" y="1765299"/>
            <a:ext cx="52578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FP</a:t>
            </a:r>
          </a:p>
        </p:txBody>
      </p:sp>
      <p:sp>
        <p:nvSpPr>
          <p:cNvPr id="25" name="Rectangle 24">
            <a:extLst>
              <a:ext uri="{FF2B5EF4-FFF2-40B4-BE49-F238E27FC236}">
                <a16:creationId xmlns:a16="http://schemas.microsoft.com/office/drawing/2014/main" id="{C96A05CF-9DCA-AAD3-DA31-B2E4B91DCBD6}"/>
              </a:ext>
            </a:extLst>
          </p:cNvPr>
          <p:cNvSpPr>
            <a:spLocks noChangeArrowheads="1"/>
          </p:cNvSpPr>
          <p:nvPr/>
        </p:nvSpPr>
        <p:spPr bwMode="auto">
          <a:xfrm>
            <a:off x="3206282" y="1765299"/>
            <a:ext cx="57708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FN</a:t>
            </a:r>
          </a:p>
        </p:txBody>
      </p:sp>
      <p:sp>
        <p:nvSpPr>
          <p:cNvPr id="26" name="Rectangle 25">
            <a:extLst>
              <a:ext uri="{FF2B5EF4-FFF2-40B4-BE49-F238E27FC236}">
                <a16:creationId xmlns:a16="http://schemas.microsoft.com/office/drawing/2014/main" id="{8937644B-B94F-068D-4508-167661606524}"/>
              </a:ext>
            </a:extLst>
          </p:cNvPr>
          <p:cNvSpPr>
            <a:spLocks noChangeArrowheads="1"/>
          </p:cNvSpPr>
          <p:nvPr/>
        </p:nvSpPr>
        <p:spPr bwMode="auto">
          <a:xfrm>
            <a:off x="5751045" y="1765299"/>
            <a:ext cx="59311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TN</a:t>
            </a:r>
          </a:p>
        </p:txBody>
      </p:sp>
      <p:sp>
        <p:nvSpPr>
          <p:cNvPr id="27" name="Rectangle 26">
            <a:extLst>
              <a:ext uri="{FF2B5EF4-FFF2-40B4-BE49-F238E27FC236}">
                <a16:creationId xmlns:a16="http://schemas.microsoft.com/office/drawing/2014/main" id="{6A8D5E0E-A63A-7EDD-8097-8693473B1C42}"/>
              </a:ext>
            </a:extLst>
          </p:cNvPr>
          <p:cNvSpPr>
            <a:spLocks noChangeArrowheads="1"/>
          </p:cNvSpPr>
          <p:nvPr/>
        </p:nvSpPr>
        <p:spPr bwMode="auto">
          <a:xfrm>
            <a:off x="9180045" y="1765299"/>
            <a:ext cx="59311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TN</a:t>
            </a:r>
          </a:p>
        </p:txBody>
      </p:sp>
      <p:sp>
        <p:nvSpPr>
          <p:cNvPr id="28" name="Rectangle 27">
            <a:extLst>
              <a:ext uri="{FF2B5EF4-FFF2-40B4-BE49-F238E27FC236}">
                <a16:creationId xmlns:a16="http://schemas.microsoft.com/office/drawing/2014/main" id="{2982BE2F-0ED0-FDA6-2F9B-ACCEFABF38D7}"/>
              </a:ext>
            </a:extLst>
          </p:cNvPr>
          <p:cNvSpPr>
            <a:spLocks noChangeArrowheads="1"/>
          </p:cNvSpPr>
          <p:nvPr/>
        </p:nvSpPr>
        <p:spPr bwMode="auto">
          <a:xfrm>
            <a:off x="7473482" y="1765299"/>
            <a:ext cx="54181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TP</a:t>
            </a:r>
          </a:p>
        </p:txBody>
      </p:sp>
      <p:sp>
        <p:nvSpPr>
          <p:cNvPr id="29" name="Rectangle 28">
            <a:extLst>
              <a:ext uri="{FF2B5EF4-FFF2-40B4-BE49-F238E27FC236}">
                <a16:creationId xmlns:a16="http://schemas.microsoft.com/office/drawing/2014/main" id="{32D84391-EEFF-6644-8950-1BE424EBC6BB}"/>
              </a:ext>
            </a:extLst>
          </p:cNvPr>
          <p:cNvSpPr>
            <a:spLocks noChangeArrowheads="1"/>
          </p:cNvSpPr>
          <p:nvPr/>
        </p:nvSpPr>
        <p:spPr bwMode="auto">
          <a:xfrm>
            <a:off x="6482882" y="1765299"/>
            <a:ext cx="57708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FN</a:t>
            </a:r>
          </a:p>
        </p:txBody>
      </p:sp>
      <p:sp>
        <p:nvSpPr>
          <p:cNvPr id="30" name="Rectangle 29">
            <a:extLst>
              <a:ext uri="{FF2B5EF4-FFF2-40B4-BE49-F238E27FC236}">
                <a16:creationId xmlns:a16="http://schemas.microsoft.com/office/drawing/2014/main" id="{620D3ADC-82DE-578C-AF68-548845F8D9F2}"/>
              </a:ext>
            </a:extLst>
          </p:cNvPr>
          <p:cNvSpPr>
            <a:spLocks noChangeArrowheads="1"/>
          </p:cNvSpPr>
          <p:nvPr/>
        </p:nvSpPr>
        <p:spPr bwMode="auto">
          <a:xfrm>
            <a:off x="4182595" y="1766887"/>
            <a:ext cx="541816"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TP</a:t>
            </a:r>
          </a:p>
        </p:txBody>
      </p:sp>
      <p:sp>
        <p:nvSpPr>
          <p:cNvPr id="31" name="Rectangle 30">
            <a:extLst>
              <a:ext uri="{FF2B5EF4-FFF2-40B4-BE49-F238E27FC236}">
                <a16:creationId xmlns:a16="http://schemas.microsoft.com/office/drawing/2014/main" id="{DD365848-09DE-1A4F-FC7B-771BBB51C708}"/>
              </a:ext>
            </a:extLst>
          </p:cNvPr>
          <p:cNvSpPr>
            <a:spLocks noChangeArrowheads="1"/>
          </p:cNvSpPr>
          <p:nvPr/>
        </p:nvSpPr>
        <p:spPr bwMode="auto">
          <a:xfrm>
            <a:off x="8540282" y="1765299"/>
            <a:ext cx="57708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i="0">
                <a:solidFill>
                  <a:schemeClr val="accent2"/>
                </a:solidFill>
              </a:rPr>
              <a:t>FN</a:t>
            </a:r>
          </a:p>
        </p:txBody>
      </p:sp>
      <p:sp>
        <p:nvSpPr>
          <p:cNvPr id="32" name="Rectangle 31">
            <a:extLst>
              <a:ext uri="{FF2B5EF4-FFF2-40B4-BE49-F238E27FC236}">
                <a16:creationId xmlns:a16="http://schemas.microsoft.com/office/drawing/2014/main" id="{CC1ED99B-F761-92B9-52F5-38A658D70D3E}"/>
              </a:ext>
            </a:extLst>
          </p:cNvPr>
          <p:cNvSpPr>
            <a:spLocks noChangeArrowheads="1"/>
          </p:cNvSpPr>
          <p:nvPr/>
        </p:nvSpPr>
        <p:spPr bwMode="auto">
          <a:xfrm>
            <a:off x="1006980" y="2344324"/>
            <a:ext cx="128240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a:solidFill>
                  <a:schemeClr val="tx1"/>
                </a:solidFill>
              </a:rPr>
              <a:t>REALITY</a:t>
            </a:r>
          </a:p>
        </p:txBody>
      </p:sp>
      <p:sp>
        <p:nvSpPr>
          <p:cNvPr id="33" name="Rectangle 32">
            <a:extLst>
              <a:ext uri="{FF2B5EF4-FFF2-40B4-BE49-F238E27FC236}">
                <a16:creationId xmlns:a16="http://schemas.microsoft.com/office/drawing/2014/main" id="{D81C1AA5-0DAD-DA28-08D5-90AE4A0E036A}"/>
              </a:ext>
            </a:extLst>
          </p:cNvPr>
          <p:cNvSpPr>
            <a:spLocks noChangeArrowheads="1"/>
          </p:cNvSpPr>
          <p:nvPr/>
        </p:nvSpPr>
        <p:spPr bwMode="auto">
          <a:xfrm>
            <a:off x="758910" y="2912392"/>
            <a:ext cx="152766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ASSEMBLY</a:t>
            </a:r>
          </a:p>
        </p:txBody>
      </p:sp>
      <p:sp>
        <p:nvSpPr>
          <p:cNvPr id="34" name="Text Box 33">
            <a:extLst>
              <a:ext uri="{FF2B5EF4-FFF2-40B4-BE49-F238E27FC236}">
                <a16:creationId xmlns:a16="http://schemas.microsoft.com/office/drawing/2014/main" id="{42AD3FBA-69E9-140D-5277-0B4DAA596667}"/>
              </a:ext>
            </a:extLst>
          </p:cNvPr>
          <p:cNvSpPr txBox="1">
            <a:spLocks noChangeArrowheads="1"/>
          </p:cNvSpPr>
          <p:nvPr/>
        </p:nvSpPr>
        <p:spPr bwMode="auto">
          <a:xfrm>
            <a:off x="3791744" y="4098923"/>
            <a:ext cx="1641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spcBef>
                <a:spcPct val="0"/>
              </a:spcBef>
            </a:pPr>
            <a:r>
              <a:rPr lang="en-US" altLang="en-US" i="0">
                <a:solidFill>
                  <a:schemeClr val="accent2"/>
                </a:solidFill>
                <a:latin typeface="Arial" panose="020B0604020202020204" pitchFamily="34" charset="0"/>
              </a:rPr>
              <a:t>Sensitivity:</a:t>
            </a:r>
          </a:p>
        </p:txBody>
      </p:sp>
      <p:sp>
        <p:nvSpPr>
          <p:cNvPr id="35" name="Text Box 34">
            <a:extLst>
              <a:ext uri="{FF2B5EF4-FFF2-40B4-BE49-F238E27FC236}">
                <a16:creationId xmlns:a16="http://schemas.microsoft.com/office/drawing/2014/main" id="{092B084A-2B9B-9602-179F-D05E62DD49E4}"/>
              </a:ext>
            </a:extLst>
          </p:cNvPr>
          <p:cNvSpPr txBox="1">
            <a:spLocks noChangeArrowheads="1"/>
          </p:cNvSpPr>
          <p:nvPr/>
        </p:nvSpPr>
        <p:spPr bwMode="auto">
          <a:xfrm>
            <a:off x="3960020" y="4837111"/>
            <a:ext cx="1537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spcBef>
                <a:spcPct val="0"/>
              </a:spcBef>
            </a:pPr>
            <a:r>
              <a:rPr lang="en-US" altLang="en-US" i="0">
                <a:solidFill>
                  <a:schemeClr val="accent2"/>
                </a:solidFill>
                <a:latin typeface="Arial" panose="020B0604020202020204" pitchFamily="34" charset="0"/>
              </a:rPr>
              <a:t>Precision:</a:t>
            </a:r>
          </a:p>
        </p:txBody>
      </p:sp>
      <p:graphicFrame>
        <p:nvGraphicFramePr>
          <p:cNvPr id="36" name="Object 35">
            <a:extLst>
              <a:ext uri="{FF2B5EF4-FFF2-40B4-BE49-F238E27FC236}">
                <a16:creationId xmlns:a16="http://schemas.microsoft.com/office/drawing/2014/main" id="{11DEC1A3-B4A4-0879-C10A-32DE733FEBBA}"/>
              </a:ext>
            </a:extLst>
          </p:cNvPr>
          <p:cNvGraphicFramePr>
            <a:graphicFrameLocks noChangeAspect="1"/>
          </p:cNvGraphicFramePr>
          <p:nvPr>
            <p:extLst>
              <p:ext uri="{D42A27DB-BD31-4B8C-83A1-F6EECF244321}">
                <p14:modId xmlns:p14="http://schemas.microsoft.com/office/powerpoint/2010/main" val="2518784070"/>
              </p:ext>
            </p:extLst>
          </p:nvPr>
        </p:nvGraphicFramePr>
        <p:xfrm>
          <a:off x="5497620" y="4742458"/>
          <a:ext cx="1401762" cy="685800"/>
        </p:xfrm>
        <a:graphic>
          <a:graphicData uri="http://schemas.openxmlformats.org/presentationml/2006/ole">
            <mc:AlternateContent xmlns:mc="http://schemas.openxmlformats.org/markup-compatibility/2006">
              <mc:Choice xmlns:v="urn:schemas-microsoft-com:vml" Requires="v">
                <p:oleObj name="Equation" r:id="rId4" imgW="21069300" imgH="9067800" progId="Equation.3">
                  <p:embed/>
                </p:oleObj>
              </mc:Choice>
              <mc:Fallback>
                <p:oleObj name="Equation" r:id="rId4" imgW="21069300" imgH="9067800" progId="Equation.3">
                  <p:embed/>
                  <p:pic>
                    <p:nvPicPr>
                      <p:cNvPr id="36" name="Object 35">
                        <a:extLst>
                          <a:ext uri="{FF2B5EF4-FFF2-40B4-BE49-F238E27FC236}">
                            <a16:creationId xmlns:a16="http://schemas.microsoft.com/office/drawing/2014/main" id="{11DEC1A3-B4A4-0879-C10A-32DE733FEB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97620" y="4742458"/>
                        <a:ext cx="1401762" cy="685800"/>
                      </a:xfrm>
                      <a:prstGeom prst="rect">
                        <a:avLst/>
                      </a:prstGeom>
                      <a:noFill/>
                      <a:ln>
                        <a:noFill/>
                      </a:ln>
                      <a:effectLst/>
                    </p:spPr>
                  </p:pic>
                </p:oleObj>
              </mc:Fallback>
            </mc:AlternateContent>
          </a:graphicData>
        </a:graphic>
      </p:graphicFrame>
      <p:sp>
        <p:nvSpPr>
          <p:cNvPr id="37" name="Rectangle 36">
            <a:extLst>
              <a:ext uri="{FF2B5EF4-FFF2-40B4-BE49-F238E27FC236}">
                <a16:creationId xmlns:a16="http://schemas.microsoft.com/office/drawing/2014/main" id="{103FA3C8-E1B4-100C-8961-052E639E32B5}"/>
              </a:ext>
            </a:extLst>
          </p:cNvPr>
          <p:cNvSpPr/>
          <p:nvPr/>
        </p:nvSpPr>
        <p:spPr bwMode="auto">
          <a:xfrm>
            <a:off x="5362890" y="3969853"/>
            <a:ext cx="433584" cy="63341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38" name="Rectangle 37">
            <a:extLst>
              <a:ext uri="{FF2B5EF4-FFF2-40B4-BE49-F238E27FC236}">
                <a16:creationId xmlns:a16="http://schemas.microsoft.com/office/drawing/2014/main" id="{02CF6AB4-195F-02E5-7512-39560881587C}"/>
              </a:ext>
            </a:extLst>
          </p:cNvPr>
          <p:cNvSpPr/>
          <p:nvPr/>
        </p:nvSpPr>
        <p:spPr bwMode="auto">
          <a:xfrm>
            <a:off x="5362890" y="4963617"/>
            <a:ext cx="433584" cy="63341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946252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A94C3-FB2C-8400-75BA-0914D37D609C}"/>
              </a:ext>
            </a:extLst>
          </p:cNvPr>
          <p:cNvSpPr>
            <a:spLocks noGrp="1"/>
          </p:cNvSpPr>
          <p:nvPr>
            <p:ph type="title"/>
          </p:nvPr>
        </p:nvSpPr>
        <p:spPr/>
        <p:txBody>
          <a:bodyPr>
            <a:normAutofit fontScale="90000"/>
          </a:bodyPr>
          <a:lstStyle/>
          <a:p>
            <a:r>
              <a:rPr lang="en-US" dirty="0"/>
              <a:t>Exon level accuracy</a:t>
            </a:r>
          </a:p>
        </p:txBody>
      </p:sp>
      <p:sp>
        <p:nvSpPr>
          <p:cNvPr id="4" name="Slide Number Placeholder 3">
            <a:extLst>
              <a:ext uri="{FF2B5EF4-FFF2-40B4-BE49-F238E27FC236}">
                <a16:creationId xmlns:a16="http://schemas.microsoft.com/office/drawing/2014/main" id="{B1E4D89E-82EF-9484-9040-4BD561299F53}"/>
              </a:ext>
            </a:extLst>
          </p:cNvPr>
          <p:cNvSpPr>
            <a:spLocks noGrp="1"/>
          </p:cNvSpPr>
          <p:nvPr>
            <p:ph type="sldNum" sz="quarter" idx="12"/>
          </p:nvPr>
        </p:nvSpPr>
        <p:spPr/>
        <p:txBody>
          <a:bodyPr/>
          <a:lstStyle/>
          <a:p>
            <a:fld id="{B82CCC60-E8CD-4174-8B1A-7DF615B22EEF}" type="slidenum">
              <a:rPr lang="en-US" smtClean="0"/>
              <a:pPr/>
              <a:t>9</a:t>
            </a:fld>
            <a:endParaRPr lang="en-US"/>
          </a:p>
        </p:txBody>
      </p:sp>
      <p:graphicFrame>
        <p:nvGraphicFramePr>
          <p:cNvPr id="5" name="Object 4">
            <a:extLst>
              <a:ext uri="{FF2B5EF4-FFF2-40B4-BE49-F238E27FC236}">
                <a16:creationId xmlns:a16="http://schemas.microsoft.com/office/drawing/2014/main" id="{2F71E060-F6E4-DAE0-3C5F-CD4651FE16B8}"/>
              </a:ext>
            </a:extLst>
          </p:cNvPr>
          <p:cNvGraphicFramePr>
            <a:graphicFrameLocks noChangeAspect="1"/>
          </p:cNvGraphicFramePr>
          <p:nvPr/>
        </p:nvGraphicFramePr>
        <p:xfrm>
          <a:off x="3365500" y="4000500"/>
          <a:ext cx="4241800" cy="647700"/>
        </p:xfrm>
        <a:graphic>
          <a:graphicData uri="http://schemas.openxmlformats.org/presentationml/2006/ole">
            <mc:AlternateContent xmlns:mc="http://schemas.openxmlformats.org/markup-compatibility/2006">
              <mc:Choice xmlns:v="urn:schemas-microsoft-com:vml" Requires="v">
                <p:oleObj name="Equation" r:id="rId2" imgW="59397900" imgH="9067800" progId="Equation.3">
                  <p:embed/>
                </p:oleObj>
              </mc:Choice>
              <mc:Fallback>
                <p:oleObj name="Equation" r:id="rId2" imgW="59397900" imgH="9067800" progId="Equation.3">
                  <p:embed/>
                  <p:pic>
                    <p:nvPicPr>
                      <p:cNvPr id="5" name="Object 4">
                        <a:extLst>
                          <a:ext uri="{FF2B5EF4-FFF2-40B4-BE49-F238E27FC236}">
                            <a16:creationId xmlns:a16="http://schemas.microsoft.com/office/drawing/2014/main" id="{2F71E060-F6E4-DAE0-3C5F-CD4651FE16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5500" y="4000500"/>
                        <a:ext cx="424180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Line 5">
            <a:extLst>
              <a:ext uri="{FF2B5EF4-FFF2-40B4-BE49-F238E27FC236}">
                <a16:creationId xmlns:a16="http://schemas.microsoft.com/office/drawing/2014/main" id="{F9DE2A99-E157-BE2D-C3E2-D8C59B5E1312}"/>
              </a:ext>
            </a:extLst>
          </p:cNvPr>
          <p:cNvSpPr>
            <a:spLocks noChangeShapeType="1"/>
          </p:cNvSpPr>
          <p:nvPr/>
        </p:nvSpPr>
        <p:spPr bwMode="auto">
          <a:xfrm>
            <a:off x="2667000" y="2895600"/>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6">
            <a:extLst>
              <a:ext uri="{FF2B5EF4-FFF2-40B4-BE49-F238E27FC236}">
                <a16:creationId xmlns:a16="http://schemas.microsoft.com/office/drawing/2014/main" id="{7658A801-71B5-F60B-38B6-0AD9AB7AE34D}"/>
              </a:ext>
            </a:extLst>
          </p:cNvPr>
          <p:cNvSpPr>
            <a:spLocks noChangeShapeType="1"/>
          </p:cNvSpPr>
          <p:nvPr/>
        </p:nvSpPr>
        <p:spPr bwMode="auto">
          <a:xfrm>
            <a:off x="2667000" y="3429000"/>
            <a:ext cx="7683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Rectangle 7">
            <a:extLst>
              <a:ext uri="{FF2B5EF4-FFF2-40B4-BE49-F238E27FC236}">
                <a16:creationId xmlns:a16="http://schemas.microsoft.com/office/drawing/2014/main" id="{FE900970-1442-AF2A-8787-DF37EC794E98}"/>
              </a:ext>
            </a:extLst>
          </p:cNvPr>
          <p:cNvSpPr>
            <a:spLocks noChangeArrowheads="1"/>
          </p:cNvSpPr>
          <p:nvPr/>
        </p:nvSpPr>
        <p:spPr bwMode="auto">
          <a:xfrm>
            <a:off x="6146800" y="2794000"/>
            <a:ext cx="1068388"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9" name="Rectangle 8">
            <a:extLst>
              <a:ext uri="{FF2B5EF4-FFF2-40B4-BE49-F238E27FC236}">
                <a16:creationId xmlns:a16="http://schemas.microsoft.com/office/drawing/2014/main" id="{56352BDD-18A6-A571-5C9F-14BC5AAFCC96}"/>
              </a:ext>
            </a:extLst>
          </p:cNvPr>
          <p:cNvSpPr>
            <a:spLocks noChangeArrowheads="1"/>
          </p:cNvSpPr>
          <p:nvPr/>
        </p:nvSpPr>
        <p:spPr bwMode="auto">
          <a:xfrm>
            <a:off x="4119563" y="3327400"/>
            <a:ext cx="863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0" name="Rectangle 9">
            <a:extLst>
              <a:ext uri="{FF2B5EF4-FFF2-40B4-BE49-F238E27FC236}">
                <a16:creationId xmlns:a16="http://schemas.microsoft.com/office/drawing/2014/main" id="{C080545E-7C46-2E7C-0336-CF9A4BD8A651}"/>
              </a:ext>
            </a:extLst>
          </p:cNvPr>
          <p:cNvSpPr>
            <a:spLocks noChangeArrowheads="1"/>
          </p:cNvSpPr>
          <p:nvPr/>
        </p:nvSpPr>
        <p:spPr bwMode="auto">
          <a:xfrm>
            <a:off x="6124576" y="3321050"/>
            <a:ext cx="1090613"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1" name="Rectangle 10">
            <a:extLst>
              <a:ext uri="{FF2B5EF4-FFF2-40B4-BE49-F238E27FC236}">
                <a16:creationId xmlns:a16="http://schemas.microsoft.com/office/drawing/2014/main" id="{AF832437-20A2-F4A6-6E46-5921D15D8074}"/>
              </a:ext>
            </a:extLst>
          </p:cNvPr>
          <p:cNvSpPr>
            <a:spLocks noChangeArrowheads="1"/>
          </p:cNvSpPr>
          <p:nvPr/>
        </p:nvSpPr>
        <p:spPr bwMode="auto">
          <a:xfrm>
            <a:off x="1981201" y="2514601"/>
            <a:ext cx="128240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a:solidFill>
                  <a:schemeClr val="tx1"/>
                </a:solidFill>
              </a:rPr>
              <a:t>REALITY</a:t>
            </a:r>
          </a:p>
        </p:txBody>
      </p:sp>
      <p:sp>
        <p:nvSpPr>
          <p:cNvPr id="12" name="Rectangle 11">
            <a:extLst>
              <a:ext uri="{FF2B5EF4-FFF2-40B4-BE49-F238E27FC236}">
                <a16:creationId xmlns:a16="http://schemas.microsoft.com/office/drawing/2014/main" id="{DAAC2508-B04B-20BF-3802-317C2602CA06}"/>
              </a:ext>
            </a:extLst>
          </p:cNvPr>
          <p:cNvSpPr>
            <a:spLocks noChangeArrowheads="1"/>
          </p:cNvSpPr>
          <p:nvPr/>
        </p:nvSpPr>
        <p:spPr bwMode="auto">
          <a:xfrm>
            <a:off x="1981200" y="3049589"/>
            <a:ext cx="152766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ASSEMBLY</a:t>
            </a:r>
          </a:p>
        </p:txBody>
      </p:sp>
      <p:sp>
        <p:nvSpPr>
          <p:cNvPr id="13" name="Rectangle 12">
            <a:extLst>
              <a:ext uri="{FF2B5EF4-FFF2-40B4-BE49-F238E27FC236}">
                <a16:creationId xmlns:a16="http://schemas.microsoft.com/office/drawing/2014/main" id="{921668C7-8358-E8E8-6C1F-211634FA9466}"/>
              </a:ext>
            </a:extLst>
          </p:cNvPr>
          <p:cNvSpPr>
            <a:spLocks noChangeArrowheads="1"/>
          </p:cNvSpPr>
          <p:nvPr/>
        </p:nvSpPr>
        <p:spPr bwMode="auto">
          <a:xfrm>
            <a:off x="3662364" y="2794000"/>
            <a:ext cx="1374775"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4" name="Rectangle 13">
            <a:extLst>
              <a:ext uri="{FF2B5EF4-FFF2-40B4-BE49-F238E27FC236}">
                <a16:creationId xmlns:a16="http://schemas.microsoft.com/office/drawing/2014/main" id="{1FF96BA4-9EDC-E071-00BF-6C712A27157A}"/>
              </a:ext>
            </a:extLst>
          </p:cNvPr>
          <p:cNvSpPr>
            <a:spLocks noChangeArrowheads="1"/>
          </p:cNvSpPr>
          <p:nvPr/>
        </p:nvSpPr>
        <p:spPr bwMode="auto">
          <a:xfrm>
            <a:off x="7524751" y="2794000"/>
            <a:ext cx="354013"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5" name="Rectangle 14">
            <a:extLst>
              <a:ext uri="{FF2B5EF4-FFF2-40B4-BE49-F238E27FC236}">
                <a16:creationId xmlns:a16="http://schemas.microsoft.com/office/drawing/2014/main" id="{673F2E7B-2F5C-6BD4-EBEC-7335179AB28B}"/>
              </a:ext>
            </a:extLst>
          </p:cNvPr>
          <p:cNvSpPr>
            <a:spLocks noChangeArrowheads="1"/>
          </p:cNvSpPr>
          <p:nvPr/>
        </p:nvSpPr>
        <p:spPr bwMode="auto">
          <a:xfrm>
            <a:off x="8578850" y="2794000"/>
            <a:ext cx="1054100"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6" name="Rectangle 15">
            <a:extLst>
              <a:ext uri="{FF2B5EF4-FFF2-40B4-BE49-F238E27FC236}">
                <a16:creationId xmlns:a16="http://schemas.microsoft.com/office/drawing/2014/main" id="{27EAB2A2-2055-C259-13E5-150596B1D67E}"/>
              </a:ext>
            </a:extLst>
          </p:cNvPr>
          <p:cNvSpPr>
            <a:spLocks noChangeArrowheads="1"/>
          </p:cNvSpPr>
          <p:nvPr/>
        </p:nvSpPr>
        <p:spPr bwMode="auto">
          <a:xfrm>
            <a:off x="8340725" y="3327400"/>
            <a:ext cx="113823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7" name="Rectangle 16">
            <a:extLst>
              <a:ext uri="{FF2B5EF4-FFF2-40B4-BE49-F238E27FC236}">
                <a16:creationId xmlns:a16="http://schemas.microsoft.com/office/drawing/2014/main" id="{91CF3EC3-2AFA-7BA6-D338-596A7CD53243}"/>
              </a:ext>
            </a:extLst>
          </p:cNvPr>
          <p:cNvSpPr>
            <a:spLocks noChangeArrowheads="1"/>
          </p:cNvSpPr>
          <p:nvPr/>
        </p:nvSpPr>
        <p:spPr bwMode="auto">
          <a:xfrm>
            <a:off x="5338763" y="3328988"/>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8" name="Rectangle 17">
            <a:extLst>
              <a:ext uri="{FF2B5EF4-FFF2-40B4-BE49-F238E27FC236}">
                <a16:creationId xmlns:a16="http://schemas.microsoft.com/office/drawing/2014/main" id="{FE7F7D6F-0C35-EBB4-9B96-F0002FEEB912}"/>
              </a:ext>
            </a:extLst>
          </p:cNvPr>
          <p:cNvSpPr>
            <a:spLocks noChangeArrowheads="1"/>
          </p:cNvSpPr>
          <p:nvPr/>
        </p:nvSpPr>
        <p:spPr bwMode="auto">
          <a:xfrm>
            <a:off x="5129805" y="2019301"/>
            <a:ext cx="862417"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lgn="ctr">
              <a:spcBef>
                <a:spcPct val="0"/>
              </a:spcBef>
            </a:pPr>
            <a:r>
              <a:rPr lang="en-US" altLang="en-US" sz="1400" i="0">
                <a:solidFill>
                  <a:schemeClr val="tx1"/>
                </a:solidFill>
              </a:rPr>
              <a:t>WRONG</a:t>
            </a:r>
            <a:br>
              <a:rPr lang="en-US" altLang="en-US" sz="1400" i="0">
                <a:solidFill>
                  <a:schemeClr val="tx1"/>
                </a:solidFill>
              </a:rPr>
            </a:br>
            <a:r>
              <a:rPr lang="en-US" altLang="en-US" sz="1400" i="0">
                <a:solidFill>
                  <a:schemeClr val="tx1"/>
                </a:solidFill>
              </a:rPr>
              <a:t>EXON</a:t>
            </a:r>
          </a:p>
        </p:txBody>
      </p:sp>
      <p:sp>
        <p:nvSpPr>
          <p:cNvPr id="19" name="Rectangle 18">
            <a:extLst>
              <a:ext uri="{FF2B5EF4-FFF2-40B4-BE49-F238E27FC236}">
                <a16:creationId xmlns:a16="http://schemas.microsoft.com/office/drawing/2014/main" id="{8A97BA4B-1AF5-6192-2433-737712891292}"/>
              </a:ext>
            </a:extLst>
          </p:cNvPr>
          <p:cNvSpPr>
            <a:spLocks noChangeArrowheads="1"/>
          </p:cNvSpPr>
          <p:nvPr/>
        </p:nvSpPr>
        <p:spPr bwMode="auto">
          <a:xfrm>
            <a:off x="6122859" y="2019301"/>
            <a:ext cx="1011496"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lgn="ctr">
              <a:spcBef>
                <a:spcPct val="0"/>
              </a:spcBef>
            </a:pPr>
            <a:r>
              <a:rPr lang="en-US" altLang="en-US" sz="1400" i="0">
                <a:solidFill>
                  <a:schemeClr val="tx1"/>
                </a:solidFill>
              </a:rPr>
              <a:t>CORRECT</a:t>
            </a:r>
            <a:br>
              <a:rPr lang="en-US" altLang="en-US" sz="1400" i="0">
                <a:solidFill>
                  <a:schemeClr val="tx1"/>
                </a:solidFill>
              </a:rPr>
            </a:br>
            <a:r>
              <a:rPr lang="en-US" altLang="en-US" sz="1400" i="0">
                <a:solidFill>
                  <a:schemeClr val="tx1"/>
                </a:solidFill>
              </a:rPr>
              <a:t>EXON</a:t>
            </a:r>
          </a:p>
        </p:txBody>
      </p:sp>
      <p:sp>
        <p:nvSpPr>
          <p:cNvPr id="20" name="Rectangle 19">
            <a:extLst>
              <a:ext uri="{FF2B5EF4-FFF2-40B4-BE49-F238E27FC236}">
                <a16:creationId xmlns:a16="http://schemas.microsoft.com/office/drawing/2014/main" id="{FF53CBA6-4182-F5CF-D660-F15186C1035D}"/>
              </a:ext>
            </a:extLst>
          </p:cNvPr>
          <p:cNvSpPr>
            <a:spLocks noChangeArrowheads="1"/>
          </p:cNvSpPr>
          <p:nvPr/>
        </p:nvSpPr>
        <p:spPr bwMode="auto">
          <a:xfrm>
            <a:off x="7280589" y="2017714"/>
            <a:ext cx="920125"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lgn="ctr">
              <a:spcBef>
                <a:spcPct val="0"/>
              </a:spcBef>
            </a:pPr>
            <a:r>
              <a:rPr lang="en-US" altLang="en-US" sz="1400" i="0">
                <a:solidFill>
                  <a:schemeClr val="tx1"/>
                </a:solidFill>
              </a:rPr>
              <a:t>MISSING</a:t>
            </a:r>
          </a:p>
          <a:p>
            <a:pPr algn="ctr">
              <a:spcBef>
                <a:spcPct val="0"/>
              </a:spcBef>
            </a:pPr>
            <a:r>
              <a:rPr lang="en-US" altLang="en-US" sz="1400" i="0">
                <a:solidFill>
                  <a:schemeClr val="tx1"/>
                </a:solidFill>
              </a:rPr>
              <a:t>EXON</a:t>
            </a:r>
          </a:p>
        </p:txBody>
      </p:sp>
      <p:graphicFrame>
        <p:nvGraphicFramePr>
          <p:cNvPr id="21" name="Object 20">
            <a:extLst>
              <a:ext uri="{FF2B5EF4-FFF2-40B4-BE49-F238E27FC236}">
                <a16:creationId xmlns:a16="http://schemas.microsoft.com/office/drawing/2014/main" id="{F2A28321-05C7-0D3B-A159-EACED6A00D2C}"/>
              </a:ext>
            </a:extLst>
          </p:cNvPr>
          <p:cNvGraphicFramePr>
            <a:graphicFrameLocks noChangeAspect="1"/>
          </p:cNvGraphicFramePr>
          <p:nvPr/>
        </p:nvGraphicFramePr>
        <p:xfrm>
          <a:off x="3414714" y="4876800"/>
          <a:ext cx="4446587" cy="685800"/>
        </p:xfrm>
        <a:graphic>
          <a:graphicData uri="http://schemas.openxmlformats.org/presentationml/2006/ole">
            <mc:AlternateContent xmlns:mc="http://schemas.openxmlformats.org/markup-compatibility/2006">
              <mc:Choice xmlns:v="urn:schemas-microsoft-com:vml" Requires="v">
                <p:oleObj name="Equation" r:id="rId4" imgW="62611000" imgH="9652000" progId="Equation.3">
                  <p:embed/>
                </p:oleObj>
              </mc:Choice>
              <mc:Fallback>
                <p:oleObj name="Equation" r:id="rId4" imgW="62611000" imgH="9652000" progId="Equation.3">
                  <p:embed/>
                  <p:pic>
                    <p:nvPicPr>
                      <p:cNvPr id="21" name="Object 20">
                        <a:extLst>
                          <a:ext uri="{FF2B5EF4-FFF2-40B4-BE49-F238E27FC236}">
                            <a16:creationId xmlns:a16="http://schemas.microsoft.com/office/drawing/2014/main" id="{F2A28321-05C7-0D3B-A159-EACED6A00D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4714" y="4876800"/>
                        <a:ext cx="4446587"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TextBox 21">
            <a:extLst>
              <a:ext uri="{FF2B5EF4-FFF2-40B4-BE49-F238E27FC236}">
                <a16:creationId xmlns:a16="http://schemas.microsoft.com/office/drawing/2014/main" id="{095700AC-BF49-3DA3-0541-764B73A77A81}"/>
              </a:ext>
            </a:extLst>
          </p:cNvPr>
          <p:cNvSpPr txBox="1"/>
          <p:nvPr/>
        </p:nvSpPr>
        <p:spPr>
          <a:xfrm>
            <a:off x="2321679" y="4101017"/>
            <a:ext cx="1883849" cy="400110"/>
          </a:xfrm>
          <a:prstGeom prst="rect">
            <a:avLst/>
          </a:prstGeom>
          <a:solidFill>
            <a:schemeClr val="bg1"/>
          </a:solidFill>
        </p:spPr>
        <p:txBody>
          <a:bodyPr wrap="none" rtlCol="0">
            <a:spAutoFit/>
          </a:bodyPr>
          <a:lstStyle/>
          <a:p>
            <a:r>
              <a:rPr lang="en-US" sz="2000">
                <a:latin typeface="+mj-lt"/>
              </a:rPr>
              <a:t>Exon Sensitivity</a:t>
            </a:r>
          </a:p>
        </p:txBody>
      </p:sp>
      <p:sp>
        <p:nvSpPr>
          <p:cNvPr id="23" name="TextBox 22">
            <a:extLst>
              <a:ext uri="{FF2B5EF4-FFF2-40B4-BE49-F238E27FC236}">
                <a16:creationId xmlns:a16="http://schemas.microsoft.com/office/drawing/2014/main" id="{3FCB23BD-106A-E403-E985-44DD7ACB76EE}"/>
              </a:ext>
            </a:extLst>
          </p:cNvPr>
          <p:cNvSpPr txBox="1"/>
          <p:nvPr/>
        </p:nvSpPr>
        <p:spPr>
          <a:xfrm>
            <a:off x="2543321" y="4991099"/>
            <a:ext cx="1742785" cy="400110"/>
          </a:xfrm>
          <a:prstGeom prst="rect">
            <a:avLst/>
          </a:prstGeom>
          <a:solidFill>
            <a:schemeClr val="bg1"/>
          </a:solidFill>
        </p:spPr>
        <p:txBody>
          <a:bodyPr wrap="square" rtlCol="0">
            <a:spAutoFit/>
          </a:bodyPr>
          <a:lstStyle/>
          <a:p>
            <a:r>
              <a:rPr lang="en-US" sz="2000">
                <a:latin typeface="+mj-lt"/>
              </a:rPr>
              <a:t>Exon Precision</a:t>
            </a:r>
          </a:p>
        </p:txBody>
      </p:sp>
    </p:spTree>
    <p:extLst>
      <p:ext uri="{BB962C8B-B14F-4D97-AF65-F5344CB8AC3E}">
        <p14:creationId xmlns:p14="http://schemas.microsoft.com/office/powerpoint/2010/main" val="1295660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E743-6B97-DF19-1163-F399CCD67EE3}"/>
              </a:ext>
            </a:extLst>
          </p:cNvPr>
          <p:cNvSpPr>
            <a:spLocks noGrp="1"/>
          </p:cNvSpPr>
          <p:nvPr>
            <p:ph type="title"/>
          </p:nvPr>
        </p:nvSpPr>
        <p:spPr/>
        <p:txBody>
          <a:bodyPr>
            <a:normAutofit fontScale="90000"/>
          </a:bodyPr>
          <a:lstStyle/>
          <a:p>
            <a:r>
              <a:rPr lang="en-US" dirty="0"/>
              <a:t>Transcript level accuracy</a:t>
            </a:r>
          </a:p>
        </p:txBody>
      </p:sp>
      <p:sp>
        <p:nvSpPr>
          <p:cNvPr id="4" name="Slide Number Placeholder 3">
            <a:extLst>
              <a:ext uri="{FF2B5EF4-FFF2-40B4-BE49-F238E27FC236}">
                <a16:creationId xmlns:a16="http://schemas.microsoft.com/office/drawing/2014/main" id="{1955F47A-B45F-829D-D39C-C03EF582FDA8}"/>
              </a:ext>
            </a:extLst>
          </p:cNvPr>
          <p:cNvSpPr>
            <a:spLocks noGrp="1"/>
          </p:cNvSpPr>
          <p:nvPr>
            <p:ph type="sldNum" sz="quarter" idx="12"/>
          </p:nvPr>
        </p:nvSpPr>
        <p:spPr/>
        <p:txBody>
          <a:bodyPr/>
          <a:lstStyle/>
          <a:p>
            <a:fld id="{B82CCC60-E8CD-4174-8B1A-7DF615B22EEF}" type="slidenum">
              <a:rPr lang="en-US" smtClean="0"/>
              <a:pPr/>
              <a:t>10</a:t>
            </a:fld>
            <a:endParaRPr lang="en-US"/>
          </a:p>
        </p:txBody>
      </p:sp>
      <p:sp>
        <p:nvSpPr>
          <p:cNvPr id="5" name="Line 5">
            <a:extLst>
              <a:ext uri="{FF2B5EF4-FFF2-40B4-BE49-F238E27FC236}">
                <a16:creationId xmlns:a16="http://schemas.microsoft.com/office/drawing/2014/main" id="{DAA10519-6B0F-953D-1E9E-111ABFE3E658}"/>
              </a:ext>
            </a:extLst>
          </p:cNvPr>
          <p:cNvSpPr>
            <a:spLocks noChangeShapeType="1"/>
          </p:cNvSpPr>
          <p:nvPr/>
        </p:nvSpPr>
        <p:spPr bwMode="auto">
          <a:xfrm>
            <a:off x="4085978" y="3185324"/>
            <a:ext cx="5877210" cy="789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Line 6">
            <a:extLst>
              <a:ext uri="{FF2B5EF4-FFF2-40B4-BE49-F238E27FC236}">
                <a16:creationId xmlns:a16="http://schemas.microsoft.com/office/drawing/2014/main" id="{35242191-2227-5CE1-9EF9-67BC91EEDEEB}"/>
              </a:ext>
            </a:extLst>
          </p:cNvPr>
          <p:cNvSpPr>
            <a:spLocks noChangeShapeType="1"/>
          </p:cNvSpPr>
          <p:nvPr/>
        </p:nvSpPr>
        <p:spPr bwMode="auto">
          <a:xfrm flipV="1">
            <a:off x="4627600" y="3711973"/>
            <a:ext cx="5335588"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Rectangle 7">
            <a:extLst>
              <a:ext uri="{FF2B5EF4-FFF2-40B4-BE49-F238E27FC236}">
                <a16:creationId xmlns:a16="http://schemas.microsoft.com/office/drawing/2014/main" id="{A987CDF5-DFBB-9349-AD88-FAB973504A63}"/>
              </a:ext>
            </a:extLst>
          </p:cNvPr>
          <p:cNvSpPr>
            <a:spLocks noChangeArrowheads="1"/>
          </p:cNvSpPr>
          <p:nvPr/>
        </p:nvSpPr>
        <p:spPr bwMode="auto">
          <a:xfrm>
            <a:off x="6559587" y="3070979"/>
            <a:ext cx="1068388"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8" name="Rectangle 8">
            <a:extLst>
              <a:ext uri="{FF2B5EF4-FFF2-40B4-BE49-F238E27FC236}">
                <a16:creationId xmlns:a16="http://schemas.microsoft.com/office/drawing/2014/main" id="{45971FBE-C5F4-B5E5-B925-C34072941BE3}"/>
              </a:ext>
            </a:extLst>
          </p:cNvPr>
          <p:cNvSpPr>
            <a:spLocks noChangeArrowheads="1"/>
          </p:cNvSpPr>
          <p:nvPr/>
        </p:nvSpPr>
        <p:spPr bwMode="auto">
          <a:xfrm>
            <a:off x="4603788" y="3604379"/>
            <a:ext cx="863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9" name="Rectangle 9">
            <a:extLst>
              <a:ext uri="{FF2B5EF4-FFF2-40B4-BE49-F238E27FC236}">
                <a16:creationId xmlns:a16="http://schemas.microsoft.com/office/drawing/2014/main" id="{6F73FD67-CD75-B321-5483-20ECACBF72E4}"/>
              </a:ext>
            </a:extLst>
          </p:cNvPr>
          <p:cNvSpPr>
            <a:spLocks noChangeArrowheads="1"/>
          </p:cNvSpPr>
          <p:nvPr/>
        </p:nvSpPr>
        <p:spPr bwMode="auto">
          <a:xfrm>
            <a:off x="6559587" y="3597851"/>
            <a:ext cx="1064935" cy="222427"/>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0" name="Rectangle 10">
            <a:extLst>
              <a:ext uri="{FF2B5EF4-FFF2-40B4-BE49-F238E27FC236}">
                <a16:creationId xmlns:a16="http://schemas.microsoft.com/office/drawing/2014/main" id="{A6ADA645-8ABE-46FC-3EF4-CC6CB3C828E4}"/>
              </a:ext>
            </a:extLst>
          </p:cNvPr>
          <p:cNvSpPr>
            <a:spLocks noChangeArrowheads="1"/>
          </p:cNvSpPr>
          <p:nvPr/>
        </p:nvSpPr>
        <p:spPr bwMode="auto">
          <a:xfrm>
            <a:off x="356135" y="2917239"/>
            <a:ext cx="128240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a:solidFill>
                  <a:schemeClr val="tx1"/>
                </a:solidFill>
              </a:rPr>
              <a:t>REALITY</a:t>
            </a:r>
          </a:p>
        </p:txBody>
      </p:sp>
      <p:sp>
        <p:nvSpPr>
          <p:cNvPr id="11" name="Rectangle 11">
            <a:extLst>
              <a:ext uri="{FF2B5EF4-FFF2-40B4-BE49-F238E27FC236}">
                <a16:creationId xmlns:a16="http://schemas.microsoft.com/office/drawing/2014/main" id="{7E293B32-C143-545F-EDF0-E5B7EF59AD45}"/>
              </a:ext>
            </a:extLst>
          </p:cNvPr>
          <p:cNvSpPr>
            <a:spLocks noChangeArrowheads="1"/>
          </p:cNvSpPr>
          <p:nvPr/>
        </p:nvSpPr>
        <p:spPr bwMode="auto">
          <a:xfrm>
            <a:off x="362572" y="3314784"/>
            <a:ext cx="152766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a:spcBef>
                <a:spcPct val="0"/>
              </a:spcBef>
            </a:pPr>
            <a:r>
              <a:rPr lang="en-US" altLang="en-US" sz="2000" i="0" dirty="0">
                <a:solidFill>
                  <a:schemeClr val="tx1"/>
                </a:solidFill>
              </a:rPr>
              <a:t>ASSEMBLY</a:t>
            </a:r>
          </a:p>
        </p:txBody>
      </p:sp>
      <p:sp>
        <p:nvSpPr>
          <p:cNvPr id="12" name="Rectangle 12">
            <a:extLst>
              <a:ext uri="{FF2B5EF4-FFF2-40B4-BE49-F238E27FC236}">
                <a16:creationId xmlns:a16="http://schemas.microsoft.com/office/drawing/2014/main" id="{C05DCF6F-3007-2B8A-82BE-813547B9BC42}"/>
              </a:ext>
            </a:extLst>
          </p:cNvPr>
          <p:cNvSpPr>
            <a:spLocks noChangeArrowheads="1"/>
          </p:cNvSpPr>
          <p:nvPr/>
        </p:nvSpPr>
        <p:spPr bwMode="auto">
          <a:xfrm>
            <a:off x="4075151" y="3070979"/>
            <a:ext cx="1374775"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3" name="Rectangle 13">
            <a:extLst>
              <a:ext uri="{FF2B5EF4-FFF2-40B4-BE49-F238E27FC236}">
                <a16:creationId xmlns:a16="http://schemas.microsoft.com/office/drawing/2014/main" id="{8BF5F5E3-4DDC-79FE-DD8D-E5E8B9CF03F5}"/>
              </a:ext>
            </a:extLst>
          </p:cNvPr>
          <p:cNvSpPr>
            <a:spLocks noChangeArrowheads="1"/>
          </p:cNvSpPr>
          <p:nvPr/>
        </p:nvSpPr>
        <p:spPr bwMode="auto">
          <a:xfrm>
            <a:off x="7937538" y="3070979"/>
            <a:ext cx="354013"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4" name="Rectangle 14">
            <a:extLst>
              <a:ext uri="{FF2B5EF4-FFF2-40B4-BE49-F238E27FC236}">
                <a16:creationId xmlns:a16="http://schemas.microsoft.com/office/drawing/2014/main" id="{C63153BB-3358-0A4A-6925-E4263B168080}"/>
              </a:ext>
            </a:extLst>
          </p:cNvPr>
          <p:cNvSpPr>
            <a:spLocks noChangeArrowheads="1"/>
          </p:cNvSpPr>
          <p:nvPr/>
        </p:nvSpPr>
        <p:spPr bwMode="auto">
          <a:xfrm>
            <a:off x="8991637" y="3070979"/>
            <a:ext cx="1054100"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5" name="Rectangle 15">
            <a:extLst>
              <a:ext uri="{FF2B5EF4-FFF2-40B4-BE49-F238E27FC236}">
                <a16:creationId xmlns:a16="http://schemas.microsoft.com/office/drawing/2014/main" id="{E0E5723D-3ADC-B457-77ED-8648F0C09218}"/>
              </a:ext>
            </a:extLst>
          </p:cNvPr>
          <p:cNvSpPr>
            <a:spLocks noChangeArrowheads="1"/>
          </p:cNvSpPr>
          <p:nvPr/>
        </p:nvSpPr>
        <p:spPr bwMode="auto">
          <a:xfrm>
            <a:off x="8824950" y="3604379"/>
            <a:ext cx="113823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6" name="Rectangle 16">
            <a:extLst>
              <a:ext uri="{FF2B5EF4-FFF2-40B4-BE49-F238E27FC236}">
                <a16:creationId xmlns:a16="http://schemas.microsoft.com/office/drawing/2014/main" id="{53644AFA-D8AC-88CF-97E3-32BEFA0A6C0C}"/>
              </a:ext>
            </a:extLst>
          </p:cNvPr>
          <p:cNvSpPr>
            <a:spLocks noChangeArrowheads="1"/>
          </p:cNvSpPr>
          <p:nvPr/>
        </p:nvSpPr>
        <p:spPr bwMode="auto">
          <a:xfrm>
            <a:off x="5822988" y="3605967"/>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17" name="Line 5">
            <a:extLst>
              <a:ext uri="{FF2B5EF4-FFF2-40B4-BE49-F238E27FC236}">
                <a16:creationId xmlns:a16="http://schemas.microsoft.com/office/drawing/2014/main" id="{8B900F11-F172-4A32-E4B5-1D0038D4E0B4}"/>
              </a:ext>
            </a:extLst>
          </p:cNvPr>
          <p:cNvSpPr>
            <a:spLocks noChangeShapeType="1"/>
          </p:cNvSpPr>
          <p:nvPr/>
        </p:nvSpPr>
        <p:spPr bwMode="auto">
          <a:xfrm flipV="1">
            <a:off x="3725108" y="4131429"/>
            <a:ext cx="607552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Rectangle 7">
            <a:extLst>
              <a:ext uri="{FF2B5EF4-FFF2-40B4-BE49-F238E27FC236}">
                <a16:creationId xmlns:a16="http://schemas.microsoft.com/office/drawing/2014/main" id="{3918AA22-CA63-74DD-D01B-953684361DFE}"/>
              </a:ext>
            </a:extLst>
          </p:cNvPr>
          <p:cNvSpPr>
            <a:spLocks noChangeArrowheads="1"/>
          </p:cNvSpPr>
          <p:nvPr/>
        </p:nvSpPr>
        <p:spPr bwMode="auto">
          <a:xfrm>
            <a:off x="6559587" y="4009191"/>
            <a:ext cx="1068388"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19" name="Rectangle 12">
            <a:extLst>
              <a:ext uri="{FF2B5EF4-FFF2-40B4-BE49-F238E27FC236}">
                <a16:creationId xmlns:a16="http://schemas.microsoft.com/office/drawing/2014/main" id="{B25B50CE-72CF-980E-C40C-96EB14E584A6}"/>
              </a:ext>
            </a:extLst>
          </p:cNvPr>
          <p:cNvSpPr>
            <a:spLocks noChangeArrowheads="1"/>
          </p:cNvSpPr>
          <p:nvPr/>
        </p:nvSpPr>
        <p:spPr bwMode="auto">
          <a:xfrm>
            <a:off x="3676391" y="4009191"/>
            <a:ext cx="1773535" cy="215546"/>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0" name="Rectangle 13">
            <a:extLst>
              <a:ext uri="{FF2B5EF4-FFF2-40B4-BE49-F238E27FC236}">
                <a16:creationId xmlns:a16="http://schemas.microsoft.com/office/drawing/2014/main" id="{201D92B7-CEC7-B695-7D31-783F95BA9874}"/>
              </a:ext>
            </a:extLst>
          </p:cNvPr>
          <p:cNvSpPr>
            <a:spLocks noChangeArrowheads="1"/>
          </p:cNvSpPr>
          <p:nvPr/>
        </p:nvSpPr>
        <p:spPr bwMode="auto">
          <a:xfrm>
            <a:off x="7937538" y="4009191"/>
            <a:ext cx="354013"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1" name="Rectangle 14">
            <a:extLst>
              <a:ext uri="{FF2B5EF4-FFF2-40B4-BE49-F238E27FC236}">
                <a16:creationId xmlns:a16="http://schemas.microsoft.com/office/drawing/2014/main" id="{1E266097-E0A3-BB82-2143-69A86E46ADB5}"/>
              </a:ext>
            </a:extLst>
          </p:cNvPr>
          <p:cNvSpPr>
            <a:spLocks noChangeArrowheads="1"/>
          </p:cNvSpPr>
          <p:nvPr/>
        </p:nvSpPr>
        <p:spPr bwMode="auto">
          <a:xfrm>
            <a:off x="8991637" y="4009190"/>
            <a:ext cx="900113" cy="242887"/>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sp>
        <p:nvSpPr>
          <p:cNvPr id="22" name="Rectangle 12">
            <a:extLst>
              <a:ext uri="{FF2B5EF4-FFF2-40B4-BE49-F238E27FC236}">
                <a16:creationId xmlns:a16="http://schemas.microsoft.com/office/drawing/2014/main" id="{AF66BFF3-34EB-CF65-56E3-A3F6FA4B6FA3}"/>
              </a:ext>
            </a:extLst>
          </p:cNvPr>
          <p:cNvSpPr>
            <a:spLocks noChangeArrowheads="1"/>
          </p:cNvSpPr>
          <p:nvPr/>
        </p:nvSpPr>
        <p:spPr bwMode="auto">
          <a:xfrm>
            <a:off x="2350333" y="3062109"/>
            <a:ext cx="1374775"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3" name="Rectangle 14">
            <a:extLst>
              <a:ext uri="{FF2B5EF4-FFF2-40B4-BE49-F238E27FC236}">
                <a16:creationId xmlns:a16="http://schemas.microsoft.com/office/drawing/2014/main" id="{9B3C0F1A-DE86-961D-65B3-79CFE02604EE}"/>
              </a:ext>
            </a:extLst>
          </p:cNvPr>
          <p:cNvSpPr>
            <a:spLocks noChangeArrowheads="1"/>
          </p:cNvSpPr>
          <p:nvPr/>
        </p:nvSpPr>
        <p:spPr bwMode="auto">
          <a:xfrm>
            <a:off x="10313100" y="3070979"/>
            <a:ext cx="1054100" cy="215900"/>
          </a:xfrm>
          <a:prstGeom prst="rect">
            <a:avLst/>
          </a:prstGeom>
          <a:solidFill>
            <a:srgbClr val="32CC6D"/>
          </a:solidFill>
          <a:ln w="127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4" name="Rectangle 16">
            <a:extLst>
              <a:ext uri="{FF2B5EF4-FFF2-40B4-BE49-F238E27FC236}">
                <a16:creationId xmlns:a16="http://schemas.microsoft.com/office/drawing/2014/main" id="{75E70169-B8E5-3DBC-3708-691FF2396B8D}"/>
              </a:ext>
            </a:extLst>
          </p:cNvPr>
          <p:cNvSpPr>
            <a:spLocks noChangeArrowheads="1"/>
          </p:cNvSpPr>
          <p:nvPr/>
        </p:nvSpPr>
        <p:spPr bwMode="auto">
          <a:xfrm>
            <a:off x="2763363" y="3604379"/>
            <a:ext cx="482600" cy="215900"/>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pPr eaLnBrk="1" hangingPunct="1"/>
            <a:endParaRPr lang="en-US" altLang="en-US"/>
          </a:p>
        </p:txBody>
      </p:sp>
      <p:sp>
        <p:nvSpPr>
          <p:cNvPr id="25" name="Rectangle 14">
            <a:extLst>
              <a:ext uri="{FF2B5EF4-FFF2-40B4-BE49-F238E27FC236}">
                <a16:creationId xmlns:a16="http://schemas.microsoft.com/office/drawing/2014/main" id="{3BDF2E52-9744-E4A9-B8C9-CE0C02CED20B}"/>
              </a:ext>
            </a:extLst>
          </p:cNvPr>
          <p:cNvSpPr>
            <a:spLocks noChangeArrowheads="1"/>
          </p:cNvSpPr>
          <p:nvPr/>
        </p:nvSpPr>
        <p:spPr bwMode="auto">
          <a:xfrm>
            <a:off x="10420387" y="4009190"/>
            <a:ext cx="946813" cy="242887"/>
          </a:xfrm>
          <a:prstGeom prst="rect">
            <a:avLst/>
          </a:prstGeom>
          <a:solidFill>
            <a:srgbClr val="3399FF"/>
          </a:solidFill>
          <a:ln w="12700" algn="ctr">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50000"/>
              </a:spcBef>
              <a:defRPr sz="2400" i="1">
                <a:solidFill>
                  <a:srgbClr val="FF3300"/>
                </a:solidFill>
                <a:latin typeface="Times New Roman" panose="02020603050405020304" pitchFamily="18" charset="0"/>
                <a:ea typeface="ＭＳ Ｐゴシック" panose="020B0600070205080204" pitchFamily="34" charset="-128"/>
              </a:defRPr>
            </a:lvl1pPr>
            <a:lvl2pPr marL="742950" indent="-285750">
              <a:spcBef>
                <a:spcPct val="50000"/>
              </a:spcBef>
              <a:defRPr sz="2400" i="1">
                <a:solidFill>
                  <a:srgbClr val="FF3300"/>
                </a:solidFill>
                <a:latin typeface="Times New Roman" panose="02020603050405020304" pitchFamily="18" charset="0"/>
                <a:ea typeface="ＭＳ Ｐゴシック" panose="020B0600070205080204" pitchFamily="34" charset="-128"/>
              </a:defRPr>
            </a:lvl2pPr>
            <a:lvl3pPr marL="11430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3pPr>
            <a:lvl4pPr marL="16002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4pPr>
            <a:lvl5pPr marL="2057400" indent="-228600">
              <a:spcBef>
                <a:spcPct val="50000"/>
              </a:spcBef>
              <a:defRPr sz="2400" i="1">
                <a:solidFill>
                  <a:srgbClr val="FF3300"/>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50000"/>
              </a:spcBef>
              <a:spcAft>
                <a:spcPct val="0"/>
              </a:spcAft>
              <a:defRPr sz="2400" i="1">
                <a:solidFill>
                  <a:srgbClr val="FF3300"/>
                </a:solidFill>
                <a:latin typeface="Times New Roman" panose="02020603050405020304" pitchFamily="18" charset="0"/>
                <a:ea typeface="ＭＳ Ｐゴシック" panose="020B0600070205080204" pitchFamily="34" charset="-128"/>
              </a:defRPr>
            </a:lvl9pPr>
          </a:lstStyle>
          <a:p>
            <a:endParaRPr lang="en-US" altLang="en-US"/>
          </a:p>
        </p:txBody>
      </p:sp>
      <p:grpSp>
        <p:nvGrpSpPr>
          <p:cNvPr id="26" name="Group 25">
            <a:extLst>
              <a:ext uri="{FF2B5EF4-FFF2-40B4-BE49-F238E27FC236}">
                <a16:creationId xmlns:a16="http://schemas.microsoft.com/office/drawing/2014/main" id="{1209EBF1-A251-A0CB-D0B1-A5AD73DDE858}"/>
              </a:ext>
            </a:extLst>
          </p:cNvPr>
          <p:cNvGrpSpPr/>
          <p:nvPr/>
        </p:nvGrpSpPr>
        <p:grpSpPr>
          <a:xfrm>
            <a:off x="2606957" y="2284291"/>
            <a:ext cx="795411" cy="1413049"/>
            <a:chOff x="2250822" y="2142223"/>
            <a:chExt cx="795411" cy="1413049"/>
          </a:xfrm>
        </p:grpSpPr>
        <p:cxnSp>
          <p:nvCxnSpPr>
            <p:cNvPr id="27" name="Straight Connector 26">
              <a:extLst>
                <a:ext uri="{FF2B5EF4-FFF2-40B4-BE49-F238E27FC236}">
                  <a16:creationId xmlns:a16="http://schemas.microsoft.com/office/drawing/2014/main" id="{4D3FCC78-F719-E73A-876A-9C66932A041A}"/>
                </a:ext>
              </a:extLst>
            </p:cNvPr>
            <p:cNvCxnSpPr>
              <a:cxnSpLocks/>
            </p:cNvCxnSpPr>
            <p:nvPr/>
          </p:nvCxnSpPr>
          <p:spPr bwMode="auto">
            <a:xfrm flipV="1">
              <a:off x="2889828" y="2503357"/>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a:extLst>
                <a:ext uri="{FF2B5EF4-FFF2-40B4-BE49-F238E27FC236}">
                  <a16:creationId xmlns:a16="http://schemas.microsoft.com/office/drawing/2014/main" id="{851464E3-2DB7-54B9-614D-7DDC8AEC4C5D}"/>
                </a:ext>
              </a:extLst>
            </p:cNvPr>
            <p:cNvCxnSpPr>
              <a:cxnSpLocks/>
            </p:cNvCxnSpPr>
            <p:nvPr/>
          </p:nvCxnSpPr>
          <p:spPr bwMode="auto">
            <a:xfrm flipV="1">
              <a:off x="2407228" y="2503357"/>
              <a:ext cx="0" cy="1028520"/>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Arrow Connector 28">
              <a:extLst>
                <a:ext uri="{FF2B5EF4-FFF2-40B4-BE49-F238E27FC236}">
                  <a16:creationId xmlns:a16="http://schemas.microsoft.com/office/drawing/2014/main" id="{E5952F0A-805B-8212-DB46-D8E41B24A364}"/>
                </a:ext>
              </a:extLst>
            </p:cNvPr>
            <p:cNvCxnSpPr/>
            <p:nvPr/>
          </p:nvCxnSpPr>
          <p:spPr bwMode="auto">
            <a:xfrm>
              <a:off x="2407228" y="2653259"/>
              <a:ext cx="482600" cy="0"/>
            </a:xfrm>
            <a:prstGeom prst="straightConnector1">
              <a:avLst/>
            </a:prstGeom>
            <a:solidFill>
              <a:schemeClr val="accent1"/>
            </a:solidFill>
            <a:ln w="9525" cap="flat" cmpd="sng" algn="ctr">
              <a:solidFill>
                <a:schemeClr val="tx1"/>
              </a:solidFill>
              <a:prstDash val="solid"/>
              <a:round/>
              <a:headEnd type="arrow"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Box 29">
              <a:extLst>
                <a:ext uri="{FF2B5EF4-FFF2-40B4-BE49-F238E27FC236}">
                  <a16:creationId xmlns:a16="http://schemas.microsoft.com/office/drawing/2014/main" id="{D7F24431-462B-C05C-21CD-DF8D6CEB7173}"/>
                </a:ext>
              </a:extLst>
            </p:cNvPr>
            <p:cNvSpPr txBox="1"/>
            <p:nvPr/>
          </p:nvSpPr>
          <p:spPr>
            <a:xfrm>
              <a:off x="2250822" y="2142223"/>
              <a:ext cx="795411" cy="369332"/>
            </a:xfrm>
            <a:prstGeom prst="rect">
              <a:avLst/>
            </a:prstGeom>
            <a:noFill/>
          </p:spPr>
          <p:txBody>
            <a:bodyPr wrap="none" rtlCol="0">
              <a:spAutoFit/>
            </a:bodyPr>
            <a:lstStyle/>
            <a:p>
              <a:r>
                <a:rPr lang="en-US">
                  <a:latin typeface="+mj-lt"/>
                </a:rPr>
                <a:t>&lt; 80%</a:t>
              </a:r>
            </a:p>
          </p:txBody>
        </p:sp>
      </p:grpSp>
      <p:grpSp>
        <p:nvGrpSpPr>
          <p:cNvPr id="31" name="Group 30">
            <a:extLst>
              <a:ext uri="{FF2B5EF4-FFF2-40B4-BE49-F238E27FC236}">
                <a16:creationId xmlns:a16="http://schemas.microsoft.com/office/drawing/2014/main" id="{B673D7E0-F0ED-D047-B77A-DFBD8CE1C042}"/>
              </a:ext>
            </a:extLst>
          </p:cNvPr>
          <p:cNvGrpSpPr/>
          <p:nvPr/>
        </p:nvGrpSpPr>
        <p:grpSpPr>
          <a:xfrm>
            <a:off x="2406907" y="3429000"/>
            <a:ext cx="1177512" cy="1148271"/>
            <a:chOff x="2050772" y="3286932"/>
            <a:chExt cx="1177512" cy="1148271"/>
          </a:xfrm>
        </p:grpSpPr>
        <p:sp>
          <p:nvSpPr>
            <p:cNvPr id="32" name="Oval 31">
              <a:extLst>
                <a:ext uri="{FF2B5EF4-FFF2-40B4-BE49-F238E27FC236}">
                  <a16:creationId xmlns:a16="http://schemas.microsoft.com/office/drawing/2014/main" id="{C89A2503-CDFD-6D9E-96AB-C648EA5291D4}"/>
                </a:ext>
              </a:extLst>
            </p:cNvPr>
            <p:cNvSpPr/>
            <p:nvPr/>
          </p:nvSpPr>
          <p:spPr bwMode="auto">
            <a:xfrm>
              <a:off x="2050772" y="3286932"/>
              <a:ext cx="1065757" cy="702429"/>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C00000"/>
                </a:solidFill>
                <a:effectLst/>
                <a:latin typeface="Arial" panose="020B0604020202020204" pitchFamily="34" charset="0"/>
                <a:ea typeface="ＭＳ Ｐゴシック" panose="020B0600070205080204" pitchFamily="34" charset="-128"/>
              </a:endParaRPr>
            </a:p>
          </p:txBody>
        </p:sp>
        <p:sp>
          <p:nvSpPr>
            <p:cNvPr id="33" name="TextBox 32">
              <a:extLst>
                <a:ext uri="{FF2B5EF4-FFF2-40B4-BE49-F238E27FC236}">
                  <a16:creationId xmlns:a16="http://schemas.microsoft.com/office/drawing/2014/main" id="{5704CB8E-70EF-CC92-7C26-1F3DBEB374A9}"/>
                </a:ext>
              </a:extLst>
            </p:cNvPr>
            <p:cNvSpPr txBox="1"/>
            <p:nvPr/>
          </p:nvSpPr>
          <p:spPr>
            <a:xfrm>
              <a:off x="2068992" y="4065871"/>
              <a:ext cx="1159292" cy="369332"/>
            </a:xfrm>
            <a:prstGeom prst="rect">
              <a:avLst/>
            </a:prstGeom>
            <a:noFill/>
          </p:spPr>
          <p:txBody>
            <a:bodyPr wrap="none" rtlCol="0">
              <a:spAutoFit/>
            </a:bodyPr>
            <a:lstStyle/>
            <a:p>
              <a:r>
                <a:rPr lang="en-US">
                  <a:solidFill>
                    <a:srgbClr val="C00000"/>
                  </a:solidFill>
                </a:rPr>
                <a:t>WRONG!</a:t>
              </a:r>
            </a:p>
          </p:txBody>
        </p:sp>
      </p:grpSp>
      <p:grpSp>
        <p:nvGrpSpPr>
          <p:cNvPr id="34" name="Group 33">
            <a:extLst>
              <a:ext uri="{FF2B5EF4-FFF2-40B4-BE49-F238E27FC236}">
                <a16:creationId xmlns:a16="http://schemas.microsoft.com/office/drawing/2014/main" id="{6EF14382-EE38-85D7-B50C-7683DD42B5EA}"/>
              </a:ext>
            </a:extLst>
          </p:cNvPr>
          <p:cNvGrpSpPr/>
          <p:nvPr/>
        </p:nvGrpSpPr>
        <p:grpSpPr>
          <a:xfrm>
            <a:off x="10277147" y="3673946"/>
            <a:ext cx="1441998" cy="1303301"/>
            <a:chOff x="9921012" y="3531878"/>
            <a:chExt cx="1441998" cy="1303301"/>
          </a:xfrm>
        </p:grpSpPr>
        <p:sp>
          <p:nvSpPr>
            <p:cNvPr id="35" name="Oval 34">
              <a:extLst>
                <a:ext uri="{FF2B5EF4-FFF2-40B4-BE49-F238E27FC236}">
                  <a16:creationId xmlns:a16="http://schemas.microsoft.com/office/drawing/2014/main" id="{08B5F4DC-0C4D-17F5-47C3-03DB5F2B65F0}"/>
                </a:ext>
              </a:extLst>
            </p:cNvPr>
            <p:cNvSpPr/>
            <p:nvPr/>
          </p:nvSpPr>
          <p:spPr bwMode="auto">
            <a:xfrm>
              <a:off x="9921012" y="3531878"/>
              <a:ext cx="1202249" cy="807902"/>
            </a:xfrm>
            <a:prstGeom prst="ellips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rgbClr val="C00000"/>
                </a:solidFill>
                <a:effectLst/>
                <a:latin typeface="Arial" panose="020B0604020202020204" pitchFamily="34" charset="0"/>
                <a:ea typeface="ＭＳ Ｐゴシック" panose="020B0600070205080204" pitchFamily="34" charset="-128"/>
              </a:endParaRPr>
            </a:p>
          </p:txBody>
        </p:sp>
        <p:sp>
          <p:nvSpPr>
            <p:cNvPr id="36" name="TextBox 35">
              <a:extLst>
                <a:ext uri="{FF2B5EF4-FFF2-40B4-BE49-F238E27FC236}">
                  <a16:creationId xmlns:a16="http://schemas.microsoft.com/office/drawing/2014/main" id="{266CB5F1-F224-000E-7F20-CD8353AE37B7}"/>
                </a:ext>
              </a:extLst>
            </p:cNvPr>
            <p:cNvSpPr txBox="1"/>
            <p:nvPr/>
          </p:nvSpPr>
          <p:spPr>
            <a:xfrm>
              <a:off x="9972886" y="4465847"/>
              <a:ext cx="1390124" cy="369332"/>
            </a:xfrm>
            <a:prstGeom prst="rect">
              <a:avLst/>
            </a:prstGeom>
            <a:noFill/>
          </p:spPr>
          <p:txBody>
            <a:bodyPr wrap="none" rtlCol="0">
              <a:spAutoFit/>
            </a:bodyPr>
            <a:lstStyle/>
            <a:p>
              <a:r>
                <a:rPr lang="en-US">
                  <a:solidFill>
                    <a:srgbClr val="C00000"/>
                  </a:solidFill>
                </a:rPr>
                <a:t>CORRECT!</a:t>
              </a:r>
            </a:p>
          </p:txBody>
        </p:sp>
      </p:grpSp>
      <p:grpSp>
        <p:nvGrpSpPr>
          <p:cNvPr id="37" name="Group 36">
            <a:extLst>
              <a:ext uri="{FF2B5EF4-FFF2-40B4-BE49-F238E27FC236}">
                <a16:creationId xmlns:a16="http://schemas.microsoft.com/office/drawing/2014/main" id="{CD581B0E-F39C-8252-500E-73FE10ABC687}"/>
              </a:ext>
            </a:extLst>
          </p:cNvPr>
          <p:cNvGrpSpPr/>
          <p:nvPr/>
        </p:nvGrpSpPr>
        <p:grpSpPr>
          <a:xfrm>
            <a:off x="4388873" y="4245372"/>
            <a:ext cx="5054589" cy="762653"/>
            <a:chOff x="4032738" y="4103304"/>
            <a:chExt cx="5054589" cy="762653"/>
          </a:xfrm>
        </p:grpSpPr>
        <p:sp>
          <p:nvSpPr>
            <p:cNvPr id="38" name="TextBox 37">
              <a:extLst>
                <a:ext uri="{FF2B5EF4-FFF2-40B4-BE49-F238E27FC236}">
                  <a16:creationId xmlns:a16="http://schemas.microsoft.com/office/drawing/2014/main" id="{B6D599A8-FA28-E030-2381-40E5F74B370A}"/>
                </a:ext>
              </a:extLst>
            </p:cNvPr>
            <p:cNvSpPr txBox="1"/>
            <p:nvPr/>
          </p:nvSpPr>
          <p:spPr>
            <a:xfrm>
              <a:off x="4032738" y="4465847"/>
              <a:ext cx="5054589" cy="400110"/>
            </a:xfrm>
            <a:prstGeom prst="rect">
              <a:avLst/>
            </a:prstGeom>
            <a:noFill/>
          </p:spPr>
          <p:txBody>
            <a:bodyPr wrap="none" rtlCol="0">
              <a:spAutoFit/>
            </a:bodyPr>
            <a:lstStyle/>
            <a:p>
              <a:r>
                <a:rPr lang="en-US" sz="2000">
                  <a:solidFill>
                    <a:srgbClr val="C00000"/>
                  </a:solidFill>
                </a:rPr>
                <a:t>Same exon-intron structure =&gt; CORRECT!</a:t>
              </a:r>
            </a:p>
          </p:txBody>
        </p:sp>
        <p:cxnSp>
          <p:nvCxnSpPr>
            <p:cNvPr id="39" name="Straight Arrow Connector 38">
              <a:extLst>
                <a:ext uri="{FF2B5EF4-FFF2-40B4-BE49-F238E27FC236}">
                  <a16:creationId xmlns:a16="http://schemas.microsoft.com/office/drawing/2014/main" id="{EAEC8C1D-41BB-339A-10B7-41C1DBAD65CD}"/>
                </a:ext>
              </a:extLst>
            </p:cNvPr>
            <p:cNvCxnSpPr>
              <a:stCxn id="38" idx="0"/>
            </p:cNvCxnSpPr>
            <p:nvPr/>
          </p:nvCxnSpPr>
          <p:spPr bwMode="auto">
            <a:xfrm flipV="1">
              <a:off x="6560033" y="4103304"/>
              <a:ext cx="108415" cy="362543"/>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0" name="Group 39">
            <a:extLst>
              <a:ext uri="{FF2B5EF4-FFF2-40B4-BE49-F238E27FC236}">
                <a16:creationId xmlns:a16="http://schemas.microsoft.com/office/drawing/2014/main" id="{7ED92B1C-0D0B-04D3-3A95-17F065D64258}"/>
              </a:ext>
            </a:extLst>
          </p:cNvPr>
          <p:cNvGrpSpPr/>
          <p:nvPr/>
        </p:nvGrpSpPr>
        <p:grpSpPr>
          <a:xfrm>
            <a:off x="5449926" y="2984898"/>
            <a:ext cx="3541711" cy="1054615"/>
            <a:chOff x="5093791" y="2842830"/>
            <a:chExt cx="3541711" cy="1054615"/>
          </a:xfrm>
        </p:grpSpPr>
        <p:cxnSp>
          <p:nvCxnSpPr>
            <p:cNvPr id="41" name="Straight Connector 40">
              <a:extLst>
                <a:ext uri="{FF2B5EF4-FFF2-40B4-BE49-F238E27FC236}">
                  <a16:creationId xmlns:a16="http://schemas.microsoft.com/office/drawing/2014/main" id="{946DFDD2-E524-E8A1-DFAC-268F4D6CF01A}"/>
                </a:ext>
              </a:extLst>
            </p:cNvPr>
            <p:cNvCxnSpPr>
              <a:cxnSpLocks/>
            </p:cNvCxnSpPr>
            <p:nvPr/>
          </p:nvCxnSpPr>
          <p:spPr bwMode="auto">
            <a:xfrm flipV="1">
              <a:off x="5093791" y="28455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Straight Connector 41">
              <a:extLst>
                <a:ext uri="{FF2B5EF4-FFF2-40B4-BE49-F238E27FC236}">
                  <a16:creationId xmlns:a16="http://schemas.microsoft.com/office/drawing/2014/main" id="{934ECAD1-612E-CAB4-3A7F-8778DD2FF228}"/>
                </a:ext>
              </a:extLst>
            </p:cNvPr>
            <p:cNvCxnSpPr>
              <a:cxnSpLocks/>
            </p:cNvCxnSpPr>
            <p:nvPr/>
          </p:nvCxnSpPr>
          <p:spPr bwMode="auto">
            <a:xfrm flipV="1">
              <a:off x="6203452"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Straight Connector 42">
              <a:extLst>
                <a:ext uri="{FF2B5EF4-FFF2-40B4-BE49-F238E27FC236}">
                  <a16:creationId xmlns:a16="http://schemas.microsoft.com/office/drawing/2014/main" id="{68987DCA-7A9A-2494-D713-038ADC7E3AE2}"/>
                </a:ext>
              </a:extLst>
            </p:cNvPr>
            <p:cNvCxnSpPr>
              <a:cxnSpLocks/>
            </p:cNvCxnSpPr>
            <p:nvPr/>
          </p:nvCxnSpPr>
          <p:spPr bwMode="auto">
            <a:xfrm flipV="1">
              <a:off x="7283011"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Straight Connector 43">
              <a:extLst>
                <a:ext uri="{FF2B5EF4-FFF2-40B4-BE49-F238E27FC236}">
                  <a16:creationId xmlns:a16="http://schemas.microsoft.com/office/drawing/2014/main" id="{2D594CAE-F56A-8905-BAE6-001E12AC1242}"/>
                </a:ext>
              </a:extLst>
            </p:cNvPr>
            <p:cNvCxnSpPr>
              <a:cxnSpLocks/>
            </p:cNvCxnSpPr>
            <p:nvPr/>
          </p:nvCxnSpPr>
          <p:spPr bwMode="auto">
            <a:xfrm flipV="1">
              <a:off x="7581403"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Straight Connector 44">
              <a:extLst>
                <a:ext uri="{FF2B5EF4-FFF2-40B4-BE49-F238E27FC236}">
                  <a16:creationId xmlns:a16="http://schemas.microsoft.com/office/drawing/2014/main" id="{CC70D78E-7405-CC93-D61C-A1ECE17A979F}"/>
                </a:ext>
              </a:extLst>
            </p:cNvPr>
            <p:cNvCxnSpPr>
              <a:cxnSpLocks/>
            </p:cNvCxnSpPr>
            <p:nvPr/>
          </p:nvCxnSpPr>
          <p:spPr bwMode="auto">
            <a:xfrm flipV="1">
              <a:off x="8635502"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Straight Connector 45">
              <a:extLst>
                <a:ext uri="{FF2B5EF4-FFF2-40B4-BE49-F238E27FC236}">
                  <a16:creationId xmlns:a16="http://schemas.microsoft.com/office/drawing/2014/main" id="{2848F8D9-A172-700C-A799-B1A5D531FEBB}"/>
                </a:ext>
              </a:extLst>
            </p:cNvPr>
            <p:cNvCxnSpPr>
              <a:cxnSpLocks/>
            </p:cNvCxnSpPr>
            <p:nvPr/>
          </p:nvCxnSpPr>
          <p:spPr bwMode="auto">
            <a:xfrm flipV="1">
              <a:off x="7935416" y="2842830"/>
              <a:ext cx="0" cy="1051915"/>
            </a:xfrm>
            <a:prstGeom prst="line">
              <a:avLst/>
            </a:prstGeom>
            <a:solidFill>
              <a:schemeClr val="accent1"/>
            </a:solidFill>
            <a:ln w="38100" cap="flat" cmpd="sng" algn="ctr">
              <a:solidFill>
                <a:srgbClr val="FF0000"/>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256113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D4C79-9850-7711-7E3B-C4D96EF16D22}"/>
              </a:ext>
            </a:extLst>
          </p:cNvPr>
          <p:cNvSpPr>
            <a:spLocks noGrp="1"/>
          </p:cNvSpPr>
          <p:nvPr>
            <p:ph type="title"/>
          </p:nvPr>
        </p:nvSpPr>
        <p:spPr/>
        <p:txBody>
          <a:bodyPr>
            <a:normAutofit fontScale="90000"/>
          </a:bodyPr>
          <a:lstStyle/>
          <a:p>
            <a:r>
              <a:rPr lang="en-US" dirty="0" err="1"/>
              <a:t>gffread</a:t>
            </a:r>
            <a:r>
              <a:rPr lang="en-US" dirty="0"/>
              <a:t>, gffcompare and </a:t>
            </a:r>
            <a:r>
              <a:rPr lang="en-US" dirty="0" err="1"/>
              <a:t>trmap</a:t>
            </a:r>
            <a:endParaRPr lang="en-US" dirty="0"/>
          </a:p>
        </p:txBody>
      </p:sp>
      <p:sp>
        <p:nvSpPr>
          <p:cNvPr id="4" name="Slide Number Placeholder 3">
            <a:extLst>
              <a:ext uri="{FF2B5EF4-FFF2-40B4-BE49-F238E27FC236}">
                <a16:creationId xmlns:a16="http://schemas.microsoft.com/office/drawing/2014/main" id="{B502250C-AE07-8493-2834-733D81897B23}"/>
              </a:ext>
            </a:extLst>
          </p:cNvPr>
          <p:cNvSpPr>
            <a:spLocks noGrp="1"/>
          </p:cNvSpPr>
          <p:nvPr>
            <p:ph type="sldNum" sz="quarter" idx="12"/>
          </p:nvPr>
        </p:nvSpPr>
        <p:spPr/>
        <p:txBody>
          <a:bodyPr/>
          <a:lstStyle/>
          <a:p>
            <a:fld id="{B82CCC60-E8CD-4174-8B1A-7DF615B22EEF}" type="slidenum">
              <a:rPr lang="en-US" smtClean="0"/>
              <a:pPr/>
              <a:t>11</a:t>
            </a:fld>
            <a:endParaRPr lang="en-US"/>
          </a:p>
        </p:txBody>
      </p:sp>
      <p:sp>
        <p:nvSpPr>
          <p:cNvPr id="5" name="Rectangle 4">
            <a:extLst>
              <a:ext uri="{FF2B5EF4-FFF2-40B4-BE49-F238E27FC236}">
                <a16:creationId xmlns:a16="http://schemas.microsoft.com/office/drawing/2014/main" id="{A4E458DA-39C3-CF79-0149-E087ED40D845}"/>
              </a:ext>
            </a:extLst>
          </p:cNvPr>
          <p:cNvSpPr/>
          <p:nvPr/>
        </p:nvSpPr>
        <p:spPr bwMode="auto">
          <a:xfrm>
            <a:off x="5533951" y="1683048"/>
            <a:ext cx="1396471" cy="461665"/>
          </a:xfrm>
          <a:prstGeom prst="rect">
            <a:avLst/>
          </a:prstGeom>
          <a:solidFill>
            <a:srgbClr val="FFFF00"/>
          </a:solid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6" name="Rectangle 5">
            <a:extLst>
              <a:ext uri="{FF2B5EF4-FFF2-40B4-BE49-F238E27FC236}">
                <a16:creationId xmlns:a16="http://schemas.microsoft.com/office/drawing/2014/main" id="{A9660064-5C7C-3C24-F166-BF315A783486}"/>
              </a:ext>
            </a:extLst>
          </p:cNvPr>
          <p:cNvSpPr/>
          <p:nvPr/>
        </p:nvSpPr>
        <p:spPr>
          <a:xfrm>
            <a:off x="5533951" y="1668387"/>
            <a:ext cx="5283819" cy="461665"/>
          </a:xfrm>
          <a:prstGeom prst="rect">
            <a:avLst/>
          </a:prstGeom>
        </p:spPr>
        <p:txBody>
          <a:bodyPr wrap="none">
            <a:spAutoFit/>
          </a:bodyPr>
          <a:lstStyle/>
          <a:p>
            <a:r>
              <a:rPr lang="en-US" sz="2400" err="1">
                <a:latin typeface="CourierNewPSMT" panose="02070309020205020404" pitchFamily="49" charset="0"/>
              </a:rPr>
              <a:t>gffread</a:t>
            </a:r>
            <a:r>
              <a:rPr lang="en-US" sz="2400">
                <a:latin typeface="Times" pitchFamily="2" charset="0"/>
              </a:rPr>
              <a:t>, </a:t>
            </a:r>
            <a:r>
              <a:rPr lang="en-US" sz="2400" err="1">
                <a:latin typeface="CourierNewPSMT" panose="02070309020205020404" pitchFamily="49" charset="0"/>
              </a:rPr>
              <a:t>gffcompare</a:t>
            </a:r>
            <a:r>
              <a:rPr lang="en-US" sz="2400">
                <a:latin typeface="CourierNewPSMT" panose="02070309020205020404" pitchFamily="49" charset="0"/>
              </a:rPr>
              <a:t> </a:t>
            </a:r>
            <a:r>
              <a:rPr lang="en-US" sz="2400">
                <a:latin typeface="Times" pitchFamily="2" charset="0"/>
              </a:rPr>
              <a:t>and </a:t>
            </a:r>
            <a:r>
              <a:rPr lang="en-US" sz="2400" err="1">
                <a:latin typeface="CourierNewPSMT" panose="02070309020205020404" pitchFamily="49" charset="0"/>
              </a:rPr>
              <a:t>trmap</a:t>
            </a:r>
            <a:r>
              <a:rPr lang="en-US" sz="2400">
                <a:latin typeface="CourierNewPSMT" panose="02070309020205020404" pitchFamily="49" charset="0"/>
              </a:rPr>
              <a:t> </a:t>
            </a:r>
            <a:endParaRPr lang="en-US" sz="2400"/>
          </a:p>
        </p:txBody>
      </p:sp>
      <p:pic>
        <p:nvPicPr>
          <p:cNvPr id="7" name="Picture 6">
            <a:extLst>
              <a:ext uri="{FF2B5EF4-FFF2-40B4-BE49-F238E27FC236}">
                <a16:creationId xmlns:a16="http://schemas.microsoft.com/office/drawing/2014/main" id="{EAEA9615-2B94-2FC8-EB0F-0C7B1378E436}"/>
              </a:ext>
            </a:extLst>
          </p:cNvPr>
          <p:cNvPicPr>
            <a:picLocks noChangeAspect="1"/>
          </p:cNvPicPr>
          <p:nvPr/>
        </p:nvPicPr>
        <p:blipFill>
          <a:blip r:embed="rId2"/>
          <a:srcRect r="1029" b="57678"/>
          <a:stretch>
            <a:fillRect/>
          </a:stretch>
        </p:blipFill>
        <p:spPr>
          <a:xfrm>
            <a:off x="118673" y="1777354"/>
            <a:ext cx="5026191" cy="2278963"/>
          </a:xfrm>
          <a:prstGeom prst="rect">
            <a:avLst/>
          </a:prstGeom>
        </p:spPr>
      </p:pic>
      <p:sp>
        <p:nvSpPr>
          <p:cNvPr id="8" name="Rectangle 7">
            <a:extLst>
              <a:ext uri="{FF2B5EF4-FFF2-40B4-BE49-F238E27FC236}">
                <a16:creationId xmlns:a16="http://schemas.microsoft.com/office/drawing/2014/main" id="{1D7CD01D-9440-7E42-D382-14CA249446BE}"/>
              </a:ext>
            </a:extLst>
          </p:cNvPr>
          <p:cNvSpPr/>
          <p:nvPr/>
        </p:nvSpPr>
        <p:spPr>
          <a:xfrm>
            <a:off x="5306808" y="2333383"/>
            <a:ext cx="6092506" cy="830997"/>
          </a:xfrm>
          <a:prstGeom prst="rect">
            <a:avLst/>
          </a:prstGeom>
        </p:spPr>
        <p:txBody>
          <a:bodyPr wrap="square">
            <a:spAutoFit/>
          </a:bodyPr>
          <a:lstStyle/>
          <a:p>
            <a:r>
              <a:rPr lang="en-US" sz="1600" dirty="0">
                <a:solidFill>
                  <a:srgbClr val="333333"/>
                </a:solidFill>
                <a:latin typeface="Roboto"/>
              </a:rPr>
              <a:t>- a fast tool for verification, filtering and conversion of the most popular annotation file formats (GTF, GFF3, </a:t>
            </a:r>
            <a:r>
              <a:rPr lang="en-US" sz="1600" dirty="0"/>
              <a:t>BED) </a:t>
            </a:r>
            <a:r>
              <a:rPr lang="en-US" sz="1600" dirty="0">
                <a:solidFill>
                  <a:srgbClr val="333333"/>
                </a:solidFill>
                <a:latin typeface="Roboto"/>
              </a:rPr>
              <a:t>and for quick extraction of transcript sequences from the genome sequence. </a:t>
            </a:r>
            <a:endParaRPr lang="en-US" sz="1600" dirty="0"/>
          </a:p>
        </p:txBody>
      </p:sp>
      <p:grpSp>
        <p:nvGrpSpPr>
          <p:cNvPr id="9" name="Group 8">
            <a:extLst>
              <a:ext uri="{FF2B5EF4-FFF2-40B4-BE49-F238E27FC236}">
                <a16:creationId xmlns:a16="http://schemas.microsoft.com/office/drawing/2014/main" id="{9E686C2C-AF3D-9B21-3257-99226D2755A9}"/>
              </a:ext>
            </a:extLst>
          </p:cNvPr>
          <p:cNvGrpSpPr/>
          <p:nvPr/>
        </p:nvGrpSpPr>
        <p:grpSpPr>
          <a:xfrm>
            <a:off x="5408759" y="4020470"/>
            <a:ext cx="6399324" cy="559605"/>
            <a:chOff x="5450077" y="2711434"/>
            <a:chExt cx="6399324" cy="559605"/>
          </a:xfrm>
        </p:grpSpPr>
        <p:pic>
          <p:nvPicPr>
            <p:cNvPr id="10" name="Picture 9">
              <a:extLst>
                <a:ext uri="{FF2B5EF4-FFF2-40B4-BE49-F238E27FC236}">
                  <a16:creationId xmlns:a16="http://schemas.microsoft.com/office/drawing/2014/main" id="{5BDC114E-981E-07CF-6262-982C8E6D32CA}"/>
                </a:ext>
              </a:extLst>
            </p:cNvPr>
            <p:cNvPicPr>
              <a:picLocks noChangeAspect="1"/>
            </p:cNvPicPr>
            <p:nvPr/>
          </p:nvPicPr>
          <p:blipFill rotWithShape="1">
            <a:blip r:embed="rId3"/>
            <a:srcRect l="37166" t="-20686"/>
            <a:stretch/>
          </p:blipFill>
          <p:spPr>
            <a:xfrm>
              <a:off x="5553246" y="3041134"/>
              <a:ext cx="6296155" cy="229905"/>
            </a:xfrm>
            <a:prstGeom prst="rect">
              <a:avLst/>
            </a:prstGeom>
          </p:spPr>
        </p:pic>
        <p:sp>
          <p:nvSpPr>
            <p:cNvPr id="11" name="TextBox 10">
              <a:extLst>
                <a:ext uri="{FF2B5EF4-FFF2-40B4-BE49-F238E27FC236}">
                  <a16:creationId xmlns:a16="http://schemas.microsoft.com/office/drawing/2014/main" id="{9B01A855-1B75-030E-9AB5-65D8D78FA4E4}"/>
                </a:ext>
              </a:extLst>
            </p:cNvPr>
            <p:cNvSpPr txBox="1"/>
            <p:nvPr/>
          </p:nvSpPr>
          <p:spPr>
            <a:xfrm>
              <a:off x="5450077" y="2711434"/>
              <a:ext cx="1067921" cy="369332"/>
            </a:xfrm>
            <a:prstGeom prst="rect">
              <a:avLst/>
            </a:prstGeom>
            <a:noFill/>
          </p:spPr>
          <p:txBody>
            <a:bodyPr wrap="none" rtlCol="0">
              <a:spAutoFit/>
            </a:bodyPr>
            <a:lstStyle/>
            <a:p>
              <a:r>
                <a:rPr lang="en-US">
                  <a:latin typeface="Batang" panose="02030600000101010101" pitchFamily="18" charset="-127"/>
                  <a:ea typeface="Batang" panose="02030600000101010101" pitchFamily="18" charset="-127"/>
                  <a:cs typeface="Ayuthaya" pitchFamily="2" charset="-34"/>
                </a:rPr>
                <a:t>FASTA:</a:t>
              </a:r>
            </a:p>
          </p:txBody>
        </p:sp>
      </p:grpSp>
      <p:grpSp>
        <p:nvGrpSpPr>
          <p:cNvPr id="12" name="Group 11">
            <a:extLst>
              <a:ext uri="{FF2B5EF4-FFF2-40B4-BE49-F238E27FC236}">
                <a16:creationId xmlns:a16="http://schemas.microsoft.com/office/drawing/2014/main" id="{090BFB6B-1931-FA67-1360-FC562234D293}"/>
              </a:ext>
            </a:extLst>
          </p:cNvPr>
          <p:cNvGrpSpPr/>
          <p:nvPr/>
        </p:nvGrpSpPr>
        <p:grpSpPr>
          <a:xfrm>
            <a:off x="5408758" y="4639807"/>
            <a:ext cx="6249413" cy="369332"/>
            <a:chOff x="5450076" y="3330771"/>
            <a:chExt cx="6249413" cy="369332"/>
          </a:xfrm>
        </p:grpSpPr>
        <p:sp>
          <p:nvSpPr>
            <p:cNvPr id="13" name="Rectangle 12">
              <a:extLst>
                <a:ext uri="{FF2B5EF4-FFF2-40B4-BE49-F238E27FC236}">
                  <a16:creationId xmlns:a16="http://schemas.microsoft.com/office/drawing/2014/main" id="{6CB706E4-B2B5-ACCB-FE71-966AFDFD791E}"/>
                </a:ext>
              </a:extLst>
            </p:cNvPr>
            <p:cNvSpPr/>
            <p:nvPr/>
          </p:nvSpPr>
          <p:spPr bwMode="auto">
            <a:xfrm>
              <a:off x="7350120" y="3420301"/>
              <a:ext cx="985267" cy="190273"/>
            </a:xfrm>
            <a:prstGeom prst="rect">
              <a:avLst/>
            </a:prstGeom>
            <a:pattFill prst="wdDnDiag">
              <a:fgClr>
                <a:schemeClr val="tx1">
                  <a:lumMod val="50000"/>
                  <a:lumOff val="50000"/>
                </a:schemeClr>
              </a:fgClr>
              <a:bgClr>
                <a:schemeClr val="bg1"/>
              </a:bgClr>
            </a:pattFill>
            <a:ln w="254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4" name="Rectangle 13">
              <a:extLst>
                <a:ext uri="{FF2B5EF4-FFF2-40B4-BE49-F238E27FC236}">
                  <a16:creationId xmlns:a16="http://schemas.microsoft.com/office/drawing/2014/main" id="{D6002C0B-CFE7-D04F-641A-275A9767FE3B}"/>
                </a:ext>
              </a:extLst>
            </p:cNvPr>
            <p:cNvSpPr/>
            <p:nvPr/>
          </p:nvSpPr>
          <p:spPr bwMode="auto">
            <a:xfrm>
              <a:off x="8701323" y="3432369"/>
              <a:ext cx="392206" cy="190273"/>
            </a:xfrm>
            <a:prstGeom prst="rect">
              <a:avLst/>
            </a:prstGeom>
            <a:pattFill prst="wdDnDiag">
              <a:fgClr>
                <a:schemeClr val="tx1">
                  <a:lumMod val="50000"/>
                  <a:lumOff val="50000"/>
                </a:schemeClr>
              </a:fgClr>
              <a:bgClr>
                <a:schemeClr val="bg1"/>
              </a:bgClr>
            </a:pattFill>
            <a:ln w="254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5" name="Rectangle 14">
              <a:extLst>
                <a:ext uri="{FF2B5EF4-FFF2-40B4-BE49-F238E27FC236}">
                  <a16:creationId xmlns:a16="http://schemas.microsoft.com/office/drawing/2014/main" id="{4544A5C4-7F48-3D34-C2B8-26CE36DB0FE2}"/>
                </a:ext>
              </a:extLst>
            </p:cNvPr>
            <p:cNvSpPr/>
            <p:nvPr/>
          </p:nvSpPr>
          <p:spPr bwMode="auto">
            <a:xfrm>
              <a:off x="9282102" y="3432369"/>
              <a:ext cx="2417387" cy="190273"/>
            </a:xfrm>
            <a:prstGeom prst="rect">
              <a:avLst/>
            </a:prstGeom>
            <a:pattFill prst="wdDnDiag">
              <a:fgClr>
                <a:schemeClr val="tx1">
                  <a:lumMod val="50000"/>
                  <a:lumOff val="50000"/>
                </a:schemeClr>
              </a:fgClr>
              <a:bgClr>
                <a:schemeClr val="bg1"/>
              </a:bgClr>
            </a:pattFill>
            <a:ln w="254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16" name="TextBox 15">
              <a:extLst>
                <a:ext uri="{FF2B5EF4-FFF2-40B4-BE49-F238E27FC236}">
                  <a16:creationId xmlns:a16="http://schemas.microsoft.com/office/drawing/2014/main" id="{91AF5057-14A6-6DB2-180B-5C317311E4FA}"/>
                </a:ext>
              </a:extLst>
            </p:cNvPr>
            <p:cNvSpPr txBox="1"/>
            <p:nvPr/>
          </p:nvSpPr>
          <p:spPr>
            <a:xfrm>
              <a:off x="5450076" y="3330771"/>
              <a:ext cx="1306768" cy="369332"/>
            </a:xfrm>
            <a:prstGeom prst="rect">
              <a:avLst/>
            </a:prstGeom>
            <a:noFill/>
          </p:spPr>
          <p:txBody>
            <a:bodyPr wrap="none" rtlCol="0">
              <a:spAutoFit/>
            </a:bodyPr>
            <a:lstStyle/>
            <a:p>
              <a:r>
                <a:rPr lang="en-US">
                  <a:latin typeface="Batang" panose="02030600000101010101" pitchFamily="18" charset="-127"/>
                  <a:ea typeface="Batang" panose="02030600000101010101" pitchFamily="18" charset="-127"/>
                  <a:cs typeface="Ayuthaya" pitchFamily="2" charset="-34"/>
                </a:rPr>
                <a:t>GFF/BED:</a:t>
              </a:r>
            </a:p>
          </p:txBody>
        </p:sp>
      </p:grpSp>
      <p:grpSp>
        <p:nvGrpSpPr>
          <p:cNvPr id="17" name="Group 16">
            <a:extLst>
              <a:ext uri="{FF2B5EF4-FFF2-40B4-BE49-F238E27FC236}">
                <a16:creationId xmlns:a16="http://schemas.microsoft.com/office/drawing/2014/main" id="{89ABF916-B00C-26C3-4218-351CCE9A2BF4}"/>
              </a:ext>
            </a:extLst>
          </p:cNvPr>
          <p:cNvGrpSpPr/>
          <p:nvPr/>
        </p:nvGrpSpPr>
        <p:grpSpPr>
          <a:xfrm>
            <a:off x="5408758" y="5107350"/>
            <a:ext cx="6525164" cy="1472838"/>
            <a:chOff x="5450076" y="3798314"/>
            <a:chExt cx="6525164" cy="1472838"/>
          </a:xfrm>
        </p:grpSpPr>
        <p:sp>
          <p:nvSpPr>
            <p:cNvPr id="18" name="Notched Right Arrow 17">
              <a:extLst>
                <a:ext uri="{FF2B5EF4-FFF2-40B4-BE49-F238E27FC236}">
                  <a16:creationId xmlns:a16="http://schemas.microsoft.com/office/drawing/2014/main" id="{11E5293E-E7D6-E639-9393-5F65CC6F12E0}"/>
                </a:ext>
              </a:extLst>
            </p:cNvPr>
            <p:cNvSpPr/>
            <p:nvPr/>
          </p:nvSpPr>
          <p:spPr bwMode="auto">
            <a:xfrm rot="5400000">
              <a:off x="6312897" y="3998731"/>
              <a:ext cx="651353" cy="250520"/>
            </a:xfrm>
            <a:prstGeom prst="notchedRightArrow">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pic>
          <p:nvPicPr>
            <p:cNvPr id="19" name="Picture 18">
              <a:extLst>
                <a:ext uri="{FF2B5EF4-FFF2-40B4-BE49-F238E27FC236}">
                  <a16:creationId xmlns:a16="http://schemas.microsoft.com/office/drawing/2014/main" id="{23A44979-E9A0-F08F-6EEF-80AC28373890}"/>
                </a:ext>
              </a:extLst>
            </p:cNvPr>
            <p:cNvPicPr>
              <a:picLocks noChangeAspect="1"/>
            </p:cNvPicPr>
            <p:nvPr/>
          </p:nvPicPr>
          <p:blipFill rotWithShape="1">
            <a:blip r:embed="rId3"/>
            <a:srcRect l="37166" t="-20686"/>
            <a:stretch/>
          </p:blipFill>
          <p:spPr>
            <a:xfrm>
              <a:off x="5553245" y="4701712"/>
              <a:ext cx="6296155" cy="229905"/>
            </a:xfrm>
            <a:prstGeom prst="rect">
              <a:avLst/>
            </a:prstGeom>
          </p:spPr>
        </p:pic>
        <p:sp>
          <p:nvSpPr>
            <p:cNvPr id="20" name="Rectangle 19">
              <a:extLst>
                <a:ext uri="{FF2B5EF4-FFF2-40B4-BE49-F238E27FC236}">
                  <a16:creationId xmlns:a16="http://schemas.microsoft.com/office/drawing/2014/main" id="{D1EE69A6-48B8-7820-43AA-DC515F7776F0}"/>
                </a:ext>
              </a:extLst>
            </p:cNvPr>
            <p:cNvSpPr/>
            <p:nvPr/>
          </p:nvSpPr>
          <p:spPr bwMode="auto">
            <a:xfrm>
              <a:off x="5450076" y="4575690"/>
              <a:ext cx="1872874" cy="695462"/>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eaLnBrk="0" fontAlgn="base" hangingPunct="0">
                <a:spcBef>
                  <a:spcPct val="0"/>
                </a:spcBef>
                <a:spcAft>
                  <a:spcPct val="0"/>
                </a:spcAft>
              </a:pPr>
              <a:endParaRPr lang="en-US">
                <a:latin typeface="Arial" panose="020B0604020202020204" pitchFamily="34" charset="0"/>
                <a:ea typeface="ＭＳ Ｐゴシック" panose="020B0600070205080204" pitchFamily="34" charset="-128"/>
              </a:endParaRPr>
            </a:p>
          </p:txBody>
        </p:sp>
        <p:sp>
          <p:nvSpPr>
            <p:cNvPr id="21" name="Rectangle 20">
              <a:extLst>
                <a:ext uri="{FF2B5EF4-FFF2-40B4-BE49-F238E27FC236}">
                  <a16:creationId xmlns:a16="http://schemas.microsoft.com/office/drawing/2014/main" id="{54F52CEB-C1E3-432C-DA5B-DAC44A6B257C}"/>
                </a:ext>
              </a:extLst>
            </p:cNvPr>
            <p:cNvSpPr/>
            <p:nvPr/>
          </p:nvSpPr>
          <p:spPr bwMode="auto">
            <a:xfrm>
              <a:off x="8394379" y="4575690"/>
              <a:ext cx="275751" cy="695462"/>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eaLnBrk="0" fontAlgn="base" hangingPunct="0">
                <a:spcBef>
                  <a:spcPct val="0"/>
                </a:spcBef>
                <a:spcAft>
                  <a:spcPct val="0"/>
                </a:spcAft>
              </a:pPr>
              <a:endParaRPr lang="en-US">
                <a:latin typeface="Arial" panose="020B0604020202020204" pitchFamily="34" charset="0"/>
                <a:ea typeface="ＭＳ Ｐゴシック" panose="020B0600070205080204" pitchFamily="34" charset="-128"/>
              </a:endParaRPr>
            </a:p>
          </p:txBody>
        </p:sp>
        <p:sp>
          <p:nvSpPr>
            <p:cNvPr id="22" name="Rectangle 21">
              <a:extLst>
                <a:ext uri="{FF2B5EF4-FFF2-40B4-BE49-F238E27FC236}">
                  <a16:creationId xmlns:a16="http://schemas.microsoft.com/office/drawing/2014/main" id="{3C78A6C8-E76E-78C1-0A87-794E6F5CC9FE}"/>
                </a:ext>
              </a:extLst>
            </p:cNvPr>
            <p:cNvSpPr/>
            <p:nvPr/>
          </p:nvSpPr>
          <p:spPr bwMode="auto">
            <a:xfrm>
              <a:off x="9144227" y="4575690"/>
              <a:ext cx="137876" cy="695462"/>
            </a:xfrm>
            <a:prstGeom prst="rect">
              <a:avLst/>
            </a:prstGeom>
            <a:solidFill>
              <a:schemeClr val="bg1"/>
            </a:solidFill>
            <a:ln w="9525"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eaLnBrk="0" fontAlgn="base" hangingPunct="0">
                <a:spcBef>
                  <a:spcPct val="0"/>
                </a:spcBef>
                <a:spcAft>
                  <a:spcPct val="0"/>
                </a:spcAft>
              </a:pPr>
              <a:endParaRPr lang="en-US">
                <a:latin typeface="Arial" panose="020B0604020202020204" pitchFamily="34" charset="0"/>
                <a:ea typeface="ＭＳ Ｐゴシック" panose="020B0600070205080204" pitchFamily="34" charset="-128"/>
              </a:endParaRPr>
            </a:p>
          </p:txBody>
        </p:sp>
        <p:sp>
          <p:nvSpPr>
            <p:cNvPr id="23" name="Rectangle 22">
              <a:extLst>
                <a:ext uri="{FF2B5EF4-FFF2-40B4-BE49-F238E27FC236}">
                  <a16:creationId xmlns:a16="http://schemas.microsoft.com/office/drawing/2014/main" id="{09F9F350-693A-0109-AD58-C169BAF92AB5}"/>
                </a:ext>
              </a:extLst>
            </p:cNvPr>
            <p:cNvSpPr/>
            <p:nvPr/>
          </p:nvSpPr>
          <p:spPr bwMode="auto">
            <a:xfrm>
              <a:off x="11699489" y="4575690"/>
              <a:ext cx="275751" cy="695462"/>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p:txBody>
        </p:sp>
        <p:sp>
          <p:nvSpPr>
            <p:cNvPr id="24" name="Rectangle 23">
              <a:extLst>
                <a:ext uri="{FF2B5EF4-FFF2-40B4-BE49-F238E27FC236}">
                  <a16:creationId xmlns:a16="http://schemas.microsoft.com/office/drawing/2014/main" id="{2C706F39-0865-EBC8-0DB7-7839B0918CEF}"/>
                </a:ext>
              </a:extLst>
            </p:cNvPr>
            <p:cNvSpPr/>
            <p:nvPr/>
          </p:nvSpPr>
          <p:spPr>
            <a:xfrm>
              <a:off x="5450076" y="4643662"/>
              <a:ext cx="1563248" cy="369332"/>
            </a:xfrm>
            <a:prstGeom prst="rect">
              <a:avLst/>
            </a:prstGeom>
          </p:spPr>
          <p:txBody>
            <a:bodyPr wrap="none">
              <a:spAutoFit/>
            </a:bodyPr>
            <a:lstStyle/>
            <a:p>
              <a:r>
                <a:rPr lang="en-US" err="1">
                  <a:latin typeface="CourierNewPSMT" panose="02070309020205020404" pitchFamily="49" charset="0"/>
                </a:rPr>
                <a:t>gffread</a:t>
              </a:r>
              <a:r>
                <a:rPr lang="en-US">
                  <a:latin typeface="CourierNewPSMT" panose="02070309020205020404" pitchFamily="49" charset="0"/>
                </a:rPr>
                <a:t> -w</a:t>
              </a:r>
              <a:endParaRPr lang="en-US"/>
            </a:p>
          </p:txBody>
        </p:sp>
      </p:grpSp>
      <p:sp>
        <p:nvSpPr>
          <p:cNvPr id="25" name="Rectangle 24">
            <a:extLst>
              <a:ext uri="{FF2B5EF4-FFF2-40B4-BE49-F238E27FC236}">
                <a16:creationId xmlns:a16="http://schemas.microsoft.com/office/drawing/2014/main" id="{19B78C28-ED33-6B4E-5F39-F6391E625644}"/>
              </a:ext>
            </a:extLst>
          </p:cNvPr>
          <p:cNvSpPr/>
          <p:nvPr/>
        </p:nvSpPr>
        <p:spPr>
          <a:xfrm>
            <a:off x="258078" y="6124012"/>
            <a:ext cx="4681731" cy="369332"/>
          </a:xfrm>
          <a:prstGeom prst="rect">
            <a:avLst/>
          </a:prstGeom>
        </p:spPr>
        <p:txBody>
          <a:bodyPr wrap="none">
            <a:spAutoFit/>
          </a:bodyPr>
          <a:lstStyle/>
          <a:p>
            <a:r>
              <a:rPr lang="en-US">
                <a:hlinkClick r:id="rId4"/>
              </a:rPr>
              <a:t>http://</a:t>
            </a:r>
            <a:r>
              <a:rPr lang="en-US" err="1">
                <a:hlinkClick r:id="rId4"/>
              </a:rPr>
              <a:t>ccb.jhu.edu</a:t>
            </a:r>
            <a:r>
              <a:rPr lang="en-US">
                <a:hlinkClick r:id="rId4"/>
              </a:rPr>
              <a:t>/software/</a:t>
            </a:r>
            <a:r>
              <a:rPr lang="en-US" err="1">
                <a:hlinkClick r:id="rId4"/>
              </a:rPr>
              <a:t>stringtie</a:t>
            </a:r>
            <a:r>
              <a:rPr lang="en-US">
                <a:hlinkClick r:id="rId4"/>
              </a:rPr>
              <a:t>/</a:t>
            </a:r>
            <a:r>
              <a:rPr lang="en-US" err="1">
                <a:hlinkClick r:id="rId4"/>
              </a:rPr>
              <a:t>gff.shtml</a:t>
            </a:r>
            <a:endParaRPr lang="en-US"/>
          </a:p>
        </p:txBody>
      </p:sp>
    </p:spTree>
    <p:extLst>
      <p:ext uri="{BB962C8B-B14F-4D97-AF65-F5344CB8AC3E}">
        <p14:creationId xmlns:p14="http://schemas.microsoft.com/office/powerpoint/2010/main" val="301280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14628</TotalTime>
  <Words>450</Words>
  <Application>Microsoft Office PowerPoint</Application>
  <PresentationFormat>Widescreen</PresentationFormat>
  <Paragraphs>85</Paragraphs>
  <Slides>11</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21" baseType="lpstr">
      <vt:lpstr>Batang</vt:lpstr>
      <vt:lpstr>AdvTT6489ba6c</vt:lpstr>
      <vt:lpstr>Arial</vt:lpstr>
      <vt:lpstr>Calibri</vt:lpstr>
      <vt:lpstr>CourierNewPSMT</vt:lpstr>
      <vt:lpstr>Roboto</vt:lpstr>
      <vt:lpstr>Times</vt:lpstr>
      <vt:lpstr>Trebuchet MS</vt:lpstr>
      <vt:lpstr>Office Theme</vt:lpstr>
      <vt:lpstr>Equation</vt:lpstr>
      <vt:lpstr>Evaluating transcript assembly</vt:lpstr>
      <vt:lpstr>Common reference annotation databases</vt:lpstr>
      <vt:lpstr>Benchmark transcriptome</vt:lpstr>
      <vt:lpstr>Transcriptome assembly metrics</vt:lpstr>
      <vt:lpstr>Assembly metrics based on benchmark</vt:lpstr>
      <vt:lpstr>Measures of correctness</vt:lpstr>
      <vt:lpstr>Sensitivity and Specificity</vt:lpstr>
      <vt:lpstr>Nucleotide level accuracy</vt:lpstr>
      <vt:lpstr>Exon level accuracy</vt:lpstr>
      <vt:lpstr>Transcript level accuracy</vt:lpstr>
      <vt:lpstr>gffread, gffcompare and trmap</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Aleksey Zimin</cp:lastModifiedBy>
  <cp:revision>76</cp:revision>
  <dcterms:created xsi:type="dcterms:W3CDTF">2013-08-21T19:17:07Z</dcterms:created>
  <dcterms:modified xsi:type="dcterms:W3CDTF">2025-10-29T14:23:34Z</dcterms:modified>
</cp:coreProperties>
</file>