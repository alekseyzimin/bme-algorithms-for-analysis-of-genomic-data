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929" r:id="rId2"/>
    <p:sldId id="930" r:id="rId3"/>
    <p:sldId id="932" r:id="rId4"/>
    <p:sldId id="931" r:id="rId5"/>
    <p:sldId id="897" r:id="rId6"/>
    <p:sldId id="904" r:id="rId7"/>
    <p:sldId id="905" r:id="rId8"/>
    <p:sldId id="906" r:id="rId9"/>
    <p:sldId id="907" r:id="rId10"/>
    <p:sldId id="557" r:id="rId11"/>
    <p:sldId id="559" r:id="rId12"/>
    <p:sldId id="925" r:id="rId13"/>
    <p:sldId id="926" r:id="rId14"/>
    <p:sldId id="914" r:id="rId15"/>
    <p:sldId id="928" r:id="rId16"/>
    <p:sldId id="911" r:id="rId17"/>
    <p:sldId id="912" r:id="rId18"/>
    <p:sldId id="913" r:id="rId19"/>
    <p:sldId id="91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8ACF"/>
    <a:srgbClr val="D68B1C"/>
    <a:srgbClr val="BE0260"/>
    <a:srgbClr val="D0005E"/>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7" autoAdjust="0"/>
    <p:restoredTop sz="93721" autoAdjust="0"/>
  </p:normalViewPr>
  <p:slideViewPr>
    <p:cSldViewPr snapToGrid="0">
      <p:cViewPr varScale="1">
        <p:scale>
          <a:sx n="101" d="100"/>
          <a:sy n="101" d="100"/>
        </p:scale>
        <p:origin x="1068" y="10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modSld">
      <pc:chgData name="Aleksey Zimin" userId="7f2637d0bc515791" providerId="LiveId" clId="{8553A319-8433-4677-8F80-E28D63617D4C}" dt="2025-11-12T14:25:38.025" v="79" actId="20577"/>
      <pc:docMkLst>
        <pc:docMk/>
      </pc:docMkLst>
      <pc:sldChg chg="del">
        <pc:chgData name="Aleksey Zimin" userId="7f2637d0bc515791" providerId="LiveId" clId="{8553A319-8433-4677-8F80-E28D63617D4C}" dt="2025-11-12T14:24:42.029" v="0" actId="47"/>
        <pc:sldMkLst>
          <pc:docMk/>
          <pc:sldMk cId="1052403946" sldId="272"/>
        </pc:sldMkLst>
      </pc:sldChg>
      <pc:sldChg chg="del">
        <pc:chgData name="Aleksey Zimin" userId="7f2637d0bc515791" providerId="LiveId" clId="{8553A319-8433-4677-8F80-E28D63617D4C}" dt="2025-11-12T14:24:42.029" v="0" actId="47"/>
        <pc:sldMkLst>
          <pc:docMk/>
          <pc:sldMk cId="702189588" sldId="882"/>
        </pc:sldMkLst>
      </pc:sldChg>
      <pc:sldChg chg="del">
        <pc:chgData name="Aleksey Zimin" userId="7f2637d0bc515791" providerId="LiveId" clId="{8553A319-8433-4677-8F80-E28D63617D4C}" dt="2025-11-12T14:24:42.029" v="0" actId="47"/>
        <pc:sldMkLst>
          <pc:docMk/>
          <pc:sldMk cId="1452179586" sldId="883"/>
        </pc:sldMkLst>
      </pc:sldChg>
      <pc:sldChg chg="del">
        <pc:chgData name="Aleksey Zimin" userId="7f2637d0bc515791" providerId="LiveId" clId="{8553A319-8433-4677-8F80-E28D63617D4C}" dt="2025-11-12T14:24:42.029" v="0" actId="47"/>
        <pc:sldMkLst>
          <pc:docMk/>
          <pc:sldMk cId="3549718570" sldId="884"/>
        </pc:sldMkLst>
      </pc:sldChg>
      <pc:sldChg chg="del">
        <pc:chgData name="Aleksey Zimin" userId="7f2637d0bc515791" providerId="LiveId" clId="{8553A319-8433-4677-8F80-E28D63617D4C}" dt="2025-11-12T14:24:42.029" v="0" actId="47"/>
        <pc:sldMkLst>
          <pc:docMk/>
          <pc:sldMk cId="941793736" sldId="885"/>
        </pc:sldMkLst>
      </pc:sldChg>
      <pc:sldChg chg="del">
        <pc:chgData name="Aleksey Zimin" userId="7f2637d0bc515791" providerId="LiveId" clId="{8553A319-8433-4677-8F80-E28D63617D4C}" dt="2025-11-12T14:24:42.029" v="0" actId="47"/>
        <pc:sldMkLst>
          <pc:docMk/>
          <pc:sldMk cId="2352345771" sldId="886"/>
        </pc:sldMkLst>
      </pc:sldChg>
      <pc:sldChg chg="del">
        <pc:chgData name="Aleksey Zimin" userId="7f2637d0bc515791" providerId="LiveId" clId="{8553A319-8433-4677-8F80-E28D63617D4C}" dt="2025-11-12T14:24:42.029" v="0" actId="47"/>
        <pc:sldMkLst>
          <pc:docMk/>
          <pc:sldMk cId="3197633200" sldId="887"/>
        </pc:sldMkLst>
      </pc:sldChg>
      <pc:sldChg chg="del">
        <pc:chgData name="Aleksey Zimin" userId="7f2637d0bc515791" providerId="LiveId" clId="{8553A319-8433-4677-8F80-E28D63617D4C}" dt="2025-11-12T14:24:42.029" v="0" actId="47"/>
        <pc:sldMkLst>
          <pc:docMk/>
          <pc:sldMk cId="2537798046" sldId="888"/>
        </pc:sldMkLst>
      </pc:sldChg>
      <pc:sldChg chg="del">
        <pc:chgData name="Aleksey Zimin" userId="7f2637d0bc515791" providerId="LiveId" clId="{8553A319-8433-4677-8F80-E28D63617D4C}" dt="2025-11-12T14:24:42.029" v="0" actId="47"/>
        <pc:sldMkLst>
          <pc:docMk/>
          <pc:sldMk cId="1574673349" sldId="890"/>
        </pc:sldMkLst>
      </pc:sldChg>
      <pc:sldChg chg="del">
        <pc:chgData name="Aleksey Zimin" userId="7f2637d0bc515791" providerId="LiveId" clId="{8553A319-8433-4677-8F80-E28D63617D4C}" dt="2025-11-12T14:24:42.029" v="0" actId="47"/>
        <pc:sldMkLst>
          <pc:docMk/>
          <pc:sldMk cId="3699968443" sldId="891"/>
        </pc:sldMkLst>
      </pc:sldChg>
      <pc:sldChg chg="del">
        <pc:chgData name="Aleksey Zimin" userId="7f2637d0bc515791" providerId="LiveId" clId="{8553A319-8433-4677-8F80-E28D63617D4C}" dt="2025-11-12T14:24:42.029" v="0" actId="47"/>
        <pc:sldMkLst>
          <pc:docMk/>
          <pc:sldMk cId="752308720" sldId="892"/>
        </pc:sldMkLst>
      </pc:sldChg>
      <pc:sldChg chg="del">
        <pc:chgData name="Aleksey Zimin" userId="7f2637d0bc515791" providerId="LiveId" clId="{8553A319-8433-4677-8F80-E28D63617D4C}" dt="2025-11-12T14:24:42.029" v="0" actId="47"/>
        <pc:sldMkLst>
          <pc:docMk/>
          <pc:sldMk cId="872453536" sldId="893"/>
        </pc:sldMkLst>
      </pc:sldChg>
      <pc:sldChg chg="del">
        <pc:chgData name="Aleksey Zimin" userId="7f2637d0bc515791" providerId="LiveId" clId="{8553A319-8433-4677-8F80-E28D63617D4C}" dt="2025-11-12T14:24:42.029" v="0" actId="47"/>
        <pc:sldMkLst>
          <pc:docMk/>
          <pc:sldMk cId="2702561878" sldId="894"/>
        </pc:sldMkLst>
      </pc:sldChg>
      <pc:sldChg chg="del">
        <pc:chgData name="Aleksey Zimin" userId="7f2637d0bc515791" providerId="LiveId" clId="{8553A319-8433-4677-8F80-E28D63617D4C}" dt="2025-11-12T14:24:42.029" v="0" actId="47"/>
        <pc:sldMkLst>
          <pc:docMk/>
          <pc:sldMk cId="1526773716" sldId="895"/>
        </pc:sldMkLst>
      </pc:sldChg>
      <pc:sldChg chg="del">
        <pc:chgData name="Aleksey Zimin" userId="7f2637d0bc515791" providerId="LiveId" clId="{8553A319-8433-4677-8F80-E28D63617D4C}" dt="2025-11-12T14:24:42.029" v="0" actId="47"/>
        <pc:sldMkLst>
          <pc:docMk/>
          <pc:sldMk cId="2253551215" sldId="896"/>
        </pc:sldMkLst>
      </pc:sldChg>
      <pc:sldChg chg="del">
        <pc:chgData name="Aleksey Zimin" userId="7f2637d0bc515791" providerId="LiveId" clId="{8553A319-8433-4677-8F80-E28D63617D4C}" dt="2025-11-12T14:24:42.029" v="0" actId="47"/>
        <pc:sldMkLst>
          <pc:docMk/>
          <pc:sldMk cId="4041367344" sldId="909"/>
        </pc:sldMkLst>
      </pc:sldChg>
      <pc:sldChg chg="modSp mod">
        <pc:chgData name="Aleksey Zimin" userId="7f2637d0bc515791" providerId="LiveId" clId="{8553A319-8433-4677-8F80-E28D63617D4C}" dt="2025-11-12T14:25:38.025" v="79" actId="20577"/>
        <pc:sldMkLst>
          <pc:docMk/>
          <pc:sldMk cId="4222899637" sldId="913"/>
        </pc:sldMkLst>
        <pc:spChg chg="mod">
          <ac:chgData name="Aleksey Zimin" userId="7f2637d0bc515791" providerId="LiveId" clId="{8553A319-8433-4677-8F80-E28D63617D4C}" dt="2025-11-12T14:25:38.025" v="79" actId="20577"/>
          <ac:spMkLst>
            <pc:docMk/>
            <pc:sldMk cId="4222899637" sldId="913"/>
            <ac:spMk id="3" creationId="{AB0E6307-3A01-3DC5-26A1-AE7B5C815A0E}"/>
          </ac:spMkLst>
        </pc:spChg>
        <pc:picChg chg="mod">
          <ac:chgData name="Aleksey Zimin" userId="7f2637d0bc515791" providerId="LiveId" clId="{8553A319-8433-4677-8F80-E28D63617D4C}" dt="2025-11-12T14:24:55.333" v="1" actId="1076"/>
          <ac:picMkLst>
            <pc:docMk/>
            <pc:sldMk cId="4222899637" sldId="913"/>
            <ac:picMk id="9" creationId="{39DEAA15-7193-25D6-BBCA-FC1C0BB7962B}"/>
          </ac:picMkLst>
        </pc:picChg>
      </pc:sldChg>
      <pc:sldChg chg="del">
        <pc:chgData name="Aleksey Zimin" userId="7f2637d0bc515791" providerId="LiveId" clId="{8553A319-8433-4677-8F80-E28D63617D4C}" dt="2025-11-12T14:24:42.029" v="0" actId="47"/>
        <pc:sldMkLst>
          <pc:docMk/>
          <pc:sldMk cId="2751715617" sldId="915"/>
        </pc:sldMkLst>
      </pc:sldChg>
      <pc:sldChg chg="del">
        <pc:chgData name="Aleksey Zimin" userId="7f2637d0bc515791" providerId="LiveId" clId="{8553A319-8433-4677-8F80-E28D63617D4C}" dt="2025-11-12T14:24:42.029" v="0" actId="47"/>
        <pc:sldMkLst>
          <pc:docMk/>
          <pc:sldMk cId="586534377" sldId="916"/>
        </pc:sldMkLst>
      </pc:sldChg>
      <pc:sldChg chg="del">
        <pc:chgData name="Aleksey Zimin" userId="7f2637d0bc515791" providerId="LiveId" clId="{8553A319-8433-4677-8F80-E28D63617D4C}" dt="2025-11-12T14:24:42.029" v="0" actId="47"/>
        <pc:sldMkLst>
          <pc:docMk/>
          <pc:sldMk cId="1674740165" sldId="917"/>
        </pc:sldMkLst>
      </pc:sldChg>
      <pc:sldChg chg="del">
        <pc:chgData name="Aleksey Zimin" userId="7f2637d0bc515791" providerId="LiveId" clId="{8553A319-8433-4677-8F80-E28D63617D4C}" dt="2025-11-12T14:24:42.029" v="0" actId="47"/>
        <pc:sldMkLst>
          <pc:docMk/>
          <pc:sldMk cId="2557872751" sldId="918"/>
        </pc:sldMkLst>
      </pc:sldChg>
      <pc:sldChg chg="del">
        <pc:chgData name="Aleksey Zimin" userId="7f2637d0bc515791" providerId="LiveId" clId="{8553A319-8433-4677-8F80-E28D63617D4C}" dt="2025-11-12T14:24:42.029" v="0" actId="47"/>
        <pc:sldMkLst>
          <pc:docMk/>
          <pc:sldMk cId="3894539422" sldId="919"/>
        </pc:sldMkLst>
      </pc:sldChg>
      <pc:sldChg chg="del">
        <pc:chgData name="Aleksey Zimin" userId="7f2637d0bc515791" providerId="LiveId" clId="{8553A319-8433-4677-8F80-E28D63617D4C}" dt="2025-11-12T14:24:42.029" v="0" actId="47"/>
        <pc:sldMkLst>
          <pc:docMk/>
          <pc:sldMk cId="2146371151" sldId="920"/>
        </pc:sldMkLst>
      </pc:sldChg>
      <pc:sldChg chg="del">
        <pc:chgData name="Aleksey Zimin" userId="7f2637d0bc515791" providerId="LiveId" clId="{8553A319-8433-4677-8F80-E28D63617D4C}" dt="2025-11-12T14:24:42.029" v="0" actId="47"/>
        <pc:sldMkLst>
          <pc:docMk/>
          <pc:sldMk cId="2862472149" sldId="921"/>
        </pc:sldMkLst>
      </pc:sldChg>
      <pc:sldChg chg="del">
        <pc:chgData name="Aleksey Zimin" userId="7f2637d0bc515791" providerId="LiveId" clId="{8553A319-8433-4677-8F80-E28D63617D4C}" dt="2025-11-12T14:24:42.029" v="0" actId="47"/>
        <pc:sldMkLst>
          <pc:docMk/>
          <pc:sldMk cId="1952634776" sldId="922"/>
        </pc:sldMkLst>
      </pc:sldChg>
      <pc:sldChg chg="del">
        <pc:chgData name="Aleksey Zimin" userId="7f2637d0bc515791" providerId="LiveId" clId="{8553A319-8433-4677-8F80-E28D63617D4C}" dt="2025-11-12T14:24:42.029" v="0" actId="47"/>
        <pc:sldMkLst>
          <pc:docMk/>
          <pc:sldMk cId="3042641771" sldId="923"/>
        </pc:sldMkLst>
      </pc:sldChg>
      <pc:sldChg chg="del">
        <pc:chgData name="Aleksey Zimin" userId="7f2637d0bc515791" providerId="LiveId" clId="{8553A319-8433-4677-8F80-E28D63617D4C}" dt="2025-11-12T14:24:42.029" v="0" actId="47"/>
        <pc:sldMkLst>
          <pc:docMk/>
          <pc:sldMk cId="2504420400" sldId="924"/>
        </pc:sldMkLst>
      </pc:sldChg>
      <pc:sldChg chg="del">
        <pc:chgData name="Aleksey Zimin" userId="7f2637d0bc515791" providerId="LiveId" clId="{8553A319-8433-4677-8F80-E28D63617D4C}" dt="2025-11-12T14:24:42.029" v="0" actId="47"/>
        <pc:sldMkLst>
          <pc:docMk/>
          <pc:sldMk cId="1418579465" sldId="92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11/12/2025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customXml" Target="../ink/ink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2.xml"/><Relationship Id="rId4" Type="http://schemas.openxmlformats.org/officeDocument/2006/relationships/customXml" Target="../ink/ink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2.xml"/><Relationship Id="rId4" Type="http://schemas.openxmlformats.org/officeDocument/2006/relationships/customXml" Target="../ink/ink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6D47-634F-495A-ACA9-6DAB8815D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45CF8-0F74-D3F9-48FF-DD6E7F5F431E}"/>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55550C50-0842-F47C-561F-930B2F9E0FE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EBF01CD7-ACC8-D651-D96E-B59D7B5EAC52}"/>
              </a:ext>
            </a:extLst>
          </p:cNvPr>
          <p:cNvSpPr>
            <a:spLocks noGrp="1"/>
          </p:cNvSpPr>
          <p:nvPr>
            <p:ph type="sldNum" sz="quarter" idx="12"/>
          </p:nvPr>
        </p:nvSpPr>
        <p:spPr/>
        <p:txBody>
          <a:bodyPr/>
          <a:lstStyle/>
          <a:p>
            <a:fld id="{B82CCC60-E8CD-4174-8B1A-7DF615B22EEF}" type="slidenum">
              <a:rPr lang="en-US" smtClean="0"/>
              <a:pPr/>
              <a:t>1</a:t>
            </a:fld>
            <a:endParaRPr lang="en-US" dirty="0"/>
          </a:p>
        </p:txBody>
      </p:sp>
      <p:sp>
        <p:nvSpPr>
          <p:cNvPr id="5" name="TextBox 4">
            <a:extLst>
              <a:ext uri="{FF2B5EF4-FFF2-40B4-BE49-F238E27FC236}">
                <a16:creationId xmlns:a16="http://schemas.microsoft.com/office/drawing/2014/main" id="{67570C68-B793-E963-305F-027C30E016E2}"/>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E462C03-E70F-C153-2996-3FB2ECC316A6}"/>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F0DEC7AA-2018-27D8-3663-E974A88F2C6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087A251-D48B-D07F-A799-21EF7753BC2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9F685725-A9E2-76C5-390A-4E7D61F611AA}"/>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08A7AD5D-5D29-FC53-B569-5807381282D4}"/>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92A58C9D-A2B3-2194-9CBE-EC0E4DFE502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66F6BE74-FB6F-9BB1-ACBE-6C1AC237618C}"/>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9642B51-1C40-C41B-9CEB-CC1ED796868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FEC2E37-8F78-0566-7C59-F771F111CA15}"/>
              </a:ext>
            </a:extLst>
          </p:cNvPr>
          <p:cNvSpPr txBox="1"/>
          <p:nvPr/>
        </p:nvSpPr>
        <p:spPr>
          <a:xfrm>
            <a:off x="8548068" y="2732844"/>
            <a:ext cx="548424"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03BE4FF2-6BDD-366A-B125-A05804E16EC4}"/>
              </a:ext>
            </a:extLst>
          </p:cNvPr>
          <p:cNvSpPr txBox="1"/>
          <p:nvPr/>
        </p:nvSpPr>
        <p:spPr>
          <a:xfrm>
            <a:off x="8555150" y="3468695"/>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B34C872-C7E9-9C97-073A-0AFE83519DB0}"/>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B34C872-C7E9-9C97-073A-0AFE83519DB0}"/>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41CBFED-A52E-AF75-1585-8193672F260B}"/>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41CBFED-A52E-AF75-1585-8193672F260B}"/>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11EBF042-3A73-39CA-C761-BE776F54381C}"/>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23E80CAA-BA41-8F19-5B65-83C5133432EF}"/>
              </a:ext>
            </a:extLst>
          </p:cNvPr>
          <p:cNvSpPr txBox="1"/>
          <p:nvPr/>
        </p:nvSpPr>
        <p:spPr>
          <a:xfrm>
            <a:off x="10921640" y="3066428"/>
            <a:ext cx="301686" cy="369332"/>
          </a:xfrm>
          <a:prstGeom prst="rect">
            <a:avLst/>
          </a:prstGeom>
          <a:noFill/>
        </p:spPr>
        <p:txBody>
          <a:bodyPr wrap="none" rtlCol="0">
            <a:spAutoFit/>
          </a:bodyPr>
          <a:lstStyle/>
          <a:p>
            <a:r>
              <a:rPr lang="en-US" dirty="0"/>
              <a:t>0</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93069F-CBC2-F7DC-1549-1FEDA6C5C9D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r>
                                    <a:rPr lang="en-US" sz="2800" b="1" i="1" smtClean="0">
                                      <a:latin typeface="Cambria Math" panose="02040503050406030204" pitchFamily="18" charset="0"/>
                                    </a:rPr>
                                    <m:t>𝑪</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=−4.474</m:t>
                      </m:r>
                    </m:oMath>
                  </m:oMathPara>
                </a14:m>
                <a:endParaRPr lang="en-US" sz="2800" dirty="0"/>
              </a:p>
            </p:txBody>
          </p:sp>
        </mc:Choice>
        <mc:Fallback xmlns="">
          <p:sp>
            <p:nvSpPr>
              <p:cNvPr id="6" name="TextBox 5">
                <a:extLst>
                  <a:ext uri="{FF2B5EF4-FFF2-40B4-BE49-F238E27FC236}">
                    <a16:creationId xmlns:a16="http://schemas.microsoft.com/office/drawing/2014/main" id="{2E93069F-CBC2-F7DC-1549-1FEDA6C5C9D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1201C8-F9D7-BB99-0797-D1EC388D1484}"/>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b="0" i="1">
                                      <a:latin typeface="Cambria Math" panose="02040503050406030204" pitchFamily="18" charset="0"/>
                                    </a:rPr>
                                    <m:t>𝑝</m:t>
                                  </m:r>
                                </m:e>
                                <m:sub>
                                  <m:r>
                                    <a:rPr lang="en-US" sz="2800" b="0" i="1">
                                      <a:latin typeface="Cambria Math" panose="02040503050406030204" pitchFamily="18" charset="0"/>
                                    </a:rPr>
                                    <m:t>𝐶</m:t>
                                  </m:r>
                                </m:sub>
                              </m:sSub>
                              <m:d>
                                <m:dPr>
                                  <m:ctrlPr>
                                    <a:rPr lang="en-US" sz="2800" i="1">
                                      <a:latin typeface="Cambria Math" panose="02040503050406030204" pitchFamily="18" charset="0"/>
                                    </a:rPr>
                                  </m:ctrlPr>
                                </m:dPr>
                                <m:e>
                                  <m:r>
                                    <a:rPr lang="en-US" sz="2800" b="0" i="1">
                                      <a:latin typeface="Cambria Math" panose="02040503050406030204" pitchFamily="18" charset="0"/>
                                    </a:rPr>
                                    <m:t>𝐺</m:t>
                                  </m:r>
                                  <m:r>
                                    <a:rPr lang="en-US" sz="2800" b="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b="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𝑵</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𝑵𝑵</m:t>
                                  </m:r>
                                </m:sub>
                              </m:sSub>
                            </m:e>
                          </m:d>
                        </m:e>
                      </m:func>
                      <m:r>
                        <a:rPr lang="en-US" sz="2800" b="0" i="1" smtClean="0">
                          <a:latin typeface="Cambria Math" panose="02040503050406030204" pitchFamily="18" charset="0"/>
                        </a:rPr>
                        <m:t>=−5.644</m:t>
                      </m:r>
                    </m:oMath>
                  </m:oMathPara>
                </a14:m>
                <a:endParaRPr lang="en-US" sz="2800" dirty="0"/>
              </a:p>
            </p:txBody>
          </p:sp>
        </mc:Choice>
        <mc:Fallback xmlns="">
          <p:sp>
            <p:nvSpPr>
              <p:cNvPr id="10" name="TextBox 9">
                <a:extLst>
                  <a:ext uri="{FF2B5EF4-FFF2-40B4-BE49-F238E27FC236}">
                    <a16:creationId xmlns:a16="http://schemas.microsoft.com/office/drawing/2014/main" id="{DF1201C8-F9D7-BB99-0797-D1EC388D1484}"/>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C6074DB-AFD4-F645-03E7-891C764A230F}"/>
              </a:ext>
            </a:extLst>
          </p:cNvPr>
          <p:cNvSpPr txBox="1"/>
          <p:nvPr/>
        </p:nvSpPr>
        <p:spPr>
          <a:xfrm>
            <a:off x="5344220" y="4573208"/>
            <a:ext cx="780983" cy="369332"/>
          </a:xfrm>
          <a:prstGeom prst="rect">
            <a:avLst/>
          </a:prstGeom>
          <a:noFill/>
        </p:spPr>
        <p:txBody>
          <a:bodyPr wrap="none" rtlCol="0">
            <a:spAutoFit/>
          </a:bodyPr>
          <a:lstStyle/>
          <a:p>
            <a:r>
              <a:rPr lang="en-US" dirty="0"/>
              <a:t>-2.737</a:t>
            </a:r>
          </a:p>
        </p:txBody>
      </p:sp>
      <p:sp>
        <p:nvSpPr>
          <p:cNvPr id="8" name="TextBox 7">
            <a:extLst>
              <a:ext uri="{FF2B5EF4-FFF2-40B4-BE49-F238E27FC236}">
                <a16:creationId xmlns:a16="http://schemas.microsoft.com/office/drawing/2014/main" id="{09A4DE38-328F-87F6-76B4-989C064CE5B1}"/>
              </a:ext>
            </a:extLst>
          </p:cNvPr>
          <p:cNvSpPr txBox="1"/>
          <p:nvPr/>
        </p:nvSpPr>
        <p:spPr>
          <a:xfrm>
            <a:off x="7496422" y="4582656"/>
            <a:ext cx="499111" cy="369332"/>
          </a:xfrm>
          <a:prstGeom prst="rect">
            <a:avLst/>
          </a:prstGeom>
          <a:noFill/>
        </p:spPr>
        <p:txBody>
          <a:bodyPr wrap="none" rtlCol="0">
            <a:spAutoFit/>
          </a:bodyPr>
          <a:lstStyle/>
          <a:p>
            <a:r>
              <a:rPr lang="en-US" dirty="0"/>
              <a:t>-inf</a:t>
            </a:r>
          </a:p>
        </p:txBody>
      </p:sp>
      <p:sp>
        <p:nvSpPr>
          <p:cNvPr id="15" name="TextBox 14">
            <a:extLst>
              <a:ext uri="{FF2B5EF4-FFF2-40B4-BE49-F238E27FC236}">
                <a16:creationId xmlns:a16="http://schemas.microsoft.com/office/drawing/2014/main" id="{9CCA705D-C9FB-E1F5-8A5C-CDFC85810C79}"/>
              </a:ext>
            </a:extLst>
          </p:cNvPr>
          <p:cNvSpPr txBox="1"/>
          <p:nvPr/>
        </p:nvSpPr>
        <p:spPr>
          <a:xfrm>
            <a:off x="5194638" y="6192431"/>
            <a:ext cx="499111" cy="369332"/>
          </a:xfrm>
          <a:prstGeom prst="rect">
            <a:avLst/>
          </a:prstGeom>
          <a:noFill/>
        </p:spPr>
        <p:txBody>
          <a:bodyPr wrap="none" rtlCol="0">
            <a:spAutoFit/>
          </a:bodyPr>
          <a:lstStyle/>
          <a:p>
            <a:r>
              <a:rPr lang="en-US" dirty="0"/>
              <a:t>-inf</a:t>
            </a:r>
          </a:p>
        </p:txBody>
      </p:sp>
      <p:sp>
        <p:nvSpPr>
          <p:cNvPr id="18" name="TextBox 17">
            <a:extLst>
              <a:ext uri="{FF2B5EF4-FFF2-40B4-BE49-F238E27FC236}">
                <a16:creationId xmlns:a16="http://schemas.microsoft.com/office/drawing/2014/main" id="{F782CB2C-5BF9-2717-48FE-2E0717D2B0C9}"/>
              </a:ext>
            </a:extLst>
          </p:cNvPr>
          <p:cNvSpPr txBox="1"/>
          <p:nvPr/>
        </p:nvSpPr>
        <p:spPr>
          <a:xfrm>
            <a:off x="7472071" y="6186246"/>
            <a:ext cx="780983" cy="369332"/>
          </a:xfrm>
          <a:prstGeom prst="rect">
            <a:avLst/>
          </a:prstGeom>
          <a:noFill/>
        </p:spPr>
        <p:txBody>
          <a:bodyPr wrap="none" rtlCol="0">
            <a:spAutoFit/>
          </a:bodyPr>
          <a:lstStyle/>
          <a:p>
            <a:r>
              <a:rPr lang="en-US" dirty="0"/>
              <a:t>-3.322</a:t>
            </a:r>
          </a:p>
        </p:txBody>
      </p:sp>
    </p:spTree>
    <p:extLst>
      <p:ext uri="{BB962C8B-B14F-4D97-AF65-F5344CB8AC3E}">
        <p14:creationId xmlns:p14="http://schemas.microsoft.com/office/powerpoint/2010/main" val="2365833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2</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extLst>
              <p:ext uri="{D42A27DB-BD31-4B8C-83A1-F6EECF244321}">
                <p14:modId xmlns:p14="http://schemas.microsoft.com/office/powerpoint/2010/main" val="2679105953"/>
              </p:ext>
            </p:extLst>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192171233"/>
                  </a:ext>
                </a:extLst>
              </a:tr>
            </a:tbl>
          </a:graphicData>
        </a:graphic>
      </p:graphicFrame>
      <p:cxnSp>
        <p:nvCxnSpPr>
          <p:cNvPr id="49" name="Straight Arrow Connector 48">
            <a:extLst>
              <a:ext uri="{FF2B5EF4-FFF2-40B4-BE49-F238E27FC236}">
                <a16:creationId xmlns:a16="http://schemas.microsoft.com/office/drawing/2014/main" id="{82AA2739-25E2-4CD5-8DDD-0F583292E0D3}"/>
              </a:ext>
            </a:extLst>
          </p:cNvPr>
          <p:cNvCxnSpPr>
            <a:cxnSpLocks/>
          </p:cNvCxnSpPr>
          <p:nvPr/>
        </p:nvCxnSpPr>
        <p:spPr>
          <a:xfrm>
            <a:off x="2596202"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9B207F57-2118-432C-8EC4-FD6FC513618A}"/>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7247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3</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r>
                        <a:rPr lang="en-US" dirty="0"/>
                        <a:t>-6.20</a:t>
                      </a:r>
                    </a:p>
                  </a:txBody>
                  <a:tcPr/>
                </a:tc>
                <a:tc>
                  <a:txBody>
                    <a:bodyPr/>
                    <a:lstStyle/>
                    <a:p>
                      <a:pPr algn="ctr"/>
                      <a:r>
                        <a:rPr lang="en-US" dirty="0"/>
                        <a:t>-8.52</a:t>
                      </a:r>
                    </a:p>
                  </a:txBody>
                  <a:tcPr/>
                </a:tc>
                <a:tc>
                  <a:txBody>
                    <a:bodyPr/>
                    <a:lstStyle/>
                    <a:p>
                      <a:pPr algn="ctr"/>
                      <a:r>
                        <a:rPr lang="en-US" dirty="0"/>
                        <a:t>-10.26</a:t>
                      </a:r>
                    </a:p>
                  </a:txBody>
                  <a:tcPr/>
                </a:tc>
                <a:tc>
                  <a:txBody>
                    <a:bodyPr/>
                    <a:lstStyle/>
                    <a:p>
                      <a:pPr algn="ctr"/>
                      <a:r>
                        <a:rPr lang="en-US" dirty="0"/>
                        <a:t>-12.59</a:t>
                      </a:r>
                    </a:p>
                  </a:txBody>
                  <a:tcPr/>
                </a:tc>
                <a:tc>
                  <a:txBody>
                    <a:bodyPr/>
                    <a:lstStyle/>
                    <a:p>
                      <a:pPr algn="ctr"/>
                      <a:r>
                        <a:rPr lang="en-US" dirty="0"/>
                        <a:t>-14.32</a:t>
                      </a:r>
                    </a:p>
                  </a:txBody>
                  <a:tcPr/>
                </a:tc>
                <a:tc>
                  <a:txBody>
                    <a:bodyPr/>
                    <a:lstStyle/>
                    <a:p>
                      <a:pPr algn="ctr"/>
                      <a:r>
                        <a:rPr lang="en-US" dirty="0"/>
                        <a:t>-16.64</a:t>
                      </a:r>
                    </a:p>
                  </a:txBody>
                  <a:tcPr/>
                </a:tc>
                <a:tc>
                  <a:txBody>
                    <a:bodyPr/>
                    <a:lstStyle/>
                    <a:p>
                      <a:pPr algn="ctr"/>
                      <a:r>
                        <a:rPr lang="en-US" dirty="0"/>
                        <a:t>-18.97</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r>
                        <a:rPr lang="en-US" dirty="0"/>
                        <a:t>-7.97</a:t>
                      </a:r>
                    </a:p>
                  </a:txBody>
                  <a:tcPr/>
                </a:tc>
                <a:tc>
                  <a:txBody>
                    <a:bodyPr/>
                    <a:lstStyle/>
                    <a:p>
                      <a:pPr algn="ctr"/>
                      <a:r>
                        <a:rPr lang="en-US" dirty="0"/>
                        <a:t>-9.70</a:t>
                      </a:r>
                    </a:p>
                  </a:txBody>
                  <a:tcPr/>
                </a:tc>
                <a:tc>
                  <a:txBody>
                    <a:bodyPr/>
                    <a:lstStyle/>
                    <a:p>
                      <a:pPr algn="ctr"/>
                      <a:r>
                        <a:rPr lang="en-US" dirty="0"/>
                        <a:t>-12.03</a:t>
                      </a:r>
                    </a:p>
                  </a:txBody>
                  <a:tcPr/>
                </a:tc>
                <a:tc>
                  <a:txBody>
                    <a:bodyPr/>
                    <a:lstStyle/>
                    <a:p>
                      <a:pPr algn="ctr"/>
                      <a:r>
                        <a:rPr lang="en-US" dirty="0"/>
                        <a:t>-13.77</a:t>
                      </a:r>
                    </a:p>
                  </a:txBody>
                  <a:tcPr/>
                </a:tc>
                <a:tc>
                  <a:txBody>
                    <a:bodyPr/>
                    <a:lstStyle/>
                    <a:p>
                      <a:pPr algn="ctr"/>
                      <a:r>
                        <a:rPr lang="en-US" dirty="0"/>
                        <a:t>-16.08</a:t>
                      </a:r>
                    </a:p>
                  </a:txBody>
                  <a:tcPr/>
                </a:tc>
                <a:tc>
                  <a:txBody>
                    <a:bodyPr/>
                    <a:lstStyle/>
                    <a:p>
                      <a:pPr algn="ctr"/>
                      <a:r>
                        <a:rPr lang="en-US" dirty="0"/>
                        <a:t>-17.82</a:t>
                      </a:r>
                    </a:p>
                  </a:txBody>
                  <a:tcPr/>
                </a:tc>
                <a:tc>
                  <a:txBody>
                    <a:bodyPr/>
                    <a:lstStyle/>
                    <a:p>
                      <a:pPr algn="ctr"/>
                      <a:r>
                        <a:rPr lang="en-US" dirty="0"/>
                        <a:t>-19.56</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96202"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605251"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614300"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645806"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674105"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743419"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88566"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743955"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35B4911-A2F3-4E10-AE5B-26A462A60CFF}"/>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0481D16-1E97-4B24-94A6-E2F67EA92D2E}"/>
              </a:ext>
            </a:extLst>
          </p:cNvPr>
          <p:cNvCxnSpPr>
            <a:cxnSpLocks/>
          </p:cNvCxnSpPr>
          <p:nvPr/>
        </p:nvCxnSpPr>
        <p:spPr>
          <a:xfrm>
            <a:off x="3605251"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5BDAB04-1E61-4DB6-9B9B-53B8E007181D}"/>
              </a:ext>
            </a:extLst>
          </p:cNvPr>
          <p:cNvCxnSpPr>
            <a:cxnSpLocks/>
          </p:cNvCxnSpPr>
          <p:nvPr/>
        </p:nvCxnSpPr>
        <p:spPr>
          <a:xfrm>
            <a:off x="4614300"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89628C5A-ED3C-4008-84AA-426860D69B8E}"/>
              </a:ext>
            </a:extLst>
          </p:cNvPr>
          <p:cNvCxnSpPr>
            <a:cxnSpLocks/>
          </p:cNvCxnSpPr>
          <p:nvPr/>
        </p:nvCxnSpPr>
        <p:spPr>
          <a:xfrm>
            <a:off x="5645806" y="5814293"/>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18DE8452-BA8B-4B01-B3E1-F25C50F22CE2}"/>
              </a:ext>
            </a:extLst>
          </p:cNvPr>
          <p:cNvCxnSpPr>
            <a:cxnSpLocks/>
          </p:cNvCxnSpPr>
          <p:nvPr/>
        </p:nvCxnSpPr>
        <p:spPr>
          <a:xfrm>
            <a:off x="6674105" y="5814293"/>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7064C4A-0245-4D69-B9FC-D17BE79DA43D}"/>
              </a:ext>
            </a:extLst>
          </p:cNvPr>
          <p:cNvCxnSpPr>
            <a:cxnSpLocks/>
          </p:cNvCxnSpPr>
          <p:nvPr/>
        </p:nvCxnSpPr>
        <p:spPr>
          <a:xfrm>
            <a:off x="9743419"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985A241F-6E58-4F8F-AD36-571D21F07F61}"/>
              </a:ext>
            </a:extLst>
          </p:cNvPr>
          <p:cNvCxnSpPr>
            <a:cxnSpLocks/>
          </p:cNvCxnSpPr>
          <p:nvPr/>
        </p:nvCxnSpPr>
        <p:spPr>
          <a:xfrm>
            <a:off x="7688566"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4E50CB0B-2D9B-4220-AE03-6D0A234E660F}"/>
              </a:ext>
            </a:extLst>
          </p:cNvPr>
          <p:cNvCxnSpPr>
            <a:cxnSpLocks/>
          </p:cNvCxnSpPr>
          <p:nvPr/>
        </p:nvCxnSpPr>
        <p:spPr>
          <a:xfrm>
            <a:off x="8743955"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7889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4</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r>
                        <a:rPr lang="en-US" dirty="0"/>
                        <a:t>-6.20</a:t>
                      </a:r>
                    </a:p>
                  </a:txBody>
                  <a:tcPr/>
                </a:tc>
                <a:tc>
                  <a:txBody>
                    <a:bodyPr/>
                    <a:lstStyle/>
                    <a:p>
                      <a:pPr algn="ctr"/>
                      <a:r>
                        <a:rPr lang="en-US" dirty="0"/>
                        <a:t>-8.52</a:t>
                      </a:r>
                    </a:p>
                  </a:txBody>
                  <a:tcPr/>
                </a:tc>
                <a:tc>
                  <a:txBody>
                    <a:bodyPr/>
                    <a:lstStyle/>
                    <a:p>
                      <a:pPr algn="ctr"/>
                      <a:r>
                        <a:rPr lang="en-US" dirty="0"/>
                        <a:t>-10.26</a:t>
                      </a:r>
                    </a:p>
                  </a:txBody>
                  <a:tcPr/>
                </a:tc>
                <a:tc>
                  <a:txBody>
                    <a:bodyPr/>
                    <a:lstStyle/>
                    <a:p>
                      <a:pPr algn="ctr"/>
                      <a:r>
                        <a:rPr lang="en-US" dirty="0"/>
                        <a:t>-12.59</a:t>
                      </a:r>
                    </a:p>
                  </a:txBody>
                  <a:tcPr/>
                </a:tc>
                <a:tc>
                  <a:txBody>
                    <a:bodyPr/>
                    <a:lstStyle/>
                    <a:p>
                      <a:pPr algn="ctr"/>
                      <a:r>
                        <a:rPr lang="en-US" dirty="0"/>
                        <a:t>-14.32</a:t>
                      </a:r>
                    </a:p>
                  </a:txBody>
                  <a:tcPr/>
                </a:tc>
                <a:tc>
                  <a:txBody>
                    <a:bodyPr/>
                    <a:lstStyle/>
                    <a:p>
                      <a:pPr algn="ctr"/>
                      <a:r>
                        <a:rPr lang="en-US" dirty="0"/>
                        <a:t>-16.64</a:t>
                      </a:r>
                    </a:p>
                  </a:txBody>
                  <a:tcPr/>
                </a:tc>
                <a:tc>
                  <a:txBody>
                    <a:bodyPr/>
                    <a:lstStyle/>
                    <a:p>
                      <a:pPr algn="ctr"/>
                      <a:r>
                        <a:rPr lang="en-US" dirty="0"/>
                        <a:t>-18.97</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r>
                        <a:rPr lang="en-US" dirty="0"/>
                        <a:t>-7.97</a:t>
                      </a:r>
                    </a:p>
                  </a:txBody>
                  <a:tcPr/>
                </a:tc>
                <a:tc>
                  <a:txBody>
                    <a:bodyPr/>
                    <a:lstStyle/>
                    <a:p>
                      <a:pPr algn="ctr"/>
                      <a:r>
                        <a:rPr lang="en-US" dirty="0"/>
                        <a:t>-9.70</a:t>
                      </a:r>
                    </a:p>
                  </a:txBody>
                  <a:tcPr/>
                </a:tc>
                <a:tc>
                  <a:txBody>
                    <a:bodyPr/>
                    <a:lstStyle/>
                    <a:p>
                      <a:pPr algn="ctr"/>
                      <a:r>
                        <a:rPr lang="en-US" dirty="0"/>
                        <a:t>-12.03</a:t>
                      </a:r>
                    </a:p>
                  </a:txBody>
                  <a:tcPr/>
                </a:tc>
                <a:tc>
                  <a:txBody>
                    <a:bodyPr/>
                    <a:lstStyle/>
                    <a:p>
                      <a:pPr algn="ctr"/>
                      <a:r>
                        <a:rPr lang="en-US" dirty="0"/>
                        <a:t>-13.77</a:t>
                      </a:r>
                    </a:p>
                  </a:txBody>
                  <a:tcPr/>
                </a:tc>
                <a:tc>
                  <a:txBody>
                    <a:bodyPr/>
                    <a:lstStyle/>
                    <a:p>
                      <a:pPr algn="ctr"/>
                      <a:r>
                        <a:rPr lang="en-US" dirty="0"/>
                        <a:t>-16.08</a:t>
                      </a:r>
                    </a:p>
                  </a:txBody>
                  <a:tcPr/>
                </a:tc>
                <a:tc>
                  <a:txBody>
                    <a:bodyPr/>
                    <a:lstStyle/>
                    <a:p>
                      <a:pPr algn="ctr"/>
                      <a:r>
                        <a:rPr lang="en-US" dirty="0"/>
                        <a:t>-17.82</a:t>
                      </a:r>
                    </a:p>
                  </a:txBody>
                  <a:tcPr/>
                </a:tc>
                <a:tc>
                  <a:txBody>
                    <a:bodyPr/>
                    <a:lstStyle/>
                    <a:p>
                      <a:pPr algn="ctr"/>
                      <a:r>
                        <a:rPr lang="en-US" dirty="0"/>
                        <a:t>-19.56</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96202"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605251"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614300"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645806"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674105"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743419"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88566"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743955"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35B4911-A2F3-4E10-AE5B-26A462A60CFF}"/>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0481D16-1E97-4B24-94A6-E2F67EA92D2E}"/>
              </a:ext>
            </a:extLst>
          </p:cNvPr>
          <p:cNvCxnSpPr>
            <a:cxnSpLocks/>
          </p:cNvCxnSpPr>
          <p:nvPr/>
        </p:nvCxnSpPr>
        <p:spPr>
          <a:xfrm>
            <a:off x="3605251"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5BDAB04-1E61-4DB6-9B9B-53B8E007181D}"/>
              </a:ext>
            </a:extLst>
          </p:cNvPr>
          <p:cNvCxnSpPr>
            <a:cxnSpLocks/>
          </p:cNvCxnSpPr>
          <p:nvPr/>
        </p:nvCxnSpPr>
        <p:spPr>
          <a:xfrm>
            <a:off x="4614300"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89628C5A-ED3C-4008-84AA-426860D69B8E}"/>
              </a:ext>
            </a:extLst>
          </p:cNvPr>
          <p:cNvCxnSpPr>
            <a:cxnSpLocks/>
          </p:cNvCxnSpPr>
          <p:nvPr/>
        </p:nvCxnSpPr>
        <p:spPr>
          <a:xfrm>
            <a:off x="5645806" y="5814293"/>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18DE8452-BA8B-4B01-B3E1-F25C50F22CE2}"/>
              </a:ext>
            </a:extLst>
          </p:cNvPr>
          <p:cNvCxnSpPr>
            <a:cxnSpLocks/>
          </p:cNvCxnSpPr>
          <p:nvPr/>
        </p:nvCxnSpPr>
        <p:spPr>
          <a:xfrm>
            <a:off x="6674105" y="5814293"/>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7064C4A-0245-4D69-B9FC-D17BE79DA43D}"/>
              </a:ext>
            </a:extLst>
          </p:cNvPr>
          <p:cNvCxnSpPr>
            <a:cxnSpLocks/>
          </p:cNvCxnSpPr>
          <p:nvPr/>
        </p:nvCxnSpPr>
        <p:spPr>
          <a:xfrm>
            <a:off x="9743419"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985A241F-6E58-4F8F-AD36-571D21F07F61}"/>
              </a:ext>
            </a:extLst>
          </p:cNvPr>
          <p:cNvCxnSpPr>
            <a:cxnSpLocks/>
          </p:cNvCxnSpPr>
          <p:nvPr/>
        </p:nvCxnSpPr>
        <p:spPr>
          <a:xfrm>
            <a:off x="7688566"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4E50CB0B-2D9B-4220-AE03-6D0A234E660F}"/>
              </a:ext>
            </a:extLst>
          </p:cNvPr>
          <p:cNvCxnSpPr>
            <a:cxnSpLocks/>
          </p:cNvCxnSpPr>
          <p:nvPr/>
        </p:nvCxnSpPr>
        <p:spPr>
          <a:xfrm>
            <a:off x="8783281"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7482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7C45D-7C74-5ADF-F4BA-A371030EE742}"/>
              </a:ext>
            </a:extLst>
          </p:cNvPr>
          <p:cNvSpPr>
            <a:spLocks noGrp="1"/>
          </p:cNvSpPr>
          <p:nvPr>
            <p:ph type="title"/>
          </p:nvPr>
        </p:nvSpPr>
        <p:spPr/>
        <p:txBody>
          <a:bodyPr>
            <a:normAutofit fontScale="90000"/>
          </a:bodyPr>
          <a:lstStyle/>
          <a:p>
            <a:r>
              <a:rPr lang="en-US" dirty="0"/>
              <a:t>The Viterbi algorithm: summary</a:t>
            </a:r>
          </a:p>
        </p:txBody>
      </p:sp>
      <p:sp>
        <p:nvSpPr>
          <p:cNvPr id="3" name="Content Placeholder 2">
            <a:extLst>
              <a:ext uri="{FF2B5EF4-FFF2-40B4-BE49-F238E27FC236}">
                <a16:creationId xmlns:a16="http://schemas.microsoft.com/office/drawing/2014/main" id="{B842ED8A-7847-C033-1DBA-D4BE94A67E43}"/>
              </a:ext>
            </a:extLst>
          </p:cNvPr>
          <p:cNvSpPr>
            <a:spLocks noGrp="1"/>
          </p:cNvSpPr>
          <p:nvPr>
            <p:ph idx="1"/>
          </p:nvPr>
        </p:nvSpPr>
        <p:spPr/>
        <p:txBody>
          <a:bodyPr>
            <a:normAutofit/>
          </a:bodyPr>
          <a:lstStyle/>
          <a:p>
            <a:r>
              <a:rPr lang="en-US" dirty="0"/>
              <a:t>The Viterbi algorithm is used to compute the most probable path (as well as its probability). It requires knowledge of the parameters of the HMM model and a particular output sequence and it finds the state sequence that is most likely to have generated that output sequence. </a:t>
            </a:r>
          </a:p>
          <a:p>
            <a:r>
              <a:rPr lang="en-US" dirty="0"/>
              <a:t>It works by finding a maximum over all possible state sequences.</a:t>
            </a:r>
          </a:p>
          <a:p>
            <a:r>
              <a:rPr lang="en-US" dirty="0"/>
              <a:t>In sequence analysis, this method can be used for example to predict coding vs non-­coding sequences.</a:t>
            </a:r>
          </a:p>
          <a:p>
            <a:r>
              <a:rPr lang="en-US" dirty="0"/>
              <a:t>Similar (in spirit) to Smith-Waterman alignment!</a:t>
            </a:r>
          </a:p>
        </p:txBody>
      </p:sp>
      <p:sp>
        <p:nvSpPr>
          <p:cNvPr id="4" name="Slide Number Placeholder 3">
            <a:extLst>
              <a:ext uri="{FF2B5EF4-FFF2-40B4-BE49-F238E27FC236}">
                <a16:creationId xmlns:a16="http://schemas.microsoft.com/office/drawing/2014/main" id="{6BCBCB23-C345-B844-AF42-21EC3BE0FA73}"/>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512676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9A8F-5566-1A79-CD86-91D3828803F2}"/>
              </a:ext>
            </a:extLst>
          </p:cNvPr>
          <p:cNvSpPr>
            <a:spLocks noGrp="1"/>
          </p:cNvSpPr>
          <p:nvPr>
            <p:ph type="title"/>
          </p:nvPr>
        </p:nvSpPr>
        <p:spPr/>
        <p:txBody>
          <a:bodyPr>
            <a:normAutofit fontScale="90000"/>
          </a:bodyPr>
          <a:lstStyle/>
          <a:p>
            <a:r>
              <a:rPr lang="en-US" dirty="0"/>
              <a:t>Making use of annotated genomes</a:t>
            </a:r>
          </a:p>
        </p:txBody>
      </p:sp>
      <p:sp>
        <p:nvSpPr>
          <p:cNvPr id="3" name="Content Placeholder 2">
            <a:extLst>
              <a:ext uri="{FF2B5EF4-FFF2-40B4-BE49-F238E27FC236}">
                <a16:creationId xmlns:a16="http://schemas.microsoft.com/office/drawing/2014/main" id="{197A7719-33AD-3C56-8D13-83C68C1C8D05}"/>
              </a:ext>
            </a:extLst>
          </p:cNvPr>
          <p:cNvSpPr>
            <a:spLocks noGrp="1"/>
          </p:cNvSpPr>
          <p:nvPr>
            <p:ph idx="1"/>
          </p:nvPr>
        </p:nvSpPr>
        <p:spPr>
          <a:xfrm>
            <a:off x="598620" y="1596540"/>
            <a:ext cx="10972800" cy="5044892"/>
          </a:xfrm>
        </p:spPr>
        <p:txBody>
          <a:bodyPr>
            <a:normAutofit/>
          </a:bodyPr>
          <a:lstStyle/>
          <a:p>
            <a:r>
              <a:rPr lang="en-US" dirty="0"/>
              <a:t>We assembled and annotated a </a:t>
            </a:r>
            <a:r>
              <a:rPr lang="en-US" b="1" dirty="0"/>
              <a:t>reference</a:t>
            </a:r>
            <a:r>
              <a:rPr lang="en-US" dirty="0"/>
              <a:t> genome:</a:t>
            </a:r>
          </a:p>
          <a:p>
            <a:pPr lvl="1"/>
            <a:r>
              <a:rPr lang="en-US" dirty="0"/>
              <a:t>We know the DNA sequence of the genome</a:t>
            </a:r>
          </a:p>
          <a:p>
            <a:pPr lvl="1"/>
            <a:r>
              <a:rPr lang="en-US" dirty="0"/>
              <a:t>We know positions of all functional elements: exons, introns, transcript and protein coding sequences</a:t>
            </a:r>
          </a:p>
          <a:p>
            <a:r>
              <a:rPr lang="en-US" dirty="0"/>
              <a:t>How can we use this information:</a:t>
            </a:r>
          </a:p>
          <a:p>
            <a:pPr lvl="1"/>
            <a:r>
              <a:rPr lang="en-US" dirty="0"/>
              <a:t>We can establish the function of genes by protein homology</a:t>
            </a:r>
          </a:p>
          <a:p>
            <a:pPr lvl="1"/>
            <a:r>
              <a:rPr lang="en-US" dirty="0"/>
              <a:t>We can relate genotype to phenotype by looking at a population of individuals and by cataloguing their: </a:t>
            </a:r>
          </a:p>
          <a:p>
            <a:pPr lvl="2"/>
            <a:r>
              <a:rPr lang="en-US" dirty="0"/>
              <a:t>Phenotypes: physical appearance, </a:t>
            </a:r>
            <a:r>
              <a:rPr lang="en-US" dirty="0" err="1"/>
              <a:t>etc</a:t>
            </a:r>
            <a:endParaRPr lang="en-US" dirty="0"/>
          </a:p>
          <a:p>
            <a:pPr lvl="2"/>
            <a:r>
              <a:rPr lang="en-US" dirty="0"/>
              <a:t>Genotypes: set of differences between their genome and the reference</a:t>
            </a:r>
          </a:p>
          <a:p>
            <a:pPr lvl="1"/>
            <a:endParaRPr lang="en-US" dirty="0"/>
          </a:p>
        </p:txBody>
      </p:sp>
      <p:sp>
        <p:nvSpPr>
          <p:cNvPr id="4" name="Slide Number Placeholder 3">
            <a:extLst>
              <a:ext uri="{FF2B5EF4-FFF2-40B4-BE49-F238E27FC236}">
                <a16:creationId xmlns:a16="http://schemas.microsoft.com/office/drawing/2014/main" id="{4E6F08A2-F465-C564-D808-6612006822E9}"/>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4101191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2A11A-5645-6CFF-B26C-7B07CA28D3A1}"/>
              </a:ext>
            </a:extLst>
          </p:cNvPr>
          <p:cNvSpPr>
            <a:spLocks noGrp="1"/>
          </p:cNvSpPr>
          <p:nvPr>
            <p:ph type="title"/>
          </p:nvPr>
        </p:nvSpPr>
        <p:spPr/>
        <p:txBody>
          <a:bodyPr>
            <a:normAutofit fontScale="90000"/>
          </a:bodyPr>
          <a:lstStyle/>
          <a:p>
            <a:r>
              <a:rPr lang="en-US" dirty="0"/>
              <a:t>Genome Wide Association Study</a:t>
            </a:r>
          </a:p>
        </p:txBody>
      </p:sp>
      <p:sp>
        <p:nvSpPr>
          <p:cNvPr id="3" name="Content Placeholder 2">
            <a:extLst>
              <a:ext uri="{FF2B5EF4-FFF2-40B4-BE49-F238E27FC236}">
                <a16:creationId xmlns:a16="http://schemas.microsoft.com/office/drawing/2014/main" id="{6258EF31-2952-59EC-61BC-29F953630F6D}"/>
              </a:ext>
            </a:extLst>
          </p:cNvPr>
          <p:cNvSpPr>
            <a:spLocks noGrp="1"/>
          </p:cNvSpPr>
          <p:nvPr>
            <p:ph idx="1"/>
          </p:nvPr>
        </p:nvSpPr>
        <p:spPr/>
        <p:txBody>
          <a:bodyPr/>
          <a:lstStyle/>
          <a:p>
            <a:r>
              <a:rPr lang="en-US" dirty="0"/>
              <a:t>A genome-wide association study (GWAS) is a method used to identify genetic variants, that are associated with a particular disease or trait by comparing the genomes of many individuals. </a:t>
            </a:r>
          </a:p>
          <a:p>
            <a:r>
              <a:rPr lang="en-US" dirty="0"/>
              <a:t>It involves comparing the entire genomes of people who have a disease with those who don't, looking for genetic differences that appear more frequently in the affected group. The results help scientists understand the genetic basis of diseases and other traits. </a:t>
            </a:r>
          </a:p>
          <a:p>
            <a:endParaRPr lang="en-US" dirty="0"/>
          </a:p>
        </p:txBody>
      </p:sp>
      <p:sp>
        <p:nvSpPr>
          <p:cNvPr id="4" name="Slide Number Placeholder 3">
            <a:extLst>
              <a:ext uri="{FF2B5EF4-FFF2-40B4-BE49-F238E27FC236}">
                <a16:creationId xmlns:a16="http://schemas.microsoft.com/office/drawing/2014/main" id="{9160418A-98B5-096D-6463-A0218D37BDB8}"/>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1351066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6169F-B2C0-93AB-D759-FD4DEBA40CC3}"/>
              </a:ext>
            </a:extLst>
          </p:cNvPr>
          <p:cNvSpPr>
            <a:spLocks noGrp="1"/>
          </p:cNvSpPr>
          <p:nvPr>
            <p:ph type="title"/>
          </p:nvPr>
        </p:nvSpPr>
        <p:spPr/>
        <p:txBody>
          <a:bodyPr>
            <a:normAutofit fontScale="90000"/>
          </a:bodyPr>
          <a:lstStyle/>
          <a:p>
            <a:r>
              <a:rPr lang="en-US" dirty="0"/>
              <a:t>How GWAS works</a:t>
            </a:r>
          </a:p>
        </p:txBody>
      </p:sp>
      <p:sp>
        <p:nvSpPr>
          <p:cNvPr id="3" name="Content Placeholder 2">
            <a:extLst>
              <a:ext uri="{FF2B5EF4-FFF2-40B4-BE49-F238E27FC236}">
                <a16:creationId xmlns:a16="http://schemas.microsoft.com/office/drawing/2014/main" id="{BE208FB0-3474-A3C7-B323-C5BD46C3A5FD}"/>
              </a:ext>
            </a:extLst>
          </p:cNvPr>
          <p:cNvSpPr>
            <a:spLocks noGrp="1"/>
          </p:cNvSpPr>
          <p:nvPr>
            <p:ph idx="1"/>
          </p:nvPr>
        </p:nvSpPr>
        <p:spPr>
          <a:xfrm>
            <a:off x="598620" y="1596540"/>
            <a:ext cx="10972800" cy="4919763"/>
          </a:xfrm>
        </p:spPr>
        <p:txBody>
          <a:bodyPr>
            <a:normAutofit fontScale="92500" lnSpcReduction="10000"/>
          </a:bodyPr>
          <a:lstStyle/>
          <a:p>
            <a:r>
              <a:rPr lang="en-US" b="1" dirty="0"/>
              <a:t>Participant groups:</a:t>
            </a:r>
            <a:r>
              <a:rPr lang="en-US" dirty="0"/>
              <a:t> Researchers assemble two large groups of people: a "case" group with a specific disease or trait and a "control" group without it.</a:t>
            </a:r>
          </a:p>
          <a:p>
            <a:r>
              <a:rPr lang="en-US" b="1" dirty="0"/>
              <a:t>DNA collection:</a:t>
            </a:r>
            <a:r>
              <a:rPr lang="en-US" dirty="0"/>
              <a:t> DNA is collected from all participants, often through a blood sample or a cheek swab.</a:t>
            </a:r>
          </a:p>
          <a:p>
            <a:r>
              <a:rPr lang="en-US" b="1" dirty="0"/>
              <a:t>Genotyping:</a:t>
            </a:r>
            <a:r>
              <a:rPr lang="en-US" dirty="0"/>
              <a:t> The DNA is then analyzed to identify common genetic variants, typically single nucleotide polymorphisms (SNPs), across the entire genome.</a:t>
            </a:r>
          </a:p>
          <a:p>
            <a:r>
              <a:rPr lang="en-US" b="1" dirty="0"/>
              <a:t>Association testing:</a:t>
            </a:r>
            <a:r>
              <a:rPr lang="en-US" dirty="0"/>
              <a:t> Statistical tests are performed to see if any particular SNP variant is found significantly more often in one group than the other. For example, more people with heart disease might have a "C" SNP in a specific gene compared to a "T" SNP, which is more common in the control group.</a:t>
            </a:r>
          </a:p>
          <a:p>
            <a:r>
              <a:rPr lang="en-US" b="1" dirty="0"/>
              <a:t>Interpretation:</a:t>
            </a:r>
            <a:r>
              <a:rPr lang="en-US" dirty="0"/>
              <a:t> Variants found more frequently in the case group are considered to be associated with the disease or trait. </a:t>
            </a:r>
          </a:p>
          <a:p>
            <a:endParaRPr lang="en-US" dirty="0"/>
          </a:p>
        </p:txBody>
      </p:sp>
      <p:sp>
        <p:nvSpPr>
          <p:cNvPr id="4" name="Slide Number Placeholder 3">
            <a:extLst>
              <a:ext uri="{FF2B5EF4-FFF2-40B4-BE49-F238E27FC236}">
                <a16:creationId xmlns:a16="http://schemas.microsoft.com/office/drawing/2014/main" id="{07BD7618-645F-A0B0-1A1C-11848B8F1D67}"/>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101611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76A8C-E7D6-3257-9E0F-5BBA4262CB35}"/>
              </a:ext>
            </a:extLst>
          </p:cNvPr>
          <p:cNvSpPr>
            <a:spLocks noGrp="1"/>
          </p:cNvSpPr>
          <p:nvPr>
            <p:ph type="title"/>
          </p:nvPr>
        </p:nvSpPr>
        <p:spPr/>
        <p:txBody>
          <a:bodyPr>
            <a:normAutofit fontScale="90000"/>
          </a:bodyPr>
          <a:lstStyle/>
          <a:p>
            <a:r>
              <a:rPr lang="en-US" dirty="0"/>
              <a:t>What is GWAS used for</a:t>
            </a:r>
          </a:p>
        </p:txBody>
      </p:sp>
      <p:sp>
        <p:nvSpPr>
          <p:cNvPr id="3" name="Content Placeholder 2">
            <a:extLst>
              <a:ext uri="{FF2B5EF4-FFF2-40B4-BE49-F238E27FC236}">
                <a16:creationId xmlns:a16="http://schemas.microsoft.com/office/drawing/2014/main" id="{24432F2C-BBCF-C71E-3A6F-9B8D4C171AD1}"/>
              </a:ext>
            </a:extLst>
          </p:cNvPr>
          <p:cNvSpPr>
            <a:spLocks noGrp="1"/>
          </p:cNvSpPr>
          <p:nvPr>
            <p:ph idx="1"/>
          </p:nvPr>
        </p:nvSpPr>
        <p:spPr/>
        <p:txBody>
          <a:bodyPr>
            <a:normAutofit lnSpcReduction="10000"/>
          </a:bodyPr>
          <a:lstStyle/>
          <a:p>
            <a:r>
              <a:rPr lang="en-US" b="1" dirty="0"/>
              <a:t>Understanding disease:</a:t>
            </a:r>
            <a:r>
              <a:rPr lang="en-US" dirty="0"/>
              <a:t> GWAS provides a way to identify genetic risk factors for many diseases, including some types of cancer, heart disease, and neurological disorders.</a:t>
            </a:r>
          </a:p>
          <a:p>
            <a:r>
              <a:rPr lang="en-US" b="1" dirty="0"/>
              <a:t>Improving research:</a:t>
            </a:r>
            <a:r>
              <a:rPr lang="en-US" dirty="0"/>
              <a:t> By pinpointing these associated variants, researchers can investigate the specific genes and biological mechanisms that contribute to disease risk.</a:t>
            </a:r>
          </a:p>
          <a:p>
            <a:r>
              <a:rPr lang="en-US" b="1" dirty="0"/>
              <a:t>Developing treatments:</a:t>
            </a:r>
            <a:r>
              <a:rPr lang="en-US" dirty="0"/>
              <a:t> Insights from GWAS can serve as a first step toward understanding a disease's underlying causes and eventually lead to the development of new treatments. </a:t>
            </a:r>
          </a:p>
          <a:p>
            <a:endParaRPr lang="en-US" dirty="0"/>
          </a:p>
        </p:txBody>
      </p:sp>
      <p:sp>
        <p:nvSpPr>
          <p:cNvPr id="4" name="Slide Number Placeholder 3">
            <a:extLst>
              <a:ext uri="{FF2B5EF4-FFF2-40B4-BE49-F238E27FC236}">
                <a16:creationId xmlns:a16="http://schemas.microsoft.com/office/drawing/2014/main" id="{23545AC8-91B5-D557-CEE2-13E59A5D176C}"/>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347785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The first step in GWAS: 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many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582660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897960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D0D3-4250-4E4B-8EF1-C1D81E4DDCD4}"/>
              </a:ext>
            </a:extLst>
          </p:cNvPr>
          <p:cNvSpPr>
            <a:spLocks noGrp="1"/>
          </p:cNvSpPr>
          <p:nvPr>
            <p:ph type="title"/>
          </p:nvPr>
        </p:nvSpPr>
        <p:spPr/>
        <p:txBody>
          <a:bodyPr>
            <a:normAutofit fontScale="90000"/>
          </a:bodyPr>
          <a:lstStyle/>
          <a:p>
            <a:r>
              <a:rPr lang="en-US" dirty="0"/>
              <a:t>Single nucleotide variants (SNV or SNP)</a:t>
            </a:r>
          </a:p>
        </p:txBody>
      </p:sp>
      <p:sp>
        <p:nvSpPr>
          <p:cNvPr id="4" name="Slide Number Placeholder 3">
            <a:extLst>
              <a:ext uri="{FF2B5EF4-FFF2-40B4-BE49-F238E27FC236}">
                <a16:creationId xmlns:a16="http://schemas.microsoft.com/office/drawing/2014/main" id="{26B83F49-79CD-4B87-91B1-2E43CF20D293}"/>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 name="Picture 5">
            <a:extLst>
              <a:ext uri="{FF2B5EF4-FFF2-40B4-BE49-F238E27FC236}">
                <a16:creationId xmlns:a16="http://schemas.microsoft.com/office/drawing/2014/main" id="{30DBBF84-F160-4B93-A3E6-EFFC40927008}"/>
              </a:ext>
            </a:extLst>
          </p:cNvPr>
          <p:cNvPicPr>
            <a:picLocks noChangeAspect="1"/>
          </p:cNvPicPr>
          <p:nvPr/>
        </p:nvPicPr>
        <p:blipFill>
          <a:blip r:embed="rId2"/>
          <a:stretch>
            <a:fillRect/>
          </a:stretch>
        </p:blipFill>
        <p:spPr>
          <a:xfrm>
            <a:off x="2173852" y="1940804"/>
            <a:ext cx="7011378" cy="4515480"/>
          </a:xfrm>
          <a:prstGeom prst="rect">
            <a:avLst/>
          </a:prstGeom>
        </p:spPr>
      </p:pic>
      <p:sp>
        <p:nvSpPr>
          <p:cNvPr id="7" name="TextBox 6">
            <a:extLst>
              <a:ext uri="{FF2B5EF4-FFF2-40B4-BE49-F238E27FC236}">
                <a16:creationId xmlns:a16="http://schemas.microsoft.com/office/drawing/2014/main" id="{60A784DD-D65B-4E69-B9AB-ABD9CA9816B8}"/>
              </a:ext>
            </a:extLst>
          </p:cNvPr>
          <p:cNvSpPr txBox="1"/>
          <p:nvPr/>
        </p:nvSpPr>
        <p:spPr>
          <a:xfrm>
            <a:off x="598620" y="6456284"/>
            <a:ext cx="2098010" cy="369332"/>
          </a:xfrm>
          <a:prstGeom prst="rect">
            <a:avLst/>
          </a:prstGeom>
          <a:noFill/>
        </p:spPr>
        <p:txBody>
          <a:bodyPr wrap="none" rtlCol="0">
            <a:spAutoFit/>
          </a:bodyPr>
          <a:lstStyle/>
          <a:p>
            <a:r>
              <a:rPr lang="en-US" dirty="0"/>
              <a:t>Source: genome.gov</a:t>
            </a:r>
          </a:p>
        </p:txBody>
      </p:sp>
      <p:sp>
        <p:nvSpPr>
          <p:cNvPr id="3" name="TextBox 2">
            <a:extLst>
              <a:ext uri="{FF2B5EF4-FFF2-40B4-BE49-F238E27FC236}">
                <a16:creationId xmlns:a16="http://schemas.microsoft.com/office/drawing/2014/main" id="{185A2386-0758-8DD4-D579-FA675FDA77E0}"/>
              </a:ext>
            </a:extLst>
          </p:cNvPr>
          <p:cNvSpPr txBox="1"/>
          <p:nvPr/>
        </p:nvSpPr>
        <p:spPr>
          <a:xfrm>
            <a:off x="3285770" y="1951749"/>
            <a:ext cx="1189300" cy="369332"/>
          </a:xfrm>
          <a:prstGeom prst="rect">
            <a:avLst/>
          </a:prstGeom>
          <a:noFill/>
        </p:spPr>
        <p:txBody>
          <a:bodyPr wrap="none" rtlCol="0">
            <a:spAutoFit/>
          </a:bodyPr>
          <a:lstStyle/>
          <a:p>
            <a:r>
              <a:rPr lang="en-US" dirty="0"/>
              <a:t>Reference:</a:t>
            </a:r>
            <a:endParaRPr lang="en-US" sz="2000" dirty="0">
              <a:solidFill>
                <a:srgbClr val="7030A0"/>
              </a:solidFill>
              <a:latin typeface="Bahnschrift Light SemiCondensed" panose="020B0502040204020203" pitchFamily="34" charset="0"/>
            </a:endParaRPr>
          </a:p>
        </p:txBody>
      </p:sp>
      <p:pic>
        <p:nvPicPr>
          <p:cNvPr id="8" name="Picture 7">
            <a:extLst>
              <a:ext uri="{FF2B5EF4-FFF2-40B4-BE49-F238E27FC236}">
                <a16:creationId xmlns:a16="http://schemas.microsoft.com/office/drawing/2014/main" id="{22086C79-5857-7439-A06D-3853490A375B}"/>
              </a:ext>
            </a:extLst>
          </p:cNvPr>
          <p:cNvPicPr>
            <a:picLocks noChangeAspect="1"/>
          </p:cNvPicPr>
          <p:nvPr/>
        </p:nvPicPr>
        <p:blipFill>
          <a:blip r:embed="rId3"/>
          <a:stretch>
            <a:fillRect/>
          </a:stretch>
        </p:blipFill>
        <p:spPr>
          <a:xfrm>
            <a:off x="4497033" y="1940804"/>
            <a:ext cx="3219899" cy="362001"/>
          </a:xfrm>
          <a:prstGeom prst="rect">
            <a:avLst/>
          </a:prstGeom>
        </p:spPr>
      </p:pic>
      <p:pic>
        <p:nvPicPr>
          <p:cNvPr id="14" name="Picture 13">
            <a:extLst>
              <a:ext uri="{FF2B5EF4-FFF2-40B4-BE49-F238E27FC236}">
                <a16:creationId xmlns:a16="http://schemas.microsoft.com/office/drawing/2014/main" id="{B9AA4502-D409-201E-C6E3-B6924BB16E72}"/>
              </a:ext>
            </a:extLst>
          </p:cNvPr>
          <p:cNvPicPr>
            <a:picLocks noChangeAspect="1"/>
          </p:cNvPicPr>
          <p:nvPr/>
        </p:nvPicPr>
        <p:blipFill>
          <a:blip r:embed="rId4"/>
          <a:stretch>
            <a:fillRect/>
          </a:stretch>
        </p:blipFill>
        <p:spPr>
          <a:xfrm>
            <a:off x="5945767" y="1968607"/>
            <a:ext cx="190271" cy="352474"/>
          </a:xfrm>
          <a:prstGeom prst="rect">
            <a:avLst/>
          </a:prstGeom>
        </p:spPr>
      </p:pic>
    </p:spTree>
    <p:extLst>
      <p:ext uri="{BB962C8B-B14F-4D97-AF65-F5344CB8AC3E}">
        <p14:creationId xmlns:p14="http://schemas.microsoft.com/office/powerpoint/2010/main" val="2349153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D0D3-4250-4E4B-8EF1-C1D81E4DDCD4}"/>
              </a:ext>
            </a:extLst>
          </p:cNvPr>
          <p:cNvSpPr>
            <a:spLocks noGrp="1"/>
          </p:cNvSpPr>
          <p:nvPr>
            <p:ph type="title"/>
          </p:nvPr>
        </p:nvSpPr>
        <p:spPr/>
        <p:txBody>
          <a:bodyPr>
            <a:normAutofit fontScale="90000"/>
          </a:bodyPr>
          <a:lstStyle/>
          <a:p>
            <a:r>
              <a:rPr lang="en-US" dirty="0"/>
              <a:t>Other variants </a:t>
            </a:r>
          </a:p>
        </p:txBody>
      </p:sp>
      <p:sp>
        <p:nvSpPr>
          <p:cNvPr id="4" name="Slide Number Placeholder 3">
            <a:extLst>
              <a:ext uri="{FF2B5EF4-FFF2-40B4-BE49-F238E27FC236}">
                <a16:creationId xmlns:a16="http://schemas.microsoft.com/office/drawing/2014/main" id="{26B83F49-79CD-4B87-91B1-2E43CF20D293}"/>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7" name="TextBox 6">
            <a:extLst>
              <a:ext uri="{FF2B5EF4-FFF2-40B4-BE49-F238E27FC236}">
                <a16:creationId xmlns:a16="http://schemas.microsoft.com/office/drawing/2014/main" id="{60A784DD-D65B-4E69-B9AB-ABD9CA9816B8}"/>
              </a:ext>
            </a:extLst>
          </p:cNvPr>
          <p:cNvSpPr txBox="1"/>
          <p:nvPr/>
        </p:nvSpPr>
        <p:spPr>
          <a:xfrm>
            <a:off x="598620" y="6456284"/>
            <a:ext cx="2098010" cy="369332"/>
          </a:xfrm>
          <a:prstGeom prst="rect">
            <a:avLst/>
          </a:prstGeom>
          <a:noFill/>
        </p:spPr>
        <p:txBody>
          <a:bodyPr wrap="none" rtlCol="0">
            <a:spAutoFit/>
          </a:bodyPr>
          <a:lstStyle/>
          <a:p>
            <a:r>
              <a:rPr lang="en-US" dirty="0"/>
              <a:t>Source: genome.gov</a:t>
            </a:r>
          </a:p>
        </p:txBody>
      </p:sp>
      <p:pic>
        <p:nvPicPr>
          <p:cNvPr id="5" name="Picture 4">
            <a:extLst>
              <a:ext uri="{FF2B5EF4-FFF2-40B4-BE49-F238E27FC236}">
                <a16:creationId xmlns:a16="http://schemas.microsoft.com/office/drawing/2014/main" id="{097F6318-4CB9-4A5C-968D-B5699D78C1B0}"/>
              </a:ext>
            </a:extLst>
          </p:cNvPr>
          <p:cNvPicPr>
            <a:picLocks noChangeAspect="1"/>
          </p:cNvPicPr>
          <p:nvPr/>
        </p:nvPicPr>
        <p:blipFill>
          <a:blip r:embed="rId2"/>
          <a:stretch>
            <a:fillRect/>
          </a:stretch>
        </p:blipFill>
        <p:spPr>
          <a:xfrm>
            <a:off x="2041394" y="1950735"/>
            <a:ext cx="7059010" cy="4115374"/>
          </a:xfrm>
          <a:prstGeom prst="rect">
            <a:avLst/>
          </a:prstGeom>
        </p:spPr>
      </p:pic>
    </p:spTree>
    <p:extLst>
      <p:ext uri="{BB962C8B-B14F-4D97-AF65-F5344CB8AC3E}">
        <p14:creationId xmlns:p14="http://schemas.microsoft.com/office/powerpoint/2010/main" val="4191912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B8F5-9DBA-32EE-C6C5-068C5F0672F5}"/>
              </a:ext>
            </a:extLst>
          </p:cNvPr>
          <p:cNvSpPr>
            <a:spLocks noGrp="1"/>
          </p:cNvSpPr>
          <p:nvPr>
            <p:ph type="title"/>
          </p:nvPr>
        </p:nvSpPr>
        <p:spPr/>
        <p:txBody>
          <a:bodyPr>
            <a:normAutofit fontScale="90000"/>
          </a:bodyPr>
          <a:lstStyle/>
          <a:p>
            <a:r>
              <a:rPr lang="en-US"/>
              <a:t>VCF file format</a:t>
            </a:r>
          </a:p>
        </p:txBody>
      </p:sp>
      <p:sp>
        <p:nvSpPr>
          <p:cNvPr id="3" name="Content Placeholder 2">
            <a:extLst>
              <a:ext uri="{FF2B5EF4-FFF2-40B4-BE49-F238E27FC236}">
                <a16:creationId xmlns:a16="http://schemas.microsoft.com/office/drawing/2014/main" id="{DD8351FA-2FEE-3BB6-D090-9867A620F645}"/>
              </a:ext>
            </a:extLst>
          </p:cNvPr>
          <p:cNvSpPr>
            <a:spLocks noGrp="1"/>
          </p:cNvSpPr>
          <p:nvPr>
            <p:ph idx="1"/>
          </p:nvPr>
        </p:nvSpPr>
        <p:spPr/>
        <p:txBody>
          <a:bodyPr/>
          <a:lstStyle/>
          <a:p>
            <a:r>
              <a:rPr lang="en-US" dirty="0"/>
              <a:t>Variant calls are usually reported in VCF format:</a:t>
            </a:r>
          </a:p>
          <a:p>
            <a:endParaRPr lang="en-US" dirty="0"/>
          </a:p>
        </p:txBody>
      </p:sp>
      <p:sp>
        <p:nvSpPr>
          <p:cNvPr id="4" name="Slide Number Placeholder 3">
            <a:extLst>
              <a:ext uri="{FF2B5EF4-FFF2-40B4-BE49-F238E27FC236}">
                <a16:creationId xmlns:a16="http://schemas.microsoft.com/office/drawing/2014/main" id="{CC5847AA-F229-A482-7BF9-12B7D14E2B97}"/>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10E9579D-4CE7-FE99-E328-FF27CD17A59F}"/>
              </a:ext>
            </a:extLst>
          </p:cNvPr>
          <p:cNvPicPr>
            <a:picLocks noChangeAspect="1"/>
          </p:cNvPicPr>
          <p:nvPr/>
        </p:nvPicPr>
        <p:blipFill>
          <a:blip r:embed="rId2"/>
          <a:stretch>
            <a:fillRect/>
          </a:stretch>
        </p:blipFill>
        <p:spPr>
          <a:xfrm>
            <a:off x="913767" y="2158364"/>
            <a:ext cx="9069066" cy="4563112"/>
          </a:xfrm>
          <a:prstGeom prst="rect">
            <a:avLst/>
          </a:prstGeom>
        </p:spPr>
      </p:pic>
    </p:spTree>
    <p:extLst>
      <p:ext uri="{BB962C8B-B14F-4D97-AF65-F5344CB8AC3E}">
        <p14:creationId xmlns:p14="http://schemas.microsoft.com/office/powerpoint/2010/main" val="153294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9B34-E3D5-5C43-FFC6-A65E8D8BE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E46A1-4D3D-7A01-026D-1AC6B49729E1}"/>
              </a:ext>
            </a:extLst>
          </p:cNvPr>
          <p:cNvSpPr>
            <a:spLocks noGrp="1"/>
          </p:cNvSpPr>
          <p:nvPr>
            <p:ph type="title"/>
          </p:nvPr>
        </p:nvSpPr>
        <p:spPr/>
        <p:txBody>
          <a:bodyPr>
            <a:normAutofit fontScale="90000"/>
          </a:bodyPr>
          <a:lstStyle/>
          <a:p>
            <a:r>
              <a:rPr lang="en-US" dirty="0"/>
              <a:t>VCF file format: example</a:t>
            </a:r>
          </a:p>
        </p:txBody>
      </p:sp>
      <p:sp>
        <p:nvSpPr>
          <p:cNvPr id="4" name="Slide Number Placeholder 3">
            <a:extLst>
              <a:ext uri="{FF2B5EF4-FFF2-40B4-BE49-F238E27FC236}">
                <a16:creationId xmlns:a16="http://schemas.microsoft.com/office/drawing/2014/main" id="{FCD15F7A-E377-8F9D-D6D1-AFCA23BEAC93}"/>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7" name="Picture 6">
            <a:extLst>
              <a:ext uri="{FF2B5EF4-FFF2-40B4-BE49-F238E27FC236}">
                <a16:creationId xmlns:a16="http://schemas.microsoft.com/office/drawing/2014/main" id="{379B34A3-A541-08EF-A5F7-377561B34593}"/>
              </a:ext>
            </a:extLst>
          </p:cNvPr>
          <p:cNvPicPr>
            <a:picLocks noChangeAspect="1"/>
          </p:cNvPicPr>
          <p:nvPr/>
        </p:nvPicPr>
        <p:blipFill>
          <a:blip r:embed="rId2"/>
          <a:stretch>
            <a:fillRect/>
          </a:stretch>
        </p:blipFill>
        <p:spPr>
          <a:xfrm>
            <a:off x="504824" y="1342657"/>
            <a:ext cx="8310455" cy="5291963"/>
          </a:xfrm>
          <a:prstGeom prst="rect">
            <a:avLst/>
          </a:prstGeom>
        </p:spPr>
      </p:pic>
    </p:spTree>
    <p:extLst>
      <p:ext uri="{BB962C8B-B14F-4D97-AF65-F5344CB8AC3E}">
        <p14:creationId xmlns:p14="http://schemas.microsoft.com/office/powerpoint/2010/main" val="30014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3355-0590-A447-40E5-EED30FDD128A}"/>
              </a:ext>
            </a:extLst>
          </p:cNvPr>
          <p:cNvSpPr>
            <a:spLocks noGrp="1"/>
          </p:cNvSpPr>
          <p:nvPr>
            <p:ph type="title"/>
          </p:nvPr>
        </p:nvSpPr>
        <p:spPr/>
        <p:txBody>
          <a:bodyPr>
            <a:normAutofit fontScale="90000"/>
          </a:bodyPr>
          <a:lstStyle/>
          <a:p>
            <a:r>
              <a:rPr lang="en-US" dirty="0"/>
              <a:t>Variant calling software</a:t>
            </a:r>
          </a:p>
        </p:txBody>
      </p:sp>
      <p:sp>
        <p:nvSpPr>
          <p:cNvPr id="3" name="Content Placeholder 2">
            <a:extLst>
              <a:ext uri="{FF2B5EF4-FFF2-40B4-BE49-F238E27FC236}">
                <a16:creationId xmlns:a16="http://schemas.microsoft.com/office/drawing/2014/main" id="{CE3B7942-6A25-C264-FE82-1828D166C1E8}"/>
              </a:ext>
            </a:extLst>
          </p:cNvPr>
          <p:cNvSpPr>
            <a:spLocks noGrp="1"/>
          </p:cNvSpPr>
          <p:nvPr>
            <p:ph idx="1"/>
          </p:nvPr>
        </p:nvSpPr>
        <p:spPr>
          <a:xfrm>
            <a:off x="598620" y="1596540"/>
            <a:ext cx="6350820" cy="3918803"/>
          </a:xfrm>
        </p:spPr>
        <p:txBody>
          <a:bodyPr>
            <a:normAutofit lnSpcReduction="10000"/>
          </a:bodyPr>
          <a:lstStyle/>
          <a:p>
            <a:r>
              <a:rPr lang="en-US" dirty="0"/>
              <a:t>I recommend </a:t>
            </a:r>
            <a:r>
              <a:rPr lang="en-US" i="1" dirty="0" err="1"/>
              <a:t>freebayes</a:t>
            </a:r>
            <a:r>
              <a:rPr lang="en-US" dirty="0"/>
              <a:t> – it works very well, very stable and easy to install (static executable)</a:t>
            </a:r>
          </a:p>
          <a:p>
            <a:r>
              <a:rPr lang="en-US" dirty="0"/>
              <a:t>Other programs:</a:t>
            </a:r>
          </a:p>
          <a:p>
            <a:pPr lvl="1"/>
            <a:r>
              <a:rPr lang="en-US" dirty="0"/>
              <a:t>GATK</a:t>
            </a:r>
          </a:p>
          <a:p>
            <a:pPr lvl="1"/>
            <a:r>
              <a:rPr lang="en-US" dirty="0"/>
              <a:t>Google’s </a:t>
            </a:r>
            <a:r>
              <a:rPr lang="en-US" dirty="0" err="1"/>
              <a:t>deepvariant</a:t>
            </a:r>
            <a:endParaRPr lang="en-US" dirty="0"/>
          </a:p>
          <a:p>
            <a:pPr lvl="1"/>
            <a:r>
              <a:rPr lang="en-US" dirty="0"/>
              <a:t>Strelka2</a:t>
            </a:r>
          </a:p>
          <a:p>
            <a:pPr lvl="1"/>
            <a:r>
              <a:rPr lang="en-US" dirty="0"/>
              <a:t>Octopus</a:t>
            </a:r>
          </a:p>
        </p:txBody>
      </p:sp>
      <p:sp>
        <p:nvSpPr>
          <p:cNvPr id="4" name="Slide Number Placeholder 3">
            <a:extLst>
              <a:ext uri="{FF2B5EF4-FFF2-40B4-BE49-F238E27FC236}">
                <a16:creationId xmlns:a16="http://schemas.microsoft.com/office/drawing/2014/main" id="{2A230F80-144C-4DF8-0BB6-DFF5F76AF0E2}"/>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Picture 5">
            <a:extLst>
              <a:ext uri="{FF2B5EF4-FFF2-40B4-BE49-F238E27FC236}">
                <a16:creationId xmlns:a16="http://schemas.microsoft.com/office/drawing/2014/main" id="{E169E7CD-074D-B97B-AE01-E60621020297}"/>
              </a:ext>
            </a:extLst>
          </p:cNvPr>
          <p:cNvPicPr>
            <a:picLocks noChangeAspect="1"/>
          </p:cNvPicPr>
          <p:nvPr/>
        </p:nvPicPr>
        <p:blipFill>
          <a:blip r:embed="rId2"/>
          <a:stretch>
            <a:fillRect/>
          </a:stretch>
        </p:blipFill>
        <p:spPr>
          <a:xfrm>
            <a:off x="7267042" y="1596540"/>
            <a:ext cx="4326338" cy="2595803"/>
          </a:xfrm>
          <a:prstGeom prst="rect">
            <a:avLst/>
          </a:prstGeom>
        </p:spPr>
      </p:pic>
    </p:spTree>
    <p:extLst>
      <p:ext uri="{BB962C8B-B14F-4D97-AF65-F5344CB8AC3E}">
        <p14:creationId xmlns:p14="http://schemas.microsoft.com/office/powerpoint/2010/main" val="517721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D5BEE-90ED-23E5-9EEB-61C351B83435}"/>
              </a:ext>
            </a:extLst>
          </p:cNvPr>
          <p:cNvSpPr>
            <a:spLocks noGrp="1"/>
          </p:cNvSpPr>
          <p:nvPr>
            <p:ph type="title"/>
          </p:nvPr>
        </p:nvSpPr>
        <p:spPr/>
        <p:txBody>
          <a:bodyPr>
            <a:normAutofit fontScale="90000"/>
          </a:bodyPr>
          <a:lstStyle/>
          <a:p>
            <a:r>
              <a:rPr lang="en-US" dirty="0"/>
              <a:t>Performance of variant callers</a:t>
            </a:r>
          </a:p>
        </p:txBody>
      </p:sp>
      <p:sp>
        <p:nvSpPr>
          <p:cNvPr id="3" name="Content Placeholder 2">
            <a:extLst>
              <a:ext uri="{FF2B5EF4-FFF2-40B4-BE49-F238E27FC236}">
                <a16:creationId xmlns:a16="http://schemas.microsoft.com/office/drawing/2014/main" id="{66B3790C-0347-0BE8-B888-98C86F97EA63}"/>
              </a:ext>
            </a:extLst>
          </p:cNvPr>
          <p:cNvSpPr>
            <a:spLocks noGrp="1"/>
          </p:cNvSpPr>
          <p:nvPr>
            <p:ph idx="1"/>
          </p:nvPr>
        </p:nvSpPr>
        <p:spPr/>
        <p:txBody>
          <a:bodyPr/>
          <a:lstStyle/>
          <a:p>
            <a:r>
              <a:rPr lang="en-US" dirty="0" err="1"/>
              <a:t>Deepvariant</a:t>
            </a:r>
            <a:r>
              <a:rPr lang="en-US" dirty="0"/>
              <a:t> is the most expensive to run and performs best.  Overall differences are small(</a:t>
            </a:r>
            <a:r>
              <a:rPr lang="en-US" dirty="0" err="1"/>
              <a:t>Barbitoff</a:t>
            </a:r>
            <a:r>
              <a:rPr lang="en-US" dirty="0"/>
              <a:t> et al, 2022):</a:t>
            </a:r>
          </a:p>
        </p:txBody>
      </p:sp>
      <p:sp>
        <p:nvSpPr>
          <p:cNvPr id="4" name="Slide Number Placeholder 3">
            <a:extLst>
              <a:ext uri="{FF2B5EF4-FFF2-40B4-BE49-F238E27FC236}">
                <a16:creationId xmlns:a16="http://schemas.microsoft.com/office/drawing/2014/main" id="{014BFC21-CB8D-B34A-031D-219501416A69}"/>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6" name="Picture 5">
            <a:extLst>
              <a:ext uri="{FF2B5EF4-FFF2-40B4-BE49-F238E27FC236}">
                <a16:creationId xmlns:a16="http://schemas.microsoft.com/office/drawing/2014/main" id="{3D6B4299-F247-3CCC-A977-F83CE6034ED6}"/>
              </a:ext>
            </a:extLst>
          </p:cNvPr>
          <p:cNvPicPr>
            <a:picLocks noChangeAspect="1"/>
          </p:cNvPicPr>
          <p:nvPr/>
        </p:nvPicPr>
        <p:blipFill>
          <a:blip r:embed="rId2"/>
          <a:stretch>
            <a:fillRect/>
          </a:stretch>
        </p:blipFill>
        <p:spPr>
          <a:xfrm>
            <a:off x="620580" y="2585030"/>
            <a:ext cx="10325377" cy="3953883"/>
          </a:xfrm>
          <a:prstGeom prst="rect">
            <a:avLst/>
          </a:prstGeom>
        </p:spPr>
      </p:pic>
    </p:spTree>
    <p:extLst>
      <p:ext uri="{BB962C8B-B14F-4D97-AF65-F5344CB8AC3E}">
        <p14:creationId xmlns:p14="http://schemas.microsoft.com/office/powerpoint/2010/main" val="3169417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9D4A-8171-FA21-0001-92D8AF4D3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D9BD3-F5DF-85CD-214C-E5AEB0A9D00F}"/>
              </a:ext>
            </a:extLst>
          </p:cNvPr>
          <p:cNvSpPr>
            <a:spLocks noGrp="1"/>
          </p:cNvSpPr>
          <p:nvPr>
            <p:ph type="title"/>
          </p:nvPr>
        </p:nvSpPr>
        <p:spPr/>
        <p:txBody>
          <a:bodyPr>
            <a:normAutofit fontScale="90000"/>
          </a:bodyPr>
          <a:lstStyle/>
          <a:p>
            <a:r>
              <a:rPr lang="en-US" dirty="0"/>
              <a:t>Performance of variant callers</a:t>
            </a:r>
          </a:p>
        </p:txBody>
      </p:sp>
      <p:sp>
        <p:nvSpPr>
          <p:cNvPr id="3" name="Content Placeholder 2">
            <a:extLst>
              <a:ext uri="{FF2B5EF4-FFF2-40B4-BE49-F238E27FC236}">
                <a16:creationId xmlns:a16="http://schemas.microsoft.com/office/drawing/2014/main" id="{AB0E6307-3A01-3DC5-26A1-AE7B5C815A0E}"/>
              </a:ext>
            </a:extLst>
          </p:cNvPr>
          <p:cNvSpPr>
            <a:spLocks noGrp="1"/>
          </p:cNvSpPr>
          <p:nvPr>
            <p:ph idx="1"/>
          </p:nvPr>
        </p:nvSpPr>
        <p:spPr>
          <a:xfrm>
            <a:off x="409576" y="1596540"/>
            <a:ext cx="2978518" cy="5124936"/>
          </a:xfrm>
        </p:spPr>
        <p:txBody>
          <a:bodyPr/>
          <a:lstStyle/>
          <a:p>
            <a:r>
              <a:rPr lang="en-US" dirty="0"/>
              <a:t>Another comparison—note the Y axis scale (</a:t>
            </a:r>
            <a:r>
              <a:rPr lang="en-US" dirty="0" err="1"/>
              <a:t>Barbitoff</a:t>
            </a:r>
            <a:r>
              <a:rPr lang="en-US" dirty="0"/>
              <a:t> et al, 2022):</a:t>
            </a:r>
          </a:p>
          <a:p>
            <a:r>
              <a:rPr lang="en-US" dirty="0"/>
              <a:t>Look at the vertical scale: very little difference between programs!!!</a:t>
            </a:r>
          </a:p>
        </p:txBody>
      </p:sp>
      <p:sp>
        <p:nvSpPr>
          <p:cNvPr id="4" name="Slide Number Placeholder 3">
            <a:extLst>
              <a:ext uri="{FF2B5EF4-FFF2-40B4-BE49-F238E27FC236}">
                <a16:creationId xmlns:a16="http://schemas.microsoft.com/office/drawing/2014/main" id="{F8B0B18F-9C60-D6E8-9EAA-1ABB01FA8823}"/>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7" name="Picture 6">
            <a:extLst>
              <a:ext uri="{FF2B5EF4-FFF2-40B4-BE49-F238E27FC236}">
                <a16:creationId xmlns:a16="http://schemas.microsoft.com/office/drawing/2014/main" id="{F14EF346-5148-A1DC-6C7A-39457577D1DC}"/>
              </a:ext>
            </a:extLst>
          </p:cNvPr>
          <p:cNvPicPr>
            <a:picLocks noChangeAspect="1"/>
          </p:cNvPicPr>
          <p:nvPr/>
        </p:nvPicPr>
        <p:blipFill>
          <a:blip r:embed="rId2"/>
          <a:stretch>
            <a:fillRect/>
          </a:stretch>
        </p:blipFill>
        <p:spPr>
          <a:xfrm>
            <a:off x="3756950" y="1359721"/>
            <a:ext cx="8331516" cy="4742695"/>
          </a:xfrm>
          <a:prstGeom prst="rect">
            <a:avLst/>
          </a:prstGeom>
        </p:spPr>
      </p:pic>
      <p:pic>
        <p:nvPicPr>
          <p:cNvPr id="9" name="Picture 8">
            <a:extLst>
              <a:ext uri="{FF2B5EF4-FFF2-40B4-BE49-F238E27FC236}">
                <a16:creationId xmlns:a16="http://schemas.microsoft.com/office/drawing/2014/main" id="{39DEAA15-7193-25D6-BBCA-FC1C0BB7962B}"/>
              </a:ext>
            </a:extLst>
          </p:cNvPr>
          <p:cNvPicPr>
            <a:picLocks noChangeAspect="1"/>
          </p:cNvPicPr>
          <p:nvPr/>
        </p:nvPicPr>
        <p:blipFill>
          <a:blip r:embed="rId3"/>
          <a:stretch>
            <a:fillRect/>
          </a:stretch>
        </p:blipFill>
        <p:spPr>
          <a:xfrm>
            <a:off x="6227021" y="6102416"/>
            <a:ext cx="3391373" cy="695422"/>
          </a:xfrm>
          <a:prstGeom prst="rect">
            <a:avLst/>
          </a:prstGeom>
        </p:spPr>
      </p:pic>
    </p:spTree>
    <p:extLst>
      <p:ext uri="{BB962C8B-B14F-4D97-AF65-F5344CB8AC3E}">
        <p14:creationId xmlns:p14="http://schemas.microsoft.com/office/powerpoint/2010/main" val="4222899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498E-8CD5-96BD-54BF-A37AB1AF279F}"/>
              </a:ext>
            </a:extLst>
          </p:cNvPr>
          <p:cNvSpPr>
            <a:spLocks noGrp="1"/>
          </p:cNvSpPr>
          <p:nvPr>
            <p:ph type="title"/>
          </p:nvPr>
        </p:nvSpPr>
        <p:spPr/>
        <p:txBody>
          <a:bodyPr>
            <a:normAutofit fontScale="90000"/>
          </a:bodyPr>
          <a:lstStyle/>
          <a:p>
            <a:r>
              <a:rPr lang="en-US" dirty="0"/>
              <a:t>Variant calling: Problems</a:t>
            </a:r>
          </a:p>
        </p:txBody>
      </p:sp>
      <p:sp>
        <p:nvSpPr>
          <p:cNvPr id="3" name="Content Placeholder 2">
            <a:extLst>
              <a:ext uri="{FF2B5EF4-FFF2-40B4-BE49-F238E27FC236}">
                <a16:creationId xmlns:a16="http://schemas.microsoft.com/office/drawing/2014/main" id="{2D3E7EFA-BAE7-E895-5944-EAF99944AD05}"/>
              </a:ext>
            </a:extLst>
          </p:cNvPr>
          <p:cNvSpPr>
            <a:spLocks noGrp="1"/>
          </p:cNvSpPr>
          <p:nvPr>
            <p:ph idx="1"/>
          </p:nvPr>
        </p:nvSpPr>
        <p:spPr>
          <a:xfrm>
            <a:off x="105156" y="1701314"/>
            <a:ext cx="5553075" cy="5020161"/>
          </a:xfrm>
        </p:spPr>
        <p:txBody>
          <a:bodyPr>
            <a:normAutofit fontScale="85000" lnSpcReduction="20000"/>
          </a:bodyPr>
          <a:lstStyle/>
          <a:p>
            <a:r>
              <a:rPr lang="en-US" dirty="0"/>
              <a:t>Repeat regions and errors in the reads may lead to incorrect or missing alignments</a:t>
            </a:r>
          </a:p>
          <a:p>
            <a:r>
              <a:rPr lang="en-US" dirty="0"/>
              <a:t>Individual genomes differ (mostly in repetitive sequences):  reads from individual A and B that came from sequences not present in the reference genome may align (poorly) to another place in the reference, thus contributing to spurious variant calls</a:t>
            </a:r>
          </a:p>
          <a:p>
            <a:pPr lvl="1"/>
            <a:r>
              <a:rPr lang="en-US" dirty="0"/>
              <a:t>Solution: pangenome, align reads to multiple genomes, use the best alignment</a:t>
            </a:r>
          </a:p>
          <a:p>
            <a:pPr lvl="1"/>
            <a:r>
              <a:rPr lang="en-US" dirty="0"/>
              <a:t>Human Pangenome Reference Consortium (HPRC) https://humanpangenome.org/</a:t>
            </a:r>
          </a:p>
          <a:p>
            <a:endParaRPr lang="en-US" dirty="0"/>
          </a:p>
        </p:txBody>
      </p:sp>
      <p:sp>
        <p:nvSpPr>
          <p:cNvPr id="4" name="Slide Number Placeholder 3">
            <a:extLst>
              <a:ext uri="{FF2B5EF4-FFF2-40B4-BE49-F238E27FC236}">
                <a16:creationId xmlns:a16="http://schemas.microsoft.com/office/drawing/2014/main" id="{2A1D1E71-93B9-DE0A-ED08-F55E8E58E2F4}"/>
              </a:ext>
            </a:extLst>
          </p:cNvPr>
          <p:cNvSpPr>
            <a:spLocks noGrp="1"/>
          </p:cNvSpPr>
          <p:nvPr>
            <p:ph type="sldNum" sz="quarter" idx="12"/>
          </p:nvPr>
        </p:nvSpPr>
        <p:spPr/>
        <p:txBody>
          <a:bodyPr/>
          <a:lstStyle/>
          <a:p>
            <a:fld id="{B82CCC60-E8CD-4174-8B1A-7DF615B22EEF}" type="slidenum">
              <a:rPr lang="en-US" smtClean="0"/>
              <a:pPr/>
              <a:t>19</a:t>
            </a:fld>
            <a:endParaRPr lang="en-US"/>
          </a:p>
        </p:txBody>
      </p:sp>
      <p:pic>
        <p:nvPicPr>
          <p:cNvPr id="6" name="Picture 5">
            <a:extLst>
              <a:ext uri="{FF2B5EF4-FFF2-40B4-BE49-F238E27FC236}">
                <a16:creationId xmlns:a16="http://schemas.microsoft.com/office/drawing/2014/main" id="{E0B8DB3B-157F-C685-5885-369CAF27EDE2}"/>
              </a:ext>
            </a:extLst>
          </p:cNvPr>
          <p:cNvPicPr>
            <a:picLocks noChangeAspect="1"/>
          </p:cNvPicPr>
          <p:nvPr/>
        </p:nvPicPr>
        <p:blipFill>
          <a:blip r:embed="rId2"/>
          <a:stretch>
            <a:fillRect/>
          </a:stretch>
        </p:blipFill>
        <p:spPr>
          <a:xfrm>
            <a:off x="5658231" y="1337051"/>
            <a:ext cx="6533769" cy="3634555"/>
          </a:xfrm>
          <a:prstGeom prst="rect">
            <a:avLst/>
          </a:prstGeom>
        </p:spPr>
      </p:pic>
      <p:sp>
        <p:nvSpPr>
          <p:cNvPr id="7" name="TextBox 6">
            <a:extLst>
              <a:ext uri="{FF2B5EF4-FFF2-40B4-BE49-F238E27FC236}">
                <a16:creationId xmlns:a16="http://schemas.microsoft.com/office/drawing/2014/main" id="{CFCB39D0-C0A1-890E-655C-D7119A827D35}"/>
              </a:ext>
            </a:extLst>
          </p:cNvPr>
          <p:cNvSpPr txBox="1"/>
          <p:nvPr/>
        </p:nvSpPr>
        <p:spPr>
          <a:xfrm>
            <a:off x="10086975" y="1206519"/>
            <a:ext cx="1817805" cy="369332"/>
          </a:xfrm>
          <a:prstGeom prst="rect">
            <a:avLst/>
          </a:prstGeom>
          <a:noFill/>
        </p:spPr>
        <p:txBody>
          <a:bodyPr wrap="none" rtlCol="0">
            <a:spAutoFit/>
          </a:bodyPr>
          <a:lstStyle/>
          <a:p>
            <a:r>
              <a:rPr lang="en-US" dirty="0"/>
              <a:t>Source: nhgri.gov</a:t>
            </a:r>
          </a:p>
        </p:txBody>
      </p:sp>
    </p:spTree>
    <p:extLst>
      <p:ext uri="{BB962C8B-B14F-4D97-AF65-F5344CB8AC3E}">
        <p14:creationId xmlns:p14="http://schemas.microsoft.com/office/powerpoint/2010/main" val="3453028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15678</TotalTime>
  <Words>1300</Words>
  <Application>Microsoft Office PowerPoint</Application>
  <PresentationFormat>Widescreen</PresentationFormat>
  <Paragraphs>260</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Bahnschrift Light SemiCondensed</vt:lpstr>
      <vt:lpstr>Calibri</vt:lpstr>
      <vt:lpstr>Cambria Math</vt:lpstr>
      <vt:lpstr>Courier New</vt:lpstr>
      <vt:lpstr>Trebuchet MS</vt:lpstr>
      <vt:lpstr>Office Theme</vt:lpstr>
      <vt:lpstr>A biased example</vt:lpstr>
      <vt:lpstr>A biased example</vt:lpstr>
      <vt:lpstr>A biased example</vt:lpstr>
      <vt:lpstr>A biased example</vt:lpstr>
      <vt:lpstr>The Viterbi algorithm: summary</vt:lpstr>
      <vt:lpstr>Making use of annotated genomes</vt:lpstr>
      <vt:lpstr>Genome Wide Association Study</vt:lpstr>
      <vt:lpstr>How GWAS works</vt:lpstr>
      <vt:lpstr>What is GWAS used for</vt:lpstr>
      <vt:lpstr>The first step in GWAS: Variant Calling</vt:lpstr>
      <vt:lpstr>Types of variants</vt:lpstr>
      <vt:lpstr>Single nucleotide variants (SNV or SNP)</vt:lpstr>
      <vt:lpstr>Other variants </vt:lpstr>
      <vt:lpstr>VCF file format</vt:lpstr>
      <vt:lpstr>VCF file format: example</vt:lpstr>
      <vt:lpstr>Variant calling software</vt:lpstr>
      <vt:lpstr>Performance of variant callers</vt:lpstr>
      <vt:lpstr>Performance of variant callers</vt:lpstr>
      <vt:lpstr>Variant calling: Problems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99</cp:revision>
  <dcterms:created xsi:type="dcterms:W3CDTF">2013-08-21T19:17:07Z</dcterms:created>
  <dcterms:modified xsi:type="dcterms:W3CDTF">2025-11-12T14:25:42Z</dcterms:modified>
</cp:coreProperties>
</file>